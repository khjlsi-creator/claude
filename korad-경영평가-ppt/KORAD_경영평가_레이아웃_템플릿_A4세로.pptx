
<file path=[Content_Types].xml><?xml version="1.0" encoding="utf-8"?>
<Types xmlns="http://schemas.openxmlformats.org/package/2006/content-types">
  <Default Extension="bin" ContentType="application/vnd.openxmlformats-officedocument.presentationml.printerSettings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notesSlides/notesSlide154.xml" ContentType="application/vnd.openxmlformats-officedocument.presentationml.notesSlide+xml"/>
  <Override PartName="/ppt/notesSlides/notesSlide155.xml" ContentType="application/vnd.openxmlformats-officedocument.presentationml.notesSlide+xml"/>
  <Override PartName="/ppt/notesSlides/notesSlide156.xml" ContentType="application/vnd.openxmlformats-officedocument.presentationml.notesSlide+xml"/>
  <Override PartName="/ppt/notesSlides/notesSlide157.xml" ContentType="application/vnd.openxmlformats-officedocument.presentationml.notesSlide+xml"/>
  <Override PartName="/ppt/notesSlides/notesSlide158.xml" ContentType="application/vnd.openxmlformats-officedocument.presentationml.notesSlide+xml"/>
  <Override PartName="/ppt/notesSlides/notesSlide159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60.xml" ContentType="application/vnd.openxmlformats-officedocument.presentationml.notesSlide+xml"/>
  <Override PartName="/ppt/notesSlides/notesSlide161.xml" ContentType="application/vnd.openxmlformats-officedocument.presentationml.notesSlide+xml"/>
  <Override PartName="/ppt/notesSlides/notesSlide162.xml" ContentType="application/vnd.openxmlformats-officedocument.presentationml.notesSlide+xml"/>
  <Override PartName="/ppt/notesSlides/notesSlide163.xml" ContentType="application/vnd.openxmlformats-officedocument.presentationml.notesSlide+xml"/>
  <Override PartName="/ppt/notesSlides/notesSlide164.xml" ContentType="application/vnd.openxmlformats-officedocument.presentationml.notesSlide+xml"/>
  <Override PartName="/ppt/notesSlides/notesSlide165.xml" ContentType="application/vnd.openxmlformats-officedocument.presentationml.notesSlide+xml"/>
  <Override PartName="/ppt/notesSlides/notesSlide166.xml" ContentType="application/vnd.openxmlformats-officedocument.presentationml.notesSlide+xml"/>
  <Override PartName="/ppt/notesSlides/notesSlide167.xml" ContentType="application/vnd.openxmlformats-officedocument.presentationml.notesSlide+xml"/>
  <Override PartName="/ppt/notesSlides/notesSlide168.xml" ContentType="application/vnd.openxmlformats-officedocument.presentationml.notesSlide+xml"/>
  <Override PartName="/ppt/notesSlides/notesSlide169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70.xml" ContentType="application/vnd.openxmlformats-officedocument.presentationml.notesSlide+xml"/>
  <Override PartName="/ppt/notesSlides/notesSlide171.xml" ContentType="application/vnd.openxmlformats-officedocument.presentationml.notesSlide+xml"/>
  <Override PartName="/ppt/notesSlides/notesSlide172.xml" ContentType="application/vnd.openxmlformats-officedocument.presentationml.notesSlide+xml"/>
  <Override PartName="/ppt/notesSlides/notesSlide173.xml" ContentType="application/vnd.openxmlformats-officedocument.presentationml.notesSlide+xml"/>
  <Override PartName="/ppt/notesSlides/notesSlide174.xml" ContentType="application/vnd.openxmlformats-officedocument.presentationml.notesSlide+xml"/>
  <Override PartName="/ppt/notesSlides/notesSlide175.xml" ContentType="application/vnd.openxmlformats-officedocument.presentationml.notesSlide+xml"/>
  <Override PartName="/ppt/notesSlides/notesSlide176.xml" ContentType="application/vnd.openxmlformats-officedocument.presentationml.notesSlide+xml"/>
  <Override PartName="/ppt/notesSlides/notesSlide177.xml" ContentType="application/vnd.openxmlformats-officedocument.presentationml.notesSlide+xml"/>
  <Override PartName="/ppt/notesSlides/notesSlide178.xml" ContentType="application/vnd.openxmlformats-officedocument.presentationml.notesSlide+xml"/>
  <Override PartName="/ppt/notesSlides/notesSlide179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80.xml" ContentType="application/vnd.openxmlformats-officedocument.presentationml.notesSlide+xml"/>
  <Override PartName="/ppt/notesSlides/notesSlide181.xml" ContentType="application/vnd.openxmlformats-officedocument.presentationml.notesSlide+xml"/>
  <Override PartName="/ppt/notesSlides/notesSlide182.xml" ContentType="application/vnd.openxmlformats-officedocument.presentationml.notesSlide+xml"/>
  <Override PartName="/ppt/notesSlides/notesSlide183.xml" ContentType="application/vnd.openxmlformats-officedocument.presentationml.notesSlide+xml"/>
  <Override PartName="/ppt/notesSlides/notesSlide184.xml" ContentType="application/vnd.openxmlformats-officedocument.presentationml.notesSlide+xml"/>
  <Override PartName="/ppt/notesSlides/notesSlide185.xml" ContentType="application/vnd.openxmlformats-officedocument.presentationml.notesSlide+xml"/>
  <Override PartName="/ppt/notesSlides/notesSlide186.xml" ContentType="application/vnd.openxmlformats-officedocument.presentationml.notesSlide+xml"/>
  <Override PartName="/ppt/notesSlides/notesSlide187.xml" ContentType="application/vnd.openxmlformats-officedocument.presentationml.notesSlide+xml"/>
  <Override PartName="/ppt/notesSlides/notesSlide188.xml" ContentType="application/vnd.openxmlformats-officedocument.presentationml.notesSlide+xml"/>
  <Override PartName="/ppt/notesSlides/notesSlide189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190.xml" ContentType="application/vnd.openxmlformats-officedocument.presentationml.notesSlide+xml"/>
  <Override PartName="/ppt/notesSlides/notesSlide191.xml" ContentType="application/vnd.openxmlformats-officedocument.presentationml.notesSlide+xml"/>
  <Override PartName="/ppt/notesSlides/notesSlide192.xml" ContentType="application/vnd.openxmlformats-officedocument.presentationml.notesSlide+xml"/>
  <Override PartName="/ppt/notesSlides/notesSlide193.xml" ContentType="application/vnd.openxmlformats-officedocument.presentationml.notesSlide+xml"/>
  <Override PartName="/ppt/notesSlides/notesSlide194.xml" ContentType="application/vnd.openxmlformats-officedocument.presentationml.notesSlide+xml"/>
  <Override PartName="/ppt/notesSlides/notesSlide195.xml" ContentType="application/vnd.openxmlformats-officedocument.presentationml.notesSlide+xml"/>
  <Override PartName="/ppt/notesSlides/notesSlide196.xml" ContentType="application/vnd.openxmlformats-officedocument.presentationml.notesSlide+xml"/>
  <Override PartName="/ppt/notesSlides/notesSlide197.xml" ContentType="application/vnd.openxmlformats-officedocument.presentationml.notesSlide+xml"/>
  <Override PartName="/ppt/notesSlides/notesSlide198.xml" ContentType="application/vnd.openxmlformats-officedocument.presentationml.notesSlide+xml"/>
  <Override PartName="/ppt/notesSlides/notesSlide19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00.xml" ContentType="application/vnd.openxmlformats-officedocument.presentationml.notesSlide+xml"/>
  <Override PartName="/ppt/notesSlides/notesSlide201.xml" ContentType="application/vnd.openxmlformats-officedocument.presentationml.notesSlide+xml"/>
  <Override PartName="/ppt/notesSlides/notesSlide202.xml" ContentType="application/vnd.openxmlformats-officedocument.presentationml.notesSlide+xml"/>
  <Override PartName="/ppt/notesSlides/notesSlide203.xml" ContentType="application/vnd.openxmlformats-officedocument.presentationml.notesSlide+xml"/>
  <Override PartName="/ppt/notesSlides/notesSlide204.xml" ContentType="application/vnd.openxmlformats-officedocument.presentationml.notesSlide+xml"/>
  <Override PartName="/ppt/notesSlides/notesSlide205.xml" ContentType="application/vnd.openxmlformats-officedocument.presentationml.notesSlide+xml"/>
  <Override PartName="/ppt/notesSlides/notesSlide206.xml" ContentType="application/vnd.openxmlformats-officedocument.presentationml.notesSlide+xml"/>
  <Override PartName="/ppt/notesSlides/notesSlide207.xml" ContentType="application/vnd.openxmlformats-officedocument.presentationml.notesSlide+xml"/>
  <Override PartName="/ppt/notesSlides/notesSlide208.xml" ContentType="application/vnd.openxmlformats-officedocument.presentationml.notesSlide+xml"/>
  <Override PartName="/ppt/notesSlides/notesSlide209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10.xml" ContentType="application/vnd.openxmlformats-officedocument.presentationml.notesSlide+xml"/>
  <Override PartName="/ppt/notesSlides/notesSlide211.xml" ContentType="application/vnd.openxmlformats-officedocument.presentationml.notesSlide+xml"/>
  <Override PartName="/ppt/notesSlides/notesSlide212.xml" ContentType="application/vnd.openxmlformats-officedocument.presentationml.notesSlide+xml"/>
  <Override PartName="/ppt/notesSlides/notesSlide213.xml" ContentType="application/vnd.openxmlformats-officedocument.presentationml.notesSlide+xml"/>
  <Override PartName="/ppt/notesSlides/notesSlide214.xml" ContentType="application/vnd.openxmlformats-officedocument.presentationml.notesSlide+xml"/>
  <Override PartName="/ppt/notesSlides/notesSlide215.xml" ContentType="application/vnd.openxmlformats-officedocument.presentationml.notesSlide+xml"/>
  <Override PartName="/ppt/notesSlides/notesSlide216.xml" ContentType="application/vnd.openxmlformats-officedocument.presentationml.notesSlide+xml"/>
  <Override PartName="/ppt/notesSlides/notesSlide217.xml" ContentType="application/vnd.openxmlformats-officedocument.presentationml.notesSlide+xml"/>
  <Override PartName="/ppt/notesSlides/notesSlide218.xml" ContentType="application/vnd.openxmlformats-officedocument.presentationml.notesSlide+xml"/>
  <Override PartName="/ppt/notesSlides/notesSlide219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20.xml" ContentType="application/vnd.openxmlformats-officedocument.presentationml.notesSlide+xml"/>
  <Override PartName="/ppt/notesSlides/notesSlide221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7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03" r:id="rId55"/>
    <p:sldId id="304" r:id="rId56"/>
    <p:sldId id="305" r:id="rId57"/>
    <p:sldId id="306" r:id="rId58"/>
    <p:sldId id="307" r:id="rId59"/>
    <p:sldId id="308" r:id="rId60"/>
    <p:sldId id="309" r:id="rId61"/>
    <p:sldId id="310" r:id="rId62"/>
    <p:sldId id="311" r:id="rId63"/>
    <p:sldId id="312" r:id="rId64"/>
    <p:sldId id="313" r:id="rId65"/>
    <p:sldId id="314" r:id="rId66"/>
    <p:sldId id="315" r:id="rId67"/>
    <p:sldId id="316" r:id="rId68"/>
    <p:sldId id="317" r:id="rId69"/>
    <p:sldId id="318" r:id="rId70"/>
    <p:sldId id="319" r:id="rId71"/>
    <p:sldId id="320" r:id="rId72"/>
    <p:sldId id="321" r:id="rId73"/>
    <p:sldId id="322" r:id="rId74"/>
    <p:sldId id="323" r:id="rId75"/>
    <p:sldId id="324" r:id="rId76"/>
    <p:sldId id="325" r:id="rId77"/>
    <p:sldId id="326" r:id="rId78"/>
    <p:sldId id="327" r:id="rId79"/>
    <p:sldId id="328" r:id="rId80"/>
    <p:sldId id="329" r:id="rId81"/>
    <p:sldId id="330" r:id="rId82"/>
    <p:sldId id="331" r:id="rId83"/>
    <p:sldId id="332" r:id="rId84"/>
    <p:sldId id="333" r:id="rId85"/>
    <p:sldId id="334" r:id="rId86"/>
    <p:sldId id="335" r:id="rId87"/>
    <p:sldId id="336" r:id="rId88"/>
    <p:sldId id="337" r:id="rId89"/>
    <p:sldId id="338" r:id="rId90"/>
    <p:sldId id="339" r:id="rId91"/>
    <p:sldId id="340" r:id="rId92"/>
    <p:sldId id="341" r:id="rId93"/>
    <p:sldId id="342" r:id="rId94"/>
    <p:sldId id="343" r:id="rId95"/>
    <p:sldId id="344" r:id="rId96"/>
    <p:sldId id="345" r:id="rId97"/>
    <p:sldId id="346" r:id="rId98"/>
    <p:sldId id="347" r:id="rId99"/>
    <p:sldId id="348" r:id="rId100"/>
    <p:sldId id="349" r:id="rId101"/>
    <p:sldId id="350" r:id="rId102"/>
    <p:sldId id="351" r:id="rId103"/>
    <p:sldId id="352" r:id="rId104"/>
    <p:sldId id="353" r:id="rId105"/>
    <p:sldId id="354" r:id="rId106"/>
    <p:sldId id="355" r:id="rId107"/>
    <p:sldId id="356" r:id="rId108"/>
    <p:sldId id="357" r:id="rId109"/>
    <p:sldId id="358" r:id="rId110"/>
    <p:sldId id="359" r:id="rId111"/>
    <p:sldId id="360" r:id="rId112"/>
    <p:sldId id="361" r:id="rId113"/>
    <p:sldId id="362" r:id="rId114"/>
    <p:sldId id="363" r:id="rId115"/>
    <p:sldId id="364" r:id="rId116"/>
    <p:sldId id="365" r:id="rId117"/>
    <p:sldId id="366" r:id="rId118"/>
    <p:sldId id="367" r:id="rId119"/>
    <p:sldId id="368" r:id="rId120"/>
    <p:sldId id="369" r:id="rId121"/>
    <p:sldId id="370" r:id="rId122"/>
    <p:sldId id="371" r:id="rId123"/>
    <p:sldId id="372" r:id="rId124"/>
    <p:sldId id="373" r:id="rId125"/>
    <p:sldId id="374" r:id="rId126"/>
    <p:sldId id="375" r:id="rId127"/>
    <p:sldId id="376" r:id="rId128"/>
    <p:sldId id="377" r:id="rId129"/>
    <p:sldId id="378" r:id="rId130"/>
    <p:sldId id="379" r:id="rId131"/>
    <p:sldId id="380" r:id="rId132"/>
    <p:sldId id="381" r:id="rId133"/>
    <p:sldId id="382" r:id="rId134"/>
    <p:sldId id="383" r:id="rId135"/>
    <p:sldId id="384" r:id="rId136"/>
    <p:sldId id="385" r:id="rId137"/>
    <p:sldId id="386" r:id="rId138"/>
    <p:sldId id="387" r:id="rId139"/>
    <p:sldId id="388" r:id="rId140"/>
    <p:sldId id="389" r:id="rId141"/>
    <p:sldId id="390" r:id="rId142"/>
    <p:sldId id="391" r:id="rId143"/>
    <p:sldId id="392" r:id="rId144"/>
    <p:sldId id="393" r:id="rId145"/>
    <p:sldId id="394" r:id="rId146"/>
    <p:sldId id="395" r:id="rId147"/>
    <p:sldId id="396" r:id="rId148"/>
    <p:sldId id="397" r:id="rId149"/>
    <p:sldId id="398" r:id="rId150"/>
    <p:sldId id="399" r:id="rId151"/>
    <p:sldId id="400" r:id="rId152"/>
    <p:sldId id="401" r:id="rId153"/>
    <p:sldId id="402" r:id="rId154"/>
    <p:sldId id="403" r:id="rId155"/>
    <p:sldId id="404" r:id="rId156"/>
    <p:sldId id="405" r:id="rId157"/>
    <p:sldId id="406" r:id="rId158"/>
    <p:sldId id="407" r:id="rId159"/>
    <p:sldId id="408" r:id="rId160"/>
    <p:sldId id="409" r:id="rId161"/>
    <p:sldId id="410" r:id="rId162"/>
    <p:sldId id="411" r:id="rId163"/>
    <p:sldId id="412" r:id="rId164"/>
    <p:sldId id="413" r:id="rId165"/>
    <p:sldId id="414" r:id="rId166"/>
    <p:sldId id="415" r:id="rId167"/>
    <p:sldId id="416" r:id="rId168"/>
    <p:sldId id="417" r:id="rId169"/>
    <p:sldId id="418" r:id="rId170"/>
    <p:sldId id="419" r:id="rId171"/>
    <p:sldId id="420" r:id="rId172"/>
    <p:sldId id="421" r:id="rId173"/>
    <p:sldId id="422" r:id="rId174"/>
    <p:sldId id="423" r:id="rId175"/>
    <p:sldId id="424" r:id="rId176"/>
    <p:sldId id="425" r:id="rId177"/>
    <p:sldId id="426" r:id="rId178"/>
    <p:sldId id="427" r:id="rId179"/>
    <p:sldId id="428" r:id="rId180"/>
    <p:sldId id="429" r:id="rId181"/>
    <p:sldId id="430" r:id="rId182"/>
    <p:sldId id="431" r:id="rId183"/>
    <p:sldId id="432" r:id="rId184"/>
    <p:sldId id="433" r:id="rId185"/>
    <p:sldId id="434" r:id="rId186"/>
    <p:sldId id="435" r:id="rId187"/>
    <p:sldId id="436" r:id="rId188"/>
    <p:sldId id="437" r:id="rId189"/>
    <p:sldId id="438" r:id="rId190"/>
    <p:sldId id="439" r:id="rId191"/>
    <p:sldId id="440" r:id="rId192"/>
    <p:sldId id="441" r:id="rId193"/>
    <p:sldId id="442" r:id="rId194"/>
    <p:sldId id="443" r:id="rId195"/>
    <p:sldId id="444" r:id="rId196"/>
    <p:sldId id="445" r:id="rId197"/>
    <p:sldId id="446" r:id="rId198"/>
    <p:sldId id="447" r:id="rId199"/>
    <p:sldId id="448" r:id="rId200"/>
    <p:sldId id="449" r:id="rId201"/>
    <p:sldId id="450" r:id="rId202"/>
    <p:sldId id="451" r:id="rId203"/>
    <p:sldId id="452" r:id="rId204"/>
    <p:sldId id="453" r:id="rId205"/>
    <p:sldId id="454" r:id="rId206"/>
    <p:sldId id="455" r:id="rId207"/>
    <p:sldId id="456" r:id="rId208"/>
    <p:sldId id="457" r:id="rId209"/>
    <p:sldId id="458" r:id="rId210"/>
    <p:sldId id="459" r:id="rId211"/>
    <p:sldId id="460" r:id="rId212"/>
    <p:sldId id="461" r:id="rId213"/>
    <p:sldId id="462" r:id="rId214"/>
    <p:sldId id="463" r:id="rId215"/>
    <p:sldId id="464" r:id="rId216"/>
    <p:sldId id="465" r:id="rId217"/>
    <p:sldId id="466" r:id="rId218"/>
    <p:sldId id="467" r:id="rId219"/>
    <p:sldId id="468" r:id="rId220"/>
    <p:sldId id="469" r:id="rId221"/>
    <p:sldId id="470" r:id="rId222"/>
    <p:sldId id="471" r:id="rId223"/>
    <p:sldId id="472" r:id="rId224"/>
    <p:sldId id="473" r:id="rId225"/>
    <p:sldId id="474" r:id="rId226"/>
    <p:sldId id="475" r:id="rId227"/>
    <p:sldId id="476" r:id="rId228"/>
  </p:sldIdLst>
  <p:sldSz cx="7560000" cy="10692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24" d="100"/>
          <a:sy n="124" d="100"/>
        </p:scale>
        <p:origin x="-1512" y="-11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printerSettings" Target="printerSettings/printerSettings1.bin"/><Relationship Id="rId3" Type="http://schemas.openxmlformats.org/officeDocument/2006/relationships/presProps" Target="presProps.xml"/><Relationship Id="rId4" Type="http://schemas.openxmlformats.org/officeDocument/2006/relationships/viewProps" Target="viewProps.xml"/><Relationship Id="rId5" Type="http://schemas.openxmlformats.org/officeDocument/2006/relationships/theme" Target="theme/theme1.xml"/><Relationship Id="rId6" Type="http://schemas.openxmlformats.org/officeDocument/2006/relationships/tableStyles" Target="tableStyles.xml"/><Relationship Id="rId7" Type="http://schemas.openxmlformats.org/officeDocument/2006/relationships/slide" Target="slides/slide1.xml"/><Relationship Id="rId8" Type="http://schemas.openxmlformats.org/officeDocument/2006/relationships/notesMaster" Target="notesMasters/notesMaster1.xml"/><Relationship Id="rId9" Type="http://schemas.openxmlformats.org/officeDocument/2006/relationships/slide" Target="slides/slide2.xml"/><Relationship Id="rId10" Type="http://schemas.openxmlformats.org/officeDocument/2006/relationships/slide" Target="slides/slide3.xml"/><Relationship Id="rId11" Type="http://schemas.openxmlformats.org/officeDocument/2006/relationships/slide" Target="slides/slide4.xml"/><Relationship Id="rId12" Type="http://schemas.openxmlformats.org/officeDocument/2006/relationships/slide" Target="slides/slide5.xml"/><Relationship Id="rId13" Type="http://schemas.openxmlformats.org/officeDocument/2006/relationships/slide" Target="slides/slide6.xml"/><Relationship Id="rId14" Type="http://schemas.openxmlformats.org/officeDocument/2006/relationships/slide" Target="slides/slide7.xml"/><Relationship Id="rId15" Type="http://schemas.openxmlformats.org/officeDocument/2006/relationships/slide" Target="slides/slide8.xml"/><Relationship Id="rId16" Type="http://schemas.openxmlformats.org/officeDocument/2006/relationships/slide" Target="slides/slide9.xml"/><Relationship Id="rId17" Type="http://schemas.openxmlformats.org/officeDocument/2006/relationships/slide" Target="slides/slide10.xml"/><Relationship Id="rId18" Type="http://schemas.openxmlformats.org/officeDocument/2006/relationships/slide" Target="slides/slide11.xml"/><Relationship Id="rId19" Type="http://schemas.openxmlformats.org/officeDocument/2006/relationships/slide" Target="slides/slide12.xml"/><Relationship Id="rId20" Type="http://schemas.openxmlformats.org/officeDocument/2006/relationships/slide" Target="slides/slide13.xml"/><Relationship Id="rId21" Type="http://schemas.openxmlformats.org/officeDocument/2006/relationships/slide" Target="slides/slide14.xml"/><Relationship Id="rId22" Type="http://schemas.openxmlformats.org/officeDocument/2006/relationships/slide" Target="slides/slide15.xml"/><Relationship Id="rId23" Type="http://schemas.openxmlformats.org/officeDocument/2006/relationships/slide" Target="slides/slide16.xml"/><Relationship Id="rId24" Type="http://schemas.openxmlformats.org/officeDocument/2006/relationships/slide" Target="slides/slide17.xml"/><Relationship Id="rId25" Type="http://schemas.openxmlformats.org/officeDocument/2006/relationships/slide" Target="slides/slide18.xml"/><Relationship Id="rId26" Type="http://schemas.openxmlformats.org/officeDocument/2006/relationships/slide" Target="slides/slide19.xml"/><Relationship Id="rId27" Type="http://schemas.openxmlformats.org/officeDocument/2006/relationships/slide" Target="slides/slide20.xml"/><Relationship Id="rId28" Type="http://schemas.openxmlformats.org/officeDocument/2006/relationships/slide" Target="slides/slide21.xml"/><Relationship Id="rId29" Type="http://schemas.openxmlformats.org/officeDocument/2006/relationships/slide" Target="slides/slide22.xml"/><Relationship Id="rId30" Type="http://schemas.openxmlformats.org/officeDocument/2006/relationships/slide" Target="slides/slide23.xml"/><Relationship Id="rId31" Type="http://schemas.openxmlformats.org/officeDocument/2006/relationships/slide" Target="slides/slide24.xml"/><Relationship Id="rId32" Type="http://schemas.openxmlformats.org/officeDocument/2006/relationships/slide" Target="slides/slide25.xml"/><Relationship Id="rId33" Type="http://schemas.openxmlformats.org/officeDocument/2006/relationships/slide" Target="slides/slide26.xml"/><Relationship Id="rId34" Type="http://schemas.openxmlformats.org/officeDocument/2006/relationships/slide" Target="slides/slide27.xml"/><Relationship Id="rId35" Type="http://schemas.openxmlformats.org/officeDocument/2006/relationships/slide" Target="slides/slide28.xml"/><Relationship Id="rId36" Type="http://schemas.openxmlformats.org/officeDocument/2006/relationships/slide" Target="slides/slide29.xml"/><Relationship Id="rId37" Type="http://schemas.openxmlformats.org/officeDocument/2006/relationships/slide" Target="slides/slide30.xml"/><Relationship Id="rId38" Type="http://schemas.openxmlformats.org/officeDocument/2006/relationships/slide" Target="slides/slide31.xml"/><Relationship Id="rId39" Type="http://schemas.openxmlformats.org/officeDocument/2006/relationships/slide" Target="slides/slide32.xml"/><Relationship Id="rId40" Type="http://schemas.openxmlformats.org/officeDocument/2006/relationships/slide" Target="slides/slide33.xml"/><Relationship Id="rId41" Type="http://schemas.openxmlformats.org/officeDocument/2006/relationships/slide" Target="slides/slide34.xml"/><Relationship Id="rId42" Type="http://schemas.openxmlformats.org/officeDocument/2006/relationships/slide" Target="slides/slide35.xml"/><Relationship Id="rId43" Type="http://schemas.openxmlformats.org/officeDocument/2006/relationships/slide" Target="slides/slide36.xml"/><Relationship Id="rId44" Type="http://schemas.openxmlformats.org/officeDocument/2006/relationships/slide" Target="slides/slide37.xml"/><Relationship Id="rId45" Type="http://schemas.openxmlformats.org/officeDocument/2006/relationships/slide" Target="slides/slide38.xml"/><Relationship Id="rId46" Type="http://schemas.openxmlformats.org/officeDocument/2006/relationships/slide" Target="slides/slide39.xml"/><Relationship Id="rId47" Type="http://schemas.openxmlformats.org/officeDocument/2006/relationships/slide" Target="slides/slide40.xml"/><Relationship Id="rId48" Type="http://schemas.openxmlformats.org/officeDocument/2006/relationships/slide" Target="slides/slide41.xml"/><Relationship Id="rId49" Type="http://schemas.openxmlformats.org/officeDocument/2006/relationships/slide" Target="slides/slide42.xml"/><Relationship Id="rId50" Type="http://schemas.openxmlformats.org/officeDocument/2006/relationships/slide" Target="slides/slide43.xml"/><Relationship Id="rId51" Type="http://schemas.openxmlformats.org/officeDocument/2006/relationships/slide" Target="slides/slide44.xml"/><Relationship Id="rId52" Type="http://schemas.openxmlformats.org/officeDocument/2006/relationships/slide" Target="slides/slide45.xml"/><Relationship Id="rId53" Type="http://schemas.openxmlformats.org/officeDocument/2006/relationships/slide" Target="slides/slide46.xml"/><Relationship Id="rId54" Type="http://schemas.openxmlformats.org/officeDocument/2006/relationships/slide" Target="slides/slide47.xml"/><Relationship Id="rId55" Type="http://schemas.openxmlformats.org/officeDocument/2006/relationships/slide" Target="slides/slide48.xml"/><Relationship Id="rId56" Type="http://schemas.openxmlformats.org/officeDocument/2006/relationships/slide" Target="slides/slide49.xml"/><Relationship Id="rId57" Type="http://schemas.openxmlformats.org/officeDocument/2006/relationships/slide" Target="slides/slide50.xml"/><Relationship Id="rId58" Type="http://schemas.openxmlformats.org/officeDocument/2006/relationships/slide" Target="slides/slide51.xml"/><Relationship Id="rId59" Type="http://schemas.openxmlformats.org/officeDocument/2006/relationships/slide" Target="slides/slide52.xml"/><Relationship Id="rId60" Type="http://schemas.openxmlformats.org/officeDocument/2006/relationships/slide" Target="slides/slide53.xml"/><Relationship Id="rId61" Type="http://schemas.openxmlformats.org/officeDocument/2006/relationships/slide" Target="slides/slide54.xml"/><Relationship Id="rId62" Type="http://schemas.openxmlformats.org/officeDocument/2006/relationships/slide" Target="slides/slide55.xml"/><Relationship Id="rId63" Type="http://schemas.openxmlformats.org/officeDocument/2006/relationships/slide" Target="slides/slide56.xml"/><Relationship Id="rId64" Type="http://schemas.openxmlformats.org/officeDocument/2006/relationships/slide" Target="slides/slide57.xml"/><Relationship Id="rId65" Type="http://schemas.openxmlformats.org/officeDocument/2006/relationships/slide" Target="slides/slide58.xml"/><Relationship Id="rId66" Type="http://schemas.openxmlformats.org/officeDocument/2006/relationships/slide" Target="slides/slide59.xml"/><Relationship Id="rId67" Type="http://schemas.openxmlformats.org/officeDocument/2006/relationships/slide" Target="slides/slide60.xml"/><Relationship Id="rId68" Type="http://schemas.openxmlformats.org/officeDocument/2006/relationships/slide" Target="slides/slide61.xml"/><Relationship Id="rId69" Type="http://schemas.openxmlformats.org/officeDocument/2006/relationships/slide" Target="slides/slide62.xml"/><Relationship Id="rId70" Type="http://schemas.openxmlformats.org/officeDocument/2006/relationships/slide" Target="slides/slide63.xml"/><Relationship Id="rId71" Type="http://schemas.openxmlformats.org/officeDocument/2006/relationships/slide" Target="slides/slide64.xml"/><Relationship Id="rId72" Type="http://schemas.openxmlformats.org/officeDocument/2006/relationships/slide" Target="slides/slide65.xml"/><Relationship Id="rId73" Type="http://schemas.openxmlformats.org/officeDocument/2006/relationships/slide" Target="slides/slide66.xml"/><Relationship Id="rId74" Type="http://schemas.openxmlformats.org/officeDocument/2006/relationships/slide" Target="slides/slide67.xml"/><Relationship Id="rId75" Type="http://schemas.openxmlformats.org/officeDocument/2006/relationships/slide" Target="slides/slide68.xml"/><Relationship Id="rId76" Type="http://schemas.openxmlformats.org/officeDocument/2006/relationships/slide" Target="slides/slide69.xml"/><Relationship Id="rId77" Type="http://schemas.openxmlformats.org/officeDocument/2006/relationships/slide" Target="slides/slide70.xml"/><Relationship Id="rId78" Type="http://schemas.openxmlformats.org/officeDocument/2006/relationships/slide" Target="slides/slide71.xml"/><Relationship Id="rId79" Type="http://schemas.openxmlformats.org/officeDocument/2006/relationships/slide" Target="slides/slide72.xml"/><Relationship Id="rId80" Type="http://schemas.openxmlformats.org/officeDocument/2006/relationships/slide" Target="slides/slide73.xml"/><Relationship Id="rId81" Type="http://schemas.openxmlformats.org/officeDocument/2006/relationships/slide" Target="slides/slide74.xml"/><Relationship Id="rId82" Type="http://schemas.openxmlformats.org/officeDocument/2006/relationships/slide" Target="slides/slide75.xml"/><Relationship Id="rId83" Type="http://schemas.openxmlformats.org/officeDocument/2006/relationships/slide" Target="slides/slide76.xml"/><Relationship Id="rId84" Type="http://schemas.openxmlformats.org/officeDocument/2006/relationships/slide" Target="slides/slide77.xml"/><Relationship Id="rId85" Type="http://schemas.openxmlformats.org/officeDocument/2006/relationships/slide" Target="slides/slide78.xml"/><Relationship Id="rId86" Type="http://schemas.openxmlformats.org/officeDocument/2006/relationships/slide" Target="slides/slide79.xml"/><Relationship Id="rId87" Type="http://schemas.openxmlformats.org/officeDocument/2006/relationships/slide" Target="slides/slide80.xml"/><Relationship Id="rId88" Type="http://schemas.openxmlformats.org/officeDocument/2006/relationships/slide" Target="slides/slide81.xml"/><Relationship Id="rId89" Type="http://schemas.openxmlformats.org/officeDocument/2006/relationships/slide" Target="slides/slide82.xml"/><Relationship Id="rId90" Type="http://schemas.openxmlformats.org/officeDocument/2006/relationships/slide" Target="slides/slide83.xml"/><Relationship Id="rId91" Type="http://schemas.openxmlformats.org/officeDocument/2006/relationships/slide" Target="slides/slide84.xml"/><Relationship Id="rId92" Type="http://schemas.openxmlformats.org/officeDocument/2006/relationships/slide" Target="slides/slide85.xml"/><Relationship Id="rId93" Type="http://schemas.openxmlformats.org/officeDocument/2006/relationships/slide" Target="slides/slide86.xml"/><Relationship Id="rId94" Type="http://schemas.openxmlformats.org/officeDocument/2006/relationships/slide" Target="slides/slide87.xml"/><Relationship Id="rId95" Type="http://schemas.openxmlformats.org/officeDocument/2006/relationships/slide" Target="slides/slide88.xml"/><Relationship Id="rId96" Type="http://schemas.openxmlformats.org/officeDocument/2006/relationships/slide" Target="slides/slide89.xml"/><Relationship Id="rId97" Type="http://schemas.openxmlformats.org/officeDocument/2006/relationships/slide" Target="slides/slide90.xml"/><Relationship Id="rId98" Type="http://schemas.openxmlformats.org/officeDocument/2006/relationships/slide" Target="slides/slide91.xml"/><Relationship Id="rId99" Type="http://schemas.openxmlformats.org/officeDocument/2006/relationships/slide" Target="slides/slide92.xml"/><Relationship Id="rId100" Type="http://schemas.openxmlformats.org/officeDocument/2006/relationships/slide" Target="slides/slide93.xml"/><Relationship Id="rId101" Type="http://schemas.openxmlformats.org/officeDocument/2006/relationships/slide" Target="slides/slide94.xml"/><Relationship Id="rId102" Type="http://schemas.openxmlformats.org/officeDocument/2006/relationships/slide" Target="slides/slide95.xml"/><Relationship Id="rId103" Type="http://schemas.openxmlformats.org/officeDocument/2006/relationships/slide" Target="slides/slide96.xml"/><Relationship Id="rId104" Type="http://schemas.openxmlformats.org/officeDocument/2006/relationships/slide" Target="slides/slide97.xml"/><Relationship Id="rId105" Type="http://schemas.openxmlformats.org/officeDocument/2006/relationships/slide" Target="slides/slide98.xml"/><Relationship Id="rId106" Type="http://schemas.openxmlformats.org/officeDocument/2006/relationships/slide" Target="slides/slide99.xml"/><Relationship Id="rId107" Type="http://schemas.openxmlformats.org/officeDocument/2006/relationships/slide" Target="slides/slide100.xml"/><Relationship Id="rId108" Type="http://schemas.openxmlformats.org/officeDocument/2006/relationships/slide" Target="slides/slide101.xml"/><Relationship Id="rId109" Type="http://schemas.openxmlformats.org/officeDocument/2006/relationships/slide" Target="slides/slide102.xml"/><Relationship Id="rId110" Type="http://schemas.openxmlformats.org/officeDocument/2006/relationships/slide" Target="slides/slide103.xml"/><Relationship Id="rId111" Type="http://schemas.openxmlformats.org/officeDocument/2006/relationships/slide" Target="slides/slide104.xml"/><Relationship Id="rId112" Type="http://schemas.openxmlformats.org/officeDocument/2006/relationships/slide" Target="slides/slide105.xml"/><Relationship Id="rId113" Type="http://schemas.openxmlformats.org/officeDocument/2006/relationships/slide" Target="slides/slide106.xml"/><Relationship Id="rId114" Type="http://schemas.openxmlformats.org/officeDocument/2006/relationships/slide" Target="slides/slide107.xml"/><Relationship Id="rId115" Type="http://schemas.openxmlformats.org/officeDocument/2006/relationships/slide" Target="slides/slide108.xml"/><Relationship Id="rId116" Type="http://schemas.openxmlformats.org/officeDocument/2006/relationships/slide" Target="slides/slide109.xml"/><Relationship Id="rId117" Type="http://schemas.openxmlformats.org/officeDocument/2006/relationships/slide" Target="slides/slide110.xml"/><Relationship Id="rId118" Type="http://schemas.openxmlformats.org/officeDocument/2006/relationships/slide" Target="slides/slide111.xml"/><Relationship Id="rId119" Type="http://schemas.openxmlformats.org/officeDocument/2006/relationships/slide" Target="slides/slide112.xml"/><Relationship Id="rId120" Type="http://schemas.openxmlformats.org/officeDocument/2006/relationships/slide" Target="slides/slide113.xml"/><Relationship Id="rId121" Type="http://schemas.openxmlformats.org/officeDocument/2006/relationships/slide" Target="slides/slide114.xml"/><Relationship Id="rId122" Type="http://schemas.openxmlformats.org/officeDocument/2006/relationships/slide" Target="slides/slide115.xml"/><Relationship Id="rId123" Type="http://schemas.openxmlformats.org/officeDocument/2006/relationships/slide" Target="slides/slide116.xml"/><Relationship Id="rId124" Type="http://schemas.openxmlformats.org/officeDocument/2006/relationships/slide" Target="slides/slide117.xml"/><Relationship Id="rId125" Type="http://schemas.openxmlformats.org/officeDocument/2006/relationships/slide" Target="slides/slide118.xml"/><Relationship Id="rId126" Type="http://schemas.openxmlformats.org/officeDocument/2006/relationships/slide" Target="slides/slide119.xml"/><Relationship Id="rId127" Type="http://schemas.openxmlformats.org/officeDocument/2006/relationships/slide" Target="slides/slide120.xml"/><Relationship Id="rId128" Type="http://schemas.openxmlformats.org/officeDocument/2006/relationships/slide" Target="slides/slide121.xml"/><Relationship Id="rId129" Type="http://schemas.openxmlformats.org/officeDocument/2006/relationships/slide" Target="slides/slide122.xml"/><Relationship Id="rId130" Type="http://schemas.openxmlformats.org/officeDocument/2006/relationships/slide" Target="slides/slide123.xml"/><Relationship Id="rId131" Type="http://schemas.openxmlformats.org/officeDocument/2006/relationships/slide" Target="slides/slide124.xml"/><Relationship Id="rId132" Type="http://schemas.openxmlformats.org/officeDocument/2006/relationships/slide" Target="slides/slide125.xml"/><Relationship Id="rId133" Type="http://schemas.openxmlformats.org/officeDocument/2006/relationships/slide" Target="slides/slide126.xml"/><Relationship Id="rId134" Type="http://schemas.openxmlformats.org/officeDocument/2006/relationships/slide" Target="slides/slide127.xml"/><Relationship Id="rId135" Type="http://schemas.openxmlformats.org/officeDocument/2006/relationships/slide" Target="slides/slide128.xml"/><Relationship Id="rId136" Type="http://schemas.openxmlformats.org/officeDocument/2006/relationships/slide" Target="slides/slide129.xml"/><Relationship Id="rId137" Type="http://schemas.openxmlformats.org/officeDocument/2006/relationships/slide" Target="slides/slide130.xml"/><Relationship Id="rId138" Type="http://schemas.openxmlformats.org/officeDocument/2006/relationships/slide" Target="slides/slide131.xml"/><Relationship Id="rId139" Type="http://schemas.openxmlformats.org/officeDocument/2006/relationships/slide" Target="slides/slide132.xml"/><Relationship Id="rId140" Type="http://schemas.openxmlformats.org/officeDocument/2006/relationships/slide" Target="slides/slide133.xml"/><Relationship Id="rId141" Type="http://schemas.openxmlformats.org/officeDocument/2006/relationships/slide" Target="slides/slide134.xml"/><Relationship Id="rId142" Type="http://schemas.openxmlformats.org/officeDocument/2006/relationships/slide" Target="slides/slide135.xml"/><Relationship Id="rId143" Type="http://schemas.openxmlformats.org/officeDocument/2006/relationships/slide" Target="slides/slide136.xml"/><Relationship Id="rId144" Type="http://schemas.openxmlformats.org/officeDocument/2006/relationships/slide" Target="slides/slide137.xml"/><Relationship Id="rId145" Type="http://schemas.openxmlformats.org/officeDocument/2006/relationships/slide" Target="slides/slide138.xml"/><Relationship Id="rId146" Type="http://schemas.openxmlformats.org/officeDocument/2006/relationships/slide" Target="slides/slide139.xml"/><Relationship Id="rId147" Type="http://schemas.openxmlformats.org/officeDocument/2006/relationships/slide" Target="slides/slide140.xml"/><Relationship Id="rId148" Type="http://schemas.openxmlformats.org/officeDocument/2006/relationships/slide" Target="slides/slide141.xml"/><Relationship Id="rId149" Type="http://schemas.openxmlformats.org/officeDocument/2006/relationships/slide" Target="slides/slide142.xml"/><Relationship Id="rId150" Type="http://schemas.openxmlformats.org/officeDocument/2006/relationships/slide" Target="slides/slide143.xml"/><Relationship Id="rId151" Type="http://schemas.openxmlformats.org/officeDocument/2006/relationships/slide" Target="slides/slide144.xml"/><Relationship Id="rId152" Type="http://schemas.openxmlformats.org/officeDocument/2006/relationships/slide" Target="slides/slide145.xml"/><Relationship Id="rId153" Type="http://schemas.openxmlformats.org/officeDocument/2006/relationships/slide" Target="slides/slide146.xml"/><Relationship Id="rId154" Type="http://schemas.openxmlformats.org/officeDocument/2006/relationships/slide" Target="slides/slide147.xml"/><Relationship Id="rId155" Type="http://schemas.openxmlformats.org/officeDocument/2006/relationships/slide" Target="slides/slide148.xml"/><Relationship Id="rId156" Type="http://schemas.openxmlformats.org/officeDocument/2006/relationships/slide" Target="slides/slide149.xml"/><Relationship Id="rId157" Type="http://schemas.openxmlformats.org/officeDocument/2006/relationships/slide" Target="slides/slide150.xml"/><Relationship Id="rId158" Type="http://schemas.openxmlformats.org/officeDocument/2006/relationships/slide" Target="slides/slide151.xml"/><Relationship Id="rId159" Type="http://schemas.openxmlformats.org/officeDocument/2006/relationships/slide" Target="slides/slide152.xml"/><Relationship Id="rId160" Type="http://schemas.openxmlformats.org/officeDocument/2006/relationships/slide" Target="slides/slide153.xml"/><Relationship Id="rId161" Type="http://schemas.openxmlformats.org/officeDocument/2006/relationships/slide" Target="slides/slide154.xml"/><Relationship Id="rId162" Type="http://schemas.openxmlformats.org/officeDocument/2006/relationships/slide" Target="slides/slide155.xml"/><Relationship Id="rId163" Type="http://schemas.openxmlformats.org/officeDocument/2006/relationships/slide" Target="slides/slide156.xml"/><Relationship Id="rId164" Type="http://schemas.openxmlformats.org/officeDocument/2006/relationships/slide" Target="slides/slide157.xml"/><Relationship Id="rId165" Type="http://schemas.openxmlformats.org/officeDocument/2006/relationships/slide" Target="slides/slide158.xml"/><Relationship Id="rId166" Type="http://schemas.openxmlformats.org/officeDocument/2006/relationships/slide" Target="slides/slide159.xml"/><Relationship Id="rId167" Type="http://schemas.openxmlformats.org/officeDocument/2006/relationships/slide" Target="slides/slide160.xml"/><Relationship Id="rId168" Type="http://schemas.openxmlformats.org/officeDocument/2006/relationships/slide" Target="slides/slide161.xml"/><Relationship Id="rId169" Type="http://schemas.openxmlformats.org/officeDocument/2006/relationships/slide" Target="slides/slide162.xml"/><Relationship Id="rId170" Type="http://schemas.openxmlformats.org/officeDocument/2006/relationships/slide" Target="slides/slide163.xml"/><Relationship Id="rId171" Type="http://schemas.openxmlformats.org/officeDocument/2006/relationships/slide" Target="slides/slide164.xml"/><Relationship Id="rId172" Type="http://schemas.openxmlformats.org/officeDocument/2006/relationships/slide" Target="slides/slide165.xml"/><Relationship Id="rId173" Type="http://schemas.openxmlformats.org/officeDocument/2006/relationships/slide" Target="slides/slide166.xml"/><Relationship Id="rId174" Type="http://schemas.openxmlformats.org/officeDocument/2006/relationships/slide" Target="slides/slide167.xml"/><Relationship Id="rId175" Type="http://schemas.openxmlformats.org/officeDocument/2006/relationships/slide" Target="slides/slide168.xml"/><Relationship Id="rId176" Type="http://schemas.openxmlformats.org/officeDocument/2006/relationships/slide" Target="slides/slide169.xml"/><Relationship Id="rId177" Type="http://schemas.openxmlformats.org/officeDocument/2006/relationships/slide" Target="slides/slide170.xml"/><Relationship Id="rId178" Type="http://schemas.openxmlformats.org/officeDocument/2006/relationships/slide" Target="slides/slide171.xml"/><Relationship Id="rId179" Type="http://schemas.openxmlformats.org/officeDocument/2006/relationships/slide" Target="slides/slide172.xml"/><Relationship Id="rId180" Type="http://schemas.openxmlformats.org/officeDocument/2006/relationships/slide" Target="slides/slide173.xml"/><Relationship Id="rId181" Type="http://schemas.openxmlformats.org/officeDocument/2006/relationships/slide" Target="slides/slide174.xml"/><Relationship Id="rId182" Type="http://schemas.openxmlformats.org/officeDocument/2006/relationships/slide" Target="slides/slide175.xml"/><Relationship Id="rId183" Type="http://schemas.openxmlformats.org/officeDocument/2006/relationships/slide" Target="slides/slide176.xml"/><Relationship Id="rId184" Type="http://schemas.openxmlformats.org/officeDocument/2006/relationships/slide" Target="slides/slide177.xml"/><Relationship Id="rId185" Type="http://schemas.openxmlformats.org/officeDocument/2006/relationships/slide" Target="slides/slide178.xml"/><Relationship Id="rId186" Type="http://schemas.openxmlformats.org/officeDocument/2006/relationships/slide" Target="slides/slide179.xml"/><Relationship Id="rId187" Type="http://schemas.openxmlformats.org/officeDocument/2006/relationships/slide" Target="slides/slide180.xml"/><Relationship Id="rId188" Type="http://schemas.openxmlformats.org/officeDocument/2006/relationships/slide" Target="slides/slide181.xml"/><Relationship Id="rId189" Type="http://schemas.openxmlformats.org/officeDocument/2006/relationships/slide" Target="slides/slide182.xml"/><Relationship Id="rId190" Type="http://schemas.openxmlformats.org/officeDocument/2006/relationships/slide" Target="slides/slide183.xml"/><Relationship Id="rId191" Type="http://schemas.openxmlformats.org/officeDocument/2006/relationships/slide" Target="slides/slide184.xml"/><Relationship Id="rId192" Type="http://schemas.openxmlformats.org/officeDocument/2006/relationships/slide" Target="slides/slide185.xml"/><Relationship Id="rId193" Type="http://schemas.openxmlformats.org/officeDocument/2006/relationships/slide" Target="slides/slide186.xml"/><Relationship Id="rId194" Type="http://schemas.openxmlformats.org/officeDocument/2006/relationships/slide" Target="slides/slide187.xml"/><Relationship Id="rId195" Type="http://schemas.openxmlformats.org/officeDocument/2006/relationships/slide" Target="slides/slide188.xml"/><Relationship Id="rId196" Type="http://schemas.openxmlformats.org/officeDocument/2006/relationships/slide" Target="slides/slide189.xml"/><Relationship Id="rId197" Type="http://schemas.openxmlformats.org/officeDocument/2006/relationships/slide" Target="slides/slide190.xml"/><Relationship Id="rId198" Type="http://schemas.openxmlformats.org/officeDocument/2006/relationships/slide" Target="slides/slide191.xml"/><Relationship Id="rId199" Type="http://schemas.openxmlformats.org/officeDocument/2006/relationships/slide" Target="slides/slide192.xml"/><Relationship Id="rId200" Type="http://schemas.openxmlformats.org/officeDocument/2006/relationships/slide" Target="slides/slide193.xml"/><Relationship Id="rId201" Type="http://schemas.openxmlformats.org/officeDocument/2006/relationships/slide" Target="slides/slide194.xml"/><Relationship Id="rId202" Type="http://schemas.openxmlformats.org/officeDocument/2006/relationships/slide" Target="slides/slide195.xml"/><Relationship Id="rId203" Type="http://schemas.openxmlformats.org/officeDocument/2006/relationships/slide" Target="slides/slide196.xml"/><Relationship Id="rId204" Type="http://schemas.openxmlformats.org/officeDocument/2006/relationships/slide" Target="slides/slide197.xml"/><Relationship Id="rId205" Type="http://schemas.openxmlformats.org/officeDocument/2006/relationships/slide" Target="slides/slide198.xml"/><Relationship Id="rId206" Type="http://schemas.openxmlformats.org/officeDocument/2006/relationships/slide" Target="slides/slide199.xml"/><Relationship Id="rId207" Type="http://schemas.openxmlformats.org/officeDocument/2006/relationships/slide" Target="slides/slide200.xml"/><Relationship Id="rId208" Type="http://schemas.openxmlformats.org/officeDocument/2006/relationships/slide" Target="slides/slide201.xml"/><Relationship Id="rId209" Type="http://schemas.openxmlformats.org/officeDocument/2006/relationships/slide" Target="slides/slide202.xml"/><Relationship Id="rId210" Type="http://schemas.openxmlformats.org/officeDocument/2006/relationships/slide" Target="slides/slide203.xml"/><Relationship Id="rId211" Type="http://schemas.openxmlformats.org/officeDocument/2006/relationships/slide" Target="slides/slide204.xml"/><Relationship Id="rId212" Type="http://schemas.openxmlformats.org/officeDocument/2006/relationships/slide" Target="slides/slide205.xml"/><Relationship Id="rId213" Type="http://schemas.openxmlformats.org/officeDocument/2006/relationships/slide" Target="slides/slide206.xml"/><Relationship Id="rId214" Type="http://schemas.openxmlformats.org/officeDocument/2006/relationships/slide" Target="slides/slide207.xml"/><Relationship Id="rId215" Type="http://schemas.openxmlformats.org/officeDocument/2006/relationships/slide" Target="slides/slide208.xml"/><Relationship Id="rId216" Type="http://schemas.openxmlformats.org/officeDocument/2006/relationships/slide" Target="slides/slide209.xml"/><Relationship Id="rId217" Type="http://schemas.openxmlformats.org/officeDocument/2006/relationships/slide" Target="slides/slide210.xml"/><Relationship Id="rId218" Type="http://schemas.openxmlformats.org/officeDocument/2006/relationships/slide" Target="slides/slide211.xml"/><Relationship Id="rId219" Type="http://schemas.openxmlformats.org/officeDocument/2006/relationships/slide" Target="slides/slide212.xml"/><Relationship Id="rId220" Type="http://schemas.openxmlformats.org/officeDocument/2006/relationships/slide" Target="slides/slide213.xml"/><Relationship Id="rId221" Type="http://schemas.openxmlformats.org/officeDocument/2006/relationships/slide" Target="slides/slide214.xml"/><Relationship Id="rId222" Type="http://schemas.openxmlformats.org/officeDocument/2006/relationships/slide" Target="slides/slide215.xml"/><Relationship Id="rId223" Type="http://schemas.openxmlformats.org/officeDocument/2006/relationships/slide" Target="slides/slide216.xml"/><Relationship Id="rId224" Type="http://schemas.openxmlformats.org/officeDocument/2006/relationships/slide" Target="slides/slide217.xml"/><Relationship Id="rId225" Type="http://schemas.openxmlformats.org/officeDocument/2006/relationships/slide" Target="slides/slide218.xml"/><Relationship Id="rId226" Type="http://schemas.openxmlformats.org/officeDocument/2006/relationships/slide" Target="slides/slide219.xml"/><Relationship Id="rId227" Type="http://schemas.openxmlformats.org/officeDocument/2006/relationships/slide" Target="slides/slide220.xml"/><Relationship Id="rId228" Type="http://schemas.openxmlformats.org/officeDocument/2006/relationships/slide" Target="slides/slide221.xml"/></Relationships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p="http://schemas.openxmlformats.org/presentationml/2006/main" xmlns:r="http://schemas.openxmlformats.org/officeDocument/2006/relationships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89C1C7-3DCD-1040-A9CF-14679D8B5DDD}" type="datetimeFigureOut">
              <a:rPr lang="en-US" smtClean="0"/>
              <a:t>10/17/16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B5E49A5-4136-284D-997B-48E1D791AD6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32521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.xml"/></Relationships>
</file>

<file path=ppt/notesSlides/_rels/notesSlide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.xml"/></Relationships>
</file>

<file path=ppt/notesSlides/_rels/notesSlide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.xml"/></Relationships>
</file>

<file path=ppt/notesSlides/_rels/notesSlide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.xml"/></Relationships>
</file>

<file path=ppt/notesSlides/_rels/notesSlide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.xml"/></Relationships>
</file>

<file path=ppt/notesSlides/_rels/notesSlide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.xml"/></Relationships>
</file>

<file path=ppt/notesSlides/_rels/notesSlide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.xml"/></Relationships>
</file>

<file path=ppt/notesSlides/_rels/notesSlide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.xml"/></Relationships>
</file>

<file path=ppt/notesSlides/_rels/notesSlide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.xml"/></Relationships>
</file>

<file path=ppt/notesSlides/_rels/notesSlide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.xml"/></Relationships>
</file>

<file path=ppt/notesSlides/_rels/notesSlide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.xml"/></Relationships>
</file>

<file path=ppt/notesSlides/_rels/notesSlide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.xml"/></Relationships>
</file>

<file path=ppt/notesSlides/_rels/notesSlide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.xml"/></Relationships>
</file>

<file path=ppt/notesSlides/_rels/notesSlide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.xml"/></Relationships>
</file>

<file path=ppt/notesSlides/_rels/notesSlide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.xml"/></Relationships>
</file>

<file path=ppt/notesSlides/_rels/notesSlide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.xml"/></Relationships>
</file>

<file path=ppt/notesSlides/_rels/notesSlide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.xml"/></Relationships>
</file>

<file path=ppt/notesSlides/_rels/notesSlide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.xml"/></Relationships>
</file>

<file path=ppt/notesSlides/_rels/notesSlide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.xml"/></Relationships>
</file>

<file path=ppt/notesSlides/_rels/notesSlide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.xml"/></Relationships>
</file>

<file path=ppt/notesSlides/_rels/notesSlide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.xml"/></Relationships>
</file>

<file path=ppt/notesSlides/_rels/notesSlide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.xml"/></Relationships>
</file>

<file path=ppt/notesSlides/_rels/notesSlide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.xml"/></Relationships>
</file>

<file path=ppt/notesSlides/_rels/notesSlide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.xml"/></Relationships>
</file>

<file path=ppt/notesSlides/_rels/notesSlide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.xml"/></Relationships>
</file>

<file path=ppt/notesSlides/_rels/notesSlide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.xml"/></Relationships>
</file>

<file path=ppt/notesSlides/_rels/notesSlide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.xml"/></Relationships>
</file>

<file path=ppt/notesSlides/_rels/notesSlide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.xml"/></Relationships>
</file>

<file path=ppt/notesSlides/_rels/notesSlide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.xml"/></Relationships>
</file>

<file path=ppt/notesSlides/_rels/notesSlide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.xml"/></Relationships>
</file>

<file path=ppt/notesSlides/_rels/notesSlide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.xml"/></Relationships>
</file>

<file path=ppt/notesSlides/_rels/notesSlide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.xml"/></Relationships>
</file>

<file path=ppt/notesSlides/_rels/notesSlide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.xml"/></Relationships>
</file>

<file path=ppt/notesSlides/_rels/notesSlide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.xml"/></Relationships>
</file>

<file path=ppt/notesSlides/_rels/notesSlide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.xml"/></Relationships>
</file>

<file path=ppt/notesSlides/_rels/notesSlide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.xml"/></Relationships>
</file>

<file path=ppt/notesSlides/_rels/notesSlide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.xml"/></Relationships>
</file>

<file path=ppt/notesSlides/_rels/notesSlide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.xml"/></Relationships>
</file>

<file path=ppt/notesSlides/_rels/notesSlide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.xml"/></Relationships>
</file>

<file path=ppt/notesSlides/_rels/notesSlide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.xml"/></Relationships>
</file>

<file path=ppt/notesSlides/_rels/notesSlide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.xml"/></Relationships>
</file>

<file path=ppt/notesSlides/_rels/notesSlide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.xml"/></Relationships>
</file>

<file path=ppt/notesSlides/_rels/notesSlide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.xml"/></Relationships>
</file>

<file path=ppt/notesSlides/_rels/notesSlide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.xml"/></Relationships>
</file>

<file path=ppt/notesSlides/_rels/notesSlide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.xml"/></Relationships>
</file>

<file path=ppt/notesSlides/_rels/notesSlide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.xml"/></Relationships>
</file>

<file path=ppt/notesSlides/_rels/notesSlide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.xml"/></Relationships>
</file>

<file path=ppt/notesSlides/_rels/notesSlide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.xml"/></Relationships>
</file>

<file path=ppt/notesSlides/_rels/notesSlide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.xml"/></Relationships>
</file>

<file path=ppt/notesSlides/_rels/notesSlide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.xml"/></Relationships>
</file>

<file path=ppt/notesSlides/_rels/notesSlide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.xml"/></Relationships>
</file>

<file path=ppt/notesSlides/_rels/notesSlide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.xml"/></Relationships>
</file>

<file path=ppt/notesSlides/_rels/notesSlide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.xml"/></Relationships>
</file>

<file path=ppt/notesSlides/_rels/notesSlide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.xml"/></Relationships>
</file>

<file path=ppt/notesSlides/_rels/notesSlide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.xml"/></Relationships>
</file>

<file path=ppt/notesSlides/_rels/notesSlide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.xml"/></Relationships>
</file>

<file path=ppt/notesSlides/_rels/notesSlide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.xml"/></Relationships>
</file>

<file path=ppt/notesSlides/_rels/notesSlide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.xml"/></Relationships>
</file>

<file path=ppt/notesSlides/_rels/notesSlide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.xml"/></Relationships>
</file>

<file path=ppt/notesSlides/_rels/notesSlide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0.xml"/></Relationships>
</file>

<file path=ppt/notesSlides/_rels/notesSlide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1.xml"/></Relationships>
</file>

<file path=ppt/notesSlides/_rels/notesSlide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2.xml"/></Relationships>
</file>

<file path=ppt/notesSlides/_rels/notesSlide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3.xml"/></Relationships>
</file>

<file path=ppt/notesSlides/_rels/notesSlide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4.xml"/></Relationships>
</file>

<file path=ppt/notesSlides/_rels/notesSlide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5.xml"/></Relationships>
</file>

<file path=ppt/notesSlides/_rels/notesSlide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6.xml"/></Relationships>
</file>

<file path=ppt/notesSlides/_rels/notesSlide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7.xml"/></Relationships>
</file>

<file path=ppt/notesSlides/_rels/notesSlide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8.xml"/></Relationships>
</file>

<file path=ppt/notesSlides/_rels/notesSlide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9.xml"/></Relationships>
</file>

<file path=ppt/notesSlides/_rels/notesSlide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0.xml"/></Relationships>
</file>

<file path=ppt/notesSlides/_rels/notesSlide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1.xml"/></Relationships>
</file>

<file path=ppt/notesSlides/_rels/notesSlide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2.xml"/></Relationships>
</file>

<file path=ppt/notesSlides/_rels/notesSlide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3.xml"/></Relationships>
</file>

<file path=ppt/notesSlides/_rels/notesSlide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4.xml"/></Relationships>
</file>

<file path=ppt/notesSlides/_rels/notesSlide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5.xml"/></Relationships>
</file>

<file path=ppt/notesSlides/_rels/notesSlide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6.xml"/></Relationships>
</file>

<file path=ppt/notesSlides/_rels/notesSlide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7.xml"/></Relationships>
</file>

<file path=ppt/notesSlides/_rels/notesSlide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8.xml"/></Relationships>
</file>

<file path=ppt/notesSlides/_rels/notesSlide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9.xml"/></Relationships>
</file>

<file path=ppt/notesSlides/_rels/notesSlide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0.xml"/></Relationships>
</file>

<file path=ppt/notesSlides/_rels/notesSlide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1.xml"/></Relationships>
</file>

<file path=ppt/notesSlides/_rels/notesSlide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2.xml"/></Relationships>
</file>

<file path=ppt/notesSlides/_rels/notesSlide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3.xml"/></Relationships>
</file>

<file path=ppt/notesSlides/_rels/notesSlide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4.xml"/></Relationships>
</file>

<file path=ppt/notesSlides/_rels/notesSlide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5.xml"/></Relationships>
</file>

<file path=ppt/notesSlides/_rels/notesSlide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6.xml"/></Relationships>
</file>

<file path=ppt/notesSlides/_rels/notesSlide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7.xml"/></Relationships>
</file>

<file path=ppt/notesSlides/_rels/notesSlide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8.xml"/></Relationships>
</file>

<file path=ppt/notesSlides/_rels/notesSlide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9.xml"/></Relationships>
</file>

<file path=ppt/notesSlides/_rels/notesSlide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0.xml"/></Relationships>
</file>

<file path=ppt/notesSlides/_rels/notesSlide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1.xml"/></Relationships>
</file>

<file path=ppt/notesSlides/_rels/notesSlide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2.xml"/></Relationships>
</file>

<file path=ppt/notesSlides/_rels/notesSlide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3.xml"/></Relationships>
</file>

<file path=ppt/notesSlides/_rels/notesSlide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4.xml"/></Relationships>
</file>

<file path=ppt/notesSlides/_rels/notesSlide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5.xml"/></Relationships>
</file>

<file path=ppt/notesSlides/_rels/notesSlide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6.xml"/></Relationships>
</file>

<file path=ppt/notesSlides/_rels/notesSlide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7.xml"/></Relationships>
</file>

<file path=ppt/notesSlides/_rels/notesSlide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8.xml"/></Relationships>
</file>

<file path=ppt/notesSlides/_rels/notesSlide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9.xml"/></Relationships>
</file>

<file path=ppt/notesSlides/_rels/notesSlide1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0.xml"/></Relationships>
</file>

<file path=ppt/notesSlides/_rels/notesSlide1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1.xml"/></Relationships>
</file>

<file path=ppt/notesSlides/_rels/notesSlide1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2.xml"/></Relationships>
</file>

<file path=ppt/notesSlides/_rels/notesSlide1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3.xml"/></Relationships>
</file>

<file path=ppt/notesSlides/_rels/notesSlide1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4.xml"/></Relationships>
</file>

<file path=ppt/notesSlides/_rels/notesSlide1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5.xml"/></Relationships>
</file>

<file path=ppt/notesSlides/_rels/notesSlide1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6.xml"/></Relationships>
</file>

<file path=ppt/notesSlides/_rels/notesSlide1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7.xml"/></Relationships>
</file>

<file path=ppt/notesSlides/_rels/notesSlide1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8.xml"/></Relationships>
</file>

<file path=ppt/notesSlides/_rels/notesSlide10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9.xml"/></Relationships>
</file>

<file path=ppt/notesSlides/_rels/notesSlide1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0.xml"/></Relationships>
</file>

<file path=ppt/notesSlides/_rels/notesSlide1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1.xml"/></Relationships>
</file>

<file path=ppt/notesSlides/_rels/notesSlide1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2.xml"/></Relationships>
</file>

<file path=ppt/notesSlides/_rels/notesSlide1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3.xml"/></Relationships>
</file>

<file path=ppt/notesSlides/_rels/notesSlide1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4.xml"/></Relationships>
</file>

<file path=ppt/notesSlides/_rels/notesSlide1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5.xml"/></Relationships>
</file>

<file path=ppt/notesSlides/_rels/notesSlide1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6.xml"/></Relationships>
</file>

<file path=ppt/notesSlides/_rels/notesSlide1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7.xml"/></Relationships>
</file>

<file path=ppt/notesSlides/_rels/notesSlide1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8.xml"/></Relationships>
</file>

<file path=ppt/notesSlides/_rels/notesSlide1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9.xml"/></Relationships>
</file>

<file path=ppt/notesSlides/_rels/notesSlide1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0.xml"/></Relationships>
</file>

<file path=ppt/notesSlides/_rels/notesSlide1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1.xml"/></Relationships>
</file>

<file path=ppt/notesSlides/_rels/notesSlide1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2.xml"/></Relationships>
</file>

<file path=ppt/notesSlides/_rels/notesSlide1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3.xml"/></Relationships>
</file>

<file path=ppt/notesSlides/_rels/notesSlide1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4.xml"/></Relationships>
</file>

<file path=ppt/notesSlides/_rels/notesSlide1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5.xml"/></Relationships>
</file>

<file path=ppt/notesSlides/_rels/notesSlide1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6.xml"/></Relationships>
</file>

<file path=ppt/notesSlides/_rels/notesSlide1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7.xml"/></Relationships>
</file>

<file path=ppt/notesSlides/_rels/notesSlide1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8.xml"/></Relationships>
</file>

<file path=ppt/notesSlides/_rels/notesSlide1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9.xml"/></Relationships>
</file>

<file path=ppt/notesSlides/_rels/notesSlide1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0.xml"/></Relationships>
</file>

<file path=ppt/notesSlides/_rels/notesSlide1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1.xml"/></Relationships>
</file>

<file path=ppt/notesSlides/_rels/notesSlide1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2.xml"/></Relationships>
</file>

<file path=ppt/notesSlides/_rels/notesSlide1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3.xml"/></Relationships>
</file>

<file path=ppt/notesSlides/_rels/notesSlide1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4.xml"/></Relationships>
</file>

<file path=ppt/notesSlides/_rels/notesSlide1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5.xml"/></Relationships>
</file>

<file path=ppt/notesSlides/_rels/notesSlide1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6.xml"/></Relationships>
</file>

<file path=ppt/notesSlides/_rels/notesSlide1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7.xml"/></Relationships>
</file>

<file path=ppt/notesSlides/_rels/notesSlide1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8.xml"/></Relationships>
</file>

<file path=ppt/notesSlides/_rels/notesSlide1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9.xml"/></Relationships>
</file>

<file path=ppt/notesSlides/_rels/notesSlide1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0.xml"/></Relationships>
</file>

<file path=ppt/notesSlides/_rels/notesSlide1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1.xml"/></Relationships>
</file>

<file path=ppt/notesSlides/_rels/notesSlide1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2.xml"/></Relationships>
</file>

<file path=ppt/notesSlides/_rels/notesSlide1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3.xml"/></Relationships>
</file>

<file path=ppt/notesSlides/_rels/notesSlide1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4.xml"/></Relationships>
</file>

<file path=ppt/notesSlides/_rels/notesSlide1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5.xml"/></Relationships>
</file>

<file path=ppt/notesSlides/_rels/notesSlide1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6.xml"/></Relationships>
</file>

<file path=ppt/notesSlides/_rels/notesSlide1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7.xml"/></Relationships>
</file>

<file path=ppt/notesSlides/_rels/notesSlide1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8.xml"/></Relationships>
</file>

<file path=ppt/notesSlides/_rels/notesSlide1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9.xml"/></Relationships>
</file>

<file path=ppt/notesSlides/_rels/notesSlide1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0.xml"/></Relationships>
</file>

<file path=ppt/notesSlides/_rels/notesSlide1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1.xml"/></Relationships>
</file>

<file path=ppt/notesSlides/_rels/notesSlide1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2.xml"/></Relationships>
</file>

<file path=ppt/notesSlides/_rels/notesSlide1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3.xml"/></Relationships>
</file>

<file path=ppt/notesSlides/_rels/notesSlide1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4.xml"/></Relationships>
</file>

<file path=ppt/notesSlides/_rels/notesSlide1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5.xml"/></Relationships>
</file>

<file path=ppt/notesSlides/_rels/notesSlide1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6.xml"/></Relationships>
</file>

<file path=ppt/notesSlides/_rels/notesSlide1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7.xml"/></Relationships>
</file>

<file path=ppt/notesSlides/_rels/notesSlide1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8.xml"/></Relationships>
</file>

<file path=ppt/notesSlides/_rels/notesSlide1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9.xml"/></Relationships>
</file>

<file path=ppt/notesSlides/_rels/notesSlide1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0.xml"/></Relationships>
</file>

<file path=ppt/notesSlides/_rels/notesSlide1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1.xml"/></Relationships>
</file>

<file path=ppt/notesSlides/_rels/notesSlide1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2.xml"/></Relationships>
</file>

<file path=ppt/notesSlides/_rels/notesSlide1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3.xml"/></Relationships>
</file>

<file path=ppt/notesSlides/_rels/notesSlide1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4.xml"/></Relationships>
</file>

<file path=ppt/notesSlides/_rels/notesSlide1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5.xml"/></Relationships>
</file>

<file path=ppt/notesSlides/_rels/notesSlide1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6.xml"/></Relationships>
</file>

<file path=ppt/notesSlides/_rels/notesSlide1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7.xml"/></Relationships>
</file>

<file path=ppt/notesSlides/_rels/notesSlide1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8.xml"/></Relationships>
</file>

<file path=ppt/notesSlides/_rels/notesSlide1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9.xml"/></Relationships>
</file>

<file path=ppt/notesSlides/_rels/notesSlide1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0.xml"/></Relationships>
</file>

<file path=ppt/notesSlides/_rels/notesSlide1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1.xml"/></Relationships>
</file>

<file path=ppt/notesSlides/_rels/notesSlide1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2.xml"/></Relationships>
</file>

<file path=ppt/notesSlides/_rels/notesSlide1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3.xml"/></Relationships>
</file>

<file path=ppt/notesSlides/_rels/notesSlide1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4.xml"/></Relationships>
</file>

<file path=ppt/notesSlides/_rels/notesSlide1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5.xml"/></Relationships>
</file>

<file path=ppt/notesSlides/_rels/notesSlide1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6.xml"/></Relationships>
</file>

<file path=ppt/notesSlides/_rels/notesSlide1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7.xml"/></Relationships>
</file>

<file path=ppt/notesSlides/_rels/notesSlide1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8.xml"/></Relationships>
</file>

<file path=ppt/notesSlides/_rels/notesSlide1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9.xml"/></Relationships>
</file>

<file path=ppt/notesSlides/_rels/notesSlide1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0.xml"/></Relationships>
</file>

<file path=ppt/notesSlides/_rels/notesSlide1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1.xml"/></Relationships>
</file>

<file path=ppt/notesSlides/_rels/notesSlide1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2.xml"/></Relationships>
</file>

<file path=ppt/notesSlides/_rels/notesSlide1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3.xml"/></Relationships>
</file>

<file path=ppt/notesSlides/_rels/notesSlide1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4.xml"/></Relationships>
</file>

<file path=ppt/notesSlides/_rels/notesSlide1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5.xml"/></Relationships>
</file>

<file path=ppt/notesSlides/_rels/notesSlide1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6.xml"/></Relationships>
</file>

<file path=ppt/notesSlides/_rels/notesSlide1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7.xml"/></Relationships>
</file>

<file path=ppt/notesSlides/_rels/notesSlide1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8.xml"/></Relationships>
</file>

<file path=ppt/notesSlides/_rels/notesSlide1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9.xml"/></Relationships>
</file>

<file path=ppt/notesSlides/_rels/notesSlide1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0.xml"/></Relationships>
</file>

<file path=ppt/notesSlides/_rels/notesSlide1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1.xml"/></Relationships>
</file>

<file path=ppt/notesSlides/_rels/notesSlide1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2.xml"/></Relationships>
</file>

<file path=ppt/notesSlides/_rels/notesSlide1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3.xml"/></Relationships>
</file>

<file path=ppt/notesSlides/_rels/notesSlide1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4.xml"/></Relationships>
</file>

<file path=ppt/notesSlides/_rels/notesSlide1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5.xml"/></Relationships>
</file>

<file path=ppt/notesSlides/_rels/notesSlide1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6.xml"/></Relationships>
</file>

<file path=ppt/notesSlides/_rels/notesSlide1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7.xml"/></Relationships>
</file>

<file path=ppt/notesSlides/_rels/notesSlide1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8.xml"/></Relationships>
</file>

<file path=ppt/notesSlides/_rels/notesSlide1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9.xml"/></Relationships>
</file>

<file path=ppt/notesSlides/_rels/notesSlide2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0.xml"/></Relationships>
</file>

<file path=ppt/notesSlides/_rels/notesSlide2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1.xml"/></Relationships>
</file>

<file path=ppt/notesSlides/_rels/notesSlide2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2.xml"/></Relationships>
</file>

<file path=ppt/notesSlides/_rels/notesSlide2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3.xml"/></Relationships>
</file>

<file path=ppt/notesSlides/_rels/notesSlide2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4.xml"/></Relationships>
</file>

<file path=ppt/notesSlides/_rels/notesSlide2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5.xml"/></Relationships>
</file>

<file path=ppt/notesSlides/_rels/notesSlide2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6.xml"/></Relationships>
</file>

<file path=ppt/notesSlides/_rels/notesSlide2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7.xml"/></Relationships>
</file>

<file path=ppt/notesSlides/_rels/notesSlide2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8.xml"/></Relationships>
</file>

<file path=ppt/notesSlides/_rels/notesSlide20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9.xml"/></Relationships>
</file>

<file path=ppt/notesSlides/_rels/notesSlide2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0.xml"/></Relationships>
</file>

<file path=ppt/notesSlides/_rels/notesSlide2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1.xml"/></Relationships>
</file>

<file path=ppt/notesSlides/_rels/notesSlide2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2.xml"/></Relationships>
</file>

<file path=ppt/notesSlides/_rels/notesSlide2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3.xml"/></Relationships>
</file>

<file path=ppt/notesSlides/_rels/notesSlide2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4.xml"/></Relationships>
</file>

<file path=ppt/notesSlides/_rels/notesSlide2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5.xml"/></Relationships>
</file>

<file path=ppt/notesSlides/_rels/notesSlide2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6.xml"/></Relationships>
</file>

<file path=ppt/notesSlides/_rels/notesSlide2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7.xml"/></Relationships>
</file>

<file path=ppt/notesSlides/_rels/notesSlide2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8.xml"/></Relationships>
</file>

<file path=ppt/notesSlides/_rels/notesSlide2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9.xml"/></Relationships>
</file>

<file path=ppt/notesSlides/_rels/notesSlide2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0.xml"/></Relationships>
</file>

<file path=ppt/notesSlides/_rels/notesSlide2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1.xml"/></Relationships>
</file>

<file path=ppt/notesSlides/notesSlide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구조 확인용 예시 문구이며 KORAD 실적이 아닙니다.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Relationship Id="rId3" Type="http://schemas.openxmlformats.org/officeDocument/2006/relationships/image" Target="../media/image1.png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4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4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4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4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4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4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4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4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4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4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5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5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5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5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5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5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5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5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5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5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6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6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6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6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6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6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6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6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6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6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7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7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7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7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7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7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7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7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7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7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8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8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8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8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8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8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8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8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8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8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9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9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9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9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9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9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9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9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9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9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0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0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0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0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0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0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0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0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0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0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1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1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1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1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1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1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1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1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2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2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2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2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2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2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2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2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2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2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3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3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3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3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3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3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3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3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3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3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4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4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4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4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4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4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4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4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4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4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5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5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5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5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5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5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5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5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5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5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6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6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6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6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6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6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6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6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6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6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7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7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7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7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7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7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7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7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7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7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8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8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8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8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8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8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8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8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8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8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9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9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9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9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9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9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9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9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9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9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0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0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0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0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0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0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0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0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0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0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1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1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1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1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1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1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1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1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2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2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2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2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2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2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2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2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표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표지 바탕"/>
          <p:cNvSpPr/>
          <p:nvPr/>
        </p:nvSpPr>
        <p:spPr>
          <a:xfrm>
            <a:off x="540000" y="360000"/>
            <a:ext cx="6480000" cy="9972000"/>
          </a:xfrm>
          <a:prstGeom prst="rect">
            <a:avLst/>
          </a:prstGeom>
          <a:solidFill>
            <a:srgbClr val="E6F4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3" name="표지 일러스트" descr="표지 일러스트"/>
          <p:cNvPicPr>
            <a:picLocks noChangeAspect="1"/>
          </p:cNvPicPr>
          <p:nvPr/>
        </p:nvPicPr>
        <p:blipFill>
          <a:blip r:embed="rId2"/>
          <a:srcRect l="32472" t="0" r="0" b="0"/>
          <a:stretch>
            <a:fillRect/>
          </a:stretch>
        </p:blipFill>
        <p:spPr>
          <a:xfrm>
            <a:off x="540000" y="4932000"/>
            <a:ext cx="6480000" cy="5400000"/>
          </a:xfrm>
          <a:prstGeom prst="rect">
            <a:avLst/>
          </a:prstGeom>
        </p:spPr>
      </p:pic>
      <p:pic>
        <p:nvPicPr>
          <p:cNvPr id="4" name="KORAD CI" descr="KORAD CI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56000" y="648000"/>
            <a:ext cx="1944000" cy="360404"/>
          </a:xfrm>
          <a:prstGeom prst="rect">
            <a:avLst/>
          </a:prstGeom>
        </p:spPr>
      </p:pic>
      <p:sp>
        <p:nvSpPr>
          <p:cNvPr id="5" name="표지 제목"/>
          <p:cNvSpPr>
            <a:spLocks noGrp="1"/>
          </p:cNvSpPr>
          <p:nvPr>
            <p:ph type="ctrTitle"/>
          </p:nvPr>
        </p:nvSpPr>
        <p:spPr>
          <a:xfrm>
            <a:off x="756000" y="2808000"/>
            <a:ext cx="6048000" cy="2016000"/>
          </a:xfrm>
        </p:spPr>
        <p:txBody>
          <a:bodyPr wrap="square" lIns="0" tIns="0" rIns="0" bIns="0" anchor="t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표지 제목</a:t>
            </a:r>
          </a:p>
        </p:txBody>
      </p:sp>
      <p:sp>
        <p:nvSpPr>
          <p:cNvPr id="6" name="표지 부제"/>
          <p:cNvSpPr>
            <a:spLocks noGrp="1"/>
          </p:cNvSpPr>
          <p:nvPr>
            <p:ph type="subTitle" idx="1"/>
          </p:nvPr>
        </p:nvSpPr>
        <p:spPr>
          <a:xfrm>
            <a:off x="756000" y="4968000"/>
            <a:ext cx="6048000" cy="792000"/>
          </a:xfrm>
        </p:spPr>
        <p:txBody>
          <a:bodyPr wrap="square" lIns="0" tIns="0" rIns="0" bIns="0" anchor="t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표지 부제</a:t>
            </a:r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지면-짝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지면-홀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01 장 제목 띠(쪽 머리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장 제목 띠"/>
          <p:cNvSpPr/>
          <p:nvPr/>
        </p:nvSpPr>
        <p:spPr>
          <a:xfrm>
            <a:off x="536870" y="766957"/>
            <a:ext cx="6300000" cy="421826"/>
          </a:xfrm>
          <a:prstGeom prst="rect">
            <a:avLst/>
          </a:prstGeom>
          <a:solidFill>
            <a:srgbClr val="FFFFFF"/>
          </a:solidFill>
          <a:ln w="28575">
            <a:solidFill>
              <a:srgbClr val="0051BC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CI 칸"/>
          <p:cNvSpPr/>
          <p:nvPr/>
        </p:nvSpPr>
        <p:spPr>
          <a:xfrm>
            <a:off x="5401565" y="772435"/>
            <a:ext cx="1429826" cy="410870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2" name="장 제목"/>
          <p:cNvSpPr>
            <a:spLocks noGrp="1"/>
          </p:cNvSpPr>
          <p:nvPr>
            <p:ph type="body" sz="quarter" idx="20"/>
          </p:nvPr>
        </p:nvSpPr>
        <p:spPr>
          <a:xfrm>
            <a:off x="810783" y="777913"/>
            <a:ext cx="4590783" cy="399913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800" b="1" spc="-9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800" b="1" spc="-90" dirty="0">
                <a:solidFill>
                  <a:srgbClr val="000359"/>
                </a:solidFill>
                <a:latin typeface="Pretendard"/>
                <a:ea typeface="Pretendard"/>
              </a:rPr>
              <a:t>Ⅲ. 2025년도 추진실적 및 성과</a:t>
            </a:r>
          </a:p>
        </p:txBody>
      </p:sp>
      <p:pic>
        <p:nvPicPr>
          <p:cNvPr id="13" name="KORAD CI" descr="korad-ci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538522" y="870213"/>
            <a:ext cx="1161391" cy="2153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02 평가내용 띠(쪽 머리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평가내용 라벨"/>
          <p:cNvSpPr/>
          <p:nvPr/>
        </p:nvSpPr>
        <p:spPr>
          <a:xfrm>
            <a:off x="723130" y="777913"/>
            <a:ext cx="975130" cy="597130"/>
          </a:xfrm>
          <a:prstGeom prst="rect">
            <a:avLst/>
          </a:prstGeom>
          <a:solidFill>
            <a:srgbClr val="DEEEFF"/>
          </a:solidFill>
          <a:ln w="28575">
            <a:solidFill>
              <a:srgbClr val="0051BC"/>
            </a:solidFill>
          </a:ln>
          <a:effectLst/>
        </p:spPr>
        <p:txBody>
          <a:bodyPr rtlCol="0" anchor="ctr" lIns="10800" rIns="10800" tIns="10800" bIns="10800" wrap="square"/>
          <a:lstStyle/>
          <a:p/>
        </p:txBody>
      </p:sp>
      <p:sp>
        <p:nvSpPr>
          <p:cNvPr id="10" name="평가내용 라벨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975130" cy="597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10800" bIns="108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평가내용 </a:t>
            </a:r>
            <a:r>
              <a:rPr lang="ko-KR" sz="1400" b="1" spc="-55" dirty="0">
                <a:solidFill>
                  <a:srgbClr val="0051BC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1" name="평가내용 제목 박스"/>
          <p:cNvSpPr/>
          <p:nvPr/>
        </p:nvSpPr>
        <p:spPr>
          <a:xfrm>
            <a:off x="1709217" y="788870"/>
            <a:ext cx="5313913" cy="575217"/>
          </a:xfrm>
          <a:prstGeom prst="rect">
            <a:avLst/>
          </a:prstGeom>
          <a:solidFill>
            <a:srgbClr val="FFFFFF"/>
          </a:solidFill>
          <a:ln w="19050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2" name="평가내용 제목"/>
          <p:cNvSpPr>
            <a:spLocks noGrp="1"/>
          </p:cNvSpPr>
          <p:nvPr>
            <p:ph type="body" sz="quarter" idx="21"/>
          </p:nvPr>
        </p:nvSpPr>
        <p:spPr>
          <a:xfrm>
            <a:off x="1818783" y="799826"/>
            <a:ext cx="5127652" cy="55330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400" b="1" spc="-7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노사 간 협력체계 구축과 실질적 운영이 상호 협력과 참여에 기반하여 이루어지고 있는지 여부</a:t>
            </a:r>
          </a:p>
        </p:txBody>
      </p:sp>
      <p:sp>
        <p:nvSpPr>
          <p:cNvPr id="13" name="점"/>
          <p:cNvSpPr/>
          <p:nvPr/>
        </p:nvSpPr>
        <p:spPr>
          <a:xfrm>
            <a:off x="1057304" y="1314783"/>
            <a:ext cx="27391" cy="27391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점"/>
          <p:cNvSpPr/>
          <p:nvPr/>
        </p:nvSpPr>
        <p:spPr>
          <a:xfrm>
            <a:off x="1134000" y="1314783"/>
            <a:ext cx="27391" cy="27391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점"/>
          <p:cNvSpPr/>
          <p:nvPr/>
        </p:nvSpPr>
        <p:spPr>
          <a:xfrm>
            <a:off x="1210696" y="1314783"/>
            <a:ext cx="27391" cy="27391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점"/>
          <p:cNvSpPr/>
          <p:nvPr/>
        </p:nvSpPr>
        <p:spPr>
          <a:xfrm>
            <a:off x="1287391" y="1314783"/>
            <a:ext cx="27391" cy="27391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점"/>
          <p:cNvSpPr/>
          <p:nvPr/>
        </p:nvSpPr>
        <p:spPr>
          <a:xfrm>
            <a:off x="1364087" y="1314783"/>
            <a:ext cx="27391" cy="27391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03 서사 · 환경분석 → 시사점 → 협력체계 → 추진 체계 5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상생 협력적인 노사관계 구축과 협력체계 운영</a:t>
            </a:r>
          </a:p>
        </p:txBody>
      </p:sp>
      <p:sp>
        <p:nvSpPr>
          <p:cNvPr id="15" name="형광 밑줄"/>
          <p:cNvSpPr/>
          <p:nvPr/>
        </p:nvSpPr>
        <p:spPr>
          <a:xfrm>
            <a:off x="536870" y="1347652"/>
            <a:ext cx="3107267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소제목"/>
          <p:cNvSpPr>
            <a:spLocks noGrp="1"/>
          </p:cNvSpPr>
          <p:nvPr>
            <p:ph type="body" sz="quarter" idx="22"/>
          </p:nvPr>
        </p:nvSpPr>
        <p:spPr>
          <a:xfrm>
            <a:off x="536870" y="1194261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상생 협력적 노사관계 운영 전략 수립과 과제 도출</a:t>
            </a:r>
          </a:p>
        </p:txBody>
      </p:sp>
      <p:sp>
        <p:nvSpPr>
          <p:cNvPr id="17" name="표 외곽"/>
          <p:cNvSpPr/>
          <p:nvPr/>
        </p:nvSpPr>
        <p:spPr>
          <a:xfrm>
            <a:off x="536870" y="1479130"/>
            <a:ext cx="6300000" cy="2099739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레일"/>
          <p:cNvSpPr/>
          <p:nvPr/>
        </p:nvSpPr>
        <p:spPr>
          <a:xfrm>
            <a:off x="547826" y="1495565"/>
            <a:ext cx="580696" cy="77118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레일"/>
          <p:cNvSpPr>
            <a:spLocks noGrp="1"/>
          </p:cNvSpPr>
          <p:nvPr>
            <p:ph type="body" sz="quarter" idx="23"/>
          </p:nvPr>
        </p:nvSpPr>
        <p:spPr>
          <a:xfrm>
            <a:off x="547826" y="1495565"/>
            <a:ext cx="580696" cy="7711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환경분석</a:t>
            </a:r>
          </a:p>
        </p:txBody>
      </p:sp>
      <p:sp>
        <p:nvSpPr>
          <p:cNvPr id="20" name="머리칸"/>
          <p:cNvSpPr/>
          <p:nvPr/>
        </p:nvSpPr>
        <p:spPr>
          <a:xfrm>
            <a:off x="1161391" y="1517478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1" name="머리칸"/>
          <p:cNvSpPr>
            <a:spLocks noGrp="1"/>
          </p:cNvSpPr>
          <p:nvPr>
            <p:ph type="body" sz="quarter" idx="24"/>
          </p:nvPr>
        </p:nvSpPr>
        <p:spPr>
          <a:xfrm>
            <a:off x="1161391" y="1517478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외부환경</a:t>
            </a:r>
          </a:p>
        </p:txBody>
      </p:sp>
      <p:sp>
        <p:nvSpPr>
          <p:cNvPr id="22" name="머리칸"/>
          <p:cNvSpPr/>
          <p:nvPr/>
        </p:nvSpPr>
        <p:spPr>
          <a:xfrm>
            <a:off x="3985435" y="1517478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3" name="머리칸"/>
          <p:cNvSpPr>
            <a:spLocks noGrp="1"/>
          </p:cNvSpPr>
          <p:nvPr>
            <p:ph type="body" sz="quarter" idx="25"/>
          </p:nvPr>
        </p:nvSpPr>
        <p:spPr>
          <a:xfrm>
            <a:off x="3985435" y="1517478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내부여건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6"/>
          </p:nvPr>
        </p:nvSpPr>
        <p:spPr>
          <a:xfrm>
            <a:off x="1172348" y="1758522"/>
            <a:ext cx="2802130" cy="5027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노동존중 실현, 기본권 보장 이행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노동조합법 개정, 노사협력 강화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저출산 해결 노력 요구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3996391" y="1758522"/>
            <a:ext cx="2802130" cy="5027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교통직 등 취약직종 처우개선 요구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연말집중 민원 등 현안해결 소통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체감할 수 있는 근로환경 개선 요구</a:t>
            </a:r>
          </a:p>
        </p:txBody>
      </p:sp>
      <p:cxnSp>
        <p:nvCxnSpPr>
          <p:cNvPr id="26" name="Connector 19"/>
          <p:cNvCxnSpPr/>
          <p:nvPr/>
        </p:nvCxnSpPr>
        <p:spPr>
          <a:xfrm>
            <a:off x="3985435" y="1791391"/>
            <a:ext cx="0" cy="4370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7" name="레일"/>
          <p:cNvSpPr/>
          <p:nvPr/>
        </p:nvSpPr>
        <p:spPr>
          <a:xfrm>
            <a:off x="547826" y="2283183"/>
            <a:ext cx="580696" cy="64095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8" name="레일"/>
          <p:cNvSpPr>
            <a:spLocks noGrp="1"/>
          </p:cNvSpPr>
          <p:nvPr>
            <p:ph type="body" sz="quarter" idx="28"/>
          </p:nvPr>
        </p:nvSpPr>
        <p:spPr>
          <a:xfrm>
            <a:off x="547826" y="2283183"/>
            <a:ext cx="580696" cy="640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29" name="레일 삼각형"/>
          <p:cNvSpPr/>
          <p:nvPr/>
        </p:nvSpPr>
        <p:spPr>
          <a:xfrm>
            <a:off x="547826" y="2283182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0" name="태그"/>
          <p:cNvSpPr/>
          <p:nvPr/>
        </p:nvSpPr>
        <p:spPr>
          <a:xfrm>
            <a:off x="1161391" y="2327009"/>
            <a:ext cx="940087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1" name="태그"/>
          <p:cNvSpPr>
            <a:spLocks noGrp="1"/>
          </p:cNvSpPr>
          <p:nvPr>
            <p:ph type="body" sz="quarter" idx="29"/>
          </p:nvPr>
        </p:nvSpPr>
        <p:spPr>
          <a:xfrm>
            <a:off x="1161391" y="2327009"/>
            <a:ext cx="94008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노사협의체 운영</a:t>
            </a:r>
          </a:p>
        </p:txBody>
      </p:sp>
      <p:sp>
        <p:nvSpPr>
          <p:cNvPr id="32" name="태그 설명"/>
          <p:cNvSpPr>
            <a:spLocks noGrp="1"/>
          </p:cNvSpPr>
          <p:nvPr>
            <p:ph type="body" sz="quarter" idx="30"/>
          </p:nvPr>
        </p:nvSpPr>
        <p:spPr>
          <a:xfrm>
            <a:off x="2145304" y="2316052"/>
            <a:ext cx="4664174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상생 협력적 노사관계 확산을 위한 노사협의체 운영과 내실화 추진</a:t>
            </a:r>
          </a:p>
        </p:txBody>
      </p:sp>
      <p:sp>
        <p:nvSpPr>
          <p:cNvPr id="33" name="태그"/>
          <p:cNvSpPr/>
          <p:nvPr/>
        </p:nvSpPr>
        <p:spPr>
          <a:xfrm>
            <a:off x="1161391" y="2524226"/>
            <a:ext cx="940087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4" name="태그"/>
          <p:cNvSpPr>
            <a:spLocks noGrp="1"/>
          </p:cNvSpPr>
          <p:nvPr>
            <p:ph type="body" sz="quarter" idx="31"/>
          </p:nvPr>
        </p:nvSpPr>
        <p:spPr>
          <a:xfrm>
            <a:off x="1161391" y="2524226"/>
            <a:ext cx="94008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파트너십 강화</a:t>
            </a:r>
          </a:p>
        </p:txBody>
      </p:sp>
      <p:sp>
        <p:nvSpPr>
          <p:cNvPr id="35" name="태그 설명"/>
          <p:cNvSpPr>
            <a:spLocks noGrp="1"/>
          </p:cNvSpPr>
          <p:nvPr>
            <p:ph type="body" sz="quarter" idx="32"/>
          </p:nvPr>
        </p:nvSpPr>
        <p:spPr>
          <a:xfrm>
            <a:off x="2145304" y="2513270"/>
            <a:ext cx="4664174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공동 목표를 수행하는 동반자로서 긍정의 노사관계 강화</a:t>
            </a:r>
          </a:p>
        </p:txBody>
      </p:sp>
      <p:sp>
        <p:nvSpPr>
          <p:cNvPr id="36" name="태그"/>
          <p:cNvSpPr/>
          <p:nvPr/>
        </p:nvSpPr>
        <p:spPr>
          <a:xfrm>
            <a:off x="1161391" y="2721443"/>
            <a:ext cx="940087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7" name="태그"/>
          <p:cNvSpPr>
            <a:spLocks noGrp="1"/>
          </p:cNvSpPr>
          <p:nvPr>
            <p:ph type="body" sz="quarter" idx="33"/>
          </p:nvPr>
        </p:nvSpPr>
        <p:spPr>
          <a:xfrm>
            <a:off x="1161391" y="2721443"/>
            <a:ext cx="94008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근로환경 개선</a:t>
            </a:r>
          </a:p>
        </p:txBody>
      </p:sp>
      <p:sp>
        <p:nvSpPr>
          <p:cNvPr id="38" name="태그 설명"/>
          <p:cNvSpPr>
            <a:spLocks noGrp="1"/>
          </p:cNvSpPr>
          <p:nvPr>
            <p:ph type="body" sz="quarter" idx="34"/>
          </p:nvPr>
        </p:nvSpPr>
        <p:spPr>
          <a:xfrm>
            <a:off x="2145304" y="2710487"/>
            <a:ext cx="4664174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노동 존중 실현과 복리후생제도 개선 등 근로환경 개선 추진</a:t>
            </a:r>
          </a:p>
        </p:txBody>
      </p:sp>
      <p:sp>
        <p:nvSpPr>
          <p:cNvPr id="39" name="레일"/>
          <p:cNvSpPr/>
          <p:nvPr/>
        </p:nvSpPr>
        <p:spPr>
          <a:xfrm>
            <a:off x="547826" y="2940574"/>
            <a:ext cx="580696" cy="621861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0" name="레일"/>
          <p:cNvSpPr>
            <a:spLocks noGrp="1"/>
          </p:cNvSpPr>
          <p:nvPr>
            <p:ph type="body" sz="quarter" idx="35"/>
          </p:nvPr>
        </p:nvSpPr>
        <p:spPr>
          <a:xfrm>
            <a:off x="547826" y="2940574"/>
            <a:ext cx="580696" cy="6218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협력체계</a:t>
            </a:r>
          </a:p>
        </p:txBody>
      </p:sp>
      <p:sp>
        <p:nvSpPr>
          <p:cNvPr id="41" name="레일 삼각형"/>
          <p:cNvSpPr/>
          <p:nvPr/>
        </p:nvSpPr>
        <p:spPr>
          <a:xfrm>
            <a:off x="547826" y="2940573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2" name="단계"/>
          <p:cNvSpPr/>
          <p:nvPr/>
        </p:nvSpPr>
        <p:spPr>
          <a:xfrm>
            <a:off x="1161391" y="2962487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3" name="단계"/>
          <p:cNvSpPr>
            <a:spLocks noGrp="1"/>
          </p:cNvSpPr>
          <p:nvPr>
            <p:ph type="body" sz="quarter" idx="36"/>
          </p:nvPr>
        </p:nvSpPr>
        <p:spPr>
          <a:xfrm>
            <a:off x="1161391" y="2962487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운영기반 마련</a:t>
            </a:r>
          </a:p>
        </p:txBody>
      </p:sp>
      <p:sp>
        <p:nvSpPr>
          <p:cNvPr id="44" name="단계"/>
          <p:cNvSpPr/>
          <p:nvPr/>
        </p:nvSpPr>
        <p:spPr>
          <a:xfrm>
            <a:off x="3044087" y="2962487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5" name="단계"/>
          <p:cNvSpPr>
            <a:spLocks noGrp="1"/>
          </p:cNvSpPr>
          <p:nvPr>
            <p:ph type="body" sz="quarter" idx="37"/>
          </p:nvPr>
        </p:nvSpPr>
        <p:spPr>
          <a:xfrm>
            <a:off x="3044087" y="2962487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소통채널을 통한 과제설정</a:t>
            </a:r>
          </a:p>
        </p:txBody>
      </p:sp>
      <p:sp>
        <p:nvSpPr>
          <p:cNvPr id="46" name="단계"/>
          <p:cNvSpPr/>
          <p:nvPr/>
        </p:nvSpPr>
        <p:spPr>
          <a:xfrm>
            <a:off x="4926783" y="2962487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7" name="단계"/>
          <p:cNvSpPr>
            <a:spLocks noGrp="1"/>
          </p:cNvSpPr>
          <p:nvPr>
            <p:ph type="body" sz="quarter" idx="38"/>
          </p:nvPr>
        </p:nvSpPr>
        <p:spPr>
          <a:xfrm>
            <a:off x="4926783" y="2962487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 및 성과점검</a:t>
            </a:r>
          </a:p>
        </p:txBody>
      </p:sp>
      <p:sp>
        <p:nvSpPr>
          <p:cNvPr id="48" name="단계 삼각형"/>
          <p:cNvSpPr/>
          <p:nvPr/>
        </p:nvSpPr>
        <p:spPr>
          <a:xfrm>
            <a:off x="3044086" y="2962486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9" name="단계 삼각형"/>
          <p:cNvSpPr/>
          <p:nvPr/>
        </p:nvSpPr>
        <p:spPr>
          <a:xfrm>
            <a:off x="4926782" y="2962486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0" name="칸 본문"/>
          <p:cNvSpPr>
            <a:spLocks noGrp="1"/>
          </p:cNvSpPr>
          <p:nvPr>
            <p:ph type="body" sz="quarter" idx="39"/>
          </p:nvPr>
        </p:nvSpPr>
        <p:spPr>
          <a:xfrm>
            <a:off x="1172348" y="3214487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성과지수 설문조사·분석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결과물 부재 등 요인 파악</a:t>
            </a:r>
          </a:p>
        </p:txBody>
      </p:sp>
      <p:sp>
        <p:nvSpPr>
          <p:cNvPr id="51" name="칸 본문"/>
          <p:cNvSpPr>
            <a:spLocks noGrp="1"/>
          </p:cNvSpPr>
          <p:nvPr>
            <p:ph type="body" sz="quarter" idx="40"/>
          </p:nvPr>
        </p:nvSpPr>
        <p:spPr>
          <a:xfrm>
            <a:off x="3055043" y="3214487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열린 소통으로 추진방향·과제 설정</a:t>
            </a:r>
          </a:p>
        </p:txBody>
      </p:sp>
      <p:cxnSp>
        <p:nvCxnSpPr>
          <p:cNvPr id="52" name="Connector 37"/>
          <p:cNvCxnSpPr/>
          <p:nvPr/>
        </p:nvCxnSpPr>
        <p:spPr>
          <a:xfrm>
            <a:off x="3044087" y="3247357"/>
            <a:ext cx="0" cy="2767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3" name="칸 본문"/>
          <p:cNvSpPr>
            <a:spLocks noGrp="1"/>
          </p:cNvSpPr>
          <p:nvPr>
            <p:ph type="body" sz="quarter" idx="41"/>
          </p:nvPr>
        </p:nvSpPr>
        <p:spPr>
          <a:xfrm>
            <a:off x="4937739" y="3214487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노사협력으로 과제 적극 이행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이행 점검 등 환류체계 제도화</a:t>
            </a:r>
          </a:p>
        </p:txBody>
      </p:sp>
      <p:cxnSp>
        <p:nvCxnSpPr>
          <p:cNvPr id="54" name="Connector 39"/>
          <p:cNvCxnSpPr/>
          <p:nvPr/>
        </p:nvCxnSpPr>
        <p:spPr>
          <a:xfrm>
            <a:off x="4926783" y="3247357"/>
            <a:ext cx="0" cy="2767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5" name="삼각 화살표"/>
          <p:cNvSpPr/>
          <p:nvPr/>
        </p:nvSpPr>
        <p:spPr>
          <a:xfrm>
            <a:off x="3823826" y="3622695"/>
            <a:ext cx="350608" cy="142435"/>
          </a:xfrm>
          <a:custGeom>
            <a:avLst/>
            <a:gdLst/>
            <a:ahLst/>
            <a:cxnLst/>
            <a:rect l="l" t="t" r="r" b="b"/>
            <a:pathLst>
              <a:path w="350608" h="142435">
                <a:moveTo>
                  <a:pt x="0" y="0"/>
                </a:moveTo>
                <a:lnTo>
                  <a:pt x="350608" y="0"/>
                </a:lnTo>
                <a:lnTo>
                  <a:pt x="175304" y="142435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6" name="라벨 박스"/>
          <p:cNvSpPr/>
          <p:nvPr/>
        </p:nvSpPr>
        <p:spPr>
          <a:xfrm>
            <a:off x="536870" y="3847304"/>
            <a:ext cx="6300000" cy="29034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7" name="레일"/>
          <p:cNvSpPr/>
          <p:nvPr/>
        </p:nvSpPr>
        <p:spPr>
          <a:xfrm>
            <a:off x="547826" y="3858261"/>
            <a:ext cx="591652" cy="26843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8" name="레일"/>
          <p:cNvSpPr>
            <a:spLocks noGrp="1"/>
          </p:cNvSpPr>
          <p:nvPr>
            <p:ph type="body" sz="quarter" idx="42"/>
          </p:nvPr>
        </p:nvSpPr>
        <p:spPr>
          <a:xfrm>
            <a:off x="547826" y="3858261"/>
            <a:ext cx="591652" cy="268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 목표</a:t>
            </a:r>
          </a:p>
        </p:txBody>
      </p:sp>
      <p:sp>
        <p:nvSpPr>
          <p:cNvPr id="59" name="강조 바"/>
          <p:cNvSpPr/>
          <p:nvPr/>
        </p:nvSpPr>
        <p:spPr>
          <a:xfrm>
            <a:off x="1172348" y="3880174"/>
            <a:ext cx="5631652" cy="224609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0" name="강조 바 글"/>
          <p:cNvSpPr>
            <a:spLocks noGrp="1"/>
          </p:cNvSpPr>
          <p:nvPr>
            <p:ph type="body" sz="quarter" idx="43"/>
          </p:nvPr>
        </p:nvSpPr>
        <p:spPr>
          <a:xfrm>
            <a:off x="1172348" y="3880174"/>
            <a:ext cx="5631652" cy="224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존중과 신뢰를 바탕으로 한 노사 파트너십 강화와 상생 협력적인 노사관계 확산</a:t>
            </a:r>
          </a:p>
        </p:txBody>
      </p:sp>
      <p:sp>
        <p:nvSpPr>
          <p:cNvPr id="61" name="라벨 박스"/>
          <p:cNvSpPr/>
          <p:nvPr/>
        </p:nvSpPr>
        <p:spPr>
          <a:xfrm>
            <a:off x="536870" y="4192435"/>
            <a:ext cx="6300000" cy="29034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2" name="레일"/>
          <p:cNvSpPr/>
          <p:nvPr/>
        </p:nvSpPr>
        <p:spPr>
          <a:xfrm>
            <a:off x="547826" y="4203391"/>
            <a:ext cx="591652" cy="26843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3" name="레일"/>
          <p:cNvSpPr>
            <a:spLocks noGrp="1"/>
          </p:cNvSpPr>
          <p:nvPr>
            <p:ph type="body" sz="quarter" idx="44"/>
          </p:nvPr>
        </p:nvSpPr>
        <p:spPr>
          <a:xfrm>
            <a:off x="547826" y="4203391"/>
            <a:ext cx="591652" cy="268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 방향</a:t>
            </a:r>
          </a:p>
        </p:txBody>
      </p:sp>
      <p:sp>
        <p:nvSpPr>
          <p:cNvPr id="64" name="가운데 글"/>
          <p:cNvSpPr>
            <a:spLocks noGrp="1"/>
          </p:cNvSpPr>
          <p:nvPr>
            <p:ph type="body" sz="quarter" idx="45"/>
          </p:nvPr>
        </p:nvSpPr>
        <p:spPr>
          <a:xfrm>
            <a:off x="1172348" y="4208870"/>
            <a:ext cx="1877217" cy="25747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협의체 운영으로 리스크 해결</a:t>
            </a:r>
          </a:p>
        </p:txBody>
      </p:sp>
      <p:sp>
        <p:nvSpPr>
          <p:cNvPr id="65" name="가운데 글"/>
          <p:cNvSpPr>
            <a:spLocks noGrp="1"/>
          </p:cNvSpPr>
          <p:nvPr>
            <p:ph type="body" sz="quarter" idx="46"/>
          </p:nvPr>
        </p:nvSpPr>
        <p:spPr>
          <a:xfrm>
            <a:off x="3049565" y="4208870"/>
            <a:ext cx="1877217" cy="25747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열린 소통 및 긍정문화 조성</a:t>
            </a:r>
          </a:p>
        </p:txBody>
      </p:sp>
      <p:cxnSp>
        <p:nvCxnSpPr>
          <p:cNvPr id="66" name="Connector 49"/>
          <p:cNvCxnSpPr/>
          <p:nvPr/>
        </p:nvCxnSpPr>
        <p:spPr>
          <a:xfrm>
            <a:off x="3049565" y="4247217"/>
            <a:ext cx="0" cy="180783"/>
          </a:xfrm>
          <a:prstGeom prst="line">
            <a:avLst/>
          </a:prstGeom>
          <a:ln w="6350">
            <a:solidFill>
              <a:srgbClr val="BDE0FF"/>
            </a:solidFill>
          </a:ln>
        </p:spPr>
      </p:cxnSp>
      <p:sp>
        <p:nvSpPr>
          <p:cNvPr id="67" name="가운데 글"/>
          <p:cNvSpPr>
            <a:spLocks noGrp="1"/>
          </p:cNvSpPr>
          <p:nvPr>
            <p:ph type="body" sz="quarter" idx="47"/>
          </p:nvPr>
        </p:nvSpPr>
        <p:spPr>
          <a:xfrm>
            <a:off x="4926783" y="4208870"/>
            <a:ext cx="1877217" cy="25747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근로환경 개선 노력</a:t>
            </a:r>
          </a:p>
        </p:txBody>
      </p:sp>
      <p:cxnSp>
        <p:nvCxnSpPr>
          <p:cNvPr id="68" name="Connector 51"/>
          <p:cNvCxnSpPr/>
          <p:nvPr/>
        </p:nvCxnSpPr>
        <p:spPr>
          <a:xfrm>
            <a:off x="4926783" y="4247217"/>
            <a:ext cx="0" cy="180783"/>
          </a:xfrm>
          <a:prstGeom prst="line">
            <a:avLst/>
          </a:prstGeom>
          <a:ln w="6350">
            <a:solidFill>
              <a:srgbClr val="BDE0FF"/>
            </a:solidFill>
          </a:ln>
        </p:spPr>
      </p:cxnSp>
      <p:sp>
        <p:nvSpPr>
          <p:cNvPr id="69" name="라벨 박스"/>
          <p:cNvSpPr/>
          <p:nvPr/>
        </p:nvSpPr>
        <p:spPr>
          <a:xfrm>
            <a:off x="536870" y="4537565"/>
            <a:ext cx="6300000" cy="54657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0" name="레일"/>
          <p:cNvSpPr/>
          <p:nvPr/>
        </p:nvSpPr>
        <p:spPr>
          <a:xfrm>
            <a:off x="547826" y="4548522"/>
            <a:ext cx="591652" cy="524661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1" name="레일"/>
          <p:cNvSpPr>
            <a:spLocks noGrp="1"/>
          </p:cNvSpPr>
          <p:nvPr>
            <p:ph type="body" sz="quarter" idx="48"/>
          </p:nvPr>
        </p:nvSpPr>
        <p:spPr>
          <a:xfrm>
            <a:off x="547826" y="4548522"/>
            <a:ext cx="591652" cy="5246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추진과제</a:t>
            </a:r>
          </a:p>
        </p:txBody>
      </p:sp>
      <p:sp>
        <p:nvSpPr>
          <p:cNvPr id="72" name="칸 본문"/>
          <p:cNvSpPr>
            <a:spLocks noGrp="1"/>
          </p:cNvSpPr>
          <p:nvPr>
            <p:ph type="body" sz="quarter" idx="49"/>
          </p:nvPr>
        </p:nvSpPr>
        <p:spPr>
          <a:xfrm>
            <a:off x="1183304" y="4554000"/>
            <a:ext cx="1855304" cy="5137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노사협의체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노동이사 선임·현안 해결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적법성 자체점검</a:t>
            </a:r>
          </a:p>
        </p:txBody>
      </p:sp>
      <p:sp>
        <p:nvSpPr>
          <p:cNvPr id="73" name="칸 본문"/>
          <p:cNvSpPr>
            <a:spLocks noGrp="1"/>
          </p:cNvSpPr>
          <p:nvPr>
            <p:ph type="body" sz="quarter" idx="50"/>
          </p:nvPr>
        </p:nvSpPr>
        <p:spPr>
          <a:xfrm>
            <a:off x="3060522" y="4554000"/>
            <a:ext cx="1855304" cy="5137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소통·협력 프로그램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긍정 노사관계 정착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역량강화 교육</a:t>
            </a:r>
          </a:p>
        </p:txBody>
      </p:sp>
      <p:cxnSp>
        <p:nvCxnSpPr>
          <p:cNvPr id="74" name="Connector 56"/>
          <p:cNvCxnSpPr/>
          <p:nvPr/>
        </p:nvCxnSpPr>
        <p:spPr>
          <a:xfrm>
            <a:off x="3049565" y="4586870"/>
            <a:ext cx="0" cy="4479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5" name="칸 본문"/>
          <p:cNvSpPr>
            <a:spLocks noGrp="1"/>
          </p:cNvSpPr>
          <p:nvPr>
            <p:ph type="body" sz="quarter" idx="51"/>
          </p:nvPr>
        </p:nvSpPr>
        <p:spPr>
          <a:xfrm>
            <a:off x="4937739" y="4554000"/>
            <a:ext cx="1855304" cy="5137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임금·단체협약 체결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교통직 처우개선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복리후생 개선</a:t>
            </a:r>
          </a:p>
        </p:txBody>
      </p:sp>
      <p:cxnSp>
        <p:nvCxnSpPr>
          <p:cNvPr id="76" name="Connector 58"/>
          <p:cNvCxnSpPr/>
          <p:nvPr/>
        </p:nvCxnSpPr>
        <p:spPr>
          <a:xfrm>
            <a:off x="4926783" y="4586870"/>
            <a:ext cx="0" cy="4479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7" name="라벨 박스"/>
          <p:cNvSpPr/>
          <p:nvPr/>
        </p:nvSpPr>
        <p:spPr>
          <a:xfrm>
            <a:off x="536870" y="5138922"/>
            <a:ext cx="6300000" cy="38629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8" name="레일"/>
          <p:cNvSpPr/>
          <p:nvPr/>
        </p:nvSpPr>
        <p:spPr>
          <a:xfrm>
            <a:off x="547826" y="5149878"/>
            <a:ext cx="591652" cy="36438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9" name="레일"/>
          <p:cNvSpPr>
            <a:spLocks noGrp="1"/>
          </p:cNvSpPr>
          <p:nvPr>
            <p:ph type="body" sz="quarter" idx="52"/>
          </p:nvPr>
        </p:nvSpPr>
        <p:spPr>
          <a:xfrm>
            <a:off x="547826" y="5149878"/>
            <a:ext cx="591652" cy="3643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소통 채널</a:t>
            </a:r>
          </a:p>
        </p:txBody>
      </p:sp>
      <p:sp>
        <p:nvSpPr>
          <p:cNvPr id="80" name="칸 본문"/>
          <p:cNvSpPr>
            <a:spLocks noGrp="1"/>
          </p:cNvSpPr>
          <p:nvPr>
            <p:ph type="body" sz="quarter" idx="53"/>
          </p:nvPr>
        </p:nvSpPr>
        <p:spPr>
          <a:xfrm>
            <a:off x="1183304" y="5155357"/>
            <a:ext cx="1855304" cy="3534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노사협의회·분임협의회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현안 라운드테이블</a:t>
            </a:r>
          </a:p>
        </p:txBody>
      </p:sp>
      <p:sp>
        <p:nvSpPr>
          <p:cNvPr id="81" name="칸 본문"/>
          <p:cNvSpPr>
            <a:spLocks noGrp="1"/>
          </p:cNvSpPr>
          <p:nvPr>
            <p:ph type="body" sz="quarter" idx="54"/>
          </p:nvPr>
        </p:nvSpPr>
        <p:spPr>
          <a:xfrm>
            <a:off x="3060522" y="5155357"/>
            <a:ext cx="1855304" cy="3534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데일리미팅·전략회의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 상생의 달 행사</a:t>
            </a:r>
          </a:p>
        </p:txBody>
      </p:sp>
      <p:cxnSp>
        <p:nvCxnSpPr>
          <p:cNvPr id="82" name="Connector 63"/>
          <p:cNvCxnSpPr/>
          <p:nvPr/>
        </p:nvCxnSpPr>
        <p:spPr>
          <a:xfrm>
            <a:off x="3049565" y="5188226"/>
            <a:ext cx="0" cy="2876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3" name="칸 본문"/>
          <p:cNvSpPr>
            <a:spLocks noGrp="1"/>
          </p:cNvSpPr>
          <p:nvPr>
            <p:ph type="body" sz="quarter" idx="55"/>
          </p:nvPr>
        </p:nvSpPr>
        <p:spPr>
          <a:xfrm>
            <a:off x="4937739" y="5155357"/>
            <a:ext cx="1855304" cy="3534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처우개선 추진단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복지개선 TF</a:t>
            </a:r>
          </a:p>
        </p:txBody>
      </p:sp>
      <p:cxnSp>
        <p:nvCxnSpPr>
          <p:cNvPr id="84" name="Connector 65"/>
          <p:cNvCxnSpPr/>
          <p:nvPr/>
        </p:nvCxnSpPr>
        <p:spPr>
          <a:xfrm>
            <a:off x="4926783" y="5188226"/>
            <a:ext cx="0" cy="2876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5" name="라벨 박스"/>
          <p:cNvSpPr/>
          <p:nvPr/>
        </p:nvSpPr>
        <p:spPr>
          <a:xfrm>
            <a:off x="536870" y="5580000"/>
            <a:ext cx="6300000" cy="38629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6" name="레일"/>
          <p:cNvSpPr/>
          <p:nvPr/>
        </p:nvSpPr>
        <p:spPr>
          <a:xfrm>
            <a:off x="547826" y="5590957"/>
            <a:ext cx="591652" cy="36438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87" name="레일"/>
          <p:cNvSpPr>
            <a:spLocks noGrp="1"/>
          </p:cNvSpPr>
          <p:nvPr>
            <p:ph type="body" sz="quarter" idx="56"/>
          </p:nvPr>
        </p:nvSpPr>
        <p:spPr>
          <a:xfrm>
            <a:off x="547826" y="5590957"/>
            <a:ext cx="591652" cy="3643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성과지표</a:t>
            </a:r>
          </a:p>
        </p:txBody>
      </p:sp>
      <p:sp>
        <p:nvSpPr>
          <p:cNvPr id="88" name="칸 본문"/>
          <p:cNvSpPr>
            <a:spLocks noGrp="1"/>
          </p:cNvSpPr>
          <p:nvPr>
            <p:ph type="body" sz="quarter" idx="57"/>
          </p:nvPr>
        </p:nvSpPr>
        <p:spPr>
          <a:xfrm>
            <a:off x="1183304" y="5596435"/>
            <a:ext cx="1855304" cy="3534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협력지수 설문조사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협의회 안건 일치율</a:t>
            </a:r>
          </a:p>
        </p:txBody>
      </p:sp>
      <p:sp>
        <p:nvSpPr>
          <p:cNvPr id="89" name="칸 본문"/>
          <p:cNvSpPr>
            <a:spLocks noGrp="1"/>
          </p:cNvSpPr>
          <p:nvPr>
            <p:ph type="body" sz="quarter" idx="58"/>
          </p:nvPr>
        </p:nvSpPr>
        <p:spPr>
          <a:xfrm>
            <a:off x="3060522" y="5596435"/>
            <a:ext cx="1855304" cy="3534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소통지수 설문조사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역량지수 설문조사</a:t>
            </a:r>
          </a:p>
        </p:txBody>
      </p:sp>
      <p:cxnSp>
        <p:nvCxnSpPr>
          <p:cNvPr id="90" name="Connector 70"/>
          <p:cNvCxnSpPr/>
          <p:nvPr/>
        </p:nvCxnSpPr>
        <p:spPr>
          <a:xfrm>
            <a:off x="3049565" y="5629304"/>
            <a:ext cx="0" cy="2876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91" name="칸 본문"/>
          <p:cNvSpPr>
            <a:spLocks noGrp="1"/>
          </p:cNvSpPr>
          <p:nvPr>
            <p:ph type="body" sz="quarter" idx="59"/>
          </p:nvPr>
        </p:nvSpPr>
        <p:spPr>
          <a:xfrm>
            <a:off x="4937739" y="5596435"/>
            <a:ext cx="1855304" cy="3534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근로개선지수 설문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복리후생만족도 설문</a:t>
            </a:r>
          </a:p>
        </p:txBody>
      </p:sp>
      <p:cxnSp>
        <p:nvCxnSpPr>
          <p:cNvPr id="92" name="Connector 72"/>
          <p:cNvCxnSpPr/>
          <p:nvPr/>
        </p:nvCxnSpPr>
        <p:spPr>
          <a:xfrm>
            <a:off x="4926783" y="5629304"/>
            <a:ext cx="0" cy="2876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93" name="핵심성과 박스"/>
          <p:cNvSpPr/>
          <p:nvPr/>
        </p:nvSpPr>
        <p:spPr>
          <a:xfrm>
            <a:off x="536870" y="6053948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4" name="핵심성과 라벨"/>
          <p:cNvSpPr/>
          <p:nvPr/>
        </p:nvSpPr>
        <p:spPr>
          <a:xfrm>
            <a:off x="569739" y="6092296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95" name="핵심성과 라벨"/>
          <p:cNvSpPr>
            <a:spLocks noGrp="1"/>
          </p:cNvSpPr>
          <p:nvPr>
            <p:ph type="body" sz="quarter" idx="60"/>
          </p:nvPr>
        </p:nvSpPr>
        <p:spPr>
          <a:xfrm>
            <a:off x="569739" y="6092296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핵심성과</a:t>
            </a:r>
          </a:p>
        </p:txBody>
      </p:sp>
      <p:sp>
        <p:nvSpPr>
          <p:cNvPr id="96" name="핵심성과 문구"/>
          <p:cNvSpPr>
            <a:spLocks noGrp="1"/>
          </p:cNvSpPr>
          <p:nvPr>
            <p:ph type="body" sz="quarter" idx="61"/>
          </p:nvPr>
        </p:nvSpPr>
        <p:spPr>
          <a:xfrm>
            <a:off x="1314783" y="6070383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노사협력지수 전년대비 1.2점 상승(91.0 → 92.2점)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04 서사 · 두 갈래 협의체 운영 현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2905293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노사협력체계 운영을 통한 분야별 리스크 관리</a:t>
            </a:r>
          </a:p>
        </p:txBody>
      </p:sp>
      <p:sp>
        <p:nvSpPr>
          <p:cNvPr id="11" name="태그칩"/>
          <p:cNvSpPr/>
          <p:nvPr/>
        </p:nvSpPr>
        <p:spPr>
          <a:xfrm>
            <a:off x="3727032" y="810783"/>
            <a:ext cx="606399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3727032" y="810783"/>
            <a:ext cx="60639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신규·강화</a:t>
            </a:r>
          </a:p>
        </p:txBody>
      </p:sp>
      <p:sp>
        <p:nvSpPr>
          <p:cNvPr id="13" name="패널 외곽"/>
          <p:cNvSpPr/>
          <p:nvPr/>
        </p:nvSpPr>
        <p:spPr>
          <a:xfrm>
            <a:off x="723130" y="1073739"/>
            <a:ext cx="3125348" cy="1873878"/>
          </a:xfrm>
          <a:prstGeom prst="rect">
            <a:avLst/>
          </a:prstGeom>
          <a:solidFill>
            <a:srgbClr val="FFFFFF"/>
          </a:solidFill>
          <a:ln w="12700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패널 머리"/>
          <p:cNvSpPr/>
          <p:nvPr/>
        </p:nvSpPr>
        <p:spPr>
          <a:xfrm>
            <a:off x="723130" y="1073739"/>
            <a:ext cx="3125348" cy="241043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15" name="패널 머리"/>
          <p:cNvSpPr>
            <a:spLocks noGrp="1"/>
          </p:cNvSpPr>
          <p:nvPr>
            <p:ph type="body" sz="quarter" idx="22"/>
          </p:nvPr>
        </p:nvSpPr>
        <p:spPr>
          <a:xfrm>
            <a:off x="723130" y="1073739"/>
            <a:ext cx="3125348" cy="24104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정기협의체</a:t>
            </a:r>
          </a:p>
        </p:txBody>
      </p:sp>
      <p:sp>
        <p:nvSpPr>
          <p:cNvPr id="16" name="레일"/>
          <p:cNvSpPr/>
          <p:nvPr/>
        </p:nvSpPr>
        <p:spPr>
          <a:xfrm>
            <a:off x="756000" y="1347652"/>
            <a:ext cx="630000" cy="37533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레일"/>
          <p:cNvSpPr>
            <a:spLocks noGrp="1"/>
          </p:cNvSpPr>
          <p:nvPr>
            <p:ph type="body" sz="quarter" idx="23"/>
          </p:nvPr>
        </p:nvSpPr>
        <p:spPr>
          <a:xfrm>
            <a:off x="756000" y="1347652"/>
            <a:ext cx="630000" cy="3753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노사협의회</a:t>
            </a:r>
          </a:p>
        </p:txBody>
      </p:sp>
      <p:sp>
        <p:nvSpPr>
          <p:cNvPr id="18" name="패널 본문"/>
          <p:cNvSpPr>
            <a:spLocks noGrp="1"/>
          </p:cNvSpPr>
          <p:nvPr>
            <p:ph type="body" sz="quarter" idx="24"/>
          </p:nvPr>
        </p:nvSpPr>
        <p:spPr>
          <a:xfrm>
            <a:off x="1429826" y="1336696"/>
            <a:ext cx="2385783" cy="397252"/>
          </a:xfrm>
          <a:prstGeom prst="rect">
            <a:avLst/>
          </a:prstGeom>
          <a:noFill/>
          <a:ln>
            <a:noFill/>
          </a:ln>
        </p:spPr>
        <p:txBody>
          <a:bodyPr wrap="square" lIns="43200" tIns="10800" rIns="18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분기별 4회·24건 협의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자기개발휴직 등 매뉴얼 수립</a:t>
            </a:r>
          </a:p>
        </p:txBody>
      </p:sp>
      <p:cxnSp>
        <p:nvCxnSpPr>
          <p:cNvPr id="19" name="Connector 10"/>
          <p:cNvCxnSpPr/>
          <p:nvPr/>
        </p:nvCxnSpPr>
        <p:spPr>
          <a:xfrm>
            <a:off x="1429826" y="1733948"/>
            <a:ext cx="2363870" cy="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0" name="레일"/>
          <p:cNvSpPr/>
          <p:nvPr/>
        </p:nvSpPr>
        <p:spPr>
          <a:xfrm>
            <a:off x="756000" y="1744904"/>
            <a:ext cx="630000" cy="37533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5"/>
          </p:nvPr>
        </p:nvSpPr>
        <p:spPr>
          <a:xfrm>
            <a:off x="756000" y="1744904"/>
            <a:ext cx="630000" cy="3753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인사고충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심의회</a:t>
            </a:r>
          </a:p>
        </p:txBody>
      </p:sp>
      <p:sp>
        <p:nvSpPr>
          <p:cNvPr id="22" name="패널 본문"/>
          <p:cNvSpPr>
            <a:spLocks noGrp="1"/>
          </p:cNvSpPr>
          <p:nvPr>
            <p:ph type="body" sz="quarter" idx="26"/>
          </p:nvPr>
        </p:nvSpPr>
        <p:spPr>
          <a:xfrm>
            <a:off x="1429826" y="1733948"/>
            <a:ext cx="2385783" cy="397252"/>
          </a:xfrm>
          <a:prstGeom prst="rect">
            <a:avLst/>
          </a:prstGeom>
          <a:noFill/>
          <a:ln>
            <a:noFill/>
          </a:ln>
        </p:spPr>
        <p:txBody>
          <a:bodyPr wrap="square" lIns="43200" tIns="10800" rIns="18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반기별 2회, 87명 심의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13명 인용, 9명 발령 조치</a:t>
            </a:r>
          </a:p>
        </p:txBody>
      </p:sp>
      <p:cxnSp>
        <p:nvCxnSpPr>
          <p:cNvPr id="23" name="Connector 13"/>
          <p:cNvCxnSpPr/>
          <p:nvPr/>
        </p:nvCxnSpPr>
        <p:spPr>
          <a:xfrm>
            <a:off x="1429826" y="2131200"/>
            <a:ext cx="2363870" cy="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4" name="레일"/>
          <p:cNvSpPr/>
          <p:nvPr/>
        </p:nvSpPr>
        <p:spPr>
          <a:xfrm>
            <a:off x="756000" y="2142157"/>
            <a:ext cx="630000" cy="37533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5" name="레일"/>
          <p:cNvSpPr>
            <a:spLocks noGrp="1"/>
          </p:cNvSpPr>
          <p:nvPr>
            <p:ph type="body" sz="quarter" idx="27"/>
          </p:nvPr>
        </p:nvSpPr>
        <p:spPr>
          <a:xfrm>
            <a:off x="756000" y="2142157"/>
            <a:ext cx="630000" cy="3753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안전경영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위원회</a:t>
            </a:r>
          </a:p>
        </p:txBody>
      </p:sp>
      <p:sp>
        <p:nvSpPr>
          <p:cNvPr id="26" name="패널 본문"/>
          <p:cNvSpPr>
            <a:spLocks noGrp="1"/>
          </p:cNvSpPr>
          <p:nvPr>
            <p:ph type="body" sz="quarter" idx="28"/>
          </p:nvPr>
        </p:nvSpPr>
        <p:spPr>
          <a:xfrm>
            <a:off x="1429826" y="2131200"/>
            <a:ext cx="2385783" cy="397252"/>
          </a:xfrm>
          <a:prstGeom prst="rect">
            <a:avLst/>
          </a:prstGeom>
          <a:noFill/>
          <a:ln>
            <a:noFill/>
          </a:ln>
        </p:spPr>
        <p:txBody>
          <a:bodyPr wrap="square" lIns="43200" tIns="10800" rIns="18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안전보건 3회·11건 협의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석면제거·정신건강 예산 확보</a:t>
            </a:r>
          </a:p>
        </p:txBody>
      </p:sp>
      <p:cxnSp>
        <p:nvCxnSpPr>
          <p:cNvPr id="27" name="Connector 16"/>
          <p:cNvCxnSpPr/>
          <p:nvPr/>
        </p:nvCxnSpPr>
        <p:spPr>
          <a:xfrm>
            <a:off x="1429826" y="2528452"/>
            <a:ext cx="2363870" cy="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8" name="레일"/>
          <p:cNvSpPr/>
          <p:nvPr/>
        </p:nvSpPr>
        <p:spPr>
          <a:xfrm>
            <a:off x="756000" y="2539409"/>
            <a:ext cx="630000" cy="37533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9" name="레일"/>
          <p:cNvSpPr>
            <a:spLocks noGrp="1"/>
          </p:cNvSpPr>
          <p:nvPr>
            <p:ph type="body" sz="quarter" idx="29"/>
          </p:nvPr>
        </p:nvSpPr>
        <p:spPr>
          <a:xfrm>
            <a:off x="756000" y="2539409"/>
            <a:ext cx="630000" cy="3753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혁신성장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전략회의</a:t>
            </a:r>
          </a:p>
        </p:txBody>
      </p:sp>
      <p:sp>
        <p:nvSpPr>
          <p:cNvPr id="30" name="패널 본문"/>
          <p:cNvSpPr>
            <a:spLocks noGrp="1"/>
          </p:cNvSpPr>
          <p:nvPr>
            <p:ph type="body" sz="quarter" idx="30"/>
          </p:nvPr>
        </p:nvSpPr>
        <p:spPr>
          <a:xfrm>
            <a:off x="1429826" y="2528452"/>
            <a:ext cx="2385783" cy="397252"/>
          </a:xfrm>
          <a:prstGeom prst="rect">
            <a:avLst/>
          </a:prstGeom>
          <a:noFill/>
          <a:ln>
            <a:noFill/>
          </a:ln>
        </p:spPr>
        <p:txBody>
          <a:bodyPr wrap="square" lIns="43200" tIns="10800" rIns="18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매주 금요일 개최(37회)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경영현황·성과공유·현안 점검</a:t>
            </a:r>
          </a:p>
        </p:txBody>
      </p:sp>
      <p:sp>
        <p:nvSpPr>
          <p:cNvPr id="31" name="패널 외곽"/>
          <p:cNvSpPr/>
          <p:nvPr/>
        </p:nvSpPr>
        <p:spPr>
          <a:xfrm>
            <a:off x="3897783" y="1073739"/>
            <a:ext cx="3125348" cy="1873878"/>
          </a:xfrm>
          <a:prstGeom prst="rect">
            <a:avLst/>
          </a:prstGeom>
          <a:solidFill>
            <a:srgbClr val="FFFFFF"/>
          </a:solidFill>
          <a:ln w="12700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2" name="패널 머리"/>
          <p:cNvSpPr/>
          <p:nvPr/>
        </p:nvSpPr>
        <p:spPr>
          <a:xfrm>
            <a:off x="3897783" y="1073739"/>
            <a:ext cx="3125348" cy="241043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33" name="패널 머리"/>
          <p:cNvSpPr>
            <a:spLocks noGrp="1"/>
          </p:cNvSpPr>
          <p:nvPr>
            <p:ph type="body" sz="quarter" idx="31"/>
          </p:nvPr>
        </p:nvSpPr>
        <p:spPr>
          <a:xfrm>
            <a:off x="3897783" y="1073739"/>
            <a:ext cx="3125348" cy="24104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상시·특별협의체</a:t>
            </a:r>
          </a:p>
        </p:txBody>
      </p:sp>
      <p:sp>
        <p:nvSpPr>
          <p:cNvPr id="34" name="레일"/>
          <p:cNvSpPr/>
          <p:nvPr/>
        </p:nvSpPr>
        <p:spPr>
          <a:xfrm>
            <a:off x="3930652" y="1347652"/>
            <a:ext cx="810783" cy="37533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5" name="레일"/>
          <p:cNvSpPr>
            <a:spLocks noGrp="1"/>
          </p:cNvSpPr>
          <p:nvPr>
            <p:ph type="body" sz="quarter" idx="32"/>
          </p:nvPr>
        </p:nvSpPr>
        <p:spPr>
          <a:xfrm>
            <a:off x="3930652" y="1347652"/>
            <a:ext cx="810783" cy="3753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처우개선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추진단</a:t>
            </a:r>
          </a:p>
        </p:txBody>
      </p:sp>
      <p:sp>
        <p:nvSpPr>
          <p:cNvPr id="36" name="패널 본문"/>
          <p:cNvSpPr>
            <a:spLocks noGrp="1"/>
          </p:cNvSpPr>
          <p:nvPr>
            <p:ph type="body" sz="quarter" idx="33"/>
          </p:nvPr>
        </p:nvSpPr>
        <p:spPr>
          <a:xfrm>
            <a:off x="4785261" y="1336696"/>
            <a:ext cx="2205000" cy="397252"/>
          </a:xfrm>
          <a:prstGeom prst="rect">
            <a:avLst/>
          </a:prstGeom>
          <a:noFill/>
          <a:ln>
            <a:noFill/>
          </a:ln>
        </p:spPr>
        <p:txBody>
          <a:bodyPr wrap="square" lIns="43200" tIns="10800" rIns="18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처우개선 개최(5회)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자체성과급 신설 등 도출</a:t>
            </a:r>
          </a:p>
        </p:txBody>
      </p:sp>
      <p:cxnSp>
        <p:nvCxnSpPr>
          <p:cNvPr id="37" name="Connector 23"/>
          <p:cNvCxnSpPr/>
          <p:nvPr/>
        </p:nvCxnSpPr>
        <p:spPr>
          <a:xfrm>
            <a:off x="4785261" y="1733948"/>
            <a:ext cx="2183087" cy="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8" name="레일"/>
          <p:cNvSpPr/>
          <p:nvPr/>
        </p:nvSpPr>
        <p:spPr>
          <a:xfrm>
            <a:off x="3930652" y="1744904"/>
            <a:ext cx="810783" cy="37533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9" name="레일"/>
          <p:cNvSpPr>
            <a:spLocks noGrp="1"/>
          </p:cNvSpPr>
          <p:nvPr>
            <p:ph type="body" sz="quarter" idx="34"/>
          </p:nvPr>
        </p:nvSpPr>
        <p:spPr>
          <a:xfrm>
            <a:off x="3930652" y="1744904"/>
            <a:ext cx="810783" cy="3753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노사공동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복지개선 TF</a:t>
            </a:r>
          </a:p>
        </p:txBody>
      </p:sp>
      <p:sp>
        <p:nvSpPr>
          <p:cNvPr id="40" name="패널 본문"/>
          <p:cNvSpPr>
            <a:spLocks noGrp="1"/>
          </p:cNvSpPr>
          <p:nvPr>
            <p:ph type="body" sz="quarter" idx="35"/>
          </p:nvPr>
        </p:nvSpPr>
        <p:spPr>
          <a:xfrm>
            <a:off x="4785261" y="1733948"/>
            <a:ext cx="2205000" cy="397252"/>
          </a:xfrm>
          <a:prstGeom prst="rect">
            <a:avLst/>
          </a:prstGeom>
          <a:noFill/>
          <a:ln>
            <a:noFill/>
          </a:ln>
        </p:spPr>
        <p:txBody>
          <a:bodyPr wrap="square" lIns="43200" tIns="10800" rIns="18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복리후생 향상 개최(4회)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사택 에어컨·출산축하금</a:t>
            </a:r>
          </a:p>
        </p:txBody>
      </p:sp>
      <p:cxnSp>
        <p:nvCxnSpPr>
          <p:cNvPr id="41" name="Connector 26"/>
          <p:cNvCxnSpPr/>
          <p:nvPr/>
        </p:nvCxnSpPr>
        <p:spPr>
          <a:xfrm>
            <a:off x="4785261" y="2131200"/>
            <a:ext cx="2183087" cy="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2" name="레일"/>
          <p:cNvSpPr/>
          <p:nvPr/>
        </p:nvSpPr>
        <p:spPr>
          <a:xfrm>
            <a:off x="3930652" y="2142157"/>
            <a:ext cx="810783" cy="37533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3" name="레일"/>
          <p:cNvSpPr>
            <a:spLocks noGrp="1"/>
          </p:cNvSpPr>
          <p:nvPr>
            <p:ph type="body" sz="quarter" idx="36"/>
          </p:nvPr>
        </p:nvSpPr>
        <p:spPr>
          <a:xfrm>
            <a:off x="3930652" y="2142157"/>
            <a:ext cx="810783" cy="3753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사내근로복지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기금 협의회</a:t>
            </a:r>
          </a:p>
        </p:txBody>
      </p:sp>
      <p:sp>
        <p:nvSpPr>
          <p:cNvPr id="44" name="패널 본문"/>
          <p:cNvSpPr>
            <a:spLocks noGrp="1"/>
          </p:cNvSpPr>
          <p:nvPr>
            <p:ph type="body" sz="quarter" idx="37"/>
          </p:nvPr>
        </p:nvSpPr>
        <p:spPr>
          <a:xfrm>
            <a:off x="4785261" y="2131200"/>
            <a:ext cx="2205000" cy="397252"/>
          </a:xfrm>
          <a:prstGeom prst="rect">
            <a:avLst/>
          </a:prstGeom>
          <a:noFill/>
          <a:ln>
            <a:noFill/>
          </a:ln>
        </p:spPr>
        <p:txBody>
          <a:bodyPr wrap="square" lIns="43200" tIns="10800" rIns="18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사내기금 운용 개최(3회)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장례지원서비스 범위 확대</a:t>
            </a:r>
          </a:p>
        </p:txBody>
      </p:sp>
      <p:cxnSp>
        <p:nvCxnSpPr>
          <p:cNvPr id="45" name="Connector 29"/>
          <p:cNvCxnSpPr/>
          <p:nvPr/>
        </p:nvCxnSpPr>
        <p:spPr>
          <a:xfrm>
            <a:off x="4785261" y="2528452"/>
            <a:ext cx="2183087" cy="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6" name="레일"/>
          <p:cNvSpPr/>
          <p:nvPr/>
        </p:nvSpPr>
        <p:spPr>
          <a:xfrm>
            <a:off x="3930652" y="2539409"/>
            <a:ext cx="810783" cy="37533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7" name="레일"/>
          <p:cNvSpPr>
            <a:spLocks noGrp="1"/>
          </p:cNvSpPr>
          <p:nvPr>
            <p:ph type="body" sz="quarter" idx="38"/>
          </p:nvPr>
        </p:nvSpPr>
        <p:spPr>
          <a:xfrm>
            <a:off x="3930652" y="2539409"/>
            <a:ext cx="810783" cy="3753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노사공동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통상임금 TF</a:t>
            </a:r>
          </a:p>
        </p:txBody>
      </p:sp>
      <p:sp>
        <p:nvSpPr>
          <p:cNvPr id="48" name="패널 본문"/>
          <p:cNvSpPr>
            <a:spLocks noGrp="1"/>
          </p:cNvSpPr>
          <p:nvPr>
            <p:ph type="body" sz="quarter" idx="39"/>
          </p:nvPr>
        </p:nvSpPr>
        <p:spPr>
          <a:xfrm>
            <a:off x="4785261" y="2528452"/>
            <a:ext cx="2205000" cy="397252"/>
          </a:xfrm>
          <a:prstGeom prst="rect">
            <a:avLst/>
          </a:prstGeom>
          <a:noFill/>
          <a:ln>
            <a:noFill/>
          </a:ln>
        </p:spPr>
        <p:txBody>
          <a:bodyPr wrap="square" lIns="43200" tIns="10800" rIns="18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통상임금 TF 킥오프('25.12월)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성과급 등 리스크 집중 관리</a:t>
            </a:r>
          </a:p>
        </p:txBody>
      </p:sp>
      <p:sp>
        <p:nvSpPr>
          <p:cNvPr id="49" name="핵심성과 박스"/>
          <p:cNvSpPr/>
          <p:nvPr/>
        </p:nvSpPr>
        <p:spPr>
          <a:xfrm>
            <a:off x="723130" y="3035270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0" name="핵심성과 라벨"/>
          <p:cNvSpPr/>
          <p:nvPr/>
        </p:nvSpPr>
        <p:spPr>
          <a:xfrm>
            <a:off x="756000" y="3073617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51" name="핵심성과 라벨"/>
          <p:cNvSpPr>
            <a:spLocks noGrp="1"/>
          </p:cNvSpPr>
          <p:nvPr>
            <p:ph type="body" sz="quarter" idx="40"/>
          </p:nvPr>
        </p:nvSpPr>
        <p:spPr>
          <a:xfrm>
            <a:off x="756000" y="3073617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핵심성과</a:t>
            </a:r>
          </a:p>
        </p:txBody>
      </p:sp>
      <p:sp>
        <p:nvSpPr>
          <p:cNvPr id="52" name="핵심성과 문구"/>
          <p:cNvSpPr>
            <a:spLocks noGrp="1"/>
          </p:cNvSpPr>
          <p:nvPr>
            <p:ph type="body" sz="quarter" idx="41"/>
          </p:nvPr>
        </p:nvSpPr>
        <p:spPr>
          <a:xfrm>
            <a:off x="1501043" y="3051704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노사협력지수 전년대비 1.2점 상승(91.0 → 92.2점)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05 서사 · 현황 → 이해관계 → 추진노력 + 성과 사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상호협력과 참여 기반 현안문제 해결과 합리적 노사관계 운영 성과</a:t>
            </a:r>
          </a:p>
        </p:txBody>
      </p:sp>
      <p:sp>
        <p:nvSpPr>
          <p:cNvPr id="15" name="형광 밑줄"/>
          <p:cNvSpPr/>
          <p:nvPr/>
        </p:nvSpPr>
        <p:spPr>
          <a:xfrm>
            <a:off x="536870" y="1347652"/>
            <a:ext cx="3133612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소제목"/>
          <p:cNvSpPr>
            <a:spLocks noGrp="1"/>
          </p:cNvSpPr>
          <p:nvPr>
            <p:ph type="body" sz="quarter" idx="22"/>
          </p:nvPr>
        </p:nvSpPr>
        <p:spPr>
          <a:xfrm>
            <a:off x="536870" y="1194261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라운드테이블로 운전면허 적성검사 연말집중 해소</a:t>
            </a:r>
          </a:p>
        </p:txBody>
      </p:sp>
      <p:sp>
        <p:nvSpPr>
          <p:cNvPr id="17" name="태그칩"/>
          <p:cNvSpPr/>
          <p:nvPr/>
        </p:nvSpPr>
        <p:spPr>
          <a:xfrm>
            <a:off x="3769090" y="1227130"/>
            <a:ext cx="32732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태그칩"/>
          <p:cNvSpPr>
            <a:spLocks noGrp="1"/>
          </p:cNvSpPr>
          <p:nvPr>
            <p:ph type="body" sz="quarter" idx="23"/>
          </p:nvPr>
        </p:nvSpPr>
        <p:spPr>
          <a:xfrm>
            <a:off x="3769090" y="1227130"/>
            <a:ext cx="32732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B.P</a:t>
            </a:r>
          </a:p>
        </p:txBody>
      </p:sp>
      <p:sp>
        <p:nvSpPr>
          <p:cNvPr id="19" name="표 외곽"/>
          <p:cNvSpPr/>
          <p:nvPr/>
        </p:nvSpPr>
        <p:spPr>
          <a:xfrm>
            <a:off x="536870" y="1479130"/>
            <a:ext cx="4716783" cy="197248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0" name="레일"/>
          <p:cNvSpPr/>
          <p:nvPr/>
        </p:nvSpPr>
        <p:spPr>
          <a:xfrm>
            <a:off x="547826" y="1495565"/>
            <a:ext cx="580696" cy="369861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4"/>
          </p:nvPr>
        </p:nvSpPr>
        <p:spPr>
          <a:xfrm>
            <a:off x="547826" y="1495565"/>
            <a:ext cx="580696" cy="3698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 황</a:t>
            </a:r>
          </a:p>
        </p:txBody>
      </p:sp>
      <p:sp>
        <p:nvSpPr>
          <p:cNvPr id="22" name="본문"/>
          <p:cNvSpPr>
            <a:spLocks noGrp="1"/>
          </p:cNvSpPr>
          <p:nvPr>
            <p:ph type="body" sz="quarter" idx="25"/>
          </p:nvPr>
        </p:nvSpPr>
        <p:spPr>
          <a:xfrm>
            <a:off x="1161391" y="1517478"/>
            <a:ext cx="4064870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매년 운전면허 적성검사 갱신 민원인 연말집중 현상 발생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민원 집중에 따른 초과근무 등 직원 근로환경 저하</a:t>
            </a:r>
          </a:p>
        </p:txBody>
      </p:sp>
      <p:sp>
        <p:nvSpPr>
          <p:cNvPr id="23" name="레일"/>
          <p:cNvSpPr/>
          <p:nvPr/>
        </p:nvSpPr>
        <p:spPr>
          <a:xfrm>
            <a:off x="547826" y="1881861"/>
            <a:ext cx="580696" cy="765704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4" name="레일"/>
          <p:cNvSpPr>
            <a:spLocks noGrp="1"/>
          </p:cNvSpPr>
          <p:nvPr>
            <p:ph type="body" sz="quarter" idx="26"/>
          </p:nvPr>
        </p:nvSpPr>
        <p:spPr>
          <a:xfrm>
            <a:off x="547826" y="1881861"/>
            <a:ext cx="580696" cy="7657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이해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관계</a:t>
            </a:r>
          </a:p>
        </p:txBody>
      </p:sp>
      <p:sp>
        <p:nvSpPr>
          <p:cNvPr id="25" name="레일 삼각형"/>
          <p:cNvSpPr/>
          <p:nvPr/>
        </p:nvSpPr>
        <p:spPr>
          <a:xfrm>
            <a:off x="547826" y="1881860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6" name="머리칸"/>
          <p:cNvSpPr/>
          <p:nvPr/>
        </p:nvSpPr>
        <p:spPr>
          <a:xfrm>
            <a:off x="1161391" y="1903774"/>
            <a:ext cx="2016000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7" name="머리칸"/>
          <p:cNvSpPr>
            <a:spLocks noGrp="1"/>
          </p:cNvSpPr>
          <p:nvPr>
            <p:ph type="body" sz="quarter" idx="27"/>
          </p:nvPr>
        </p:nvSpPr>
        <p:spPr>
          <a:xfrm>
            <a:off x="1161391" y="1903774"/>
            <a:ext cx="2016000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노동조합</a:t>
            </a:r>
          </a:p>
        </p:txBody>
      </p:sp>
      <p:sp>
        <p:nvSpPr>
          <p:cNvPr id="28" name="머리칸"/>
          <p:cNvSpPr/>
          <p:nvPr/>
        </p:nvSpPr>
        <p:spPr>
          <a:xfrm>
            <a:off x="3193826" y="1903774"/>
            <a:ext cx="2016000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9" name="머리칸"/>
          <p:cNvSpPr>
            <a:spLocks noGrp="1"/>
          </p:cNvSpPr>
          <p:nvPr>
            <p:ph type="body" sz="quarter" idx="28"/>
          </p:nvPr>
        </p:nvSpPr>
        <p:spPr>
          <a:xfrm>
            <a:off x="3193826" y="1903774"/>
            <a:ext cx="2016000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 단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29"/>
          </p:nvPr>
        </p:nvSpPr>
        <p:spPr>
          <a:xfrm>
            <a:off x="1172348" y="2144817"/>
            <a:ext cx="2010522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연말집중 민원에 따른 직원 근로 저하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근본적 원인 해결 방안 모색 필요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3204783" y="2144817"/>
            <a:ext cx="2010522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 선택에 따른 민원 집중 불가피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근본적 원인 해결 방안 모색 동의</a:t>
            </a:r>
          </a:p>
        </p:txBody>
      </p:sp>
      <p:cxnSp>
        <p:nvCxnSpPr>
          <p:cNvPr id="32" name="Connector 23"/>
          <p:cNvCxnSpPr/>
          <p:nvPr/>
        </p:nvCxnSpPr>
        <p:spPr>
          <a:xfrm>
            <a:off x="3193826" y="2177687"/>
            <a:ext cx="0" cy="2767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레일"/>
          <p:cNvSpPr/>
          <p:nvPr/>
        </p:nvSpPr>
        <p:spPr>
          <a:xfrm>
            <a:off x="547826" y="2664000"/>
            <a:ext cx="580696" cy="77118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4" name="레일"/>
          <p:cNvSpPr>
            <a:spLocks noGrp="1"/>
          </p:cNvSpPr>
          <p:nvPr>
            <p:ph type="body" sz="quarter" idx="31"/>
          </p:nvPr>
        </p:nvSpPr>
        <p:spPr>
          <a:xfrm>
            <a:off x="547826" y="2664000"/>
            <a:ext cx="580696" cy="7711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노력</a:t>
            </a:r>
          </a:p>
        </p:txBody>
      </p:sp>
      <p:sp>
        <p:nvSpPr>
          <p:cNvPr id="35" name="레일 삼각형"/>
          <p:cNvSpPr/>
          <p:nvPr/>
        </p:nvSpPr>
        <p:spPr>
          <a:xfrm>
            <a:off x="547826" y="2664000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6" name="단계"/>
          <p:cNvSpPr/>
          <p:nvPr/>
        </p:nvSpPr>
        <p:spPr>
          <a:xfrm>
            <a:off x="1161391" y="2685913"/>
            <a:ext cx="101621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7" name="단계"/>
          <p:cNvSpPr>
            <a:spLocks noGrp="1"/>
          </p:cNvSpPr>
          <p:nvPr>
            <p:ph type="body" sz="quarter" idx="32"/>
          </p:nvPr>
        </p:nvSpPr>
        <p:spPr>
          <a:xfrm>
            <a:off x="1161391" y="2685913"/>
            <a:ext cx="101621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대토론회 개최</a:t>
            </a:r>
          </a:p>
        </p:txBody>
      </p:sp>
      <p:sp>
        <p:nvSpPr>
          <p:cNvPr id="38" name="단계"/>
          <p:cNvSpPr/>
          <p:nvPr/>
        </p:nvSpPr>
        <p:spPr>
          <a:xfrm>
            <a:off x="2177609" y="2685913"/>
            <a:ext cx="1016217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9" name="단계"/>
          <p:cNvSpPr>
            <a:spLocks noGrp="1"/>
          </p:cNvSpPr>
          <p:nvPr>
            <p:ph type="body" sz="quarter" idx="33"/>
          </p:nvPr>
        </p:nvSpPr>
        <p:spPr>
          <a:xfrm>
            <a:off x="2177609" y="2685913"/>
            <a:ext cx="101621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원인분석</a:t>
            </a:r>
          </a:p>
        </p:txBody>
      </p:sp>
      <p:sp>
        <p:nvSpPr>
          <p:cNvPr id="40" name="단계"/>
          <p:cNvSpPr/>
          <p:nvPr/>
        </p:nvSpPr>
        <p:spPr>
          <a:xfrm>
            <a:off x="3193826" y="2685913"/>
            <a:ext cx="1016217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1" name="단계"/>
          <p:cNvSpPr>
            <a:spLocks noGrp="1"/>
          </p:cNvSpPr>
          <p:nvPr>
            <p:ph type="body" sz="quarter" idx="34"/>
          </p:nvPr>
        </p:nvSpPr>
        <p:spPr>
          <a:xfrm>
            <a:off x="3193826" y="2685913"/>
            <a:ext cx="101621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극복노력</a:t>
            </a:r>
          </a:p>
        </p:txBody>
      </p:sp>
      <p:sp>
        <p:nvSpPr>
          <p:cNvPr id="42" name="단계"/>
          <p:cNvSpPr/>
          <p:nvPr/>
        </p:nvSpPr>
        <p:spPr>
          <a:xfrm>
            <a:off x="4210043" y="2685913"/>
            <a:ext cx="1016217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3" name="단계"/>
          <p:cNvSpPr>
            <a:spLocks noGrp="1"/>
          </p:cNvSpPr>
          <p:nvPr>
            <p:ph type="body" sz="quarter" idx="35"/>
          </p:nvPr>
        </p:nvSpPr>
        <p:spPr>
          <a:xfrm>
            <a:off x="4210043" y="2685913"/>
            <a:ext cx="101621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해결안 도출</a:t>
            </a:r>
          </a:p>
        </p:txBody>
      </p:sp>
      <p:sp>
        <p:nvSpPr>
          <p:cNvPr id="44" name="단계 삼각형"/>
          <p:cNvSpPr/>
          <p:nvPr/>
        </p:nvSpPr>
        <p:spPr>
          <a:xfrm>
            <a:off x="2177608" y="268591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5" name="단계 삼각형"/>
          <p:cNvSpPr/>
          <p:nvPr/>
        </p:nvSpPr>
        <p:spPr>
          <a:xfrm>
            <a:off x="3193826" y="268591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6" name="단계 삼각형"/>
          <p:cNvSpPr/>
          <p:nvPr/>
        </p:nvSpPr>
        <p:spPr>
          <a:xfrm>
            <a:off x="4210043" y="268591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7" name="칸 본문"/>
          <p:cNvSpPr>
            <a:spLocks noGrp="1"/>
          </p:cNvSpPr>
          <p:nvPr>
            <p:ph type="body" sz="quarter" idx="36"/>
          </p:nvPr>
        </p:nvSpPr>
        <p:spPr>
          <a:xfrm>
            <a:off x="1172348" y="2937913"/>
            <a:ext cx="994304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이사장·노조위원장 등 참여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37"/>
          </p:nvPr>
        </p:nvSpPr>
        <p:spPr>
          <a:xfrm>
            <a:off x="2188565" y="2937913"/>
            <a:ext cx="994304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연단위 갱신 기간 민원 집중</a:t>
            </a:r>
          </a:p>
        </p:txBody>
      </p:sp>
      <p:cxnSp>
        <p:nvCxnSpPr>
          <p:cNvPr id="49" name="Connector 35"/>
          <p:cNvCxnSpPr/>
          <p:nvPr/>
        </p:nvCxnSpPr>
        <p:spPr>
          <a:xfrm>
            <a:off x="2177609" y="2970783"/>
            <a:ext cx="0" cy="4260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0" name="칸 본문"/>
          <p:cNvSpPr>
            <a:spLocks noGrp="1"/>
          </p:cNvSpPr>
          <p:nvPr>
            <p:ph type="body" sz="quarter" idx="38"/>
          </p:nvPr>
        </p:nvSpPr>
        <p:spPr>
          <a:xfrm>
            <a:off x="3204783" y="2937913"/>
            <a:ext cx="994304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경찰청·국회와 원인해결 논의</a:t>
            </a:r>
          </a:p>
        </p:txBody>
      </p:sp>
      <p:cxnSp>
        <p:nvCxnSpPr>
          <p:cNvPr id="51" name="Connector 37"/>
          <p:cNvCxnSpPr/>
          <p:nvPr/>
        </p:nvCxnSpPr>
        <p:spPr>
          <a:xfrm>
            <a:off x="3193826" y="2970783"/>
            <a:ext cx="0" cy="4260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2" name="칸 본문"/>
          <p:cNvSpPr>
            <a:spLocks noGrp="1"/>
          </p:cNvSpPr>
          <p:nvPr>
            <p:ph type="body" sz="quarter" idx="39"/>
          </p:nvPr>
        </p:nvSpPr>
        <p:spPr>
          <a:xfrm>
            <a:off x="4221000" y="2937913"/>
            <a:ext cx="994304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생일 전후 ±6개월 법령개정안</a:t>
            </a:r>
          </a:p>
        </p:txBody>
      </p:sp>
      <p:cxnSp>
        <p:nvCxnSpPr>
          <p:cNvPr id="53" name="Connector 39"/>
          <p:cNvCxnSpPr/>
          <p:nvPr/>
        </p:nvCxnSpPr>
        <p:spPr>
          <a:xfrm>
            <a:off x="4210043" y="2970783"/>
            <a:ext cx="0" cy="4260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4" name="성과 화살표"/>
          <p:cNvSpPr/>
          <p:nvPr/>
        </p:nvSpPr>
        <p:spPr>
          <a:xfrm>
            <a:off x="5281043" y="2322939"/>
            <a:ext cx="142435" cy="284869"/>
          </a:xfrm>
          <a:custGeom>
            <a:avLst/>
            <a:gdLst/>
            <a:ahLst/>
            <a:cxnLst/>
            <a:rect l="l" t="t" r="r" b="b"/>
            <a:pathLst>
              <a:path w="142435" h="284869">
                <a:moveTo>
                  <a:pt x="0" y="0"/>
                </a:moveTo>
                <a:lnTo>
                  <a:pt x="0" y="284869"/>
                </a:lnTo>
                <a:lnTo>
                  <a:pt x="142435" y="142434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5" name="성과 패널 머리"/>
          <p:cNvSpPr/>
          <p:nvPr/>
        </p:nvSpPr>
        <p:spPr>
          <a:xfrm>
            <a:off x="5450870" y="1479130"/>
            <a:ext cx="1386000" cy="241043"/>
          </a:xfrm>
          <a:prstGeom prst="rect">
            <a:avLst/>
          </a:prstGeom>
          <a:solidFill>
            <a:srgbClr val="008C6B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56" name="성과 패널 머리"/>
          <p:cNvSpPr>
            <a:spLocks noGrp="1"/>
          </p:cNvSpPr>
          <p:nvPr>
            <p:ph type="body" sz="quarter" idx="40"/>
          </p:nvPr>
        </p:nvSpPr>
        <p:spPr>
          <a:xfrm>
            <a:off x="5450870" y="1479130"/>
            <a:ext cx="1386000" cy="24104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7" name="성과 패널"/>
          <p:cNvSpPr/>
          <p:nvPr/>
        </p:nvSpPr>
        <p:spPr>
          <a:xfrm>
            <a:off x="5450870" y="1731130"/>
            <a:ext cx="1386000" cy="1720487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8" name="성과 패널 본문"/>
          <p:cNvSpPr>
            <a:spLocks noGrp="1"/>
          </p:cNvSpPr>
          <p:nvPr>
            <p:ph type="body" sz="quarter" idx="41"/>
          </p:nvPr>
        </p:nvSpPr>
        <p:spPr>
          <a:xfrm>
            <a:off x="5472783" y="1753043"/>
            <a:ext cx="1342174" cy="1676661"/>
          </a:xfrm>
          <a:prstGeom prst="rect">
            <a:avLst/>
          </a:prstGeom>
          <a:noFill/>
          <a:ln>
            <a:noFill/>
          </a:ln>
        </p:spPr>
        <p:txBody>
          <a:bodyPr wrap="square" lIns="54000" tIns="18000" rIns="36000" bIns="180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적성검사 기간을 생일 전후 ±6개월로 변경하는 법령안 통과('26.1.1. 시행)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연말 집중민원 해소로 직원 근로환경 향상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→ 연말 방문 민원인 약 48% 감소 기대</a:t>
            </a:r>
          </a:p>
        </p:txBody>
      </p:sp>
      <p:sp>
        <p:nvSpPr>
          <p:cNvPr id="59" name="핵심성과 박스"/>
          <p:cNvSpPr/>
          <p:nvPr/>
        </p:nvSpPr>
        <p:spPr>
          <a:xfrm>
            <a:off x="536870" y="3539270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0" name="핵심성과 라벨"/>
          <p:cNvSpPr/>
          <p:nvPr/>
        </p:nvSpPr>
        <p:spPr>
          <a:xfrm>
            <a:off x="569739" y="3577617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61" name="핵심성과 라벨"/>
          <p:cNvSpPr>
            <a:spLocks noGrp="1"/>
          </p:cNvSpPr>
          <p:nvPr>
            <p:ph type="body" sz="quarter" idx="42"/>
          </p:nvPr>
        </p:nvSpPr>
        <p:spPr>
          <a:xfrm>
            <a:off x="569739" y="3577617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핵심성과</a:t>
            </a:r>
          </a:p>
        </p:txBody>
      </p:sp>
      <p:sp>
        <p:nvSpPr>
          <p:cNvPr id="62" name="핵심성과 문구"/>
          <p:cNvSpPr>
            <a:spLocks noGrp="1"/>
          </p:cNvSpPr>
          <p:nvPr>
            <p:ph type="body" sz="quarter" idx="43"/>
          </p:nvPr>
        </p:nvSpPr>
        <p:spPr>
          <a:xfrm>
            <a:off x="1314783" y="3555704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적성검사 연말집중 해소 및 노동이사 선임 등 현안문제 해결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06 서사 · 그간의 노력 → 운영 상세화 → 선임 추진(단계 띠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3111063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근로자 경영참여로 협력 강화, 노동이사 추천 완료</a:t>
            </a:r>
          </a:p>
        </p:txBody>
      </p:sp>
      <p:sp>
        <p:nvSpPr>
          <p:cNvPr id="11" name="태그칩"/>
          <p:cNvSpPr/>
          <p:nvPr/>
        </p:nvSpPr>
        <p:spPr>
          <a:xfrm>
            <a:off x="3932802" y="810783"/>
            <a:ext cx="606399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3932802" y="810783"/>
            <a:ext cx="60639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지적·개선</a:t>
            </a:r>
          </a:p>
        </p:txBody>
      </p:sp>
      <p:sp>
        <p:nvSpPr>
          <p:cNvPr id="13" name="표 외곽"/>
          <p:cNvSpPr/>
          <p:nvPr/>
        </p:nvSpPr>
        <p:spPr>
          <a:xfrm>
            <a:off x="723130" y="1062783"/>
            <a:ext cx="6300000" cy="204777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레일"/>
          <p:cNvSpPr/>
          <p:nvPr/>
        </p:nvSpPr>
        <p:spPr>
          <a:xfrm>
            <a:off x="734087" y="1079217"/>
            <a:ext cx="580696" cy="60542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079217"/>
            <a:ext cx="580696" cy="6054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그 간의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노력</a:t>
            </a:r>
          </a:p>
        </p:txBody>
      </p:sp>
      <p:sp>
        <p:nvSpPr>
          <p:cNvPr id="16" name="머리칸"/>
          <p:cNvSpPr/>
          <p:nvPr/>
        </p:nvSpPr>
        <p:spPr>
          <a:xfrm>
            <a:off x="1347652" y="110113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7" name="머리칸"/>
          <p:cNvSpPr>
            <a:spLocks noGrp="1"/>
          </p:cNvSpPr>
          <p:nvPr>
            <p:ph type="body" sz="quarter" idx="23"/>
          </p:nvPr>
        </p:nvSpPr>
        <p:spPr>
          <a:xfrm>
            <a:off x="1347652" y="110113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 공감대 형성</a:t>
            </a:r>
          </a:p>
        </p:txBody>
      </p:sp>
      <p:sp>
        <p:nvSpPr>
          <p:cNvPr id="18" name="머리칸"/>
          <p:cNvSpPr/>
          <p:nvPr/>
        </p:nvSpPr>
        <p:spPr>
          <a:xfrm>
            <a:off x="4171696" y="110113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9" name="머리칸"/>
          <p:cNvSpPr>
            <a:spLocks noGrp="1"/>
          </p:cNvSpPr>
          <p:nvPr>
            <p:ph type="body" sz="quarter" idx="24"/>
          </p:nvPr>
        </p:nvSpPr>
        <p:spPr>
          <a:xfrm>
            <a:off x="4171696" y="110113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노동이사제 시행을 위한 규정 수립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5"/>
          </p:nvPr>
        </p:nvSpPr>
        <p:spPr>
          <a:xfrm>
            <a:off x="1358609" y="1342174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공단 사업수행에 심층적 이해를 가진 노동이사를 선임하여 공감대 형성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6"/>
          </p:nvPr>
        </p:nvSpPr>
        <p:spPr>
          <a:xfrm>
            <a:off x="4182652" y="1342174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정관 제9조 '근로자 대표 추천 또는 과반수 동의 1명을 비상임이사로 포함'</a:t>
            </a:r>
          </a:p>
        </p:txBody>
      </p:sp>
      <p:cxnSp>
        <p:nvCxnSpPr>
          <p:cNvPr id="22" name="Connector 12"/>
          <p:cNvCxnSpPr/>
          <p:nvPr/>
        </p:nvCxnSpPr>
        <p:spPr>
          <a:xfrm>
            <a:off x="4171696" y="1375043"/>
            <a:ext cx="0" cy="27125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3" name="레일"/>
          <p:cNvSpPr/>
          <p:nvPr/>
        </p:nvSpPr>
        <p:spPr>
          <a:xfrm>
            <a:off x="734087" y="1701078"/>
            <a:ext cx="580696" cy="605426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4" name="레일"/>
          <p:cNvSpPr>
            <a:spLocks noGrp="1"/>
          </p:cNvSpPr>
          <p:nvPr>
            <p:ph type="body" sz="quarter" idx="27"/>
          </p:nvPr>
        </p:nvSpPr>
        <p:spPr>
          <a:xfrm>
            <a:off x="734087" y="1701078"/>
            <a:ext cx="580696" cy="6054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운영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상세화</a:t>
            </a:r>
          </a:p>
        </p:txBody>
      </p:sp>
      <p:sp>
        <p:nvSpPr>
          <p:cNvPr id="25" name="레일 삼각형"/>
          <p:cNvSpPr/>
          <p:nvPr/>
        </p:nvSpPr>
        <p:spPr>
          <a:xfrm>
            <a:off x="734086" y="1701078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6" name="머리칸"/>
          <p:cNvSpPr/>
          <p:nvPr/>
        </p:nvSpPr>
        <p:spPr>
          <a:xfrm>
            <a:off x="1347652" y="1722991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7" name="머리칸"/>
          <p:cNvSpPr>
            <a:spLocks noGrp="1"/>
          </p:cNvSpPr>
          <p:nvPr>
            <p:ph type="body" sz="quarter" idx="28"/>
          </p:nvPr>
        </p:nvSpPr>
        <p:spPr>
          <a:xfrm>
            <a:off x="1347652" y="1722991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노동이사제 시행 의지 명문화</a:t>
            </a:r>
          </a:p>
        </p:txBody>
      </p:sp>
      <p:sp>
        <p:nvSpPr>
          <p:cNvPr id="28" name="머리칸"/>
          <p:cNvSpPr/>
          <p:nvPr/>
        </p:nvSpPr>
        <p:spPr>
          <a:xfrm>
            <a:off x="4171696" y="1722991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9" name="머리칸"/>
          <p:cNvSpPr>
            <a:spLocks noGrp="1"/>
          </p:cNvSpPr>
          <p:nvPr>
            <p:ph type="body" sz="quarter" idx="29"/>
          </p:nvPr>
        </p:nvSpPr>
        <p:spPr>
          <a:xfrm>
            <a:off x="4171696" y="1722991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노동이사 역량 강화 지원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0"/>
          </p:nvPr>
        </p:nvSpPr>
        <p:spPr>
          <a:xfrm>
            <a:off x="1358609" y="1964035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노동이사제 적극 시행과 직무 수행 지원, 불이익 처분 및 대우 금지 조항 마련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1"/>
          </p:nvPr>
        </p:nvSpPr>
        <p:spPr>
          <a:xfrm>
            <a:off x="4182652" y="1964035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업무수행·역량강화 교육과정 지원 및 소통채널 운영 협의</a:t>
            </a:r>
          </a:p>
        </p:txBody>
      </p:sp>
      <p:cxnSp>
        <p:nvCxnSpPr>
          <p:cNvPr id="32" name="Connector 19"/>
          <p:cNvCxnSpPr/>
          <p:nvPr/>
        </p:nvCxnSpPr>
        <p:spPr>
          <a:xfrm>
            <a:off x="4171696" y="1996904"/>
            <a:ext cx="0" cy="27125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레일"/>
          <p:cNvSpPr/>
          <p:nvPr/>
        </p:nvSpPr>
        <p:spPr>
          <a:xfrm>
            <a:off x="734087" y="2322939"/>
            <a:ext cx="580696" cy="77118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4" name="레일"/>
          <p:cNvSpPr>
            <a:spLocks noGrp="1"/>
          </p:cNvSpPr>
          <p:nvPr>
            <p:ph type="body" sz="quarter" idx="32"/>
          </p:nvPr>
        </p:nvSpPr>
        <p:spPr>
          <a:xfrm>
            <a:off x="734087" y="2322939"/>
            <a:ext cx="580696" cy="7711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선임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</p:txBody>
      </p:sp>
      <p:sp>
        <p:nvSpPr>
          <p:cNvPr id="35" name="레일 삼각형"/>
          <p:cNvSpPr/>
          <p:nvPr/>
        </p:nvSpPr>
        <p:spPr>
          <a:xfrm>
            <a:off x="734086" y="2322939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6" name="단계"/>
          <p:cNvSpPr/>
          <p:nvPr/>
        </p:nvSpPr>
        <p:spPr>
          <a:xfrm>
            <a:off x="1347652" y="2344852"/>
            <a:ext cx="141202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7" name="단계"/>
          <p:cNvSpPr>
            <a:spLocks noGrp="1"/>
          </p:cNvSpPr>
          <p:nvPr>
            <p:ph type="body" sz="quarter" idx="33"/>
          </p:nvPr>
        </p:nvSpPr>
        <p:spPr>
          <a:xfrm>
            <a:off x="1347652" y="2344852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추천위원회 구성</a:t>
            </a:r>
          </a:p>
        </p:txBody>
      </p:sp>
      <p:sp>
        <p:nvSpPr>
          <p:cNvPr id="38" name="단계"/>
          <p:cNvSpPr/>
          <p:nvPr/>
        </p:nvSpPr>
        <p:spPr>
          <a:xfrm>
            <a:off x="2759674" y="2344852"/>
            <a:ext cx="1412022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9" name="단계"/>
          <p:cNvSpPr>
            <a:spLocks noGrp="1"/>
          </p:cNvSpPr>
          <p:nvPr>
            <p:ph type="body" sz="quarter" idx="34"/>
          </p:nvPr>
        </p:nvSpPr>
        <p:spPr>
          <a:xfrm>
            <a:off x="2759674" y="2344852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후보자 추천</a:t>
            </a:r>
          </a:p>
        </p:txBody>
      </p:sp>
      <p:sp>
        <p:nvSpPr>
          <p:cNvPr id="40" name="단계"/>
          <p:cNvSpPr/>
          <p:nvPr/>
        </p:nvSpPr>
        <p:spPr>
          <a:xfrm>
            <a:off x="4171696" y="2344852"/>
            <a:ext cx="1412022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1" name="단계"/>
          <p:cNvSpPr>
            <a:spLocks noGrp="1"/>
          </p:cNvSpPr>
          <p:nvPr>
            <p:ph type="body" sz="quarter" idx="35"/>
          </p:nvPr>
        </p:nvSpPr>
        <p:spPr>
          <a:xfrm>
            <a:off x="4171696" y="2344852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추천위원회 심사</a:t>
            </a:r>
          </a:p>
        </p:txBody>
      </p:sp>
      <p:sp>
        <p:nvSpPr>
          <p:cNvPr id="42" name="단계"/>
          <p:cNvSpPr/>
          <p:nvPr/>
        </p:nvSpPr>
        <p:spPr>
          <a:xfrm>
            <a:off x="5583717" y="2344852"/>
            <a:ext cx="1412022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3" name="단계"/>
          <p:cNvSpPr>
            <a:spLocks noGrp="1"/>
          </p:cNvSpPr>
          <p:nvPr>
            <p:ph type="body" sz="quarter" idx="36"/>
          </p:nvPr>
        </p:nvSpPr>
        <p:spPr>
          <a:xfrm>
            <a:off x="5583717" y="2344852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노동이사 임명</a:t>
            </a:r>
          </a:p>
        </p:txBody>
      </p:sp>
      <p:sp>
        <p:nvSpPr>
          <p:cNvPr id="44" name="단계 삼각형"/>
          <p:cNvSpPr/>
          <p:nvPr/>
        </p:nvSpPr>
        <p:spPr>
          <a:xfrm>
            <a:off x="2759673" y="2344852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5" name="단계 삼각형"/>
          <p:cNvSpPr/>
          <p:nvPr/>
        </p:nvSpPr>
        <p:spPr>
          <a:xfrm>
            <a:off x="4171695" y="2344852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6" name="단계 삼각형"/>
          <p:cNvSpPr/>
          <p:nvPr/>
        </p:nvSpPr>
        <p:spPr>
          <a:xfrm>
            <a:off x="5583717" y="2344852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7" name="칸 본문"/>
          <p:cNvSpPr>
            <a:spLocks noGrp="1"/>
          </p:cNvSpPr>
          <p:nvPr>
            <p:ph type="body" sz="quarter" idx="37"/>
          </p:nvPr>
        </p:nvSpPr>
        <p:spPr>
          <a:xfrm>
            <a:off x="1358609" y="2596852"/>
            <a:ext cx="1390109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노동이사 추천 공모, 추천위원회 구성('25.11.25.)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38"/>
          </p:nvPr>
        </p:nvSpPr>
        <p:spPr>
          <a:xfrm>
            <a:off x="2770630" y="2596852"/>
            <a:ext cx="1390109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노동조합→노동이사 적합 후보자 추천 완료('26.1.5.)</a:t>
            </a:r>
          </a:p>
        </p:txBody>
      </p:sp>
      <p:cxnSp>
        <p:nvCxnSpPr>
          <p:cNvPr id="49" name="Connector 31"/>
          <p:cNvCxnSpPr/>
          <p:nvPr/>
        </p:nvCxnSpPr>
        <p:spPr>
          <a:xfrm>
            <a:off x="2759674" y="2629722"/>
            <a:ext cx="0" cy="4260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0" name="칸 본문"/>
          <p:cNvSpPr>
            <a:spLocks noGrp="1"/>
          </p:cNvSpPr>
          <p:nvPr>
            <p:ph type="body" sz="quarter" idx="39"/>
          </p:nvPr>
        </p:nvSpPr>
        <p:spPr>
          <a:xfrm>
            <a:off x="4182652" y="2596852"/>
            <a:ext cx="1390109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후보자 추천위원회 심사 실시('26.1.13.)</a:t>
            </a:r>
          </a:p>
        </p:txBody>
      </p:sp>
      <p:cxnSp>
        <p:nvCxnSpPr>
          <p:cNvPr id="51" name="Connector 33"/>
          <p:cNvCxnSpPr/>
          <p:nvPr/>
        </p:nvCxnSpPr>
        <p:spPr>
          <a:xfrm>
            <a:off x="4171696" y="2629722"/>
            <a:ext cx="0" cy="4260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2" name="칸 본문"/>
          <p:cNvSpPr>
            <a:spLocks noGrp="1"/>
          </p:cNvSpPr>
          <p:nvPr>
            <p:ph type="body" sz="quarter" idx="40"/>
          </p:nvPr>
        </p:nvSpPr>
        <p:spPr>
          <a:xfrm>
            <a:off x="5594674" y="2596852"/>
            <a:ext cx="1390109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최종 추천 후보자 경찰청장 임명('26. 상반기)</a:t>
            </a:r>
          </a:p>
        </p:txBody>
      </p:sp>
      <p:cxnSp>
        <p:nvCxnSpPr>
          <p:cNvPr id="53" name="Connector 35"/>
          <p:cNvCxnSpPr/>
          <p:nvPr/>
        </p:nvCxnSpPr>
        <p:spPr>
          <a:xfrm>
            <a:off x="5583717" y="2629722"/>
            <a:ext cx="0" cy="4260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4" name="핵심성과 박스"/>
          <p:cNvSpPr/>
          <p:nvPr/>
        </p:nvSpPr>
        <p:spPr>
          <a:xfrm>
            <a:off x="723130" y="3198209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5" name="핵심성과 라벨"/>
          <p:cNvSpPr/>
          <p:nvPr/>
        </p:nvSpPr>
        <p:spPr>
          <a:xfrm>
            <a:off x="756000" y="3236557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56" name="핵심성과 라벨"/>
          <p:cNvSpPr>
            <a:spLocks noGrp="1"/>
          </p:cNvSpPr>
          <p:nvPr>
            <p:ph type="body" sz="quarter" idx="41"/>
          </p:nvPr>
        </p:nvSpPr>
        <p:spPr>
          <a:xfrm>
            <a:off x="756000" y="3236557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7" name="핵심성과 문구"/>
          <p:cNvSpPr>
            <a:spLocks noGrp="1"/>
          </p:cNvSpPr>
          <p:nvPr>
            <p:ph type="body" sz="quarter" idx="42"/>
          </p:nvPr>
        </p:nvSpPr>
        <p:spPr>
          <a:xfrm>
            <a:off x="1501043" y="3214643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3여 년 노력 끝에 노동이사 추천 완료('26. 상반기 선임 예정)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07 서사 · 점검 추진배경 → 방법 → 항목 → 결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3402413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 노동관계 법령·지침 100% 준수한 노사관계 제도 운영</a:t>
            </a:r>
          </a:p>
        </p:txBody>
      </p:sp>
      <p:sp>
        <p:nvSpPr>
          <p:cNvPr id="12" name="태그칩"/>
          <p:cNvSpPr/>
          <p:nvPr/>
        </p:nvSpPr>
        <p:spPr>
          <a:xfrm>
            <a:off x="4037891" y="799826"/>
            <a:ext cx="351016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037891" y="799826"/>
            <a:ext cx="35101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강화</a:t>
            </a:r>
          </a:p>
        </p:txBody>
      </p:sp>
      <p:sp>
        <p:nvSpPr>
          <p:cNvPr id="14" name="라벨 박스"/>
          <p:cNvSpPr/>
          <p:nvPr/>
        </p:nvSpPr>
        <p:spPr>
          <a:xfrm>
            <a:off x="536870" y="1062783"/>
            <a:ext cx="6300000" cy="29034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547826" y="1073739"/>
            <a:ext cx="591652" cy="26843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073739"/>
            <a:ext cx="591652" cy="268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7" name="본문"/>
          <p:cNvSpPr>
            <a:spLocks noGrp="1"/>
          </p:cNvSpPr>
          <p:nvPr>
            <p:ph type="body" sz="quarter" idx="23"/>
          </p:nvPr>
        </p:nvSpPr>
        <p:spPr>
          <a:xfrm>
            <a:off x="1172348" y="1079217"/>
            <a:ext cx="5631652" cy="25747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법과 원칙 기반 노사관계 제도 운영의 연속성 확보를 위한 관련 법률·지침 적법성 점검</a:t>
            </a:r>
          </a:p>
        </p:txBody>
      </p:sp>
      <p:sp>
        <p:nvSpPr>
          <p:cNvPr id="18" name="라벨 박스"/>
          <p:cNvSpPr/>
          <p:nvPr/>
        </p:nvSpPr>
        <p:spPr>
          <a:xfrm>
            <a:off x="536870" y="1407913"/>
            <a:ext cx="6300000" cy="29034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레일"/>
          <p:cNvSpPr/>
          <p:nvPr/>
        </p:nvSpPr>
        <p:spPr>
          <a:xfrm>
            <a:off x="547826" y="1418870"/>
            <a:ext cx="591652" cy="26843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4"/>
          </p:nvPr>
        </p:nvSpPr>
        <p:spPr>
          <a:xfrm>
            <a:off x="547826" y="1418870"/>
            <a:ext cx="591652" cy="268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점검방법</a:t>
            </a:r>
          </a:p>
        </p:txBody>
      </p:sp>
      <p:sp>
        <p:nvSpPr>
          <p:cNvPr id="21" name="가운데 글"/>
          <p:cNvSpPr>
            <a:spLocks noGrp="1"/>
          </p:cNvSpPr>
          <p:nvPr>
            <p:ph type="body" sz="quarter" idx="25"/>
          </p:nvPr>
        </p:nvSpPr>
        <p:spPr>
          <a:xfrm>
            <a:off x="1172348" y="1424348"/>
            <a:ext cx="5631652" cy="25747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공단 전담 노무법인 및 사내 법무팀을 활용한 노사관계 운영 적법성 자체점검 실시*</a:t>
            </a:r>
          </a:p>
        </p:txBody>
      </p:sp>
      <p:sp>
        <p:nvSpPr>
          <p:cNvPr id="22" name="주석"/>
          <p:cNvSpPr>
            <a:spLocks noGrp="1"/>
          </p:cNvSpPr>
          <p:nvPr>
            <p:ph type="body" sz="quarter" idx="26"/>
          </p:nvPr>
        </p:nvSpPr>
        <p:spPr>
          <a:xfrm>
            <a:off x="2180348" y="1731130"/>
            <a:ext cx="4656522" cy="17530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3B4951"/>
                </a:solidFill>
                <a:latin typeface="Pretendard"/>
                <a:ea typeface="Pretendard"/>
              </a:rPr>
              <a:t>* 인적자원개발 우수기관 지정에 따른 근로감독 정기점검 면제('24~'27)</a:t>
            </a:r>
          </a:p>
        </p:txBody>
      </p:sp>
      <p:sp>
        <p:nvSpPr>
          <p:cNvPr id="23" name="라벨 박스"/>
          <p:cNvSpPr/>
          <p:nvPr/>
        </p:nvSpPr>
        <p:spPr>
          <a:xfrm>
            <a:off x="536870" y="1961217"/>
            <a:ext cx="6300000" cy="649252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4" name="레일"/>
          <p:cNvSpPr/>
          <p:nvPr/>
        </p:nvSpPr>
        <p:spPr>
          <a:xfrm>
            <a:off x="547826" y="1972174"/>
            <a:ext cx="591652" cy="627339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5" name="레일"/>
          <p:cNvSpPr>
            <a:spLocks noGrp="1"/>
          </p:cNvSpPr>
          <p:nvPr>
            <p:ph type="body" sz="quarter" idx="27"/>
          </p:nvPr>
        </p:nvSpPr>
        <p:spPr>
          <a:xfrm>
            <a:off x="547826" y="1972174"/>
            <a:ext cx="591652" cy="6273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점검항목</a:t>
            </a:r>
          </a:p>
        </p:txBody>
      </p:sp>
      <p:sp>
        <p:nvSpPr>
          <p:cNvPr id="26" name="머리칸"/>
          <p:cNvSpPr/>
          <p:nvPr/>
        </p:nvSpPr>
        <p:spPr>
          <a:xfrm>
            <a:off x="1172348" y="1988609"/>
            <a:ext cx="186078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7" name="머리칸"/>
          <p:cNvSpPr>
            <a:spLocks noGrp="1"/>
          </p:cNvSpPr>
          <p:nvPr>
            <p:ph type="body" sz="quarter" idx="28"/>
          </p:nvPr>
        </p:nvSpPr>
        <p:spPr>
          <a:xfrm>
            <a:off x="1172348" y="1988609"/>
            <a:ext cx="186078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노동조합 및 노동관계조정법</a:t>
            </a:r>
          </a:p>
        </p:txBody>
      </p:sp>
      <p:sp>
        <p:nvSpPr>
          <p:cNvPr id="28" name="머리칸"/>
          <p:cNvSpPr/>
          <p:nvPr/>
        </p:nvSpPr>
        <p:spPr>
          <a:xfrm>
            <a:off x="3049565" y="1988609"/>
            <a:ext cx="186078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9" name="머리칸"/>
          <p:cNvSpPr>
            <a:spLocks noGrp="1"/>
          </p:cNvSpPr>
          <p:nvPr>
            <p:ph type="body" sz="quarter" idx="29"/>
          </p:nvPr>
        </p:nvSpPr>
        <p:spPr>
          <a:xfrm>
            <a:off x="3049565" y="1988609"/>
            <a:ext cx="186078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근로자참여·협력증진법</a:t>
            </a:r>
          </a:p>
        </p:txBody>
      </p:sp>
      <p:sp>
        <p:nvSpPr>
          <p:cNvPr id="30" name="머리칸"/>
          <p:cNvSpPr/>
          <p:nvPr/>
        </p:nvSpPr>
        <p:spPr>
          <a:xfrm>
            <a:off x="4926783" y="1988609"/>
            <a:ext cx="186078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1" name="머리칸"/>
          <p:cNvSpPr>
            <a:spLocks noGrp="1"/>
          </p:cNvSpPr>
          <p:nvPr>
            <p:ph type="body" sz="quarter" idx="30"/>
          </p:nvPr>
        </p:nvSpPr>
        <p:spPr>
          <a:xfrm>
            <a:off x="4926783" y="1988609"/>
            <a:ext cx="186078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혁신지침·예산운용지침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1"/>
          </p:nvPr>
        </p:nvSpPr>
        <p:spPr>
          <a:xfrm>
            <a:off x="1183304" y="2229652"/>
            <a:ext cx="1855304" cy="3643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근로시간면제자 제도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단체협약 범위 및 단일화 적법성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2"/>
          </p:nvPr>
        </p:nvSpPr>
        <p:spPr>
          <a:xfrm>
            <a:off x="3060522" y="2229652"/>
            <a:ext cx="1855304" cy="3643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노사협의회 구성·운영 적법성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협의회 규정·회의록 작성·비치</a:t>
            </a:r>
          </a:p>
        </p:txBody>
      </p:sp>
      <p:cxnSp>
        <p:nvCxnSpPr>
          <p:cNvPr id="34" name="Connector 23"/>
          <p:cNvCxnSpPr/>
          <p:nvPr/>
        </p:nvCxnSpPr>
        <p:spPr>
          <a:xfrm>
            <a:off x="3049565" y="2262522"/>
            <a:ext cx="0" cy="29864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5" name="칸 본문"/>
          <p:cNvSpPr>
            <a:spLocks noGrp="1"/>
          </p:cNvSpPr>
          <p:nvPr>
            <p:ph type="body" sz="quarter" idx="33"/>
          </p:nvPr>
        </p:nvSpPr>
        <p:spPr>
          <a:xfrm>
            <a:off x="4937739" y="2229652"/>
            <a:ext cx="1855304" cy="3643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관련 지침에 따른 복리후생제도 운영의 적법성 여부</a:t>
            </a:r>
          </a:p>
        </p:txBody>
      </p:sp>
      <p:cxnSp>
        <p:nvCxnSpPr>
          <p:cNvPr id="36" name="Connector 25"/>
          <p:cNvCxnSpPr/>
          <p:nvPr/>
        </p:nvCxnSpPr>
        <p:spPr>
          <a:xfrm>
            <a:off x="4926783" y="2262522"/>
            <a:ext cx="0" cy="29864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7" name="라벨 박스"/>
          <p:cNvSpPr/>
          <p:nvPr/>
        </p:nvSpPr>
        <p:spPr>
          <a:xfrm>
            <a:off x="536870" y="2665252"/>
            <a:ext cx="6300000" cy="38629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8" name="레일"/>
          <p:cNvSpPr/>
          <p:nvPr/>
        </p:nvSpPr>
        <p:spPr>
          <a:xfrm>
            <a:off x="547826" y="2676209"/>
            <a:ext cx="591652" cy="36438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9" name="레일"/>
          <p:cNvSpPr>
            <a:spLocks noGrp="1"/>
          </p:cNvSpPr>
          <p:nvPr>
            <p:ph type="body" sz="quarter" idx="34"/>
          </p:nvPr>
        </p:nvSpPr>
        <p:spPr>
          <a:xfrm>
            <a:off x="547826" y="2676209"/>
            <a:ext cx="591652" cy="3643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점검결과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35"/>
          </p:nvPr>
        </p:nvSpPr>
        <p:spPr>
          <a:xfrm>
            <a:off x="1183304" y="2681687"/>
            <a:ext cx="1855304" cy="3534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면제시간 법정범위 내 부여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단체교섭 단일화 절차 준수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36"/>
          </p:nvPr>
        </p:nvSpPr>
        <p:spPr>
          <a:xfrm>
            <a:off x="3060522" y="2681687"/>
            <a:ext cx="1855304" cy="3534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 각 8인, 분기별 개최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규정 제출·회의록 공시</a:t>
            </a:r>
          </a:p>
        </p:txBody>
      </p:sp>
      <p:cxnSp>
        <p:nvCxnSpPr>
          <p:cNvPr id="42" name="Connector 30"/>
          <p:cNvCxnSpPr/>
          <p:nvPr/>
        </p:nvCxnSpPr>
        <p:spPr>
          <a:xfrm>
            <a:off x="3049565" y="2714557"/>
            <a:ext cx="0" cy="28768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3" name="칸 본문"/>
          <p:cNvSpPr>
            <a:spLocks noGrp="1"/>
          </p:cNvSpPr>
          <p:nvPr>
            <p:ph type="body" sz="quarter" idx="37"/>
          </p:nvPr>
        </p:nvSpPr>
        <p:spPr>
          <a:xfrm>
            <a:off x="4937739" y="2681687"/>
            <a:ext cx="1855304" cy="3534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복리후생제도 점검 체크리스트 60개 항목 → 100% 준수</a:t>
            </a:r>
          </a:p>
        </p:txBody>
      </p:sp>
      <p:cxnSp>
        <p:nvCxnSpPr>
          <p:cNvPr id="44" name="Connector 32"/>
          <p:cNvCxnSpPr/>
          <p:nvPr/>
        </p:nvCxnSpPr>
        <p:spPr>
          <a:xfrm>
            <a:off x="4926783" y="2714557"/>
            <a:ext cx="0" cy="28768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5" name="핵심성과 박스"/>
          <p:cNvSpPr/>
          <p:nvPr/>
        </p:nvSpPr>
        <p:spPr>
          <a:xfrm>
            <a:off x="536870" y="3139200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6" name="핵심성과 라벨"/>
          <p:cNvSpPr/>
          <p:nvPr/>
        </p:nvSpPr>
        <p:spPr>
          <a:xfrm>
            <a:off x="569739" y="3172070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7" name="핵심성과 라벨"/>
          <p:cNvSpPr>
            <a:spLocks noGrp="1"/>
          </p:cNvSpPr>
          <p:nvPr>
            <p:ph type="body" sz="quarter" idx="38"/>
          </p:nvPr>
        </p:nvSpPr>
        <p:spPr>
          <a:xfrm>
            <a:off x="569739" y="3172070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핵심성과</a:t>
            </a:r>
          </a:p>
        </p:txBody>
      </p:sp>
      <p:sp>
        <p:nvSpPr>
          <p:cNvPr id="48" name="핵심성과 문구"/>
          <p:cNvSpPr>
            <a:spLocks noGrp="1"/>
          </p:cNvSpPr>
          <p:nvPr>
            <p:ph type="body" sz="quarter" idx="39"/>
          </p:nvPr>
        </p:nvSpPr>
        <p:spPr>
          <a:xfrm>
            <a:off x="1314783" y="3161113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노사 협력으로 적성검사 갱신 연말집중 해소 및 노동이사 선임 등 현안문제 해결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노동관계 법령·정부지침 100% 준수 등 법과 원칙에 기반한 노사관계 제도 운영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08 서사 · 수준진단 → 공감대 형성 → 시사점 + 두 갈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열린 소통과 긍정문화 조성에 기반한 상생 협력적 노사관계 운영</a:t>
            </a:r>
          </a:p>
        </p:txBody>
      </p:sp>
      <p:sp>
        <p:nvSpPr>
          <p:cNvPr id="14" name="형광 밑줄"/>
          <p:cNvSpPr/>
          <p:nvPr/>
        </p:nvSpPr>
        <p:spPr>
          <a:xfrm>
            <a:off x="723130" y="1358609"/>
            <a:ext cx="3545449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소제목"/>
          <p:cNvSpPr>
            <a:spLocks noGrp="1"/>
          </p:cNvSpPr>
          <p:nvPr>
            <p:ph type="body" sz="quarter" idx="22"/>
          </p:nvPr>
        </p:nvSpPr>
        <p:spPr>
          <a:xfrm>
            <a:off x="723130" y="120521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공감대 형성 기반 열린 소통채널 운영·긍정 조직문화 조성</a:t>
            </a:r>
          </a:p>
        </p:txBody>
      </p:sp>
      <p:sp>
        <p:nvSpPr>
          <p:cNvPr id="16" name="태그칩"/>
          <p:cNvSpPr/>
          <p:nvPr/>
        </p:nvSpPr>
        <p:spPr>
          <a:xfrm>
            <a:off x="4367188" y="1238087"/>
            <a:ext cx="606399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칩"/>
          <p:cNvSpPr>
            <a:spLocks noGrp="1"/>
          </p:cNvSpPr>
          <p:nvPr>
            <p:ph type="body" sz="quarter" idx="23"/>
          </p:nvPr>
        </p:nvSpPr>
        <p:spPr>
          <a:xfrm>
            <a:off x="4367188" y="1238087"/>
            <a:ext cx="60639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지적·개선</a:t>
            </a:r>
          </a:p>
        </p:txBody>
      </p:sp>
      <p:sp>
        <p:nvSpPr>
          <p:cNvPr id="18" name="표 외곽"/>
          <p:cNvSpPr/>
          <p:nvPr/>
        </p:nvSpPr>
        <p:spPr>
          <a:xfrm>
            <a:off x="723130" y="1490087"/>
            <a:ext cx="6300000" cy="148476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레일"/>
          <p:cNvSpPr/>
          <p:nvPr/>
        </p:nvSpPr>
        <p:spPr>
          <a:xfrm>
            <a:off x="734087" y="1506522"/>
            <a:ext cx="580696" cy="369861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4"/>
          </p:nvPr>
        </p:nvSpPr>
        <p:spPr>
          <a:xfrm>
            <a:off x="734087" y="1506522"/>
            <a:ext cx="580696" cy="3698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수준진단</a:t>
            </a:r>
          </a:p>
        </p:txBody>
      </p:sp>
      <p:sp>
        <p:nvSpPr>
          <p:cNvPr id="21" name="본문"/>
          <p:cNvSpPr>
            <a:spLocks noGrp="1"/>
          </p:cNvSpPr>
          <p:nvPr>
            <p:ph type="body" sz="quarter" idx="25"/>
          </p:nvPr>
        </p:nvSpPr>
        <p:spPr>
          <a:xfrm>
            <a:off x="1347652" y="1528435"/>
            <a:ext cx="5648087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형식적이고 무거운 분위기의 소통채널 운영에 따른 직원 참여율 저하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→ 노사소통지수 타 지수 대비 저조(3년 평균 87.3 ↔ 88.7점)</a:t>
            </a:r>
          </a:p>
        </p:txBody>
      </p:sp>
      <p:sp>
        <p:nvSpPr>
          <p:cNvPr id="22" name="레일"/>
          <p:cNvSpPr/>
          <p:nvPr/>
        </p:nvSpPr>
        <p:spPr>
          <a:xfrm>
            <a:off x="734087" y="1892817"/>
            <a:ext cx="580696" cy="605426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3" name="레일"/>
          <p:cNvSpPr>
            <a:spLocks noGrp="1"/>
          </p:cNvSpPr>
          <p:nvPr>
            <p:ph type="body" sz="quarter" idx="26"/>
          </p:nvPr>
        </p:nvSpPr>
        <p:spPr>
          <a:xfrm>
            <a:off x="734087" y="1892817"/>
            <a:ext cx="580696" cy="6054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공감대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형성</a:t>
            </a:r>
          </a:p>
        </p:txBody>
      </p:sp>
      <p:sp>
        <p:nvSpPr>
          <p:cNvPr id="24" name="레일 삼각형"/>
          <p:cNvSpPr/>
          <p:nvPr/>
        </p:nvSpPr>
        <p:spPr>
          <a:xfrm>
            <a:off x="734086" y="1892817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5" name="머리칸"/>
          <p:cNvSpPr/>
          <p:nvPr/>
        </p:nvSpPr>
        <p:spPr>
          <a:xfrm>
            <a:off x="1347652" y="191473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6" name="머리칸"/>
          <p:cNvSpPr>
            <a:spLocks noGrp="1"/>
          </p:cNvSpPr>
          <p:nvPr>
            <p:ph type="body" sz="quarter" idx="27"/>
          </p:nvPr>
        </p:nvSpPr>
        <p:spPr>
          <a:xfrm>
            <a:off x="1347652" y="191473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이사장</a:t>
            </a:r>
          </a:p>
        </p:txBody>
      </p:sp>
      <p:sp>
        <p:nvSpPr>
          <p:cNvPr id="27" name="머리칸"/>
          <p:cNvSpPr/>
          <p:nvPr/>
        </p:nvSpPr>
        <p:spPr>
          <a:xfrm>
            <a:off x="4171696" y="191473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8" name="머리칸"/>
          <p:cNvSpPr>
            <a:spLocks noGrp="1"/>
          </p:cNvSpPr>
          <p:nvPr>
            <p:ph type="body" sz="quarter" idx="28"/>
          </p:nvPr>
        </p:nvSpPr>
        <p:spPr>
          <a:xfrm>
            <a:off x="4171696" y="191473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위원장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1358609" y="2155774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“현안 발생 시 수시로 소통해 해결하고 서로 존중·협력하겠다.”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0"/>
          </p:nvPr>
        </p:nvSpPr>
        <p:spPr>
          <a:xfrm>
            <a:off x="4182652" y="2155774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“긍정의 조직문화를 함께 만들고 현안을 풀어가겠다.”</a:t>
            </a:r>
          </a:p>
        </p:txBody>
      </p:sp>
      <p:cxnSp>
        <p:nvCxnSpPr>
          <p:cNvPr id="31" name="Connector 20"/>
          <p:cNvCxnSpPr/>
          <p:nvPr/>
        </p:nvCxnSpPr>
        <p:spPr>
          <a:xfrm>
            <a:off x="4171696" y="2188643"/>
            <a:ext cx="0" cy="27125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2" name="레일"/>
          <p:cNvSpPr/>
          <p:nvPr/>
        </p:nvSpPr>
        <p:spPr>
          <a:xfrm>
            <a:off x="734087" y="2514678"/>
            <a:ext cx="580696" cy="443739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3" name="레일"/>
          <p:cNvSpPr>
            <a:spLocks noGrp="1"/>
          </p:cNvSpPr>
          <p:nvPr>
            <p:ph type="body" sz="quarter" idx="31"/>
          </p:nvPr>
        </p:nvSpPr>
        <p:spPr>
          <a:xfrm>
            <a:off x="734087" y="2514678"/>
            <a:ext cx="580696" cy="443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34" name="레일 삼각형"/>
          <p:cNvSpPr/>
          <p:nvPr/>
        </p:nvSpPr>
        <p:spPr>
          <a:xfrm>
            <a:off x="734086" y="2514678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5" name="태그"/>
          <p:cNvSpPr/>
          <p:nvPr/>
        </p:nvSpPr>
        <p:spPr>
          <a:xfrm>
            <a:off x="1347652" y="2558504"/>
            <a:ext cx="1079127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6" name="태그"/>
          <p:cNvSpPr>
            <a:spLocks noGrp="1"/>
          </p:cNvSpPr>
          <p:nvPr>
            <p:ph type="body" sz="quarter" idx="32"/>
          </p:nvPr>
        </p:nvSpPr>
        <p:spPr>
          <a:xfrm>
            <a:off x="1347652" y="2558504"/>
            <a:ext cx="107912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열린 소통채널 운영</a:t>
            </a:r>
          </a:p>
        </p:txBody>
      </p:sp>
      <p:sp>
        <p:nvSpPr>
          <p:cNvPr id="37" name="태그 설명"/>
          <p:cNvSpPr>
            <a:spLocks noGrp="1"/>
          </p:cNvSpPr>
          <p:nvPr>
            <p:ph type="body" sz="quarter" idx="33"/>
          </p:nvPr>
        </p:nvSpPr>
        <p:spPr>
          <a:xfrm>
            <a:off x="2470605" y="2547548"/>
            <a:ext cx="4525134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누구나 참여하고 먼저 다가가는 열린 소통채널 운영으로 소통 활성화</a:t>
            </a:r>
          </a:p>
        </p:txBody>
      </p:sp>
      <p:sp>
        <p:nvSpPr>
          <p:cNvPr id="38" name="태그"/>
          <p:cNvSpPr/>
          <p:nvPr/>
        </p:nvSpPr>
        <p:spPr>
          <a:xfrm>
            <a:off x="1347652" y="2755722"/>
            <a:ext cx="1079127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9" name="태그"/>
          <p:cNvSpPr>
            <a:spLocks noGrp="1"/>
          </p:cNvSpPr>
          <p:nvPr>
            <p:ph type="body" sz="quarter" idx="34"/>
          </p:nvPr>
        </p:nvSpPr>
        <p:spPr>
          <a:xfrm>
            <a:off x="1347652" y="2755722"/>
            <a:ext cx="107912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긍정 조직문화 조성</a:t>
            </a:r>
          </a:p>
        </p:txBody>
      </p:sp>
      <p:sp>
        <p:nvSpPr>
          <p:cNvPr id="40" name="태그 설명"/>
          <p:cNvSpPr>
            <a:spLocks noGrp="1"/>
          </p:cNvSpPr>
          <p:nvPr>
            <p:ph type="body" sz="quarter" idx="35"/>
          </p:nvPr>
        </p:nvSpPr>
        <p:spPr>
          <a:xfrm>
            <a:off x="2470605" y="2744765"/>
            <a:ext cx="4525134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 파트너십 강화 활동 등 신뢰 증진을 통한 긍정 조직문화 조성</a:t>
            </a:r>
          </a:p>
        </p:txBody>
      </p:sp>
      <p:sp>
        <p:nvSpPr>
          <p:cNvPr id="41" name="삼각 화살표"/>
          <p:cNvSpPr/>
          <p:nvPr/>
        </p:nvSpPr>
        <p:spPr>
          <a:xfrm>
            <a:off x="4010086" y="3018678"/>
            <a:ext cx="350609" cy="142435"/>
          </a:xfrm>
          <a:custGeom>
            <a:avLst/>
            <a:gdLst/>
            <a:ahLst/>
            <a:cxnLst/>
            <a:rect l="l" t="t" r="r" b="b"/>
            <a:pathLst>
              <a:path w="350609" h="142435">
                <a:moveTo>
                  <a:pt x="0" y="0"/>
                </a:moveTo>
                <a:lnTo>
                  <a:pt x="350609" y="0"/>
                </a:lnTo>
                <a:lnTo>
                  <a:pt x="175305" y="142435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2" name="패널 외곽"/>
          <p:cNvSpPr/>
          <p:nvPr/>
        </p:nvSpPr>
        <p:spPr>
          <a:xfrm>
            <a:off x="723130" y="3243287"/>
            <a:ext cx="3125348" cy="2134017"/>
          </a:xfrm>
          <a:prstGeom prst="rect">
            <a:avLst/>
          </a:prstGeom>
          <a:solidFill>
            <a:srgbClr val="FFFFFF"/>
          </a:solidFill>
          <a:ln w="12700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3" name="패널 머리"/>
          <p:cNvSpPr/>
          <p:nvPr/>
        </p:nvSpPr>
        <p:spPr>
          <a:xfrm>
            <a:off x="723130" y="3243287"/>
            <a:ext cx="3125348" cy="241043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44" name="패널 머리"/>
          <p:cNvSpPr>
            <a:spLocks noGrp="1"/>
          </p:cNvSpPr>
          <p:nvPr>
            <p:ph type="body" sz="quarter" idx="36"/>
          </p:nvPr>
        </p:nvSpPr>
        <p:spPr>
          <a:xfrm>
            <a:off x="723130" y="3243287"/>
            <a:ext cx="3125348" cy="24104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열린 소통채널 운영</a:t>
            </a:r>
          </a:p>
        </p:txBody>
      </p:sp>
      <p:sp>
        <p:nvSpPr>
          <p:cNvPr id="45" name="레일"/>
          <p:cNvSpPr/>
          <p:nvPr/>
        </p:nvSpPr>
        <p:spPr>
          <a:xfrm>
            <a:off x="756000" y="3517200"/>
            <a:ext cx="739565" cy="59447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6" name="레일 태그"/>
          <p:cNvSpPr/>
          <p:nvPr/>
        </p:nvSpPr>
        <p:spPr>
          <a:xfrm>
            <a:off x="845984" y="3561026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7" name="레일 태그"/>
          <p:cNvSpPr>
            <a:spLocks noGrp="1"/>
          </p:cNvSpPr>
          <p:nvPr>
            <p:ph type="body" sz="quarter" idx="37"/>
          </p:nvPr>
        </p:nvSpPr>
        <p:spPr>
          <a:xfrm>
            <a:off x="845984" y="3561026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조직소통</a:t>
            </a:r>
          </a:p>
        </p:txBody>
      </p:sp>
      <p:sp>
        <p:nvSpPr>
          <p:cNvPr id="48" name="레일 라벨"/>
          <p:cNvSpPr>
            <a:spLocks noGrp="1"/>
          </p:cNvSpPr>
          <p:nvPr>
            <p:ph type="body" sz="quarter" idx="38"/>
          </p:nvPr>
        </p:nvSpPr>
        <p:spPr>
          <a:xfrm>
            <a:off x="756000" y="3747287"/>
            <a:ext cx="739565" cy="34247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열린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협의회</a:t>
            </a:r>
          </a:p>
        </p:txBody>
      </p:sp>
      <p:sp>
        <p:nvSpPr>
          <p:cNvPr id="49" name="패널 본문"/>
          <p:cNvSpPr>
            <a:spLocks noGrp="1"/>
          </p:cNvSpPr>
          <p:nvPr>
            <p:ph type="body" sz="quarter" idx="39"/>
          </p:nvPr>
        </p:nvSpPr>
        <p:spPr>
          <a:xfrm>
            <a:off x="1539391" y="3506243"/>
            <a:ext cx="2276217" cy="616383"/>
          </a:xfrm>
          <a:prstGeom prst="rect">
            <a:avLst/>
          </a:prstGeom>
          <a:noFill/>
          <a:ln>
            <a:noFill/>
          </a:ln>
        </p:spPr>
        <p:txBody>
          <a:bodyPr wrap="square" lIns="43200" tIns="10800" rIns="18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열린 협의회 운영(41명 참관)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안건 이행현황 점검·공유로 환류체계 강화</a:t>
            </a:r>
          </a:p>
        </p:txBody>
      </p:sp>
      <p:cxnSp>
        <p:nvCxnSpPr>
          <p:cNvPr id="50" name="Connector 34"/>
          <p:cNvCxnSpPr/>
          <p:nvPr/>
        </p:nvCxnSpPr>
        <p:spPr>
          <a:xfrm>
            <a:off x="1539391" y="4122626"/>
            <a:ext cx="2254305" cy="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1" name="레일"/>
          <p:cNvSpPr/>
          <p:nvPr/>
        </p:nvSpPr>
        <p:spPr>
          <a:xfrm>
            <a:off x="756000" y="4133583"/>
            <a:ext cx="739565" cy="59447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2" name="레일 태그"/>
          <p:cNvSpPr/>
          <p:nvPr/>
        </p:nvSpPr>
        <p:spPr>
          <a:xfrm>
            <a:off x="845984" y="4177409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53" name="레일 태그"/>
          <p:cNvSpPr>
            <a:spLocks noGrp="1"/>
          </p:cNvSpPr>
          <p:nvPr>
            <p:ph type="body" sz="quarter" idx="40"/>
          </p:nvPr>
        </p:nvSpPr>
        <p:spPr>
          <a:xfrm>
            <a:off x="845984" y="4177409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현장소통</a:t>
            </a:r>
          </a:p>
        </p:txBody>
      </p:sp>
      <p:sp>
        <p:nvSpPr>
          <p:cNvPr id="54" name="레일 라벨"/>
          <p:cNvSpPr>
            <a:spLocks noGrp="1"/>
          </p:cNvSpPr>
          <p:nvPr>
            <p:ph type="body" sz="quarter" idx="41"/>
          </p:nvPr>
        </p:nvSpPr>
        <p:spPr>
          <a:xfrm>
            <a:off x="756000" y="4363670"/>
            <a:ext cx="739565" cy="34247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찾아가는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현장소통</a:t>
            </a:r>
          </a:p>
        </p:txBody>
      </p:sp>
      <p:sp>
        <p:nvSpPr>
          <p:cNvPr id="55" name="패널 본문"/>
          <p:cNvSpPr>
            <a:spLocks noGrp="1"/>
          </p:cNvSpPr>
          <p:nvPr>
            <p:ph type="body" sz="quarter" idx="42"/>
          </p:nvPr>
        </p:nvSpPr>
        <p:spPr>
          <a:xfrm>
            <a:off x="1539391" y="4122626"/>
            <a:ext cx="2276217" cy="616383"/>
          </a:xfrm>
          <a:prstGeom prst="rect">
            <a:avLst/>
          </a:prstGeom>
          <a:noFill/>
          <a:ln>
            <a:noFill/>
          </a:ln>
        </p:spPr>
        <p:txBody>
          <a:bodyPr wrap="square" lIns="43200" tIns="10800" rIns="18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분임협의회 참관(3개 조직)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석면 잔존 청사 공동조사·제거(8개소)</a:t>
            </a:r>
          </a:p>
        </p:txBody>
      </p:sp>
      <p:cxnSp>
        <p:nvCxnSpPr>
          <p:cNvPr id="56" name="Connector 39"/>
          <p:cNvCxnSpPr/>
          <p:nvPr/>
        </p:nvCxnSpPr>
        <p:spPr>
          <a:xfrm>
            <a:off x="1539391" y="4739009"/>
            <a:ext cx="2254305" cy="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7" name="레일"/>
          <p:cNvSpPr/>
          <p:nvPr/>
        </p:nvSpPr>
        <p:spPr>
          <a:xfrm>
            <a:off x="756000" y="4749965"/>
            <a:ext cx="739565" cy="59447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8" name="레일 태그"/>
          <p:cNvSpPr/>
          <p:nvPr/>
        </p:nvSpPr>
        <p:spPr>
          <a:xfrm>
            <a:off x="845984" y="4793791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59" name="레일 태그"/>
          <p:cNvSpPr>
            <a:spLocks noGrp="1"/>
          </p:cNvSpPr>
          <p:nvPr>
            <p:ph type="body" sz="quarter" idx="43"/>
          </p:nvPr>
        </p:nvSpPr>
        <p:spPr>
          <a:xfrm>
            <a:off x="845984" y="4793791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세대소통</a:t>
            </a:r>
          </a:p>
        </p:txBody>
      </p:sp>
      <p:sp>
        <p:nvSpPr>
          <p:cNvPr id="60" name="레일 라벨"/>
          <p:cNvSpPr>
            <a:spLocks noGrp="1"/>
          </p:cNvSpPr>
          <p:nvPr>
            <p:ph type="body" sz="quarter" idx="44"/>
          </p:nvPr>
        </p:nvSpPr>
        <p:spPr>
          <a:xfrm>
            <a:off x="756000" y="4980052"/>
            <a:ext cx="739565" cy="34247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미래세대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소통</a:t>
            </a:r>
          </a:p>
        </p:txBody>
      </p:sp>
      <p:sp>
        <p:nvSpPr>
          <p:cNvPr id="61" name="패널 본문"/>
          <p:cNvSpPr>
            <a:spLocks noGrp="1"/>
          </p:cNvSpPr>
          <p:nvPr>
            <p:ph type="body" sz="quarter" idx="45"/>
          </p:nvPr>
        </p:nvSpPr>
        <p:spPr>
          <a:xfrm>
            <a:off x="1539391" y="4739009"/>
            <a:ext cx="2276217" cy="616383"/>
          </a:xfrm>
          <a:prstGeom prst="rect">
            <a:avLst/>
          </a:prstGeom>
          <a:noFill/>
          <a:ln>
            <a:noFill/>
          </a:ln>
        </p:spPr>
        <p:txBody>
          <a:bodyPr wrap="square" lIns="43200" tIns="10800" rIns="18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주니어 16명·시니어 9명 구성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혁신과제 발굴(4건)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자유토론(5개 주제)</a:t>
            </a:r>
          </a:p>
        </p:txBody>
      </p:sp>
      <p:sp>
        <p:nvSpPr>
          <p:cNvPr id="62" name="패널 외곽"/>
          <p:cNvSpPr/>
          <p:nvPr/>
        </p:nvSpPr>
        <p:spPr>
          <a:xfrm>
            <a:off x="3897783" y="3243287"/>
            <a:ext cx="3125348" cy="2134017"/>
          </a:xfrm>
          <a:prstGeom prst="rect">
            <a:avLst/>
          </a:prstGeom>
          <a:solidFill>
            <a:srgbClr val="FFFFFF"/>
          </a:solidFill>
          <a:ln w="12700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3" name="패널 머리"/>
          <p:cNvSpPr/>
          <p:nvPr/>
        </p:nvSpPr>
        <p:spPr>
          <a:xfrm>
            <a:off x="3897783" y="3243287"/>
            <a:ext cx="3125348" cy="241043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64" name="패널 머리"/>
          <p:cNvSpPr>
            <a:spLocks noGrp="1"/>
          </p:cNvSpPr>
          <p:nvPr>
            <p:ph type="body" sz="quarter" idx="46"/>
          </p:nvPr>
        </p:nvSpPr>
        <p:spPr>
          <a:xfrm>
            <a:off x="3897783" y="3243287"/>
            <a:ext cx="3125348" cy="24104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긍정 조직문화 조성</a:t>
            </a:r>
          </a:p>
        </p:txBody>
      </p:sp>
      <p:sp>
        <p:nvSpPr>
          <p:cNvPr id="65" name="레일"/>
          <p:cNvSpPr/>
          <p:nvPr/>
        </p:nvSpPr>
        <p:spPr>
          <a:xfrm>
            <a:off x="3930652" y="3517200"/>
            <a:ext cx="734087" cy="59447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6" name="레일 태그"/>
          <p:cNvSpPr/>
          <p:nvPr/>
        </p:nvSpPr>
        <p:spPr>
          <a:xfrm>
            <a:off x="4017897" y="3561026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67" name="레일 태그"/>
          <p:cNvSpPr>
            <a:spLocks noGrp="1"/>
          </p:cNvSpPr>
          <p:nvPr>
            <p:ph type="body" sz="quarter" idx="47"/>
          </p:nvPr>
        </p:nvSpPr>
        <p:spPr>
          <a:xfrm>
            <a:off x="4017897" y="3561026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신뢰문화</a:t>
            </a:r>
          </a:p>
        </p:txBody>
      </p:sp>
      <p:sp>
        <p:nvSpPr>
          <p:cNvPr id="68" name="레일 라벨"/>
          <p:cNvSpPr>
            <a:spLocks noGrp="1"/>
          </p:cNvSpPr>
          <p:nvPr>
            <p:ph type="body" sz="quarter" idx="48"/>
          </p:nvPr>
        </p:nvSpPr>
        <p:spPr>
          <a:xfrm>
            <a:off x="3930652" y="3747287"/>
            <a:ext cx="734087" cy="34247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데일리 미팅</a:t>
            </a:r>
          </a:p>
        </p:txBody>
      </p:sp>
      <p:sp>
        <p:nvSpPr>
          <p:cNvPr id="69" name="패널 본문"/>
          <p:cNvSpPr>
            <a:spLocks noGrp="1"/>
          </p:cNvSpPr>
          <p:nvPr>
            <p:ph type="body" sz="quarter" idx="49"/>
          </p:nvPr>
        </p:nvSpPr>
        <p:spPr>
          <a:xfrm>
            <a:off x="4708565" y="3506243"/>
            <a:ext cx="2281696" cy="616383"/>
          </a:xfrm>
          <a:prstGeom prst="rect">
            <a:avLst/>
          </a:prstGeom>
          <a:noFill/>
          <a:ln>
            <a:noFill/>
          </a:ln>
        </p:spPr>
        <p:txBody>
          <a:bodyPr wrap="square" lIns="43200" tIns="10800" rIns="18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노조집행부·주무부서장·실무자 데일리 미팅(매일 2회)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현안에 대한 실시간 소통</a:t>
            </a:r>
          </a:p>
        </p:txBody>
      </p:sp>
      <p:cxnSp>
        <p:nvCxnSpPr>
          <p:cNvPr id="70" name="Connector 50"/>
          <p:cNvCxnSpPr/>
          <p:nvPr/>
        </p:nvCxnSpPr>
        <p:spPr>
          <a:xfrm>
            <a:off x="4708565" y="4122626"/>
            <a:ext cx="2259783" cy="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1" name="레일"/>
          <p:cNvSpPr/>
          <p:nvPr/>
        </p:nvSpPr>
        <p:spPr>
          <a:xfrm>
            <a:off x="3930652" y="4133583"/>
            <a:ext cx="734087" cy="59447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2" name="레일 태그"/>
          <p:cNvSpPr/>
          <p:nvPr/>
        </p:nvSpPr>
        <p:spPr>
          <a:xfrm>
            <a:off x="4017897" y="4177409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73" name="레일 태그"/>
          <p:cNvSpPr>
            <a:spLocks noGrp="1"/>
          </p:cNvSpPr>
          <p:nvPr>
            <p:ph type="body" sz="quarter" idx="50"/>
          </p:nvPr>
        </p:nvSpPr>
        <p:spPr>
          <a:xfrm>
            <a:off x="4017897" y="4177409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포용문화</a:t>
            </a:r>
          </a:p>
        </p:txBody>
      </p:sp>
      <p:sp>
        <p:nvSpPr>
          <p:cNvPr id="74" name="레일 라벨"/>
          <p:cNvSpPr>
            <a:spLocks noGrp="1"/>
          </p:cNvSpPr>
          <p:nvPr>
            <p:ph type="body" sz="quarter" idx="51"/>
          </p:nvPr>
        </p:nvSpPr>
        <p:spPr>
          <a:xfrm>
            <a:off x="3930652" y="4363670"/>
            <a:ext cx="734087" cy="34247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존중과 화합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문화 조성</a:t>
            </a:r>
          </a:p>
        </p:txBody>
      </p:sp>
      <p:sp>
        <p:nvSpPr>
          <p:cNvPr id="75" name="패널 본문"/>
          <p:cNvSpPr>
            <a:spLocks noGrp="1"/>
          </p:cNvSpPr>
          <p:nvPr>
            <p:ph type="body" sz="quarter" idx="52"/>
          </p:nvPr>
        </p:nvSpPr>
        <p:spPr>
          <a:xfrm>
            <a:off x="4708565" y="4122626"/>
            <a:ext cx="2281696" cy="616383"/>
          </a:xfrm>
          <a:prstGeom prst="rect">
            <a:avLst/>
          </a:prstGeom>
          <a:noFill/>
          <a:ln>
            <a:noFill/>
          </a:ln>
        </p:spPr>
        <p:txBody>
          <a:bodyPr wrap="square" lIns="43200" tIns="10800" rIns="18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매월 11·22일, 화합의 날 지정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직원 자녀 초청 탐험기 행사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가족 참여 명예로운퇴임식</a:t>
            </a:r>
          </a:p>
        </p:txBody>
      </p:sp>
      <p:cxnSp>
        <p:nvCxnSpPr>
          <p:cNvPr id="76" name="Connector 55"/>
          <p:cNvCxnSpPr/>
          <p:nvPr/>
        </p:nvCxnSpPr>
        <p:spPr>
          <a:xfrm>
            <a:off x="4708565" y="4739009"/>
            <a:ext cx="2259783" cy="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7" name="레일"/>
          <p:cNvSpPr/>
          <p:nvPr/>
        </p:nvSpPr>
        <p:spPr>
          <a:xfrm>
            <a:off x="3930652" y="4749965"/>
            <a:ext cx="734087" cy="59447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8" name="레일 태그"/>
          <p:cNvSpPr/>
          <p:nvPr/>
        </p:nvSpPr>
        <p:spPr>
          <a:xfrm>
            <a:off x="4017897" y="4793791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79" name="레일 태그"/>
          <p:cNvSpPr>
            <a:spLocks noGrp="1"/>
          </p:cNvSpPr>
          <p:nvPr>
            <p:ph type="body" sz="quarter" idx="53"/>
          </p:nvPr>
        </p:nvSpPr>
        <p:spPr>
          <a:xfrm>
            <a:off x="4017897" y="4793791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협력문화</a:t>
            </a:r>
          </a:p>
        </p:txBody>
      </p:sp>
      <p:sp>
        <p:nvSpPr>
          <p:cNvPr id="80" name="레일 라벨"/>
          <p:cNvSpPr>
            <a:spLocks noGrp="1"/>
          </p:cNvSpPr>
          <p:nvPr>
            <p:ph type="body" sz="quarter" idx="54"/>
          </p:nvPr>
        </p:nvSpPr>
        <p:spPr>
          <a:xfrm>
            <a:off x="3930652" y="4980052"/>
            <a:ext cx="734087" cy="34247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파트너십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프로그램</a:t>
            </a:r>
          </a:p>
        </p:txBody>
      </p:sp>
      <p:sp>
        <p:nvSpPr>
          <p:cNvPr id="81" name="패널 본문"/>
          <p:cNvSpPr>
            <a:spLocks noGrp="1"/>
          </p:cNvSpPr>
          <p:nvPr>
            <p:ph type="body" sz="quarter" idx="55"/>
          </p:nvPr>
        </p:nvSpPr>
        <p:spPr>
          <a:xfrm>
            <a:off x="4708565" y="4739009"/>
            <a:ext cx="2281696" cy="616383"/>
          </a:xfrm>
          <a:prstGeom prst="rect">
            <a:avLst/>
          </a:prstGeom>
          <a:noFill/>
          <a:ln>
            <a:noFill/>
          </a:ln>
        </p:spPr>
        <p:txBody>
          <a:bodyPr wrap="square" lIns="43200" tIns="10800" rIns="18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경영진·노조집행부 전원 참여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 팀워크 '동행' 실시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현안 공유와 공감대 형성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09 서사 · 추진배경 → 공감대·선언(사진)·확산 → 성과 레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2719989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노사 상생협력 선포 및 상생의 달 지정·운영</a:t>
            </a:r>
          </a:p>
        </p:txBody>
      </p:sp>
      <p:sp>
        <p:nvSpPr>
          <p:cNvPr id="12" name="태그칩"/>
          <p:cNvSpPr/>
          <p:nvPr/>
        </p:nvSpPr>
        <p:spPr>
          <a:xfrm>
            <a:off x="3355467" y="799826"/>
            <a:ext cx="32732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3355467" y="799826"/>
            <a:ext cx="32732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B.P</a:t>
            </a:r>
          </a:p>
        </p:txBody>
      </p:sp>
      <p:sp>
        <p:nvSpPr>
          <p:cNvPr id="14" name="태그칩"/>
          <p:cNvSpPr/>
          <p:nvPr/>
        </p:nvSpPr>
        <p:spPr>
          <a:xfrm>
            <a:off x="3726618" y="799826"/>
            <a:ext cx="351016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2"/>
          </p:nvPr>
        </p:nvSpPr>
        <p:spPr>
          <a:xfrm>
            <a:off x="3726618" y="799826"/>
            <a:ext cx="35101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신규</a:t>
            </a:r>
          </a:p>
        </p:txBody>
      </p:sp>
      <p:sp>
        <p:nvSpPr>
          <p:cNvPr id="16" name="라벨 박스"/>
          <p:cNvSpPr/>
          <p:nvPr/>
        </p:nvSpPr>
        <p:spPr>
          <a:xfrm>
            <a:off x="536870" y="1062783"/>
            <a:ext cx="6300000" cy="29034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547826" y="1073739"/>
            <a:ext cx="591652" cy="26843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3"/>
          </p:nvPr>
        </p:nvSpPr>
        <p:spPr>
          <a:xfrm>
            <a:off x="547826" y="1073739"/>
            <a:ext cx="591652" cy="268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9" name="본문"/>
          <p:cNvSpPr>
            <a:spLocks noGrp="1"/>
          </p:cNvSpPr>
          <p:nvPr>
            <p:ph type="body" sz="quarter" idx="24"/>
          </p:nvPr>
        </p:nvSpPr>
        <p:spPr>
          <a:xfrm>
            <a:off x="1172348" y="1079217"/>
            <a:ext cx="5631652" cy="25747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열린 소통·긍정 조직문화를 기반으로 상생 협력적 노사관계 문화 확산, 파트너십 강화 추진</a:t>
            </a:r>
          </a:p>
        </p:txBody>
      </p:sp>
      <p:sp>
        <p:nvSpPr>
          <p:cNvPr id="20" name="표 외곽"/>
          <p:cNvSpPr/>
          <p:nvPr/>
        </p:nvSpPr>
        <p:spPr>
          <a:xfrm>
            <a:off x="536870" y="1396957"/>
            <a:ext cx="6300000" cy="249417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1" name="레일"/>
          <p:cNvSpPr/>
          <p:nvPr/>
        </p:nvSpPr>
        <p:spPr>
          <a:xfrm>
            <a:off x="547826" y="1413391"/>
            <a:ext cx="580696" cy="60542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레일"/>
          <p:cNvSpPr>
            <a:spLocks noGrp="1"/>
          </p:cNvSpPr>
          <p:nvPr>
            <p:ph type="body" sz="quarter" idx="25"/>
          </p:nvPr>
        </p:nvSpPr>
        <p:spPr>
          <a:xfrm>
            <a:off x="547826" y="1413391"/>
            <a:ext cx="580696" cy="6054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공감대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형성</a:t>
            </a:r>
          </a:p>
        </p:txBody>
      </p:sp>
      <p:sp>
        <p:nvSpPr>
          <p:cNvPr id="23" name="머리칸"/>
          <p:cNvSpPr/>
          <p:nvPr/>
        </p:nvSpPr>
        <p:spPr>
          <a:xfrm>
            <a:off x="1161391" y="143530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4" name="머리칸"/>
          <p:cNvSpPr>
            <a:spLocks noGrp="1"/>
          </p:cNvSpPr>
          <p:nvPr>
            <p:ph type="body" sz="quarter" idx="26"/>
          </p:nvPr>
        </p:nvSpPr>
        <p:spPr>
          <a:xfrm>
            <a:off x="1161391" y="143530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 단</a:t>
            </a:r>
          </a:p>
        </p:txBody>
      </p:sp>
      <p:sp>
        <p:nvSpPr>
          <p:cNvPr id="25" name="머리칸"/>
          <p:cNvSpPr/>
          <p:nvPr/>
        </p:nvSpPr>
        <p:spPr>
          <a:xfrm>
            <a:off x="3985435" y="143530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6" name="머리칸"/>
          <p:cNvSpPr>
            <a:spLocks noGrp="1"/>
          </p:cNvSpPr>
          <p:nvPr>
            <p:ph type="body" sz="quarter" idx="27"/>
          </p:nvPr>
        </p:nvSpPr>
        <p:spPr>
          <a:xfrm>
            <a:off x="3985435" y="143530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노동조합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28"/>
          </p:nvPr>
        </p:nvSpPr>
        <p:spPr>
          <a:xfrm>
            <a:off x="1172348" y="1676348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공단 발전을 위해서는 노동조합을 동반자로 인식하고 협력 증대 필수적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9"/>
          </p:nvPr>
        </p:nvSpPr>
        <p:spPr>
          <a:xfrm>
            <a:off x="3996391" y="1676348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근로조건 개선을 위해서는 공단과의 파트너십 강화 필요</a:t>
            </a:r>
          </a:p>
        </p:txBody>
      </p:sp>
      <p:cxnSp>
        <p:nvCxnSpPr>
          <p:cNvPr id="29" name="Connector 19"/>
          <p:cNvCxnSpPr/>
          <p:nvPr/>
        </p:nvCxnSpPr>
        <p:spPr>
          <a:xfrm>
            <a:off x="3985435" y="1709217"/>
            <a:ext cx="0" cy="27125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0" name="레일"/>
          <p:cNvSpPr/>
          <p:nvPr/>
        </p:nvSpPr>
        <p:spPr>
          <a:xfrm>
            <a:off x="547826" y="2035252"/>
            <a:ext cx="580696" cy="816261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1" name="레일 태그"/>
          <p:cNvSpPr/>
          <p:nvPr/>
        </p:nvSpPr>
        <p:spPr>
          <a:xfrm>
            <a:off x="668144" y="2199600"/>
            <a:ext cx="340059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2" name="레일 태그"/>
          <p:cNvSpPr>
            <a:spLocks noGrp="1"/>
          </p:cNvSpPr>
          <p:nvPr>
            <p:ph type="body" sz="quarter" idx="30"/>
          </p:nvPr>
        </p:nvSpPr>
        <p:spPr>
          <a:xfrm>
            <a:off x="668144" y="2199600"/>
            <a:ext cx="340059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결실</a:t>
            </a:r>
          </a:p>
        </p:txBody>
      </p:sp>
      <p:sp>
        <p:nvSpPr>
          <p:cNvPr id="33" name="레일 라벨"/>
          <p:cNvSpPr>
            <a:spLocks noGrp="1"/>
          </p:cNvSpPr>
          <p:nvPr>
            <p:ph type="body" sz="quarter" idx="31"/>
          </p:nvPr>
        </p:nvSpPr>
        <p:spPr>
          <a:xfrm>
            <a:off x="547826" y="2385861"/>
            <a:ext cx="580696" cy="443739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상생협력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선언</a:t>
            </a:r>
          </a:p>
        </p:txBody>
      </p:sp>
      <p:sp>
        <p:nvSpPr>
          <p:cNvPr id="34" name="레일 삼각형"/>
          <p:cNvSpPr/>
          <p:nvPr/>
        </p:nvSpPr>
        <p:spPr>
          <a:xfrm>
            <a:off x="547826" y="2035252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5" name="머리칸"/>
          <p:cNvSpPr/>
          <p:nvPr/>
        </p:nvSpPr>
        <p:spPr>
          <a:xfrm>
            <a:off x="1161391" y="2057165"/>
            <a:ext cx="4519565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6" name="머리칸"/>
          <p:cNvSpPr>
            <a:spLocks noGrp="1"/>
          </p:cNvSpPr>
          <p:nvPr>
            <p:ph type="body" sz="quarter" idx="32"/>
          </p:nvPr>
        </p:nvSpPr>
        <p:spPr>
          <a:xfrm>
            <a:off x="1161391" y="2057165"/>
            <a:ext cx="4519565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 상생 협력 선언문('25.2월)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3"/>
          </p:nvPr>
        </p:nvSpPr>
        <p:spPr>
          <a:xfrm>
            <a:off x="1172348" y="2298209"/>
            <a:ext cx="4514087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 상생 협력 선포식 개최 및 공동 선언 실시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경영진·노조집행부 전원 참여, 사내방송 생중계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안전일터 조성·발전적 노사관계 정착 합의·선언</a:t>
            </a:r>
          </a:p>
        </p:txBody>
      </p:sp>
      <p:sp>
        <p:nvSpPr>
          <p:cNvPr id="38" name="사진 칸"/>
          <p:cNvSpPr/>
          <p:nvPr/>
        </p:nvSpPr>
        <p:spPr>
          <a:xfrm>
            <a:off x="5730261" y="2062643"/>
            <a:ext cx="1079217" cy="777913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39" name="사진 칸"/>
          <p:cNvSpPr>
            <a:spLocks noGrp="1"/>
          </p:cNvSpPr>
          <p:nvPr>
            <p:ph type="body" sz="quarter" idx="34"/>
          </p:nvPr>
        </p:nvSpPr>
        <p:spPr>
          <a:xfrm>
            <a:off x="5730261" y="2062643"/>
            <a:ext cx="1079217" cy="7779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 (선포식)</a:t>
            </a:r>
          </a:p>
        </p:txBody>
      </p:sp>
      <p:sp>
        <p:nvSpPr>
          <p:cNvPr id="40" name="레일"/>
          <p:cNvSpPr/>
          <p:nvPr/>
        </p:nvSpPr>
        <p:spPr>
          <a:xfrm>
            <a:off x="547826" y="2867948"/>
            <a:ext cx="580696" cy="1006748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1" name="레일 태그"/>
          <p:cNvSpPr/>
          <p:nvPr/>
        </p:nvSpPr>
        <p:spPr>
          <a:xfrm>
            <a:off x="668144" y="3032296"/>
            <a:ext cx="340059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2" name="레일 태그"/>
          <p:cNvSpPr>
            <a:spLocks noGrp="1"/>
          </p:cNvSpPr>
          <p:nvPr>
            <p:ph type="body" sz="quarter" idx="35"/>
          </p:nvPr>
        </p:nvSpPr>
        <p:spPr>
          <a:xfrm>
            <a:off x="668144" y="3032296"/>
            <a:ext cx="340059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확산</a:t>
            </a:r>
          </a:p>
        </p:txBody>
      </p:sp>
      <p:sp>
        <p:nvSpPr>
          <p:cNvPr id="43" name="레일 라벨"/>
          <p:cNvSpPr>
            <a:spLocks noGrp="1"/>
          </p:cNvSpPr>
          <p:nvPr>
            <p:ph type="body" sz="quarter" idx="36"/>
          </p:nvPr>
        </p:nvSpPr>
        <p:spPr>
          <a:xfrm>
            <a:off x="547826" y="3218557"/>
            <a:ext cx="580696" cy="634226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상생의 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운영</a:t>
            </a:r>
          </a:p>
        </p:txBody>
      </p:sp>
      <p:sp>
        <p:nvSpPr>
          <p:cNvPr id="44" name="레일 삼각형"/>
          <p:cNvSpPr/>
          <p:nvPr/>
        </p:nvSpPr>
        <p:spPr>
          <a:xfrm>
            <a:off x="547826" y="2867947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5" name="배너"/>
          <p:cNvSpPr/>
          <p:nvPr/>
        </p:nvSpPr>
        <p:spPr>
          <a:xfrm>
            <a:off x="1161391" y="2889861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6" name="배너"/>
          <p:cNvSpPr>
            <a:spLocks noGrp="1"/>
          </p:cNvSpPr>
          <p:nvPr>
            <p:ph type="body" sz="quarter" idx="37"/>
          </p:nvPr>
        </p:nvSpPr>
        <p:spPr>
          <a:xfrm>
            <a:off x="1161391" y="2889861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매년 11월, 노사 상생의 달 지정 및 운영(공공기관 중 최초)</a:t>
            </a:r>
          </a:p>
        </p:txBody>
      </p:sp>
      <p:sp>
        <p:nvSpPr>
          <p:cNvPr id="47" name="머리칸"/>
          <p:cNvSpPr/>
          <p:nvPr/>
        </p:nvSpPr>
        <p:spPr>
          <a:xfrm>
            <a:off x="1161391" y="312542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8" name="머리칸"/>
          <p:cNvSpPr>
            <a:spLocks noGrp="1"/>
          </p:cNvSpPr>
          <p:nvPr>
            <p:ph type="body" sz="quarter" idx="38"/>
          </p:nvPr>
        </p:nvSpPr>
        <p:spPr>
          <a:xfrm>
            <a:off x="1161391" y="312542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 화합 어울림 한마당</a:t>
            </a:r>
          </a:p>
        </p:txBody>
      </p:sp>
      <p:sp>
        <p:nvSpPr>
          <p:cNvPr id="49" name="머리칸"/>
          <p:cNvSpPr/>
          <p:nvPr/>
        </p:nvSpPr>
        <p:spPr>
          <a:xfrm>
            <a:off x="3044087" y="312542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0" name="머리칸"/>
          <p:cNvSpPr>
            <a:spLocks noGrp="1"/>
          </p:cNvSpPr>
          <p:nvPr>
            <p:ph type="body" sz="quarter" idx="39"/>
          </p:nvPr>
        </p:nvSpPr>
        <p:spPr>
          <a:xfrm>
            <a:off x="3044087" y="312542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 상생 표어 공모·선정</a:t>
            </a:r>
          </a:p>
        </p:txBody>
      </p:sp>
      <p:sp>
        <p:nvSpPr>
          <p:cNvPr id="51" name="머리칸"/>
          <p:cNvSpPr/>
          <p:nvPr/>
        </p:nvSpPr>
        <p:spPr>
          <a:xfrm>
            <a:off x="4926783" y="312542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2" name="머리칸"/>
          <p:cNvSpPr>
            <a:spLocks noGrp="1"/>
          </p:cNvSpPr>
          <p:nvPr>
            <p:ph type="body" sz="quarter" idx="40"/>
          </p:nvPr>
        </p:nvSpPr>
        <p:spPr>
          <a:xfrm>
            <a:off x="4926783" y="312542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분임협의회 BEST AWARD</a:t>
            </a:r>
          </a:p>
        </p:txBody>
      </p:sp>
      <p:sp>
        <p:nvSpPr>
          <p:cNvPr id="53" name="칸 본문"/>
          <p:cNvSpPr>
            <a:spLocks noGrp="1"/>
          </p:cNvSpPr>
          <p:nvPr>
            <p:ph type="body" sz="quarter" idx="41"/>
          </p:nvPr>
        </p:nvSpPr>
        <p:spPr>
          <a:xfrm>
            <a:off x="1172348" y="3366470"/>
            <a:ext cx="1860783" cy="5027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경영진·노조 156명 참석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화합과 소통의 장 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노사관계 특강 교육 운영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42"/>
          </p:nvPr>
        </p:nvSpPr>
        <p:spPr>
          <a:xfrm>
            <a:off x="3055043" y="3366470"/>
            <a:ext cx="1860783" cy="5027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화합·상생 표어 공모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61개 공모·우수작 3개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꼬리말·행사 슬로건 활용</a:t>
            </a:r>
          </a:p>
        </p:txBody>
      </p:sp>
      <p:cxnSp>
        <p:nvCxnSpPr>
          <p:cNvPr id="55" name="Connector 37"/>
          <p:cNvCxnSpPr/>
          <p:nvPr/>
        </p:nvCxnSpPr>
        <p:spPr>
          <a:xfrm>
            <a:off x="3044087" y="3399339"/>
            <a:ext cx="0" cy="4370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6" name="칸 본문"/>
          <p:cNvSpPr>
            <a:spLocks noGrp="1"/>
          </p:cNvSpPr>
          <p:nvPr>
            <p:ph type="body" sz="quarter" idx="43"/>
          </p:nvPr>
        </p:nvSpPr>
        <p:spPr>
          <a:xfrm>
            <a:off x="4937739" y="3366470"/>
            <a:ext cx="1860783" cy="5027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실적평가 우수조직 시상(4개)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이사장 표창·부상품 제공</a:t>
            </a:r>
          </a:p>
        </p:txBody>
      </p:sp>
      <p:cxnSp>
        <p:nvCxnSpPr>
          <p:cNvPr id="57" name="Connector 39"/>
          <p:cNvCxnSpPr/>
          <p:nvPr/>
        </p:nvCxnSpPr>
        <p:spPr>
          <a:xfrm>
            <a:off x="4926783" y="3399339"/>
            <a:ext cx="0" cy="4370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8" name="표 외곽"/>
          <p:cNvSpPr/>
          <p:nvPr/>
        </p:nvSpPr>
        <p:spPr>
          <a:xfrm>
            <a:off x="536870" y="3934957"/>
            <a:ext cx="6300000" cy="643774"/>
          </a:xfrm>
          <a:prstGeom prst="rect">
            <a:avLst/>
          </a:prstGeom>
          <a:solidFill>
            <a:srgbClr val="FFFFFF"/>
          </a:solidFill>
          <a:ln w="9525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9" name="레일"/>
          <p:cNvSpPr/>
          <p:nvPr/>
        </p:nvSpPr>
        <p:spPr>
          <a:xfrm>
            <a:off x="547826" y="3951391"/>
            <a:ext cx="580696" cy="610904"/>
          </a:xfrm>
          <a:prstGeom prst="rect">
            <a:avLst/>
          </a:prstGeom>
          <a:pattFill prst="trellis">
            <a:fgClr>
              <a:srgbClr val="00A4A8"/>
            </a:fgClr>
            <a:bgClr>
              <a:srgbClr val="008C6B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0" name="레일"/>
          <p:cNvSpPr>
            <a:spLocks noGrp="1"/>
          </p:cNvSpPr>
          <p:nvPr>
            <p:ph type="body" sz="quarter" idx="44"/>
          </p:nvPr>
        </p:nvSpPr>
        <p:spPr>
          <a:xfrm>
            <a:off x="547826" y="3951391"/>
            <a:ext cx="580696" cy="6109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61" name="머리칸"/>
          <p:cNvSpPr/>
          <p:nvPr/>
        </p:nvSpPr>
        <p:spPr>
          <a:xfrm>
            <a:off x="1161391" y="397330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62" name="머리칸"/>
          <p:cNvSpPr>
            <a:spLocks noGrp="1"/>
          </p:cNvSpPr>
          <p:nvPr>
            <p:ph type="body" sz="quarter" idx="45"/>
          </p:nvPr>
        </p:nvSpPr>
        <p:spPr>
          <a:xfrm>
            <a:off x="1161391" y="397330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노사관계 최우수 기관장 감사패</a:t>
            </a:r>
          </a:p>
        </p:txBody>
      </p:sp>
      <p:sp>
        <p:nvSpPr>
          <p:cNvPr id="63" name="머리칸"/>
          <p:cNvSpPr/>
          <p:nvPr/>
        </p:nvSpPr>
        <p:spPr>
          <a:xfrm>
            <a:off x="3985435" y="397330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64" name="머리칸"/>
          <p:cNvSpPr>
            <a:spLocks noGrp="1"/>
          </p:cNvSpPr>
          <p:nvPr>
            <p:ph type="body" sz="quarter" idx="46"/>
          </p:nvPr>
        </p:nvSpPr>
        <p:spPr>
          <a:xfrm>
            <a:off x="3985435" y="397330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이사장 명예 조합원 위촉</a:t>
            </a:r>
          </a:p>
        </p:txBody>
      </p:sp>
      <p:sp>
        <p:nvSpPr>
          <p:cNvPr id="65" name="칸 본문"/>
          <p:cNvSpPr>
            <a:spLocks noGrp="1"/>
          </p:cNvSpPr>
          <p:nvPr>
            <p:ph type="body" sz="quarter" idx="47"/>
          </p:nvPr>
        </p:nvSpPr>
        <p:spPr>
          <a:xfrm>
            <a:off x="1172348" y="4214348"/>
            <a:ext cx="2802130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공공안전기관 노조대표자협의회 주관 최우수 기관 선정·감사패('25.8월)</a:t>
            </a:r>
          </a:p>
        </p:txBody>
      </p:sp>
      <p:sp>
        <p:nvSpPr>
          <p:cNvPr id="66" name="칸 본문"/>
          <p:cNvSpPr>
            <a:spLocks noGrp="1"/>
          </p:cNvSpPr>
          <p:nvPr>
            <p:ph type="body" sz="quarter" idx="48"/>
          </p:nvPr>
        </p:nvSpPr>
        <p:spPr>
          <a:xfrm>
            <a:off x="3996391" y="4214348"/>
            <a:ext cx="2802130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노동조합 → 이사장 명예 조합원 위촉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재임 중 기관장 최초 위촉('25.11월)</a:t>
            </a:r>
          </a:p>
        </p:txBody>
      </p:sp>
      <p:cxnSp>
        <p:nvCxnSpPr>
          <p:cNvPr id="67" name="Connector 46"/>
          <p:cNvCxnSpPr/>
          <p:nvPr/>
        </p:nvCxnSpPr>
        <p:spPr>
          <a:xfrm>
            <a:off x="3985435" y="4247217"/>
            <a:ext cx="0" cy="2767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8" name="핵심성과 박스"/>
          <p:cNvSpPr/>
          <p:nvPr/>
        </p:nvSpPr>
        <p:spPr>
          <a:xfrm>
            <a:off x="536870" y="4666383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9" name="핵심성과 라벨"/>
          <p:cNvSpPr/>
          <p:nvPr/>
        </p:nvSpPr>
        <p:spPr>
          <a:xfrm>
            <a:off x="569739" y="4704730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70" name="핵심성과 라벨"/>
          <p:cNvSpPr>
            <a:spLocks noGrp="1"/>
          </p:cNvSpPr>
          <p:nvPr>
            <p:ph type="body" sz="quarter" idx="49"/>
          </p:nvPr>
        </p:nvSpPr>
        <p:spPr>
          <a:xfrm>
            <a:off x="569739" y="4704730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핵심성과</a:t>
            </a:r>
          </a:p>
        </p:txBody>
      </p:sp>
      <p:sp>
        <p:nvSpPr>
          <p:cNvPr id="71" name="핵심성과 문구"/>
          <p:cNvSpPr>
            <a:spLocks noGrp="1"/>
          </p:cNvSpPr>
          <p:nvPr>
            <p:ph type="body" sz="quarter" idx="50"/>
          </p:nvPr>
        </p:nvSpPr>
        <p:spPr>
          <a:xfrm>
            <a:off x="1314783" y="4682817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노사소통지수 전년대비 1.6점 상승(89.3 → 90.9점)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0 서사 · 교육체계 비전·환경·방향 → 실적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교육체계 수립과 내·외부 역량 활용</a:t>
            </a:r>
          </a:p>
        </p:txBody>
      </p:sp>
      <p:sp>
        <p:nvSpPr>
          <p:cNvPr id="14" name="형광 밑줄"/>
          <p:cNvSpPr/>
          <p:nvPr/>
        </p:nvSpPr>
        <p:spPr>
          <a:xfrm>
            <a:off x="723130" y="1358609"/>
            <a:ext cx="3203864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소제목"/>
          <p:cNvSpPr>
            <a:spLocks noGrp="1"/>
          </p:cNvSpPr>
          <p:nvPr>
            <p:ph type="body" sz="quarter" idx="22"/>
          </p:nvPr>
        </p:nvSpPr>
        <p:spPr>
          <a:xfrm>
            <a:off x="723130" y="120521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노사 현안별 전문성을 추구하는 노무 역량 교육체계</a:t>
            </a:r>
          </a:p>
        </p:txBody>
      </p:sp>
      <p:sp>
        <p:nvSpPr>
          <p:cNvPr id="16" name="태그칩"/>
          <p:cNvSpPr/>
          <p:nvPr/>
        </p:nvSpPr>
        <p:spPr>
          <a:xfrm>
            <a:off x="4025603" y="1238087"/>
            <a:ext cx="351016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칩"/>
          <p:cNvSpPr>
            <a:spLocks noGrp="1"/>
          </p:cNvSpPr>
          <p:nvPr>
            <p:ph type="body" sz="quarter" idx="23"/>
          </p:nvPr>
        </p:nvSpPr>
        <p:spPr>
          <a:xfrm>
            <a:off x="4025603" y="1238087"/>
            <a:ext cx="35101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강화</a:t>
            </a:r>
          </a:p>
        </p:txBody>
      </p:sp>
      <p:sp>
        <p:nvSpPr>
          <p:cNvPr id="18" name="라벨 박스"/>
          <p:cNvSpPr/>
          <p:nvPr/>
        </p:nvSpPr>
        <p:spPr>
          <a:xfrm>
            <a:off x="723130" y="1501043"/>
            <a:ext cx="6300000" cy="29034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레일"/>
          <p:cNvSpPr/>
          <p:nvPr/>
        </p:nvSpPr>
        <p:spPr>
          <a:xfrm>
            <a:off x="734087" y="1512000"/>
            <a:ext cx="591652" cy="26843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4"/>
          </p:nvPr>
        </p:nvSpPr>
        <p:spPr>
          <a:xfrm>
            <a:off x="734087" y="1512000"/>
            <a:ext cx="591652" cy="268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HRD 비전</a:t>
            </a:r>
          </a:p>
        </p:txBody>
      </p:sp>
      <p:sp>
        <p:nvSpPr>
          <p:cNvPr id="21" name="가운데 글"/>
          <p:cNvSpPr>
            <a:spLocks noGrp="1"/>
          </p:cNvSpPr>
          <p:nvPr>
            <p:ph type="body" sz="quarter" idx="25"/>
          </p:nvPr>
        </p:nvSpPr>
        <p:spPr>
          <a:xfrm>
            <a:off x="1358609" y="1517478"/>
            <a:ext cx="5631652" cy="25747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안전과 행복을 위한 조직 역량 강화와 인권존중의 조직문화 조성</a:t>
            </a:r>
          </a:p>
        </p:txBody>
      </p:sp>
      <p:sp>
        <p:nvSpPr>
          <p:cNvPr id="22" name="라벨 박스"/>
          <p:cNvSpPr/>
          <p:nvPr/>
        </p:nvSpPr>
        <p:spPr>
          <a:xfrm>
            <a:off x="723130" y="1846174"/>
            <a:ext cx="6300000" cy="649252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3" name="레일"/>
          <p:cNvSpPr/>
          <p:nvPr/>
        </p:nvSpPr>
        <p:spPr>
          <a:xfrm>
            <a:off x="734087" y="1857130"/>
            <a:ext cx="591652" cy="627339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4" name="레일"/>
          <p:cNvSpPr>
            <a:spLocks noGrp="1"/>
          </p:cNvSpPr>
          <p:nvPr>
            <p:ph type="body" sz="quarter" idx="26"/>
          </p:nvPr>
        </p:nvSpPr>
        <p:spPr>
          <a:xfrm>
            <a:off x="734087" y="1857130"/>
            <a:ext cx="591652" cy="6273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환경분석</a:t>
            </a:r>
          </a:p>
        </p:txBody>
      </p:sp>
      <p:sp>
        <p:nvSpPr>
          <p:cNvPr id="25" name="머리칸"/>
          <p:cNvSpPr/>
          <p:nvPr/>
        </p:nvSpPr>
        <p:spPr>
          <a:xfrm>
            <a:off x="1358609" y="1873565"/>
            <a:ext cx="279939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6" name="머리칸"/>
          <p:cNvSpPr>
            <a:spLocks noGrp="1"/>
          </p:cNvSpPr>
          <p:nvPr>
            <p:ph type="body" sz="quarter" idx="27"/>
          </p:nvPr>
        </p:nvSpPr>
        <p:spPr>
          <a:xfrm>
            <a:off x="1358609" y="1873565"/>
            <a:ext cx="279939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외부환경</a:t>
            </a:r>
          </a:p>
        </p:txBody>
      </p:sp>
      <p:sp>
        <p:nvSpPr>
          <p:cNvPr id="27" name="머리칸"/>
          <p:cNvSpPr/>
          <p:nvPr/>
        </p:nvSpPr>
        <p:spPr>
          <a:xfrm>
            <a:off x="4174435" y="1873565"/>
            <a:ext cx="279939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8" name="머리칸"/>
          <p:cNvSpPr>
            <a:spLocks noGrp="1"/>
          </p:cNvSpPr>
          <p:nvPr>
            <p:ph type="body" sz="quarter" idx="28"/>
          </p:nvPr>
        </p:nvSpPr>
        <p:spPr>
          <a:xfrm>
            <a:off x="4174435" y="1873565"/>
            <a:ext cx="279939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내부환경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1369565" y="2114609"/>
            <a:ext cx="2793913" cy="3643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「노동조합법」 개정 등 정책 변경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안전보건체계 강화 요구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0"/>
          </p:nvPr>
        </p:nvSpPr>
        <p:spPr>
          <a:xfrm>
            <a:off x="4185391" y="2114609"/>
            <a:ext cx="2793913" cy="3643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현안별 전문 인력 양성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단체협약 만료 도래에 따른 교육 확대</a:t>
            </a:r>
          </a:p>
        </p:txBody>
      </p:sp>
      <p:cxnSp>
        <p:nvCxnSpPr>
          <p:cNvPr id="31" name="Connector 20"/>
          <p:cNvCxnSpPr/>
          <p:nvPr/>
        </p:nvCxnSpPr>
        <p:spPr>
          <a:xfrm>
            <a:off x="4174435" y="2147478"/>
            <a:ext cx="0" cy="29864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2" name="라벨 박스"/>
          <p:cNvSpPr/>
          <p:nvPr/>
        </p:nvSpPr>
        <p:spPr>
          <a:xfrm>
            <a:off x="723130" y="2550209"/>
            <a:ext cx="6300000" cy="29034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3" name="레일"/>
          <p:cNvSpPr/>
          <p:nvPr/>
        </p:nvSpPr>
        <p:spPr>
          <a:xfrm>
            <a:off x="734087" y="2561165"/>
            <a:ext cx="591652" cy="26843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4" name="레일"/>
          <p:cNvSpPr>
            <a:spLocks noGrp="1"/>
          </p:cNvSpPr>
          <p:nvPr>
            <p:ph type="body" sz="quarter" idx="31"/>
          </p:nvPr>
        </p:nvSpPr>
        <p:spPr>
          <a:xfrm>
            <a:off x="734087" y="2561165"/>
            <a:ext cx="591652" cy="268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 목표</a:t>
            </a:r>
          </a:p>
        </p:txBody>
      </p:sp>
      <p:sp>
        <p:nvSpPr>
          <p:cNvPr id="35" name="강조 바"/>
          <p:cNvSpPr/>
          <p:nvPr/>
        </p:nvSpPr>
        <p:spPr>
          <a:xfrm>
            <a:off x="1358609" y="2583078"/>
            <a:ext cx="5631652" cy="224609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6" name="강조 바 글"/>
          <p:cNvSpPr>
            <a:spLocks noGrp="1"/>
          </p:cNvSpPr>
          <p:nvPr>
            <p:ph type="body" sz="quarter" idx="32"/>
          </p:nvPr>
        </p:nvSpPr>
        <p:spPr>
          <a:xfrm>
            <a:off x="1358609" y="2583078"/>
            <a:ext cx="5631652" cy="224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변화하는 노사 정책과 제도에 유연하게 대응할 수 있는 역량 구비·강화</a:t>
            </a:r>
          </a:p>
        </p:txBody>
      </p:sp>
      <p:sp>
        <p:nvSpPr>
          <p:cNvPr id="37" name="라벨 박스"/>
          <p:cNvSpPr/>
          <p:nvPr/>
        </p:nvSpPr>
        <p:spPr>
          <a:xfrm>
            <a:off x="723130" y="2895339"/>
            <a:ext cx="6300000" cy="64377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8" name="레일"/>
          <p:cNvSpPr/>
          <p:nvPr/>
        </p:nvSpPr>
        <p:spPr>
          <a:xfrm>
            <a:off x="734087" y="2906296"/>
            <a:ext cx="591652" cy="621861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9" name="레일"/>
          <p:cNvSpPr>
            <a:spLocks noGrp="1"/>
          </p:cNvSpPr>
          <p:nvPr>
            <p:ph type="body" sz="quarter" idx="33"/>
          </p:nvPr>
        </p:nvSpPr>
        <p:spPr>
          <a:xfrm>
            <a:off x="734087" y="2906296"/>
            <a:ext cx="591652" cy="6218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운영방향</a:t>
            </a:r>
          </a:p>
        </p:txBody>
      </p:sp>
      <p:sp>
        <p:nvSpPr>
          <p:cNvPr id="40" name="머리칸"/>
          <p:cNvSpPr/>
          <p:nvPr/>
        </p:nvSpPr>
        <p:spPr>
          <a:xfrm>
            <a:off x="1358609" y="2922730"/>
            <a:ext cx="186078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1" name="머리칸"/>
          <p:cNvSpPr>
            <a:spLocks noGrp="1"/>
          </p:cNvSpPr>
          <p:nvPr>
            <p:ph type="body" sz="quarter" idx="34"/>
          </p:nvPr>
        </p:nvSpPr>
        <p:spPr>
          <a:xfrm>
            <a:off x="1358609" y="2922730"/>
            <a:ext cx="186078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대상별 맞춤형 교육</a:t>
            </a:r>
          </a:p>
        </p:txBody>
      </p:sp>
      <p:sp>
        <p:nvSpPr>
          <p:cNvPr id="42" name="머리칸"/>
          <p:cNvSpPr/>
          <p:nvPr/>
        </p:nvSpPr>
        <p:spPr>
          <a:xfrm>
            <a:off x="3235826" y="2922730"/>
            <a:ext cx="186078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3" name="머리칸"/>
          <p:cNvSpPr>
            <a:spLocks noGrp="1"/>
          </p:cNvSpPr>
          <p:nvPr>
            <p:ph type="body" sz="quarter" idx="35"/>
          </p:nvPr>
        </p:nvSpPr>
        <p:spPr>
          <a:xfrm>
            <a:off x="3235826" y="2922730"/>
            <a:ext cx="186078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기본역량 교육</a:t>
            </a:r>
          </a:p>
        </p:txBody>
      </p:sp>
      <p:sp>
        <p:nvSpPr>
          <p:cNvPr id="44" name="머리칸"/>
          <p:cNvSpPr/>
          <p:nvPr/>
        </p:nvSpPr>
        <p:spPr>
          <a:xfrm>
            <a:off x="5113043" y="2922730"/>
            <a:ext cx="186078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5" name="머리칸"/>
          <p:cNvSpPr>
            <a:spLocks noGrp="1"/>
          </p:cNvSpPr>
          <p:nvPr>
            <p:ph type="body" sz="quarter" idx="36"/>
          </p:nvPr>
        </p:nvSpPr>
        <p:spPr>
          <a:xfrm>
            <a:off x="5113043" y="2922730"/>
            <a:ext cx="186078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전문성 촉진 교육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37"/>
          </p:nvPr>
        </p:nvSpPr>
        <p:spPr>
          <a:xfrm>
            <a:off x="1369565" y="3163774"/>
            <a:ext cx="1855304" cy="3589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관리자·신입직원·노사실무자 맞춤형 교육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38"/>
          </p:nvPr>
        </p:nvSpPr>
        <p:spPr>
          <a:xfrm>
            <a:off x="3246783" y="3163774"/>
            <a:ext cx="1855304" cy="3589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 직원 대상 노사관계 기본역량·단체협약 교육</a:t>
            </a:r>
          </a:p>
        </p:txBody>
      </p:sp>
      <p:cxnSp>
        <p:nvCxnSpPr>
          <p:cNvPr id="48" name="Connector 32"/>
          <p:cNvCxnSpPr/>
          <p:nvPr/>
        </p:nvCxnSpPr>
        <p:spPr>
          <a:xfrm>
            <a:off x="3235826" y="3196643"/>
            <a:ext cx="0" cy="29316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9" name="칸 본문"/>
          <p:cNvSpPr>
            <a:spLocks noGrp="1"/>
          </p:cNvSpPr>
          <p:nvPr>
            <p:ph type="body" sz="quarter" idx="39"/>
          </p:nvPr>
        </p:nvSpPr>
        <p:spPr>
          <a:xfrm>
            <a:off x="5124000" y="3163774"/>
            <a:ext cx="1855304" cy="3589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안전보건·보수 등 노사접점 실무자 전문화 교육</a:t>
            </a:r>
          </a:p>
        </p:txBody>
      </p:sp>
      <p:cxnSp>
        <p:nvCxnSpPr>
          <p:cNvPr id="50" name="Connector 34"/>
          <p:cNvCxnSpPr/>
          <p:nvPr/>
        </p:nvCxnSpPr>
        <p:spPr>
          <a:xfrm>
            <a:off x="5113043" y="3196643"/>
            <a:ext cx="0" cy="29316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1" name="삼각 화살표"/>
          <p:cNvSpPr/>
          <p:nvPr/>
        </p:nvSpPr>
        <p:spPr>
          <a:xfrm>
            <a:off x="4010086" y="3582939"/>
            <a:ext cx="350609" cy="142434"/>
          </a:xfrm>
          <a:custGeom>
            <a:avLst/>
            <a:gdLst/>
            <a:ahLst/>
            <a:cxnLst/>
            <a:rect l="l" t="t" r="r" b="b"/>
            <a:pathLst>
              <a:path w="350609" h="142434">
                <a:moveTo>
                  <a:pt x="0" y="0"/>
                </a:moveTo>
                <a:lnTo>
                  <a:pt x="350609" y="0"/>
                </a:lnTo>
                <a:lnTo>
                  <a:pt x="175305" y="142434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1 서사 · 협의체 참여 · 외부역량 활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2773571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협의체 참여와 외부역량 활용으로 현안 대응</a:t>
            </a:r>
          </a:p>
        </p:txBody>
      </p:sp>
      <p:sp>
        <p:nvSpPr>
          <p:cNvPr id="12" name="태그칩"/>
          <p:cNvSpPr/>
          <p:nvPr/>
        </p:nvSpPr>
        <p:spPr>
          <a:xfrm>
            <a:off x="3409049" y="799826"/>
            <a:ext cx="606399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3409049" y="799826"/>
            <a:ext cx="60639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지적·개선</a:t>
            </a:r>
          </a:p>
        </p:txBody>
      </p:sp>
      <p:sp>
        <p:nvSpPr>
          <p:cNvPr id="14" name="표 외곽"/>
          <p:cNvSpPr/>
          <p:nvPr/>
        </p:nvSpPr>
        <p:spPr>
          <a:xfrm>
            <a:off x="536870" y="1051826"/>
            <a:ext cx="6300000" cy="221337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547826" y="1068261"/>
            <a:ext cx="580696" cy="108203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068261"/>
            <a:ext cx="580696" cy="10820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협의체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참여</a:t>
            </a:r>
          </a:p>
        </p:txBody>
      </p:sp>
      <p:sp>
        <p:nvSpPr>
          <p:cNvPr id="17" name="배너"/>
          <p:cNvSpPr/>
          <p:nvPr/>
        </p:nvSpPr>
        <p:spPr>
          <a:xfrm>
            <a:off x="1161391" y="1090174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18" name="배너"/>
          <p:cNvSpPr>
            <a:spLocks noGrp="1"/>
          </p:cNvSpPr>
          <p:nvPr>
            <p:ph type="body" sz="quarter" idx="23"/>
          </p:nvPr>
        </p:nvSpPr>
        <p:spPr>
          <a:xfrm>
            <a:off x="1161391" y="1090174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타 기관 협의체 참여·공유·학습으로 노사 현안 전문성 강화 및 개선점 모색</a:t>
            </a:r>
          </a:p>
        </p:txBody>
      </p:sp>
      <p:sp>
        <p:nvSpPr>
          <p:cNvPr id="19" name="머리칸"/>
          <p:cNvSpPr/>
          <p:nvPr/>
        </p:nvSpPr>
        <p:spPr>
          <a:xfrm>
            <a:off x="1161391" y="1325739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0" name="머리칸"/>
          <p:cNvSpPr>
            <a:spLocks noGrp="1"/>
          </p:cNvSpPr>
          <p:nvPr>
            <p:ph type="body" sz="quarter" idx="24"/>
          </p:nvPr>
        </p:nvSpPr>
        <p:spPr>
          <a:xfrm>
            <a:off x="1161391" y="1325739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안전보건</a:t>
            </a:r>
          </a:p>
        </p:txBody>
      </p:sp>
      <p:sp>
        <p:nvSpPr>
          <p:cNvPr id="21" name="머리칸"/>
          <p:cNvSpPr/>
          <p:nvPr/>
        </p:nvSpPr>
        <p:spPr>
          <a:xfrm>
            <a:off x="3044087" y="1325739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2" name="머리칸"/>
          <p:cNvSpPr>
            <a:spLocks noGrp="1"/>
          </p:cNvSpPr>
          <p:nvPr>
            <p:ph type="body" sz="quarter" idx="25"/>
          </p:nvPr>
        </p:nvSpPr>
        <p:spPr>
          <a:xfrm>
            <a:off x="3044087" y="1325739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복리후생</a:t>
            </a:r>
          </a:p>
        </p:txBody>
      </p:sp>
      <p:sp>
        <p:nvSpPr>
          <p:cNvPr id="23" name="머리칸"/>
          <p:cNvSpPr/>
          <p:nvPr/>
        </p:nvSpPr>
        <p:spPr>
          <a:xfrm>
            <a:off x="4926783" y="1325739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4" name="머리칸"/>
          <p:cNvSpPr>
            <a:spLocks noGrp="1"/>
          </p:cNvSpPr>
          <p:nvPr>
            <p:ph type="body" sz="quarter" idx="26"/>
          </p:nvPr>
        </p:nvSpPr>
        <p:spPr>
          <a:xfrm>
            <a:off x="4926783" y="1325739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복무제도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1172348" y="1566783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안전협의체(3회·9개)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재난관리협의체(1회·4개)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8"/>
          </p:nvPr>
        </p:nvSpPr>
        <p:spPr>
          <a:xfrm>
            <a:off x="3055043" y="1566783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교차점검단(3회·5개)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상생컨설팅(3회·3개)</a:t>
            </a:r>
          </a:p>
        </p:txBody>
      </p:sp>
      <p:cxnSp>
        <p:nvCxnSpPr>
          <p:cNvPr id="27" name="Connector 17"/>
          <p:cNvCxnSpPr/>
          <p:nvPr/>
        </p:nvCxnSpPr>
        <p:spPr>
          <a:xfrm>
            <a:off x="3044087" y="1599652"/>
            <a:ext cx="0" cy="2767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8" name="칸 본문"/>
          <p:cNvSpPr>
            <a:spLocks noGrp="1"/>
          </p:cNvSpPr>
          <p:nvPr>
            <p:ph type="body" sz="quarter" idx="29"/>
          </p:nvPr>
        </p:nvSpPr>
        <p:spPr>
          <a:xfrm>
            <a:off x="4937739" y="1566783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일·가정양립(4회·4개)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상생컨설팅(2회·3개)</a:t>
            </a:r>
          </a:p>
        </p:txBody>
      </p:sp>
      <p:cxnSp>
        <p:nvCxnSpPr>
          <p:cNvPr id="29" name="Connector 19"/>
          <p:cNvCxnSpPr/>
          <p:nvPr/>
        </p:nvCxnSpPr>
        <p:spPr>
          <a:xfrm>
            <a:off x="4926783" y="1599652"/>
            <a:ext cx="0" cy="2767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0" name="태그"/>
          <p:cNvSpPr/>
          <p:nvPr/>
        </p:nvSpPr>
        <p:spPr>
          <a:xfrm>
            <a:off x="1161391" y="1947600"/>
            <a:ext cx="581509" cy="17530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1" name="태그"/>
          <p:cNvSpPr>
            <a:spLocks noGrp="1"/>
          </p:cNvSpPr>
          <p:nvPr>
            <p:ph type="body" sz="quarter" idx="30"/>
          </p:nvPr>
        </p:nvSpPr>
        <p:spPr>
          <a:xfrm>
            <a:off x="1161391" y="1947600"/>
            <a:ext cx="58150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주요내용</a:t>
            </a:r>
          </a:p>
        </p:txBody>
      </p:sp>
      <p:sp>
        <p:nvSpPr>
          <p:cNvPr id="32" name="태그 설명"/>
          <p:cNvSpPr>
            <a:spLocks noGrp="1"/>
          </p:cNvSpPr>
          <p:nvPr>
            <p:ph type="body" sz="quarter" idx="31"/>
          </p:nvPr>
        </p:nvSpPr>
        <p:spPr>
          <a:xfrm>
            <a:off x="1786727" y="1936643"/>
            <a:ext cx="502275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건강 프로그램 교류, 재난 대응 매뉴얼 공유·발표, 복리후생제도 교차점검 등</a:t>
            </a:r>
          </a:p>
        </p:txBody>
      </p:sp>
      <p:sp>
        <p:nvSpPr>
          <p:cNvPr id="33" name="레일"/>
          <p:cNvSpPr/>
          <p:nvPr/>
        </p:nvSpPr>
        <p:spPr>
          <a:xfrm>
            <a:off x="547826" y="2166730"/>
            <a:ext cx="580696" cy="1082035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4" name="레일"/>
          <p:cNvSpPr>
            <a:spLocks noGrp="1"/>
          </p:cNvSpPr>
          <p:nvPr>
            <p:ph type="body" sz="quarter" idx="32"/>
          </p:nvPr>
        </p:nvSpPr>
        <p:spPr>
          <a:xfrm>
            <a:off x="547826" y="2166730"/>
            <a:ext cx="580696" cy="10820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외부역량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활용</a:t>
            </a:r>
          </a:p>
        </p:txBody>
      </p:sp>
      <p:sp>
        <p:nvSpPr>
          <p:cNvPr id="35" name="레일 삼각형"/>
          <p:cNvSpPr/>
          <p:nvPr/>
        </p:nvSpPr>
        <p:spPr>
          <a:xfrm>
            <a:off x="547826" y="2166730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6" name="배너"/>
          <p:cNvSpPr/>
          <p:nvPr/>
        </p:nvSpPr>
        <p:spPr>
          <a:xfrm>
            <a:off x="1161391" y="2188643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7" name="배너"/>
          <p:cNvSpPr>
            <a:spLocks noGrp="1"/>
          </p:cNvSpPr>
          <p:nvPr>
            <p:ph type="body" sz="quarter" idx="33"/>
          </p:nvPr>
        </p:nvSpPr>
        <p:spPr>
          <a:xfrm>
            <a:off x="1161391" y="2188643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외부 전문 역량을 적극 활용하여 공단의 노사 현안에 신속 대응 및 전문성 구비</a:t>
            </a:r>
          </a:p>
        </p:txBody>
      </p:sp>
      <p:sp>
        <p:nvSpPr>
          <p:cNvPr id="38" name="머리칸"/>
          <p:cNvSpPr/>
          <p:nvPr/>
        </p:nvSpPr>
        <p:spPr>
          <a:xfrm>
            <a:off x="1161391" y="2424209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9" name="머리칸"/>
          <p:cNvSpPr>
            <a:spLocks noGrp="1"/>
          </p:cNvSpPr>
          <p:nvPr>
            <p:ph type="body" sz="quarter" idx="34"/>
          </p:nvPr>
        </p:nvSpPr>
        <p:spPr>
          <a:xfrm>
            <a:off x="1161391" y="2424209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노무 전문가 자문</a:t>
            </a:r>
          </a:p>
        </p:txBody>
      </p:sp>
      <p:sp>
        <p:nvSpPr>
          <p:cNvPr id="40" name="머리칸"/>
          <p:cNvSpPr/>
          <p:nvPr/>
        </p:nvSpPr>
        <p:spPr>
          <a:xfrm>
            <a:off x="3985435" y="2424209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1" name="머리칸"/>
          <p:cNvSpPr>
            <a:spLocks noGrp="1"/>
          </p:cNvSpPr>
          <p:nvPr>
            <p:ph type="body" sz="quarter" idx="35"/>
          </p:nvPr>
        </p:nvSpPr>
        <p:spPr>
          <a:xfrm>
            <a:off x="3985435" y="2424209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온라인 자원 활용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36"/>
          </p:nvPr>
        </p:nvSpPr>
        <p:spPr>
          <a:xfrm>
            <a:off x="1172348" y="2665252"/>
            <a:ext cx="2802130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공단 전담 노무법인 계약 및 전담 노무사 배치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주요 이슈 대응 및 제도 적법성 자문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37"/>
          </p:nvPr>
        </p:nvSpPr>
        <p:spPr>
          <a:xfrm>
            <a:off x="3996391" y="2665252"/>
            <a:ext cx="2802130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현안 신속 대응과 정보 수집을 위한 온라인 노무포털(E-Labor) 적극 활용</a:t>
            </a:r>
          </a:p>
        </p:txBody>
      </p:sp>
      <p:cxnSp>
        <p:nvCxnSpPr>
          <p:cNvPr id="44" name="Connector 29"/>
          <p:cNvCxnSpPr/>
          <p:nvPr/>
        </p:nvCxnSpPr>
        <p:spPr>
          <a:xfrm>
            <a:off x="3985435" y="2698122"/>
            <a:ext cx="0" cy="2767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5" name="태그"/>
          <p:cNvSpPr/>
          <p:nvPr/>
        </p:nvSpPr>
        <p:spPr>
          <a:xfrm>
            <a:off x="1161391" y="3046070"/>
            <a:ext cx="581509" cy="17530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6" name="태그"/>
          <p:cNvSpPr>
            <a:spLocks noGrp="1"/>
          </p:cNvSpPr>
          <p:nvPr>
            <p:ph type="body" sz="quarter" idx="38"/>
          </p:nvPr>
        </p:nvSpPr>
        <p:spPr>
          <a:xfrm>
            <a:off x="1161391" y="3046070"/>
            <a:ext cx="58150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활용사례</a:t>
            </a:r>
          </a:p>
        </p:txBody>
      </p:sp>
      <p:sp>
        <p:nvSpPr>
          <p:cNvPr id="47" name="태그 설명"/>
          <p:cNvSpPr>
            <a:spLocks noGrp="1"/>
          </p:cNvSpPr>
          <p:nvPr>
            <p:ph type="body" sz="quarter" idx="39"/>
          </p:nvPr>
        </p:nvSpPr>
        <p:spPr>
          <a:xfrm>
            <a:off x="1786727" y="3035113"/>
            <a:ext cx="502275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단체협약, 복리후생제도 운영 적법성 · 감시단속적 근무 해제, 육아지원 3법 등</a:t>
            </a:r>
          </a:p>
        </p:txBody>
      </p:sp>
      <p:sp>
        <p:nvSpPr>
          <p:cNvPr id="48" name="핵심성과 박스"/>
          <p:cNvSpPr/>
          <p:nvPr/>
        </p:nvSpPr>
        <p:spPr>
          <a:xfrm>
            <a:off x="536870" y="3352852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9" name="핵심성과 라벨"/>
          <p:cNvSpPr/>
          <p:nvPr/>
        </p:nvSpPr>
        <p:spPr>
          <a:xfrm>
            <a:off x="569739" y="3391200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50" name="핵심성과 라벨"/>
          <p:cNvSpPr>
            <a:spLocks noGrp="1"/>
          </p:cNvSpPr>
          <p:nvPr>
            <p:ph type="body" sz="quarter" idx="40"/>
          </p:nvPr>
        </p:nvSpPr>
        <p:spPr>
          <a:xfrm>
            <a:off x="569739" y="3391200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핵심성과</a:t>
            </a:r>
          </a:p>
        </p:txBody>
      </p:sp>
      <p:sp>
        <p:nvSpPr>
          <p:cNvPr id="51" name="핵심성과 문구"/>
          <p:cNvSpPr>
            <a:spLocks noGrp="1"/>
          </p:cNvSpPr>
          <p:nvPr>
            <p:ph type="body" sz="quarter" idx="41"/>
          </p:nvPr>
        </p:nvSpPr>
        <p:spPr>
          <a:xfrm>
            <a:off x="1314783" y="3369287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노사역량지수 전년대비 0.8점 상승(90.1 → 90.9점)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2 서사 · 환경 → 이해관계 → 의견조율 → 협약체결(인라인 표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무분규 임금·단체협약을 통한 근로조건의 실질적 향상</a:t>
            </a:r>
          </a:p>
        </p:txBody>
      </p:sp>
      <p:sp>
        <p:nvSpPr>
          <p:cNvPr id="14" name="형광 밑줄"/>
          <p:cNvSpPr/>
          <p:nvPr/>
        </p:nvSpPr>
        <p:spPr>
          <a:xfrm>
            <a:off x="723130" y="1358609"/>
            <a:ext cx="3487845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소제목"/>
          <p:cNvSpPr>
            <a:spLocks noGrp="1"/>
          </p:cNvSpPr>
          <p:nvPr>
            <p:ph type="body" sz="quarter" idx="22"/>
          </p:nvPr>
        </p:nvSpPr>
        <p:spPr>
          <a:xfrm>
            <a:off x="723130" y="120521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갈등 있을 땐 소통으로! 15년 연속 무분규 임금협약 체결</a:t>
            </a:r>
          </a:p>
        </p:txBody>
      </p:sp>
      <p:sp>
        <p:nvSpPr>
          <p:cNvPr id="16" name="태그칩"/>
          <p:cNvSpPr/>
          <p:nvPr/>
        </p:nvSpPr>
        <p:spPr>
          <a:xfrm>
            <a:off x="4309585" y="1238087"/>
            <a:ext cx="351016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칩"/>
          <p:cNvSpPr>
            <a:spLocks noGrp="1"/>
          </p:cNvSpPr>
          <p:nvPr>
            <p:ph type="body" sz="quarter" idx="23"/>
          </p:nvPr>
        </p:nvSpPr>
        <p:spPr>
          <a:xfrm>
            <a:off x="4309585" y="1238087"/>
            <a:ext cx="35101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강화</a:t>
            </a:r>
          </a:p>
        </p:txBody>
      </p:sp>
      <p:sp>
        <p:nvSpPr>
          <p:cNvPr id="18" name="표 외곽"/>
          <p:cNvSpPr/>
          <p:nvPr/>
        </p:nvSpPr>
        <p:spPr>
          <a:xfrm>
            <a:off x="723130" y="1490087"/>
            <a:ext cx="6300000" cy="64377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레일"/>
          <p:cNvSpPr/>
          <p:nvPr/>
        </p:nvSpPr>
        <p:spPr>
          <a:xfrm>
            <a:off x="734087" y="1506522"/>
            <a:ext cx="580696" cy="610904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4"/>
          </p:nvPr>
        </p:nvSpPr>
        <p:spPr>
          <a:xfrm>
            <a:off x="734087" y="1506522"/>
            <a:ext cx="580696" cy="6109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환경분석</a:t>
            </a:r>
          </a:p>
        </p:txBody>
      </p:sp>
      <p:sp>
        <p:nvSpPr>
          <p:cNvPr id="21" name="머리칸"/>
          <p:cNvSpPr/>
          <p:nvPr/>
        </p:nvSpPr>
        <p:spPr>
          <a:xfrm>
            <a:off x="1347652" y="1528435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2" name="머리칸"/>
          <p:cNvSpPr>
            <a:spLocks noGrp="1"/>
          </p:cNvSpPr>
          <p:nvPr>
            <p:ph type="body" sz="quarter" idx="25"/>
          </p:nvPr>
        </p:nvSpPr>
        <p:spPr>
          <a:xfrm>
            <a:off x="1347652" y="1528435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외부환경</a:t>
            </a:r>
          </a:p>
        </p:txBody>
      </p:sp>
      <p:sp>
        <p:nvSpPr>
          <p:cNvPr id="23" name="머리칸"/>
          <p:cNvSpPr/>
          <p:nvPr/>
        </p:nvSpPr>
        <p:spPr>
          <a:xfrm>
            <a:off x="4171696" y="1528435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4" name="머리칸"/>
          <p:cNvSpPr>
            <a:spLocks noGrp="1"/>
          </p:cNvSpPr>
          <p:nvPr>
            <p:ph type="body" sz="quarter" idx="26"/>
          </p:nvPr>
        </p:nvSpPr>
        <p:spPr>
          <a:xfrm>
            <a:off x="4171696" y="1528435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내부환경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1358609" y="1769478"/>
            <a:ext cx="2802130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'25년도 공공기관 총인건비 인상률 3.0% 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저임금자 임금 인상 기조(예산지침)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8"/>
          </p:nvPr>
        </p:nvSpPr>
        <p:spPr>
          <a:xfrm>
            <a:off x="4182652" y="1769478"/>
            <a:ext cx="2802130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직종·직급 간 동일 인상률 불만 제기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낮은 보수로 하위직·교통직·실무직 불만</a:t>
            </a:r>
          </a:p>
        </p:txBody>
      </p:sp>
      <p:cxnSp>
        <p:nvCxnSpPr>
          <p:cNvPr id="27" name="Connector 17"/>
          <p:cNvCxnSpPr/>
          <p:nvPr/>
        </p:nvCxnSpPr>
        <p:spPr>
          <a:xfrm>
            <a:off x="4171696" y="1802348"/>
            <a:ext cx="0" cy="2767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8" name="삼각 화살표"/>
          <p:cNvSpPr/>
          <p:nvPr/>
        </p:nvSpPr>
        <p:spPr>
          <a:xfrm>
            <a:off x="4010086" y="2177686"/>
            <a:ext cx="350609" cy="142435"/>
          </a:xfrm>
          <a:custGeom>
            <a:avLst/>
            <a:gdLst/>
            <a:ahLst/>
            <a:cxnLst/>
            <a:rect l="l" t="t" r="r" b="b"/>
            <a:pathLst>
              <a:path w="350609" h="142435">
                <a:moveTo>
                  <a:pt x="0" y="0"/>
                </a:moveTo>
                <a:lnTo>
                  <a:pt x="350609" y="0"/>
                </a:lnTo>
                <a:lnTo>
                  <a:pt x="175305" y="142435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표 외곽"/>
          <p:cNvSpPr/>
          <p:nvPr/>
        </p:nvSpPr>
        <p:spPr>
          <a:xfrm>
            <a:off x="723130" y="2391339"/>
            <a:ext cx="6300000" cy="266822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0" name="레일"/>
          <p:cNvSpPr/>
          <p:nvPr/>
        </p:nvSpPr>
        <p:spPr>
          <a:xfrm>
            <a:off x="734087" y="2407774"/>
            <a:ext cx="580696" cy="610904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1" name="레일"/>
          <p:cNvSpPr>
            <a:spLocks noGrp="1"/>
          </p:cNvSpPr>
          <p:nvPr>
            <p:ph type="body" sz="quarter" idx="29"/>
          </p:nvPr>
        </p:nvSpPr>
        <p:spPr>
          <a:xfrm>
            <a:off x="734087" y="2407774"/>
            <a:ext cx="580696" cy="6109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이해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관계</a:t>
            </a:r>
          </a:p>
        </p:txBody>
      </p:sp>
      <p:sp>
        <p:nvSpPr>
          <p:cNvPr id="32" name="머리칸"/>
          <p:cNvSpPr/>
          <p:nvPr/>
        </p:nvSpPr>
        <p:spPr>
          <a:xfrm>
            <a:off x="1347652" y="2429687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3" name="머리칸"/>
          <p:cNvSpPr>
            <a:spLocks noGrp="1"/>
          </p:cNvSpPr>
          <p:nvPr>
            <p:ph type="body" sz="quarter" idx="30"/>
          </p:nvPr>
        </p:nvSpPr>
        <p:spPr>
          <a:xfrm>
            <a:off x="1347652" y="2429687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 단</a:t>
            </a:r>
          </a:p>
        </p:txBody>
      </p:sp>
      <p:sp>
        <p:nvSpPr>
          <p:cNvPr id="34" name="머리칸"/>
          <p:cNvSpPr/>
          <p:nvPr/>
        </p:nvSpPr>
        <p:spPr>
          <a:xfrm>
            <a:off x="4171696" y="2429687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5" name="머리칸"/>
          <p:cNvSpPr>
            <a:spLocks noGrp="1"/>
          </p:cNvSpPr>
          <p:nvPr>
            <p:ph type="body" sz="quarter" idx="31"/>
          </p:nvPr>
        </p:nvSpPr>
        <p:spPr>
          <a:xfrm>
            <a:off x="4171696" y="2429687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노동조합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2"/>
          </p:nvPr>
        </p:nvSpPr>
        <p:spPr>
          <a:xfrm>
            <a:off x="1358609" y="2670730"/>
            <a:ext cx="2802130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저임금자 임금 우선 인상 동의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고위직급자 인상·직무급 확대 요구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3"/>
          </p:nvPr>
        </p:nvSpPr>
        <p:spPr>
          <a:xfrm>
            <a:off x="4182652" y="2670730"/>
            <a:ext cx="2802130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저임금 직종·직급 위주 '하후상박식' 인상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실무직 근로시간·직무급 확대 반대</a:t>
            </a:r>
          </a:p>
        </p:txBody>
      </p:sp>
      <p:cxnSp>
        <p:nvCxnSpPr>
          <p:cNvPr id="38" name="Connector 25"/>
          <p:cNvCxnSpPr/>
          <p:nvPr/>
        </p:nvCxnSpPr>
        <p:spPr>
          <a:xfrm>
            <a:off x="4171696" y="2703600"/>
            <a:ext cx="0" cy="2767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9" name="레일"/>
          <p:cNvSpPr/>
          <p:nvPr/>
        </p:nvSpPr>
        <p:spPr>
          <a:xfrm>
            <a:off x="734087" y="3035113"/>
            <a:ext cx="580696" cy="931461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0" name="레일"/>
          <p:cNvSpPr>
            <a:spLocks noGrp="1"/>
          </p:cNvSpPr>
          <p:nvPr>
            <p:ph type="body" sz="quarter" idx="34"/>
          </p:nvPr>
        </p:nvSpPr>
        <p:spPr>
          <a:xfrm>
            <a:off x="734087" y="3035113"/>
            <a:ext cx="580696" cy="9314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의견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조율</a:t>
            </a:r>
          </a:p>
        </p:txBody>
      </p:sp>
      <p:sp>
        <p:nvSpPr>
          <p:cNvPr id="41" name="레일 삼각형"/>
          <p:cNvSpPr/>
          <p:nvPr/>
        </p:nvSpPr>
        <p:spPr>
          <a:xfrm>
            <a:off x="734086" y="3035113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2" name="단계"/>
          <p:cNvSpPr/>
          <p:nvPr/>
        </p:nvSpPr>
        <p:spPr>
          <a:xfrm>
            <a:off x="1347652" y="3057026"/>
            <a:ext cx="141202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3" name="단계"/>
          <p:cNvSpPr>
            <a:spLocks noGrp="1"/>
          </p:cNvSpPr>
          <p:nvPr>
            <p:ph type="body" sz="quarter" idx="35"/>
          </p:nvPr>
        </p:nvSpPr>
        <p:spPr>
          <a:xfrm>
            <a:off x="1347652" y="3057026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공감대 형성</a:t>
            </a:r>
          </a:p>
        </p:txBody>
      </p:sp>
      <p:sp>
        <p:nvSpPr>
          <p:cNvPr id="44" name="단계"/>
          <p:cNvSpPr/>
          <p:nvPr/>
        </p:nvSpPr>
        <p:spPr>
          <a:xfrm>
            <a:off x="2759674" y="3057026"/>
            <a:ext cx="1412022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5" name="단계"/>
          <p:cNvSpPr>
            <a:spLocks noGrp="1"/>
          </p:cNvSpPr>
          <p:nvPr>
            <p:ph type="body" sz="quarter" idx="36"/>
          </p:nvPr>
        </p:nvSpPr>
        <p:spPr>
          <a:xfrm>
            <a:off x="2759674" y="3057026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갈등발생</a:t>
            </a:r>
          </a:p>
        </p:txBody>
      </p:sp>
      <p:sp>
        <p:nvSpPr>
          <p:cNvPr id="46" name="단계"/>
          <p:cNvSpPr/>
          <p:nvPr/>
        </p:nvSpPr>
        <p:spPr>
          <a:xfrm>
            <a:off x="4171696" y="3057026"/>
            <a:ext cx="1412022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7" name="단계"/>
          <p:cNvSpPr>
            <a:spLocks noGrp="1"/>
          </p:cNvSpPr>
          <p:nvPr>
            <p:ph type="body" sz="quarter" idx="37"/>
          </p:nvPr>
        </p:nvSpPr>
        <p:spPr>
          <a:xfrm>
            <a:off x="4171696" y="3057026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갈등해소</a:t>
            </a:r>
          </a:p>
        </p:txBody>
      </p:sp>
      <p:sp>
        <p:nvSpPr>
          <p:cNvPr id="48" name="단계"/>
          <p:cNvSpPr/>
          <p:nvPr/>
        </p:nvSpPr>
        <p:spPr>
          <a:xfrm>
            <a:off x="5583717" y="3057026"/>
            <a:ext cx="1412022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9" name="단계"/>
          <p:cNvSpPr>
            <a:spLocks noGrp="1"/>
          </p:cNvSpPr>
          <p:nvPr>
            <p:ph type="body" sz="quarter" idx="38"/>
          </p:nvPr>
        </p:nvSpPr>
        <p:spPr>
          <a:xfrm>
            <a:off x="5583717" y="3057026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본교섭 실시</a:t>
            </a:r>
          </a:p>
        </p:txBody>
      </p:sp>
      <p:sp>
        <p:nvSpPr>
          <p:cNvPr id="50" name="단계 삼각형"/>
          <p:cNvSpPr/>
          <p:nvPr/>
        </p:nvSpPr>
        <p:spPr>
          <a:xfrm>
            <a:off x="2759673" y="3057026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1" name="단계 삼각형"/>
          <p:cNvSpPr/>
          <p:nvPr/>
        </p:nvSpPr>
        <p:spPr>
          <a:xfrm>
            <a:off x="4171695" y="3057026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2" name="단계 삼각형"/>
          <p:cNvSpPr/>
          <p:nvPr/>
        </p:nvSpPr>
        <p:spPr>
          <a:xfrm>
            <a:off x="5583717" y="3057026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3" name="칸 본문"/>
          <p:cNvSpPr>
            <a:spLocks noGrp="1"/>
          </p:cNvSpPr>
          <p:nvPr>
            <p:ph type="body" sz="quarter" idx="39"/>
          </p:nvPr>
        </p:nvSpPr>
        <p:spPr>
          <a:xfrm>
            <a:off x="1358609" y="3309026"/>
            <a:ext cx="1390109" cy="6520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대표위원 12명 참석·상견례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방향 공유·논의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40"/>
          </p:nvPr>
        </p:nvSpPr>
        <p:spPr>
          <a:xfrm>
            <a:off x="2770630" y="3309026"/>
            <a:ext cx="1390109" cy="6520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직급별 인상률·직무급 확대 이견</a:t>
            </a:r>
          </a:p>
        </p:txBody>
      </p:sp>
      <p:cxnSp>
        <p:nvCxnSpPr>
          <p:cNvPr id="55" name="Connector 37"/>
          <p:cNvCxnSpPr/>
          <p:nvPr/>
        </p:nvCxnSpPr>
        <p:spPr>
          <a:xfrm>
            <a:off x="2759674" y="3341896"/>
            <a:ext cx="0" cy="5863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6" name="칸 본문"/>
          <p:cNvSpPr>
            <a:spLocks noGrp="1"/>
          </p:cNvSpPr>
          <p:nvPr>
            <p:ph type="body" sz="quarter" idx="41"/>
          </p:nvPr>
        </p:nvSpPr>
        <p:spPr>
          <a:xfrm>
            <a:off x="4182652" y="3309026"/>
            <a:ext cx="1390109" cy="6520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실무교섭 3회 대화·소통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하후상박식 절충안 협의</a:t>
            </a:r>
          </a:p>
        </p:txBody>
      </p:sp>
      <p:cxnSp>
        <p:nvCxnSpPr>
          <p:cNvPr id="57" name="Connector 39"/>
          <p:cNvCxnSpPr/>
          <p:nvPr/>
        </p:nvCxnSpPr>
        <p:spPr>
          <a:xfrm>
            <a:off x="4171696" y="3341896"/>
            <a:ext cx="0" cy="5863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8" name="칸 본문"/>
          <p:cNvSpPr>
            <a:spLocks noGrp="1"/>
          </p:cNvSpPr>
          <p:nvPr>
            <p:ph type="body" sz="quarter" idx="42"/>
          </p:nvPr>
        </p:nvSpPr>
        <p:spPr>
          <a:xfrm>
            <a:off x="5594674" y="3309026"/>
            <a:ext cx="1390109" cy="6520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실무교섭안으로 본교섭·체결식 동시 진행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15년 연속 무분규 체결</a:t>
            </a:r>
          </a:p>
        </p:txBody>
      </p:sp>
      <p:cxnSp>
        <p:nvCxnSpPr>
          <p:cNvPr id="59" name="Connector 41"/>
          <p:cNvCxnSpPr/>
          <p:nvPr/>
        </p:nvCxnSpPr>
        <p:spPr>
          <a:xfrm>
            <a:off x="5583717" y="3341896"/>
            <a:ext cx="0" cy="5863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0" name="레일"/>
          <p:cNvSpPr/>
          <p:nvPr/>
        </p:nvSpPr>
        <p:spPr>
          <a:xfrm>
            <a:off x="734087" y="3983009"/>
            <a:ext cx="580696" cy="1060122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1" name="레일"/>
          <p:cNvSpPr>
            <a:spLocks noGrp="1"/>
          </p:cNvSpPr>
          <p:nvPr>
            <p:ph type="body" sz="quarter" idx="43"/>
          </p:nvPr>
        </p:nvSpPr>
        <p:spPr>
          <a:xfrm>
            <a:off x="734087" y="3983009"/>
            <a:ext cx="580696" cy="106012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협약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체결</a:t>
            </a:r>
          </a:p>
        </p:txBody>
      </p:sp>
      <p:sp>
        <p:nvSpPr>
          <p:cNvPr id="62" name="레일 삼각형"/>
          <p:cNvSpPr/>
          <p:nvPr/>
        </p:nvSpPr>
        <p:spPr>
          <a:xfrm>
            <a:off x="734086" y="3983008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3" name="머리칸"/>
          <p:cNvSpPr/>
          <p:nvPr/>
        </p:nvSpPr>
        <p:spPr>
          <a:xfrm>
            <a:off x="1347652" y="4004922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64" name="머리칸"/>
          <p:cNvSpPr>
            <a:spLocks noGrp="1"/>
          </p:cNvSpPr>
          <p:nvPr>
            <p:ph type="body" sz="quarter" idx="44"/>
          </p:nvPr>
        </p:nvSpPr>
        <p:spPr>
          <a:xfrm>
            <a:off x="1347652" y="4004922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1차 임금협약 체결('25.5월)</a:t>
            </a:r>
          </a:p>
        </p:txBody>
      </p:sp>
      <p:sp>
        <p:nvSpPr>
          <p:cNvPr id="65" name="머리칸"/>
          <p:cNvSpPr/>
          <p:nvPr/>
        </p:nvSpPr>
        <p:spPr>
          <a:xfrm>
            <a:off x="4171696" y="4004922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66" name="머리칸"/>
          <p:cNvSpPr>
            <a:spLocks noGrp="1"/>
          </p:cNvSpPr>
          <p:nvPr>
            <p:ph type="body" sz="quarter" idx="45"/>
          </p:nvPr>
        </p:nvSpPr>
        <p:spPr>
          <a:xfrm>
            <a:off x="4171696" y="4004922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최종 임금협약 체결('25.12월)</a:t>
            </a:r>
          </a:p>
        </p:txBody>
      </p:sp>
      <p:sp>
        <p:nvSpPr>
          <p:cNvPr id="67" name="칸 본문"/>
          <p:cNvSpPr>
            <a:spLocks noGrp="1"/>
          </p:cNvSpPr>
          <p:nvPr>
            <p:ph type="body" sz="quarter" idx="46"/>
          </p:nvPr>
        </p:nvSpPr>
        <p:spPr>
          <a:xfrm>
            <a:off x="1358609" y="4245965"/>
            <a:ext cx="2802130" cy="1876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하후상박식 임금 차등인상(1.0~4.5%)</a:t>
            </a:r>
          </a:p>
        </p:txBody>
      </p:sp>
      <p:sp>
        <p:nvSpPr>
          <p:cNvPr id="68" name="칸 본문"/>
          <p:cNvSpPr>
            <a:spLocks noGrp="1"/>
          </p:cNvSpPr>
          <p:nvPr>
            <p:ph type="body" sz="quarter" idx="47"/>
          </p:nvPr>
        </p:nvSpPr>
        <p:spPr>
          <a:xfrm>
            <a:off x="1358609" y="4882852"/>
            <a:ext cx="2802130" cy="15480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상하위직 격차 완화(연공성 완화율 1.9%p↑)</a:t>
            </a:r>
          </a:p>
        </p:txBody>
      </p:sp>
      <p:sp>
        <p:nvSpPr>
          <p:cNvPr id="69" name="칸 본문"/>
          <p:cNvSpPr>
            <a:spLocks noGrp="1"/>
          </p:cNvSpPr>
          <p:nvPr>
            <p:ph type="body" sz="quarter" idx="48"/>
          </p:nvPr>
        </p:nvSpPr>
        <p:spPr>
          <a:xfrm>
            <a:off x="4182652" y="4245965"/>
            <a:ext cx="2802130" cy="7916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교통직 기본급 0.5%, 실무직 0.4% 추가 인상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환경실무직 표준 근로체계 편입(임금↑)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직무급 Ⅰ 0.08%, 직무급 Ⅱ 1만원 인상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일반직 3~7급 성과급 한시 추가 지급</a:t>
            </a:r>
          </a:p>
        </p:txBody>
      </p:sp>
      <p:cxnSp>
        <p:nvCxnSpPr>
          <p:cNvPr id="70" name="Connector 50"/>
          <p:cNvCxnSpPr/>
          <p:nvPr/>
        </p:nvCxnSpPr>
        <p:spPr>
          <a:xfrm>
            <a:off x="4171696" y="4278835"/>
            <a:ext cx="0" cy="72594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1" name="핵심성과 박스"/>
          <p:cNvSpPr/>
          <p:nvPr/>
        </p:nvSpPr>
        <p:spPr>
          <a:xfrm>
            <a:off x="723130" y="5147217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2" name="핵심성과 라벨"/>
          <p:cNvSpPr/>
          <p:nvPr/>
        </p:nvSpPr>
        <p:spPr>
          <a:xfrm>
            <a:off x="756000" y="5185565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73" name="핵심성과 라벨"/>
          <p:cNvSpPr>
            <a:spLocks noGrp="1"/>
          </p:cNvSpPr>
          <p:nvPr>
            <p:ph type="body" sz="quarter" idx="49"/>
          </p:nvPr>
        </p:nvSpPr>
        <p:spPr>
          <a:xfrm>
            <a:off x="756000" y="5185565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핵심성과</a:t>
            </a:r>
          </a:p>
        </p:txBody>
      </p:sp>
      <p:sp>
        <p:nvSpPr>
          <p:cNvPr id="74" name="핵심성과 문구"/>
          <p:cNvSpPr>
            <a:spLocks noGrp="1"/>
          </p:cNvSpPr>
          <p:nvPr>
            <p:ph type="body" sz="quarter" idx="50"/>
          </p:nvPr>
        </p:nvSpPr>
        <p:spPr>
          <a:xfrm>
            <a:off x="1501043" y="5163652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무분규 임금협약과 본교섭을 생략한 단체협약 체결 완료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3 서사 · 이해관계 → 공감대 → 의견조율 → 협약체결(사진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3765879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상호 신뢰와 공감을 바탕으로 본교섭을 생략한 단체협약 체결</a:t>
            </a:r>
          </a:p>
        </p:txBody>
      </p:sp>
      <p:sp>
        <p:nvSpPr>
          <p:cNvPr id="12" name="표 외곽"/>
          <p:cNvSpPr/>
          <p:nvPr/>
        </p:nvSpPr>
        <p:spPr>
          <a:xfrm>
            <a:off x="536870" y="1051826"/>
            <a:ext cx="6300000" cy="273662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3" name="레일"/>
          <p:cNvSpPr/>
          <p:nvPr/>
        </p:nvSpPr>
        <p:spPr>
          <a:xfrm>
            <a:off x="547826" y="1068261"/>
            <a:ext cx="580696" cy="610904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4" name="레일"/>
          <p:cNvSpPr>
            <a:spLocks noGrp="1"/>
          </p:cNvSpPr>
          <p:nvPr>
            <p:ph type="body" sz="quarter" idx="21"/>
          </p:nvPr>
        </p:nvSpPr>
        <p:spPr>
          <a:xfrm>
            <a:off x="547826" y="1068261"/>
            <a:ext cx="580696" cy="6109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이해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관계</a:t>
            </a:r>
          </a:p>
        </p:txBody>
      </p:sp>
      <p:sp>
        <p:nvSpPr>
          <p:cNvPr id="15" name="머리칸"/>
          <p:cNvSpPr/>
          <p:nvPr/>
        </p:nvSpPr>
        <p:spPr>
          <a:xfrm>
            <a:off x="1161391" y="109017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6" name="머리칸"/>
          <p:cNvSpPr>
            <a:spLocks noGrp="1"/>
          </p:cNvSpPr>
          <p:nvPr>
            <p:ph type="body" sz="quarter" idx="22"/>
          </p:nvPr>
        </p:nvSpPr>
        <p:spPr>
          <a:xfrm>
            <a:off x="1161391" y="109017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 단</a:t>
            </a:r>
          </a:p>
        </p:txBody>
      </p:sp>
      <p:sp>
        <p:nvSpPr>
          <p:cNvPr id="17" name="머리칸"/>
          <p:cNvSpPr/>
          <p:nvPr/>
        </p:nvSpPr>
        <p:spPr>
          <a:xfrm>
            <a:off x="3985435" y="109017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8" name="머리칸"/>
          <p:cNvSpPr>
            <a:spLocks noGrp="1"/>
          </p:cNvSpPr>
          <p:nvPr>
            <p:ph type="body" sz="quarter" idx="23"/>
          </p:nvPr>
        </p:nvSpPr>
        <p:spPr>
          <a:xfrm>
            <a:off x="3985435" y="109017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노동조합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4"/>
          </p:nvPr>
        </p:nvSpPr>
        <p:spPr>
          <a:xfrm>
            <a:off x="1172348" y="1331217"/>
            <a:ext cx="2802130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법과 정부정책 테두리 내에서의 교섭 실시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공단 발전이라는 공동 목표 우선적 지향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5"/>
          </p:nvPr>
        </p:nvSpPr>
        <p:spPr>
          <a:xfrm>
            <a:off x="3996391" y="1331217"/>
            <a:ext cx="2802130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조합원의 권리 확대와 노동조합 활동 보장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근로조건 개선 등 근로자 권익 보호 중점 추진</a:t>
            </a:r>
          </a:p>
        </p:txBody>
      </p:sp>
      <p:cxnSp>
        <p:nvCxnSpPr>
          <p:cNvPr id="21" name="Connector 14"/>
          <p:cNvCxnSpPr/>
          <p:nvPr/>
        </p:nvCxnSpPr>
        <p:spPr>
          <a:xfrm>
            <a:off x="3985435" y="1364087"/>
            <a:ext cx="0" cy="2767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2" name="레일"/>
          <p:cNvSpPr/>
          <p:nvPr/>
        </p:nvSpPr>
        <p:spPr>
          <a:xfrm>
            <a:off x="547826" y="1695600"/>
            <a:ext cx="580696" cy="610904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3" name="레일"/>
          <p:cNvSpPr>
            <a:spLocks noGrp="1"/>
          </p:cNvSpPr>
          <p:nvPr>
            <p:ph type="body" sz="quarter" idx="26"/>
          </p:nvPr>
        </p:nvSpPr>
        <p:spPr>
          <a:xfrm>
            <a:off x="547826" y="1695600"/>
            <a:ext cx="580696" cy="6109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공감대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형성</a:t>
            </a:r>
          </a:p>
        </p:txBody>
      </p:sp>
      <p:sp>
        <p:nvSpPr>
          <p:cNvPr id="24" name="레일 삼각형"/>
          <p:cNvSpPr/>
          <p:nvPr/>
        </p:nvSpPr>
        <p:spPr>
          <a:xfrm>
            <a:off x="547826" y="1695600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5" name="머리칸"/>
          <p:cNvSpPr/>
          <p:nvPr/>
        </p:nvSpPr>
        <p:spPr>
          <a:xfrm>
            <a:off x="1161391" y="171751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6" name="머리칸"/>
          <p:cNvSpPr>
            <a:spLocks noGrp="1"/>
          </p:cNvSpPr>
          <p:nvPr>
            <p:ph type="body" sz="quarter" idx="27"/>
          </p:nvPr>
        </p:nvSpPr>
        <p:spPr>
          <a:xfrm>
            <a:off x="1161391" y="171751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사전교섭('25.9월)</a:t>
            </a:r>
          </a:p>
        </p:txBody>
      </p:sp>
      <p:sp>
        <p:nvSpPr>
          <p:cNvPr id="27" name="머리칸"/>
          <p:cNvSpPr/>
          <p:nvPr/>
        </p:nvSpPr>
        <p:spPr>
          <a:xfrm>
            <a:off x="3985435" y="171751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8" name="머리칸"/>
          <p:cNvSpPr>
            <a:spLocks noGrp="1"/>
          </p:cNvSpPr>
          <p:nvPr>
            <p:ph type="body" sz="quarter" idx="28"/>
          </p:nvPr>
        </p:nvSpPr>
        <p:spPr>
          <a:xfrm>
            <a:off x="3985435" y="171751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파트너십 프로그램('25.11월)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1172348" y="1958557"/>
            <a:ext cx="2802130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본교섭 대표위원 16명 전원 참석, 상견례 실시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교섭방향 및 의견 교류로 공감대 형성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0"/>
          </p:nvPr>
        </p:nvSpPr>
        <p:spPr>
          <a:xfrm>
            <a:off x="3996391" y="1958557"/>
            <a:ext cx="2802130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경영진 및 노조집행부, 실무자 등 20명 참석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팀워크 활동 및 현안 공유·소통으로 공감대 강화</a:t>
            </a:r>
          </a:p>
        </p:txBody>
      </p:sp>
      <p:cxnSp>
        <p:nvCxnSpPr>
          <p:cNvPr id="31" name="Connector 21"/>
          <p:cNvCxnSpPr/>
          <p:nvPr/>
        </p:nvCxnSpPr>
        <p:spPr>
          <a:xfrm>
            <a:off x="3985435" y="1991426"/>
            <a:ext cx="0" cy="2767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2" name="레일"/>
          <p:cNvSpPr/>
          <p:nvPr/>
        </p:nvSpPr>
        <p:spPr>
          <a:xfrm>
            <a:off x="547826" y="2322939"/>
            <a:ext cx="580696" cy="61638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3" name="레일"/>
          <p:cNvSpPr>
            <a:spLocks noGrp="1"/>
          </p:cNvSpPr>
          <p:nvPr>
            <p:ph type="body" sz="quarter" idx="31"/>
          </p:nvPr>
        </p:nvSpPr>
        <p:spPr>
          <a:xfrm>
            <a:off x="547826" y="2322939"/>
            <a:ext cx="580696" cy="6163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의견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조율</a:t>
            </a:r>
          </a:p>
        </p:txBody>
      </p:sp>
      <p:sp>
        <p:nvSpPr>
          <p:cNvPr id="34" name="단계"/>
          <p:cNvSpPr/>
          <p:nvPr/>
        </p:nvSpPr>
        <p:spPr>
          <a:xfrm>
            <a:off x="1161391" y="2344852"/>
            <a:ext cx="141202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5" name="단계"/>
          <p:cNvSpPr>
            <a:spLocks noGrp="1"/>
          </p:cNvSpPr>
          <p:nvPr>
            <p:ph type="body" sz="quarter" idx="32"/>
          </p:nvPr>
        </p:nvSpPr>
        <p:spPr>
          <a:xfrm>
            <a:off x="1161391" y="2344852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요구안 제시</a:t>
            </a:r>
          </a:p>
        </p:txBody>
      </p:sp>
      <p:sp>
        <p:nvSpPr>
          <p:cNvPr id="36" name="단계"/>
          <p:cNvSpPr/>
          <p:nvPr/>
        </p:nvSpPr>
        <p:spPr>
          <a:xfrm>
            <a:off x="2573413" y="2344852"/>
            <a:ext cx="1412022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7" name="단계"/>
          <p:cNvSpPr>
            <a:spLocks noGrp="1"/>
          </p:cNvSpPr>
          <p:nvPr>
            <p:ph type="body" sz="quarter" idx="33"/>
          </p:nvPr>
        </p:nvSpPr>
        <p:spPr>
          <a:xfrm>
            <a:off x="2573413" y="2344852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사측 검토</a:t>
            </a:r>
          </a:p>
        </p:txBody>
      </p:sp>
      <p:sp>
        <p:nvSpPr>
          <p:cNvPr id="38" name="단계"/>
          <p:cNvSpPr/>
          <p:nvPr/>
        </p:nvSpPr>
        <p:spPr>
          <a:xfrm>
            <a:off x="3985435" y="2344852"/>
            <a:ext cx="1412022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9" name="단계"/>
          <p:cNvSpPr>
            <a:spLocks noGrp="1"/>
          </p:cNvSpPr>
          <p:nvPr>
            <p:ph type="body" sz="quarter" idx="34"/>
          </p:nvPr>
        </p:nvSpPr>
        <p:spPr>
          <a:xfrm>
            <a:off x="3985435" y="2344852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 소통</a:t>
            </a:r>
          </a:p>
        </p:txBody>
      </p:sp>
      <p:sp>
        <p:nvSpPr>
          <p:cNvPr id="40" name="단계"/>
          <p:cNvSpPr/>
          <p:nvPr/>
        </p:nvSpPr>
        <p:spPr>
          <a:xfrm>
            <a:off x="5397457" y="2344852"/>
            <a:ext cx="1412022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1" name="단계"/>
          <p:cNvSpPr>
            <a:spLocks noGrp="1"/>
          </p:cNvSpPr>
          <p:nvPr>
            <p:ph type="body" sz="quarter" idx="35"/>
          </p:nvPr>
        </p:nvSpPr>
        <p:spPr>
          <a:xfrm>
            <a:off x="5397457" y="2344852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합의안 도출</a:t>
            </a:r>
          </a:p>
        </p:txBody>
      </p:sp>
      <p:sp>
        <p:nvSpPr>
          <p:cNvPr id="42" name="단계 삼각형"/>
          <p:cNvSpPr/>
          <p:nvPr/>
        </p:nvSpPr>
        <p:spPr>
          <a:xfrm>
            <a:off x="2573413" y="2344852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3" name="단계 삼각형"/>
          <p:cNvSpPr/>
          <p:nvPr/>
        </p:nvSpPr>
        <p:spPr>
          <a:xfrm>
            <a:off x="3985434" y="2344852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4" name="단계 삼각형"/>
          <p:cNvSpPr/>
          <p:nvPr/>
        </p:nvSpPr>
        <p:spPr>
          <a:xfrm>
            <a:off x="5397456" y="2344852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5" name="칸 본문"/>
          <p:cNvSpPr>
            <a:spLocks noGrp="1"/>
          </p:cNvSpPr>
          <p:nvPr>
            <p:ph type="body" sz="quarter" idx="36"/>
          </p:nvPr>
        </p:nvSpPr>
        <p:spPr>
          <a:xfrm>
            <a:off x="1172348" y="2596852"/>
            <a:ext cx="1390109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노조 18개 요구안 제시·교섭 요구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37"/>
          </p:nvPr>
        </p:nvSpPr>
        <p:spPr>
          <a:xfrm>
            <a:off x="2584370" y="2596852"/>
            <a:ext cx="1390109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실무부서 검토, 이사장·본부장 점검</a:t>
            </a:r>
          </a:p>
        </p:txBody>
      </p:sp>
      <p:cxnSp>
        <p:nvCxnSpPr>
          <p:cNvPr id="47" name="Connector 32"/>
          <p:cNvCxnSpPr/>
          <p:nvPr/>
        </p:nvCxnSpPr>
        <p:spPr>
          <a:xfrm>
            <a:off x="2573413" y="2629722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8" name="칸 본문"/>
          <p:cNvSpPr>
            <a:spLocks noGrp="1"/>
          </p:cNvSpPr>
          <p:nvPr>
            <p:ph type="body" sz="quarter" idx="38"/>
          </p:nvPr>
        </p:nvSpPr>
        <p:spPr>
          <a:xfrm>
            <a:off x="3996391" y="2596852"/>
            <a:ext cx="1390109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협의 필요 사안 노사 소통·협의</a:t>
            </a:r>
          </a:p>
        </p:txBody>
      </p:sp>
      <p:cxnSp>
        <p:nvCxnSpPr>
          <p:cNvPr id="49" name="Connector 34"/>
          <p:cNvCxnSpPr/>
          <p:nvPr/>
        </p:nvCxnSpPr>
        <p:spPr>
          <a:xfrm>
            <a:off x="3985435" y="2629722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0" name="칸 본문"/>
          <p:cNvSpPr>
            <a:spLocks noGrp="1"/>
          </p:cNvSpPr>
          <p:nvPr>
            <p:ph type="body" sz="quarter" idx="39"/>
          </p:nvPr>
        </p:nvSpPr>
        <p:spPr>
          <a:xfrm>
            <a:off x="5408413" y="2596852"/>
            <a:ext cx="1390109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7건 의견일치, 11건 수정합의</a:t>
            </a:r>
          </a:p>
        </p:txBody>
      </p:sp>
      <p:cxnSp>
        <p:nvCxnSpPr>
          <p:cNvPr id="51" name="Connector 36"/>
          <p:cNvCxnSpPr/>
          <p:nvPr/>
        </p:nvCxnSpPr>
        <p:spPr>
          <a:xfrm>
            <a:off x="5397457" y="2629722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2" name="레일"/>
          <p:cNvSpPr/>
          <p:nvPr/>
        </p:nvSpPr>
        <p:spPr>
          <a:xfrm>
            <a:off x="547826" y="2955757"/>
            <a:ext cx="580696" cy="816261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3" name="레일"/>
          <p:cNvSpPr>
            <a:spLocks noGrp="1"/>
          </p:cNvSpPr>
          <p:nvPr>
            <p:ph type="body" sz="quarter" idx="40"/>
          </p:nvPr>
        </p:nvSpPr>
        <p:spPr>
          <a:xfrm>
            <a:off x="547826" y="2955757"/>
            <a:ext cx="580696" cy="81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협약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체결</a:t>
            </a:r>
          </a:p>
        </p:txBody>
      </p:sp>
      <p:sp>
        <p:nvSpPr>
          <p:cNvPr id="54" name="레일 삼각형"/>
          <p:cNvSpPr/>
          <p:nvPr/>
        </p:nvSpPr>
        <p:spPr>
          <a:xfrm>
            <a:off x="547826" y="2955756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5" name="머리칸"/>
          <p:cNvSpPr/>
          <p:nvPr/>
        </p:nvSpPr>
        <p:spPr>
          <a:xfrm>
            <a:off x="1161391" y="2977670"/>
            <a:ext cx="4519565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6" name="머리칸"/>
          <p:cNvSpPr>
            <a:spLocks noGrp="1"/>
          </p:cNvSpPr>
          <p:nvPr>
            <p:ph type="body" sz="quarter" idx="41"/>
          </p:nvPr>
        </p:nvSpPr>
        <p:spPr>
          <a:xfrm>
            <a:off x="1161391" y="2977670"/>
            <a:ext cx="4519565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본교섭 없는 단체협약 체결('25.12월)</a:t>
            </a:r>
          </a:p>
        </p:txBody>
      </p:sp>
      <p:sp>
        <p:nvSpPr>
          <p:cNvPr id="57" name="칸 본문"/>
          <p:cNvSpPr>
            <a:spLocks noGrp="1"/>
          </p:cNvSpPr>
          <p:nvPr>
            <p:ph type="body" sz="quarter" idx="42"/>
          </p:nvPr>
        </p:nvSpPr>
        <p:spPr>
          <a:xfrm>
            <a:off x="1172348" y="3218713"/>
            <a:ext cx="4514087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근로조건 개선과 공단 발전이라는 공동 목표까지, 균형 있는 협약 체결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부당노동행위 금지, 조합활동 보장 강화, 비상 시 급여 지급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미래 지속가능 성장 신설, 해외사업 확대·지원 강화 등</a:t>
            </a:r>
          </a:p>
        </p:txBody>
      </p:sp>
      <p:sp>
        <p:nvSpPr>
          <p:cNvPr id="58" name="사진 칸"/>
          <p:cNvSpPr/>
          <p:nvPr/>
        </p:nvSpPr>
        <p:spPr>
          <a:xfrm>
            <a:off x="5730261" y="2983148"/>
            <a:ext cx="1079217" cy="777913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59" name="사진 칸"/>
          <p:cNvSpPr>
            <a:spLocks noGrp="1"/>
          </p:cNvSpPr>
          <p:nvPr>
            <p:ph type="body" sz="quarter" idx="43"/>
          </p:nvPr>
        </p:nvSpPr>
        <p:spPr>
          <a:xfrm>
            <a:off x="5730261" y="2983148"/>
            <a:ext cx="1079217" cy="7779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 (체결식)</a:t>
            </a:r>
          </a:p>
        </p:txBody>
      </p:sp>
      <p:sp>
        <p:nvSpPr>
          <p:cNvPr id="60" name="핵심성과 박스"/>
          <p:cNvSpPr/>
          <p:nvPr/>
        </p:nvSpPr>
        <p:spPr>
          <a:xfrm>
            <a:off x="536870" y="3876104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1" name="핵심성과 라벨"/>
          <p:cNvSpPr/>
          <p:nvPr/>
        </p:nvSpPr>
        <p:spPr>
          <a:xfrm>
            <a:off x="569739" y="3914452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62" name="핵심성과 라벨"/>
          <p:cNvSpPr>
            <a:spLocks noGrp="1"/>
          </p:cNvSpPr>
          <p:nvPr>
            <p:ph type="body" sz="quarter" idx="44"/>
          </p:nvPr>
        </p:nvSpPr>
        <p:spPr>
          <a:xfrm>
            <a:off x="569739" y="3914452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핵심성과</a:t>
            </a:r>
          </a:p>
        </p:txBody>
      </p:sp>
      <p:sp>
        <p:nvSpPr>
          <p:cNvPr id="63" name="핵심성과 문구"/>
          <p:cNvSpPr>
            <a:spLocks noGrp="1"/>
          </p:cNvSpPr>
          <p:nvPr>
            <p:ph type="body" sz="quarter" idx="45"/>
          </p:nvPr>
        </p:nvSpPr>
        <p:spPr>
          <a:xfrm>
            <a:off x="1314783" y="3892539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무분규 임금협약과 본교섭을 생략한 단체협약 체결 완료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4 서사 · 환경분석 + 칸 안 라벨 소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누구나 즐겁고 차별 없이 일할 수 있는 근로환경 구현</a:t>
            </a:r>
          </a:p>
        </p:txBody>
      </p:sp>
      <p:sp>
        <p:nvSpPr>
          <p:cNvPr id="14" name="형광 밑줄"/>
          <p:cNvSpPr/>
          <p:nvPr/>
        </p:nvSpPr>
        <p:spPr>
          <a:xfrm>
            <a:off x="723130" y="1358609"/>
            <a:ext cx="3801004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소제목"/>
          <p:cNvSpPr>
            <a:spLocks noGrp="1"/>
          </p:cNvSpPr>
          <p:nvPr>
            <p:ph type="body" sz="quarter" idx="22"/>
          </p:nvPr>
        </p:nvSpPr>
        <p:spPr>
          <a:xfrm>
            <a:off x="723130" y="120521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직원 니즈를 반영한 근로조건 개선과 복리후생 향상 과제 도출</a:t>
            </a:r>
          </a:p>
        </p:txBody>
      </p:sp>
      <p:sp>
        <p:nvSpPr>
          <p:cNvPr id="16" name="라벨 박스"/>
          <p:cNvSpPr/>
          <p:nvPr/>
        </p:nvSpPr>
        <p:spPr>
          <a:xfrm>
            <a:off x="723130" y="1501043"/>
            <a:ext cx="6300000" cy="1124609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734087" y="1512000"/>
            <a:ext cx="591652" cy="1102696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3"/>
          </p:nvPr>
        </p:nvSpPr>
        <p:spPr>
          <a:xfrm>
            <a:off x="734087" y="1512000"/>
            <a:ext cx="591652" cy="110269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환경분석</a:t>
            </a:r>
          </a:p>
        </p:txBody>
      </p:sp>
      <p:sp>
        <p:nvSpPr>
          <p:cNvPr id="19" name="머리칸"/>
          <p:cNvSpPr/>
          <p:nvPr/>
        </p:nvSpPr>
        <p:spPr>
          <a:xfrm>
            <a:off x="1358609" y="1528435"/>
            <a:ext cx="186078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0" name="머리칸"/>
          <p:cNvSpPr>
            <a:spLocks noGrp="1"/>
          </p:cNvSpPr>
          <p:nvPr>
            <p:ph type="body" sz="quarter" idx="24"/>
          </p:nvPr>
        </p:nvSpPr>
        <p:spPr>
          <a:xfrm>
            <a:off x="1358609" y="1528435"/>
            <a:ext cx="186078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외부환경</a:t>
            </a:r>
          </a:p>
        </p:txBody>
      </p:sp>
      <p:sp>
        <p:nvSpPr>
          <p:cNvPr id="21" name="머리칸"/>
          <p:cNvSpPr/>
          <p:nvPr/>
        </p:nvSpPr>
        <p:spPr>
          <a:xfrm>
            <a:off x="3235826" y="1528435"/>
            <a:ext cx="186078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2" name="머리칸"/>
          <p:cNvSpPr>
            <a:spLocks noGrp="1"/>
          </p:cNvSpPr>
          <p:nvPr>
            <p:ph type="body" sz="quarter" idx="25"/>
          </p:nvPr>
        </p:nvSpPr>
        <p:spPr>
          <a:xfrm>
            <a:off x="3235826" y="1528435"/>
            <a:ext cx="186078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전년도 환류</a:t>
            </a:r>
          </a:p>
        </p:txBody>
      </p:sp>
      <p:sp>
        <p:nvSpPr>
          <p:cNvPr id="23" name="머리칸"/>
          <p:cNvSpPr/>
          <p:nvPr/>
        </p:nvSpPr>
        <p:spPr>
          <a:xfrm>
            <a:off x="5113043" y="1528435"/>
            <a:ext cx="186078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4" name="머리칸"/>
          <p:cNvSpPr>
            <a:spLocks noGrp="1"/>
          </p:cNvSpPr>
          <p:nvPr>
            <p:ph type="body" sz="quarter" idx="26"/>
          </p:nvPr>
        </p:nvSpPr>
        <p:spPr>
          <a:xfrm>
            <a:off x="5113043" y="1528435"/>
            <a:ext cx="186078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직원니즈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1369565" y="1769478"/>
            <a:ext cx="1855304" cy="839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육아지원 3법·출산양육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장기재직휴가 등 신설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 안전일터 조성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8"/>
          </p:nvPr>
        </p:nvSpPr>
        <p:spPr>
          <a:xfrm>
            <a:off x="3246783" y="1769478"/>
            <a:ext cx="1855304" cy="839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체감할 수 있는 질적 근로조건 개선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취약직종 근로조건 향상 지속</a:t>
            </a:r>
          </a:p>
        </p:txBody>
      </p:sp>
      <p:cxnSp>
        <p:nvCxnSpPr>
          <p:cNvPr id="27" name="Connector 17"/>
          <p:cNvCxnSpPr/>
          <p:nvPr/>
        </p:nvCxnSpPr>
        <p:spPr>
          <a:xfrm>
            <a:off x="3235826" y="1802348"/>
            <a:ext cx="0" cy="77400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8" name="레일"/>
          <p:cNvSpPr/>
          <p:nvPr/>
        </p:nvSpPr>
        <p:spPr>
          <a:xfrm>
            <a:off x="5134957" y="1780435"/>
            <a:ext cx="525913" cy="32603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9" name="레일"/>
          <p:cNvSpPr>
            <a:spLocks noGrp="1"/>
          </p:cNvSpPr>
          <p:nvPr>
            <p:ph type="body" sz="quarter" idx="29"/>
          </p:nvPr>
        </p:nvSpPr>
        <p:spPr>
          <a:xfrm>
            <a:off x="5134957" y="1780435"/>
            <a:ext cx="525913" cy="3260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복지개선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TF</a:t>
            </a:r>
          </a:p>
        </p:txBody>
      </p:sp>
      <p:sp>
        <p:nvSpPr>
          <p:cNvPr id="30" name="소행 본문"/>
          <p:cNvSpPr>
            <a:spLocks noGrp="1"/>
          </p:cNvSpPr>
          <p:nvPr>
            <p:ph type="body" sz="quarter" idx="30"/>
          </p:nvPr>
        </p:nvSpPr>
        <p:spPr>
          <a:xfrm>
            <a:off x="5682783" y="1780435"/>
            <a:ext cx="1296522" cy="326035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문화여가·가족친화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경조사 생활지원</a:t>
            </a:r>
          </a:p>
        </p:txBody>
      </p:sp>
      <p:cxnSp>
        <p:nvCxnSpPr>
          <p:cNvPr id="31" name="Connector 20"/>
          <p:cNvCxnSpPr/>
          <p:nvPr/>
        </p:nvCxnSpPr>
        <p:spPr>
          <a:xfrm>
            <a:off x="5134957" y="2117426"/>
            <a:ext cx="1833391" cy="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2" name="레일"/>
          <p:cNvSpPr/>
          <p:nvPr/>
        </p:nvSpPr>
        <p:spPr>
          <a:xfrm>
            <a:off x="5134957" y="2122904"/>
            <a:ext cx="525913" cy="48083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3" name="레일"/>
          <p:cNvSpPr>
            <a:spLocks noGrp="1"/>
          </p:cNvSpPr>
          <p:nvPr>
            <p:ph type="body" sz="quarter" idx="31"/>
          </p:nvPr>
        </p:nvSpPr>
        <p:spPr>
          <a:xfrm>
            <a:off x="5134957" y="2122904"/>
            <a:ext cx="525913" cy="4808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안전경영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위원회</a:t>
            </a:r>
          </a:p>
        </p:txBody>
      </p:sp>
      <p:sp>
        <p:nvSpPr>
          <p:cNvPr id="34" name="소행 본문"/>
          <p:cNvSpPr>
            <a:spLocks noGrp="1"/>
          </p:cNvSpPr>
          <p:nvPr>
            <p:ph type="body" sz="quarter" idx="32"/>
          </p:nvPr>
        </p:nvSpPr>
        <p:spPr>
          <a:xfrm>
            <a:off x="5682783" y="2122904"/>
            <a:ext cx="1296522" cy="480835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석면제거 등 안전일터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스트레스·정신건강</a:t>
            </a:r>
          </a:p>
        </p:txBody>
      </p:sp>
      <p:cxnSp>
        <p:nvCxnSpPr>
          <p:cNvPr id="35" name="Connector 23"/>
          <p:cNvCxnSpPr/>
          <p:nvPr/>
        </p:nvCxnSpPr>
        <p:spPr>
          <a:xfrm>
            <a:off x="5113043" y="1802348"/>
            <a:ext cx="0" cy="77400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6" name="라벨 박스"/>
          <p:cNvSpPr/>
          <p:nvPr/>
        </p:nvSpPr>
        <p:spPr>
          <a:xfrm>
            <a:off x="723130" y="2680435"/>
            <a:ext cx="6300000" cy="29034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7" name="레일"/>
          <p:cNvSpPr/>
          <p:nvPr/>
        </p:nvSpPr>
        <p:spPr>
          <a:xfrm>
            <a:off x="734087" y="2691391"/>
            <a:ext cx="591652" cy="26843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8" name="레일"/>
          <p:cNvSpPr>
            <a:spLocks noGrp="1"/>
          </p:cNvSpPr>
          <p:nvPr>
            <p:ph type="body" sz="quarter" idx="33"/>
          </p:nvPr>
        </p:nvSpPr>
        <p:spPr>
          <a:xfrm>
            <a:off x="734087" y="2691391"/>
            <a:ext cx="591652" cy="268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추진방향</a:t>
            </a:r>
          </a:p>
        </p:txBody>
      </p:sp>
      <p:sp>
        <p:nvSpPr>
          <p:cNvPr id="39" name="가운데 글"/>
          <p:cNvSpPr>
            <a:spLocks noGrp="1"/>
          </p:cNvSpPr>
          <p:nvPr>
            <p:ph type="body" sz="quarter" idx="34"/>
          </p:nvPr>
        </p:nvSpPr>
        <p:spPr>
          <a:xfrm>
            <a:off x="1358609" y="2696870"/>
            <a:ext cx="1877217" cy="25747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교통직 처우개선</a:t>
            </a:r>
          </a:p>
        </p:txBody>
      </p:sp>
      <p:sp>
        <p:nvSpPr>
          <p:cNvPr id="40" name="가운데 글"/>
          <p:cNvSpPr>
            <a:spLocks noGrp="1"/>
          </p:cNvSpPr>
          <p:nvPr>
            <p:ph type="body" sz="quarter" idx="35"/>
          </p:nvPr>
        </p:nvSpPr>
        <p:spPr>
          <a:xfrm>
            <a:off x="3235826" y="2696870"/>
            <a:ext cx="1877217" cy="25747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실무직 처우개선</a:t>
            </a:r>
          </a:p>
        </p:txBody>
      </p:sp>
      <p:cxnSp>
        <p:nvCxnSpPr>
          <p:cNvPr id="41" name="Connector 28"/>
          <p:cNvCxnSpPr/>
          <p:nvPr/>
        </p:nvCxnSpPr>
        <p:spPr>
          <a:xfrm>
            <a:off x="3235826" y="2735217"/>
            <a:ext cx="0" cy="180783"/>
          </a:xfrm>
          <a:prstGeom prst="line">
            <a:avLst/>
          </a:prstGeom>
          <a:ln w="6350">
            <a:solidFill>
              <a:srgbClr val="BDE0FF"/>
            </a:solidFill>
          </a:ln>
        </p:spPr>
      </p:cxnSp>
      <p:sp>
        <p:nvSpPr>
          <p:cNvPr id="42" name="가운데 글"/>
          <p:cNvSpPr>
            <a:spLocks noGrp="1"/>
          </p:cNvSpPr>
          <p:nvPr>
            <p:ph type="body" sz="quarter" idx="36"/>
          </p:nvPr>
        </p:nvSpPr>
        <p:spPr>
          <a:xfrm>
            <a:off x="5113043" y="2696870"/>
            <a:ext cx="1877217" cy="25747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복리후생 향상</a:t>
            </a:r>
          </a:p>
        </p:txBody>
      </p:sp>
      <p:cxnSp>
        <p:nvCxnSpPr>
          <p:cNvPr id="43" name="Connector 30"/>
          <p:cNvCxnSpPr/>
          <p:nvPr/>
        </p:nvCxnSpPr>
        <p:spPr>
          <a:xfrm>
            <a:off x="5113043" y="2735217"/>
            <a:ext cx="0" cy="180783"/>
          </a:xfrm>
          <a:prstGeom prst="line">
            <a:avLst/>
          </a:prstGeom>
          <a:ln w="6350">
            <a:solidFill>
              <a:srgbClr val="BDE0FF"/>
            </a:solidFill>
          </a:ln>
        </p:spPr>
      </p:cxnSp>
      <p:sp>
        <p:nvSpPr>
          <p:cNvPr id="44" name="라벨 박스"/>
          <p:cNvSpPr/>
          <p:nvPr/>
        </p:nvSpPr>
        <p:spPr>
          <a:xfrm>
            <a:off x="723130" y="3025565"/>
            <a:ext cx="6300000" cy="54657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5" name="레일"/>
          <p:cNvSpPr/>
          <p:nvPr/>
        </p:nvSpPr>
        <p:spPr>
          <a:xfrm>
            <a:off x="734087" y="3036522"/>
            <a:ext cx="591652" cy="524661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6" name="레일"/>
          <p:cNvSpPr>
            <a:spLocks noGrp="1"/>
          </p:cNvSpPr>
          <p:nvPr>
            <p:ph type="body" sz="quarter" idx="37"/>
          </p:nvPr>
        </p:nvSpPr>
        <p:spPr>
          <a:xfrm>
            <a:off x="734087" y="3036522"/>
            <a:ext cx="591652" cy="5246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추진과제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38"/>
          </p:nvPr>
        </p:nvSpPr>
        <p:spPr>
          <a:xfrm>
            <a:off x="1369565" y="3042000"/>
            <a:ext cx="1855304" cy="5137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교통직 처우개선 단체교섭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유관부처 협의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처우개선 방안 도출·노사 합의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39"/>
          </p:nvPr>
        </p:nvSpPr>
        <p:spPr>
          <a:xfrm>
            <a:off x="3246783" y="3042000"/>
            <a:ext cx="1855304" cy="5137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근무체계 분석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개선안·임금저하 방지대책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처우개선 방안 노사합의</a:t>
            </a:r>
          </a:p>
        </p:txBody>
      </p:sp>
      <p:cxnSp>
        <p:nvCxnSpPr>
          <p:cNvPr id="49" name="Connector 35"/>
          <p:cNvCxnSpPr/>
          <p:nvPr/>
        </p:nvCxnSpPr>
        <p:spPr>
          <a:xfrm>
            <a:off x="3235826" y="3074870"/>
            <a:ext cx="0" cy="4479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0" name="칸 본문"/>
          <p:cNvSpPr>
            <a:spLocks noGrp="1"/>
          </p:cNvSpPr>
          <p:nvPr>
            <p:ph type="body" sz="quarter" idx="40"/>
          </p:nvPr>
        </p:nvSpPr>
        <p:spPr>
          <a:xfrm>
            <a:off x="5124000" y="3042000"/>
            <a:ext cx="1855304" cy="5137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직원니즈 기반 복리후생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가족친화경영 확대·제도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안전보건 지원 강화</a:t>
            </a:r>
          </a:p>
        </p:txBody>
      </p:sp>
      <p:cxnSp>
        <p:nvCxnSpPr>
          <p:cNvPr id="51" name="Connector 37"/>
          <p:cNvCxnSpPr/>
          <p:nvPr/>
        </p:nvCxnSpPr>
        <p:spPr>
          <a:xfrm>
            <a:off x="5113043" y="3074870"/>
            <a:ext cx="0" cy="4479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5 서사 · 이해관계 → 교섭(사진 열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3673078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열린 소통의 결실, 교통직 처우개선 단체교섭 노사합의 체결</a:t>
            </a:r>
          </a:p>
        </p:txBody>
      </p:sp>
      <p:sp>
        <p:nvSpPr>
          <p:cNvPr id="12" name="태그칩"/>
          <p:cNvSpPr/>
          <p:nvPr/>
        </p:nvSpPr>
        <p:spPr>
          <a:xfrm>
            <a:off x="4308556" y="799826"/>
            <a:ext cx="32732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308556" y="799826"/>
            <a:ext cx="32732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B.P</a:t>
            </a:r>
          </a:p>
        </p:txBody>
      </p:sp>
      <p:sp>
        <p:nvSpPr>
          <p:cNvPr id="14" name="표 외곽"/>
          <p:cNvSpPr/>
          <p:nvPr/>
        </p:nvSpPr>
        <p:spPr>
          <a:xfrm>
            <a:off x="536870" y="1051826"/>
            <a:ext cx="5297478" cy="188201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547826" y="1068261"/>
            <a:ext cx="580696" cy="60542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068261"/>
            <a:ext cx="580696" cy="6054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이해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관계</a:t>
            </a:r>
          </a:p>
        </p:txBody>
      </p:sp>
      <p:sp>
        <p:nvSpPr>
          <p:cNvPr id="17" name="머리칸"/>
          <p:cNvSpPr/>
          <p:nvPr/>
        </p:nvSpPr>
        <p:spPr>
          <a:xfrm>
            <a:off x="1161391" y="1090174"/>
            <a:ext cx="2306348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8" name="머리칸"/>
          <p:cNvSpPr>
            <a:spLocks noGrp="1"/>
          </p:cNvSpPr>
          <p:nvPr>
            <p:ph type="body" sz="quarter" idx="23"/>
          </p:nvPr>
        </p:nvSpPr>
        <p:spPr>
          <a:xfrm>
            <a:off x="1161391" y="1090174"/>
            <a:ext cx="2306348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 단</a:t>
            </a:r>
          </a:p>
        </p:txBody>
      </p:sp>
      <p:sp>
        <p:nvSpPr>
          <p:cNvPr id="19" name="머리칸"/>
          <p:cNvSpPr/>
          <p:nvPr/>
        </p:nvSpPr>
        <p:spPr>
          <a:xfrm>
            <a:off x="3484174" y="1090174"/>
            <a:ext cx="2306348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0" name="머리칸"/>
          <p:cNvSpPr>
            <a:spLocks noGrp="1"/>
          </p:cNvSpPr>
          <p:nvPr>
            <p:ph type="body" sz="quarter" idx="24"/>
          </p:nvPr>
        </p:nvSpPr>
        <p:spPr>
          <a:xfrm>
            <a:off x="3484174" y="1090174"/>
            <a:ext cx="2306348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노동조합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5"/>
          </p:nvPr>
        </p:nvSpPr>
        <p:spPr>
          <a:xfrm>
            <a:off x="1172348" y="1331217"/>
            <a:ext cx="230087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재원 부족 등 교통직 처우개선을 위한 중장기적 검토와 추진 필요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6"/>
          </p:nvPr>
        </p:nvSpPr>
        <p:spPr>
          <a:xfrm>
            <a:off x="3495130" y="1331217"/>
            <a:ext cx="230087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교통직과 일반직의 차별적 요소 해소를 위한 적극적·신속한 대응 필요</a:t>
            </a:r>
          </a:p>
        </p:txBody>
      </p:sp>
      <p:cxnSp>
        <p:nvCxnSpPr>
          <p:cNvPr id="23" name="Connector 15"/>
          <p:cNvCxnSpPr/>
          <p:nvPr/>
        </p:nvCxnSpPr>
        <p:spPr>
          <a:xfrm>
            <a:off x="3484174" y="1364087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4" name="레일"/>
          <p:cNvSpPr/>
          <p:nvPr/>
        </p:nvSpPr>
        <p:spPr>
          <a:xfrm>
            <a:off x="547826" y="1690122"/>
            <a:ext cx="580696" cy="605426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5" name="레일"/>
          <p:cNvSpPr>
            <a:spLocks noGrp="1"/>
          </p:cNvSpPr>
          <p:nvPr>
            <p:ph type="body" sz="quarter" idx="27"/>
          </p:nvPr>
        </p:nvSpPr>
        <p:spPr>
          <a:xfrm>
            <a:off x="547826" y="1690122"/>
            <a:ext cx="580696" cy="6054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교섭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노력</a:t>
            </a:r>
          </a:p>
        </p:txBody>
      </p:sp>
      <p:sp>
        <p:nvSpPr>
          <p:cNvPr id="26" name="레일 삼각형"/>
          <p:cNvSpPr/>
          <p:nvPr/>
        </p:nvSpPr>
        <p:spPr>
          <a:xfrm>
            <a:off x="547826" y="1690121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7" name="머리칸"/>
          <p:cNvSpPr/>
          <p:nvPr/>
        </p:nvSpPr>
        <p:spPr>
          <a:xfrm>
            <a:off x="1161391" y="1712035"/>
            <a:ext cx="2306348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8" name="머리칸"/>
          <p:cNvSpPr>
            <a:spLocks noGrp="1"/>
          </p:cNvSpPr>
          <p:nvPr>
            <p:ph type="body" sz="quarter" idx="28"/>
          </p:nvPr>
        </p:nvSpPr>
        <p:spPr>
          <a:xfrm>
            <a:off x="1161391" y="1712035"/>
            <a:ext cx="2306348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공감과 이해</a:t>
            </a:r>
          </a:p>
        </p:txBody>
      </p:sp>
      <p:sp>
        <p:nvSpPr>
          <p:cNvPr id="29" name="머리칸"/>
          <p:cNvSpPr/>
          <p:nvPr/>
        </p:nvSpPr>
        <p:spPr>
          <a:xfrm>
            <a:off x="3484174" y="1712035"/>
            <a:ext cx="2306348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0" name="머리칸"/>
          <p:cNvSpPr>
            <a:spLocks noGrp="1"/>
          </p:cNvSpPr>
          <p:nvPr>
            <p:ph type="body" sz="quarter" idx="29"/>
          </p:nvPr>
        </p:nvSpPr>
        <p:spPr>
          <a:xfrm>
            <a:off x="3484174" y="1712035"/>
            <a:ext cx="2306348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소통과 설득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1172348" y="1953078"/>
            <a:ext cx="230087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실무추진단 운영(5회)으로 교통직 처우개선을 위한 노사 공감대 형성 노력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1"/>
          </p:nvPr>
        </p:nvSpPr>
        <p:spPr>
          <a:xfrm>
            <a:off x="3495130" y="1953078"/>
            <a:ext cx="230087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유관부처 소통 및 설득(처우개선 예산 4.5억원 확보)</a:t>
            </a:r>
          </a:p>
        </p:txBody>
      </p:sp>
      <p:cxnSp>
        <p:nvCxnSpPr>
          <p:cNvPr id="33" name="Connector 22"/>
          <p:cNvCxnSpPr/>
          <p:nvPr/>
        </p:nvCxnSpPr>
        <p:spPr>
          <a:xfrm>
            <a:off x="3484174" y="1985948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4" name="레일"/>
          <p:cNvSpPr/>
          <p:nvPr/>
        </p:nvSpPr>
        <p:spPr>
          <a:xfrm>
            <a:off x="547826" y="2311983"/>
            <a:ext cx="580696" cy="605426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5" name="레일"/>
          <p:cNvSpPr>
            <a:spLocks noGrp="1"/>
          </p:cNvSpPr>
          <p:nvPr>
            <p:ph type="body" sz="quarter" idx="32"/>
          </p:nvPr>
        </p:nvSpPr>
        <p:spPr>
          <a:xfrm>
            <a:off x="547826" y="2311983"/>
            <a:ext cx="580696" cy="6054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교섭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결과</a:t>
            </a:r>
          </a:p>
        </p:txBody>
      </p:sp>
      <p:sp>
        <p:nvSpPr>
          <p:cNvPr id="36" name="레일 삼각형"/>
          <p:cNvSpPr/>
          <p:nvPr/>
        </p:nvSpPr>
        <p:spPr>
          <a:xfrm>
            <a:off x="547826" y="2311982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7" name="배너"/>
          <p:cNvSpPr/>
          <p:nvPr/>
        </p:nvSpPr>
        <p:spPr>
          <a:xfrm>
            <a:off x="1161391" y="2333896"/>
            <a:ext cx="4645565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8" name="배너"/>
          <p:cNvSpPr>
            <a:spLocks noGrp="1"/>
          </p:cNvSpPr>
          <p:nvPr>
            <p:ph type="body" sz="quarter" idx="33"/>
          </p:nvPr>
        </p:nvSpPr>
        <p:spPr>
          <a:xfrm>
            <a:off x="1161391" y="2333896"/>
            <a:ext cx="4645565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교통직 처우개선 수시단체교섭 노사합의서 체결('25.12월)</a:t>
            </a:r>
          </a:p>
        </p:txBody>
      </p:sp>
      <p:sp>
        <p:nvSpPr>
          <p:cNvPr id="39" name="본문"/>
          <p:cNvSpPr>
            <a:spLocks noGrp="1"/>
          </p:cNvSpPr>
          <p:nvPr>
            <p:ph type="body" sz="quarter" idx="34"/>
          </p:nvPr>
        </p:nvSpPr>
        <p:spPr>
          <a:xfrm>
            <a:off x="1161391" y="2569461"/>
            <a:ext cx="4645565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교통직 자체성과급 신설 및 지급 합의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일반 경력직 채용 비율 상향, 경력가점 변경</a:t>
            </a:r>
          </a:p>
        </p:txBody>
      </p:sp>
      <p:sp>
        <p:nvSpPr>
          <p:cNvPr id="40" name="사진 칸"/>
          <p:cNvSpPr/>
          <p:nvPr/>
        </p:nvSpPr>
        <p:spPr>
          <a:xfrm>
            <a:off x="5878174" y="1068261"/>
            <a:ext cx="958696" cy="1227287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41" name="사진 칸"/>
          <p:cNvSpPr>
            <a:spLocks noGrp="1"/>
          </p:cNvSpPr>
          <p:nvPr>
            <p:ph type="body" sz="quarter" idx="35"/>
          </p:nvPr>
        </p:nvSpPr>
        <p:spPr>
          <a:xfrm>
            <a:off x="5878174" y="1068261"/>
            <a:ext cx="958696" cy="12272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 (합의서)</a:t>
            </a:r>
          </a:p>
        </p:txBody>
      </p:sp>
      <p:sp>
        <p:nvSpPr>
          <p:cNvPr id="42" name="사진 칸"/>
          <p:cNvSpPr/>
          <p:nvPr/>
        </p:nvSpPr>
        <p:spPr>
          <a:xfrm>
            <a:off x="5878174" y="2311983"/>
            <a:ext cx="958696" cy="605426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43" name="사진 칸"/>
          <p:cNvSpPr>
            <a:spLocks noGrp="1"/>
          </p:cNvSpPr>
          <p:nvPr>
            <p:ph type="body" sz="quarter" idx="36"/>
          </p:nvPr>
        </p:nvSpPr>
        <p:spPr>
          <a:xfrm>
            <a:off x="5878174" y="2311983"/>
            <a:ext cx="958696" cy="6054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 (체결식)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6 서사 · 현황 · 문제점 · 노사 공동노력 → 추진성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3812614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 근로자의 안전을 위해! 시설관리 실무직렬 근무체계 개선 합의</a:t>
            </a:r>
          </a:p>
        </p:txBody>
      </p:sp>
      <p:sp>
        <p:nvSpPr>
          <p:cNvPr id="11" name="태그칩"/>
          <p:cNvSpPr/>
          <p:nvPr/>
        </p:nvSpPr>
        <p:spPr>
          <a:xfrm>
            <a:off x="4634353" y="810783"/>
            <a:ext cx="351016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4634353" y="810783"/>
            <a:ext cx="35101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신규</a:t>
            </a:r>
          </a:p>
        </p:txBody>
      </p:sp>
      <p:sp>
        <p:nvSpPr>
          <p:cNvPr id="13" name="표 외곽"/>
          <p:cNvSpPr/>
          <p:nvPr/>
        </p:nvSpPr>
        <p:spPr>
          <a:xfrm>
            <a:off x="723130" y="1062783"/>
            <a:ext cx="6300000" cy="1338261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레일"/>
          <p:cNvSpPr/>
          <p:nvPr/>
        </p:nvSpPr>
        <p:spPr>
          <a:xfrm>
            <a:off x="734087" y="1079217"/>
            <a:ext cx="580696" cy="2534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079217"/>
            <a:ext cx="580696" cy="2534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 황</a:t>
            </a:r>
          </a:p>
        </p:txBody>
      </p:sp>
      <p:sp>
        <p:nvSpPr>
          <p:cNvPr id="16" name="본문"/>
          <p:cNvSpPr>
            <a:spLocks noGrp="1"/>
          </p:cNvSpPr>
          <p:nvPr>
            <p:ph type="body" sz="quarter" idx="23"/>
          </p:nvPr>
        </p:nvSpPr>
        <p:spPr>
          <a:xfrm>
            <a:off x="1347652" y="1101130"/>
            <a:ext cx="5648087" cy="1821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감시단속적 근로 적용 제외 승인 근로형태, 월 251시간 근무</a:t>
            </a:r>
          </a:p>
        </p:txBody>
      </p:sp>
      <p:sp>
        <p:nvSpPr>
          <p:cNvPr id="17" name="레일"/>
          <p:cNvSpPr/>
          <p:nvPr/>
        </p:nvSpPr>
        <p:spPr>
          <a:xfrm>
            <a:off x="734087" y="1349061"/>
            <a:ext cx="580696" cy="2534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4"/>
          </p:nvPr>
        </p:nvSpPr>
        <p:spPr>
          <a:xfrm>
            <a:off x="734087" y="1349061"/>
            <a:ext cx="580696" cy="2534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문제점</a:t>
            </a:r>
          </a:p>
        </p:txBody>
      </p:sp>
      <p:sp>
        <p:nvSpPr>
          <p:cNvPr id="19" name="본문"/>
          <p:cNvSpPr>
            <a:spLocks noGrp="1"/>
          </p:cNvSpPr>
          <p:nvPr>
            <p:ph type="body" sz="quarter" idx="25"/>
          </p:nvPr>
        </p:nvSpPr>
        <p:spPr>
          <a:xfrm>
            <a:off x="1347652" y="1370974"/>
            <a:ext cx="5648087" cy="1821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장시간 근로에 따른 피로누적 등 건강권 저해와 잦은 이직에 따른 인력의 비효율적 운영</a:t>
            </a:r>
          </a:p>
        </p:txBody>
      </p:sp>
      <p:sp>
        <p:nvSpPr>
          <p:cNvPr id="20" name="레일"/>
          <p:cNvSpPr/>
          <p:nvPr/>
        </p:nvSpPr>
        <p:spPr>
          <a:xfrm>
            <a:off x="734087" y="1618904"/>
            <a:ext cx="580696" cy="765704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6"/>
          </p:nvPr>
        </p:nvSpPr>
        <p:spPr>
          <a:xfrm>
            <a:off x="734087" y="1618904"/>
            <a:ext cx="580696" cy="7657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공동노력</a:t>
            </a:r>
          </a:p>
        </p:txBody>
      </p:sp>
      <p:sp>
        <p:nvSpPr>
          <p:cNvPr id="22" name="머리칸"/>
          <p:cNvSpPr/>
          <p:nvPr/>
        </p:nvSpPr>
        <p:spPr>
          <a:xfrm>
            <a:off x="1347652" y="1640817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3" name="머리칸"/>
          <p:cNvSpPr>
            <a:spLocks noGrp="1"/>
          </p:cNvSpPr>
          <p:nvPr>
            <p:ph type="body" sz="quarter" idx="27"/>
          </p:nvPr>
        </p:nvSpPr>
        <p:spPr>
          <a:xfrm>
            <a:off x="1347652" y="1640817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해당 근로자 소통</a:t>
            </a:r>
          </a:p>
        </p:txBody>
      </p:sp>
      <p:sp>
        <p:nvSpPr>
          <p:cNvPr id="24" name="머리칸"/>
          <p:cNvSpPr/>
          <p:nvPr/>
        </p:nvSpPr>
        <p:spPr>
          <a:xfrm>
            <a:off x="3230348" y="1640817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5" name="머리칸"/>
          <p:cNvSpPr>
            <a:spLocks noGrp="1"/>
          </p:cNvSpPr>
          <p:nvPr>
            <p:ph type="body" sz="quarter" idx="28"/>
          </p:nvPr>
        </p:nvSpPr>
        <p:spPr>
          <a:xfrm>
            <a:off x="3230348" y="1640817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근무체계 개편</a:t>
            </a:r>
          </a:p>
        </p:txBody>
      </p:sp>
      <p:sp>
        <p:nvSpPr>
          <p:cNvPr id="26" name="머리칸"/>
          <p:cNvSpPr/>
          <p:nvPr/>
        </p:nvSpPr>
        <p:spPr>
          <a:xfrm>
            <a:off x="5113043" y="1640817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7" name="머리칸"/>
          <p:cNvSpPr>
            <a:spLocks noGrp="1"/>
          </p:cNvSpPr>
          <p:nvPr>
            <p:ph type="body" sz="quarter" idx="29"/>
          </p:nvPr>
        </p:nvSpPr>
        <p:spPr>
          <a:xfrm>
            <a:off x="5113043" y="1640817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임금보전 대책 마련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0"/>
          </p:nvPr>
        </p:nvSpPr>
        <p:spPr>
          <a:xfrm>
            <a:off x="1358609" y="1881861"/>
            <a:ext cx="1860783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승인 해제를 통한 근로조건 개선 설명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임금저하 방지 노사 공동 노력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1"/>
          </p:nvPr>
        </p:nvSpPr>
        <p:spPr>
          <a:xfrm>
            <a:off x="3241304" y="1881861"/>
            <a:ext cx="1860783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일반 근로형태로 전환·개편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월 172시간 근무(기존 251시간)</a:t>
            </a:r>
          </a:p>
        </p:txBody>
      </p:sp>
      <p:cxnSp>
        <p:nvCxnSpPr>
          <p:cNvPr id="30" name="Connector 17"/>
          <p:cNvCxnSpPr/>
          <p:nvPr/>
        </p:nvCxnSpPr>
        <p:spPr>
          <a:xfrm>
            <a:off x="3230348" y="1914730"/>
            <a:ext cx="0" cy="4315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칸 본문"/>
          <p:cNvSpPr>
            <a:spLocks noGrp="1"/>
          </p:cNvSpPr>
          <p:nvPr>
            <p:ph type="body" sz="quarter" idx="32"/>
          </p:nvPr>
        </p:nvSpPr>
        <p:spPr>
          <a:xfrm>
            <a:off x="5124000" y="1881861"/>
            <a:ext cx="1860783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임금보전 대책 검토 및 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휴일·연장근로수당 지급</a:t>
            </a:r>
          </a:p>
        </p:txBody>
      </p:sp>
      <p:cxnSp>
        <p:nvCxnSpPr>
          <p:cNvPr id="32" name="Connector 19"/>
          <p:cNvCxnSpPr/>
          <p:nvPr/>
        </p:nvCxnSpPr>
        <p:spPr>
          <a:xfrm>
            <a:off x="5113043" y="1914730"/>
            <a:ext cx="0" cy="4315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핵심성과 박스"/>
          <p:cNvSpPr/>
          <p:nvPr/>
        </p:nvSpPr>
        <p:spPr>
          <a:xfrm>
            <a:off x="723130" y="2488696"/>
            <a:ext cx="6300000" cy="49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4" name="핵심성과 라벨"/>
          <p:cNvSpPr/>
          <p:nvPr/>
        </p:nvSpPr>
        <p:spPr>
          <a:xfrm>
            <a:off x="756000" y="2527043"/>
            <a:ext cx="657391" cy="41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35" name="핵심성과 라벨"/>
          <p:cNvSpPr>
            <a:spLocks noGrp="1"/>
          </p:cNvSpPr>
          <p:nvPr>
            <p:ph type="body" sz="quarter" idx="33"/>
          </p:nvPr>
        </p:nvSpPr>
        <p:spPr>
          <a:xfrm>
            <a:off x="756000" y="2527043"/>
            <a:ext cx="657391" cy="41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6" name="핵심성과 문구"/>
          <p:cNvSpPr>
            <a:spLocks noGrp="1"/>
          </p:cNvSpPr>
          <p:nvPr>
            <p:ph type="body" sz="quarter" idx="34"/>
          </p:nvPr>
        </p:nvSpPr>
        <p:spPr>
          <a:xfrm>
            <a:off x="1501043" y="2505130"/>
            <a:ext cx="5456348" cy="45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노사합의 체결('25.12월) → 장시간 근무해소(△79시간)를 통한 건강권 확보와 임금보전까지 일거양득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7 서사 · 3분할 병렬 추진 + 요약 바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3634156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라. 직원 만족도를 높이는 복리후생 향상과 근무환경 개선 노력</a:t>
            </a:r>
          </a:p>
        </p:txBody>
      </p:sp>
      <p:sp>
        <p:nvSpPr>
          <p:cNvPr id="12" name="태그칩"/>
          <p:cNvSpPr/>
          <p:nvPr/>
        </p:nvSpPr>
        <p:spPr>
          <a:xfrm>
            <a:off x="4269635" y="799826"/>
            <a:ext cx="351016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269635" y="799826"/>
            <a:ext cx="35101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강화</a:t>
            </a:r>
          </a:p>
        </p:txBody>
      </p:sp>
      <p:sp>
        <p:nvSpPr>
          <p:cNvPr id="14" name="패널 외곽"/>
          <p:cNvSpPr/>
          <p:nvPr/>
        </p:nvSpPr>
        <p:spPr>
          <a:xfrm>
            <a:off x="536870" y="1062783"/>
            <a:ext cx="2070783" cy="990313"/>
          </a:xfrm>
          <a:prstGeom prst="rect">
            <a:avLst/>
          </a:prstGeom>
          <a:solidFill>
            <a:srgbClr val="FFFFFF"/>
          </a:solidFill>
          <a:ln w="12700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패널 머리"/>
          <p:cNvSpPr/>
          <p:nvPr/>
        </p:nvSpPr>
        <p:spPr>
          <a:xfrm>
            <a:off x="536870" y="1062783"/>
            <a:ext cx="2070783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16" name="패널 머리"/>
          <p:cNvSpPr>
            <a:spLocks noGrp="1"/>
          </p:cNvSpPr>
          <p:nvPr>
            <p:ph type="body" sz="quarter" idx="22"/>
          </p:nvPr>
        </p:nvSpPr>
        <p:spPr>
          <a:xfrm>
            <a:off x="536870" y="1062783"/>
            <a:ext cx="207078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복리후생 향상</a:t>
            </a:r>
          </a:p>
        </p:txBody>
      </p:sp>
      <p:sp>
        <p:nvSpPr>
          <p:cNvPr id="17" name="패널 본문"/>
          <p:cNvSpPr>
            <a:spLocks noGrp="1"/>
          </p:cNvSpPr>
          <p:nvPr>
            <p:ph type="body" sz="quarter" idx="23"/>
          </p:nvPr>
        </p:nvSpPr>
        <p:spPr>
          <a:xfrm>
            <a:off x="558783" y="1303826"/>
            <a:ext cx="2026957" cy="4863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휴양소 운영 확대(502명 이용)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 사택 에어컨 보급, 장례서비스 확대</a:t>
            </a:r>
          </a:p>
        </p:txBody>
      </p:sp>
      <p:sp>
        <p:nvSpPr>
          <p:cNvPr id="18" name="요약 바"/>
          <p:cNvSpPr/>
          <p:nvPr/>
        </p:nvSpPr>
        <p:spPr>
          <a:xfrm>
            <a:off x="558783" y="1812052"/>
            <a:ext cx="2026957" cy="219130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19" name="요약 바"/>
          <p:cNvSpPr>
            <a:spLocks noGrp="1"/>
          </p:cNvSpPr>
          <p:nvPr>
            <p:ph type="body" sz="quarter" idx="24"/>
          </p:nvPr>
        </p:nvSpPr>
        <p:spPr>
          <a:xfrm>
            <a:off x="558783" y="1812052"/>
            <a:ext cx="2026957" cy="219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복리후생만족도 92.1점</a:t>
            </a:r>
          </a:p>
        </p:txBody>
      </p:sp>
      <p:sp>
        <p:nvSpPr>
          <p:cNvPr id="20" name="패널 외곽"/>
          <p:cNvSpPr/>
          <p:nvPr/>
        </p:nvSpPr>
        <p:spPr>
          <a:xfrm>
            <a:off x="2651478" y="1062783"/>
            <a:ext cx="2070783" cy="990313"/>
          </a:xfrm>
          <a:prstGeom prst="rect">
            <a:avLst/>
          </a:prstGeom>
          <a:solidFill>
            <a:srgbClr val="FFFFFF"/>
          </a:solidFill>
          <a:ln w="12700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1" name="패널 머리"/>
          <p:cNvSpPr/>
          <p:nvPr/>
        </p:nvSpPr>
        <p:spPr>
          <a:xfrm>
            <a:off x="2651478" y="1062783"/>
            <a:ext cx="2070783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2" name="패널 머리"/>
          <p:cNvSpPr>
            <a:spLocks noGrp="1"/>
          </p:cNvSpPr>
          <p:nvPr>
            <p:ph type="body" sz="quarter" idx="25"/>
          </p:nvPr>
        </p:nvSpPr>
        <p:spPr>
          <a:xfrm>
            <a:off x="2651478" y="1062783"/>
            <a:ext cx="207078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가족친화경영 확대</a:t>
            </a:r>
          </a:p>
        </p:txBody>
      </p:sp>
      <p:sp>
        <p:nvSpPr>
          <p:cNvPr id="23" name="패널 본문"/>
          <p:cNvSpPr>
            <a:spLocks noGrp="1"/>
          </p:cNvSpPr>
          <p:nvPr>
            <p:ph type="body" sz="quarter" idx="26"/>
          </p:nvPr>
        </p:nvSpPr>
        <p:spPr>
          <a:xfrm>
            <a:off x="2673391" y="1303826"/>
            <a:ext cx="2026957" cy="4863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출산축하금 신설, 휴가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육아지원 3법 도입, 가족 동반 행사</a:t>
            </a:r>
          </a:p>
        </p:txBody>
      </p:sp>
      <p:sp>
        <p:nvSpPr>
          <p:cNvPr id="24" name="요약 바"/>
          <p:cNvSpPr/>
          <p:nvPr/>
        </p:nvSpPr>
        <p:spPr>
          <a:xfrm>
            <a:off x="2673391" y="1812052"/>
            <a:ext cx="2026957" cy="219130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5" name="요약 바"/>
          <p:cNvSpPr>
            <a:spLocks noGrp="1"/>
          </p:cNvSpPr>
          <p:nvPr>
            <p:ph type="body" sz="quarter" idx="27"/>
          </p:nvPr>
        </p:nvSpPr>
        <p:spPr>
          <a:xfrm>
            <a:off x="2673391" y="1812052"/>
            <a:ext cx="2026957" cy="219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가족친화 만족도 8.6점</a:t>
            </a:r>
          </a:p>
        </p:txBody>
      </p:sp>
      <p:sp>
        <p:nvSpPr>
          <p:cNvPr id="26" name="패널 외곽"/>
          <p:cNvSpPr/>
          <p:nvPr/>
        </p:nvSpPr>
        <p:spPr>
          <a:xfrm>
            <a:off x="4766087" y="1062783"/>
            <a:ext cx="2070783" cy="990313"/>
          </a:xfrm>
          <a:prstGeom prst="rect">
            <a:avLst/>
          </a:prstGeom>
          <a:solidFill>
            <a:srgbClr val="FFFFFF"/>
          </a:solidFill>
          <a:ln w="12700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7" name="패널 머리"/>
          <p:cNvSpPr/>
          <p:nvPr/>
        </p:nvSpPr>
        <p:spPr>
          <a:xfrm>
            <a:off x="4766087" y="1062783"/>
            <a:ext cx="2070783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8" name="패널 머리"/>
          <p:cNvSpPr>
            <a:spLocks noGrp="1"/>
          </p:cNvSpPr>
          <p:nvPr>
            <p:ph type="body" sz="quarter" idx="28"/>
          </p:nvPr>
        </p:nvSpPr>
        <p:spPr>
          <a:xfrm>
            <a:off x="4766087" y="1062783"/>
            <a:ext cx="207078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안전일터 조성</a:t>
            </a:r>
          </a:p>
        </p:txBody>
      </p:sp>
      <p:sp>
        <p:nvSpPr>
          <p:cNvPr id="29" name="패널 본문"/>
          <p:cNvSpPr>
            <a:spLocks noGrp="1"/>
          </p:cNvSpPr>
          <p:nvPr>
            <p:ph type="body" sz="quarter" idx="29"/>
          </p:nvPr>
        </p:nvSpPr>
        <p:spPr>
          <a:xfrm>
            <a:off x="4788000" y="1303826"/>
            <a:ext cx="2026957" cy="4863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석면 잔존 사업장 제거(8개소)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청사 안전진단·스트레스 조사</a:t>
            </a:r>
          </a:p>
        </p:txBody>
      </p:sp>
      <p:sp>
        <p:nvSpPr>
          <p:cNvPr id="30" name="요약 바"/>
          <p:cNvSpPr/>
          <p:nvPr/>
        </p:nvSpPr>
        <p:spPr>
          <a:xfrm>
            <a:off x="4788000" y="1812052"/>
            <a:ext cx="2026957" cy="219130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1" name="요약 바"/>
          <p:cNvSpPr>
            <a:spLocks noGrp="1"/>
          </p:cNvSpPr>
          <p:nvPr>
            <p:ph type="body" sz="quarter" idx="30"/>
          </p:nvPr>
        </p:nvSpPr>
        <p:spPr>
          <a:xfrm>
            <a:off x="4788000" y="1812052"/>
            <a:ext cx="2026957" cy="219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근로개선지수 91.6점</a:t>
            </a:r>
          </a:p>
        </p:txBody>
      </p:sp>
      <p:sp>
        <p:nvSpPr>
          <p:cNvPr id="32" name="핵심성과 박스"/>
          <p:cNvSpPr/>
          <p:nvPr/>
        </p:nvSpPr>
        <p:spPr>
          <a:xfrm>
            <a:off x="536870" y="2140748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3" name="핵심성과 라벨"/>
          <p:cNvSpPr/>
          <p:nvPr/>
        </p:nvSpPr>
        <p:spPr>
          <a:xfrm>
            <a:off x="569739" y="2179096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34" name="핵심성과 라벨"/>
          <p:cNvSpPr>
            <a:spLocks noGrp="1"/>
          </p:cNvSpPr>
          <p:nvPr>
            <p:ph type="body" sz="quarter" idx="31"/>
          </p:nvPr>
        </p:nvSpPr>
        <p:spPr>
          <a:xfrm>
            <a:off x="569739" y="2179096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핵심성과</a:t>
            </a:r>
          </a:p>
        </p:txBody>
      </p:sp>
      <p:sp>
        <p:nvSpPr>
          <p:cNvPr id="35" name="핵심성과 문구"/>
          <p:cNvSpPr>
            <a:spLocks noGrp="1"/>
          </p:cNvSpPr>
          <p:nvPr>
            <p:ph type="body" sz="quarter" idx="32"/>
          </p:nvPr>
        </p:nvSpPr>
        <p:spPr>
          <a:xfrm>
            <a:off x="1314783" y="2157183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근로개선지수 전년대비 1.5점 상승(90.1 → 91.6점), 복리후생 만족도 3년 연속 '우수' 등급 획득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8 서사 · 추진방향 → 프로세스 4단 → 목표 재설계 → 30개 지표 목표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5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새 정부 국정과제 및 사업 포트폴리오 연계 중장기 경영목표 롤링</a:t>
            </a:r>
          </a:p>
        </p:txBody>
      </p:sp>
      <p:sp>
        <p:nvSpPr>
          <p:cNvPr id="14" name="번호 띠 칩"/>
          <p:cNvSpPr/>
          <p:nvPr/>
        </p:nvSpPr>
        <p:spPr>
          <a:xfrm>
            <a:off x="6451874" y="843652"/>
            <a:ext cx="505517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번호 띠 칩"/>
          <p:cNvSpPr>
            <a:spLocks noGrp="1"/>
          </p:cNvSpPr>
          <p:nvPr>
            <p:ph type="body" sz="quarter" idx="22"/>
          </p:nvPr>
        </p:nvSpPr>
        <p:spPr>
          <a:xfrm>
            <a:off x="6451874" y="843652"/>
            <a:ext cx="50551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6" name="표 외곽"/>
          <p:cNvSpPr/>
          <p:nvPr/>
        </p:nvSpPr>
        <p:spPr>
          <a:xfrm>
            <a:off x="723130" y="1128522"/>
            <a:ext cx="6300000" cy="3807391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734087" y="1144957"/>
            <a:ext cx="580696" cy="465652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3"/>
          </p:nvPr>
        </p:nvSpPr>
        <p:spPr>
          <a:xfrm>
            <a:off x="734087" y="1144957"/>
            <a:ext cx="580696" cy="46565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 향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4"/>
          </p:nvPr>
        </p:nvSpPr>
        <p:spPr>
          <a:xfrm>
            <a:off x="1358609" y="1166870"/>
            <a:ext cx="5626174" cy="438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경영목표 수립 4대 원칙 기반 기존 ‘3-12-20’ ➡ 성과목표 세분화 등 ‘4-12-30’으로 전환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① 국정과제 반영 ② 핵심업무 연계성 ③ 효율성·공공성 ④ ESG</a:t>
            </a:r>
          </a:p>
        </p:txBody>
      </p:sp>
      <p:sp>
        <p:nvSpPr>
          <p:cNvPr id="20" name="레일"/>
          <p:cNvSpPr/>
          <p:nvPr/>
        </p:nvSpPr>
        <p:spPr>
          <a:xfrm>
            <a:off x="734087" y="1627043"/>
            <a:ext cx="580696" cy="128191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5"/>
          </p:nvPr>
        </p:nvSpPr>
        <p:spPr>
          <a:xfrm>
            <a:off x="734087" y="1627043"/>
            <a:ext cx="580696" cy="12819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프로세스</a:t>
            </a:r>
          </a:p>
        </p:txBody>
      </p:sp>
      <p:sp>
        <p:nvSpPr>
          <p:cNvPr id="22" name="레일 삼각형"/>
          <p:cNvSpPr/>
          <p:nvPr/>
        </p:nvSpPr>
        <p:spPr>
          <a:xfrm>
            <a:off x="734086" y="1627043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3" name="단계"/>
          <p:cNvSpPr/>
          <p:nvPr/>
        </p:nvSpPr>
        <p:spPr>
          <a:xfrm>
            <a:off x="1347652" y="1648957"/>
            <a:ext cx="141202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4" name="단계"/>
          <p:cNvSpPr>
            <a:spLocks noGrp="1"/>
          </p:cNvSpPr>
          <p:nvPr>
            <p:ph type="body" sz="quarter" idx="26"/>
          </p:nvPr>
        </p:nvSpPr>
        <p:spPr>
          <a:xfrm>
            <a:off x="1347652" y="1648957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국정과제 정렬</a:t>
            </a:r>
          </a:p>
        </p:txBody>
      </p:sp>
      <p:sp>
        <p:nvSpPr>
          <p:cNvPr id="25" name="단계"/>
          <p:cNvSpPr/>
          <p:nvPr/>
        </p:nvSpPr>
        <p:spPr>
          <a:xfrm>
            <a:off x="2759674" y="1648957"/>
            <a:ext cx="1412022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6" name="단계"/>
          <p:cNvSpPr>
            <a:spLocks noGrp="1"/>
          </p:cNvSpPr>
          <p:nvPr>
            <p:ph type="body" sz="quarter" idx="27"/>
          </p:nvPr>
        </p:nvSpPr>
        <p:spPr>
          <a:xfrm>
            <a:off x="2759674" y="1648957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핵심업무 연계</a:t>
            </a:r>
          </a:p>
        </p:txBody>
      </p:sp>
      <p:sp>
        <p:nvSpPr>
          <p:cNvPr id="27" name="단계"/>
          <p:cNvSpPr/>
          <p:nvPr/>
        </p:nvSpPr>
        <p:spPr>
          <a:xfrm>
            <a:off x="4171696" y="1648957"/>
            <a:ext cx="1412022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8" name="단계"/>
          <p:cNvSpPr>
            <a:spLocks noGrp="1"/>
          </p:cNvSpPr>
          <p:nvPr>
            <p:ph type="body" sz="quarter" idx="28"/>
          </p:nvPr>
        </p:nvSpPr>
        <p:spPr>
          <a:xfrm>
            <a:off x="4171696" y="1648957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목표체계 재설계</a:t>
            </a:r>
          </a:p>
        </p:txBody>
      </p:sp>
      <p:sp>
        <p:nvSpPr>
          <p:cNvPr id="29" name="단계"/>
          <p:cNvSpPr/>
          <p:nvPr/>
        </p:nvSpPr>
        <p:spPr>
          <a:xfrm>
            <a:off x="5583717" y="1648957"/>
            <a:ext cx="1412022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0" name="단계"/>
          <p:cNvSpPr>
            <a:spLocks noGrp="1"/>
          </p:cNvSpPr>
          <p:nvPr>
            <p:ph type="body" sz="quarter" idx="29"/>
          </p:nvPr>
        </p:nvSpPr>
        <p:spPr>
          <a:xfrm>
            <a:off x="5583717" y="1648957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실행가능 지표목표</a:t>
            </a:r>
          </a:p>
        </p:txBody>
      </p:sp>
      <p:sp>
        <p:nvSpPr>
          <p:cNvPr id="31" name="단계 삼각형"/>
          <p:cNvSpPr/>
          <p:nvPr/>
        </p:nvSpPr>
        <p:spPr>
          <a:xfrm>
            <a:off x="2759673" y="1648956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2" name="단계 삼각형"/>
          <p:cNvSpPr/>
          <p:nvPr/>
        </p:nvSpPr>
        <p:spPr>
          <a:xfrm>
            <a:off x="4171695" y="1648956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3" name="단계 삼각형"/>
          <p:cNvSpPr/>
          <p:nvPr/>
        </p:nvSpPr>
        <p:spPr>
          <a:xfrm>
            <a:off x="5583717" y="1648956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0"/>
          </p:nvPr>
        </p:nvSpPr>
        <p:spPr>
          <a:xfrm>
            <a:off x="1358609" y="1900957"/>
            <a:ext cx="1390109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정책 핵심 키워드 매칭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안전, AI, 녹색전환 등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1"/>
          </p:nvPr>
        </p:nvSpPr>
        <p:spPr>
          <a:xfrm>
            <a:off x="2770630" y="1900957"/>
            <a:ext cx="1390109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공사 주요사업·기능 기준으로 재구조화</a:t>
            </a:r>
          </a:p>
        </p:txBody>
      </p:sp>
      <p:cxnSp>
        <p:nvCxnSpPr>
          <p:cNvPr id="36" name="Connector 23"/>
          <p:cNvCxnSpPr/>
          <p:nvPr/>
        </p:nvCxnSpPr>
        <p:spPr>
          <a:xfrm>
            <a:off x="2759674" y="1933826"/>
            <a:ext cx="0" cy="482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7" name="칸 본문"/>
          <p:cNvSpPr>
            <a:spLocks noGrp="1"/>
          </p:cNvSpPr>
          <p:nvPr>
            <p:ph type="body" sz="quarter" idx="32"/>
          </p:nvPr>
        </p:nvSpPr>
        <p:spPr>
          <a:xfrm>
            <a:off x="4182652" y="1900957"/>
            <a:ext cx="1390109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국정과제·업무연계 + 공공성·효율성 + ESG</a:t>
            </a:r>
          </a:p>
        </p:txBody>
      </p:sp>
      <p:cxnSp>
        <p:nvCxnSpPr>
          <p:cNvPr id="38" name="Connector 25"/>
          <p:cNvCxnSpPr/>
          <p:nvPr/>
        </p:nvCxnSpPr>
        <p:spPr>
          <a:xfrm>
            <a:off x="4171696" y="1933826"/>
            <a:ext cx="0" cy="482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9" name="칸 본문"/>
          <p:cNvSpPr>
            <a:spLocks noGrp="1"/>
          </p:cNvSpPr>
          <p:nvPr>
            <p:ph type="body" sz="quarter" idx="33"/>
          </p:nvPr>
        </p:nvSpPr>
        <p:spPr>
          <a:xfrm>
            <a:off x="5594674" y="1900957"/>
            <a:ext cx="1390109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자원배분·KPI 등과 연계·목표 확정</a:t>
            </a:r>
          </a:p>
        </p:txBody>
      </p:sp>
      <p:cxnSp>
        <p:nvCxnSpPr>
          <p:cNvPr id="40" name="Connector 27"/>
          <p:cNvCxnSpPr/>
          <p:nvPr/>
        </p:nvCxnSpPr>
        <p:spPr>
          <a:xfrm>
            <a:off x="5583717" y="1933826"/>
            <a:ext cx="0" cy="482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1" name="칸 본문"/>
          <p:cNvSpPr>
            <a:spLocks noGrp="1"/>
          </p:cNvSpPr>
          <p:nvPr>
            <p:ph type="body" sz="quarter" idx="34"/>
          </p:nvPr>
        </p:nvSpPr>
        <p:spPr>
          <a:xfrm>
            <a:off x="1358609" y="2465217"/>
            <a:ext cx="1390109" cy="438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극한기후 대비 국민 물안전·물이용 보장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35"/>
          </p:nvPr>
        </p:nvSpPr>
        <p:spPr>
          <a:xfrm>
            <a:off x="2770630" y="2465217"/>
            <a:ext cx="1390109" cy="438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민간·글로벌 협력 물가치 창출</a:t>
            </a:r>
          </a:p>
        </p:txBody>
      </p:sp>
      <p:cxnSp>
        <p:nvCxnSpPr>
          <p:cNvPr id="43" name="Connector 30"/>
          <p:cNvCxnSpPr/>
          <p:nvPr/>
        </p:nvCxnSpPr>
        <p:spPr>
          <a:xfrm>
            <a:off x="2759674" y="2498087"/>
            <a:ext cx="0" cy="372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4" name="칸 본문"/>
          <p:cNvSpPr>
            <a:spLocks noGrp="1"/>
          </p:cNvSpPr>
          <p:nvPr>
            <p:ph type="body" sz="quarter" idx="36"/>
          </p:nvPr>
        </p:nvSpPr>
        <p:spPr>
          <a:xfrm>
            <a:off x="4182652" y="2465217"/>
            <a:ext cx="1390109" cy="438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공정과 혁신 기반 글로벌 물기업 도약</a:t>
            </a:r>
          </a:p>
        </p:txBody>
      </p:sp>
      <p:cxnSp>
        <p:nvCxnSpPr>
          <p:cNvPr id="45" name="Connector 32"/>
          <p:cNvCxnSpPr/>
          <p:nvPr/>
        </p:nvCxnSpPr>
        <p:spPr>
          <a:xfrm>
            <a:off x="4171696" y="2498087"/>
            <a:ext cx="0" cy="372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6" name="칸 본문"/>
          <p:cNvSpPr>
            <a:spLocks noGrp="1"/>
          </p:cNvSpPr>
          <p:nvPr>
            <p:ph type="body" sz="quarter" idx="37"/>
          </p:nvPr>
        </p:nvSpPr>
        <p:spPr>
          <a:xfrm>
            <a:off x="5594674" y="2465217"/>
            <a:ext cx="1390109" cy="438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〈신설〉</a:t>
            </a:r>
          </a:p>
        </p:txBody>
      </p:sp>
      <p:cxnSp>
        <p:nvCxnSpPr>
          <p:cNvPr id="47" name="Connector 34"/>
          <p:cNvCxnSpPr/>
          <p:nvPr/>
        </p:nvCxnSpPr>
        <p:spPr>
          <a:xfrm>
            <a:off x="5583717" y="2498087"/>
            <a:ext cx="0" cy="372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8" name="레일"/>
          <p:cNvSpPr/>
          <p:nvPr/>
        </p:nvSpPr>
        <p:spPr>
          <a:xfrm>
            <a:off x="734087" y="2925391"/>
            <a:ext cx="580696" cy="19940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9" name="레일"/>
          <p:cNvSpPr>
            <a:spLocks noGrp="1"/>
          </p:cNvSpPr>
          <p:nvPr>
            <p:ph type="body" sz="quarter" idx="38"/>
          </p:nvPr>
        </p:nvSpPr>
        <p:spPr>
          <a:xfrm>
            <a:off x="734087" y="2925391"/>
            <a:ext cx="580696" cy="1994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’25-’29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↓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’26-’30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목표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재설계</a:t>
            </a:r>
          </a:p>
        </p:txBody>
      </p:sp>
      <p:sp>
        <p:nvSpPr>
          <p:cNvPr id="50" name="레일 삼각형"/>
          <p:cNvSpPr/>
          <p:nvPr/>
        </p:nvSpPr>
        <p:spPr>
          <a:xfrm>
            <a:off x="734086" y="2925391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1" name="칸 본문"/>
          <p:cNvSpPr>
            <a:spLocks noGrp="1"/>
          </p:cNvSpPr>
          <p:nvPr>
            <p:ph type="body" sz="quarter" idx="39"/>
          </p:nvPr>
        </p:nvSpPr>
        <p:spPr>
          <a:xfrm>
            <a:off x="1358609" y="2947304"/>
            <a:ext cx="1390109" cy="1183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국민·자연 기후안전망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예방-대응-복원 전주기 관점 안전망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❶ 기후대응 ❷ 물재해대응 ❸ 국민안전 ❹ 예측고도화</a:t>
            </a:r>
          </a:p>
        </p:txBody>
      </p:sp>
      <p:sp>
        <p:nvSpPr>
          <p:cNvPr id="52" name="칸 본문"/>
          <p:cNvSpPr>
            <a:spLocks noGrp="1"/>
          </p:cNvSpPr>
          <p:nvPr>
            <p:ph type="body" sz="quarter" idx="40"/>
          </p:nvPr>
        </p:nvSpPr>
        <p:spPr>
          <a:xfrm>
            <a:off x="2770630" y="2947304"/>
            <a:ext cx="1390109" cy="1183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AI전환 중단없는 물공급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AI의 핵심기술 전환 및 첨단산업 니즈 대응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❶ AI·첨단산업 ❷ 용수공급 ❸ 공공재 공급 ❹ AI운영혁신</a:t>
            </a:r>
          </a:p>
        </p:txBody>
      </p:sp>
      <p:cxnSp>
        <p:nvCxnSpPr>
          <p:cNvPr id="53" name="Connector 39"/>
          <p:cNvCxnSpPr/>
          <p:nvPr/>
        </p:nvCxnSpPr>
        <p:spPr>
          <a:xfrm>
            <a:off x="2759674" y="2980174"/>
            <a:ext cx="0" cy="1117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4" name="칸 본문"/>
          <p:cNvSpPr>
            <a:spLocks noGrp="1"/>
          </p:cNvSpPr>
          <p:nvPr>
            <p:ph type="body" sz="quarter" idx="41"/>
          </p:nvPr>
        </p:nvSpPr>
        <p:spPr>
          <a:xfrm>
            <a:off x="4182652" y="2947304"/>
            <a:ext cx="1390109" cy="1183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탈탄소 녹색전환 및 K-물관리 수출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확장을 넘어 도전적 재생e목표 반영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❶ 재생e전환 ❷ 물에너지 ❸ 탄소중립 ❹ 수익창출</a:t>
            </a:r>
          </a:p>
        </p:txBody>
      </p:sp>
      <p:cxnSp>
        <p:nvCxnSpPr>
          <p:cNvPr id="55" name="Connector 41"/>
          <p:cNvCxnSpPr/>
          <p:nvPr/>
        </p:nvCxnSpPr>
        <p:spPr>
          <a:xfrm>
            <a:off x="4171696" y="2980174"/>
            <a:ext cx="0" cy="1117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6" name="칸 본문"/>
          <p:cNvSpPr>
            <a:spLocks noGrp="1"/>
          </p:cNvSpPr>
          <p:nvPr>
            <p:ph type="body" sz="quarter" idx="42"/>
          </p:nvPr>
        </p:nvSpPr>
        <p:spPr>
          <a:xfrm>
            <a:off x="5594674" y="2947304"/>
            <a:ext cx="1390109" cy="1183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 최우선 ESG 기반 혁신경영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지원기능에서 기관의 경영근간 격상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❶ 공공혁신 ❷ 안전·윤리 ❸ 재무건전성 ❹ 안전일터</a:t>
            </a:r>
          </a:p>
        </p:txBody>
      </p:sp>
      <p:cxnSp>
        <p:nvCxnSpPr>
          <p:cNvPr id="57" name="Connector 43"/>
          <p:cNvCxnSpPr/>
          <p:nvPr/>
        </p:nvCxnSpPr>
        <p:spPr>
          <a:xfrm>
            <a:off x="5583717" y="2980174"/>
            <a:ext cx="0" cy="1117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8" name="머리칸"/>
          <p:cNvSpPr/>
          <p:nvPr/>
        </p:nvSpPr>
        <p:spPr>
          <a:xfrm>
            <a:off x="1347652" y="4147043"/>
            <a:ext cx="139558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9" name="머리칸"/>
          <p:cNvSpPr>
            <a:spLocks noGrp="1"/>
          </p:cNvSpPr>
          <p:nvPr>
            <p:ph type="body" sz="quarter" idx="43"/>
          </p:nvPr>
        </p:nvSpPr>
        <p:spPr>
          <a:xfrm>
            <a:off x="1347652" y="4147043"/>
            <a:ext cx="13955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추진과제</a:t>
            </a:r>
          </a:p>
        </p:txBody>
      </p:sp>
      <p:sp>
        <p:nvSpPr>
          <p:cNvPr id="60" name="머리칸"/>
          <p:cNvSpPr/>
          <p:nvPr/>
        </p:nvSpPr>
        <p:spPr>
          <a:xfrm>
            <a:off x="2759674" y="4147043"/>
            <a:ext cx="139558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61" name="머리칸"/>
          <p:cNvSpPr>
            <a:spLocks noGrp="1"/>
          </p:cNvSpPr>
          <p:nvPr>
            <p:ph type="body" sz="quarter" idx="44"/>
          </p:nvPr>
        </p:nvSpPr>
        <p:spPr>
          <a:xfrm>
            <a:off x="2759674" y="4147043"/>
            <a:ext cx="13955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추진과제</a:t>
            </a:r>
          </a:p>
        </p:txBody>
      </p:sp>
      <p:sp>
        <p:nvSpPr>
          <p:cNvPr id="62" name="머리칸"/>
          <p:cNvSpPr/>
          <p:nvPr/>
        </p:nvSpPr>
        <p:spPr>
          <a:xfrm>
            <a:off x="4171696" y="4147043"/>
            <a:ext cx="139558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63" name="머리칸"/>
          <p:cNvSpPr>
            <a:spLocks noGrp="1"/>
          </p:cNvSpPr>
          <p:nvPr>
            <p:ph type="body" sz="quarter" idx="45"/>
          </p:nvPr>
        </p:nvSpPr>
        <p:spPr>
          <a:xfrm>
            <a:off x="4171696" y="4147043"/>
            <a:ext cx="13955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추진과제</a:t>
            </a:r>
          </a:p>
        </p:txBody>
      </p:sp>
      <p:sp>
        <p:nvSpPr>
          <p:cNvPr id="64" name="머리칸"/>
          <p:cNvSpPr/>
          <p:nvPr/>
        </p:nvSpPr>
        <p:spPr>
          <a:xfrm>
            <a:off x="5583717" y="4147043"/>
            <a:ext cx="139558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65" name="머리칸"/>
          <p:cNvSpPr>
            <a:spLocks noGrp="1"/>
          </p:cNvSpPr>
          <p:nvPr>
            <p:ph type="body" sz="quarter" idx="46"/>
          </p:nvPr>
        </p:nvSpPr>
        <p:spPr>
          <a:xfrm>
            <a:off x="5583717" y="4147043"/>
            <a:ext cx="13955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추진과제</a:t>
            </a:r>
          </a:p>
        </p:txBody>
      </p:sp>
      <p:sp>
        <p:nvSpPr>
          <p:cNvPr id="66" name="칸 본문"/>
          <p:cNvSpPr>
            <a:spLocks noGrp="1"/>
          </p:cNvSpPr>
          <p:nvPr>
            <p:ph type="body" sz="quarter" idx="47"/>
          </p:nvPr>
        </p:nvSpPr>
        <p:spPr>
          <a:xfrm>
            <a:off x="1358609" y="4388087"/>
            <a:ext cx="1390109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재해대응, 국민안전, 물환경 등 3과제 구체화</a:t>
            </a:r>
          </a:p>
        </p:txBody>
      </p:sp>
      <p:sp>
        <p:nvSpPr>
          <p:cNvPr id="67" name="칸 본문"/>
          <p:cNvSpPr>
            <a:spLocks noGrp="1"/>
          </p:cNvSpPr>
          <p:nvPr>
            <p:ph type="body" sz="quarter" idx="48"/>
          </p:nvPr>
        </p:nvSpPr>
        <p:spPr>
          <a:xfrm>
            <a:off x="2770630" y="4388087"/>
            <a:ext cx="1390109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AI·DT 운영 고도화 및 첨단용수 물공급 등 3과제</a:t>
            </a:r>
          </a:p>
        </p:txBody>
      </p:sp>
      <p:cxnSp>
        <p:nvCxnSpPr>
          <p:cNvPr id="68" name="Connector 50"/>
          <p:cNvCxnSpPr/>
          <p:nvPr/>
        </p:nvCxnSpPr>
        <p:spPr>
          <a:xfrm>
            <a:off x="2759674" y="4420957"/>
            <a:ext cx="0" cy="46017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9" name="칸 본문"/>
          <p:cNvSpPr>
            <a:spLocks noGrp="1"/>
          </p:cNvSpPr>
          <p:nvPr>
            <p:ph type="body" sz="quarter" idx="49"/>
          </p:nvPr>
        </p:nvSpPr>
        <p:spPr>
          <a:xfrm>
            <a:off x="4182652" y="4388087"/>
            <a:ext cx="1390109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재생e·NDC·기후테크 중심 수출확대 성과 3과제</a:t>
            </a:r>
          </a:p>
        </p:txBody>
      </p:sp>
      <p:cxnSp>
        <p:nvCxnSpPr>
          <p:cNvPr id="70" name="Connector 52"/>
          <p:cNvCxnSpPr/>
          <p:nvPr/>
        </p:nvCxnSpPr>
        <p:spPr>
          <a:xfrm>
            <a:off x="4171696" y="4420957"/>
            <a:ext cx="0" cy="46017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1" name="칸 본문"/>
          <p:cNvSpPr>
            <a:spLocks noGrp="1"/>
          </p:cNvSpPr>
          <p:nvPr>
            <p:ph type="body" sz="quarter" idx="50"/>
          </p:nvPr>
        </p:nvSpPr>
        <p:spPr>
          <a:xfrm>
            <a:off x="5594674" y="4388087"/>
            <a:ext cx="1390109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안전·R&amp;D, 안정적 재무, 청렴 등 3과제 명확화</a:t>
            </a:r>
          </a:p>
        </p:txBody>
      </p:sp>
      <p:cxnSp>
        <p:nvCxnSpPr>
          <p:cNvPr id="72" name="Connector 54"/>
          <p:cNvCxnSpPr/>
          <p:nvPr/>
        </p:nvCxnSpPr>
        <p:spPr>
          <a:xfrm>
            <a:off x="5583717" y="4420957"/>
            <a:ext cx="0" cy="46017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3" name="배너"/>
          <p:cNvSpPr/>
          <p:nvPr/>
        </p:nvSpPr>
        <p:spPr>
          <a:xfrm>
            <a:off x="723130" y="4990696"/>
            <a:ext cx="6300000" cy="328696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cxnSp>
        <p:nvCxnSpPr>
          <p:cNvPr id="74" name="Connector 56"/>
          <p:cNvCxnSpPr/>
          <p:nvPr/>
        </p:nvCxnSpPr>
        <p:spPr>
          <a:xfrm>
            <a:off x="723130" y="4990696"/>
            <a:ext cx="6300000" cy="0"/>
          </a:xfrm>
          <a:prstGeom prst="line">
            <a:avLst/>
          </a:prstGeom>
          <a:ln w="12700">
            <a:solidFill>
              <a:srgbClr val="BDE0FF"/>
            </a:solidFill>
          </a:ln>
        </p:spPr>
      </p:cxnSp>
      <p:sp>
        <p:nvSpPr>
          <p:cNvPr id="75" name="배너 글"/>
          <p:cNvSpPr>
            <a:spLocks noGrp="1"/>
          </p:cNvSpPr>
          <p:nvPr>
            <p:ph type="body" sz="quarter" idx="51"/>
          </p:nvPr>
        </p:nvSpPr>
        <p:spPr>
          <a:xfrm>
            <a:off x="723130" y="5045478"/>
            <a:ext cx="6300000" cy="19721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국정과제는 촘촘히, 미래성장은 강화, 기본책무는 단단하게 30개 지표 신설·목표 보완</a:t>
            </a:r>
          </a:p>
        </p:txBody>
      </p:sp>
      <p:sp>
        <p:nvSpPr>
          <p:cNvPr id="76" name="표 외곽"/>
          <p:cNvSpPr/>
          <p:nvPr/>
        </p:nvSpPr>
        <p:spPr>
          <a:xfrm>
            <a:off x="723130" y="5363217"/>
            <a:ext cx="6300000" cy="305702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7" name="레일"/>
          <p:cNvSpPr/>
          <p:nvPr/>
        </p:nvSpPr>
        <p:spPr>
          <a:xfrm>
            <a:off x="734087" y="5379652"/>
            <a:ext cx="580696" cy="70669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8" name="레일 태그"/>
          <p:cNvSpPr/>
          <p:nvPr/>
        </p:nvSpPr>
        <p:spPr>
          <a:xfrm>
            <a:off x="455766" y="5423478"/>
            <a:ext cx="1137338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79" name="레일 태그"/>
          <p:cNvSpPr>
            <a:spLocks noGrp="1"/>
          </p:cNvSpPr>
          <p:nvPr>
            <p:ph type="body" sz="quarter" idx="52"/>
          </p:nvPr>
        </p:nvSpPr>
        <p:spPr>
          <a:xfrm>
            <a:off x="455766" y="5423478"/>
            <a:ext cx="1137338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신설 5·강화 1·유지 1</a:t>
            </a:r>
          </a:p>
        </p:txBody>
      </p:sp>
      <p:sp>
        <p:nvSpPr>
          <p:cNvPr id="80" name="레일 라벨"/>
          <p:cNvSpPr>
            <a:spLocks noGrp="1"/>
          </p:cNvSpPr>
          <p:nvPr>
            <p:ph type="body" sz="quarter" idx="53"/>
          </p:nvPr>
        </p:nvSpPr>
        <p:spPr>
          <a:xfrm>
            <a:off x="734087" y="5609739"/>
            <a:ext cx="580696" cy="454696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안전망</a:t>
            </a:r>
          </a:p>
        </p:txBody>
      </p:sp>
      <p:sp>
        <p:nvSpPr>
          <p:cNvPr id="81" name="머리칸"/>
          <p:cNvSpPr/>
          <p:nvPr/>
        </p:nvSpPr>
        <p:spPr>
          <a:xfrm>
            <a:off x="1347652" y="540156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82" name="머리칸"/>
          <p:cNvSpPr>
            <a:spLocks noGrp="1"/>
          </p:cNvSpPr>
          <p:nvPr>
            <p:ph type="body" sz="quarter" idx="54"/>
          </p:nvPr>
        </p:nvSpPr>
        <p:spPr>
          <a:xfrm>
            <a:off x="1347652" y="540156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신설 AI·DT·위성 물관리</a:t>
            </a:r>
          </a:p>
        </p:txBody>
      </p:sp>
      <p:sp>
        <p:nvSpPr>
          <p:cNvPr id="83" name="머리칸"/>
          <p:cNvSpPr/>
          <p:nvPr/>
        </p:nvSpPr>
        <p:spPr>
          <a:xfrm>
            <a:off x="3230348" y="540156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84" name="머리칸"/>
          <p:cNvSpPr>
            <a:spLocks noGrp="1"/>
          </p:cNvSpPr>
          <p:nvPr>
            <p:ph type="body" sz="quarter" idx="55"/>
          </p:nvPr>
        </p:nvSpPr>
        <p:spPr>
          <a:xfrm>
            <a:off x="3230348" y="540156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강화 지하수저류댐</a:t>
            </a:r>
          </a:p>
        </p:txBody>
      </p:sp>
      <p:sp>
        <p:nvSpPr>
          <p:cNvPr id="85" name="머리칸"/>
          <p:cNvSpPr/>
          <p:nvPr/>
        </p:nvSpPr>
        <p:spPr>
          <a:xfrm>
            <a:off x="5113043" y="540156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86" name="머리칸"/>
          <p:cNvSpPr>
            <a:spLocks noGrp="1"/>
          </p:cNvSpPr>
          <p:nvPr>
            <p:ph type="body" sz="quarter" idx="56"/>
          </p:nvPr>
        </p:nvSpPr>
        <p:spPr>
          <a:xfrm>
            <a:off x="5113043" y="540156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유지 댐운영목표 달성률</a:t>
            </a:r>
          </a:p>
        </p:txBody>
      </p:sp>
      <p:sp>
        <p:nvSpPr>
          <p:cNvPr id="87" name="칸 본문"/>
          <p:cNvSpPr>
            <a:spLocks noGrp="1"/>
          </p:cNvSpPr>
          <p:nvPr>
            <p:ph type="body" sz="quarter" idx="57"/>
          </p:nvPr>
        </p:nvSpPr>
        <p:spPr>
          <a:xfrm>
            <a:off x="1358609" y="5642609"/>
            <a:ext cx="1860783" cy="438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국정과제(물재해 대응)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’30년 위성 7기(실시간 모니터링)</a:t>
            </a:r>
          </a:p>
        </p:txBody>
      </p:sp>
      <p:sp>
        <p:nvSpPr>
          <p:cNvPr id="88" name="칸 본문"/>
          <p:cNvSpPr>
            <a:spLocks noGrp="1"/>
          </p:cNvSpPr>
          <p:nvPr>
            <p:ph type="body" sz="quarter" idx="58"/>
          </p:nvPr>
        </p:nvSpPr>
        <p:spPr>
          <a:xfrm>
            <a:off x="3241304" y="5642609"/>
            <a:ext cx="1860783" cy="438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대체수자원 확보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’26~’30 11개 → 23개</a:t>
            </a:r>
          </a:p>
        </p:txBody>
      </p:sp>
      <p:cxnSp>
        <p:nvCxnSpPr>
          <p:cNvPr id="89" name="Connector 67"/>
          <p:cNvCxnSpPr/>
          <p:nvPr/>
        </p:nvCxnSpPr>
        <p:spPr>
          <a:xfrm>
            <a:off x="3230348" y="5675478"/>
            <a:ext cx="0" cy="372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90" name="칸 본문"/>
          <p:cNvSpPr>
            <a:spLocks noGrp="1"/>
          </p:cNvSpPr>
          <p:nvPr>
            <p:ph type="body" sz="quarter" idx="59"/>
          </p:nvPr>
        </p:nvSpPr>
        <p:spPr>
          <a:xfrm>
            <a:off x="5124000" y="5642609"/>
            <a:ext cx="1860783" cy="438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홍수·가뭄 등 대응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홍수조절·용수공급 100%</a:t>
            </a:r>
          </a:p>
        </p:txBody>
      </p:sp>
      <p:cxnSp>
        <p:nvCxnSpPr>
          <p:cNvPr id="91" name="Connector 69"/>
          <p:cNvCxnSpPr/>
          <p:nvPr/>
        </p:nvCxnSpPr>
        <p:spPr>
          <a:xfrm>
            <a:off x="5113043" y="5675478"/>
            <a:ext cx="0" cy="372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92" name="레일"/>
          <p:cNvSpPr/>
          <p:nvPr/>
        </p:nvSpPr>
        <p:spPr>
          <a:xfrm>
            <a:off x="734087" y="6102783"/>
            <a:ext cx="580696" cy="780730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3" name="레일 태그"/>
          <p:cNvSpPr/>
          <p:nvPr/>
        </p:nvSpPr>
        <p:spPr>
          <a:xfrm>
            <a:off x="438834" y="6267130"/>
            <a:ext cx="1171201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94" name="레일 태그"/>
          <p:cNvSpPr>
            <a:spLocks noGrp="1"/>
          </p:cNvSpPr>
          <p:nvPr>
            <p:ph type="body" sz="quarter" idx="60"/>
          </p:nvPr>
        </p:nvSpPr>
        <p:spPr>
          <a:xfrm>
            <a:off x="438834" y="6267130"/>
            <a:ext cx="1171201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신설 2·강화 2·유지 2</a:t>
            </a:r>
          </a:p>
        </p:txBody>
      </p:sp>
      <p:sp>
        <p:nvSpPr>
          <p:cNvPr id="95" name="레일 라벨"/>
          <p:cNvSpPr>
            <a:spLocks noGrp="1"/>
          </p:cNvSpPr>
          <p:nvPr>
            <p:ph type="body" sz="quarter" idx="61"/>
          </p:nvPr>
        </p:nvSpPr>
        <p:spPr>
          <a:xfrm>
            <a:off x="734087" y="6453391"/>
            <a:ext cx="580696" cy="408209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AI전환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물공급</a:t>
            </a:r>
          </a:p>
        </p:txBody>
      </p:sp>
      <p:sp>
        <p:nvSpPr>
          <p:cNvPr id="96" name="레일 삼각형"/>
          <p:cNvSpPr/>
          <p:nvPr/>
        </p:nvSpPr>
        <p:spPr>
          <a:xfrm>
            <a:off x="734086" y="6102782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97" name="머리칸"/>
          <p:cNvSpPr/>
          <p:nvPr/>
        </p:nvSpPr>
        <p:spPr>
          <a:xfrm>
            <a:off x="1347652" y="612469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98" name="머리칸"/>
          <p:cNvSpPr>
            <a:spLocks noGrp="1"/>
          </p:cNvSpPr>
          <p:nvPr>
            <p:ph type="body" sz="quarter" idx="62"/>
          </p:nvPr>
        </p:nvSpPr>
        <p:spPr>
          <a:xfrm>
            <a:off x="1347652" y="612469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신설 AI·DT 자율운영</a:t>
            </a:r>
          </a:p>
        </p:txBody>
      </p:sp>
      <p:sp>
        <p:nvSpPr>
          <p:cNvPr id="99" name="머리칸"/>
          <p:cNvSpPr/>
          <p:nvPr/>
        </p:nvSpPr>
        <p:spPr>
          <a:xfrm>
            <a:off x="3230348" y="612469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00" name="머리칸"/>
          <p:cNvSpPr>
            <a:spLocks noGrp="1"/>
          </p:cNvSpPr>
          <p:nvPr>
            <p:ph type="body" sz="quarter" idx="63"/>
          </p:nvPr>
        </p:nvSpPr>
        <p:spPr>
          <a:xfrm>
            <a:off x="3230348" y="612469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강화 첨단수처리 기술</a:t>
            </a:r>
          </a:p>
        </p:txBody>
      </p:sp>
      <p:sp>
        <p:nvSpPr>
          <p:cNvPr id="101" name="머리칸"/>
          <p:cNvSpPr/>
          <p:nvPr/>
        </p:nvSpPr>
        <p:spPr>
          <a:xfrm>
            <a:off x="5113043" y="612469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02" name="머리칸"/>
          <p:cNvSpPr>
            <a:spLocks noGrp="1"/>
          </p:cNvSpPr>
          <p:nvPr>
            <p:ph type="body" sz="quarter" idx="64"/>
          </p:nvPr>
        </p:nvSpPr>
        <p:spPr>
          <a:xfrm>
            <a:off x="5113043" y="612469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유지 물공급 중단예방</a:t>
            </a:r>
          </a:p>
        </p:txBody>
      </p:sp>
      <p:sp>
        <p:nvSpPr>
          <p:cNvPr id="103" name="칸 본문"/>
          <p:cNvSpPr>
            <a:spLocks noGrp="1"/>
          </p:cNvSpPr>
          <p:nvPr>
            <p:ph type="body" sz="quarter" idx="65"/>
          </p:nvPr>
        </p:nvSpPr>
        <p:spPr>
          <a:xfrm>
            <a:off x="1358609" y="6365739"/>
            <a:ext cx="1860783" cy="438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국정과제(AI 3대강국)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’30년 LV3 44개소(완전자율)</a:t>
            </a:r>
          </a:p>
        </p:txBody>
      </p:sp>
      <p:sp>
        <p:nvSpPr>
          <p:cNvPr id="104" name="칸 본문"/>
          <p:cNvSpPr>
            <a:spLocks noGrp="1"/>
          </p:cNvSpPr>
          <p:nvPr>
            <p:ph type="body" sz="quarter" idx="66"/>
          </p:nvPr>
        </p:nvSpPr>
        <p:spPr>
          <a:xfrm>
            <a:off x="3241304" y="6365739"/>
            <a:ext cx="1860783" cy="438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초순수 공급시설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2개 → 3개</a:t>
            </a:r>
          </a:p>
        </p:txBody>
      </p:sp>
      <p:cxnSp>
        <p:nvCxnSpPr>
          <p:cNvPr id="105" name="Connector 79"/>
          <p:cNvCxnSpPr/>
          <p:nvPr/>
        </p:nvCxnSpPr>
        <p:spPr>
          <a:xfrm>
            <a:off x="3230348" y="6398609"/>
            <a:ext cx="0" cy="37252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06" name="칸 본문"/>
          <p:cNvSpPr>
            <a:spLocks noGrp="1"/>
          </p:cNvSpPr>
          <p:nvPr>
            <p:ph type="body" sz="quarter" idx="67"/>
          </p:nvPr>
        </p:nvSpPr>
        <p:spPr>
          <a:xfrm>
            <a:off x="5124000" y="6365739"/>
            <a:ext cx="1860783" cy="438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국민생활 필수 서비스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단수예방률 100%</a:t>
            </a:r>
          </a:p>
        </p:txBody>
      </p:sp>
      <p:cxnSp>
        <p:nvCxnSpPr>
          <p:cNvPr id="107" name="Connector 81"/>
          <p:cNvCxnSpPr/>
          <p:nvPr/>
        </p:nvCxnSpPr>
        <p:spPr>
          <a:xfrm>
            <a:off x="5113043" y="6398609"/>
            <a:ext cx="0" cy="37252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08" name="레일"/>
          <p:cNvSpPr/>
          <p:nvPr/>
        </p:nvSpPr>
        <p:spPr>
          <a:xfrm>
            <a:off x="734087" y="6899948"/>
            <a:ext cx="580696" cy="706696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9" name="레일 태그"/>
          <p:cNvSpPr/>
          <p:nvPr/>
        </p:nvSpPr>
        <p:spPr>
          <a:xfrm>
            <a:off x="433440" y="6943774"/>
            <a:ext cx="1181989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110" name="레일 태그"/>
          <p:cNvSpPr>
            <a:spLocks noGrp="1"/>
          </p:cNvSpPr>
          <p:nvPr>
            <p:ph type="body" sz="quarter" idx="68"/>
          </p:nvPr>
        </p:nvSpPr>
        <p:spPr>
          <a:xfrm>
            <a:off x="433440" y="6943774"/>
            <a:ext cx="1181989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신설 3·강화 3·유지 3</a:t>
            </a:r>
          </a:p>
        </p:txBody>
      </p:sp>
      <p:sp>
        <p:nvSpPr>
          <p:cNvPr id="111" name="레일 라벨"/>
          <p:cNvSpPr>
            <a:spLocks noGrp="1"/>
          </p:cNvSpPr>
          <p:nvPr>
            <p:ph type="body" sz="quarter" idx="69"/>
          </p:nvPr>
        </p:nvSpPr>
        <p:spPr>
          <a:xfrm>
            <a:off x="734087" y="7130035"/>
            <a:ext cx="580696" cy="454696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재생e·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수출확대</a:t>
            </a:r>
          </a:p>
        </p:txBody>
      </p:sp>
      <p:sp>
        <p:nvSpPr>
          <p:cNvPr id="112" name="머리칸"/>
          <p:cNvSpPr/>
          <p:nvPr/>
        </p:nvSpPr>
        <p:spPr>
          <a:xfrm>
            <a:off x="1347652" y="692186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13" name="머리칸"/>
          <p:cNvSpPr>
            <a:spLocks noGrp="1"/>
          </p:cNvSpPr>
          <p:nvPr>
            <p:ph type="body" sz="quarter" idx="70"/>
          </p:nvPr>
        </p:nvSpPr>
        <p:spPr>
          <a:xfrm>
            <a:off x="1347652" y="692186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신설 재생e 확충</a:t>
            </a:r>
          </a:p>
        </p:txBody>
      </p:sp>
      <p:sp>
        <p:nvSpPr>
          <p:cNvPr id="114" name="머리칸"/>
          <p:cNvSpPr/>
          <p:nvPr/>
        </p:nvSpPr>
        <p:spPr>
          <a:xfrm>
            <a:off x="3230348" y="692186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15" name="머리칸"/>
          <p:cNvSpPr>
            <a:spLocks noGrp="1"/>
          </p:cNvSpPr>
          <p:nvPr>
            <p:ph type="body" sz="quarter" idx="71"/>
          </p:nvPr>
        </p:nvSpPr>
        <p:spPr>
          <a:xfrm>
            <a:off x="3230348" y="692186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강화 수출기업 PPA확대</a:t>
            </a:r>
          </a:p>
        </p:txBody>
      </p:sp>
      <p:sp>
        <p:nvSpPr>
          <p:cNvPr id="116" name="머리칸"/>
          <p:cNvSpPr/>
          <p:nvPr/>
        </p:nvSpPr>
        <p:spPr>
          <a:xfrm>
            <a:off x="5113043" y="692186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17" name="머리칸"/>
          <p:cNvSpPr>
            <a:spLocks noGrp="1"/>
          </p:cNvSpPr>
          <p:nvPr>
            <p:ph type="body" sz="quarter" idx="72"/>
          </p:nvPr>
        </p:nvSpPr>
        <p:spPr>
          <a:xfrm>
            <a:off x="5113043" y="692186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유지 기후테크 예비유니콘</a:t>
            </a:r>
          </a:p>
        </p:txBody>
      </p:sp>
      <p:sp>
        <p:nvSpPr>
          <p:cNvPr id="118" name="칸 본문"/>
          <p:cNvSpPr>
            <a:spLocks noGrp="1"/>
          </p:cNvSpPr>
          <p:nvPr>
            <p:ph type="body" sz="quarter" idx="73"/>
          </p:nvPr>
        </p:nvSpPr>
        <p:spPr>
          <a:xfrm>
            <a:off x="1358609" y="7162904"/>
            <a:ext cx="1860783" cy="438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국정과제(재생e대전환)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’26 1.5GW → ’30 10GW</a:t>
            </a:r>
          </a:p>
        </p:txBody>
      </p:sp>
      <p:sp>
        <p:nvSpPr>
          <p:cNvPr id="119" name="칸 본문"/>
          <p:cNvSpPr>
            <a:spLocks noGrp="1"/>
          </p:cNvSpPr>
          <p:nvPr>
            <p:ph type="body" sz="quarter" idx="74"/>
          </p:nvPr>
        </p:nvSpPr>
        <p:spPr>
          <a:xfrm>
            <a:off x="3241304" y="7162904"/>
            <a:ext cx="1860783" cy="438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제도개선·시장 활성화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20개 → 26개</a:t>
            </a:r>
          </a:p>
        </p:txBody>
      </p:sp>
      <p:cxnSp>
        <p:nvCxnSpPr>
          <p:cNvPr id="120" name="Connector 90"/>
          <p:cNvCxnSpPr/>
          <p:nvPr/>
        </p:nvCxnSpPr>
        <p:spPr>
          <a:xfrm>
            <a:off x="3230348" y="7195774"/>
            <a:ext cx="0" cy="372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21" name="칸 본문"/>
          <p:cNvSpPr>
            <a:spLocks noGrp="1"/>
          </p:cNvSpPr>
          <p:nvPr>
            <p:ph type="body" sz="quarter" idx="75"/>
          </p:nvPr>
        </p:nvSpPr>
        <p:spPr>
          <a:xfrm>
            <a:off x="5124000" y="7162904"/>
            <a:ext cx="1860783" cy="438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물산업 육성 선도 역할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5개사 → 9개사</a:t>
            </a:r>
          </a:p>
        </p:txBody>
      </p:sp>
      <p:cxnSp>
        <p:nvCxnSpPr>
          <p:cNvPr id="122" name="Connector 92"/>
          <p:cNvCxnSpPr/>
          <p:nvPr/>
        </p:nvCxnSpPr>
        <p:spPr>
          <a:xfrm>
            <a:off x="5113043" y="7195774"/>
            <a:ext cx="0" cy="372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23" name="레일"/>
          <p:cNvSpPr/>
          <p:nvPr/>
        </p:nvSpPr>
        <p:spPr>
          <a:xfrm>
            <a:off x="734087" y="7623078"/>
            <a:ext cx="580696" cy="780730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24" name="레일 태그"/>
          <p:cNvSpPr/>
          <p:nvPr/>
        </p:nvSpPr>
        <p:spPr>
          <a:xfrm>
            <a:off x="617876" y="7787426"/>
            <a:ext cx="813118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125" name="레일 태그"/>
          <p:cNvSpPr>
            <a:spLocks noGrp="1"/>
          </p:cNvSpPr>
          <p:nvPr>
            <p:ph type="body" sz="quarter" idx="76"/>
          </p:nvPr>
        </p:nvSpPr>
        <p:spPr>
          <a:xfrm>
            <a:off x="617876" y="7787426"/>
            <a:ext cx="813118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강화 2·유지 6</a:t>
            </a:r>
          </a:p>
        </p:txBody>
      </p:sp>
      <p:sp>
        <p:nvSpPr>
          <p:cNvPr id="126" name="레일 라벨"/>
          <p:cNvSpPr>
            <a:spLocks noGrp="1"/>
          </p:cNvSpPr>
          <p:nvPr>
            <p:ph type="body" sz="quarter" idx="77"/>
          </p:nvPr>
        </p:nvSpPr>
        <p:spPr>
          <a:xfrm>
            <a:off x="734087" y="7973687"/>
            <a:ext cx="580696" cy="408209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ESG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혁신경영</a:t>
            </a:r>
          </a:p>
        </p:txBody>
      </p:sp>
      <p:sp>
        <p:nvSpPr>
          <p:cNvPr id="127" name="레일 삼각형"/>
          <p:cNvSpPr/>
          <p:nvPr/>
        </p:nvSpPr>
        <p:spPr>
          <a:xfrm>
            <a:off x="734086" y="7623078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8" name="머리칸"/>
          <p:cNvSpPr/>
          <p:nvPr/>
        </p:nvSpPr>
        <p:spPr>
          <a:xfrm>
            <a:off x="1347652" y="7644991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29" name="머리칸"/>
          <p:cNvSpPr>
            <a:spLocks noGrp="1"/>
          </p:cNvSpPr>
          <p:nvPr>
            <p:ph type="body" sz="quarter" idx="78"/>
          </p:nvPr>
        </p:nvSpPr>
        <p:spPr>
          <a:xfrm>
            <a:off x="1347652" y="7644991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강화 신뢰경영지수</a:t>
            </a:r>
          </a:p>
        </p:txBody>
      </p:sp>
      <p:sp>
        <p:nvSpPr>
          <p:cNvPr id="130" name="머리칸"/>
          <p:cNvSpPr/>
          <p:nvPr/>
        </p:nvSpPr>
        <p:spPr>
          <a:xfrm>
            <a:off x="4171696" y="7644991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31" name="머리칸"/>
          <p:cNvSpPr>
            <a:spLocks noGrp="1"/>
          </p:cNvSpPr>
          <p:nvPr>
            <p:ph type="body" sz="quarter" idx="79"/>
          </p:nvPr>
        </p:nvSpPr>
        <p:spPr>
          <a:xfrm>
            <a:off x="4171696" y="7644991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유지 안전경영 + ESG경영 + 기관 청렴도</a:t>
            </a:r>
          </a:p>
        </p:txBody>
      </p:sp>
      <p:sp>
        <p:nvSpPr>
          <p:cNvPr id="132" name="칸 본문"/>
          <p:cNvSpPr>
            <a:spLocks noGrp="1"/>
          </p:cNvSpPr>
          <p:nvPr>
            <p:ph type="body" sz="quarter" idx="80"/>
          </p:nvPr>
        </p:nvSpPr>
        <p:spPr>
          <a:xfrm>
            <a:off x="1358609" y="7886035"/>
            <a:ext cx="2802130" cy="438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선진 조직으로 진화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85점 → 88점 → 90점</a:t>
            </a:r>
          </a:p>
        </p:txBody>
      </p:sp>
      <p:sp>
        <p:nvSpPr>
          <p:cNvPr id="133" name="칸 본문"/>
          <p:cNvSpPr>
            <a:spLocks noGrp="1"/>
          </p:cNvSpPr>
          <p:nvPr>
            <p:ph type="body" sz="quarter" idx="81"/>
          </p:nvPr>
        </p:nvSpPr>
        <p:spPr>
          <a:xfrm>
            <a:off x="4182652" y="7886035"/>
            <a:ext cx="2802130" cy="438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기관경영의 기본이 되는 사회적가치 등 이행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중대재해 0건, ESG 최우수, 종합청렴도 1등급</a:t>
            </a:r>
          </a:p>
        </p:txBody>
      </p:sp>
      <p:cxnSp>
        <p:nvCxnSpPr>
          <p:cNvPr id="134" name="Connector 101"/>
          <p:cNvCxnSpPr/>
          <p:nvPr/>
        </p:nvCxnSpPr>
        <p:spPr>
          <a:xfrm>
            <a:off x="4171696" y="7918904"/>
            <a:ext cx="0" cy="372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9 서사 · 전략목표 → 전략방향·과제 → 70개 세부과제 → CSF · PI · KPI · 로드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6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중장기 경영목표 달성을 위한 중장기 전략경영계획 수립</a:t>
            </a:r>
          </a:p>
        </p:txBody>
      </p:sp>
      <p:sp>
        <p:nvSpPr>
          <p:cNvPr id="15" name="번호 띠 칩"/>
          <p:cNvSpPr/>
          <p:nvPr/>
        </p:nvSpPr>
        <p:spPr>
          <a:xfrm>
            <a:off x="6241922" y="832696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번호 띠 칩"/>
          <p:cNvSpPr>
            <a:spLocks noGrp="1"/>
          </p:cNvSpPr>
          <p:nvPr>
            <p:ph type="body" sz="quarter" idx="22"/>
          </p:nvPr>
        </p:nvSpPr>
        <p:spPr>
          <a:xfrm>
            <a:off x="6241922" y="832696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7" name="표 외곽"/>
          <p:cNvSpPr/>
          <p:nvPr/>
        </p:nvSpPr>
        <p:spPr>
          <a:xfrm>
            <a:off x="536870" y="1117565"/>
            <a:ext cx="6300000" cy="3248922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레일"/>
          <p:cNvSpPr/>
          <p:nvPr/>
        </p:nvSpPr>
        <p:spPr>
          <a:xfrm>
            <a:off x="547826" y="1134000"/>
            <a:ext cx="580696" cy="494452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레일 태그"/>
          <p:cNvSpPr/>
          <p:nvPr/>
        </p:nvSpPr>
        <p:spPr>
          <a:xfrm>
            <a:off x="668144" y="1177826"/>
            <a:ext cx="340059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0" name="레일 태그"/>
          <p:cNvSpPr>
            <a:spLocks noGrp="1"/>
          </p:cNvSpPr>
          <p:nvPr>
            <p:ph type="body" sz="quarter" idx="23"/>
          </p:nvPr>
        </p:nvSpPr>
        <p:spPr>
          <a:xfrm>
            <a:off x="668144" y="1177826"/>
            <a:ext cx="340059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</a:t>
            </a:r>
          </a:p>
        </p:txBody>
      </p:sp>
      <p:sp>
        <p:nvSpPr>
          <p:cNvPr id="21" name="레일 라벨"/>
          <p:cNvSpPr>
            <a:spLocks noGrp="1"/>
          </p:cNvSpPr>
          <p:nvPr>
            <p:ph type="body" sz="quarter" idx="24"/>
          </p:nvPr>
        </p:nvSpPr>
        <p:spPr>
          <a:xfrm>
            <a:off x="547826" y="1364087"/>
            <a:ext cx="580696" cy="242452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전략목표</a:t>
            </a:r>
          </a:p>
        </p:txBody>
      </p:sp>
      <p:sp>
        <p:nvSpPr>
          <p:cNvPr id="22" name="배너"/>
          <p:cNvSpPr/>
          <p:nvPr/>
        </p:nvSpPr>
        <p:spPr>
          <a:xfrm>
            <a:off x="1161391" y="1155913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3" name="배너"/>
          <p:cNvSpPr>
            <a:spLocks noGrp="1"/>
          </p:cNvSpPr>
          <p:nvPr>
            <p:ph type="body" sz="quarter" idx="25"/>
          </p:nvPr>
        </p:nvSpPr>
        <p:spPr>
          <a:xfrm>
            <a:off x="1161391" y="1155913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새로운 물의 시대를 개척하는 기후위기 대응 솔루션 구현 – 2030년 AI 물관리 세계 1위 기업 –</a:t>
            </a:r>
          </a:p>
        </p:txBody>
      </p:sp>
      <p:sp>
        <p:nvSpPr>
          <p:cNvPr id="24" name="태그"/>
          <p:cNvSpPr/>
          <p:nvPr/>
        </p:nvSpPr>
        <p:spPr>
          <a:xfrm>
            <a:off x="1161391" y="1413391"/>
            <a:ext cx="361972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5" name="태그"/>
          <p:cNvSpPr>
            <a:spLocks noGrp="1"/>
          </p:cNvSpPr>
          <p:nvPr>
            <p:ph type="body" sz="quarter" idx="26"/>
          </p:nvPr>
        </p:nvSpPr>
        <p:spPr>
          <a:xfrm>
            <a:off x="1161391" y="1413391"/>
            <a:ext cx="36197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특화</a:t>
            </a:r>
          </a:p>
        </p:txBody>
      </p:sp>
      <p:sp>
        <p:nvSpPr>
          <p:cNvPr id="26" name="태그 설명"/>
          <p:cNvSpPr>
            <a:spLocks noGrp="1"/>
          </p:cNvSpPr>
          <p:nvPr>
            <p:ph type="body" sz="quarter" idx="27"/>
          </p:nvPr>
        </p:nvSpPr>
        <p:spPr>
          <a:xfrm>
            <a:off x="1567189" y="1402435"/>
            <a:ext cx="5242289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임무지향적 혁신 주체로 ‘공공기관 안전경영 책임’ 강화 및 ‘AI 도입 정책’ 선도</a:t>
            </a:r>
          </a:p>
        </p:txBody>
      </p:sp>
      <p:sp>
        <p:nvSpPr>
          <p:cNvPr id="27" name="레일"/>
          <p:cNvSpPr/>
          <p:nvPr/>
        </p:nvSpPr>
        <p:spPr>
          <a:xfrm>
            <a:off x="547826" y="1644887"/>
            <a:ext cx="580696" cy="553304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8" name="레일"/>
          <p:cNvSpPr>
            <a:spLocks noGrp="1"/>
          </p:cNvSpPr>
          <p:nvPr>
            <p:ph type="body" sz="quarter" idx="28"/>
          </p:nvPr>
        </p:nvSpPr>
        <p:spPr>
          <a:xfrm>
            <a:off x="547826" y="1644887"/>
            <a:ext cx="580696" cy="553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</a:t>
            </a:r>
          </a:p>
        </p:txBody>
      </p:sp>
      <p:sp>
        <p:nvSpPr>
          <p:cNvPr id="29" name="레일 삼각형"/>
          <p:cNvSpPr/>
          <p:nvPr/>
        </p:nvSpPr>
        <p:spPr>
          <a:xfrm>
            <a:off x="547826" y="1644886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0" name="칸 본문"/>
          <p:cNvSpPr>
            <a:spLocks noGrp="1"/>
          </p:cNvSpPr>
          <p:nvPr>
            <p:ph type="body" sz="quarter" idx="29"/>
          </p:nvPr>
        </p:nvSpPr>
        <p:spPr>
          <a:xfrm>
            <a:off x="1172348" y="1666800"/>
            <a:ext cx="2398696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경영문화 자율 안전·보건 경영체계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재난관리 기후·산업 단계 고도화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산업안전 AI 기술 접목 및 협력사 지원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3592957" y="1666800"/>
            <a:ext cx="2398696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전략사업단위(SBU) 안전 특화전략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스마트 댐안전 사고예방 시스템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상수도 통합안전관리 실현</a:t>
            </a:r>
          </a:p>
        </p:txBody>
      </p:sp>
      <p:cxnSp>
        <p:nvCxnSpPr>
          <p:cNvPr id="32" name="Connector 23"/>
          <p:cNvCxnSpPr/>
          <p:nvPr/>
        </p:nvCxnSpPr>
        <p:spPr>
          <a:xfrm>
            <a:off x="3582000" y="1699670"/>
            <a:ext cx="0" cy="46017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칸 본문"/>
          <p:cNvSpPr>
            <a:spLocks noGrp="1"/>
          </p:cNvSpPr>
          <p:nvPr>
            <p:ph type="body" sz="quarter" idx="31"/>
          </p:nvPr>
        </p:nvSpPr>
        <p:spPr>
          <a:xfrm>
            <a:off x="6013565" y="1666800"/>
            <a:ext cx="784957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’26-’30 중대재해 Zero</a:t>
            </a:r>
          </a:p>
        </p:txBody>
      </p:sp>
      <p:cxnSp>
        <p:nvCxnSpPr>
          <p:cNvPr id="34" name="Connector 25"/>
          <p:cNvCxnSpPr/>
          <p:nvPr/>
        </p:nvCxnSpPr>
        <p:spPr>
          <a:xfrm>
            <a:off x="6002609" y="1699670"/>
            <a:ext cx="0" cy="46017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5" name="레일"/>
          <p:cNvSpPr/>
          <p:nvPr/>
        </p:nvSpPr>
        <p:spPr>
          <a:xfrm>
            <a:off x="547826" y="2214626"/>
            <a:ext cx="580696" cy="498522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6" name="레일"/>
          <p:cNvSpPr>
            <a:spLocks noGrp="1"/>
          </p:cNvSpPr>
          <p:nvPr>
            <p:ph type="body" sz="quarter" idx="32"/>
          </p:nvPr>
        </p:nvSpPr>
        <p:spPr>
          <a:xfrm>
            <a:off x="547826" y="2214626"/>
            <a:ext cx="580696" cy="49852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전략사업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단 위</a:t>
            </a:r>
          </a:p>
        </p:txBody>
      </p:sp>
      <p:sp>
        <p:nvSpPr>
          <p:cNvPr id="37" name="단계"/>
          <p:cNvSpPr/>
          <p:nvPr/>
        </p:nvSpPr>
        <p:spPr>
          <a:xfrm>
            <a:off x="1161391" y="2236539"/>
            <a:ext cx="161373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8" name="단계"/>
          <p:cNvSpPr>
            <a:spLocks noGrp="1"/>
          </p:cNvSpPr>
          <p:nvPr>
            <p:ph type="body" sz="quarter" idx="33"/>
          </p:nvPr>
        </p:nvSpPr>
        <p:spPr>
          <a:xfrm>
            <a:off x="1161391" y="2236539"/>
            <a:ext cx="161373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 관점</a:t>
            </a:r>
          </a:p>
        </p:txBody>
      </p:sp>
      <p:sp>
        <p:nvSpPr>
          <p:cNvPr id="39" name="단계"/>
          <p:cNvSpPr/>
          <p:nvPr/>
        </p:nvSpPr>
        <p:spPr>
          <a:xfrm>
            <a:off x="2775130" y="2236539"/>
            <a:ext cx="4034348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0" name="단계"/>
          <p:cNvSpPr>
            <a:spLocks noGrp="1"/>
          </p:cNvSpPr>
          <p:nvPr>
            <p:ph type="body" sz="quarter" idx="34"/>
          </p:nvPr>
        </p:nvSpPr>
        <p:spPr>
          <a:xfrm>
            <a:off x="2775130" y="2236539"/>
            <a:ext cx="4034348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국민의 관점에서 직관적 이해도 제고를 위해 재설정</a:t>
            </a:r>
          </a:p>
        </p:txBody>
      </p:sp>
      <p:sp>
        <p:nvSpPr>
          <p:cNvPr id="41" name="단계 삼각형"/>
          <p:cNvSpPr/>
          <p:nvPr/>
        </p:nvSpPr>
        <p:spPr>
          <a:xfrm>
            <a:off x="2775130" y="2236539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2" name="칸 본문"/>
          <p:cNvSpPr>
            <a:spLocks noGrp="1"/>
          </p:cNvSpPr>
          <p:nvPr>
            <p:ph type="body" sz="quarter" idx="35"/>
          </p:nvPr>
        </p:nvSpPr>
        <p:spPr>
          <a:xfrm>
            <a:off x="1172348" y="2488539"/>
            <a:ext cx="1591826" cy="21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물안전 · 물공급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36"/>
          </p:nvPr>
        </p:nvSpPr>
        <p:spPr>
          <a:xfrm>
            <a:off x="2786087" y="2488539"/>
            <a:ext cx="4012435" cy="21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물특화 · 물협력 · 기능전략</a:t>
            </a:r>
          </a:p>
        </p:txBody>
      </p:sp>
      <p:cxnSp>
        <p:nvCxnSpPr>
          <p:cNvPr id="44" name="Connector 32"/>
          <p:cNvCxnSpPr/>
          <p:nvPr/>
        </p:nvCxnSpPr>
        <p:spPr>
          <a:xfrm>
            <a:off x="2775130" y="2521409"/>
            <a:ext cx="0" cy="15339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5" name="레일"/>
          <p:cNvSpPr/>
          <p:nvPr/>
        </p:nvSpPr>
        <p:spPr>
          <a:xfrm>
            <a:off x="547826" y="2729583"/>
            <a:ext cx="580696" cy="5396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6" name="레일"/>
          <p:cNvSpPr>
            <a:spLocks noGrp="1"/>
          </p:cNvSpPr>
          <p:nvPr>
            <p:ph type="body" sz="quarter" idx="37"/>
          </p:nvPr>
        </p:nvSpPr>
        <p:spPr>
          <a:xfrm>
            <a:off x="547826" y="2729583"/>
            <a:ext cx="580696" cy="5396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전략방향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(5개)</a:t>
            </a:r>
          </a:p>
        </p:txBody>
      </p:sp>
      <p:sp>
        <p:nvSpPr>
          <p:cNvPr id="47" name="레일 삼각형"/>
          <p:cNvSpPr/>
          <p:nvPr/>
        </p:nvSpPr>
        <p:spPr>
          <a:xfrm>
            <a:off x="547826" y="2729582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8" name="칸 본문"/>
          <p:cNvSpPr>
            <a:spLocks noGrp="1"/>
          </p:cNvSpPr>
          <p:nvPr>
            <p:ph type="body" sz="quarter" idx="38"/>
          </p:nvPr>
        </p:nvSpPr>
        <p:spPr>
          <a:xfrm>
            <a:off x="1172348" y="2751496"/>
            <a:ext cx="1107704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국민·자연을 위한 기후안전망 강화</a:t>
            </a:r>
          </a:p>
        </p:txBody>
      </p:sp>
      <p:sp>
        <p:nvSpPr>
          <p:cNvPr id="49" name="칸 본문"/>
          <p:cNvSpPr>
            <a:spLocks noGrp="1"/>
          </p:cNvSpPr>
          <p:nvPr>
            <p:ph type="body" sz="quarter" idx="39"/>
          </p:nvPr>
        </p:nvSpPr>
        <p:spPr>
          <a:xfrm>
            <a:off x="2301965" y="2751496"/>
            <a:ext cx="1107704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하이테크 기반의 물 서비스 확대</a:t>
            </a:r>
          </a:p>
        </p:txBody>
      </p:sp>
      <p:cxnSp>
        <p:nvCxnSpPr>
          <p:cNvPr id="50" name="Connector 37"/>
          <p:cNvCxnSpPr/>
          <p:nvPr/>
        </p:nvCxnSpPr>
        <p:spPr>
          <a:xfrm>
            <a:off x="2291009" y="2784365"/>
            <a:ext cx="0" cy="4260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1" name="칸 본문"/>
          <p:cNvSpPr>
            <a:spLocks noGrp="1"/>
          </p:cNvSpPr>
          <p:nvPr>
            <p:ph type="body" sz="quarter" idx="40"/>
          </p:nvPr>
        </p:nvSpPr>
        <p:spPr>
          <a:xfrm>
            <a:off x="3431583" y="2751496"/>
            <a:ext cx="1107704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재생에너지 확대 및 녹색도시 조성</a:t>
            </a:r>
          </a:p>
        </p:txBody>
      </p:sp>
      <p:cxnSp>
        <p:nvCxnSpPr>
          <p:cNvPr id="52" name="Connector 39"/>
          <p:cNvCxnSpPr/>
          <p:nvPr/>
        </p:nvCxnSpPr>
        <p:spPr>
          <a:xfrm>
            <a:off x="3420626" y="2784365"/>
            <a:ext cx="0" cy="4260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3" name="칸 본문"/>
          <p:cNvSpPr>
            <a:spLocks noGrp="1"/>
          </p:cNvSpPr>
          <p:nvPr>
            <p:ph type="body" sz="quarter" idx="41"/>
          </p:nvPr>
        </p:nvSpPr>
        <p:spPr>
          <a:xfrm>
            <a:off x="4561200" y="2751496"/>
            <a:ext cx="1107704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K-물관리 수출 활성화 및 기후테크 육성</a:t>
            </a:r>
          </a:p>
        </p:txBody>
      </p:sp>
      <p:cxnSp>
        <p:nvCxnSpPr>
          <p:cNvPr id="54" name="Connector 41"/>
          <p:cNvCxnSpPr/>
          <p:nvPr/>
        </p:nvCxnSpPr>
        <p:spPr>
          <a:xfrm>
            <a:off x="4550243" y="2784365"/>
            <a:ext cx="0" cy="4260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5" name="칸 본문"/>
          <p:cNvSpPr>
            <a:spLocks noGrp="1"/>
          </p:cNvSpPr>
          <p:nvPr>
            <p:ph type="body" sz="quarter" idx="42"/>
          </p:nvPr>
        </p:nvSpPr>
        <p:spPr>
          <a:xfrm>
            <a:off x="5690817" y="2751496"/>
            <a:ext cx="1107704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세계 최고 수준의 ESG 혁신경영 구현</a:t>
            </a:r>
          </a:p>
        </p:txBody>
      </p:sp>
      <p:cxnSp>
        <p:nvCxnSpPr>
          <p:cNvPr id="56" name="Connector 43"/>
          <p:cNvCxnSpPr/>
          <p:nvPr/>
        </p:nvCxnSpPr>
        <p:spPr>
          <a:xfrm>
            <a:off x="5679861" y="2784365"/>
            <a:ext cx="0" cy="4260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7" name="레일"/>
          <p:cNvSpPr/>
          <p:nvPr/>
        </p:nvSpPr>
        <p:spPr>
          <a:xfrm>
            <a:off x="547826" y="3285704"/>
            <a:ext cx="580696" cy="1064348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8" name="레일"/>
          <p:cNvSpPr>
            <a:spLocks noGrp="1"/>
          </p:cNvSpPr>
          <p:nvPr>
            <p:ph type="body" sz="quarter" idx="43"/>
          </p:nvPr>
        </p:nvSpPr>
        <p:spPr>
          <a:xfrm>
            <a:off x="547826" y="3285704"/>
            <a:ext cx="580696" cy="10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전략과제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(20개)</a:t>
            </a:r>
          </a:p>
        </p:txBody>
      </p:sp>
      <p:sp>
        <p:nvSpPr>
          <p:cNvPr id="59" name="배너"/>
          <p:cNvSpPr/>
          <p:nvPr/>
        </p:nvSpPr>
        <p:spPr>
          <a:xfrm>
            <a:off x="1161391" y="3307617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60" name="배너"/>
          <p:cNvSpPr>
            <a:spLocks noGrp="1"/>
          </p:cNvSpPr>
          <p:nvPr>
            <p:ph type="body" sz="quarter" idx="44"/>
          </p:nvPr>
        </p:nvSpPr>
        <p:spPr>
          <a:xfrm>
            <a:off x="1161391" y="3307617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[전략방향 – 국정기조 매트릭스 매칭 – 사업별 전략과제 도출] 국정기조 AI전환 + 물관리 강화 + 녹색전환 + 혁신성장</a:t>
            </a:r>
          </a:p>
        </p:txBody>
      </p:sp>
      <p:sp>
        <p:nvSpPr>
          <p:cNvPr id="61" name="칸 본문"/>
          <p:cNvSpPr>
            <a:spLocks noGrp="1"/>
          </p:cNvSpPr>
          <p:nvPr>
            <p:ph type="body" sz="quarter" idx="45"/>
          </p:nvPr>
        </p:nvSpPr>
        <p:spPr>
          <a:xfrm>
            <a:off x="1172348" y="3543183"/>
            <a:ext cx="1107704" cy="801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수자원·환경: AI·디지털트윈 활용 기후위기 대응 등 4개 과제(①~④)</a:t>
            </a:r>
          </a:p>
        </p:txBody>
      </p:sp>
      <p:sp>
        <p:nvSpPr>
          <p:cNvPr id="62" name="칸 본문"/>
          <p:cNvSpPr>
            <a:spLocks noGrp="1"/>
          </p:cNvSpPr>
          <p:nvPr>
            <p:ph type="body" sz="quarter" idx="46"/>
          </p:nvPr>
        </p:nvSpPr>
        <p:spPr>
          <a:xfrm>
            <a:off x="2301965" y="3543183"/>
            <a:ext cx="1107704" cy="801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수도: 상수도 AI전환 기반 고품질 수돗물공급 등 4개 과제(③~⑧)</a:t>
            </a:r>
          </a:p>
        </p:txBody>
      </p:sp>
      <p:cxnSp>
        <p:nvCxnSpPr>
          <p:cNvPr id="63" name="Connector 48"/>
          <p:cNvCxnSpPr/>
          <p:nvPr/>
        </p:nvCxnSpPr>
        <p:spPr>
          <a:xfrm>
            <a:off x="2291009" y="3576052"/>
            <a:ext cx="0" cy="7356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4" name="칸 본문"/>
          <p:cNvSpPr>
            <a:spLocks noGrp="1"/>
          </p:cNvSpPr>
          <p:nvPr>
            <p:ph type="body" sz="quarter" idx="47"/>
          </p:nvPr>
        </p:nvSpPr>
        <p:spPr>
          <a:xfrm>
            <a:off x="3431583" y="3543183"/>
            <a:ext cx="1107704" cy="801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에너지·도시: 물·에너지 AI 전환 및 K-AI시티 선도 등 4개 과제(⑨~⑫)</a:t>
            </a:r>
          </a:p>
        </p:txBody>
      </p:sp>
      <p:cxnSp>
        <p:nvCxnSpPr>
          <p:cNvPr id="65" name="Connector 50"/>
          <p:cNvCxnSpPr/>
          <p:nvPr/>
        </p:nvCxnSpPr>
        <p:spPr>
          <a:xfrm>
            <a:off x="3420626" y="3576052"/>
            <a:ext cx="0" cy="7356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6" name="칸 본문"/>
          <p:cNvSpPr>
            <a:spLocks noGrp="1"/>
          </p:cNvSpPr>
          <p:nvPr>
            <p:ph type="body" sz="quarter" idx="48"/>
          </p:nvPr>
        </p:nvSpPr>
        <p:spPr>
          <a:xfrm>
            <a:off x="4561200" y="3543183"/>
            <a:ext cx="1107704" cy="801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글로벌·기후테크: 기후테크 실증랩 고도화 등 4개 과제(⑬~⑯)</a:t>
            </a:r>
          </a:p>
        </p:txBody>
      </p:sp>
      <p:cxnSp>
        <p:nvCxnSpPr>
          <p:cNvPr id="67" name="Connector 52"/>
          <p:cNvCxnSpPr/>
          <p:nvPr/>
        </p:nvCxnSpPr>
        <p:spPr>
          <a:xfrm>
            <a:off x="4550243" y="3576052"/>
            <a:ext cx="0" cy="7356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8" name="칸 본문"/>
          <p:cNvSpPr>
            <a:spLocks noGrp="1"/>
          </p:cNvSpPr>
          <p:nvPr>
            <p:ph type="body" sz="quarter" idx="49"/>
          </p:nvPr>
        </p:nvSpPr>
        <p:spPr>
          <a:xfrm>
            <a:off x="5690817" y="3543183"/>
            <a:ext cx="1107704" cy="801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세계최고 ESG경영 시스템 구축 등 4개 과제(⑰~⑳)</a:t>
            </a:r>
          </a:p>
        </p:txBody>
      </p:sp>
      <p:cxnSp>
        <p:nvCxnSpPr>
          <p:cNvPr id="69" name="Connector 54"/>
          <p:cNvCxnSpPr/>
          <p:nvPr/>
        </p:nvCxnSpPr>
        <p:spPr>
          <a:xfrm>
            <a:off x="5679861" y="3576052"/>
            <a:ext cx="0" cy="7356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0" name="캡션 띠"/>
          <p:cNvSpPr/>
          <p:nvPr/>
        </p:nvSpPr>
        <p:spPr>
          <a:xfrm>
            <a:off x="536869" y="4388400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1" name="캡션"/>
          <p:cNvSpPr>
            <a:spLocks noGrp="1"/>
          </p:cNvSpPr>
          <p:nvPr>
            <p:ph type="body" sz="quarter" idx="50"/>
          </p:nvPr>
        </p:nvSpPr>
        <p:spPr>
          <a:xfrm>
            <a:off x="756000" y="4388400"/>
            <a:ext cx="5861739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【 70개 세부과제 수립 및 핵심성공요인(Critical Success Factor) 도출 】</a:t>
            </a:r>
          </a:p>
        </p:txBody>
      </p:sp>
      <p:sp>
        <p:nvSpPr>
          <p:cNvPr id="72" name="머리칸"/>
          <p:cNvSpPr/>
          <p:nvPr/>
        </p:nvSpPr>
        <p:spPr>
          <a:xfrm>
            <a:off x="536870" y="4728052"/>
            <a:ext cx="602609" cy="20817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73" name="머리칸"/>
          <p:cNvSpPr>
            <a:spLocks noGrp="1"/>
          </p:cNvSpPr>
          <p:nvPr>
            <p:ph type="body" sz="quarter" idx="51"/>
          </p:nvPr>
        </p:nvSpPr>
        <p:spPr>
          <a:xfrm>
            <a:off x="536870" y="4728052"/>
            <a:ext cx="602609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CSF</a:t>
            </a:r>
          </a:p>
        </p:txBody>
      </p:sp>
      <p:sp>
        <p:nvSpPr>
          <p:cNvPr id="74" name="머리칸"/>
          <p:cNvSpPr/>
          <p:nvPr/>
        </p:nvSpPr>
        <p:spPr>
          <a:xfrm>
            <a:off x="1172348" y="4728052"/>
            <a:ext cx="1847598" cy="20817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75" name="머리칸"/>
          <p:cNvSpPr>
            <a:spLocks noGrp="1"/>
          </p:cNvSpPr>
          <p:nvPr>
            <p:ph type="body" sz="quarter" idx="52"/>
          </p:nvPr>
        </p:nvSpPr>
        <p:spPr>
          <a:xfrm>
            <a:off x="1172348" y="4728052"/>
            <a:ext cx="1847598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주요 성과지표(PI)</a:t>
            </a:r>
          </a:p>
        </p:txBody>
      </p:sp>
      <p:sp>
        <p:nvSpPr>
          <p:cNvPr id="76" name="머리칸"/>
          <p:cNvSpPr/>
          <p:nvPr/>
        </p:nvSpPr>
        <p:spPr>
          <a:xfrm>
            <a:off x="3052816" y="4728052"/>
            <a:ext cx="1735623" cy="20817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77" name="머리칸"/>
          <p:cNvSpPr>
            <a:spLocks noGrp="1"/>
          </p:cNvSpPr>
          <p:nvPr>
            <p:ph type="body" sz="quarter" idx="53"/>
          </p:nvPr>
        </p:nvSpPr>
        <p:spPr>
          <a:xfrm>
            <a:off x="3052816" y="4728052"/>
            <a:ext cx="1735623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주요 핵심성과지표(KPI)</a:t>
            </a:r>
          </a:p>
        </p:txBody>
      </p:sp>
      <p:sp>
        <p:nvSpPr>
          <p:cNvPr id="78" name="머리칸"/>
          <p:cNvSpPr/>
          <p:nvPr/>
        </p:nvSpPr>
        <p:spPr>
          <a:xfrm>
            <a:off x="4821308" y="4728052"/>
            <a:ext cx="2015562" cy="20817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79" name="머리칸"/>
          <p:cNvSpPr>
            <a:spLocks noGrp="1"/>
          </p:cNvSpPr>
          <p:nvPr>
            <p:ph type="body" sz="quarter" idx="54"/>
          </p:nvPr>
        </p:nvSpPr>
        <p:spPr>
          <a:xfrm>
            <a:off x="4821308" y="4728052"/>
            <a:ext cx="2015562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로드맵</a:t>
            </a:r>
          </a:p>
        </p:txBody>
      </p:sp>
      <p:sp>
        <p:nvSpPr>
          <p:cNvPr id="80" name="레일"/>
          <p:cNvSpPr/>
          <p:nvPr/>
        </p:nvSpPr>
        <p:spPr>
          <a:xfrm>
            <a:off x="536870" y="4969096"/>
            <a:ext cx="602609" cy="61356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81" name="레일"/>
          <p:cNvSpPr>
            <a:spLocks noGrp="1"/>
          </p:cNvSpPr>
          <p:nvPr>
            <p:ph type="body" sz="quarter" idx="55"/>
          </p:nvPr>
        </p:nvSpPr>
        <p:spPr>
          <a:xfrm>
            <a:off x="536870" y="4969096"/>
            <a:ext cx="602609" cy="613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기후대응형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물관리</a:t>
            </a:r>
          </a:p>
        </p:txBody>
      </p:sp>
      <p:sp>
        <p:nvSpPr>
          <p:cNvPr id="82" name="PI 글"/>
          <p:cNvSpPr>
            <a:spLocks noGrp="1"/>
          </p:cNvSpPr>
          <p:nvPr>
            <p:ph type="body" sz="quarter" idx="56"/>
          </p:nvPr>
        </p:nvSpPr>
        <p:spPr>
          <a:xfrm>
            <a:off x="1172348" y="4969096"/>
            <a:ext cx="1847598" cy="61356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DT 기반 댐운영 고도화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기후대응 수원 다변화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수자원 최적연계 가뭄대응</a:t>
            </a:r>
          </a:p>
        </p:txBody>
      </p:sp>
      <p:sp>
        <p:nvSpPr>
          <p:cNvPr id="83" name="KPI 칸"/>
          <p:cNvSpPr/>
          <p:nvPr/>
        </p:nvSpPr>
        <p:spPr>
          <a:xfrm>
            <a:off x="3052816" y="4969096"/>
            <a:ext cx="1735623" cy="613565"/>
          </a:xfrm>
          <a:prstGeom prst="rect">
            <a:avLst/>
          </a:prstGeom>
          <a:solidFill>
            <a:srgbClr val="FFFF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4" name="태그"/>
          <p:cNvSpPr/>
          <p:nvPr/>
        </p:nvSpPr>
        <p:spPr>
          <a:xfrm>
            <a:off x="3096642" y="5023878"/>
            <a:ext cx="438871" cy="153391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85" name="태그"/>
          <p:cNvSpPr>
            <a:spLocks noGrp="1"/>
          </p:cNvSpPr>
          <p:nvPr>
            <p:ph type="body" sz="quarter" idx="57"/>
          </p:nvPr>
        </p:nvSpPr>
        <p:spPr>
          <a:xfrm>
            <a:off x="3096642" y="5023878"/>
            <a:ext cx="438871" cy="15339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수자원</a:t>
            </a:r>
          </a:p>
        </p:txBody>
      </p:sp>
      <p:sp>
        <p:nvSpPr>
          <p:cNvPr id="86" name="KPI 글"/>
          <p:cNvSpPr>
            <a:spLocks noGrp="1"/>
          </p:cNvSpPr>
          <p:nvPr>
            <p:ph type="body" sz="quarter" idx="58"/>
          </p:nvPr>
        </p:nvSpPr>
        <p:spPr>
          <a:xfrm>
            <a:off x="3568382" y="5001965"/>
            <a:ext cx="1187186" cy="33965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DT플랫폼 체계완성</a:t>
            </a:r>
          </a:p>
        </p:txBody>
      </p:sp>
      <p:sp>
        <p:nvSpPr>
          <p:cNvPr id="87" name="KPI 결과"/>
          <p:cNvSpPr/>
          <p:nvPr/>
        </p:nvSpPr>
        <p:spPr>
          <a:xfrm>
            <a:off x="3063772" y="5363530"/>
            <a:ext cx="1713710" cy="20817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88" name="KPI 결과"/>
          <p:cNvSpPr>
            <a:spLocks noGrp="1"/>
          </p:cNvSpPr>
          <p:nvPr>
            <p:ph type="body" sz="quarter" idx="59"/>
          </p:nvPr>
        </p:nvSpPr>
        <p:spPr>
          <a:xfrm>
            <a:off x="3063772" y="5363530"/>
            <a:ext cx="1713710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3단계 → 5단계</a:t>
            </a:r>
          </a:p>
        </p:txBody>
      </p:sp>
      <p:sp>
        <p:nvSpPr>
          <p:cNvPr id="89" name="로드맵 칸"/>
          <p:cNvSpPr/>
          <p:nvPr/>
        </p:nvSpPr>
        <p:spPr>
          <a:xfrm>
            <a:off x="4821308" y="4969096"/>
            <a:ext cx="2015562" cy="613565"/>
          </a:xfrm>
          <a:prstGeom prst="rect">
            <a:avLst/>
          </a:prstGeom>
          <a:solidFill>
            <a:srgbClr val="FFFF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0" name="단위"/>
          <p:cNvSpPr>
            <a:spLocks noGrp="1"/>
          </p:cNvSpPr>
          <p:nvPr>
            <p:ph type="body" sz="quarter" idx="60"/>
          </p:nvPr>
        </p:nvSpPr>
        <p:spPr>
          <a:xfrm>
            <a:off x="4843221" y="4980052"/>
            <a:ext cx="799826" cy="131478"/>
          </a:xfrm>
          <a:prstGeom prst="rect">
            <a:avLst/>
          </a:prstGeom>
          <a:noFill/>
          <a:ln>
            <a:noFill/>
          </a:ln>
        </p:spPr>
        <p:txBody>
          <a:bodyPr wrap="square" lIns="1440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단위 : 단계</a:t>
            </a:r>
          </a:p>
        </p:txBody>
      </p:sp>
      <p:cxnSp>
        <p:nvCxnSpPr>
          <p:cNvPr id="91" name="Connector 69"/>
          <p:cNvCxnSpPr/>
          <p:nvPr/>
        </p:nvCxnSpPr>
        <p:spPr>
          <a:xfrm flipV="1">
            <a:off x="4898003" y="5264922"/>
            <a:ext cx="465543" cy="76695"/>
          </a:xfrm>
          <a:prstGeom prst="line">
            <a:avLst/>
          </a:prstGeom>
          <a:ln w="19050">
            <a:solidFill>
              <a:srgbClr val="008EFF"/>
            </a:solidFill>
          </a:ln>
        </p:spPr>
      </p:cxnSp>
      <p:cxnSp>
        <p:nvCxnSpPr>
          <p:cNvPr id="92" name="Connector 70"/>
          <p:cNvCxnSpPr/>
          <p:nvPr/>
        </p:nvCxnSpPr>
        <p:spPr>
          <a:xfrm>
            <a:off x="5363546" y="5264922"/>
            <a:ext cx="465543" cy="0"/>
          </a:xfrm>
          <a:prstGeom prst="line">
            <a:avLst/>
          </a:prstGeom>
          <a:ln w="19050">
            <a:solidFill>
              <a:srgbClr val="008EFF"/>
            </a:solidFill>
          </a:ln>
        </p:spPr>
      </p:cxnSp>
      <p:cxnSp>
        <p:nvCxnSpPr>
          <p:cNvPr id="93" name="Connector 71"/>
          <p:cNvCxnSpPr/>
          <p:nvPr/>
        </p:nvCxnSpPr>
        <p:spPr>
          <a:xfrm flipV="1">
            <a:off x="5829089" y="5188226"/>
            <a:ext cx="465542" cy="76696"/>
          </a:xfrm>
          <a:prstGeom prst="line">
            <a:avLst/>
          </a:prstGeom>
          <a:ln w="19050">
            <a:solidFill>
              <a:srgbClr val="008EFF"/>
            </a:solidFill>
          </a:ln>
        </p:spPr>
      </p:cxnSp>
      <p:cxnSp>
        <p:nvCxnSpPr>
          <p:cNvPr id="94" name="Connector 72"/>
          <p:cNvCxnSpPr/>
          <p:nvPr/>
        </p:nvCxnSpPr>
        <p:spPr>
          <a:xfrm>
            <a:off x="6294631" y="5188226"/>
            <a:ext cx="465543" cy="0"/>
          </a:xfrm>
          <a:prstGeom prst="line">
            <a:avLst/>
          </a:prstGeom>
          <a:ln w="19050">
            <a:solidFill>
              <a:srgbClr val="008EFF"/>
            </a:solidFill>
          </a:ln>
        </p:spPr>
      </p:cxnSp>
      <p:sp>
        <p:nvSpPr>
          <p:cNvPr id="95" name="점"/>
          <p:cNvSpPr/>
          <p:nvPr/>
        </p:nvSpPr>
        <p:spPr>
          <a:xfrm>
            <a:off x="4876090" y="5319704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6" name="값"/>
          <p:cNvSpPr>
            <a:spLocks noGrp="1"/>
          </p:cNvSpPr>
          <p:nvPr>
            <p:ph type="body" sz="quarter" idx="61"/>
          </p:nvPr>
        </p:nvSpPr>
        <p:spPr>
          <a:xfrm>
            <a:off x="4733656" y="5144400"/>
            <a:ext cx="32869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97" name="연도"/>
          <p:cNvSpPr>
            <a:spLocks noGrp="1"/>
          </p:cNvSpPr>
          <p:nvPr>
            <p:ph type="body" sz="quarter" idx="62"/>
          </p:nvPr>
        </p:nvSpPr>
        <p:spPr>
          <a:xfrm>
            <a:off x="4755569" y="5385443"/>
            <a:ext cx="284870" cy="175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’26</a:t>
            </a:r>
          </a:p>
        </p:txBody>
      </p:sp>
      <p:sp>
        <p:nvSpPr>
          <p:cNvPr id="98" name="점"/>
          <p:cNvSpPr/>
          <p:nvPr/>
        </p:nvSpPr>
        <p:spPr>
          <a:xfrm>
            <a:off x="5341633" y="5243009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9" name="값"/>
          <p:cNvSpPr>
            <a:spLocks noGrp="1"/>
          </p:cNvSpPr>
          <p:nvPr>
            <p:ph type="body" sz="quarter" idx="63"/>
          </p:nvPr>
        </p:nvSpPr>
        <p:spPr>
          <a:xfrm>
            <a:off x="5199198" y="5067704"/>
            <a:ext cx="32869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00" name="연도"/>
          <p:cNvSpPr>
            <a:spLocks noGrp="1"/>
          </p:cNvSpPr>
          <p:nvPr>
            <p:ph type="body" sz="quarter" idx="64"/>
          </p:nvPr>
        </p:nvSpPr>
        <p:spPr>
          <a:xfrm>
            <a:off x="5221111" y="5385443"/>
            <a:ext cx="284870" cy="175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’27</a:t>
            </a:r>
          </a:p>
        </p:txBody>
      </p:sp>
      <p:sp>
        <p:nvSpPr>
          <p:cNvPr id="101" name="점"/>
          <p:cNvSpPr/>
          <p:nvPr/>
        </p:nvSpPr>
        <p:spPr>
          <a:xfrm>
            <a:off x="5807176" y="5243009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2" name="값"/>
          <p:cNvSpPr>
            <a:spLocks noGrp="1"/>
          </p:cNvSpPr>
          <p:nvPr>
            <p:ph type="body" sz="quarter" idx="65"/>
          </p:nvPr>
        </p:nvSpPr>
        <p:spPr>
          <a:xfrm>
            <a:off x="5664741" y="5067704"/>
            <a:ext cx="32869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03" name="연도"/>
          <p:cNvSpPr>
            <a:spLocks noGrp="1"/>
          </p:cNvSpPr>
          <p:nvPr>
            <p:ph type="body" sz="quarter" idx="66"/>
          </p:nvPr>
        </p:nvSpPr>
        <p:spPr>
          <a:xfrm>
            <a:off x="5686654" y="5385443"/>
            <a:ext cx="284870" cy="175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’28</a:t>
            </a:r>
          </a:p>
        </p:txBody>
      </p:sp>
      <p:sp>
        <p:nvSpPr>
          <p:cNvPr id="104" name="점"/>
          <p:cNvSpPr/>
          <p:nvPr/>
        </p:nvSpPr>
        <p:spPr>
          <a:xfrm>
            <a:off x="6272718" y="5166313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5" name="값"/>
          <p:cNvSpPr>
            <a:spLocks noGrp="1"/>
          </p:cNvSpPr>
          <p:nvPr>
            <p:ph type="body" sz="quarter" idx="67"/>
          </p:nvPr>
        </p:nvSpPr>
        <p:spPr>
          <a:xfrm>
            <a:off x="6130283" y="4991009"/>
            <a:ext cx="32869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5</a:t>
            </a:r>
          </a:p>
        </p:txBody>
      </p:sp>
      <p:sp>
        <p:nvSpPr>
          <p:cNvPr id="106" name="연도"/>
          <p:cNvSpPr>
            <a:spLocks noGrp="1"/>
          </p:cNvSpPr>
          <p:nvPr>
            <p:ph type="body" sz="quarter" idx="68"/>
          </p:nvPr>
        </p:nvSpPr>
        <p:spPr>
          <a:xfrm>
            <a:off x="6152197" y="5385443"/>
            <a:ext cx="284870" cy="175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’29</a:t>
            </a:r>
          </a:p>
        </p:txBody>
      </p:sp>
      <p:sp>
        <p:nvSpPr>
          <p:cNvPr id="107" name="점"/>
          <p:cNvSpPr/>
          <p:nvPr/>
        </p:nvSpPr>
        <p:spPr>
          <a:xfrm>
            <a:off x="6738261" y="5166313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8" name="값"/>
          <p:cNvSpPr>
            <a:spLocks noGrp="1"/>
          </p:cNvSpPr>
          <p:nvPr>
            <p:ph type="body" sz="quarter" idx="69"/>
          </p:nvPr>
        </p:nvSpPr>
        <p:spPr>
          <a:xfrm>
            <a:off x="6595826" y="4991009"/>
            <a:ext cx="32869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5</a:t>
            </a:r>
          </a:p>
        </p:txBody>
      </p:sp>
      <p:sp>
        <p:nvSpPr>
          <p:cNvPr id="109" name="연도"/>
          <p:cNvSpPr>
            <a:spLocks noGrp="1"/>
          </p:cNvSpPr>
          <p:nvPr>
            <p:ph type="body" sz="quarter" idx="70"/>
          </p:nvPr>
        </p:nvSpPr>
        <p:spPr>
          <a:xfrm>
            <a:off x="6617739" y="5385443"/>
            <a:ext cx="284870" cy="175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’30</a:t>
            </a:r>
          </a:p>
        </p:txBody>
      </p:sp>
      <p:cxnSp>
        <p:nvCxnSpPr>
          <p:cNvPr id="110" name="Connector 88"/>
          <p:cNvCxnSpPr/>
          <p:nvPr/>
        </p:nvCxnSpPr>
        <p:spPr>
          <a:xfrm>
            <a:off x="4854177" y="5374487"/>
            <a:ext cx="1949823" cy="0"/>
          </a:xfrm>
          <a:prstGeom prst="line">
            <a:avLst/>
          </a:prstGeom>
          <a:ln w="12700">
            <a:solidFill>
              <a:srgbClr val="BDE0FF"/>
            </a:solidFill>
          </a:ln>
        </p:spPr>
      </p:cxnSp>
      <p:sp>
        <p:nvSpPr>
          <p:cNvPr id="111" name="레일"/>
          <p:cNvSpPr/>
          <p:nvPr/>
        </p:nvSpPr>
        <p:spPr>
          <a:xfrm>
            <a:off x="536870" y="5615530"/>
            <a:ext cx="602609" cy="61356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12" name="레일"/>
          <p:cNvSpPr>
            <a:spLocks noGrp="1"/>
          </p:cNvSpPr>
          <p:nvPr>
            <p:ph type="body" sz="quarter" idx="71"/>
          </p:nvPr>
        </p:nvSpPr>
        <p:spPr>
          <a:xfrm>
            <a:off x="536870" y="5615530"/>
            <a:ext cx="602609" cy="613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고품질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용수공급</a:t>
            </a:r>
          </a:p>
        </p:txBody>
      </p:sp>
      <p:sp>
        <p:nvSpPr>
          <p:cNvPr id="113" name="PI 글"/>
          <p:cNvSpPr>
            <a:spLocks noGrp="1"/>
          </p:cNvSpPr>
          <p:nvPr>
            <p:ph type="body" sz="quarter" idx="72"/>
          </p:nvPr>
        </p:nvSpPr>
        <p:spPr>
          <a:xfrm>
            <a:off x="1172348" y="5615530"/>
            <a:ext cx="1847598" cy="61356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완전 자율운영 정수장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첨단수처리 기술사업화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첨단산단 적기 용수공급</a:t>
            </a:r>
          </a:p>
        </p:txBody>
      </p:sp>
      <p:sp>
        <p:nvSpPr>
          <p:cNvPr id="114" name="KPI 칸"/>
          <p:cNvSpPr/>
          <p:nvPr/>
        </p:nvSpPr>
        <p:spPr>
          <a:xfrm>
            <a:off x="3052816" y="5615530"/>
            <a:ext cx="1735623" cy="613565"/>
          </a:xfrm>
          <a:prstGeom prst="rect">
            <a:avLst/>
          </a:prstGeom>
          <a:solidFill>
            <a:srgbClr val="FFFF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5" name="태그"/>
          <p:cNvSpPr/>
          <p:nvPr/>
        </p:nvSpPr>
        <p:spPr>
          <a:xfrm>
            <a:off x="3096642" y="5670313"/>
            <a:ext cx="329103" cy="153391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116" name="태그"/>
          <p:cNvSpPr>
            <a:spLocks noGrp="1"/>
          </p:cNvSpPr>
          <p:nvPr>
            <p:ph type="body" sz="quarter" idx="73"/>
          </p:nvPr>
        </p:nvSpPr>
        <p:spPr>
          <a:xfrm>
            <a:off x="3096642" y="5670313"/>
            <a:ext cx="329103" cy="15339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수도</a:t>
            </a:r>
          </a:p>
        </p:txBody>
      </p:sp>
      <p:sp>
        <p:nvSpPr>
          <p:cNvPr id="117" name="KPI 글"/>
          <p:cNvSpPr>
            <a:spLocks noGrp="1"/>
          </p:cNvSpPr>
          <p:nvPr>
            <p:ph type="body" sz="quarter" idx="74"/>
          </p:nvPr>
        </p:nvSpPr>
        <p:spPr>
          <a:xfrm>
            <a:off x="3458614" y="5648400"/>
            <a:ext cx="1296955" cy="33965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AI정수장 고도화</a:t>
            </a:r>
          </a:p>
        </p:txBody>
      </p:sp>
      <p:sp>
        <p:nvSpPr>
          <p:cNvPr id="118" name="KPI 결과"/>
          <p:cNvSpPr/>
          <p:nvPr/>
        </p:nvSpPr>
        <p:spPr>
          <a:xfrm>
            <a:off x="3063772" y="6009965"/>
            <a:ext cx="1713710" cy="20817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119" name="KPI 결과"/>
          <p:cNvSpPr>
            <a:spLocks noGrp="1"/>
          </p:cNvSpPr>
          <p:nvPr>
            <p:ph type="body" sz="quarter" idx="75"/>
          </p:nvPr>
        </p:nvSpPr>
        <p:spPr>
          <a:xfrm>
            <a:off x="3063772" y="6009965"/>
            <a:ext cx="1713710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4개소 → 44개소</a:t>
            </a:r>
          </a:p>
        </p:txBody>
      </p:sp>
      <p:sp>
        <p:nvSpPr>
          <p:cNvPr id="120" name="로드맵 칸"/>
          <p:cNvSpPr/>
          <p:nvPr/>
        </p:nvSpPr>
        <p:spPr>
          <a:xfrm>
            <a:off x="4821308" y="5615530"/>
            <a:ext cx="2015562" cy="613565"/>
          </a:xfrm>
          <a:prstGeom prst="rect">
            <a:avLst/>
          </a:prstGeom>
          <a:solidFill>
            <a:srgbClr val="FFFF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21" name="단위"/>
          <p:cNvSpPr>
            <a:spLocks noGrp="1"/>
          </p:cNvSpPr>
          <p:nvPr>
            <p:ph type="body" sz="quarter" idx="76"/>
          </p:nvPr>
        </p:nvSpPr>
        <p:spPr>
          <a:xfrm>
            <a:off x="4843221" y="5626487"/>
            <a:ext cx="799826" cy="131478"/>
          </a:xfrm>
          <a:prstGeom prst="rect">
            <a:avLst/>
          </a:prstGeom>
          <a:noFill/>
          <a:ln>
            <a:noFill/>
          </a:ln>
        </p:spPr>
        <p:txBody>
          <a:bodyPr wrap="square" lIns="1440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단위 : 개소</a:t>
            </a:r>
          </a:p>
        </p:txBody>
      </p:sp>
      <p:cxnSp>
        <p:nvCxnSpPr>
          <p:cNvPr id="122" name="Connector 97"/>
          <p:cNvCxnSpPr/>
          <p:nvPr/>
        </p:nvCxnSpPr>
        <p:spPr>
          <a:xfrm flipV="1">
            <a:off x="4898003" y="5850000"/>
            <a:ext cx="465543" cy="138052"/>
          </a:xfrm>
          <a:prstGeom prst="line">
            <a:avLst/>
          </a:prstGeom>
          <a:ln w="19050">
            <a:solidFill>
              <a:srgbClr val="008EFF"/>
            </a:solidFill>
          </a:ln>
        </p:spPr>
      </p:cxnSp>
      <p:cxnSp>
        <p:nvCxnSpPr>
          <p:cNvPr id="123" name="Connector 98"/>
          <p:cNvCxnSpPr/>
          <p:nvPr/>
        </p:nvCxnSpPr>
        <p:spPr>
          <a:xfrm flipV="1">
            <a:off x="5363546" y="5834661"/>
            <a:ext cx="465543" cy="15339"/>
          </a:xfrm>
          <a:prstGeom prst="line">
            <a:avLst/>
          </a:prstGeom>
          <a:ln w="19050">
            <a:solidFill>
              <a:srgbClr val="008EFF"/>
            </a:solidFill>
          </a:ln>
        </p:spPr>
      </p:cxnSp>
      <p:cxnSp>
        <p:nvCxnSpPr>
          <p:cNvPr id="124" name="Connector 99"/>
          <p:cNvCxnSpPr/>
          <p:nvPr/>
        </p:nvCxnSpPr>
        <p:spPr>
          <a:xfrm>
            <a:off x="5829089" y="5834661"/>
            <a:ext cx="465542" cy="153391"/>
          </a:xfrm>
          <a:prstGeom prst="line">
            <a:avLst/>
          </a:prstGeom>
          <a:ln w="19050">
            <a:solidFill>
              <a:srgbClr val="008EFF"/>
            </a:solidFill>
          </a:ln>
        </p:spPr>
      </p:cxnSp>
      <p:cxnSp>
        <p:nvCxnSpPr>
          <p:cNvPr id="125" name="Connector 100"/>
          <p:cNvCxnSpPr/>
          <p:nvPr/>
        </p:nvCxnSpPr>
        <p:spPr>
          <a:xfrm flipV="1">
            <a:off x="6294631" y="5834661"/>
            <a:ext cx="465543" cy="153391"/>
          </a:xfrm>
          <a:prstGeom prst="line">
            <a:avLst/>
          </a:prstGeom>
          <a:ln w="19050">
            <a:solidFill>
              <a:srgbClr val="008EFF"/>
            </a:solidFill>
          </a:ln>
        </p:spPr>
      </p:cxnSp>
      <p:sp>
        <p:nvSpPr>
          <p:cNvPr id="126" name="점"/>
          <p:cNvSpPr/>
          <p:nvPr/>
        </p:nvSpPr>
        <p:spPr>
          <a:xfrm>
            <a:off x="4876090" y="5966139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27" name="값"/>
          <p:cNvSpPr>
            <a:spLocks noGrp="1"/>
          </p:cNvSpPr>
          <p:nvPr>
            <p:ph type="body" sz="quarter" idx="77"/>
          </p:nvPr>
        </p:nvSpPr>
        <p:spPr>
          <a:xfrm>
            <a:off x="4733656" y="5790835"/>
            <a:ext cx="32869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28" name="연도"/>
          <p:cNvSpPr>
            <a:spLocks noGrp="1"/>
          </p:cNvSpPr>
          <p:nvPr>
            <p:ph type="body" sz="quarter" idx="78"/>
          </p:nvPr>
        </p:nvSpPr>
        <p:spPr>
          <a:xfrm>
            <a:off x="4755569" y="6031878"/>
            <a:ext cx="284870" cy="175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’26</a:t>
            </a:r>
          </a:p>
        </p:txBody>
      </p:sp>
      <p:sp>
        <p:nvSpPr>
          <p:cNvPr id="129" name="점"/>
          <p:cNvSpPr/>
          <p:nvPr/>
        </p:nvSpPr>
        <p:spPr>
          <a:xfrm>
            <a:off x="5341633" y="5828087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30" name="값"/>
          <p:cNvSpPr>
            <a:spLocks noGrp="1"/>
          </p:cNvSpPr>
          <p:nvPr>
            <p:ph type="body" sz="quarter" idx="79"/>
          </p:nvPr>
        </p:nvSpPr>
        <p:spPr>
          <a:xfrm>
            <a:off x="5199198" y="5652783"/>
            <a:ext cx="32869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40</a:t>
            </a:r>
          </a:p>
        </p:txBody>
      </p:sp>
      <p:sp>
        <p:nvSpPr>
          <p:cNvPr id="131" name="연도"/>
          <p:cNvSpPr>
            <a:spLocks noGrp="1"/>
          </p:cNvSpPr>
          <p:nvPr>
            <p:ph type="body" sz="quarter" idx="80"/>
          </p:nvPr>
        </p:nvSpPr>
        <p:spPr>
          <a:xfrm>
            <a:off x="5221111" y="6031878"/>
            <a:ext cx="284870" cy="175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’27</a:t>
            </a:r>
          </a:p>
        </p:txBody>
      </p:sp>
      <p:sp>
        <p:nvSpPr>
          <p:cNvPr id="132" name="점"/>
          <p:cNvSpPr/>
          <p:nvPr/>
        </p:nvSpPr>
        <p:spPr>
          <a:xfrm>
            <a:off x="5807176" y="5812748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33" name="값"/>
          <p:cNvSpPr>
            <a:spLocks noGrp="1"/>
          </p:cNvSpPr>
          <p:nvPr>
            <p:ph type="body" sz="quarter" idx="81"/>
          </p:nvPr>
        </p:nvSpPr>
        <p:spPr>
          <a:xfrm>
            <a:off x="5664741" y="5637443"/>
            <a:ext cx="32869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44</a:t>
            </a:r>
          </a:p>
        </p:txBody>
      </p:sp>
      <p:sp>
        <p:nvSpPr>
          <p:cNvPr id="134" name="연도"/>
          <p:cNvSpPr>
            <a:spLocks noGrp="1"/>
          </p:cNvSpPr>
          <p:nvPr>
            <p:ph type="body" sz="quarter" idx="82"/>
          </p:nvPr>
        </p:nvSpPr>
        <p:spPr>
          <a:xfrm>
            <a:off x="5686654" y="6031878"/>
            <a:ext cx="284870" cy="175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’28</a:t>
            </a:r>
          </a:p>
        </p:txBody>
      </p:sp>
      <p:sp>
        <p:nvSpPr>
          <p:cNvPr id="135" name="점"/>
          <p:cNvSpPr/>
          <p:nvPr/>
        </p:nvSpPr>
        <p:spPr>
          <a:xfrm>
            <a:off x="6272718" y="5966139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36" name="값"/>
          <p:cNvSpPr>
            <a:spLocks noGrp="1"/>
          </p:cNvSpPr>
          <p:nvPr>
            <p:ph type="body" sz="quarter" idx="83"/>
          </p:nvPr>
        </p:nvSpPr>
        <p:spPr>
          <a:xfrm>
            <a:off x="6130283" y="5790835"/>
            <a:ext cx="32869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37" name="연도"/>
          <p:cNvSpPr>
            <a:spLocks noGrp="1"/>
          </p:cNvSpPr>
          <p:nvPr>
            <p:ph type="body" sz="quarter" idx="84"/>
          </p:nvPr>
        </p:nvSpPr>
        <p:spPr>
          <a:xfrm>
            <a:off x="6152197" y="6031878"/>
            <a:ext cx="284870" cy="175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’29</a:t>
            </a:r>
          </a:p>
        </p:txBody>
      </p:sp>
      <p:sp>
        <p:nvSpPr>
          <p:cNvPr id="138" name="점"/>
          <p:cNvSpPr/>
          <p:nvPr/>
        </p:nvSpPr>
        <p:spPr>
          <a:xfrm>
            <a:off x="6738261" y="5812748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39" name="값"/>
          <p:cNvSpPr>
            <a:spLocks noGrp="1"/>
          </p:cNvSpPr>
          <p:nvPr>
            <p:ph type="body" sz="quarter" idx="85"/>
          </p:nvPr>
        </p:nvSpPr>
        <p:spPr>
          <a:xfrm>
            <a:off x="6595826" y="5637443"/>
            <a:ext cx="32869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44</a:t>
            </a:r>
          </a:p>
        </p:txBody>
      </p:sp>
      <p:sp>
        <p:nvSpPr>
          <p:cNvPr id="140" name="연도"/>
          <p:cNvSpPr>
            <a:spLocks noGrp="1"/>
          </p:cNvSpPr>
          <p:nvPr>
            <p:ph type="body" sz="quarter" idx="86"/>
          </p:nvPr>
        </p:nvSpPr>
        <p:spPr>
          <a:xfrm>
            <a:off x="6617739" y="6031878"/>
            <a:ext cx="284870" cy="175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’30</a:t>
            </a:r>
          </a:p>
        </p:txBody>
      </p:sp>
      <p:cxnSp>
        <p:nvCxnSpPr>
          <p:cNvPr id="141" name="Connector 116"/>
          <p:cNvCxnSpPr/>
          <p:nvPr/>
        </p:nvCxnSpPr>
        <p:spPr>
          <a:xfrm>
            <a:off x="4854177" y="6020922"/>
            <a:ext cx="1949823" cy="0"/>
          </a:xfrm>
          <a:prstGeom prst="line">
            <a:avLst/>
          </a:prstGeom>
          <a:ln w="12700">
            <a:solidFill>
              <a:srgbClr val="BDE0FF"/>
            </a:solidFill>
          </a:ln>
        </p:spPr>
      </p:cxnSp>
      <p:sp>
        <p:nvSpPr>
          <p:cNvPr id="142" name="레일"/>
          <p:cNvSpPr/>
          <p:nvPr/>
        </p:nvSpPr>
        <p:spPr>
          <a:xfrm>
            <a:off x="536870" y="6261965"/>
            <a:ext cx="602609" cy="61356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43" name="레일"/>
          <p:cNvSpPr>
            <a:spLocks noGrp="1"/>
          </p:cNvSpPr>
          <p:nvPr>
            <p:ph type="body" sz="quarter" idx="87"/>
          </p:nvPr>
        </p:nvSpPr>
        <p:spPr>
          <a:xfrm>
            <a:off x="536870" y="6261965"/>
            <a:ext cx="602609" cy="613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탄소중립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녹색전환</a:t>
            </a:r>
          </a:p>
        </p:txBody>
      </p:sp>
      <p:sp>
        <p:nvSpPr>
          <p:cNvPr id="144" name="PI 글"/>
          <p:cNvSpPr>
            <a:spLocks noGrp="1"/>
          </p:cNvSpPr>
          <p:nvPr>
            <p:ph type="body" sz="quarter" idx="88"/>
          </p:nvPr>
        </p:nvSpPr>
        <p:spPr>
          <a:xfrm>
            <a:off x="1172348" y="6261965"/>
            <a:ext cx="1847598" cy="61356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태양광 등 재생e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수출기업 PPA 공급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 RE100 수열클러스터 확대</a:t>
            </a:r>
          </a:p>
        </p:txBody>
      </p:sp>
      <p:sp>
        <p:nvSpPr>
          <p:cNvPr id="145" name="KPI 칸"/>
          <p:cNvSpPr/>
          <p:nvPr/>
        </p:nvSpPr>
        <p:spPr>
          <a:xfrm>
            <a:off x="3052816" y="6261965"/>
            <a:ext cx="1735623" cy="613565"/>
          </a:xfrm>
          <a:prstGeom prst="rect">
            <a:avLst/>
          </a:prstGeom>
          <a:solidFill>
            <a:srgbClr val="FFFF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6" name="태그"/>
          <p:cNvSpPr/>
          <p:nvPr/>
        </p:nvSpPr>
        <p:spPr>
          <a:xfrm>
            <a:off x="3096642" y="6316748"/>
            <a:ext cx="438871" cy="153391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147" name="태그"/>
          <p:cNvSpPr>
            <a:spLocks noGrp="1"/>
          </p:cNvSpPr>
          <p:nvPr>
            <p:ph type="body" sz="quarter" idx="89"/>
          </p:nvPr>
        </p:nvSpPr>
        <p:spPr>
          <a:xfrm>
            <a:off x="3096642" y="6316748"/>
            <a:ext cx="438871" cy="15339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에너지</a:t>
            </a:r>
          </a:p>
        </p:txBody>
      </p:sp>
      <p:sp>
        <p:nvSpPr>
          <p:cNvPr id="148" name="KPI 글"/>
          <p:cNvSpPr>
            <a:spLocks noGrp="1"/>
          </p:cNvSpPr>
          <p:nvPr>
            <p:ph type="body" sz="quarter" idx="90"/>
          </p:nvPr>
        </p:nvSpPr>
        <p:spPr>
          <a:xfrm>
            <a:off x="3568382" y="6294835"/>
            <a:ext cx="1187186" cy="33965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육상·수상태양광 개발</a:t>
            </a:r>
          </a:p>
        </p:txBody>
      </p:sp>
      <p:sp>
        <p:nvSpPr>
          <p:cNvPr id="149" name="KPI 결과"/>
          <p:cNvSpPr/>
          <p:nvPr/>
        </p:nvSpPr>
        <p:spPr>
          <a:xfrm>
            <a:off x="3063772" y="6656400"/>
            <a:ext cx="1713710" cy="20817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150" name="KPI 결과"/>
          <p:cNvSpPr>
            <a:spLocks noGrp="1"/>
          </p:cNvSpPr>
          <p:nvPr>
            <p:ph type="body" sz="quarter" idx="91"/>
          </p:nvPr>
        </p:nvSpPr>
        <p:spPr>
          <a:xfrm>
            <a:off x="3063772" y="6656400"/>
            <a:ext cx="1713710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474.8MW → 7,227.0MW</a:t>
            </a:r>
          </a:p>
        </p:txBody>
      </p:sp>
      <p:sp>
        <p:nvSpPr>
          <p:cNvPr id="151" name="로드맵 칸"/>
          <p:cNvSpPr/>
          <p:nvPr/>
        </p:nvSpPr>
        <p:spPr>
          <a:xfrm>
            <a:off x="4821308" y="6261965"/>
            <a:ext cx="2015562" cy="613565"/>
          </a:xfrm>
          <a:prstGeom prst="rect">
            <a:avLst/>
          </a:prstGeom>
          <a:solidFill>
            <a:srgbClr val="FFFF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2" name="단위"/>
          <p:cNvSpPr>
            <a:spLocks noGrp="1"/>
          </p:cNvSpPr>
          <p:nvPr>
            <p:ph type="body" sz="quarter" idx="92"/>
          </p:nvPr>
        </p:nvSpPr>
        <p:spPr>
          <a:xfrm>
            <a:off x="4843221" y="6272922"/>
            <a:ext cx="799826" cy="131478"/>
          </a:xfrm>
          <a:prstGeom prst="rect">
            <a:avLst/>
          </a:prstGeom>
          <a:noFill/>
          <a:ln>
            <a:noFill/>
          </a:ln>
        </p:spPr>
        <p:txBody>
          <a:bodyPr wrap="square" lIns="1440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단위 : MW</a:t>
            </a:r>
          </a:p>
        </p:txBody>
      </p:sp>
      <p:cxnSp>
        <p:nvCxnSpPr>
          <p:cNvPr id="153" name="Connector 125"/>
          <p:cNvCxnSpPr/>
          <p:nvPr/>
        </p:nvCxnSpPr>
        <p:spPr>
          <a:xfrm flipV="1">
            <a:off x="4898003" y="6630239"/>
            <a:ext cx="465543" cy="4248"/>
          </a:xfrm>
          <a:prstGeom prst="line">
            <a:avLst/>
          </a:prstGeom>
          <a:ln w="19050">
            <a:solidFill>
              <a:srgbClr val="008EFF"/>
            </a:solidFill>
          </a:ln>
        </p:spPr>
      </p:cxnSp>
      <p:cxnSp>
        <p:nvCxnSpPr>
          <p:cNvPr id="154" name="Connector 126"/>
          <p:cNvCxnSpPr/>
          <p:nvPr/>
        </p:nvCxnSpPr>
        <p:spPr>
          <a:xfrm flipV="1">
            <a:off x="5363546" y="6582925"/>
            <a:ext cx="465543" cy="47314"/>
          </a:xfrm>
          <a:prstGeom prst="line">
            <a:avLst/>
          </a:prstGeom>
          <a:ln w="19050">
            <a:solidFill>
              <a:srgbClr val="008EFF"/>
            </a:solidFill>
          </a:ln>
        </p:spPr>
      </p:cxnSp>
      <p:cxnSp>
        <p:nvCxnSpPr>
          <p:cNvPr id="155" name="Connector 127"/>
          <p:cNvCxnSpPr/>
          <p:nvPr/>
        </p:nvCxnSpPr>
        <p:spPr>
          <a:xfrm flipV="1">
            <a:off x="5829089" y="6531908"/>
            <a:ext cx="465542" cy="51017"/>
          </a:xfrm>
          <a:prstGeom prst="line">
            <a:avLst/>
          </a:prstGeom>
          <a:ln w="19050">
            <a:solidFill>
              <a:srgbClr val="008EFF"/>
            </a:solidFill>
          </a:ln>
        </p:spPr>
      </p:cxnSp>
      <p:cxnSp>
        <p:nvCxnSpPr>
          <p:cNvPr id="156" name="Connector 128"/>
          <p:cNvCxnSpPr/>
          <p:nvPr/>
        </p:nvCxnSpPr>
        <p:spPr>
          <a:xfrm flipV="1">
            <a:off x="6294631" y="6481096"/>
            <a:ext cx="465543" cy="50812"/>
          </a:xfrm>
          <a:prstGeom prst="line">
            <a:avLst/>
          </a:prstGeom>
          <a:ln w="19050">
            <a:solidFill>
              <a:srgbClr val="008EFF"/>
            </a:solidFill>
          </a:ln>
        </p:spPr>
      </p:cxnSp>
      <p:sp>
        <p:nvSpPr>
          <p:cNvPr id="157" name="점"/>
          <p:cNvSpPr/>
          <p:nvPr/>
        </p:nvSpPr>
        <p:spPr>
          <a:xfrm>
            <a:off x="4876090" y="6612574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8" name="값"/>
          <p:cNvSpPr>
            <a:spLocks noGrp="1"/>
          </p:cNvSpPr>
          <p:nvPr>
            <p:ph type="body" sz="quarter" idx="93"/>
          </p:nvPr>
        </p:nvSpPr>
        <p:spPr>
          <a:xfrm>
            <a:off x="4733656" y="6437270"/>
            <a:ext cx="32869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474</a:t>
            </a:r>
          </a:p>
        </p:txBody>
      </p:sp>
      <p:sp>
        <p:nvSpPr>
          <p:cNvPr id="159" name="연도"/>
          <p:cNvSpPr>
            <a:spLocks noGrp="1"/>
          </p:cNvSpPr>
          <p:nvPr>
            <p:ph type="body" sz="quarter" idx="94"/>
          </p:nvPr>
        </p:nvSpPr>
        <p:spPr>
          <a:xfrm>
            <a:off x="4755569" y="6678313"/>
            <a:ext cx="284870" cy="175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’26</a:t>
            </a:r>
          </a:p>
        </p:txBody>
      </p:sp>
      <p:sp>
        <p:nvSpPr>
          <p:cNvPr id="160" name="점"/>
          <p:cNvSpPr/>
          <p:nvPr/>
        </p:nvSpPr>
        <p:spPr>
          <a:xfrm>
            <a:off x="5341633" y="6608326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1" name="값"/>
          <p:cNvSpPr>
            <a:spLocks noGrp="1"/>
          </p:cNvSpPr>
          <p:nvPr>
            <p:ph type="body" sz="quarter" idx="95"/>
          </p:nvPr>
        </p:nvSpPr>
        <p:spPr>
          <a:xfrm>
            <a:off x="5199198" y="6433022"/>
            <a:ext cx="32869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661</a:t>
            </a:r>
          </a:p>
        </p:txBody>
      </p:sp>
      <p:sp>
        <p:nvSpPr>
          <p:cNvPr id="162" name="연도"/>
          <p:cNvSpPr>
            <a:spLocks noGrp="1"/>
          </p:cNvSpPr>
          <p:nvPr>
            <p:ph type="body" sz="quarter" idx="96"/>
          </p:nvPr>
        </p:nvSpPr>
        <p:spPr>
          <a:xfrm>
            <a:off x="5221111" y="6678313"/>
            <a:ext cx="284870" cy="175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’27</a:t>
            </a:r>
          </a:p>
        </p:txBody>
      </p:sp>
      <p:sp>
        <p:nvSpPr>
          <p:cNvPr id="163" name="점"/>
          <p:cNvSpPr/>
          <p:nvPr/>
        </p:nvSpPr>
        <p:spPr>
          <a:xfrm>
            <a:off x="5807176" y="6561012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4" name="값"/>
          <p:cNvSpPr>
            <a:spLocks noGrp="1"/>
          </p:cNvSpPr>
          <p:nvPr>
            <p:ph type="body" sz="quarter" idx="97"/>
          </p:nvPr>
        </p:nvSpPr>
        <p:spPr>
          <a:xfrm>
            <a:off x="5664741" y="6385708"/>
            <a:ext cx="32869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2744</a:t>
            </a:r>
          </a:p>
        </p:txBody>
      </p:sp>
      <p:sp>
        <p:nvSpPr>
          <p:cNvPr id="165" name="연도"/>
          <p:cNvSpPr>
            <a:spLocks noGrp="1"/>
          </p:cNvSpPr>
          <p:nvPr>
            <p:ph type="body" sz="quarter" idx="98"/>
          </p:nvPr>
        </p:nvSpPr>
        <p:spPr>
          <a:xfrm>
            <a:off x="5686654" y="6678313"/>
            <a:ext cx="284870" cy="175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’28</a:t>
            </a:r>
          </a:p>
        </p:txBody>
      </p:sp>
      <p:sp>
        <p:nvSpPr>
          <p:cNvPr id="166" name="점"/>
          <p:cNvSpPr/>
          <p:nvPr/>
        </p:nvSpPr>
        <p:spPr>
          <a:xfrm>
            <a:off x="6272718" y="6509995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7" name="값"/>
          <p:cNvSpPr>
            <a:spLocks noGrp="1"/>
          </p:cNvSpPr>
          <p:nvPr>
            <p:ph type="body" sz="quarter" idx="99"/>
          </p:nvPr>
        </p:nvSpPr>
        <p:spPr>
          <a:xfrm>
            <a:off x="6130283" y="6334691"/>
            <a:ext cx="32869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4990</a:t>
            </a:r>
          </a:p>
        </p:txBody>
      </p:sp>
      <p:sp>
        <p:nvSpPr>
          <p:cNvPr id="168" name="연도"/>
          <p:cNvSpPr>
            <a:spLocks noGrp="1"/>
          </p:cNvSpPr>
          <p:nvPr>
            <p:ph type="body" sz="quarter" idx="100"/>
          </p:nvPr>
        </p:nvSpPr>
        <p:spPr>
          <a:xfrm>
            <a:off x="6152197" y="6678313"/>
            <a:ext cx="284870" cy="175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’29</a:t>
            </a:r>
          </a:p>
        </p:txBody>
      </p:sp>
      <p:sp>
        <p:nvSpPr>
          <p:cNvPr id="169" name="점"/>
          <p:cNvSpPr/>
          <p:nvPr/>
        </p:nvSpPr>
        <p:spPr>
          <a:xfrm>
            <a:off x="6738261" y="6459183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0" name="값"/>
          <p:cNvSpPr>
            <a:spLocks noGrp="1"/>
          </p:cNvSpPr>
          <p:nvPr>
            <p:ph type="body" sz="quarter" idx="101"/>
          </p:nvPr>
        </p:nvSpPr>
        <p:spPr>
          <a:xfrm>
            <a:off x="6595826" y="6283878"/>
            <a:ext cx="32869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7227</a:t>
            </a:r>
          </a:p>
        </p:txBody>
      </p:sp>
      <p:sp>
        <p:nvSpPr>
          <p:cNvPr id="171" name="연도"/>
          <p:cNvSpPr>
            <a:spLocks noGrp="1"/>
          </p:cNvSpPr>
          <p:nvPr>
            <p:ph type="body" sz="quarter" idx="102"/>
          </p:nvPr>
        </p:nvSpPr>
        <p:spPr>
          <a:xfrm>
            <a:off x="6617739" y="6678313"/>
            <a:ext cx="284870" cy="175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’30</a:t>
            </a:r>
          </a:p>
        </p:txBody>
      </p:sp>
      <p:cxnSp>
        <p:nvCxnSpPr>
          <p:cNvPr id="172" name="Connector 144"/>
          <p:cNvCxnSpPr/>
          <p:nvPr/>
        </p:nvCxnSpPr>
        <p:spPr>
          <a:xfrm>
            <a:off x="4854177" y="6667357"/>
            <a:ext cx="1949823" cy="0"/>
          </a:xfrm>
          <a:prstGeom prst="line">
            <a:avLst/>
          </a:prstGeom>
          <a:ln w="12700">
            <a:solidFill>
              <a:srgbClr val="BDE0FF"/>
            </a:solidFill>
          </a:ln>
        </p:spPr>
      </p:cxnSp>
      <p:sp>
        <p:nvSpPr>
          <p:cNvPr id="173" name="레일"/>
          <p:cNvSpPr/>
          <p:nvPr/>
        </p:nvSpPr>
        <p:spPr>
          <a:xfrm>
            <a:off x="536870" y="6908400"/>
            <a:ext cx="602609" cy="61356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4" name="레일"/>
          <p:cNvSpPr>
            <a:spLocks noGrp="1"/>
          </p:cNvSpPr>
          <p:nvPr>
            <p:ph type="body" sz="quarter" idx="103"/>
          </p:nvPr>
        </p:nvSpPr>
        <p:spPr>
          <a:xfrm>
            <a:off x="536870" y="6908400"/>
            <a:ext cx="602609" cy="613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기후테크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육성·수출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활성화</a:t>
            </a:r>
          </a:p>
        </p:txBody>
      </p:sp>
      <p:sp>
        <p:nvSpPr>
          <p:cNvPr id="175" name="PI 글"/>
          <p:cNvSpPr>
            <a:spLocks noGrp="1"/>
          </p:cNvSpPr>
          <p:nvPr>
            <p:ph type="body" sz="quarter" idx="104"/>
          </p:nvPr>
        </p:nvSpPr>
        <p:spPr>
          <a:xfrm>
            <a:off x="1172348" y="6908400"/>
            <a:ext cx="1847598" cy="61356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K-기후테크 수출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유망 기후테크 기업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구독형 솔루션 사업화</a:t>
            </a:r>
          </a:p>
        </p:txBody>
      </p:sp>
      <p:sp>
        <p:nvSpPr>
          <p:cNvPr id="176" name="KPI 칸"/>
          <p:cNvSpPr/>
          <p:nvPr/>
        </p:nvSpPr>
        <p:spPr>
          <a:xfrm>
            <a:off x="3052816" y="6908400"/>
            <a:ext cx="1735623" cy="613565"/>
          </a:xfrm>
          <a:prstGeom prst="rect">
            <a:avLst/>
          </a:prstGeom>
          <a:solidFill>
            <a:srgbClr val="FFFF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7" name="태그"/>
          <p:cNvSpPr/>
          <p:nvPr/>
        </p:nvSpPr>
        <p:spPr>
          <a:xfrm>
            <a:off x="3096642" y="6963183"/>
            <a:ext cx="438871" cy="153391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178" name="태그"/>
          <p:cNvSpPr>
            <a:spLocks noGrp="1"/>
          </p:cNvSpPr>
          <p:nvPr>
            <p:ph type="body" sz="quarter" idx="105"/>
          </p:nvPr>
        </p:nvSpPr>
        <p:spPr>
          <a:xfrm>
            <a:off x="3096642" y="6963183"/>
            <a:ext cx="438871" cy="15339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글로벌</a:t>
            </a:r>
          </a:p>
        </p:txBody>
      </p:sp>
      <p:sp>
        <p:nvSpPr>
          <p:cNvPr id="179" name="KPI 글"/>
          <p:cNvSpPr>
            <a:spLocks noGrp="1"/>
          </p:cNvSpPr>
          <p:nvPr>
            <p:ph type="body" sz="quarter" idx="106"/>
          </p:nvPr>
        </p:nvSpPr>
        <p:spPr>
          <a:xfrm>
            <a:off x="3568382" y="6941270"/>
            <a:ext cx="1187186" cy="33965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테크기반 사업수주</a:t>
            </a:r>
          </a:p>
        </p:txBody>
      </p:sp>
      <p:sp>
        <p:nvSpPr>
          <p:cNvPr id="180" name="KPI 결과"/>
          <p:cNvSpPr/>
          <p:nvPr/>
        </p:nvSpPr>
        <p:spPr>
          <a:xfrm>
            <a:off x="3063772" y="7302835"/>
            <a:ext cx="1713710" cy="20817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181" name="KPI 결과"/>
          <p:cNvSpPr>
            <a:spLocks noGrp="1"/>
          </p:cNvSpPr>
          <p:nvPr>
            <p:ph type="body" sz="quarter" idx="107"/>
          </p:nvPr>
        </p:nvSpPr>
        <p:spPr>
          <a:xfrm>
            <a:off x="3063772" y="7302835"/>
            <a:ext cx="1713710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15건 → 25건</a:t>
            </a:r>
          </a:p>
        </p:txBody>
      </p:sp>
      <p:sp>
        <p:nvSpPr>
          <p:cNvPr id="182" name="로드맵 칸"/>
          <p:cNvSpPr/>
          <p:nvPr/>
        </p:nvSpPr>
        <p:spPr>
          <a:xfrm>
            <a:off x="4821308" y="6908400"/>
            <a:ext cx="2015562" cy="613565"/>
          </a:xfrm>
          <a:prstGeom prst="rect">
            <a:avLst/>
          </a:prstGeom>
          <a:solidFill>
            <a:srgbClr val="FFFF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3" name="단위"/>
          <p:cNvSpPr>
            <a:spLocks noGrp="1"/>
          </p:cNvSpPr>
          <p:nvPr>
            <p:ph type="body" sz="quarter" idx="108"/>
          </p:nvPr>
        </p:nvSpPr>
        <p:spPr>
          <a:xfrm>
            <a:off x="4843221" y="6919357"/>
            <a:ext cx="799826" cy="131478"/>
          </a:xfrm>
          <a:prstGeom prst="rect">
            <a:avLst/>
          </a:prstGeom>
          <a:noFill/>
          <a:ln>
            <a:noFill/>
          </a:ln>
        </p:spPr>
        <p:txBody>
          <a:bodyPr wrap="square" lIns="1440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단위 : 건</a:t>
            </a:r>
          </a:p>
        </p:txBody>
      </p:sp>
      <p:cxnSp>
        <p:nvCxnSpPr>
          <p:cNvPr id="184" name="Connector 153"/>
          <p:cNvCxnSpPr/>
          <p:nvPr/>
        </p:nvCxnSpPr>
        <p:spPr>
          <a:xfrm flipV="1">
            <a:off x="4898003" y="7250243"/>
            <a:ext cx="465543" cy="30679"/>
          </a:xfrm>
          <a:prstGeom prst="line">
            <a:avLst/>
          </a:prstGeom>
          <a:ln w="19050">
            <a:solidFill>
              <a:srgbClr val="008EFF"/>
            </a:solidFill>
          </a:ln>
        </p:spPr>
      </p:cxnSp>
      <p:cxnSp>
        <p:nvCxnSpPr>
          <p:cNvPr id="185" name="Connector 154"/>
          <p:cNvCxnSpPr/>
          <p:nvPr/>
        </p:nvCxnSpPr>
        <p:spPr>
          <a:xfrm flipV="1">
            <a:off x="5363546" y="7219565"/>
            <a:ext cx="465543" cy="30678"/>
          </a:xfrm>
          <a:prstGeom prst="line">
            <a:avLst/>
          </a:prstGeom>
          <a:ln w="19050">
            <a:solidFill>
              <a:srgbClr val="008EFF"/>
            </a:solidFill>
          </a:ln>
        </p:spPr>
      </p:cxnSp>
      <p:cxnSp>
        <p:nvCxnSpPr>
          <p:cNvPr id="186" name="Connector 155"/>
          <p:cNvCxnSpPr/>
          <p:nvPr/>
        </p:nvCxnSpPr>
        <p:spPr>
          <a:xfrm flipV="1">
            <a:off x="5829089" y="7173548"/>
            <a:ext cx="465542" cy="46017"/>
          </a:xfrm>
          <a:prstGeom prst="line">
            <a:avLst/>
          </a:prstGeom>
          <a:ln w="19050">
            <a:solidFill>
              <a:srgbClr val="008EFF"/>
            </a:solidFill>
          </a:ln>
        </p:spPr>
      </p:cxnSp>
      <p:cxnSp>
        <p:nvCxnSpPr>
          <p:cNvPr id="187" name="Connector 156"/>
          <p:cNvCxnSpPr/>
          <p:nvPr/>
        </p:nvCxnSpPr>
        <p:spPr>
          <a:xfrm flipV="1">
            <a:off x="6294631" y="7127530"/>
            <a:ext cx="465543" cy="46018"/>
          </a:xfrm>
          <a:prstGeom prst="line">
            <a:avLst/>
          </a:prstGeom>
          <a:ln w="19050">
            <a:solidFill>
              <a:srgbClr val="008EFF"/>
            </a:solidFill>
          </a:ln>
        </p:spPr>
      </p:cxnSp>
      <p:sp>
        <p:nvSpPr>
          <p:cNvPr id="188" name="점"/>
          <p:cNvSpPr/>
          <p:nvPr/>
        </p:nvSpPr>
        <p:spPr>
          <a:xfrm>
            <a:off x="4876090" y="7259009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9" name="값"/>
          <p:cNvSpPr>
            <a:spLocks noGrp="1"/>
          </p:cNvSpPr>
          <p:nvPr>
            <p:ph type="body" sz="quarter" idx="109"/>
          </p:nvPr>
        </p:nvSpPr>
        <p:spPr>
          <a:xfrm>
            <a:off x="4733656" y="7083704"/>
            <a:ext cx="32869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15</a:t>
            </a:r>
          </a:p>
        </p:txBody>
      </p:sp>
      <p:sp>
        <p:nvSpPr>
          <p:cNvPr id="190" name="연도"/>
          <p:cNvSpPr>
            <a:spLocks noGrp="1"/>
          </p:cNvSpPr>
          <p:nvPr>
            <p:ph type="body" sz="quarter" idx="110"/>
          </p:nvPr>
        </p:nvSpPr>
        <p:spPr>
          <a:xfrm>
            <a:off x="4755569" y="7324748"/>
            <a:ext cx="284870" cy="175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’26</a:t>
            </a:r>
          </a:p>
        </p:txBody>
      </p:sp>
      <p:sp>
        <p:nvSpPr>
          <p:cNvPr id="191" name="점"/>
          <p:cNvSpPr/>
          <p:nvPr/>
        </p:nvSpPr>
        <p:spPr>
          <a:xfrm>
            <a:off x="5341633" y="7228330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2" name="값"/>
          <p:cNvSpPr>
            <a:spLocks noGrp="1"/>
          </p:cNvSpPr>
          <p:nvPr>
            <p:ph type="body" sz="quarter" idx="111"/>
          </p:nvPr>
        </p:nvSpPr>
        <p:spPr>
          <a:xfrm>
            <a:off x="5199198" y="7053026"/>
            <a:ext cx="32869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17</a:t>
            </a:r>
          </a:p>
        </p:txBody>
      </p:sp>
      <p:sp>
        <p:nvSpPr>
          <p:cNvPr id="193" name="연도"/>
          <p:cNvSpPr>
            <a:spLocks noGrp="1"/>
          </p:cNvSpPr>
          <p:nvPr>
            <p:ph type="body" sz="quarter" idx="112"/>
          </p:nvPr>
        </p:nvSpPr>
        <p:spPr>
          <a:xfrm>
            <a:off x="5221111" y="7324748"/>
            <a:ext cx="284870" cy="175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’27</a:t>
            </a:r>
          </a:p>
        </p:txBody>
      </p:sp>
      <p:sp>
        <p:nvSpPr>
          <p:cNvPr id="194" name="점"/>
          <p:cNvSpPr/>
          <p:nvPr/>
        </p:nvSpPr>
        <p:spPr>
          <a:xfrm>
            <a:off x="5807176" y="7197652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5" name="값"/>
          <p:cNvSpPr>
            <a:spLocks noGrp="1"/>
          </p:cNvSpPr>
          <p:nvPr>
            <p:ph type="body" sz="quarter" idx="113"/>
          </p:nvPr>
        </p:nvSpPr>
        <p:spPr>
          <a:xfrm>
            <a:off x="5664741" y="7022348"/>
            <a:ext cx="32869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19</a:t>
            </a:r>
          </a:p>
        </p:txBody>
      </p:sp>
      <p:sp>
        <p:nvSpPr>
          <p:cNvPr id="196" name="연도"/>
          <p:cNvSpPr>
            <a:spLocks noGrp="1"/>
          </p:cNvSpPr>
          <p:nvPr>
            <p:ph type="body" sz="quarter" idx="114"/>
          </p:nvPr>
        </p:nvSpPr>
        <p:spPr>
          <a:xfrm>
            <a:off x="5686654" y="7324748"/>
            <a:ext cx="284870" cy="175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’28</a:t>
            </a:r>
          </a:p>
        </p:txBody>
      </p:sp>
      <p:sp>
        <p:nvSpPr>
          <p:cNvPr id="197" name="점"/>
          <p:cNvSpPr/>
          <p:nvPr/>
        </p:nvSpPr>
        <p:spPr>
          <a:xfrm>
            <a:off x="6272718" y="7151635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8" name="값"/>
          <p:cNvSpPr>
            <a:spLocks noGrp="1"/>
          </p:cNvSpPr>
          <p:nvPr>
            <p:ph type="body" sz="quarter" idx="115"/>
          </p:nvPr>
        </p:nvSpPr>
        <p:spPr>
          <a:xfrm>
            <a:off x="6130283" y="6976330"/>
            <a:ext cx="32869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22</a:t>
            </a:r>
          </a:p>
        </p:txBody>
      </p:sp>
      <p:sp>
        <p:nvSpPr>
          <p:cNvPr id="199" name="연도"/>
          <p:cNvSpPr>
            <a:spLocks noGrp="1"/>
          </p:cNvSpPr>
          <p:nvPr>
            <p:ph type="body" sz="quarter" idx="116"/>
          </p:nvPr>
        </p:nvSpPr>
        <p:spPr>
          <a:xfrm>
            <a:off x="6152197" y="7324748"/>
            <a:ext cx="284870" cy="175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’29</a:t>
            </a:r>
          </a:p>
        </p:txBody>
      </p:sp>
      <p:sp>
        <p:nvSpPr>
          <p:cNvPr id="200" name="점"/>
          <p:cNvSpPr/>
          <p:nvPr/>
        </p:nvSpPr>
        <p:spPr>
          <a:xfrm>
            <a:off x="6738261" y="7105617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01" name="값"/>
          <p:cNvSpPr>
            <a:spLocks noGrp="1"/>
          </p:cNvSpPr>
          <p:nvPr>
            <p:ph type="body" sz="quarter" idx="117"/>
          </p:nvPr>
        </p:nvSpPr>
        <p:spPr>
          <a:xfrm>
            <a:off x="6595826" y="6930313"/>
            <a:ext cx="32869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25</a:t>
            </a:r>
          </a:p>
        </p:txBody>
      </p:sp>
      <p:sp>
        <p:nvSpPr>
          <p:cNvPr id="202" name="연도"/>
          <p:cNvSpPr>
            <a:spLocks noGrp="1"/>
          </p:cNvSpPr>
          <p:nvPr>
            <p:ph type="body" sz="quarter" idx="118"/>
          </p:nvPr>
        </p:nvSpPr>
        <p:spPr>
          <a:xfrm>
            <a:off x="6617739" y="7324748"/>
            <a:ext cx="284870" cy="175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’30</a:t>
            </a:r>
          </a:p>
        </p:txBody>
      </p:sp>
      <p:cxnSp>
        <p:nvCxnSpPr>
          <p:cNvPr id="203" name="Connector 172"/>
          <p:cNvCxnSpPr/>
          <p:nvPr/>
        </p:nvCxnSpPr>
        <p:spPr>
          <a:xfrm>
            <a:off x="4854177" y="7313791"/>
            <a:ext cx="1949823" cy="0"/>
          </a:xfrm>
          <a:prstGeom prst="line">
            <a:avLst/>
          </a:prstGeom>
          <a:ln w="12700">
            <a:solidFill>
              <a:srgbClr val="BDE0FF"/>
            </a:solidFill>
          </a:ln>
        </p:spPr>
      </p:cxnSp>
      <p:sp>
        <p:nvSpPr>
          <p:cNvPr id="204" name="레일"/>
          <p:cNvSpPr/>
          <p:nvPr/>
        </p:nvSpPr>
        <p:spPr>
          <a:xfrm>
            <a:off x="536870" y="7554835"/>
            <a:ext cx="602609" cy="61356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5" name="레일"/>
          <p:cNvSpPr>
            <a:spLocks noGrp="1"/>
          </p:cNvSpPr>
          <p:nvPr>
            <p:ph type="body" sz="quarter" idx="119"/>
          </p:nvPr>
        </p:nvSpPr>
        <p:spPr>
          <a:xfrm>
            <a:off x="536870" y="7554835"/>
            <a:ext cx="602609" cy="613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세계최고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ESG경영</a:t>
            </a:r>
          </a:p>
        </p:txBody>
      </p:sp>
      <p:sp>
        <p:nvSpPr>
          <p:cNvPr id="206" name="PI 글"/>
          <p:cNvSpPr>
            <a:spLocks noGrp="1"/>
          </p:cNvSpPr>
          <p:nvPr>
            <p:ph type="body" sz="quarter" idx="120"/>
          </p:nvPr>
        </p:nvSpPr>
        <p:spPr>
          <a:xfrm>
            <a:off x="1172348" y="7554835"/>
            <a:ext cx="1847598" cy="61356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ESG경영 시스템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신뢰 기반 조직역량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같이 일하는 청렴조직 구현</a:t>
            </a:r>
          </a:p>
        </p:txBody>
      </p:sp>
      <p:sp>
        <p:nvSpPr>
          <p:cNvPr id="207" name="KPI 칸"/>
          <p:cNvSpPr/>
          <p:nvPr/>
        </p:nvSpPr>
        <p:spPr>
          <a:xfrm>
            <a:off x="3052816" y="7554835"/>
            <a:ext cx="1735623" cy="613565"/>
          </a:xfrm>
          <a:prstGeom prst="rect">
            <a:avLst/>
          </a:prstGeom>
          <a:solidFill>
            <a:srgbClr val="FFFF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08" name="태그"/>
          <p:cNvSpPr/>
          <p:nvPr/>
        </p:nvSpPr>
        <p:spPr>
          <a:xfrm>
            <a:off x="3096642" y="7609617"/>
            <a:ext cx="548640" cy="153391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09" name="태그"/>
          <p:cNvSpPr>
            <a:spLocks noGrp="1"/>
          </p:cNvSpPr>
          <p:nvPr>
            <p:ph type="body" sz="quarter" idx="121"/>
          </p:nvPr>
        </p:nvSpPr>
        <p:spPr>
          <a:xfrm>
            <a:off x="3096642" y="7609617"/>
            <a:ext cx="548640" cy="15339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기능전략</a:t>
            </a:r>
          </a:p>
        </p:txBody>
      </p:sp>
      <p:sp>
        <p:nvSpPr>
          <p:cNvPr id="210" name="KPI 글"/>
          <p:cNvSpPr>
            <a:spLocks noGrp="1"/>
          </p:cNvSpPr>
          <p:nvPr>
            <p:ph type="body" sz="quarter" idx="122"/>
          </p:nvPr>
        </p:nvSpPr>
        <p:spPr>
          <a:xfrm>
            <a:off x="3678151" y="7587704"/>
            <a:ext cx="1077418" cy="33965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ESG 경영수준</a:t>
            </a:r>
          </a:p>
        </p:txBody>
      </p:sp>
      <p:sp>
        <p:nvSpPr>
          <p:cNvPr id="211" name="KPI 결과"/>
          <p:cNvSpPr/>
          <p:nvPr/>
        </p:nvSpPr>
        <p:spPr>
          <a:xfrm>
            <a:off x="3063772" y="7949270"/>
            <a:ext cx="1713710" cy="20817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212" name="KPI 결과"/>
          <p:cNvSpPr>
            <a:spLocks noGrp="1"/>
          </p:cNvSpPr>
          <p:nvPr>
            <p:ph type="body" sz="quarter" idx="123"/>
          </p:nvPr>
        </p:nvSpPr>
        <p:spPr>
          <a:xfrm>
            <a:off x="3063772" y="7949270"/>
            <a:ext cx="1713710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최우수 → 최우수</a:t>
            </a:r>
          </a:p>
        </p:txBody>
      </p:sp>
      <p:sp>
        <p:nvSpPr>
          <p:cNvPr id="213" name="로드맵 칸"/>
          <p:cNvSpPr/>
          <p:nvPr/>
        </p:nvSpPr>
        <p:spPr>
          <a:xfrm>
            <a:off x="4821308" y="7554835"/>
            <a:ext cx="2015562" cy="613565"/>
          </a:xfrm>
          <a:prstGeom prst="rect">
            <a:avLst/>
          </a:prstGeom>
          <a:solidFill>
            <a:srgbClr val="FFFF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14" name="단위"/>
          <p:cNvSpPr>
            <a:spLocks noGrp="1"/>
          </p:cNvSpPr>
          <p:nvPr>
            <p:ph type="body" sz="quarter" idx="124"/>
          </p:nvPr>
        </p:nvSpPr>
        <p:spPr>
          <a:xfrm>
            <a:off x="4843221" y="7565791"/>
            <a:ext cx="799826" cy="131478"/>
          </a:xfrm>
          <a:prstGeom prst="rect">
            <a:avLst/>
          </a:prstGeom>
          <a:noFill/>
          <a:ln>
            <a:noFill/>
          </a:ln>
        </p:spPr>
        <p:txBody>
          <a:bodyPr wrap="square" lIns="1440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단위 : 등급</a:t>
            </a:r>
          </a:p>
        </p:txBody>
      </p:sp>
      <p:cxnSp>
        <p:nvCxnSpPr>
          <p:cNvPr id="215" name="Connector 181"/>
          <p:cNvCxnSpPr/>
          <p:nvPr/>
        </p:nvCxnSpPr>
        <p:spPr>
          <a:xfrm>
            <a:off x="4898003" y="7850661"/>
            <a:ext cx="465543" cy="0"/>
          </a:xfrm>
          <a:prstGeom prst="line">
            <a:avLst/>
          </a:prstGeom>
          <a:ln w="19050">
            <a:solidFill>
              <a:srgbClr val="008EFF"/>
            </a:solidFill>
          </a:ln>
        </p:spPr>
      </p:cxnSp>
      <p:cxnSp>
        <p:nvCxnSpPr>
          <p:cNvPr id="216" name="Connector 182"/>
          <p:cNvCxnSpPr/>
          <p:nvPr/>
        </p:nvCxnSpPr>
        <p:spPr>
          <a:xfrm>
            <a:off x="5363546" y="7850661"/>
            <a:ext cx="465543" cy="0"/>
          </a:xfrm>
          <a:prstGeom prst="line">
            <a:avLst/>
          </a:prstGeom>
          <a:ln w="19050">
            <a:solidFill>
              <a:srgbClr val="008EFF"/>
            </a:solidFill>
          </a:ln>
        </p:spPr>
      </p:cxnSp>
      <p:cxnSp>
        <p:nvCxnSpPr>
          <p:cNvPr id="217" name="Connector 183"/>
          <p:cNvCxnSpPr/>
          <p:nvPr/>
        </p:nvCxnSpPr>
        <p:spPr>
          <a:xfrm>
            <a:off x="5829089" y="7850661"/>
            <a:ext cx="465542" cy="0"/>
          </a:xfrm>
          <a:prstGeom prst="line">
            <a:avLst/>
          </a:prstGeom>
          <a:ln w="19050">
            <a:solidFill>
              <a:srgbClr val="008EFF"/>
            </a:solidFill>
          </a:ln>
        </p:spPr>
      </p:cxnSp>
      <p:cxnSp>
        <p:nvCxnSpPr>
          <p:cNvPr id="218" name="Connector 184"/>
          <p:cNvCxnSpPr/>
          <p:nvPr/>
        </p:nvCxnSpPr>
        <p:spPr>
          <a:xfrm>
            <a:off x="6294631" y="7850661"/>
            <a:ext cx="465543" cy="0"/>
          </a:xfrm>
          <a:prstGeom prst="line">
            <a:avLst/>
          </a:prstGeom>
          <a:ln w="19050">
            <a:solidFill>
              <a:srgbClr val="008EFF"/>
            </a:solidFill>
          </a:ln>
        </p:spPr>
      </p:cxnSp>
      <p:sp>
        <p:nvSpPr>
          <p:cNvPr id="219" name="점"/>
          <p:cNvSpPr/>
          <p:nvPr/>
        </p:nvSpPr>
        <p:spPr>
          <a:xfrm>
            <a:off x="4876090" y="7828748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20" name="값"/>
          <p:cNvSpPr>
            <a:spLocks noGrp="1"/>
          </p:cNvSpPr>
          <p:nvPr>
            <p:ph type="body" sz="quarter" idx="125"/>
          </p:nvPr>
        </p:nvSpPr>
        <p:spPr>
          <a:xfrm>
            <a:off x="4733656" y="7653443"/>
            <a:ext cx="32869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221" name="연도"/>
          <p:cNvSpPr>
            <a:spLocks noGrp="1"/>
          </p:cNvSpPr>
          <p:nvPr>
            <p:ph type="body" sz="quarter" idx="126"/>
          </p:nvPr>
        </p:nvSpPr>
        <p:spPr>
          <a:xfrm>
            <a:off x="4755569" y="7971183"/>
            <a:ext cx="284870" cy="175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’26</a:t>
            </a:r>
          </a:p>
        </p:txBody>
      </p:sp>
      <p:sp>
        <p:nvSpPr>
          <p:cNvPr id="222" name="점"/>
          <p:cNvSpPr/>
          <p:nvPr/>
        </p:nvSpPr>
        <p:spPr>
          <a:xfrm>
            <a:off x="5341633" y="7828748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23" name="값"/>
          <p:cNvSpPr>
            <a:spLocks noGrp="1"/>
          </p:cNvSpPr>
          <p:nvPr>
            <p:ph type="body" sz="quarter" idx="127"/>
          </p:nvPr>
        </p:nvSpPr>
        <p:spPr>
          <a:xfrm>
            <a:off x="5199198" y="7653443"/>
            <a:ext cx="32869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224" name="연도"/>
          <p:cNvSpPr>
            <a:spLocks noGrp="1"/>
          </p:cNvSpPr>
          <p:nvPr>
            <p:ph type="body" sz="quarter" idx="128"/>
          </p:nvPr>
        </p:nvSpPr>
        <p:spPr>
          <a:xfrm>
            <a:off x="5221111" y="7971183"/>
            <a:ext cx="284870" cy="175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’27</a:t>
            </a:r>
          </a:p>
        </p:txBody>
      </p:sp>
      <p:sp>
        <p:nvSpPr>
          <p:cNvPr id="225" name="점"/>
          <p:cNvSpPr/>
          <p:nvPr/>
        </p:nvSpPr>
        <p:spPr>
          <a:xfrm>
            <a:off x="5807176" y="7828748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26" name="값"/>
          <p:cNvSpPr>
            <a:spLocks noGrp="1"/>
          </p:cNvSpPr>
          <p:nvPr>
            <p:ph type="body" sz="quarter" idx="129"/>
          </p:nvPr>
        </p:nvSpPr>
        <p:spPr>
          <a:xfrm>
            <a:off x="5664741" y="7653443"/>
            <a:ext cx="32869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227" name="연도"/>
          <p:cNvSpPr>
            <a:spLocks noGrp="1"/>
          </p:cNvSpPr>
          <p:nvPr>
            <p:ph type="body" sz="quarter" idx="130"/>
          </p:nvPr>
        </p:nvSpPr>
        <p:spPr>
          <a:xfrm>
            <a:off x="5686654" y="7971183"/>
            <a:ext cx="284870" cy="175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’28</a:t>
            </a:r>
          </a:p>
        </p:txBody>
      </p:sp>
      <p:sp>
        <p:nvSpPr>
          <p:cNvPr id="228" name="점"/>
          <p:cNvSpPr/>
          <p:nvPr/>
        </p:nvSpPr>
        <p:spPr>
          <a:xfrm>
            <a:off x="6272718" y="7828748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29" name="값"/>
          <p:cNvSpPr>
            <a:spLocks noGrp="1"/>
          </p:cNvSpPr>
          <p:nvPr>
            <p:ph type="body" sz="quarter" idx="131"/>
          </p:nvPr>
        </p:nvSpPr>
        <p:spPr>
          <a:xfrm>
            <a:off x="6130283" y="7653443"/>
            <a:ext cx="32869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230" name="연도"/>
          <p:cNvSpPr>
            <a:spLocks noGrp="1"/>
          </p:cNvSpPr>
          <p:nvPr>
            <p:ph type="body" sz="quarter" idx="132"/>
          </p:nvPr>
        </p:nvSpPr>
        <p:spPr>
          <a:xfrm>
            <a:off x="6152197" y="7971183"/>
            <a:ext cx="284870" cy="175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’29</a:t>
            </a:r>
          </a:p>
        </p:txBody>
      </p:sp>
      <p:sp>
        <p:nvSpPr>
          <p:cNvPr id="231" name="점"/>
          <p:cNvSpPr/>
          <p:nvPr/>
        </p:nvSpPr>
        <p:spPr>
          <a:xfrm>
            <a:off x="6738261" y="7828748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32" name="값"/>
          <p:cNvSpPr>
            <a:spLocks noGrp="1"/>
          </p:cNvSpPr>
          <p:nvPr>
            <p:ph type="body" sz="quarter" idx="133"/>
          </p:nvPr>
        </p:nvSpPr>
        <p:spPr>
          <a:xfrm>
            <a:off x="6595826" y="7653443"/>
            <a:ext cx="32869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233" name="연도"/>
          <p:cNvSpPr>
            <a:spLocks noGrp="1"/>
          </p:cNvSpPr>
          <p:nvPr>
            <p:ph type="body" sz="quarter" idx="134"/>
          </p:nvPr>
        </p:nvSpPr>
        <p:spPr>
          <a:xfrm>
            <a:off x="6617739" y="7971183"/>
            <a:ext cx="284870" cy="175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’30</a:t>
            </a:r>
          </a:p>
        </p:txBody>
      </p:sp>
      <p:cxnSp>
        <p:nvCxnSpPr>
          <p:cNvPr id="234" name="Connector 200"/>
          <p:cNvCxnSpPr/>
          <p:nvPr/>
        </p:nvCxnSpPr>
        <p:spPr>
          <a:xfrm>
            <a:off x="4854177" y="7960226"/>
            <a:ext cx="1949823" cy="0"/>
          </a:xfrm>
          <a:prstGeom prst="line">
            <a:avLst/>
          </a:prstGeom>
          <a:ln w="12700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20 서사 · 이행체계 → 이행관리 → 성과환류 → 선순환 환류 성과(분야별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7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내실있는 전략과제 성과관리를 통해 차별화된 경영성과 창출</a:t>
            </a:r>
          </a:p>
        </p:txBody>
      </p:sp>
      <p:sp>
        <p:nvSpPr>
          <p:cNvPr id="14" name="번호 띠 칩"/>
          <p:cNvSpPr/>
          <p:nvPr/>
        </p:nvSpPr>
        <p:spPr>
          <a:xfrm>
            <a:off x="6428183" y="843652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번호 띠 칩"/>
          <p:cNvSpPr>
            <a:spLocks noGrp="1"/>
          </p:cNvSpPr>
          <p:nvPr>
            <p:ph type="body" sz="quarter" idx="22"/>
          </p:nvPr>
        </p:nvSpPr>
        <p:spPr>
          <a:xfrm>
            <a:off x="6428183" y="843652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표 외곽"/>
          <p:cNvSpPr/>
          <p:nvPr/>
        </p:nvSpPr>
        <p:spPr>
          <a:xfrm>
            <a:off x="723130" y="1128522"/>
            <a:ext cx="6300000" cy="298017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734087" y="1144957"/>
            <a:ext cx="580696" cy="104087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3"/>
          </p:nvPr>
        </p:nvSpPr>
        <p:spPr>
          <a:xfrm>
            <a:off x="734087" y="1144957"/>
            <a:ext cx="580696" cy="104087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이 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 계</a:t>
            </a:r>
          </a:p>
        </p:txBody>
      </p:sp>
      <p:sp>
        <p:nvSpPr>
          <p:cNvPr id="19" name="배너"/>
          <p:cNvSpPr/>
          <p:nvPr/>
        </p:nvSpPr>
        <p:spPr>
          <a:xfrm>
            <a:off x="1347652" y="1166870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0" name="배너"/>
          <p:cNvSpPr>
            <a:spLocks noGrp="1"/>
          </p:cNvSpPr>
          <p:nvPr>
            <p:ph type="body" sz="quarter" idx="24"/>
          </p:nvPr>
        </p:nvSpPr>
        <p:spPr>
          <a:xfrm>
            <a:off x="1347652" y="1166870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CEO경영계약 ↔ 경영목표 ↔ 경영전략 Cascading 기반 이행체계 구축</a:t>
            </a:r>
          </a:p>
        </p:txBody>
      </p:sp>
      <p:sp>
        <p:nvSpPr>
          <p:cNvPr id="21" name="단계"/>
          <p:cNvSpPr/>
          <p:nvPr/>
        </p:nvSpPr>
        <p:spPr>
          <a:xfrm>
            <a:off x="1347652" y="1402435"/>
            <a:ext cx="282404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2" name="단계"/>
          <p:cNvSpPr>
            <a:spLocks noGrp="1"/>
          </p:cNvSpPr>
          <p:nvPr>
            <p:ph type="body" sz="quarter" idx="25"/>
          </p:nvPr>
        </p:nvSpPr>
        <p:spPr>
          <a:xfrm>
            <a:off x="1347652" y="1402435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전략과 Align된 연간 업무보고</a:t>
            </a:r>
          </a:p>
        </p:txBody>
      </p:sp>
      <p:sp>
        <p:nvSpPr>
          <p:cNvPr id="23" name="단계"/>
          <p:cNvSpPr/>
          <p:nvPr/>
        </p:nvSpPr>
        <p:spPr>
          <a:xfrm>
            <a:off x="4171696" y="1402435"/>
            <a:ext cx="2824043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4" name="단계"/>
          <p:cNvSpPr>
            <a:spLocks noGrp="1"/>
          </p:cNvSpPr>
          <p:nvPr>
            <p:ph type="body" sz="quarter" idx="26"/>
          </p:nvPr>
        </p:nvSpPr>
        <p:spPr>
          <a:xfrm>
            <a:off x="4171696" y="1402435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전사 KPI 100% 연계로 실질적 실행력 확보</a:t>
            </a:r>
          </a:p>
        </p:txBody>
      </p:sp>
      <p:sp>
        <p:nvSpPr>
          <p:cNvPr id="25" name="단계 삼각형"/>
          <p:cNvSpPr/>
          <p:nvPr/>
        </p:nvSpPr>
        <p:spPr>
          <a:xfrm>
            <a:off x="4171695" y="1402434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7"/>
          </p:nvPr>
        </p:nvSpPr>
        <p:spPr>
          <a:xfrm>
            <a:off x="1358609" y="1654435"/>
            <a:ext cx="2802130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중점방향 정부 국정과제 기반 신성장경로 등 경영전략과 연계된 핵심과제 중심 논의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과제 성과 점검 및 ’25년 방향성 도출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28"/>
          </p:nvPr>
        </p:nvSpPr>
        <p:spPr>
          <a:xfrm>
            <a:off x="4182652" y="1654435"/>
            <a:ext cx="2802130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투트랙 지표유형 기반 관리 이원화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MBO 지표관리 + OKR 지표관리</a:t>
            </a:r>
          </a:p>
        </p:txBody>
      </p:sp>
      <p:cxnSp>
        <p:nvCxnSpPr>
          <p:cNvPr id="28" name="Connector 17"/>
          <p:cNvCxnSpPr/>
          <p:nvPr/>
        </p:nvCxnSpPr>
        <p:spPr>
          <a:xfrm>
            <a:off x="4171696" y="1687304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9" name="레일"/>
          <p:cNvSpPr/>
          <p:nvPr/>
        </p:nvSpPr>
        <p:spPr>
          <a:xfrm>
            <a:off x="734087" y="2202261"/>
            <a:ext cx="580696" cy="1101130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0" name="레일"/>
          <p:cNvSpPr>
            <a:spLocks noGrp="1"/>
          </p:cNvSpPr>
          <p:nvPr>
            <p:ph type="body" sz="quarter" idx="29"/>
          </p:nvPr>
        </p:nvSpPr>
        <p:spPr>
          <a:xfrm>
            <a:off x="734087" y="2202261"/>
            <a:ext cx="580696" cy="1101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이 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 리</a:t>
            </a:r>
          </a:p>
        </p:txBody>
      </p:sp>
      <p:sp>
        <p:nvSpPr>
          <p:cNvPr id="31" name="레일 삼각형"/>
          <p:cNvSpPr/>
          <p:nvPr/>
        </p:nvSpPr>
        <p:spPr>
          <a:xfrm>
            <a:off x="734086" y="2202260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2" name="단계"/>
          <p:cNvSpPr/>
          <p:nvPr/>
        </p:nvSpPr>
        <p:spPr>
          <a:xfrm>
            <a:off x="1347652" y="2224174"/>
            <a:ext cx="282404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3" name="단계"/>
          <p:cNvSpPr>
            <a:spLocks noGrp="1"/>
          </p:cNvSpPr>
          <p:nvPr>
            <p:ph type="body" sz="quarter" idx="30"/>
          </p:nvPr>
        </p:nvSpPr>
        <p:spPr>
          <a:xfrm>
            <a:off x="1347652" y="2224174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조직·기능 재배분으로 이슈과제 최적 이행</a:t>
            </a:r>
          </a:p>
        </p:txBody>
      </p:sp>
      <p:sp>
        <p:nvSpPr>
          <p:cNvPr id="34" name="단계"/>
          <p:cNvSpPr/>
          <p:nvPr/>
        </p:nvSpPr>
        <p:spPr>
          <a:xfrm>
            <a:off x="4171696" y="2224174"/>
            <a:ext cx="2824043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5" name="단계"/>
          <p:cNvSpPr>
            <a:spLocks noGrp="1"/>
          </p:cNvSpPr>
          <p:nvPr>
            <p:ph type="body" sz="quarter" idx="31"/>
          </p:nvPr>
        </p:nvSpPr>
        <p:spPr>
          <a:xfrm>
            <a:off x="4171696" y="2224174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성과점검은 빈틈없이 관리</a:t>
            </a:r>
          </a:p>
        </p:txBody>
      </p:sp>
      <p:sp>
        <p:nvSpPr>
          <p:cNvPr id="36" name="단계 삼각형"/>
          <p:cNvSpPr/>
          <p:nvPr/>
        </p:nvSpPr>
        <p:spPr>
          <a:xfrm>
            <a:off x="4171695" y="222417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2"/>
          </p:nvPr>
        </p:nvSpPr>
        <p:spPr>
          <a:xfrm>
            <a:off x="1358609" y="2476174"/>
            <a:ext cx="2802130" cy="821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 연중 새정부 출범 연계 조직재정렬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청렴도 전사 역량결집 청렴혁신 추진단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만성 취약요인 토지보상 전업무 디지털화(역대 최고 92.4점)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3"/>
          </p:nvPr>
        </p:nvSpPr>
        <p:spPr>
          <a:xfrm>
            <a:off x="4182652" y="2476174"/>
            <a:ext cx="2802130" cy="821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시스템 CEO경영과제 + 전략과제 상시점검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진척도 기반 조기경보 작동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현안대응 시나리오별 1~4단계 컨틴전시 플랜 운영</a:t>
            </a:r>
          </a:p>
        </p:txBody>
      </p:sp>
      <p:cxnSp>
        <p:nvCxnSpPr>
          <p:cNvPr id="39" name="Connector 25"/>
          <p:cNvCxnSpPr/>
          <p:nvPr/>
        </p:nvCxnSpPr>
        <p:spPr>
          <a:xfrm>
            <a:off x="4171696" y="2509043"/>
            <a:ext cx="0" cy="75600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0" name="레일"/>
          <p:cNvSpPr/>
          <p:nvPr/>
        </p:nvSpPr>
        <p:spPr>
          <a:xfrm>
            <a:off x="734087" y="3319826"/>
            <a:ext cx="580696" cy="772435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1" name="레일"/>
          <p:cNvSpPr>
            <a:spLocks noGrp="1"/>
          </p:cNvSpPr>
          <p:nvPr>
            <p:ph type="body" sz="quarter" idx="34"/>
          </p:nvPr>
        </p:nvSpPr>
        <p:spPr>
          <a:xfrm>
            <a:off x="734087" y="3319826"/>
            <a:ext cx="580696" cy="772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 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류</a:t>
            </a:r>
          </a:p>
        </p:txBody>
      </p:sp>
      <p:sp>
        <p:nvSpPr>
          <p:cNvPr id="42" name="레일 삼각형"/>
          <p:cNvSpPr/>
          <p:nvPr/>
        </p:nvSpPr>
        <p:spPr>
          <a:xfrm>
            <a:off x="734086" y="3319826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3" name="단계"/>
          <p:cNvSpPr/>
          <p:nvPr/>
        </p:nvSpPr>
        <p:spPr>
          <a:xfrm>
            <a:off x="1347652" y="3341739"/>
            <a:ext cx="282404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4" name="단계"/>
          <p:cNvSpPr>
            <a:spLocks noGrp="1"/>
          </p:cNvSpPr>
          <p:nvPr>
            <p:ph type="body" sz="quarter" idx="35"/>
          </p:nvPr>
        </p:nvSpPr>
        <p:spPr>
          <a:xfrm>
            <a:off x="1347652" y="3341739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전략적 성과보상·지속성 강화</a:t>
            </a:r>
          </a:p>
        </p:txBody>
      </p:sp>
      <p:sp>
        <p:nvSpPr>
          <p:cNvPr id="45" name="단계"/>
          <p:cNvSpPr/>
          <p:nvPr/>
        </p:nvSpPr>
        <p:spPr>
          <a:xfrm>
            <a:off x="4171696" y="3341739"/>
            <a:ext cx="2824043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6" name="단계"/>
          <p:cNvSpPr>
            <a:spLocks noGrp="1"/>
          </p:cNvSpPr>
          <p:nvPr>
            <p:ph type="body" sz="quarter" idx="36"/>
          </p:nvPr>
        </p:nvSpPr>
        <p:spPr>
          <a:xfrm>
            <a:off x="4171696" y="3341739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성과·가치체계 내재화 및 동기부여 확산</a:t>
            </a:r>
          </a:p>
        </p:txBody>
      </p:sp>
      <p:sp>
        <p:nvSpPr>
          <p:cNvPr id="47" name="단계 삼각형"/>
          <p:cNvSpPr/>
          <p:nvPr/>
        </p:nvSpPr>
        <p:spPr>
          <a:xfrm>
            <a:off x="4171695" y="3341739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8" name="칸 본문"/>
          <p:cNvSpPr>
            <a:spLocks noGrp="1"/>
          </p:cNvSpPr>
          <p:nvPr>
            <p:ph type="body" sz="quarter" idx="37"/>
          </p:nvPr>
        </p:nvSpPr>
        <p:spPr>
          <a:xfrm>
            <a:off x="1358609" y="3593739"/>
            <a:ext cx="2802130" cy="493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高성과자 특별승진 및 성과급 연계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우수성과 Step-Up제도 도입·발전 견인</a:t>
            </a:r>
          </a:p>
        </p:txBody>
      </p:sp>
      <p:sp>
        <p:nvSpPr>
          <p:cNvPr id="49" name="칸 본문"/>
          <p:cNvSpPr>
            <a:spLocks noGrp="1"/>
          </p:cNvSpPr>
          <p:nvPr>
            <p:ph type="body" sz="quarter" idx="38"/>
          </p:nvPr>
        </p:nvSpPr>
        <p:spPr>
          <a:xfrm>
            <a:off x="4182652" y="3593739"/>
            <a:ext cx="2802130" cy="493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CEO 주관 타운홀미팅 ➡ 전략·비전 공유·토론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60초경영(숏폼) ➡ 신속전파</a:t>
            </a:r>
          </a:p>
        </p:txBody>
      </p:sp>
      <p:cxnSp>
        <p:nvCxnSpPr>
          <p:cNvPr id="50" name="Connector 33"/>
          <p:cNvCxnSpPr/>
          <p:nvPr/>
        </p:nvCxnSpPr>
        <p:spPr>
          <a:xfrm>
            <a:off x="4171696" y="3626609"/>
            <a:ext cx="0" cy="42730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1" name="캡션 띠"/>
          <p:cNvSpPr/>
          <p:nvPr/>
        </p:nvSpPr>
        <p:spPr>
          <a:xfrm>
            <a:off x="723130" y="4130608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2" name="캡션"/>
          <p:cNvSpPr>
            <a:spLocks noGrp="1"/>
          </p:cNvSpPr>
          <p:nvPr>
            <p:ph type="body" sz="quarter" idx="39"/>
          </p:nvPr>
        </p:nvSpPr>
        <p:spPr>
          <a:xfrm>
            <a:off x="942261" y="4130609"/>
            <a:ext cx="5861739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【 체계적인 선순환 환류체계 구축으로 사업 및 경영 전 분야에서 국민·기업 체감성과 창출 】</a:t>
            </a:r>
          </a:p>
        </p:txBody>
      </p:sp>
      <p:sp>
        <p:nvSpPr>
          <p:cNvPr id="53" name="표 외곽"/>
          <p:cNvSpPr/>
          <p:nvPr/>
        </p:nvSpPr>
        <p:spPr>
          <a:xfrm>
            <a:off x="723130" y="4437391"/>
            <a:ext cx="6300000" cy="258855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4" name="레일"/>
          <p:cNvSpPr/>
          <p:nvPr/>
        </p:nvSpPr>
        <p:spPr>
          <a:xfrm>
            <a:off x="734087" y="4453826"/>
            <a:ext cx="580696" cy="48756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5" name="레일"/>
          <p:cNvSpPr>
            <a:spLocks noGrp="1"/>
          </p:cNvSpPr>
          <p:nvPr>
            <p:ph type="body" sz="quarter" idx="40"/>
          </p:nvPr>
        </p:nvSpPr>
        <p:spPr>
          <a:xfrm>
            <a:off x="734087" y="4453826"/>
            <a:ext cx="580696" cy="487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수자원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경</a:t>
            </a:r>
          </a:p>
        </p:txBody>
      </p:sp>
      <p:sp>
        <p:nvSpPr>
          <p:cNvPr id="56" name="칸 본문"/>
          <p:cNvSpPr>
            <a:spLocks noGrp="1"/>
          </p:cNvSpPr>
          <p:nvPr>
            <p:ph type="body" sz="quarter" idx="41"/>
          </p:nvPr>
        </p:nvSpPr>
        <p:spPr>
          <a:xfrm>
            <a:off x="1358609" y="4475739"/>
            <a:ext cx="4514087" cy="460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세계 최초 스마트댐 안전관리 플랫폼 전 댐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국내 최초 워터 포지티브 선도사업 완료</a:t>
            </a:r>
          </a:p>
        </p:txBody>
      </p:sp>
      <p:sp>
        <p:nvSpPr>
          <p:cNvPr id="57" name="사진 칸"/>
          <p:cNvSpPr/>
          <p:nvPr/>
        </p:nvSpPr>
        <p:spPr>
          <a:xfrm>
            <a:off x="5916522" y="4481217"/>
            <a:ext cx="1079217" cy="449217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58" name="사진 칸"/>
          <p:cNvSpPr>
            <a:spLocks noGrp="1"/>
          </p:cNvSpPr>
          <p:nvPr>
            <p:ph type="body" sz="quarter" idx="42"/>
          </p:nvPr>
        </p:nvSpPr>
        <p:spPr>
          <a:xfrm>
            <a:off x="5916522" y="4481217"/>
            <a:ext cx="1079217" cy="44921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국내 1호 신풍습지</a:t>
            </a:r>
          </a:p>
        </p:txBody>
      </p:sp>
      <p:sp>
        <p:nvSpPr>
          <p:cNvPr id="59" name="레일"/>
          <p:cNvSpPr/>
          <p:nvPr/>
        </p:nvSpPr>
        <p:spPr>
          <a:xfrm>
            <a:off x="734087" y="4957826"/>
            <a:ext cx="580696" cy="48756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0" name="레일"/>
          <p:cNvSpPr>
            <a:spLocks noGrp="1"/>
          </p:cNvSpPr>
          <p:nvPr>
            <p:ph type="body" sz="quarter" idx="43"/>
          </p:nvPr>
        </p:nvSpPr>
        <p:spPr>
          <a:xfrm>
            <a:off x="734087" y="4957826"/>
            <a:ext cx="580696" cy="487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 도</a:t>
            </a:r>
          </a:p>
        </p:txBody>
      </p:sp>
      <p:sp>
        <p:nvSpPr>
          <p:cNvPr id="61" name="레일 삼각형"/>
          <p:cNvSpPr/>
          <p:nvPr/>
        </p:nvSpPr>
        <p:spPr>
          <a:xfrm>
            <a:off x="734086" y="4957826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2" name="칸 본문"/>
          <p:cNvSpPr>
            <a:spLocks noGrp="1"/>
          </p:cNvSpPr>
          <p:nvPr>
            <p:ph type="body" sz="quarter" idx="44"/>
          </p:nvPr>
        </p:nvSpPr>
        <p:spPr>
          <a:xfrm>
            <a:off x="1358609" y="4979739"/>
            <a:ext cx="4514087" cy="460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AI정수장 본격 운영 및 글로벌 표준화 추진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초순수 공급(2.4만㎥/일), 해수담수화(10만㎥/일) 사업 준공</a:t>
            </a:r>
          </a:p>
        </p:txBody>
      </p:sp>
      <p:sp>
        <p:nvSpPr>
          <p:cNvPr id="63" name="사진 칸"/>
          <p:cNvSpPr/>
          <p:nvPr/>
        </p:nvSpPr>
        <p:spPr>
          <a:xfrm>
            <a:off x="5916522" y="4985217"/>
            <a:ext cx="1079217" cy="449217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64" name="사진 칸"/>
          <p:cNvSpPr>
            <a:spLocks noGrp="1"/>
          </p:cNvSpPr>
          <p:nvPr>
            <p:ph type="body" sz="quarter" idx="45"/>
          </p:nvPr>
        </p:nvSpPr>
        <p:spPr>
          <a:xfrm>
            <a:off x="5916522" y="4985217"/>
            <a:ext cx="1079217" cy="44921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국내 1호 AI정수장</a:t>
            </a:r>
          </a:p>
        </p:txBody>
      </p:sp>
      <p:sp>
        <p:nvSpPr>
          <p:cNvPr id="65" name="레일"/>
          <p:cNvSpPr/>
          <p:nvPr/>
        </p:nvSpPr>
        <p:spPr>
          <a:xfrm>
            <a:off x="734087" y="5461826"/>
            <a:ext cx="580696" cy="48756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6" name="레일"/>
          <p:cNvSpPr>
            <a:spLocks noGrp="1"/>
          </p:cNvSpPr>
          <p:nvPr>
            <p:ph type="body" sz="quarter" idx="46"/>
          </p:nvPr>
        </p:nvSpPr>
        <p:spPr>
          <a:xfrm>
            <a:off x="734087" y="5461826"/>
            <a:ext cx="580696" cy="487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에너지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도 시</a:t>
            </a:r>
          </a:p>
        </p:txBody>
      </p:sp>
      <p:sp>
        <p:nvSpPr>
          <p:cNvPr id="67" name="칸 본문"/>
          <p:cNvSpPr>
            <a:spLocks noGrp="1"/>
          </p:cNvSpPr>
          <p:nvPr>
            <p:ph type="body" sz="quarter" idx="47"/>
          </p:nvPr>
        </p:nvSpPr>
        <p:spPr>
          <a:xfrm>
            <a:off x="1358609" y="5483739"/>
            <a:ext cx="4514087" cy="460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재생에너지 집적화 단지 국내 1호 준공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국내 최초 글로벌 RE100 달성 및 PPA 확대</a:t>
            </a:r>
          </a:p>
        </p:txBody>
      </p:sp>
      <p:sp>
        <p:nvSpPr>
          <p:cNvPr id="68" name="사진 칸"/>
          <p:cNvSpPr/>
          <p:nvPr/>
        </p:nvSpPr>
        <p:spPr>
          <a:xfrm>
            <a:off x="5916522" y="5489217"/>
            <a:ext cx="1079217" cy="449217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69" name="사진 칸"/>
          <p:cNvSpPr>
            <a:spLocks noGrp="1"/>
          </p:cNvSpPr>
          <p:nvPr>
            <p:ph type="body" sz="quarter" idx="48"/>
          </p:nvPr>
        </p:nvSpPr>
        <p:spPr>
          <a:xfrm>
            <a:off x="5916522" y="5489217"/>
            <a:ext cx="1079217" cy="44921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임하 집적화 단지</a:t>
            </a:r>
          </a:p>
        </p:txBody>
      </p:sp>
      <p:sp>
        <p:nvSpPr>
          <p:cNvPr id="70" name="레일"/>
          <p:cNvSpPr/>
          <p:nvPr/>
        </p:nvSpPr>
        <p:spPr>
          <a:xfrm>
            <a:off x="734087" y="5965826"/>
            <a:ext cx="580696" cy="5396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1" name="레일"/>
          <p:cNvSpPr>
            <a:spLocks noGrp="1"/>
          </p:cNvSpPr>
          <p:nvPr>
            <p:ph type="body" sz="quarter" idx="49"/>
          </p:nvPr>
        </p:nvSpPr>
        <p:spPr>
          <a:xfrm>
            <a:off x="734087" y="5965826"/>
            <a:ext cx="580696" cy="5396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글로벌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기후테크</a:t>
            </a:r>
          </a:p>
        </p:txBody>
      </p:sp>
      <p:sp>
        <p:nvSpPr>
          <p:cNvPr id="72" name="레일 삼각형"/>
          <p:cNvSpPr/>
          <p:nvPr/>
        </p:nvSpPr>
        <p:spPr>
          <a:xfrm>
            <a:off x="734086" y="5965826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3" name="칸 본문"/>
          <p:cNvSpPr>
            <a:spLocks noGrp="1"/>
          </p:cNvSpPr>
          <p:nvPr>
            <p:ph type="body" sz="quarter" idx="50"/>
          </p:nvPr>
        </p:nvSpPr>
        <p:spPr>
          <a:xfrm>
            <a:off x="1358609" y="5987739"/>
            <a:ext cx="4514087" cy="460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DT 물관리 플랫폼 글로벌 확산 본격화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CES 21개사 동반 참여, 7개 혁신상 수상</a:t>
            </a:r>
          </a:p>
        </p:txBody>
      </p:sp>
      <p:sp>
        <p:nvSpPr>
          <p:cNvPr id="74" name="사진 칸"/>
          <p:cNvSpPr/>
          <p:nvPr/>
        </p:nvSpPr>
        <p:spPr>
          <a:xfrm>
            <a:off x="5916522" y="5993217"/>
            <a:ext cx="1079217" cy="449217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75" name="사진 칸"/>
          <p:cNvSpPr>
            <a:spLocks noGrp="1"/>
          </p:cNvSpPr>
          <p:nvPr>
            <p:ph type="body" sz="quarter" idx="51"/>
          </p:nvPr>
        </p:nvSpPr>
        <p:spPr>
          <a:xfrm>
            <a:off x="5916522" y="5993217"/>
            <a:ext cx="1079217" cy="44921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밸리워터 MOU</a:t>
            </a:r>
          </a:p>
        </p:txBody>
      </p:sp>
      <p:sp>
        <p:nvSpPr>
          <p:cNvPr id="76" name="레일"/>
          <p:cNvSpPr/>
          <p:nvPr/>
        </p:nvSpPr>
        <p:spPr>
          <a:xfrm>
            <a:off x="734087" y="6521948"/>
            <a:ext cx="580696" cy="487565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7" name="레일"/>
          <p:cNvSpPr>
            <a:spLocks noGrp="1"/>
          </p:cNvSpPr>
          <p:nvPr>
            <p:ph type="body" sz="quarter" idx="52"/>
          </p:nvPr>
        </p:nvSpPr>
        <p:spPr>
          <a:xfrm>
            <a:off x="734087" y="6521948"/>
            <a:ext cx="580696" cy="487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 략</a:t>
            </a:r>
          </a:p>
        </p:txBody>
      </p:sp>
      <p:sp>
        <p:nvSpPr>
          <p:cNvPr id="78" name="칸 본문"/>
          <p:cNvSpPr>
            <a:spLocks noGrp="1"/>
          </p:cNvSpPr>
          <p:nvPr>
            <p:ph type="body" sz="quarter" idx="53"/>
          </p:nvPr>
        </p:nvSpPr>
        <p:spPr>
          <a:xfrm>
            <a:off x="1358609" y="6543861"/>
            <a:ext cx="4514087" cy="460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2025년 종합청렴도 공사 최초 1등급 달성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4년 연속 ESG 최고등급(AA) 달성</a:t>
            </a:r>
          </a:p>
        </p:txBody>
      </p:sp>
      <p:sp>
        <p:nvSpPr>
          <p:cNvPr id="79" name="사진 칸"/>
          <p:cNvSpPr/>
          <p:nvPr/>
        </p:nvSpPr>
        <p:spPr>
          <a:xfrm>
            <a:off x="5916522" y="6549339"/>
            <a:ext cx="1079217" cy="449217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80" name="사진 칸"/>
          <p:cNvSpPr>
            <a:spLocks noGrp="1"/>
          </p:cNvSpPr>
          <p:nvPr>
            <p:ph type="body" sz="quarter" idx="54"/>
          </p:nvPr>
        </p:nvSpPr>
        <p:spPr>
          <a:xfrm>
            <a:off x="5916522" y="6549339"/>
            <a:ext cx="1079217" cy="44921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ESG 경영대상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21 서사 · 추진배경 → 방향설정 → 3대 분야 10대 과제 → 특화 조직 · 플랫폼 → 추진성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물처럼 국민 삶 속에 스며들어, 정책 시너지를 만드는 10대 혁신 과제 전개</a:t>
            </a:r>
          </a:p>
        </p:txBody>
      </p:sp>
      <p:sp>
        <p:nvSpPr>
          <p:cNvPr id="15" name="번호 띠 칩"/>
          <p:cNvSpPr/>
          <p:nvPr/>
        </p:nvSpPr>
        <p:spPr>
          <a:xfrm>
            <a:off x="6241922" y="832696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번호 띠 칩"/>
          <p:cNvSpPr>
            <a:spLocks noGrp="1"/>
          </p:cNvSpPr>
          <p:nvPr>
            <p:ph type="body" sz="quarter" idx="22"/>
          </p:nvPr>
        </p:nvSpPr>
        <p:spPr>
          <a:xfrm>
            <a:off x="6241922" y="832696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7" name="표 외곽"/>
          <p:cNvSpPr/>
          <p:nvPr/>
        </p:nvSpPr>
        <p:spPr>
          <a:xfrm>
            <a:off x="536870" y="1117565"/>
            <a:ext cx="6300000" cy="156960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레일"/>
          <p:cNvSpPr/>
          <p:nvPr/>
        </p:nvSpPr>
        <p:spPr>
          <a:xfrm>
            <a:off x="547826" y="1134000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레일"/>
          <p:cNvSpPr>
            <a:spLocks noGrp="1"/>
          </p:cNvSpPr>
          <p:nvPr>
            <p:ph type="body" sz="quarter" idx="23"/>
          </p:nvPr>
        </p:nvSpPr>
        <p:spPr>
          <a:xfrm>
            <a:off x="547826" y="1134000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4"/>
          </p:nvPr>
        </p:nvSpPr>
        <p:spPr>
          <a:xfrm>
            <a:off x="1172348" y="1155913"/>
            <a:ext cx="5626174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새 정부 출범과 함께 미래 신성장 동력 장착 및 정책 시너지 극대화를 위해 혁신경영은 선택이 아닌 존립을 위한 시대적 책무로 인식</a:t>
            </a:r>
          </a:p>
        </p:txBody>
      </p:sp>
      <p:sp>
        <p:nvSpPr>
          <p:cNvPr id="21" name="레일"/>
          <p:cNvSpPr/>
          <p:nvPr/>
        </p:nvSpPr>
        <p:spPr>
          <a:xfrm>
            <a:off x="547826" y="1558643"/>
            <a:ext cx="580696" cy="11120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레일"/>
          <p:cNvSpPr>
            <a:spLocks noGrp="1"/>
          </p:cNvSpPr>
          <p:nvPr>
            <p:ph type="body" sz="quarter" idx="25"/>
          </p:nvPr>
        </p:nvSpPr>
        <p:spPr>
          <a:xfrm>
            <a:off x="547826" y="1558643"/>
            <a:ext cx="580696" cy="1112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방향설정</a:t>
            </a:r>
          </a:p>
        </p:txBody>
      </p:sp>
      <p:sp>
        <p:nvSpPr>
          <p:cNvPr id="23" name="레일 삼각형"/>
          <p:cNvSpPr/>
          <p:nvPr/>
        </p:nvSpPr>
        <p:spPr>
          <a:xfrm>
            <a:off x="547826" y="1558643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4" name="배너"/>
          <p:cNvSpPr/>
          <p:nvPr/>
        </p:nvSpPr>
        <p:spPr>
          <a:xfrm>
            <a:off x="1161391" y="1580557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5" name="배너"/>
          <p:cNvSpPr>
            <a:spLocks noGrp="1"/>
          </p:cNvSpPr>
          <p:nvPr>
            <p:ph type="body" sz="quarter" idx="26"/>
          </p:nvPr>
        </p:nvSpPr>
        <p:spPr>
          <a:xfrm>
            <a:off x="1161391" y="1580557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새 정부 정책의 성공적인 실현을 위해, 국정 철학과 긴밀하게 맞물린 혁신방향의 설정</a:t>
            </a:r>
          </a:p>
        </p:txBody>
      </p:sp>
      <p:sp>
        <p:nvSpPr>
          <p:cNvPr id="26" name="태그"/>
          <p:cNvSpPr/>
          <p:nvPr/>
        </p:nvSpPr>
        <p:spPr>
          <a:xfrm>
            <a:off x="1161391" y="1838035"/>
            <a:ext cx="992676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7" name="태그"/>
          <p:cNvSpPr>
            <a:spLocks noGrp="1"/>
          </p:cNvSpPr>
          <p:nvPr>
            <p:ph type="body" sz="quarter" idx="27"/>
          </p:nvPr>
        </p:nvSpPr>
        <p:spPr>
          <a:xfrm>
            <a:off x="1161391" y="1838035"/>
            <a:ext cx="99267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국민체감형 혁신</a:t>
            </a:r>
          </a:p>
        </p:txBody>
      </p:sp>
      <p:sp>
        <p:nvSpPr>
          <p:cNvPr id="28" name="태그 설명"/>
          <p:cNvSpPr>
            <a:spLocks noGrp="1"/>
          </p:cNvSpPr>
          <p:nvPr>
            <p:ph type="body" sz="quarter" idx="28"/>
          </p:nvPr>
        </p:nvSpPr>
        <p:spPr>
          <a:xfrm>
            <a:off x="2197893" y="1827078"/>
            <a:ext cx="4611585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국민이 실질적으로 느끼는 편의성·효율성 기반</a:t>
            </a:r>
          </a:p>
        </p:txBody>
      </p:sp>
      <p:sp>
        <p:nvSpPr>
          <p:cNvPr id="29" name="태그"/>
          <p:cNvSpPr/>
          <p:nvPr/>
        </p:nvSpPr>
        <p:spPr>
          <a:xfrm>
            <a:off x="1161391" y="2035252"/>
            <a:ext cx="992676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0" name="태그"/>
          <p:cNvSpPr>
            <a:spLocks noGrp="1"/>
          </p:cNvSpPr>
          <p:nvPr>
            <p:ph type="body" sz="quarter" idx="29"/>
          </p:nvPr>
        </p:nvSpPr>
        <p:spPr>
          <a:xfrm>
            <a:off x="1161391" y="2035252"/>
            <a:ext cx="99267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ESG LEAD 혁신</a:t>
            </a:r>
          </a:p>
        </p:txBody>
      </p:sp>
      <p:sp>
        <p:nvSpPr>
          <p:cNvPr id="31" name="태그 설명"/>
          <p:cNvSpPr>
            <a:spLocks noGrp="1"/>
          </p:cNvSpPr>
          <p:nvPr>
            <p:ph type="body" sz="quarter" idx="30"/>
          </p:nvPr>
        </p:nvSpPr>
        <p:spPr>
          <a:xfrm>
            <a:off x="2197893" y="2024296"/>
            <a:ext cx="4611585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기후위기 대응·상생협력·국민신뢰 확보를 위한</a:t>
            </a:r>
          </a:p>
        </p:txBody>
      </p:sp>
      <p:sp>
        <p:nvSpPr>
          <p:cNvPr id="32" name="태그"/>
          <p:cNvSpPr/>
          <p:nvPr/>
        </p:nvSpPr>
        <p:spPr>
          <a:xfrm>
            <a:off x="1161391" y="2232470"/>
            <a:ext cx="992676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3" name="태그"/>
          <p:cNvSpPr>
            <a:spLocks noGrp="1"/>
          </p:cNvSpPr>
          <p:nvPr>
            <p:ph type="body" sz="quarter" idx="31"/>
          </p:nvPr>
        </p:nvSpPr>
        <p:spPr>
          <a:xfrm>
            <a:off x="1161391" y="2232470"/>
            <a:ext cx="99267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생산성 제고 혁신</a:t>
            </a:r>
          </a:p>
        </p:txBody>
      </p:sp>
      <p:sp>
        <p:nvSpPr>
          <p:cNvPr id="34" name="태그 설명"/>
          <p:cNvSpPr>
            <a:spLocks noGrp="1"/>
          </p:cNvSpPr>
          <p:nvPr>
            <p:ph type="body" sz="quarter" idx="32"/>
          </p:nvPr>
        </p:nvSpPr>
        <p:spPr>
          <a:xfrm>
            <a:off x="2197893" y="2221513"/>
            <a:ext cx="4611585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정수장, 친환경, 기술나눔 등 기술력으로 도약하는</a:t>
            </a:r>
          </a:p>
        </p:txBody>
      </p:sp>
      <p:sp>
        <p:nvSpPr>
          <p:cNvPr id="35" name="배너"/>
          <p:cNvSpPr/>
          <p:nvPr/>
        </p:nvSpPr>
        <p:spPr>
          <a:xfrm>
            <a:off x="1161391" y="2446122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6" name="배너"/>
          <p:cNvSpPr>
            <a:spLocks noGrp="1"/>
          </p:cNvSpPr>
          <p:nvPr>
            <p:ph type="body" sz="quarter" idx="33"/>
          </p:nvPr>
        </p:nvSpPr>
        <p:spPr>
          <a:xfrm>
            <a:off x="1161391" y="2446122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경영실적 평가결과 진단, 전직원 설문조사 및 혁신챌린지 결과분석</a:t>
            </a:r>
          </a:p>
        </p:txBody>
      </p:sp>
      <p:sp>
        <p:nvSpPr>
          <p:cNvPr id="37" name="배너"/>
          <p:cNvSpPr/>
          <p:nvPr/>
        </p:nvSpPr>
        <p:spPr>
          <a:xfrm>
            <a:off x="536870" y="2741948"/>
            <a:ext cx="6300000" cy="328696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cxnSp>
        <p:nvCxnSpPr>
          <p:cNvPr id="38" name="Connector 26"/>
          <p:cNvCxnSpPr/>
          <p:nvPr/>
        </p:nvCxnSpPr>
        <p:spPr>
          <a:xfrm>
            <a:off x="536870" y="2741948"/>
            <a:ext cx="6300000" cy="0"/>
          </a:xfrm>
          <a:prstGeom prst="line">
            <a:avLst/>
          </a:prstGeom>
          <a:ln w="12700">
            <a:solidFill>
              <a:srgbClr val="BDE0FF"/>
            </a:solidFill>
          </a:ln>
        </p:spPr>
      </p:cxnSp>
      <p:sp>
        <p:nvSpPr>
          <p:cNvPr id="39" name="배너 글"/>
          <p:cNvSpPr>
            <a:spLocks noGrp="1"/>
          </p:cNvSpPr>
          <p:nvPr>
            <p:ph type="body" sz="quarter" idx="34"/>
          </p:nvPr>
        </p:nvSpPr>
        <p:spPr>
          <a:xfrm>
            <a:off x="536870" y="2796730"/>
            <a:ext cx="6300000" cy="19721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“국민체감, ESG LEAD, 생산성 제고” 3대 분야, 10개 혁신 과제 실행</a:t>
            </a:r>
          </a:p>
        </p:txBody>
      </p:sp>
      <p:sp>
        <p:nvSpPr>
          <p:cNvPr id="40" name="표 외곽"/>
          <p:cNvSpPr/>
          <p:nvPr/>
        </p:nvSpPr>
        <p:spPr>
          <a:xfrm>
            <a:off x="536870" y="3114470"/>
            <a:ext cx="6300000" cy="3303391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1" name="레일"/>
          <p:cNvSpPr/>
          <p:nvPr/>
        </p:nvSpPr>
        <p:spPr>
          <a:xfrm>
            <a:off x="547826" y="3130904"/>
            <a:ext cx="580696" cy="12326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2" name="레일"/>
          <p:cNvSpPr>
            <a:spLocks noGrp="1"/>
          </p:cNvSpPr>
          <p:nvPr>
            <p:ph type="body" sz="quarter" idx="35"/>
          </p:nvPr>
        </p:nvSpPr>
        <p:spPr>
          <a:xfrm>
            <a:off x="547826" y="3130904"/>
            <a:ext cx="580696" cy="1232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10대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혁신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과제</a:t>
            </a:r>
          </a:p>
        </p:txBody>
      </p:sp>
      <p:sp>
        <p:nvSpPr>
          <p:cNvPr id="43" name="머리칸"/>
          <p:cNvSpPr/>
          <p:nvPr/>
        </p:nvSpPr>
        <p:spPr>
          <a:xfrm>
            <a:off x="1161391" y="3152817"/>
            <a:ext cx="2309248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4" name="머리칸"/>
          <p:cNvSpPr>
            <a:spLocks noGrp="1"/>
          </p:cNvSpPr>
          <p:nvPr>
            <p:ph type="body" sz="quarter" idx="36"/>
          </p:nvPr>
        </p:nvSpPr>
        <p:spPr>
          <a:xfrm>
            <a:off x="1161391" y="3152817"/>
            <a:ext cx="2309248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국민체감형 혁신</a:t>
            </a:r>
          </a:p>
        </p:txBody>
      </p:sp>
      <p:sp>
        <p:nvSpPr>
          <p:cNvPr id="45" name="머리칸"/>
          <p:cNvSpPr/>
          <p:nvPr/>
        </p:nvSpPr>
        <p:spPr>
          <a:xfrm>
            <a:off x="3487074" y="3152817"/>
            <a:ext cx="164476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6" name="머리칸"/>
          <p:cNvSpPr>
            <a:spLocks noGrp="1"/>
          </p:cNvSpPr>
          <p:nvPr>
            <p:ph type="body" sz="quarter" idx="37"/>
          </p:nvPr>
        </p:nvSpPr>
        <p:spPr>
          <a:xfrm>
            <a:off x="3487074" y="3152817"/>
            <a:ext cx="164476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ESG LEAD 혁신</a:t>
            </a:r>
          </a:p>
        </p:txBody>
      </p:sp>
      <p:sp>
        <p:nvSpPr>
          <p:cNvPr id="47" name="머리칸"/>
          <p:cNvSpPr/>
          <p:nvPr/>
        </p:nvSpPr>
        <p:spPr>
          <a:xfrm>
            <a:off x="5148276" y="3152817"/>
            <a:ext cx="164476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8" name="머리칸"/>
          <p:cNvSpPr>
            <a:spLocks noGrp="1"/>
          </p:cNvSpPr>
          <p:nvPr>
            <p:ph type="body" sz="quarter" idx="38"/>
          </p:nvPr>
        </p:nvSpPr>
        <p:spPr>
          <a:xfrm>
            <a:off x="5148276" y="3152817"/>
            <a:ext cx="164476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생산성 제고 혁신</a:t>
            </a:r>
          </a:p>
        </p:txBody>
      </p:sp>
      <p:sp>
        <p:nvSpPr>
          <p:cNvPr id="49" name="칸 본문"/>
          <p:cNvSpPr>
            <a:spLocks noGrp="1"/>
          </p:cNvSpPr>
          <p:nvPr>
            <p:ph type="body" sz="quarter" idx="39"/>
          </p:nvPr>
        </p:nvSpPr>
        <p:spPr>
          <a:xfrm>
            <a:off x="1172348" y="3393861"/>
            <a:ext cx="2303770" cy="964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❶ 최악의 강릉 가뭄 문제 신속 해결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❷ 안동 지장 가옥 문제 적극 해소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❸ 대국민 여가 증진 서비스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❹ 댐 주변 소멸지역 철도 상품 개발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40"/>
          </p:nvPr>
        </p:nvSpPr>
        <p:spPr>
          <a:xfrm>
            <a:off x="3498031" y="3393861"/>
            <a:ext cx="1639289" cy="964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❺ 워터포지티브 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❻ 주민이익공유 Ⓢ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❼ 청렴도 1등급 Ⓖ</a:t>
            </a:r>
          </a:p>
        </p:txBody>
      </p:sp>
      <p:cxnSp>
        <p:nvCxnSpPr>
          <p:cNvPr id="51" name="Connector 35"/>
          <p:cNvCxnSpPr/>
          <p:nvPr/>
        </p:nvCxnSpPr>
        <p:spPr>
          <a:xfrm>
            <a:off x="3487074" y="3426730"/>
            <a:ext cx="0" cy="898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2" name="칸 본문"/>
          <p:cNvSpPr>
            <a:spLocks noGrp="1"/>
          </p:cNvSpPr>
          <p:nvPr>
            <p:ph type="body" sz="quarter" idx="41"/>
          </p:nvPr>
        </p:nvSpPr>
        <p:spPr>
          <a:xfrm>
            <a:off x="5159233" y="3393861"/>
            <a:ext cx="1639289" cy="964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❽ 글로벌 등대 AI정수장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❾ 재생100% 병입수돗물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❿ 기업성장응답센터</a:t>
            </a:r>
          </a:p>
        </p:txBody>
      </p:sp>
      <p:cxnSp>
        <p:nvCxnSpPr>
          <p:cNvPr id="53" name="Connector 37"/>
          <p:cNvCxnSpPr/>
          <p:nvPr/>
        </p:nvCxnSpPr>
        <p:spPr>
          <a:xfrm>
            <a:off x="5148276" y="3426730"/>
            <a:ext cx="0" cy="898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4" name="레일"/>
          <p:cNvSpPr/>
          <p:nvPr/>
        </p:nvSpPr>
        <p:spPr>
          <a:xfrm>
            <a:off x="547826" y="4379948"/>
            <a:ext cx="580696" cy="136408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5" name="레일"/>
          <p:cNvSpPr>
            <a:spLocks noGrp="1"/>
          </p:cNvSpPr>
          <p:nvPr>
            <p:ph type="body" sz="quarter" idx="42"/>
          </p:nvPr>
        </p:nvSpPr>
        <p:spPr>
          <a:xfrm>
            <a:off x="547826" y="4379948"/>
            <a:ext cx="580696" cy="1364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특화형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조직 운영</a:t>
            </a:r>
          </a:p>
        </p:txBody>
      </p:sp>
      <p:sp>
        <p:nvSpPr>
          <p:cNvPr id="56" name="레일 삼각형"/>
          <p:cNvSpPr/>
          <p:nvPr/>
        </p:nvSpPr>
        <p:spPr>
          <a:xfrm>
            <a:off x="547826" y="4379947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7" name="머리칸"/>
          <p:cNvSpPr/>
          <p:nvPr/>
        </p:nvSpPr>
        <p:spPr>
          <a:xfrm>
            <a:off x="1161391" y="4401861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8" name="머리칸"/>
          <p:cNvSpPr>
            <a:spLocks noGrp="1"/>
          </p:cNvSpPr>
          <p:nvPr>
            <p:ph type="body" sz="quarter" idx="43"/>
          </p:nvPr>
        </p:nvSpPr>
        <p:spPr>
          <a:xfrm>
            <a:off x="1161391" y="4401861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목표지향적 혁신 가속화를 위한 특화형 조직 운영</a:t>
            </a:r>
          </a:p>
        </p:txBody>
      </p:sp>
      <p:sp>
        <p:nvSpPr>
          <p:cNvPr id="59" name="머리칸"/>
          <p:cNvSpPr/>
          <p:nvPr/>
        </p:nvSpPr>
        <p:spPr>
          <a:xfrm>
            <a:off x="3985435" y="4401861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60" name="머리칸"/>
          <p:cNvSpPr>
            <a:spLocks noGrp="1"/>
          </p:cNvSpPr>
          <p:nvPr>
            <p:ph type="body" sz="quarter" idx="44"/>
          </p:nvPr>
        </p:nvSpPr>
        <p:spPr>
          <a:xfrm>
            <a:off x="3985435" y="4401861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전문성 기반 혁신 네트워크</a:t>
            </a:r>
          </a:p>
        </p:txBody>
      </p:sp>
      <p:sp>
        <p:nvSpPr>
          <p:cNvPr id="61" name="칸 본문"/>
          <p:cNvSpPr>
            <a:spLocks noGrp="1"/>
          </p:cNvSpPr>
          <p:nvPr>
            <p:ph type="body" sz="quarter" idx="45"/>
          </p:nvPr>
        </p:nvSpPr>
        <p:spPr>
          <a:xfrm>
            <a:off x="1172348" y="4642904"/>
            <a:ext cx="2802130" cy="109565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혁신추진단: 혁신계획 수립운영 총괄(경영혁신실)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지원국 예산·기술지원 / 교육국 연구개발·인재양성 / 사무국 성과·리스크 관리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정책 특화 조직: AI추진단, 안전본부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실행조직 부문·본부 단위 목표 부여·실행, 전사 부서별 자율적 추진조직 구성</a:t>
            </a:r>
          </a:p>
        </p:txBody>
      </p:sp>
      <p:sp>
        <p:nvSpPr>
          <p:cNvPr id="62" name="칸 본문"/>
          <p:cNvSpPr>
            <a:spLocks noGrp="1"/>
          </p:cNvSpPr>
          <p:nvPr>
            <p:ph type="body" sz="quarter" idx="46"/>
          </p:nvPr>
        </p:nvSpPr>
        <p:spPr>
          <a:xfrm>
            <a:off x="3996391" y="4642904"/>
            <a:ext cx="2802130" cy="109565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전문가: ESG경영위원회, 안전경영위원회, 상생협력위원회, 미래혁신위원회(신설), ESG자문위원회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지역: 댐주변지원사업, 지역가치창출 프로젝트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국민: 국민디자인단, 청년동행단</a:t>
            </a:r>
          </a:p>
        </p:txBody>
      </p:sp>
      <p:cxnSp>
        <p:nvCxnSpPr>
          <p:cNvPr id="63" name="Connector 44"/>
          <p:cNvCxnSpPr/>
          <p:nvPr/>
        </p:nvCxnSpPr>
        <p:spPr>
          <a:xfrm>
            <a:off x="3985435" y="4675774"/>
            <a:ext cx="0" cy="102991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4" name="레일"/>
          <p:cNvSpPr/>
          <p:nvPr/>
        </p:nvSpPr>
        <p:spPr>
          <a:xfrm>
            <a:off x="547826" y="5760470"/>
            <a:ext cx="580696" cy="64095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5" name="레일"/>
          <p:cNvSpPr>
            <a:spLocks noGrp="1"/>
          </p:cNvSpPr>
          <p:nvPr>
            <p:ph type="body" sz="quarter" idx="47"/>
          </p:nvPr>
        </p:nvSpPr>
        <p:spPr>
          <a:xfrm>
            <a:off x="547826" y="5760470"/>
            <a:ext cx="580696" cy="640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플랫폼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· 규정</a:t>
            </a:r>
          </a:p>
        </p:txBody>
      </p:sp>
      <p:sp>
        <p:nvSpPr>
          <p:cNvPr id="66" name="레일 삼각형"/>
          <p:cNvSpPr/>
          <p:nvPr/>
        </p:nvSpPr>
        <p:spPr>
          <a:xfrm>
            <a:off x="547826" y="5760469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7" name="태그"/>
          <p:cNvSpPr/>
          <p:nvPr/>
        </p:nvSpPr>
        <p:spPr>
          <a:xfrm>
            <a:off x="1161391" y="5804296"/>
            <a:ext cx="581509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8" name="태그"/>
          <p:cNvSpPr>
            <a:spLocks noGrp="1"/>
          </p:cNvSpPr>
          <p:nvPr>
            <p:ph type="body" sz="quarter" idx="48"/>
          </p:nvPr>
        </p:nvSpPr>
        <p:spPr>
          <a:xfrm>
            <a:off x="1161391" y="5804296"/>
            <a:ext cx="58150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플랫폼</a:t>
            </a:r>
          </a:p>
        </p:txBody>
      </p:sp>
      <p:sp>
        <p:nvSpPr>
          <p:cNvPr id="69" name="태그 설명"/>
          <p:cNvSpPr>
            <a:spLocks noGrp="1"/>
          </p:cNvSpPr>
          <p:nvPr>
            <p:ph type="body" sz="quarter" idx="49"/>
          </p:nvPr>
        </p:nvSpPr>
        <p:spPr>
          <a:xfrm>
            <a:off x="1786727" y="5793339"/>
            <a:ext cx="502275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온라인 국민소통센터, 인트라넷 혁신:커넥트(혁신챌린지), 지식포털</a:t>
            </a:r>
          </a:p>
        </p:txBody>
      </p:sp>
      <p:sp>
        <p:nvSpPr>
          <p:cNvPr id="70" name="태그"/>
          <p:cNvSpPr/>
          <p:nvPr/>
        </p:nvSpPr>
        <p:spPr>
          <a:xfrm>
            <a:off x="1161391" y="6001513"/>
            <a:ext cx="581509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1" name="태그"/>
          <p:cNvSpPr>
            <a:spLocks noGrp="1"/>
          </p:cNvSpPr>
          <p:nvPr>
            <p:ph type="body" sz="quarter" idx="50"/>
          </p:nvPr>
        </p:nvSpPr>
        <p:spPr>
          <a:xfrm>
            <a:off x="1161391" y="6001513"/>
            <a:ext cx="58150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규 정</a:t>
            </a:r>
          </a:p>
        </p:txBody>
      </p:sp>
      <p:sp>
        <p:nvSpPr>
          <p:cNvPr id="72" name="태그 설명"/>
          <p:cNvSpPr>
            <a:spLocks noGrp="1"/>
          </p:cNvSpPr>
          <p:nvPr>
            <p:ph type="body" sz="quarter" idx="51"/>
          </p:nvPr>
        </p:nvSpPr>
        <p:spPr>
          <a:xfrm>
            <a:off x="1786727" y="5990557"/>
            <a:ext cx="502275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지식관리규정</a:t>
            </a:r>
          </a:p>
        </p:txBody>
      </p:sp>
      <p:sp>
        <p:nvSpPr>
          <p:cNvPr id="73" name="태그"/>
          <p:cNvSpPr/>
          <p:nvPr/>
        </p:nvSpPr>
        <p:spPr>
          <a:xfrm>
            <a:off x="1161391" y="6198730"/>
            <a:ext cx="581509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4" name="태그"/>
          <p:cNvSpPr>
            <a:spLocks noGrp="1"/>
          </p:cNvSpPr>
          <p:nvPr>
            <p:ph type="body" sz="quarter" idx="52"/>
          </p:nvPr>
        </p:nvSpPr>
        <p:spPr>
          <a:xfrm>
            <a:off x="1161391" y="6198730"/>
            <a:ext cx="58150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성과지표</a:t>
            </a:r>
          </a:p>
        </p:txBody>
      </p:sp>
      <p:sp>
        <p:nvSpPr>
          <p:cNvPr id="75" name="태그 설명"/>
          <p:cNvSpPr>
            <a:spLocks noGrp="1"/>
          </p:cNvSpPr>
          <p:nvPr>
            <p:ph type="body" sz="quarter" idx="53"/>
          </p:nvPr>
        </p:nvSpPr>
        <p:spPr>
          <a:xfrm>
            <a:off x="1786727" y="6187774"/>
            <a:ext cx="502275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Step-Up제도, 재경부 대국민서비스, ESG등급평가</a:t>
            </a:r>
          </a:p>
        </p:txBody>
      </p:sp>
      <p:sp>
        <p:nvSpPr>
          <p:cNvPr id="76" name="행 틀"/>
          <p:cNvSpPr/>
          <p:nvPr/>
        </p:nvSpPr>
        <p:spPr>
          <a:xfrm>
            <a:off x="536870" y="6483600"/>
            <a:ext cx="6300000" cy="1073739"/>
          </a:xfrm>
          <a:prstGeom prst="rect">
            <a:avLst/>
          </a:prstGeom>
          <a:solidFill>
            <a:srgbClr val="FFFF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7" name="레일"/>
          <p:cNvSpPr/>
          <p:nvPr/>
        </p:nvSpPr>
        <p:spPr>
          <a:xfrm>
            <a:off x="547826" y="6494557"/>
            <a:ext cx="580696" cy="105182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8" name="레일"/>
          <p:cNvSpPr>
            <a:spLocks noGrp="1"/>
          </p:cNvSpPr>
          <p:nvPr>
            <p:ph type="body" sz="quarter" idx="54"/>
          </p:nvPr>
        </p:nvSpPr>
        <p:spPr>
          <a:xfrm>
            <a:off x="547826" y="6494557"/>
            <a:ext cx="580696" cy="1051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79" name="사진 칸"/>
          <p:cNvSpPr/>
          <p:nvPr/>
        </p:nvSpPr>
        <p:spPr>
          <a:xfrm>
            <a:off x="1172348" y="6527426"/>
            <a:ext cx="1097843" cy="405391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80" name="사진 칸"/>
          <p:cNvSpPr>
            <a:spLocks noGrp="1"/>
          </p:cNvSpPr>
          <p:nvPr>
            <p:ph type="body" sz="quarter" idx="55"/>
          </p:nvPr>
        </p:nvSpPr>
        <p:spPr>
          <a:xfrm>
            <a:off x="1172348" y="6527426"/>
            <a:ext cx="1097843" cy="40539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81" name="카드 제목"/>
          <p:cNvSpPr>
            <a:spLocks noGrp="1"/>
          </p:cNvSpPr>
          <p:nvPr>
            <p:ph type="body" sz="quarter" idx="56"/>
          </p:nvPr>
        </p:nvSpPr>
        <p:spPr>
          <a:xfrm>
            <a:off x="1172348" y="6954730"/>
            <a:ext cx="1097843" cy="230087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혁신챌린지 우수</a:t>
            </a:r>
          </a:p>
        </p:txBody>
      </p:sp>
      <p:sp>
        <p:nvSpPr>
          <p:cNvPr id="82" name="카드 설명"/>
          <p:cNvSpPr>
            <a:spLocks noGrp="1"/>
          </p:cNvSpPr>
          <p:nvPr>
            <p:ph type="body" sz="quarter" idx="57"/>
          </p:nvPr>
        </p:nvSpPr>
        <p:spPr>
          <a:xfrm>
            <a:off x="1172348" y="7173861"/>
            <a:ext cx="1097843" cy="361565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AI·안전 16건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2025.10</a:t>
            </a:r>
          </a:p>
        </p:txBody>
      </p:sp>
      <p:sp>
        <p:nvSpPr>
          <p:cNvPr id="83" name="사진 칸"/>
          <p:cNvSpPr/>
          <p:nvPr/>
        </p:nvSpPr>
        <p:spPr>
          <a:xfrm>
            <a:off x="2303061" y="6527426"/>
            <a:ext cx="1097843" cy="405391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84" name="사진 칸"/>
          <p:cNvSpPr>
            <a:spLocks noGrp="1"/>
          </p:cNvSpPr>
          <p:nvPr>
            <p:ph type="body" sz="quarter" idx="58"/>
          </p:nvPr>
        </p:nvSpPr>
        <p:spPr>
          <a:xfrm>
            <a:off x="2303061" y="6527426"/>
            <a:ext cx="1097843" cy="40539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85" name="카드 제목"/>
          <p:cNvSpPr>
            <a:spLocks noGrp="1"/>
          </p:cNvSpPr>
          <p:nvPr>
            <p:ph type="body" sz="quarter" idx="59"/>
          </p:nvPr>
        </p:nvSpPr>
        <p:spPr>
          <a:xfrm>
            <a:off x="2303061" y="6954730"/>
            <a:ext cx="1097843" cy="230087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대국민서비스 AA</a:t>
            </a:r>
          </a:p>
        </p:txBody>
      </p:sp>
      <p:sp>
        <p:nvSpPr>
          <p:cNvPr id="86" name="카드 설명"/>
          <p:cNvSpPr>
            <a:spLocks noGrp="1"/>
          </p:cNvSpPr>
          <p:nvPr>
            <p:ph type="body" sz="quarter" idx="60"/>
          </p:nvPr>
        </p:nvSpPr>
        <p:spPr>
          <a:xfrm>
            <a:off x="2303061" y="7173861"/>
            <a:ext cx="1097843" cy="361565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RiverRun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2025.9</a:t>
            </a:r>
          </a:p>
        </p:txBody>
      </p:sp>
      <p:sp>
        <p:nvSpPr>
          <p:cNvPr id="87" name="사진 칸"/>
          <p:cNvSpPr/>
          <p:nvPr/>
        </p:nvSpPr>
        <p:spPr>
          <a:xfrm>
            <a:off x="3433774" y="6527426"/>
            <a:ext cx="1097843" cy="405391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88" name="사진 칸"/>
          <p:cNvSpPr>
            <a:spLocks noGrp="1"/>
          </p:cNvSpPr>
          <p:nvPr>
            <p:ph type="body" sz="quarter" idx="61"/>
          </p:nvPr>
        </p:nvSpPr>
        <p:spPr>
          <a:xfrm>
            <a:off x="3433774" y="6527426"/>
            <a:ext cx="1097843" cy="40539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89" name="카드 제목"/>
          <p:cNvSpPr>
            <a:spLocks noGrp="1"/>
          </p:cNvSpPr>
          <p:nvPr>
            <p:ph type="body" sz="quarter" idx="62"/>
          </p:nvPr>
        </p:nvSpPr>
        <p:spPr>
          <a:xfrm>
            <a:off x="3433774" y="6954730"/>
            <a:ext cx="1097843" cy="230087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ESG 종합평가 최고</a:t>
            </a:r>
          </a:p>
        </p:txBody>
      </p:sp>
      <p:sp>
        <p:nvSpPr>
          <p:cNvPr id="90" name="카드 설명"/>
          <p:cNvSpPr>
            <a:spLocks noGrp="1"/>
          </p:cNvSpPr>
          <p:nvPr>
            <p:ph type="body" sz="quarter" idx="63"/>
          </p:nvPr>
        </p:nvSpPr>
        <p:spPr>
          <a:xfrm>
            <a:off x="3433774" y="7173861"/>
            <a:ext cx="1097843" cy="361565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4년 연속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2025.12</a:t>
            </a:r>
          </a:p>
        </p:txBody>
      </p:sp>
      <p:sp>
        <p:nvSpPr>
          <p:cNvPr id="91" name="사진 칸"/>
          <p:cNvSpPr/>
          <p:nvPr/>
        </p:nvSpPr>
        <p:spPr>
          <a:xfrm>
            <a:off x="4564487" y="6527426"/>
            <a:ext cx="1097843" cy="405391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92" name="사진 칸"/>
          <p:cNvSpPr>
            <a:spLocks noGrp="1"/>
          </p:cNvSpPr>
          <p:nvPr>
            <p:ph type="body" sz="quarter" idx="64"/>
          </p:nvPr>
        </p:nvSpPr>
        <p:spPr>
          <a:xfrm>
            <a:off x="4564487" y="6527426"/>
            <a:ext cx="1097843" cy="40539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93" name="카드 제목"/>
          <p:cNvSpPr>
            <a:spLocks noGrp="1"/>
          </p:cNvSpPr>
          <p:nvPr>
            <p:ph type="body" sz="quarter" idx="65"/>
          </p:nvPr>
        </p:nvSpPr>
        <p:spPr>
          <a:xfrm>
            <a:off x="4564487" y="6954730"/>
            <a:ext cx="1097843" cy="230087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공공기관 AI 선도기관</a:t>
            </a:r>
          </a:p>
        </p:txBody>
      </p:sp>
      <p:sp>
        <p:nvSpPr>
          <p:cNvPr id="94" name="카드 설명"/>
          <p:cNvSpPr>
            <a:spLocks noGrp="1"/>
          </p:cNvSpPr>
          <p:nvPr>
            <p:ph type="body" sz="quarter" idx="66"/>
          </p:nvPr>
        </p:nvSpPr>
        <p:spPr>
          <a:xfrm>
            <a:off x="4564487" y="7173861"/>
            <a:ext cx="1097843" cy="361565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재경부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2025.10</a:t>
            </a:r>
          </a:p>
        </p:txBody>
      </p:sp>
      <p:sp>
        <p:nvSpPr>
          <p:cNvPr id="95" name="사진 칸"/>
          <p:cNvSpPr/>
          <p:nvPr/>
        </p:nvSpPr>
        <p:spPr>
          <a:xfrm>
            <a:off x="5695200" y="6527426"/>
            <a:ext cx="1097843" cy="405391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96" name="사진 칸"/>
          <p:cNvSpPr>
            <a:spLocks noGrp="1"/>
          </p:cNvSpPr>
          <p:nvPr>
            <p:ph type="body" sz="quarter" idx="67"/>
          </p:nvPr>
        </p:nvSpPr>
        <p:spPr>
          <a:xfrm>
            <a:off x="5695200" y="6527426"/>
            <a:ext cx="1097843" cy="40539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97" name="카드 제목"/>
          <p:cNvSpPr>
            <a:spLocks noGrp="1"/>
          </p:cNvSpPr>
          <p:nvPr>
            <p:ph type="body" sz="quarter" idx="68"/>
          </p:nvPr>
        </p:nvSpPr>
        <p:spPr>
          <a:xfrm>
            <a:off x="5695200" y="6954730"/>
            <a:ext cx="1097843" cy="230087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사전컨설팅 대상</a:t>
            </a:r>
          </a:p>
        </p:txBody>
      </p:sp>
      <p:sp>
        <p:nvSpPr>
          <p:cNvPr id="98" name="카드 설명"/>
          <p:cNvSpPr>
            <a:spLocks noGrp="1"/>
          </p:cNvSpPr>
          <p:nvPr>
            <p:ph type="body" sz="quarter" idx="69"/>
          </p:nvPr>
        </p:nvSpPr>
        <p:spPr>
          <a:xfrm>
            <a:off x="5695200" y="7173861"/>
            <a:ext cx="1097843" cy="361565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3년 연속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2025.12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22 서사 · 적극행정 혁신(추진배경 → 참여자 니즈 → 국민의 문제 → 주요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규제한계를 넘고, 국민 삶에 빈틈없이 스며드는 체감형 포용 혁신</a:t>
            </a:r>
          </a:p>
        </p:txBody>
      </p:sp>
      <p:sp>
        <p:nvSpPr>
          <p:cNvPr id="14" name="번호"/>
          <p:cNvSpPr>
            <a:spLocks noGrp="1"/>
          </p:cNvSpPr>
          <p:nvPr>
            <p:ph type="body" sz="quarter" idx="22"/>
          </p:nvPr>
        </p:nvSpPr>
        <p:spPr>
          <a:xfrm>
            <a:off x="723130" y="1205217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15" name="분야 박스"/>
          <p:cNvSpPr/>
          <p:nvPr/>
        </p:nvSpPr>
        <p:spPr>
          <a:xfrm>
            <a:off x="952651" y="1238087"/>
            <a:ext cx="1067387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분야 박스"/>
          <p:cNvSpPr>
            <a:spLocks noGrp="1"/>
          </p:cNvSpPr>
          <p:nvPr>
            <p:ph type="body" sz="quarter" idx="23"/>
          </p:nvPr>
        </p:nvSpPr>
        <p:spPr>
          <a:xfrm>
            <a:off x="952651" y="1238087"/>
            <a:ext cx="106738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적극행정·규제개선</a:t>
            </a:r>
          </a:p>
        </p:txBody>
      </p:sp>
      <p:sp>
        <p:nvSpPr>
          <p:cNvPr id="17" name="형광 밑줄"/>
          <p:cNvSpPr/>
          <p:nvPr/>
        </p:nvSpPr>
        <p:spPr>
          <a:xfrm>
            <a:off x="2085776" y="1358609"/>
            <a:ext cx="3200811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소제목"/>
          <p:cNvSpPr>
            <a:spLocks noGrp="1"/>
          </p:cNvSpPr>
          <p:nvPr>
            <p:ph type="body" sz="quarter" idx="24"/>
          </p:nvPr>
        </p:nvSpPr>
        <p:spPr>
          <a:xfrm>
            <a:off x="2085776" y="1205217"/>
            <a:ext cx="4937354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되는 방법을 찾아 시민이 체감할 수 있는 적극행정 혁신</a:t>
            </a:r>
          </a:p>
        </p:txBody>
      </p:sp>
      <p:sp>
        <p:nvSpPr>
          <p:cNvPr id="19" name="태그칩"/>
          <p:cNvSpPr/>
          <p:nvPr/>
        </p:nvSpPr>
        <p:spPr>
          <a:xfrm>
            <a:off x="5385196" y="1238087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태그칩"/>
          <p:cNvSpPr>
            <a:spLocks noGrp="1"/>
          </p:cNvSpPr>
          <p:nvPr>
            <p:ph type="body" sz="quarter" idx="25"/>
          </p:nvPr>
        </p:nvSpPr>
        <p:spPr>
          <a:xfrm>
            <a:off x="5385196" y="1238087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21" name="표 외곽"/>
          <p:cNvSpPr/>
          <p:nvPr/>
        </p:nvSpPr>
        <p:spPr>
          <a:xfrm>
            <a:off x="723130" y="1490087"/>
            <a:ext cx="6300000" cy="2347513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2" name="레일"/>
          <p:cNvSpPr/>
          <p:nvPr/>
        </p:nvSpPr>
        <p:spPr>
          <a:xfrm>
            <a:off x="734087" y="1506522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3" name="레일"/>
          <p:cNvSpPr>
            <a:spLocks noGrp="1"/>
          </p:cNvSpPr>
          <p:nvPr>
            <p:ph type="body" sz="quarter" idx="26"/>
          </p:nvPr>
        </p:nvSpPr>
        <p:spPr>
          <a:xfrm>
            <a:off x="734087" y="1506522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7"/>
          </p:nvPr>
        </p:nvSpPr>
        <p:spPr>
          <a:xfrm>
            <a:off x="1358609" y="1528435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환류 국민의 시각에서 적극행정을 발굴, 보상 체계를 마련하여 참여 확대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8"/>
          </p:nvPr>
        </p:nvSpPr>
        <p:spPr>
          <a:xfrm>
            <a:off x="4182652" y="1528435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방향 참여자의 적극성 확보, 협력 강화를 통한 제도개선, 실질적 해소에 집중</a:t>
            </a:r>
          </a:p>
        </p:txBody>
      </p:sp>
      <p:cxnSp>
        <p:nvCxnSpPr>
          <p:cNvPr id="26" name="Connector 17"/>
          <p:cNvCxnSpPr/>
          <p:nvPr/>
        </p:nvCxnSpPr>
        <p:spPr>
          <a:xfrm>
            <a:off x="4171696" y="1561304"/>
            <a:ext cx="0" cy="284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7" name="레일"/>
          <p:cNvSpPr/>
          <p:nvPr/>
        </p:nvSpPr>
        <p:spPr>
          <a:xfrm>
            <a:off x="734087" y="1931165"/>
            <a:ext cx="580696" cy="99156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8" name="레일"/>
          <p:cNvSpPr>
            <a:spLocks noGrp="1"/>
          </p:cNvSpPr>
          <p:nvPr>
            <p:ph type="body" sz="quarter" idx="29"/>
          </p:nvPr>
        </p:nvSpPr>
        <p:spPr>
          <a:xfrm>
            <a:off x="734087" y="1931165"/>
            <a:ext cx="580696" cy="991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참여자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니즈</a:t>
            </a:r>
          </a:p>
        </p:txBody>
      </p:sp>
      <p:sp>
        <p:nvSpPr>
          <p:cNvPr id="29" name="레일 삼각형"/>
          <p:cNvSpPr/>
          <p:nvPr/>
        </p:nvSpPr>
        <p:spPr>
          <a:xfrm>
            <a:off x="734086" y="1931165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0" name="단계"/>
          <p:cNvSpPr/>
          <p:nvPr/>
        </p:nvSpPr>
        <p:spPr>
          <a:xfrm>
            <a:off x="1347652" y="1953078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1" name="단계"/>
          <p:cNvSpPr>
            <a:spLocks noGrp="1"/>
          </p:cNvSpPr>
          <p:nvPr>
            <p:ph type="body" sz="quarter" idx="30"/>
          </p:nvPr>
        </p:nvSpPr>
        <p:spPr>
          <a:xfrm>
            <a:off x="1347652" y="195307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108년만 최악의 강릉가뭄</a:t>
            </a:r>
          </a:p>
        </p:txBody>
      </p:sp>
      <p:sp>
        <p:nvSpPr>
          <p:cNvPr id="32" name="단계"/>
          <p:cNvSpPr/>
          <p:nvPr/>
        </p:nvSpPr>
        <p:spPr>
          <a:xfrm>
            <a:off x="3230348" y="1953078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3" name="단계"/>
          <p:cNvSpPr>
            <a:spLocks noGrp="1"/>
          </p:cNvSpPr>
          <p:nvPr>
            <p:ph type="body" sz="quarter" idx="31"/>
          </p:nvPr>
        </p:nvSpPr>
        <p:spPr>
          <a:xfrm>
            <a:off x="3230348" y="195307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적극행정 공익성 점검</a:t>
            </a:r>
          </a:p>
        </p:txBody>
      </p:sp>
      <p:sp>
        <p:nvSpPr>
          <p:cNvPr id="34" name="단계"/>
          <p:cNvSpPr/>
          <p:nvPr/>
        </p:nvSpPr>
        <p:spPr>
          <a:xfrm>
            <a:off x="5113043" y="1953078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5" name="단계"/>
          <p:cNvSpPr>
            <a:spLocks noGrp="1"/>
          </p:cNvSpPr>
          <p:nvPr>
            <p:ph type="body" sz="quarter" idx="32"/>
          </p:nvPr>
        </p:nvSpPr>
        <p:spPr>
          <a:xfrm>
            <a:off x="5113043" y="195307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메마른 강릉 무너진 일상을 해결</a:t>
            </a:r>
          </a:p>
        </p:txBody>
      </p:sp>
      <p:sp>
        <p:nvSpPr>
          <p:cNvPr id="36" name="단계 삼각형"/>
          <p:cNvSpPr/>
          <p:nvPr/>
        </p:nvSpPr>
        <p:spPr>
          <a:xfrm>
            <a:off x="3230347" y="1953078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7" name="단계 삼각형"/>
          <p:cNvSpPr/>
          <p:nvPr/>
        </p:nvSpPr>
        <p:spPr>
          <a:xfrm>
            <a:off x="5113043" y="1953078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3"/>
          </p:nvPr>
        </p:nvSpPr>
        <p:spPr>
          <a:xfrm>
            <a:off x="1358609" y="2205078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신속 관정 개발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한계 신규 발주는 규정상 최소 1개월 이상 소요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4"/>
          </p:nvPr>
        </p:nvSpPr>
        <p:spPr>
          <a:xfrm>
            <a:off x="3241304" y="2205078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계약 기준상 위반사항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극복 예방 감사, 면책조력 제도 강화로 공익성 입증</a:t>
            </a:r>
          </a:p>
        </p:txBody>
      </p:sp>
      <p:cxnSp>
        <p:nvCxnSpPr>
          <p:cNvPr id="40" name="Connector 27"/>
          <p:cNvCxnSpPr/>
          <p:nvPr/>
        </p:nvCxnSpPr>
        <p:spPr>
          <a:xfrm>
            <a:off x="3230348" y="2237948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1" name="칸 본문"/>
          <p:cNvSpPr>
            <a:spLocks noGrp="1"/>
          </p:cNvSpPr>
          <p:nvPr>
            <p:ph type="body" sz="quarter" idx="35"/>
          </p:nvPr>
        </p:nvSpPr>
        <p:spPr>
          <a:xfrm>
            <a:off x="5124000" y="2205078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유사 용역 변경 ➡ 2주 내 강릉 물 공급 완료</a:t>
            </a:r>
          </a:p>
        </p:txBody>
      </p:sp>
      <p:cxnSp>
        <p:nvCxnSpPr>
          <p:cNvPr id="42" name="Connector 29"/>
          <p:cNvCxnSpPr/>
          <p:nvPr/>
        </p:nvCxnSpPr>
        <p:spPr>
          <a:xfrm>
            <a:off x="5113043" y="2237948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3" name="레일"/>
          <p:cNvSpPr/>
          <p:nvPr/>
        </p:nvSpPr>
        <p:spPr>
          <a:xfrm>
            <a:off x="734087" y="2939165"/>
            <a:ext cx="580696" cy="882000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4" name="레일"/>
          <p:cNvSpPr>
            <a:spLocks noGrp="1"/>
          </p:cNvSpPr>
          <p:nvPr>
            <p:ph type="body" sz="quarter" idx="36"/>
          </p:nvPr>
        </p:nvSpPr>
        <p:spPr>
          <a:xfrm>
            <a:off x="734087" y="2939165"/>
            <a:ext cx="580696" cy="88200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국민의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문제를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함께</a:t>
            </a:r>
          </a:p>
        </p:txBody>
      </p:sp>
      <p:sp>
        <p:nvSpPr>
          <p:cNvPr id="45" name="레일 삼각형"/>
          <p:cNvSpPr/>
          <p:nvPr/>
        </p:nvSpPr>
        <p:spPr>
          <a:xfrm>
            <a:off x="734086" y="2939165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6" name="단계"/>
          <p:cNvSpPr/>
          <p:nvPr/>
        </p:nvSpPr>
        <p:spPr>
          <a:xfrm>
            <a:off x="1347652" y="2961078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7" name="단계"/>
          <p:cNvSpPr>
            <a:spLocks noGrp="1"/>
          </p:cNvSpPr>
          <p:nvPr>
            <p:ph type="body" sz="quarter" idx="37"/>
          </p:nvPr>
        </p:nvSpPr>
        <p:spPr>
          <a:xfrm>
            <a:off x="1347652" y="296107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안동댐 지장가옥 문제</a:t>
            </a:r>
          </a:p>
        </p:txBody>
      </p:sp>
      <p:sp>
        <p:nvSpPr>
          <p:cNvPr id="48" name="단계"/>
          <p:cNvSpPr/>
          <p:nvPr/>
        </p:nvSpPr>
        <p:spPr>
          <a:xfrm>
            <a:off x="3230348" y="2961078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9" name="단계"/>
          <p:cNvSpPr>
            <a:spLocks noGrp="1"/>
          </p:cNvSpPr>
          <p:nvPr>
            <p:ph type="body" sz="quarter" idx="38"/>
          </p:nvPr>
        </p:nvSpPr>
        <p:spPr>
          <a:xfrm>
            <a:off x="3230348" y="296107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민·관 협력 해결책 탐색</a:t>
            </a:r>
          </a:p>
        </p:txBody>
      </p:sp>
      <p:sp>
        <p:nvSpPr>
          <p:cNvPr id="50" name="단계"/>
          <p:cNvSpPr/>
          <p:nvPr/>
        </p:nvSpPr>
        <p:spPr>
          <a:xfrm>
            <a:off x="5113043" y="2961078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1" name="단계"/>
          <p:cNvSpPr>
            <a:spLocks noGrp="1"/>
          </p:cNvSpPr>
          <p:nvPr>
            <p:ph type="body" sz="quarter" idx="39"/>
          </p:nvPr>
        </p:nvSpPr>
        <p:spPr>
          <a:xfrm>
            <a:off x="5113043" y="296107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불법 지장가옥 전부 해소</a:t>
            </a:r>
          </a:p>
        </p:txBody>
      </p:sp>
      <p:sp>
        <p:nvSpPr>
          <p:cNvPr id="52" name="단계 삼각형"/>
          <p:cNvSpPr/>
          <p:nvPr/>
        </p:nvSpPr>
        <p:spPr>
          <a:xfrm>
            <a:off x="3230347" y="2961078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3" name="단계 삼각형"/>
          <p:cNvSpPr/>
          <p:nvPr/>
        </p:nvSpPr>
        <p:spPr>
          <a:xfrm>
            <a:off x="5113043" y="2961078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4" name="칸 본문"/>
          <p:cNvSpPr>
            <a:spLocks noGrp="1"/>
          </p:cNvSpPr>
          <p:nvPr>
            <p:ph type="body" sz="quarter" idx="40"/>
          </p:nvPr>
        </p:nvSpPr>
        <p:spPr>
          <a:xfrm>
            <a:off x="1358609" y="3213078"/>
            <a:ext cx="1860783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저수구역 내 불법가옥 존치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한계 댐 운영 제한 및 침수위험 상시 노출</a:t>
            </a:r>
          </a:p>
        </p:txBody>
      </p:sp>
      <p:sp>
        <p:nvSpPr>
          <p:cNvPr id="55" name="칸 본문"/>
          <p:cNvSpPr>
            <a:spLocks noGrp="1"/>
          </p:cNvSpPr>
          <p:nvPr>
            <p:ph type="body" sz="quarter" idx="41"/>
          </p:nvPr>
        </p:nvSpPr>
        <p:spPr>
          <a:xfrm>
            <a:off x="3241304" y="3213078"/>
            <a:ext cx="1860783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주민 생존권이 걸린 문제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극복 민·관 협력으로 주민 이주 방안 마련·설득</a:t>
            </a:r>
          </a:p>
        </p:txBody>
      </p:sp>
      <p:cxnSp>
        <p:nvCxnSpPr>
          <p:cNvPr id="56" name="Connector 39"/>
          <p:cNvCxnSpPr/>
          <p:nvPr/>
        </p:nvCxnSpPr>
        <p:spPr>
          <a:xfrm>
            <a:off x="3230348" y="3245948"/>
            <a:ext cx="0" cy="536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7" name="칸 본문"/>
          <p:cNvSpPr>
            <a:spLocks noGrp="1"/>
          </p:cNvSpPr>
          <p:nvPr>
            <p:ph type="body" sz="quarter" idx="42"/>
          </p:nvPr>
        </p:nvSpPr>
        <p:spPr>
          <a:xfrm>
            <a:off x="5124000" y="3213078"/>
            <a:ext cx="1860783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중복보상 예방(사전컨설팅)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1:1 이주 상담·설계 지원 ➡ 47가구 모두 이주 완료</a:t>
            </a:r>
          </a:p>
        </p:txBody>
      </p:sp>
      <p:cxnSp>
        <p:nvCxnSpPr>
          <p:cNvPr id="58" name="Connector 41"/>
          <p:cNvCxnSpPr/>
          <p:nvPr/>
        </p:nvCxnSpPr>
        <p:spPr>
          <a:xfrm>
            <a:off x="5113043" y="3245948"/>
            <a:ext cx="0" cy="536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9" name="주요성과 박스"/>
          <p:cNvSpPr/>
          <p:nvPr/>
        </p:nvSpPr>
        <p:spPr>
          <a:xfrm>
            <a:off x="723130" y="3914296"/>
            <a:ext cx="6300000" cy="524348"/>
          </a:xfrm>
          <a:prstGeom prst="rect">
            <a:avLst/>
          </a:prstGeom>
          <a:solidFill>
            <a:srgbClr val="EFF9FF"/>
          </a:solidFill>
          <a:ln w="12700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0" name="주요성과 라벨"/>
          <p:cNvSpPr/>
          <p:nvPr/>
        </p:nvSpPr>
        <p:spPr>
          <a:xfrm>
            <a:off x="756000" y="3947165"/>
            <a:ext cx="657391" cy="458609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61" name="주요성과 라벨"/>
          <p:cNvSpPr>
            <a:spLocks noGrp="1"/>
          </p:cNvSpPr>
          <p:nvPr>
            <p:ph type="body" sz="quarter" idx="43"/>
          </p:nvPr>
        </p:nvSpPr>
        <p:spPr>
          <a:xfrm>
            <a:off x="756000" y="3947165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주요성과</a:t>
            </a:r>
          </a:p>
        </p:txBody>
      </p:sp>
      <p:sp>
        <p:nvSpPr>
          <p:cNvPr id="62" name="주요성과 문구"/>
          <p:cNvSpPr>
            <a:spLocks noGrp="1"/>
          </p:cNvSpPr>
          <p:nvPr>
            <p:ph type="body" sz="quarter" idx="44"/>
          </p:nvPr>
        </p:nvSpPr>
        <p:spPr>
          <a:xfrm>
            <a:off x="1501043" y="3930730"/>
            <a:ext cx="5456348" cy="49147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예방감사관·면책조력자 참여 활성화 ➡ 사전컨설팅(18건) 및 적극행정 면책(5건) 지원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감사원 「사전컨설팅 콘테스트」 ‘대상’ 수상(3년 연속 1등 달성)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23 서사 · 신 공공서비스(추진배경 → 하천 러닝코스 → 댐 관광 스펙트럼 → 주요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11" name="분야 박스"/>
          <p:cNvSpPr/>
          <p:nvPr/>
        </p:nvSpPr>
        <p:spPr>
          <a:xfrm>
            <a:off x="766390" y="799826"/>
            <a:ext cx="812003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분야 박스"/>
          <p:cNvSpPr>
            <a:spLocks noGrp="1"/>
          </p:cNvSpPr>
          <p:nvPr>
            <p:ph type="body" sz="quarter" idx="21"/>
          </p:nvPr>
        </p:nvSpPr>
        <p:spPr>
          <a:xfrm>
            <a:off x="766390" y="799826"/>
            <a:ext cx="812003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대국민서비스</a:t>
            </a:r>
          </a:p>
        </p:txBody>
      </p:sp>
      <p:sp>
        <p:nvSpPr>
          <p:cNvPr id="13" name="형광 밑줄"/>
          <p:cNvSpPr/>
          <p:nvPr/>
        </p:nvSpPr>
        <p:spPr>
          <a:xfrm>
            <a:off x="1644132" y="920348"/>
            <a:ext cx="4108429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소제목"/>
          <p:cNvSpPr>
            <a:spLocks noGrp="1"/>
          </p:cNvSpPr>
          <p:nvPr>
            <p:ph type="body" sz="quarter" idx="22"/>
          </p:nvPr>
        </p:nvSpPr>
        <p:spPr>
          <a:xfrm>
            <a:off x="1644132" y="766957"/>
            <a:ext cx="5192737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자체 인프라 활용으로 국민에게 일상의 쉼표를 선사하는 新공공서비스</a:t>
            </a:r>
          </a:p>
        </p:txBody>
      </p:sp>
      <p:sp>
        <p:nvSpPr>
          <p:cNvPr id="15" name="태그칩"/>
          <p:cNvSpPr/>
          <p:nvPr/>
        </p:nvSpPr>
        <p:spPr>
          <a:xfrm>
            <a:off x="5851170" y="799826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태그칩"/>
          <p:cNvSpPr>
            <a:spLocks noGrp="1"/>
          </p:cNvSpPr>
          <p:nvPr>
            <p:ph type="body" sz="quarter" idx="23"/>
          </p:nvPr>
        </p:nvSpPr>
        <p:spPr>
          <a:xfrm>
            <a:off x="5851170" y="799826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7" name="표 외곽"/>
          <p:cNvSpPr/>
          <p:nvPr/>
        </p:nvSpPr>
        <p:spPr>
          <a:xfrm>
            <a:off x="536870" y="1051826"/>
            <a:ext cx="6300000" cy="169560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레일"/>
          <p:cNvSpPr/>
          <p:nvPr/>
        </p:nvSpPr>
        <p:spPr>
          <a:xfrm>
            <a:off x="547826" y="1068261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레일"/>
          <p:cNvSpPr>
            <a:spLocks noGrp="1"/>
          </p:cNvSpPr>
          <p:nvPr>
            <p:ph type="body" sz="quarter" idx="24"/>
          </p:nvPr>
        </p:nvSpPr>
        <p:spPr>
          <a:xfrm>
            <a:off x="547826" y="1068261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5"/>
          </p:nvPr>
        </p:nvSpPr>
        <p:spPr>
          <a:xfrm>
            <a:off x="1172348" y="1090174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물관리 역량을 기반으로, 국민 생활편의 향상에 집중 ➡ 요금동결·감면, 고독자 사회안전망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6"/>
          </p:nvPr>
        </p:nvSpPr>
        <p:spPr>
          <a:xfrm>
            <a:off x="3996391" y="1090174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공공기관도 트렌드를 주도하는 시대 자체 인프라 활용 新 서비스 분야를 개척</a:t>
            </a:r>
          </a:p>
        </p:txBody>
      </p:sp>
      <p:cxnSp>
        <p:nvCxnSpPr>
          <p:cNvPr id="22" name="Connector 15"/>
          <p:cNvCxnSpPr/>
          <p:nvPr/>
        </p:nvCxnSpPr>
        <p:spPr>
          <a:xfrm>
            <a:off x="3985435" y="1123043"/>
            <a:ext cx="0" cy="284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3" name="레일"/>
          <p:cNvSpPr/>
          <p:nvPr/>
        </p:nvSpPr>
        <p:spPr>
          <a:xfrm>
            <a:off x="547826" y="1492904"/>
            <a:ext cx="580696" cy="12380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4" name="레일 태그"/>
          <p:cNvSpPr/>
          <p:nvPr/>
        </p:nvSpPr>
        <p:spPr>
          <a:xfrm>
            <a:off x="558376" y="1657252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5" name="레일 태그"/>
          <p:cNvSpPr>
            <a:spLocks noGrp="1"/>
          </p:cNvSpPr>
          <p:nvPr>
            <p:ph type="body" sz="quarter" idx="27"/>
          </p:nvPr>
        </p:nvSpPr>
        <p:spPr>
          <a:xfrm>
            <a:off x="558376" y="1657252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하천활용</a:t>
            </a:r>
          </a:p>
        </p:txBody>
      </p:sp>
      <p:sp>
        <p:nvSpPr>
          <p:cNvPr id="26" name="레일 라벨"/>
          <p:cNvSpPr>
            <a:spLocks noGrp="1"/>
          </p:cNvSpPr>
          <p:nvPr>
            <p:ph type="body" sz="quarter" idx="28"/>
          </p:nvPr>
        </p:nvSpPr>
        <p:spPr>
          <a:xfrm>
            <a:off x="547826" y="1843513"/>
            <a:ext cx="580696" cy="865565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국민사랑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러닝코스</a:t>
            </a:r>
          </a:p>
        </p:txBody>
      </p:sp>
      <p:sp>
        <p:nvSpPr>
          <p:cNvPr id="27" name="레일 삼각형"/>
          <p:cNvSpPr/>
          <p:nvPr/>
        </p:nvSpPr>
        <p:spPr>
          <a:xfrm>
            <a:off x="547826" y="1492904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단계"/>
          <p:cNvSpPr/>
          <p:nvPr/>
        </p:nvSpPr>
        <p:spPr>
          <a:xfrm>
            <a:off x="1161391" y="1514817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9" name="단계"/>
          <p:cNvSpPr>
            <a:spLocks noGrp="1"/>
          </p:cNvSpPr>
          <p:nvPr>
            <p:ph type="body" sz="quarter" idx="29"/>
          </p:nvPr>
        </p:nvSpPr>
        <p:spPr>
          <a:xfrm>
            <a:off x="1161391" y="1514817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코스 선정</a:t>
            </a:r>
          </a:p>
        </p:txBody>
      </p:sp>
      <p:sp>
        <p:nvSpPr>
          <p:cNvPr id="30" name="단계"/>
          <p:cNvSpPr/>
          <p:nvPr/>
        </p:nvSpPr>
        <p:spPr>
          <a:xfrm>
            <a:off x="3044087" y="1514817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1" name="단계"/>
          <p:cNvSpPr>
            <a:spLocks noGrp="1"/>
          </p:cNvSpPr>
          <p:nvPr>
            <p:ph type="body" sz="quarter" idx="30"/>
          </p:nvPr>
        </p:nvSpPr>
        <p:spPr>
          <a:xfrm>
            <a:off x="3044087" y="1514817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러닝코스 디자인</a:t>
            </a:r>
          </a:p>
        </p:txBody>
      </p:sp>
      <p:sp>
        <p:nvSpPr>
          <p:cNvPr id="32" name="단계"/>
          <p:cNvSpPr/>
          <p:nvPr/>
        </p:nvSpPr>
        <p:spPr>
          <a:xfrm>
            <a:off x="4926783" y="1514817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3" name="단계"/>
          <p:cNvSpPr>
            <a:spLocks noGrp="1"/>
          </p:cNvSpPr>
          <p:nvPr>
            <p:ph type="body" sz="quarter" idx="31"/>
          </p:nvPr>
        </p:nvSpPr>
        <p:spPr>
          <a:xfrm>
            <a:off x="4926783" y="1514817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하천 러닝 활성화</a:t>
            </a:r>
          </a:p>
        </p:txBody>
      </p:sp>
      <p:sp>
        <p:nvSpPr>
          <p:cNvPr id="34" name="단계 삼각형"/>
          <p:cNvSpPr/>
          <p:nvPr/>
        </p:nvSpPr>
        <p:spPr>
          <a:xfrm>
            <a:off x="3044086" y="1514817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5" name="단계 삼각형"/>
          <p:cNvSpPr/>
          <p:nvPr/>
        </p:nvSpPr>
        <p:spPr>
          <a:xfrm>
            <a:off x="4926782" y="1514817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2"/>
          </p:nvPr>
        </p:nvSpPr>
        <p:spPr>
          <a:xfrm>
            <a:off x="1172348" y="1766817"/>
            <a:ext cx="1860783" cy="958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 니즈 수집, 하천현장 조사 등 대상지 선정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보 인접 자전거 종주길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3"/>
          </p:nvPr>
        </p:nvSpPr>
        <p:spPr>
          <a:xfrm>
            <a:off x="3055043" y="1766817"/>
            <a:ext cx="1860783" cy="958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전문가로 구성된 디자인팀이 만드는 RiverRun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국민디자인단, 러닝크루 참여</a:t>
            </a:r>
          </a:p>
        </p:txBody>
      </p:sp>
      <p:cxnSp>
        <p:nvCxnSpPr>
          <p:cNvPr id="38" name="Connector 27"/>
          <p:cNvCxnSpPr/>
          <p:nvPr/>
        </p:nvCxnSpPr>
        <p:spPr>
          <a:xfrm>
            <a:off x="3044087" y="1799687"/>
            <a:ext cx="0" cy="892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9" name="칸 본문"/>
          <p:cNvSpPr>
            <a:spLocks noGrp="1"/>
          </p:cNvSpPr>
          <p:nvPr>
            <p:ph type="body" sz="quarter" idx="34"/>
          </p:nvPr>
        </p:nvSpPr>
        <p:spPr>
          <a:xfrm>
            <a:off x="4937739" y="1766817"/>
            <a:ext cx="1860783" cy="958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대표서비스로 자리잡을 수 있도록 지원 서비스 개발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편의성 러닝 편의 기반 노면정비 / 홍보 구간 포토존 / 안전 경사 안내판</a:t>
            </a:r>
          </a:p>
        </p:txBody>
      </p:sp>
      <p:cxnSp>
        <p:nvCxnSpPr>
          <p:cNvPr id="40" name="Connector 29"/>
          <p:cNvCxnSpPr/>
          <p:nvPr/>
        </p:nvCxnSpPr>
        <p:spPr>
          <a:xfrm>
            <a:off x="4926783" y="1799687"/>
            <a:ext cx="0" cy="892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1" name="주요성과 박스"/>
          <p:cNvSpPr/>
          <p:nvPr/>
        </p:nvSpPr>
        <p:spPr>
          <a:xfrm>
            <a:off x="536870" y="2824122"/>
            <a:ext cx="6300000" cy="524348"/>
          </a:xfrm>
          <a:prstGeom prst="rect">
            <a:avLst/>
          </a:prstGeom>
          <a:solidFill>
            <a:srgbClr val="EFF9FF"/>
          </a:solidFill>
          <a:ln w="12700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2" name="주요성과 라벨"/>
          <p:cNvSpPr/>
          <p:nvPr/>
        </p:nvSpPr>
        <p:spPr>
          <a:xfrm>
            <a:off x="569739" y="2856991"/>
            <a:ext cx="657391" cy="458609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3" name="주요성과 라벨"/>
          <p:cNvSpPr>
            <a:spLocks noGrp="1"/>
          </p:cNvSpPr>
          <p:nvPr>
            <p:ph type="body" sz="quarter" idx="35"/>
          </p:nvPr>
        </p:nvSpPr>
        <p:spPr>
          <a:xfrm>
            <a:off x="569739" y="2856991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주요성과</a:t>
            </a:r>
          </a:p>
        </p:txBody>
      </p:sp>
      <p:sp>
        <p:nvSpPr>
          <p:cNvPr id="44" name="주요성과 문구"/>
          <p:cNvSpPr>
            <a:spLocks noGrp="1"/>
          </p:cNvSpPr>
          <p:nvPr>
            <p:ph type="body" sz="quarter" idx="36"/>
          </p:nvPr>
        </p:nvSpPr>
        <p:spPr>
          <a:xfrm>
            <a:off x="1314783" y="2840557"/>
            <a:ext cx="5456348" cy="49147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재경부 국민체감 대국민서비스 과제 선정(’25.9)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* 리버런 참여자 1800명, 만족도 99% 달성</a:t>
            </a:r>
          </a:p>
        </p:txBody>
      </p:sp>
      <p:sp>
        <p:nvSpPr>
          <p:cNvPr id="45" name="표 외곽"/>
          <p:cNvSpPr/>
          <p:nvPr/>
        </p:nvSpPr>
        <p:spPr>
          <a:xfrm>
            <a:off x="536870" y="3392296"/>
            <a:ext cx="6300000" cy="149008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6" name="레일"/>
          <p:cNvSpPr/>
          <p:nvPr/>
        </p:nvSpPr>
        <p:spPr>
          <a:xfrm>
            <a:off x="547826" y="3408730"/>
            <a:ext cx="580696" cy="1457217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7" name="레일 태그"/>
          <p:cNvSpPr/>
          <p:nvPr/>
        </p:nvSpPr>
        <p:spPr>
          <a:xfrm>
            <a:off x="598624" y="3452557"/>
            <a:ext cx="479099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8" name="레일 태그"/>
          <p:cNvSpPr>
            <a:spLocks noGrp="1"/>
          </p:cNvSpPr>
          <p:nvPr>
            <p:ph type="body" sz="quarter" idx="37"/>
          </p:nvPr>
        </p:nvSpPr>
        <p:spPr>
          <a:xfrm>
            <a:off x="598624" y="3452557"/>
            <a:ext cx="479099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댐 활용</a:t>
            </a:r>
          </a:p>
        </p:txBody>
      </p:sp>
      <p:sp>
        <p:nvSpPr>
          <p:cNvPr id="49" name="레일 라벨"/>
          <p:cNvSpPr>
            <a:spLocks noGrp="1"/>
          </p:cNvSpPr>
          <p:nvPr>
            <p:ph type="body" sz="quarter" idx="38"/>
          </p:nvPr>
        </p:nvSpPr>
        <p:spPr>
          <a:xfrm>
            <a:off x="547826" y="3638817"/>
            <a:ext cx="580696" cy="1205217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 광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스펙트럼</a:t>
            </a:r>
          </a:p>
        </p:txBody>
      </p:sp>
      <p:sp>
        <p:nvSpPr>
          <p:cNvPr id="50" name="단계"/>
          <p:cNvSpPr/>
          <p:nvPr/>
        </p:nvSpPr>
        <p:spPr>
          <a:xfrm>
            <a:off x="1161391" y="3430643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1" name="단계"/>
          <p:cNvSpPr>
            <a:spLocks noGrp="1"/>
          </p:cNvSpPr>
          <p:nvPr>
            <p:ph type="body" sz="quarter" idx="39"/>
          </p:nvPr>
        </p:nvSpPr>
        <p:spPr>
          <a:xfrm>
            <a:off x="1161391" y="343064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협업체계 확립</a:t>
            </a:r>
          </a:p>
        </p:txBody>
      </p:sp>
      <p:sp>
        <p:nvSpPr>
          <p:cNvPr id="52" name="단계"/>
          <p:cNvSpPr/>
          <p:nvPr/>
        </p:nvSpPr>
        <p:spPr>
          <a:xfrm>
            <a:off x="3044087" y="3430643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3" name="단계"/>
          <p:cNvSpPr>
            <a:spLocks noGrp="1"/>
          </p:cNvSpPr>
          <p:nvPr>
            <p:ph type="body" sz="quarter" idx="40"/>
          </p:nvPr>
        </p:nvSpPr>
        <p:spPr>
          <a:xfrm>
            <a:off x="3044087" y="343064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대상지 선정</a:t>
            </a:r>
          </a:p>
        </p:txBody>
      </p:sp>
      <p:sp>
        <p:nvSpPr>
          <p:cNvPr id="54" name="단계"/>
          <p:cNvSpPr/>
          <p:nvPr/>
        </p:nvSpPr>
        <p:spPr>
          <a:xfrm>
            <a:off x="4926783" y="3430643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5" name="단계"/>
          <p:cNvSpPr>
            <a:spLocks noGrp="1"/>
          </p:cNvSpPr>
          <p:nvPr>
            <p:ph type="body" sz="quarter" idx="41"/>
          </p:nvPr>
        </p:nvSpPr>
        <p:spPr>
          <a:xfrm>
            <a:off x="4926783" y="343064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관광상품 기획</a:t>
            </a:r>
          </a:p>
        </p:txBody>
      </p:sp>
      <p:sp>
        <p:nvSpPr>
          <p:cNvPr id="56" name="단계 삼각형"/>
          <p:cNvSpPr/>
          <p:nvPr/>
        </p:nvSpPr>
        <p:spPr>
          <a:xfrm>
            <a:off x="3044086" y="3430643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7" name="단계 삼각형"/>
          <p:cNvSpPr/>
          <p:nvPr/>
        </p:nvSpPr>
        <p:spPr>
          <a:xfrm>
            <a:off x="4926782" y="343064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8" name="칸 본문"/>
          <p:cNvSpPr>
            <a:spLocks noGrp="1"/>
          </p:cNvSpPr>
          <p:nvPr>
            <p:ph type="body" sz="quarter" idx="42"/>
          </p:nvPr>
        </p:nvSpPr>
        <p:spPr>
          <a:xfrm>
            <a:off x="1172348" y="3682643"/>
            <a:ext cx="1860783" cy="117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지자체 ↔ K-water ↔ 철도공사 협의체 구축(’25.2)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지자체 지역 관광자원 제공 / K-water 프로그램 기획 / 철도공사 관광상품 기획·컨설팅·홍보</a:t>
            </a:r>
          </a:p>
        </p:txBody>
      </p:sp>
      <p:sp>
        <p:nvSpPr>
          <p:cNvPr id="59" name="칸 본문"/>
          <p:cNvSpPr>
            <a:spLocks noGrp="1"/>
          </p:cNvSpPr>
          <p:nvPr>
            <p:ph type="body" sz="quarter" idx="43"/>
          </p:nvPr>
        </p:nvSpPr>
        <p:spPr>
          <a:xfrm>
            <a:off x="3055043" y="3682643"/>
            <a:ext cx="1860783" cy="117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여행 상품 개발 위한 데이터 분석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인구감소지역 소재 댐(14개소) → 데이터 정밀분석 → 시범사업 대상 ‘영주댐’ 선정</a:t>
            </a:r>
          </a:p>
        </p:txBody>
      </p:sp>
      <p:cxnSp>
        <p:nvCxnSpPr>
          <p:cNvPr id="60" name="Connector 44"/>
          <p:cNvCxnSpPr/>
          <p:nvPr/>
        </p:nvCxnSpPr>
        <p:spPr>
          <a:xfrm>
            <a:off x="3044087" y="3715513"/>
            <a:ext cx="0" cy="1112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1" name="칸 본문"/>
          <p:cNvSpPr>
            <a:spLocks noGrp="1"/>
          </p:cNvSpPr>
          <p:nvPr>
            <p:ph type="body" sz="quarter" idx="44"/>
          </p:nvPr>
        </p:nvSpPr>
        <p:spPr>
          <a:xfrm>
            <a:off x="4937739" y="3682643"/>
            <a:ext cx="1860783" cy="117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댐·철도 영주댐 기차여행 상품 런칭(’25.5)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역사탐방 · 관광지투어 · 프로모션</a:t>
            </a:r>
          </a:p>
        </p:txBody>
      </p:sp>
      <p:cxnSp>
        <p:nvCxnSpPr>
          <p:cNvPr id="62" name="Connector 46"/>
          <p:cNvCxnSpPr/>
          <p:nvPr/>
        </p:nvCxnSpPr>
        <p:spPr>
          <a:xfrm>
            <a:off x="4926783" y="3715513"/>
            <a:ext cx="0" cy="1112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3" name="주요성과 박스"/>
          <p:cNvSpPr/>
          <p:nvPr/>
        </p:nvSpPr>
        <p:spPr>
          <a:xfrm>
            <a:off x="536870" y="4959078"/>
            <a:ext cx="6300000" cy="311478"/>
          </a:xfrm>
          <a:prstGeom prst="rect">
            <a:avLst/>
          </a:prstGeom>
          <a:solidFill>
            <a:srgbClr val="EFF9FF"/>
          </a:solidFill>
          <a:ln w="12700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4" name="주요성과 라벨"/>
          <p:cNvSpPr/>
          <p:nvPr/>
        </p:nvSpPr>
        <p:spPr>
          <a:xfrm>
            <a:off x="569739" y="4991948"/>
            <a:ext cx="657391" cy="245739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65" name="주요성과 라벨"/>
          <p:cNvSpPr>
            <a:spLocks noGrp="1"/>
          </p:cNvSpPr>
          <p:nvPr>
            <p:ph type="body" sz="quarter" idx="45"/>
          </p:nvPr>
        </p:nvSpPr>
        <p:spPr>
          <a:xfrm>
            <a:off x="569739" y="4991948"/>
            <a:ext cx="657391" cy="245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주요성과</a:t>
            </a:r>
          </a:p>
        </p:txBody>
      </p:sp>
      <p:sp>
        <p:nvSpPr>
          <p:cNvPr id="66" name="주요성과 문구"/>
          <p:cNvSpPr>
            <a:spLocks noGrp="1"/>
          </p:cNvSpPr>
          <p:nvPr>
            <p:ph type="body" sz="quarter" idx="46"/>
          </p:nvPr>
        </p:nvSpPr>
        <p:spPr>
          <a:xfrm>
            <a:off x="1314783" y="4975513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댐 주변 지역 매력도 어필, 영주댐 첫 상품 31명 판매, 추가런칭 섬진강·밀양댐 170명 판매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24 서사 · 환경진단 → 기존 해석 → 설립목적 재정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새 정책 출범에 따른 중장기 전략 기본 나침반 재설정</a:t>
            </a:r>
          </a:p>
        </p:txBody>
      </p:sp>
      <p:sp>
        <p:nvSpPr>
          <p:cNvPr id="14" name="번호 띠 칩"/>
          <p:cNvSpPr/>
          <p:nvPr/>
        </p:nvSpPr>
        <p:spPr>
          <a:xfrm>
            <a:off x="6451874" y="843652"/>
            <a:ext cx="505517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번호 띠 칩"/>
          <p:cNvSpPr>
            <a:spLocks noGrp="1"/>
          </p:cNvSpPr>
          <p:nvPr>
            <p:ph type="body" sz="quarter" idx="22"/>
          </p:nvPr>
        </p:nvSpPr>
        <p:spPr>
          <a:xfrm>
            <a:off x="6451874" y="843652"/>
            <a:ext cx="50551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6" name="형광 밑줄"/>
          <p:cNvSpPr/>
          <p:nvPr/>
        </p:nvSpPr>
        <p:spPr>
          <a:xfrm>
            <a:off x="723130" y="1358609"/>
            <a:ext cx="3037015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소제목"/>
          <p:cNvSpPr>
            <a:spLocks noGrp="1"/>
          </p:cNvSpPr>
          <p:nvPr>
            <p:ph type="body" sz="quarter" idx="23"/>
          </p:nvPr>
        </p:nvSpPr>
        <p:spPr>
          <a:xfrm>
            <a:off x="723130" y="120521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경영환경 변화와 국정과제 기반 설립목적 재정의</a:t>
            </a:r>
          </a:p>
        </p:txBody>
      </p:sp>
      <p:sp>
        <p:nvSpPr>
          <p:cNvPr id="18" name="패널 외곽"/>
          <p:cNvSpPr/>
          <p:nvPr/>
        </p:nvSpPr>
        <p:spPr>
          <a:xfrm>
            <a:off x="723130" y="1512000"/>
            <a:ext cx="6300000" cy="2640522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레일"/>
          <p:cNvSpPr/>
          <p:nvPr/>
        </p:nvSpPr>
        <p:spPr>
          <a:xfrm>
            <a:off x="734087" y="1522957"/>
            <a:ext cx="580696" cy="26186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4"/>
          </p:nvPr>
        </p:nvSpPr>
        <p:spPr>
          <a:xfrm>
            <a:off x="734087" y="1522957"/>
            <a:ext cx="580696" cy="261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진단</a:t>
            </a:r>
          </a:p>
        </p:txBody>
      </p:sp>
      <p:sp>
        <p:nvSpPr>
          <p:cNvPr id="21" name="소제목 띠"/>
          <p:cNvSpPr/>
          <p:nvPr/>
        </p:nvSpPr>
        <p:spPr>
          <a:xfrm>
            <a:off x="1369565" y="1544870"/>
            <a:ext cx="2103652" cy="262957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2" name="띠 제목"/>
          <p:cNvSpPr>
            <a:spLocks noGrp="1"/>
          </p:cNvSpPr>
          <p:nvPr>
            <p:ph type="body" sz="quarter" idx="25"/>
          </p:nvPr>
        </p:nvSpPr>
        <p:spPr>
          <a:xfrm>
            <a:off x="1643478" y="1544870"/>
            <a:ext cx="1796870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기후재난의 현실화</a:t>
            </a:r>
          </a:p>
        </p:txBody>
      </p:sp>
      <p:sp>
        <p:nvSpPr>
          <p:cNvPr id="23" name="아이콘 칸"/>
          <p:cNvSpPr/>
          <p:nvPr/>
        </p:nvSpPr>
        <p:spPr>
          <a:xfrm>
            <a:off x="1391478" y="1566783"/>
            <a:ext cx="197217" cy="219130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3600" rIns="3600" tIns="0" bIns="0" wrap="square"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/>
            </a:r>
          </a:p>
        </p:txBody>
      </p:sp>
      <p:sp>
        <p:nvSpPr>
          <p:cNvPr id="24" name="소제목 띠"/>
          <p:cNvSpPr/>
          <p:nvPr/>
        </p:nvSpPr>
        <p:spPr>
          <a:xfrm>
            <a:off x="4886609" y="1544870"/>
            <a:ext cx="2103652" cy="262957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1080000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5" name="띠 제목"/>
          <p:cNvSpPr>
            <a:spLocks noGrp="1"/>
          </p:cNvSpPr>
          <p:nvPr>
            <p:ph type="body" sz="quarter" idx="26"/>
          </p:nvPr>
        </p:nvSpPr>
        <p:spPr>
          <a:xfrm>
            <a:off x="4919478" y="1544870"/>
            <a:ext cx="1796870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정부 핵심 국정과제</a:t>
            </a:r>
          </a:p>
        </p:txBody>
      </p:sp>
      <p:sp>
        <p:nvSpPr>
          <p:cNvPr id="26" name="아이콘 칸"/>
          <p:cNvSpPr/>
          <p:nvPr/>
        </p:nvSpPr>
        <p:spPr>
          <a:xfrm>
            <a:off x="6771130" y="1566783"/>
            <a:ext cx="197217" cy="219130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3600" rIns="3600" tIns="0" bIns="0" wrap="square"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/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27"/>
          </p:nvPr>
        </p:nvSpPr>
        <p:spPr>
          <a:xfrm>
            <a:off x="1369565" y="1829739"/>
            <a:ext cx="2103652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t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기후변화 한계선 돌파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상승 전망치 보충 문구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극한 가뭄·홍수 빈번·심화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관리 복잡성·불확실성 가중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8"/>
          </p:nvPr>
        </p:nvSpPr>
        <p:spPr>
          <a:xfrm>
            <a:off x="4886609" y="1829739"/>
            <a:ext cx="2103652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t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기후안전망 구축·재생e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AI 강국 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국가 핵심 전략산업 육성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공공기관의 선도적 역할 당부</a:t>
            </a:r>
          </a:p>
        </p:txBody>
      </p:sp>
      <p:sp>
        <p:nvSpPr>
          <p:cNvPr id="29" name="사진 칸"/>
          <p:cNvSpPr/>
          <p:nvPr/>
        </p:nvSpPr>
        <p:spPr>
          <a:xfrm>
            <a:off x="3506087" y="1709217"/>
            <a:ext cx="662870" cy="1040870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30" name="사진 칸"/>
          <p:cNvSpPr>
            <a:spLocks noGrp="1"/>
          </p:cNvSpPr>
          <p:nvPr>
            <p:ph type="body" sz="quarter" idx="29"/>
          </p:nvPr>
        </p:nvSpPr>
        <p:spPr>
          <a:xfrm>
            <a:off x="3506087" y="1709217"/>
            <a:ext cx="662870" cy="104087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31" name="태그"/>
          <p:cNvSpPr/>
          <p:nvPr/>
        </p:nvSpPr>
        <p:spPr>
          <a:xfrm>
            <a:off x="3571826" y="1577739"/>
            <a:ext cx="548640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2" name="태그"/>
          <p:cNvSpPr>
            <a:spLocks noGrp="1"/>
          </p:cNvSpPr>
          <p:nvPr>
            <p:ph type="body" sz="quarter" idx="30"/>
          </p:nvPr>
        </p:nvSpPr>
        <p:spPr>
          <a:xfrm>
            <a:off x="3571826" y="1577739"/>
            <a:ext cx="548640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기후위기</a:t>
            </a:r>
          </a:p>
        </p:txBody>
      </p:sp>
      <p:sp>
        <p:nvSpPr>
          <p:cNvPr id="33" name="사진 칸"/>
          <p:cNvSpPr/>
          <p:nvPr/>
        </p:nvSpPr>
        <p:spPr>
          <a:xfrm>
            <a:off x="4190870" y="1709217"/>
            <a:ext cx="662870" cy="1040870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34" name="사진 칸"/>
          <p:cNvSpPr>
            <a:spLocks noGrp="1"/>
          </p:cNvSpPr>
          <p:nvPr>
            <p:ph type="body" sz="quarter" idx="31"/>
          </p:nvPr>
        </p:nvSpPr>
        <p:spPr>
          <a:xfrm>
            <a:off x="4190870" y="1709217"/>
            <a:ext cx="662870" cy="104087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35" name="태그"/>
          <p:cNvSpPr/>
          <p:nvPr/>
        </p:nvSpPr>
        <p:spPr>
          <a:xfrm>
            <a:off x="4256609" y="1577739"/>
            <a:ext cx="716951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6" name="태그"/>
          <p:cNvSpPr>
            <a:spLocks noGrp="1"/>
          </p:cNvSpPr>
          <p:nvPr>
            <p:ph type="body" sz="quarter" idx="32"/>
          </p:nvPr>
        </p:nvSpPr>
        <p:spPr>
          <a:xfrm>
            <a:off x="4256609" y="1577739"/>
            <a:ext cx="716951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새 정부 출범</a:t>
            </a:r>
          </a:p>
        </p:txBody>
      </p:sp>
      <p:cxnSp>
        <p:nvCxnSpPr>
          <p:cNvPr id="37" name="Connector 25"/>
          <p:cNvCxnSpPr/>
          <p:nvPr/>
        </p:nvCxnSpPr>
        <p:spPr>
          <a:xfrm>
            <a:off x="1369565" y="2793913"/>
            <a:ext cx="5620696" cy="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8" name="삼각 화살표"/>
          <p:cNvSpPr/>
          <p:nvPr/>
        </p:nvSpPr>
        <p:spPr>
          <a:xfrm>
            <a:off x="2366608" y="2761043"/>
            <a:ext cx="131478" cy="65739"/>
          </a:xfrm>
          <a:custGeom>
            <a:avLst/>
            <a:gdLst/>
            <a:ahLst/>
            <a:cxnLst/>
            <a:rect l="l" t="t" r="r" b="b"/>
            <a:pathLst>
              <a:path w="131478" h="65739">
                <a:moveTo>
                  <a:pt x="0" y="0"/>
                </a:moveTo>
                <a:lnTo>
                  <a:pt x="131478" y="0"/>
                </a:lnTo>
                <a:lnTo>
                  <a:pt x="65739" y="65739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9" name="삼각 화살표"/>
          <p:cNvSpPr/>
          <p:nvPr/>
        </p:nvSpPr>
        <p:spPr>
          <a:xfrm>
            <a:off x="5861739" y="2761043"/>
            <a:ext cx="131478" cy="65739"/>
          </a:xfrm>
          <a:custGeom>
            <a:avLst/>
            <a:gdLst/>
            <a:ahLst/>
            <a:cxnLst/>
            <a:rect l="l" t="t" r="r" b="b"/>
            <a:pathLst>
              <a:path w="131478" h="65739">
                <a:moveTo>
                  <a:pt x="0" y="0"/>
                </a:moveTo>
                <a:lnTo>
                  <a:pt x="131478" y="0"/>
                </a:lnTo>
                <a:lnTo>
                  <a:pt x="65739" y="65739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0" name="소제목 띠"/>
          <p:cNvSpPr/>
          <p:nvPr/>
        </p:nvSpPr>
        <p:spPr>
          <a:xfrm>
            <a:off x="1369565" y="2837739"/>
            <a:ext cx="2103652" cy="262957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1" name="띠 제목"/>
          <p:cNvSpPr>
            <a:spLocks noGrp="1"/>
          </p:cNvSpPr>
          <p:nvPr>
            <p:ph type="body" sz="quarter" idx="33"/>
          </p:nvPr>
        </p:nvSpPr>
        <p:spPr>
          <a:xfrm>
            <a:off x="1643478" y="2837739"/>
            <a:ext cx="1796870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AI 초가속 성장 + 물 수요 급증</a:t>
            </a:r>
          </a:p>
        </p:txBody>
      </p:sp>
      <p:sp>
        <p:nvSpPr>
          <p:cNvPr id="42" name="아이콘 칸"/>
          <p:cNvSpPr/>
          <p:nvPr/>
        </p:nvSpPr>
        <p:spPr>
          <a:xfrm>
            <a:off x="1391478" y="2859652"/>
            <a:ext cx="197217" cy="219130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3600" rIns="3600" tIns="0" bIns="0" wrap="square"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/>
            </a:r>
          </a:p>
        </p:txBody>
      </p:sp>
      <p:sp>
        <p:nvSpPr>
          <p:cNvPr id="43" name="소제목 띠"/>
          <p:cNvSpPr/>
          <p:nvPr/>
        </p:nvSpPr>
        <p:spPr>
          <a:xfrm>
            <a:off x="4886609" y="2837739"/>
            <a:ext cx="2103652" cy="262957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1080000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4" name="띠 제목"/>
          <p:cNvSpPr>
            <a:spLocks noGrp="1"/>
          </p:cNvSpPr>
          <p:nvPr>
            <p:ph type="body" sz="quarter" idx="34"/>
          </p:nvPr>
        </p:nvSpPr>
        <p:spPr>
          <a:xfrm>
            <a:off x="4919478" y="2837739"/>
            <a:ext cx="1796870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공공기관 혁신 방향</a:t>
            </a:r>
          </a:p>
        </p:txBody>
      </p:sp>
      <p:sp>
        <p:nvSpPr>
          <p:cNvPr id="45" name="아이콘 칸"/>
          <p:cNvSpPr/>
          <p:nvPr/>
        </p:nvSpPr>
        <p:spPr>
          <a:xfrm>
            <a:off x="6771130" y="2859652"/>
            <a:ext cx="197217" cy="219130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3600" rIns="3600" tIns="0" bIns="0" wrap="square"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/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35"/>
          </p:nvPr>
        </p:nvSpPr>
        <p:spPr>
          <a:xfrm>
            <a:off x="1369565" y="3122609"/>
            <a:ext cx="2103652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t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첨단산업 물 사용량 폭증 전망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반도체 산단, 데이터센터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물산업에도 AI 활용 확대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36"/>
          </p:nvPr>
        </p:nvSpPr>
        <p:spPr>
          <a:xfrm>
            <a:off x="4886609" y="3122609"/>
            <a:ext cx="2103652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t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‘성장과 민생에 기여하는 혁신’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공공기관 본연의 역할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윤리·ESG·안전경영 강화</a:t>
            </a:r>
          </a:p>
        </p:txBody>
      </p:sp>
      <p:sp>
        <p:nvSpPr>
          <p:cNvPr id="48" name="사진 칸"/>
          <p:cNvSpPr/>
          <p:nvPr/>
        </p:nvSpPr>
        <p:spPr>
          <a:xfrm>
            <a:off x="3506087" y="3002087"/>
            <a:ext cx="662870" cy="1040870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49" name="사진 칸"/>
          <p:cNvSpPr>
            <a:spLocks noGrp="1"/>
          </p:cNvSpPr>
          <p:nvPr>
            <p:ph type="body" sz="quarter" idx="37"/>
          </p:nvPr>
        </p:nvSpPr>
        <p:spPr>
          <a:xfrm>
            <a:off x="3506087" y="3002087"/>
            <a:ext cx="662870" cy="104087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50" name="태그"/>
          <p:cNvSpPr/>
          <p:nvPr/>
        </p:nvSpPr>
        <p:spPr>
          <a:xfrm>
            <a:off x="3571826" y="2870609"/>
            <a:ext cx="548640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51" name="태그"/>
          <p:cNvSpPr>
            <a:spLocks noGrp="1"/>
          </p:cNvSpPr>
          <p:nvPr>
            <p:ph type="body" sz="quarter" idx="38"/>
          </p:nvPr>
        </p:nvSpPr>
        <p:spPr>
          <a:xfrm>
            <a:off x="3571826" y="2870609"/>
            <a:ext cx="548640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산업동향</a:t>
            </a:r>
          </a:p>
        </p:txBody>
      </p:sp>
      <p:sp>
        <p:nvSpPr>
          <p:cNvPr id="52" name="사진 칸"/>
          <p:cNvSpPr/>
          <p:nvPr/>
        </p:nvSpPr>
        <p:spPr>
          <a:xfrm>
            <a:off x="4190870" y="3002087"/>
            <a:ext cx="662870" cy="1040870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53" name="사진 칸"/>
          <p:cNvSpPr>
            <a:spLocks noGrp="1"/>
          </p:cNvSpPr>
          <p:nvPr>
            <p:ph type="body" sz="quarter" idx="39"/>
          </p:nvPr>
        </p:nvSpPr>
        <p:spPr>
          <a:xfrm>
            <a:off x="4190870" y="3002087"/>
            <a:ext cx="662870" cy="104087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54" name="태그"/>
          <p:cNvSpPr/>
          <p:nvPr/>
        </p:nvSpPr>
        <p:spPr>
          <a:xfrm>
            <a:off x="4256609" y="2870609"/>
            <a:ext cx="797448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55" name="태그"/>
          <p:cNvSpPr>
            <a:spLocks noGrp="1"/>
          </p:cNvSpPr>
          <p:nvPr>
            <p:ph type="body" sz="quarter" idx="40"/>
          </p:nvPr>
        </p:nvSpPr>
        <p:spPr>
          <a:xfrm>
            <a:off x="4256609" y="2870609"/>
            <a:ext cx="797448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바라는 기업상</a:t>
            </a:r>
          </a:p>
        </p:txBody>
      </p:sp>
      <p:sp>
        <p:nvSpPr>
          <p:cNvPr id="56" name="배너"/>
          <p:cNvSpPr/>
          <p:nvPr/>
        </p:nvSpPr>
        <p:spPr>
          <a:xfrm>
            <a:off x="723130" y="4196347"/>
            <a:ext cx="6300000" cy="273913"/>
          </a:xfrm>
          <a:custGeom>
            <a:avLst/>
            <a:gdLst/>
            <a:ahLst/>
            <a:cxnLst/>
            <a:rect l="l" t="t" r="r" b="b"/>
            <a:pathLst>
              <a:path w="6300000" h="273913">
                <a:moveTo>
                  <a:pt x="0" y="0"/>
                </a:moveTo>
                <a:lnTo>
                  <a:pt x="6300000" y="0"/>
                </a:lnTo>
                <a:lnTo>
                  <a:pt x="6234261" y="273913"/>
                </a:lnTo>
                <a:lnTo>
                  <a:pt x="65739" y="273913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7" name="태그"/>
          <p:cNvSpPr/>
          <p:nvPr/>
        </p:nvSpPr>
        <p:spPr>
          <a:xfrm>
            <a:off x="942261" y="4251130"/>
            <a:ext cx="520732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58" name="태그"/>
          <p:cNvSpPr>
            <a:spLocks noGrp="1"/>
          </p:cNvSpPr>
          <p:nvPr>
            <p:ph type="body" sz="quarter" idx="41"/>
          </p:nvPr>
        </p:nvSpPr>
        <p:spPr>
          <a:xfrm>
            <a:off x="942261" y="4251130"/>
            <a:ext cx="520732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Insight</a:t>
            </a:r>
          </a:p>
        </p:txBody>
      </p:sp>
      <p:sp>
        <p:nvSpPr>
          <p:cNvPr id="59" name="배너 글"/>
          <p:cNvSpPr>
            <a:spLocks noGrp="1"/>
          </p:cNvSpPr>
          <p:nvPr>
            <p:ph type="body" sz="quarter" idx="42"/>
          </p:nvPr>
        </p:nvSpPr>
        <p:spPr>
          <a:xfrm>
            <a:off x="1517775" y="4196348"/>
            <a:ext cx="5341007" cy="273913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400" b="1" spc="-7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복합적 환경변화와 시대적 요구 부응을 위해 ‘기관의 정체성’ 재정의 필요</a:t>
            </a:r>
          </a:p>
        </p:txBody>
      </p:sp>
      <p:sp>
        <p:nvSpPr>
          <p:cNvPr id="60" name="틀"/>
          <p:cNvSpPr/>
          <p:nvPr/>
        </p:nvSpPr>
        <p:spPr>
          <a:xfrm>
            <a:off x="723130" y="4536000"/>
            <a:ext cx="6300000" cy="3067826"/>
          </a:xfrm>
          <a:prstGeom prst="rect">
            <a:avLst/>
          </a:prstGeom>
          <a:solidFill>
            <a:srgbClr val="EFF9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1" name="상단 칸"/>
          <p:cNvSpPr/>
          <p:nvPr/>
        </p:nvSpPr>
        <p:spPr>
          <a:xfrm>
            <a:off x="1369565" y="4568870"/>
            <a:ext cx="2700783" cy="20817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62" name="상단 칸"/>
          <p:cNvSpPr>
            <a:spLocks noGrp="1"/>
          </p:cNvSpPr>
          <p:nvPr>
            <p:ph type="body" sz="quarter" idx="43"/>
          </p:nvPr>
        </p:nvSpPr>
        <p:spPr>
          <a:xfrm>
            <a:off x="1369565" y="4568870"/>
            <a:ext cx="2700783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설립 근거 법률 제1조(목적)</a:t>
            </a:r>
          </a:p>
        </p:txBody>
      </p:sp>
      <p:sp>
        <p:nvSpPr>
          <p:cNvPr id="63" name="상단 칸"/>
          <p:cNvSpPr/>
          <p:nvPr/>
        </p:nvSpPr>
        <p:spPr>
          <a:xfrm>
            <a:off x="4289478" y="4568870"/>
            <a:ext cx="2700783" cy="20817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64" name="상단 칸"/>
          <p:cNvSpPr>
            <a:spLocks noGrp="1"/>
          </p:cNvSpPr>
          <p:nvPr>
            <p:ph type="body" sz="quarter" idx="44"/>
          </p:nvPr>
        </p:nvSpPr>
        <p:spPr>
          <a:xfrm>
            <a:off x="4289478" y="4568870"/>
            <a:ext cx="2700783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기관 정관 제2조(목적)</a:t>
            </a:r>
          </a:p>
        </p:txBody>
      </p:sp>
      <p:sp>
        <p:nvSpPr>
          <p:cNvPr id="65" name="더하기"/>
          <p:cNvSpPr/>
          <p:nvPr/>
        </p:nvSpPr>
        <p:spPr>
          <a:xfrm>
            <a:off x="4081304" y="4579826"/>
            <a:ext cx="197217" cy="186261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66" name="더하기"/>
          <p:cNvSpPr>
            <a:spLocks noGrp="1"/>
          </p:cNvSpPr>
          <p:nvPr>
            <p:ph type="body" sz="quarter" idx="45"/>
          </p:nvPr>
        </p:nvSpPr>
        <p:spPr>
          <a:xfrm>
            <a:off x="4081304" y="4579826"/>
            <a:ext cx="197217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+</a:t>
            </a:r>
          </a:p>
        </p:txBody>
      </p:sp>
      <p:sp>
        <p:nvSpPr>
          <p:cNvPr id="67" name="레일"/>
          <p:cNvSpPr/>
          <p:nvPr/>
        </p:nvSpPr>
        <p:spPr>
          <a:xfrm>
            <a:off x="734087" y="4809913"/>
            <a:ext cx="580696" cy="1095652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8" name="레일"/>
          <p:cNvSpPr>
            <a:spLocks noGrp="1"/>
          </p:cNvSpPr>
          <p:nvPr>
            <p:ph type="body" sz="quarter" idx="46"/>
          </p:nvPr>
        </p:nvSpPr>
        <p:spPr>
          <a:xfrm>
            <a:off x="734087" y="4809913"/>
            <a:ext cx="580696" cy="109565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해석</a:t>
            </a:r>
          </a:p>
        </p:txBody>
      </p:sp>
      <p:sp>
        <p:nvSpPr>
          <p:cNvPr id="69" name="카드"/>
          <p:cNvSpPr/>
          <p:nvPr/>
        </p:nvSpPr>
        <p:spPr>
          <a:xfrm>
            <a:off x="1369565" y="4809913"/>
            <a:ext cx="1858957" cy="591652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0" name="아이콘 칸"/>
          <p:cNvSpPr/>
          <p:nvPr/>
        </p:nvSpPr>
        <p:spPr>
          <a:xfrm>
            <a:off x="1402435" y="4864696"/>
            <a:ext cx="416348" cy="482087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3600" rIns="3600" tIns="0" bIns="0" wrap="square"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/>
            </a:r>
          </a:p>
        </p:txBody>
      </p:sp>
      <p:sp>
        <p:nvSpPr>
          <p:cNvPr id="71" name="카드 글"/>
          <p:cNvSpPr>
            <a:spLocks noGrp="1"/>
          </p:cNvSpPr>
          <p:nvPr>
            <p:ph type="body" sz="quarter" idx="47"/>
          </p:nvPr>
        </p:nvSpPr>
        <p:spPr>
          <a:xfrm>
            <a:off x="1851652" y="4809913"/>
            <a:ext cx="1354957" cy="59165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수자원의
종합적 개발관리</a:t>
            </a:r>
          </a:p>
        </p:txBody>
      </p:sp>
      <p:sp>
        <p:nvSpPr>
          <p:cNvPr id="72" name="카드"/>
          <p:cNvSpPr/>
          <p:nvPr/>
        </p:nvSpPr>
        <p:spPr>
          <a:xfrm>
            <a:off x="3250435" y="4809913"/>
            <a:ext cx="1858957" cy="591652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3" name="아이콘 칸"/>
          <p:cNvSpPr/>
          <p:nvPr/>
        </p:nvSpPr>
        <p:spPr>
          <a:xfrm>
            <a:off x="3283304" y="4864696"/>
            <a:ext cx="416348" cy="482087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3600" rIns="3600" tIns="0" bIns="0" wrap="square"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/>
            </a:r>
          </a:p>
        </p:txBody>
      </p:sp>
      <p:sp>
        <p:nvSpPr>
          <p:cNvPr id="74" name="카드 글"/>
          <p:cNvSpPr>
            <a:spLocks noGrp="1"/>
          </p:cNvSpPr>
          <p:nvPr>
            <p:ph type="body" sz="quarter" idx="48"/>
          </p:nvPr>
        </p:nvSpPr>
        <p:spPr>
          <a:xfrm>
            <a:off x="3732522" y="4809913"/>
            <a:ext cx="1354957" cy="59165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안정적 용수공급
및 수질개선</a:t>
            </a:r>
          </a:p>
        </p:txBody>
      </p:sp>
      <p:sp>
        <p:nvSpPr>
          <p:cNvPr id="75" name="카드"/>
          <p:cNvSpPr/>
          <p:nvPr/>
        </p:nvSpPr>
        <p:spPr>
          <a:xfrm>
            <a:off x="5131304" y="4809913"/>
            <a:ext cx="1858957" cy="591652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6" name="아이콘 칸"/>
          <p:cNvSpPr/>
          <p:nvPr/>
        </p:nvSpPr>
        <p:spPr>
          <a:xfrm>
            <a:off x="5164174" y="4864696"/>
            <a:ext cx="416348" cy="482087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3600" rIns="3600" tIns="0" bIns="0" wrap="square"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/>
            </a:r>
          </a:p>
        </p:txBody>
      </p:sp>
      <p:sp>
        <p:nvSpPr>
          <p:cNvPr id="77" name="카드 글"/>
          <p:cNvSpPr>
            <a:spLocks noGrp="1"/>
          </p:cNvSpPr>
          <p:nvPr>
            <p:ph type="body" sz="quarter" idx="49"/>
          </p:nvPr>
        </p:nvSpPr>
        <p:spPr>
          <a:xfrm>
            <a:off x="5613391" y="4809913"/>
            <a:ext cx="1354957" cy="59165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국민생활 향상
및 공공복리 증진</a:t>
            </a:r>
          </a:p>
        </p:txBody>
      </p:sp>
      <p:sp>
        <p:nvSpPr>
          <p:cNvPr id="78" name="설명 글"/>
          <p:cNvSpPr>
            <a:spLocks noGrp="1"/>
          </p:cNvSpPr>
          <p:nvPr>
            <p:ph type="body" sz="quarter" idx="50"/>
          </p:nvPr>
        </p:nvSpPr>
        <p:spPr>
          <a:xfrm>
            <a:off x="1369565" y="5423478"/>
            <a:ext cx="1858957" cy="438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spc="-55" dirty="0">
                <a:solidFill>
                  <a:srgbClr val="000359"/>
                </a:solidFill>
                <a:latin typeface="Pretendard"/>
                <a:ea typeface="Pretendard"/>
              </a:rPr>
              <a:t>물문제 주도적 해결 및
선제적 대응방안 모색</a:t>
            </a:r>
          </a:p>
        </p:txBody>
      </p:sp>
      <p:sp>
        <p:nvSpPr>
          <p:cNvPr id="79" name="설명 글"/>
          <p:cNvSpPr>
            <a:spLocks noGrp="1"/>
          </p:cNvSpPr>
          <p:nvPr>
            <p:ph type="body" sz="quarter" idx="51"/>
          </p:nvPr>
        </p:nvSpPr>
        <p:spPr>
          <a:xfrm>
            <a:off x="3250435" y="5423478"/>
            <a:ext cx="1858957" cy="438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spc="-55" dirty="0">
                <a:solidFill>
                  <a:srgbClr val="000359"/>
                </a:solidFill>
                <a:latin typeface="Pretendard"/>
                <a:ea typeface="Pretendard"/>
              </a:rPr>
              <a:t>국민·지역·산업에 연계
안정적 용수 제공</a:t>
            </a:r>
          </a:p>
        </p:txBody>
      </p:sp>
      <p:cxnSp>
        <p:nvCxnSpPr>
          <p:cNvPr id="80" name="Connector 59"/>
          <p:cNvCxnSpPr/>
          <p:nvPr/>
        </p:nvCxnSpPr>
        <p:spPr>
          <a:xfrm>
            <a:off x="3239478" y="5456348"/>
            <a:ext cx="0" cy="372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1" name="설명 글"/>
          <p:cNvSpPr>
            <a:spLocks noGrp="1"/>
          </p:cNvSpPr>
          <p:nvPr>
            <p:ph type="body" sz="quarter" idx="52"/>
          </p:nvPr>
        </p:nvSpPr>
        <p:spPr>
          <a:xfrm>
            <a:off x="5131304" y="5423478"/>
            <a:ext cx="1858957" cy="438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spc="-55" dirty="0">
                <a:solidFill>
                  <a:srgbClr val="000359"/>
                </a:solidFill>
                <a:latin typeface="Pretendard"/>
                <a:ea typeface="Pretendard"/>
              </a:rPr>
              <a:t>산업 생태계 육성, 안전·
사회적 책임 경영 선도</a:t>
            </a:r>
          </a:p>
        </p:txBody>
      </p:sp>
      <p:cxnSp>
        <p:nvCxnSpPr>
          <p:cNvPr id="82" name="Connector 61"/>
          <p:cNvCxnSpPr/>
          <p:nvPr/>
        </p:nvCxnSpPr>
        <p:spPr>
          <a:xfrm>
            <a:off x="5120348" y="5456348"/>
            <a:ext cx="0" cy="372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3" name="레일"/>
          <p:cNvSpPr/>
          <p:nvPr/>
        </p:nvSpPr>
        <p:spPr>
          <a:xfrm>
            <a:off x="734087" y="5927478"/>
            <a:ext cx="580696" cy="712174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84" name="레일"/>
          <p:cNvSpPr>
            <a:spLocks noGrp="1"/>
          </p:cNvSpPr>
          <p:nvPr>
            <p:ph type="body" sz="quarter" idx="53"/>
          </p:nvPr>
        </p:nvSpPr>
        <p:spPr>
          <a:xfrm>
            <a:off x="734087" y="5927478"/>
            <a:ext cx="580696" cy="712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변화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필요성</a:t>
            </a:r>
          </a:p>
        </p:txBody>
      </p:sp>
      <p:sp>
        <p:nvSpPr>
          <p:cNvPr id="85" name="열 머리"/>
          <p:cNvSpPr/>
          <p:nvPr/>
        </p:nvSpPr>
        <p:spPr>
          <a:xfrm>
            <a:off x="1369565" y="5927478"/>
            <a:ext cx="1858957" cy="20817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86" name="열 머리"/>
          <p:cNvSpPr>
            <a:spLocks noGrp="1"/>
          </p:cNvSpPr>
          <p:nvPr>
            <p:ph type="body" sz="quarter" idx="54"/>
          </p:nvPr>
        </p:nvSpPr>
        <p:spPr>
          <a:xfrm>
            <a:off x="1369565" y="5927478"/>
            <a:ext cx="185895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3대 강국 ＋ 재생e 100GW</a:t>
            </a:r>
          </a:p>
        </p:txBody>
      </p:sp>
      <p:sp>
        <p:nvSpPr>
          <p:cNvPr id="87" name="열 머리"/>
          <p:cNvSpPr/>
          <p:nvPr/>
        </p:nvSpPr>
        <p:spPr>
          <a:xfrm>
            <a:off x="3250435" y="5927478"/>
            <a:ext cx="1858957" cy="20817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88" name="열 머리"/>
          <p:cNvSpPr>
            <a:spLocks noGrp="1"/>
          </p:cNvSpPr>
          <p:nvPr>
            <p:ph type="body" sz="quarter" idx="55"/>
          </p:nvPr>
        </p:nvSpPr>
        <p:spPr>
          <a:xfrm>
            <a:off x="3250435" y="5927478"/>
            <a:ext cx="185895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반도체 수출 1,700억불</a:t>
            </a:r>
          </a:p>
        </p:txBody>
      </p:sp>
      <p:sp>
        <p:nvSpPr>
          <p:cNvPr id="89" name="열 머리"/>
          <p:cNvSpPr/>
          <p:nvPr/>
        </p:nvSpPr>
        <p:spPr>
          <a:xfrm>
            <a:off x="5131304" y="5927478"/>
            <a:ext cx="1858957" cy="20817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90" name="열 머리"/>
          <p:cNvSpPr>
            <a:spLocks noGrp="1"/>
          </p:cNvSpPr>
          <p:nvPr>
            <p:ph type="body" sz="quarter" idx="56"/>
          </p:nvPr>
        </p:nvSpPr>
        <p:spPr>
          <a:xfrm>
            <a:off x="5131304" y="5927478"/>
            <a:ext cx="185895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녹색 전환 및 ESG·안전 최우선</a:t>
            </a:r>
          </a:p>
        </p:txBody>
      </p:sp>
      <p:sp>
        <p:nvSpPr>
          <p:cNvPr id="91" name="설명 글"/>
          <p:cNvSpPr>
            <a:spLocks noGrp="1"/>
          </p:cNvSpPr>
          <p:nvPr>
            <p:ph type="body" sz="quarter" idx="57"/>
          </p:nvPr>
        </p:nvSpPr>
        <p:spPr>
          <a:xfrm>
            <a:off x="1369565" y="6157565"/>
            <a:ext cx="1858957" cy="438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spc="-55" dirty="0">
                <a:solidFill>
                  <a:srgbClr val="000359"/>
                </a:solidFill>
                <a:latin typeface="Pretendard"/>
                <a:ea typeface="Pretendard"/>
              </a:rPr>
              <a:t>기후변화 적응·완화를 위한
물관리 인프라 대전환 요구</a:t>
            </a:r>
          </a:p>
        </p:txBody>
      </p:sp>
      <p:sp>
        <p:nvSpPr>
          <p:cNvPr id="92" name="설명 글"/>
          <p:cNvSpPr>
            <a:spLocks noGrp="1"/>
          </p:cNvSpPr>
          <p:nvPr>
            <p:ph type="body" sz="quarter" idx="58"/>
          </p:nvPr>
        </p:nvSpPr>
        <p:spPr>
          <a:xfrm>
            <a:off x="3250435" y="6157565"/>
            <a:ext cx="1858957" cy="438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spc="-55" dirty="0">
                <a:solidFill>
                  <a:srgbClr val="000359"/>
                </a:solidFill>
                <a:latin typeface="Pretendard"/>
                <a:ea typeface="Pretendard"/>
              </a:rPr>
              <a:t>AI 전환 등 다양한 첨단용수
폭발적 수요 적기 대응</a:t>
            </a:r>
          </a:p>
        </p:txBody>
      </p:sp>
      <p:cxnSp>
        <p:nvCxnSpPr>
          <p:cNvPr id="93" name="Connector 68"/>
          <p:cNvCxnSpPr/>
          <p:nvPr/>
        </p:nvCxnSpPr>
        <p:spPr>
          <a:xfrm>
            <a:off x="3239478" y="6190435"/>
            <a:ext cx="0" cy="372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94" name="설명 글"/>
          <p:cNvSpPr>
            <a:spLocks noGrp="1"/>
          </p:cNvSpPr>
          <p:nvPr>
            <p:ph type="body" sz="quarter" idx="59"/>
          </p:nvPr>
        </p:nvSpPr>
        <p:spPr>
          <a:xfrm>
            <a:off x="5131304" y="6157565"/>
            <a:ext cx="1858957" cy="438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spc="-55" dirty="0">
                <a:solidFill>
                  <a:srgbClr val="000359"/>
                </a:solidFill>
                <a:latin typeface="Pretendard"/>
                <a:ea typeface="Pretendard"/>
              </a:rPr>
              <a:t>기후테크 도약 교두보 필요
국민 눈높이 체질혁신</a:t>
            </a:r>
          </a:p>
        </p:txBody>
      </p:sp>
      <p:cxnSp>
        <p:nvCxnSpPr>
          <p:cNvPr id="95" name="Connector 70"/>
          <p:cNvCxnSpPr/>
          <p:nvPr/>
        </p:nvCxnSpPr>
        <p:spPr>
          <a:xfrm>
            <a:off x="5120348" y="6190435"/>
            <a:ext cx="0" cy="372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96" name="레일"/>
          <p:cNvSpPr/>
          <p:nvPr/>
        </p:nvSpPr>
        <p:spPr>
          <a:xfrm>
            <a:off x="734087" y="6661565"/>
            <a:ext cx="580696" cy="635478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97" name="레일"/>
          <p:cNvSpPr>
            <a:spLocks noGrp="1"/>
          </p:cNvSpPr>
          <p:nvPr>
            <p:ph type="body" sz="quarter" idx="60"/>
          </p:nvPr>
        </p:nvSpPr>
        <p:spPr>
          <a:xfrm>
            <a:off x="734087" y="6661565"/>
            <a:ext cx="580696" cy="63547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설립목적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재정의</a:t>
            </a:r>
          </a:p>
        </p:txBody>
      </p:sp>
      <p:sp>
        <p:nvSpPr>
          <p:cNvPr id="98" name="카드"/>
          <p:cNvSpPr/>
          <p:nvPr/>
        </p:nvSpPr>
        <p:spPr>
          <a:xfrm>
            <a:off x="1369565" y="6661565"/>
            <a:ext cx="1858957" cy="591652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9" name="아이콘 칸"/>
          <p:cNvSpPr/>
          <p:nvPr/>
        </p:nvSpPr>
        <p:spPr>
          <a:xfrm>
            <a:off x="1402435" y="6716348"/>
            <a:ext cx="416348" cy="482087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3600" rIns="3600" tIns="0" bIns="0" wrap="square"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/>
            </a:r>
          </a:p>
        </p:txBody>
      </p:sp>
      <p:sp>
        <p:nvSpPr>
          <p:cNvPr id="100" name="카드 글"/>
          <p:cNvSpPr>
            <a:spLocks noGrp="1"/>
          </p:cNvSpPr>
          <p:nvPr>
            <p:ph type="body" sz="quarter" idx="61"/>
          </p:nvPr>
        </p:nvSpPr>
        <p:spPr>
          <a:xfrm>
            <a:off x="1851652" y="6661565"/>
            <a:ext cx="1354957" cy="59165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AI 기반 기후안전망
구축 및 에너지 전환</a:t>
            </a:r>
          </a:p>
        </p:txBody>
      </p:sp>
      <p:sp>
        <p:nvSpPr>
          <p:cNvPr id="101" name="카드"/>
          <p:cNvSpPr/>
          <p:nvPr/>
        </p:nvSpPr>
        <p:spPr>
          <a:xfrm>
            <a:off x="3250435" y="6661565"/>
            <a:ext cx="1858957" cy="591652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2" name="아이콘 칸"/>
          <p:cNvSpPr/>
          <p:nvPr/>
        </p:nvSpPr>
        <p:spPr>
          <a:xfrm>
            <a:off x="3283304" y="6716348"/>
            <a:ext cx="416348" cy="482087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3600" rIns="3600" tIns="0" bIns="0" wrap="square"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/>
            </a:r>
          </a:p>
        </p:txBody>
      </p:sp>
      <p:sp>
        <p:nvSpPr>
          <p:cNvPr id="103" name="카드 글"/>
          <p:cNvSpPr>
            <a:spLocks noGrp="1"/>
          </p:cNvSpPr>
          <p:nvPr>
            <p:ph type="body" sz="quarter" idx="62"/>
          </p:nvPr>
        </p:nvSpPr>
        <p:spPr>
          <a:xfrm>
            <a:off x="3732522" y="6661565"/>
            <a:ext cx="1354957" cy="59165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국가 첨단산업 성장 견인
고순도 산업용수 공급</a:t>
            </a:r>
          </a:p>
        </p:txBody>
      </p:sp>
      <p:sp>
        <p:nvSpPr>
          <p:cNvPr id="104" name="카드"/>
          <p:cNvSpPr/>
          <p:nvPr/>
        </p:nvSpPr>
        <p:spPr>
          <a:xfrm>
            <a:off x="5131304" y="6661565"/>
            <a:ext cx="1858957" cy="591652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5" name="아이콘 칸"/>
          <p:cNvSpPr/>
          <p:nvPr/>
        </p:nvSpPr>
        <p:spPr>
          <a:xfrm>
            <a:off x="5164174" y="6716348"/>
            <a:ext cx="416348" cy="482087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3600" rIns="3600" tIns="0" bIns="0" wrap="square"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/>
            </a:r>
          </a:p>
        </p:txBody>
      </p:sp>
      <p:sp>
        <p:nvSpPr>
          <p:cNvPr id="106" name="카드 글"/>
          <p:cNvSpPr>
            <a:spLocks noGrp="1"/>
          </p:cNvSpPr>
          <p:nvPr>
            <p:ph type="body" sz="quarter" idx="63"/>
          </p:nvPr>
        </p:nvSpPr>
        <p:spPr>
          <a:xfrm>
            <a:off x="5613391" y="6661565"/>
            <a:ext cx="1354957" cy="59165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K-기후테크 육성 및
국민체감형 ESG·안전경영</a:t>
            </a:r>
          </a:p>
        </p:txBody>
      </p:sp>
      <p:sp>
        <p:nvSpPr>
          <p:cNvPr id="107" name="요약 바"/>
          <p:cNvSpPr/>
          <p:nvPr/>
        </p:nvSpPr>
        <p:spPr>
          <a:xfrm>
            <a:off x="1369565" y="7340870"/>
            <a:ext cx="5620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108" name="요약 바"/>
          <p:cNvSpPr>
            <a:spLocks noGrp="1"/>
          </p:cNvSpPr>
          <p:nvPr>
            <p:ph type="body" sz="quarter" idx="64"/>
          </p:nvPr>
        </p:nvSpPr>
        <p:spPr>
          <a:xfrm>
            <a:off x="1369565" y="7340870"/>
            <a:ext cx="5620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법상 설립목적에 더해 국정과제 및 미래성장을 선도하는 주체로 재정의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25 서사 · 이해관계자 재분류 → 가치전략 진단 → 체계 롤링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3238989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사업별 이해관계자 재분류 및 기존 체계 유효성 검증</a:t>
            </a:r>
          </a:p>
        </p:txBody>
      </p:sp>
      <p:sp>
        <p:nvSpPr>
          <p:cNvPr id="12" name="패널 외곽"/>
          <p:cNvSpPr/>
          <p:nvPr/>
        </p:nvSpPr>
        <p:spPr>
          <a:xfrm>
            <a:off x="536870" y="1073739"/>
            <a:ext cx="6300000" cy="249808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3" name="레일"/>
          <p:cNvSpPr/>
          <p:nvPr/>
        </p:nvSpPr>
        <p:spPr>
          <a:xfrm>
            <a:off x="547826" y="1084696"/>
            <a:ext cx="580696" cy="2476174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4" name="레일"/>
          <p:cNvSpPr>
            <a:spLocks noGrp="1"/>
          </p:cNvSpPr>
          <p:nvPr>
            <p:ph type="body" sz="quarter" idx="21"/>
          </p:nvPr>
        </p:nvSpPr>
        <p:spPr>
          <a:xfrm>
            <a:off x="547826" y="1084696"/>
            <a:ext cx="580696" cy="2476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이해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관계자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재분류</a:t>
            </a:r>
          </a:p>
        </p:txBody>
      </p:sp>
      <p:sp>
        <p:nvSpPr>
          <p:cNvPr id="15" name="배너"/>
          <p:cNvSpPr/>
          <p:nvPr/>
        </p:nvSpPr>
        <p:spPr>
          <a:xfrm>
            <a:off x="1183304" y="1106609"/>
            <a:ext cx="5620696" cy="219130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16" name="배너"/>
          <p:cNvSpPr>
            <a:spLocks noGrp="1"/>
          </p:cNvSpPr>
          <p:nvPr>
            <p:ph type="body" sz="quarter" idx="22"/>
          </p:nvPr>
        </p:nvSpPr>
        <p:spPr>
          <a:xfrm>
            <a:off x="1183304" y="1106609"/>
            <a:ext cx="5620696" cy="219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이해관계자를 수혜자 중심에서 전문·산업파트너까지 확장</a:t>
            </a:r>
          </a:p>
        </p:txBody>
      </p:sp>
      <p:sp>
        <p:nvSpPr>
          <p:cNvPr id="17" name="단계"/>
          <p:cNvSpPr/>
          <p:nvPr/>
        </p:nvSpPr>
        <p:spPr>
          <a:xfrm>
            <a:off x="1183304" y="1358609"/>
            <a:ext cx="1405174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8" name="단계"/>
          <p:cNvSpPr>
            <a:spLocks noGrp="1"/>
          </p:cNvSpPr>
          <p:nvPr>
            <p:ph type="body" sz="quarter" idx="23"/>
          </p:nvPr>
        </p:nvSpPr>
        <p:spPr>
          <a:xfrm>
            <a:off x="1183304" y="1358609"/>
            <a:ext cx="1405174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소통 진단(5월)</a:t>
            </a:r>
          </a:p>
        </p:txBody>
      </p:sp>
      <p:sp>
        <p:nvSpPr>
          <p:cNvPr id="19" name="단계"/>
          <p:cNvSpPr/>
          <p:nvPr/>
        </p:nvSpPr>
        <p:spPr>
          <a:xfrm>
            <a:off x="2588478" y="1358609"/>
            <a:ext cx="1405174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0" name="단계"/>
          <p:cNvSpPr>
            <a:spLocks noGrp="1"/>
          </p:cNvSpPr>
          <p:nvPr>
            <p:ph type="body" sz="quarter" idx="24"/>
          </p:nvPr>
        </p:nvSpPr>
        <p:spPr>
          <a:xfrm>
            <a:off x="2588478" y="1358609"/>
            <a:ext cx="1405174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직원 의견수렴(5월)</a:t>
            </a:r>
          </a:p>
        </p:txBody>
      </p:sp>
      <p:sp>
        <p:nvSpPr>
          <p:cNvPr id="21" name="단계"/>
          <p:cNvSpPr/>
          <p:nvPr/>
        </p:nvSpPr>
        <p:spPr>
          <a:xfrm>
            <a:off x="3993652" y="1358609"/>
            <a:ext cx="1405174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2" name="단계"/>
          <p:cNvSpPr>
            <a:spLocks noGrp="1"/>
          </p:cNvSpPr>
          <p:nvPr>
            <p:ph type="body" sz="quarter" idx="25"/>
          </p:nvPr>
        </p:nvSpPr>
        <p:spPr>
          <a:xfrm>
            <a:off x="3993652" y="1358609"/>
            <a:ext cx="1405174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전문가 컨설팅(6월)</a:t>
            </a:r>
          </a:p>
        </p:txBody>
      </p:sp>
      <p:sp>
        <p:nvSpPr>
          <p:cNvPr id="23" name="단계"/>
          <p:cNvSpPr/>
          <p:nvPr/>
        </p:nvSpPr>
        <p:spPr>
          <a:xfrm>
            <a:off x="5398826" y="1358609"/>
            <a:ext cx="1405174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4" name="단계"/>
          <p:cNvSpPr>
            <a:spLocks noGrp="1"/>
          </p:cNvSpPr>
          <p:nvPr>
            <p:ph type="body" sz="quarter" idx="26"/>
          </p:nvPr>
        </p:nvSpPr>
        <p:spPr>
          <a:xfrm>
            <a:off x="5398826" y="1358609"/>
            <a:ext cx="1405174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재구성(7월)</a:t>
            </a:r>
          </a:p>
        </p:txBody>
      </p:sp>
      <p:sp>
        <p:nvSpPr>
          <p:cNvPr id="25" name="단계 삼각형"/>
          <p:cNvSpPr/>
          <p:nvPr/>
        </p:nvSpPr>
        <p:spPr>
          <a:xfrm>
            <a:off x="2588478" y="1358608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6" name="단계 삼각형"/>
          <p:cNvSpPr/>
          <p:nvPr/>
        </p:nvSpPr>
        <p:spPr>
          <a:xfrm>
            <a:off x="3993652" y="1358608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7" name="단계 삼각형"/>
          <p:cNvSpPr/>
          <p:nvPr/>
        </p:nvSpPr>
        <p:spPr>
          <a:xfrm>
            <a:off x="5398826" y="1358608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카드"/>
          <p:cNvSpPr/>
          <p:nvPr/>
        </p:nvSpPr>
        <p:spPr>
          <a:xfrm>
            <a:off x="1183304" y="1632522"/>
            <a:ext cx="2788435" cy="909391"/>
          </a:xfrm>
          <a:prstGeom prst="rect">
            <a:avLst/>
          </a:prstGeom>
          <a:solidFill>
            <a:srgbClr val="FFFF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9" name="아이콘 칸"/>
          <p:cNvSpPr/>
          <p:nvPr/>
        </p:nvSpPr>
        <p:spPr>
          <a:xfrm>
            <a:off x="1216174" y="1676348"/>
            <a:ext cx="427304" cy="427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3600" rIns="3600" tIns="0" bIns="0" wrap="square"/>
          <a:lstStyle/>
          <a:p/>
        </p:txBody>
      </p:sp>
      <p:sp>
        <p:nvSpPr>
          <p:cNvPr id="30" name="아이콘 칸"/>
          <p:cNvSpPr>
            <a:spLocks noGrp="1"/>
          </p:cNvSpPr>
          <p:nvPr>
            <p:ph type="body" sz="quarter" idx="27"/>
          </p:nvPr>
        </p:nvSpPr>
        <p:spPr>
          <a:xfrm>
            <a:off x="1216174" y="1676348"/>
            <a:ext cx="427304" cy="427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3600" rIns="3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분야 A</a:t>
            </a:r>
          </a:p>
        </p:txBody>
      </p:sp>
      <p:sp>
        <p:nvSpPr>
          <p:cNvPr id="31" name="구분 칩"/>
          <p:cNvSpPr/>
          <p:nvPr/>
        </p:nvSpPr>
        <p:spPr>
          <a:xfrm>
            <a:off x="1687304" y="1676348"/>
            <a:ext cx="284870" cy="186261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2" name="구분 칩"/>
          <p:cNvSpPr>
            <a:spLocks noGrp="1"/>
          </p:cNvSpPr>
          <p:nvPr>
            <p:ph type="body" sz="quarter" idx="28"/>
          </p:nvPr>
        </p:nvSpPr>
        <p:spPr>
          <a:xfrm>
            <a:off x="1687304" y="1676348"/>
            <a:ext cx="284870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</a:t>
            </a:r>
          </a:p>
        </p:txBody>
      </p:sp>
      <p:sp>
        <p:nvSpPr>
          <p:cNvPr id="33" name="칩 줄 글"/>
          <p:cNvSpPr>
            <a:spLocks noGrp="1"/>
          </p:cNvSpPr>
          <p:nvPr>
            <p:ph type="body" sz="quarter" idx="29"/>
          </p:nvPr>
        </p:nvSpPr>
        <p:spPr>
          <a:xfrm>
            <a:off x="2005043" y="1676348"/>
            <a:ext cx="1944783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국민, 주변 주민·지자체</a:t>
            </a:r>
          </a:p>
        </p:txBody>
      </p:sp>
      <p:sp>
        <p:nvSpPr>
          <p:cNvPr id="34" name="구분 칩"/>
          <p:cNvSpPr/>
          <p:nvPr/>
        </p:nvSpPr>
        <p:spPr>
          <a:xfrm>
            <a:off x="1687304" y="1895478"/>
            <a:ext cx="284870" cy="186261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5" name="구분 칩"/>
          <p:cNvSpPr>
            <a:spLocks noGrp="1"/>
          </p:cNvSpPr>
          <p:nvPr>
            <p:ph type="body" sz="quarter" idx="30"/>
          </p:nvPr>
        </p:nvSpPr>
        <p:spPr>
          <a:xfrm>
            <a:off x="1687304" y="1895478"/>
            <a:ext cx="284870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확장</a:t>
            </a:r>
          </a:p>
        </p:txBody>
      </p:sp>
      <p:sp>
        <p:nvSpPr>
          <p:cNvPr id="36" name="칩 줄 글"/>
          <p:cNvSpPr>
            <a:spLocks noGrp="1"/>
          </p:cNvSpPr>
          <p:nvPr>
            <p:ph type="body" sz="quarter" idx="31"/>
          </p:nvPr>
        </p:nvSpPr>
        <p:spPr>
          <a:xfrm>
            <a:off x="2005043" y="1895478"/>
            <a:ext cx="1944783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글로벌기업, 전문가 등</a:t>
            </a:r>
          </a:p>
        </p:txBody>
      </p:sp>
      <p:sp>
        <p:nvSpPr>
          <p:cNvPr id="37" name="카드 요약"/>
          <p:cNvSpPr/>
          <p:nvPr/>
        </p:nvSpPr>
        <p:spPr>
          <a:xfrm>
            <a:off x="1205217" y="2158435"/>
            <a:ext cx="2744609" cy="361565"/>
          </a:xfrm>
          <a:prstGeom prst="rect">
            <a:avLst/>
          </a:prstGeom>
          <a:solidFill>
            <a:srgbClr val="EFF9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38" name="카드 요약"/>
          <p:cNvSpPr>
            <a:spLocks noGrp="1"/>
          </p:cNvSpPr>
          <p:nvPr>
            <p:ph type="body" sz="quarter" idx="32"/>
          </p:nvPr>
        </p:nvSpPr>
        <p:spPr>
          <a:xfrm>
            <a:off x="1205217" y="2158435"/>
            <a:ext cx="2744609" cy="361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핵심 파트너 등 추가</a:t>
            </a:r>
          </a:p>
        </p:txBody>
      </p:sp>
      <p:sp>
        <p:nvSpPr>
          <p:cNvPr id="39" name="카드"/>
          <p:cNvSpPr/>
          <p:nvPr/>
        </p:nvSpPr>
        <p:spPr>
          <a:xfrm>
            <a:off x="4015565" y="1632522"/>
            <a:ext cx="2788435" cy="909391"/>
          </a:xfrm>
          <a:prstGeom prst="rect">
            <a:avLst/>
          </a:prstGeom>
          <a:solidFill>
            <a:srgbClr val="FFFF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0" name="아이콘 칸"/>
          <p:cNvSpPr/>
          <p:nvPr/>
        </p:nvSpPr>
        <p:spPr>
          <a:xfrm>
            <a:off x="4048435" y="1676348"/>
            <a:ext cx="427304" cy="427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3600" rIns="3600" tIns="0" bIns="0" wrap="square"/>
          <a:lstStyle/>
          <a:p/>
        </p:txBody>
      </p:sp>
      <p:sp>
        <p:nvSpPr>
          <p:cNvPr id="41" name="아이콘 칸"/>
          <p:cNvSpPr>
            <a:spLocks noGrp="1"/>
          </p:cNvSpPr>
          <p:nvPr>
            <p:ph type="body" sz="quarter" idx="33"/>
          </p:nvPr>
        </p:nvSpPr>
        <p:spPr>
          <a:xfrm>
            <a:off x="4048435" y="1676348"/>
            <a:ext cx="427304" cy="427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3600" rIns="3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분야 B</a:t>
            </a:r>
          </a:p>
        </p:txBody>
      </p:sp>
      <p:sp>
        <p:nvSpPr>
          <p:cNvPr id="42" name="구분 칩"/>
          <p:cNvSpPr/>
          <p:nvPr/>
        </p:nvSpPr>
        <p:spPr>
          <a:xfrm>
            <a:off x="4519565" y="1676348"/>
            <a:ext cx="284870" cy="186261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3" name="구분 칩"/>
          <p:cNvSpPr>
            <a:spLocks noGrp="1"/>
          </p:cNvSpPr>
          <p:nvPr>
            <p:ph type="body" sz="quarter" idx="34"/>
          </p:nvPr>
        </p:nvSpPr>
        <p:spPr>
          <a:xfrm>
            <a:off x="4519565" y="1676348"/>
            <a:ext cx="284870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</a:t>
            </a:r>
          </a:p>
        </p:txBody>
      </p:sp>
      <p:sp>
        <p:nvSpPr>
          <p:cNvPr id="44" name="칩 줄 글"/>
          <p:cNvSpPr>
            <a:spLocks noGrp="1"/>
          </p:cNvSpPr>
          <p:nvPr>
            <p:ph type="body" sz="quarter" idx="35"/>
          </p:nvPr>
        </p:nvSpPr>
        <p:spPr>
          <a:xfrm>
            <a:off x="4837304" y="1676348"/>
            <a:ext cx="1944783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국민, 기업, 지자체</a:t>
            </a:r>
          </a:p>
        </p:txBody>
      </p:sp>
      <p:sp>
        <p:nvSpPr>
          <p:cNvPr id="45" name="구분 칩"/>
          <p:cNvSpPr/>
          <p:nvPr/>
        </p:nvSpPr>
        <p:spPr>
          <a:xfrm>
            <a:off x="4519565" y="1895478"/>
            <a:ext cx="284870" cy="186261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6" name="구분 칩"/>
          <p:cNvSpPr>
            <a:spLocks noGrp="1"/>
          </p:cNvSpPr>
          <p:nvPr>
            <p:ph type="body" sz="quarter" idx="36"/>
          </p:nvPr>
        </p:nvSpPr>
        <p:spPr>
          <a:xfrm>
            <a:off x="4519565" y="1895478"/>
            <a:ext cx="284870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확장</a:t>
            </a:r>
          </a:p>
        </p:txBody>
      </p:sp>
      <p:sp>
        <p:nvSpPr>
          <p:cNvPr id="47" name="칩 줄 글"/>
          <p:cNvSpPr>
            <a:spLocks noGrp="1"/>
          </p:cNvSpPr>
          <p:nvPr>
            <p:ph type="body" sz="quarter" idx="37"/>
          </p:nvPr>
        </p:nvSpPr>
        <p:spPr>
          <a:xfrm>
            <a:off x="4837304" y="1895478"/>
            <a:ext cx="1944783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협력기업, 신산업 기업 등</a:t>
            </a:r>
          </a:p>
        </p:txBody>
      </p:sp>
      <p:sp>
        <p:nvSpPr>
          <p:cNvPr id="48" name="카드 요약"/>
          <p:cNvSpPr/>
          <p:nvPr/>
        </p:nvSpPr>
        <p:spPr>
          <a:xfrm>
            <a:off x="4037478" y="2158435"/>
            <a:ext cx="2744609" cy="361565"/>
          </a:xfrm>
          <a:prstGeom prst="rect">
            <a:avLst/>
          </a:prstGeom>
          <a:solidFill>
            <a:srgbClr val="EFF9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49" name="카드 요약"/>
          <p:cNvSpPr>
            <a:spLocks noGrp="1"/>
          </p:cNvSpPr>
          <p:nvPr>
            <p:ph type="body" sz="quarter" idx="38"/>
          </p:nvPr>
        </p:nvSpPr>
        <p:spPr>
          <a:xfrm>
            <a:off x="4037478" y="2158435"/>
            <a:ext cx="2744609" cy="361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공급 파트너까지 확대</a:t>
            </a:r>
          </a:p>
        </p:txBody>
      </p:sp>
      <p:sp>
        <p:nvSpPr>
          <p:cNvPr id="50" name="카드"/>
          <p:cNvSpPr/>
          <p:nvPr/>
        </p:nvSpPr>
        <p:spPr>
          <a:xfrm>
            <a:off x="1183304" y="2574783"/>
            <a:ext cx="2788435" cy="909391"/>
          </a:xfrm>
          <a:prstGeom prst="rect">
            <a:avLst/>
          </a:prstGeom>
          <a:solidFill>
            <a:srgbClr val="FFFF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1" name="아이콘 칸"/>
          <p:cNvSpPr/>
          <p:nvPr/>
        </p:nvSpPr>
        <p:spPr>
          <a:xfrm>
            <a:off x="1216174" y="2618609"/>
            <a:ext cx="427304" cy="427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3600" rIns="3600" tIns="0" bIns="0" wrap="square"/>
          <a:lstStyle/>
          <a:p/>
        </p:txBody>
      </p:sp>
      <p:sp>
        <p:nvSpPr>
          <p:cNvPr id="52" name="아이콘 칸"/>
          <p:cNvSpPr>
            <a:spLocks noGrp="1"/>
          </p:cNvSpPr>
          <p:nvPr>
            <p:ph type="body" sz="quarter" idx="39"/>
          </p:nvPr>
        </p:nvSpPr>
        <p:spPr>
          <a:xfrm>
            <a:off x="1216174" y="2618609"/>
            <a:ext cx="427304" cy="427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3600" rIns="3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분야 C</a:t>
            </a:r>
          </a:p>
        </p:txBody>
      </p:sp>
      <p:sp>
        <p:nvSpPr>
          <p:cNvPr id="53" name="구분 칩"/>
          <p:cNvSpPr/>
          <p:nvPr/>
        </p:nvSpPr>
        <p:spPr>
          <a:xfrm>
            <a:off x="1687304" y="2618609"/>
            <a:ext cx="284870" cy="186261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54" name="구분 칩"/>
          <p:cNvSpPr>
            <a:spLocks noGrp="1"/>
          </p:cNvSpPr>
          <p:nvPr>
            <p:ph type="body" sz="quarter" idx="40"/>
          </p:nvPr>
        </p:nvSpPr>
        <p:spPr>
          <a:xfrm>
            <a:off x="1687304" y="2618609"/>
            <a:ext cx="284870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</a:t>
            </a:r>
          </a:p>
        </p:txBody>
      </p:sp>
      <p:sp>
        <p:nvSpPr>
          <p:cNvPr id="55" name="칩 줄 글"/>
          <p:cNvSpPr>
            <a:spLocks noGrp="1"/>
          </p:cNvSpPr>
          <p:nvPr>
            <p:ph type="body" sz="quarter" idx="41"/>
          </p:nvPr>
        </p:nvSpPr>
        <p:spPr>
          <a:xfrm>
            <a:off x="2005043" y="2618609"/>
            <a:ext cx="1944783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주민·건설기업·지자체</a:t>
            </a:r>
          </a:p>
        </p:txBody>
      </p:sp>
      <p:sp>
        <p:nvSpPr>
          <p:cNvPr id="56" name="구분 칩"/>
          <p:cNvSpPr/>
          <p:nvPr/>
        </p:nvSpPr>
        <p:spPr>
          <a:xfrm>
            <a:off x="1687304" y="2837739"/>
            <a:ext cx="284870" cy="186261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57" name="구분 칩"/>
          <p:cNvSpPr>
            <a:spLocks noGrp="1"/>
          </p:cNvSpPr>
          <p:nvPr>
            <p:ph type="body" sz="quarter" idx="42"/>
          </p:nvPr>
        </p:nvSpPr>
        <p:spPr>
          <a:xfrm>
            <a:off x="1687304" y="2837739"/>
            <a:ext cx="284870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확장</a:t>
            </a:r>
          </a:p>
        </p:txBody>
      </p:sp>
      <p:sp>
        <p:nvSpPr>
          <p:cNvPr id="58" name="칩 줄 글"/>
          <p:cNvSpPr>
            <a:spLocks noGrp="1"/>
          </p:cNvSpPr>
          <p:nvPr>
            <p:ph type="body" sz="quarter" idx="43"/>
          </p:nvPr>
        </p:nvSpPr>
        <p:spPr>
          <a:xfrm>
            <a:off x="2005043" y="2837739"/>
            <a:ext cx="1944783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정부, 수요기업 등</a:t>
            </a:r>
          </a:p>
        </p:txBody>
      </p:sp>
      <p:sp>
        <p:nvSpPr>
          <p:cNvPr id="59" name="카드 요약"/>
          <p:cNvSpPr/>
          <p:nvPr/>
        </p:nvSpPr>
        <p:spPr>
          <a:xfrm>
            <a:off x="1205217" y="3100696"/>
            <a:ext cx="2744609" cy="361565"/>
          </a:xfrm>
          <a:prstGeom prst="rect">
            <a:avLst/>
          </a:prstGeom>
          <a:solidFill>
            <a:srgbClr val="EFF9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60" name="카드 요약"/>
          <p:cNvSpPr>
            <a:spLocks noGrp="1"/>
          </p:cNvSpPr>
          <p:nvPr>
            <p:ph type="body" sz="quarter" idx="44"/>
          </p:nvPr>
        </p:nvSpPr>
        <p:spPr>
          <a:xfrm>
            <a:off x="1205217" y="3100696"/>
            <a:ext cx="2744609" cy="361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정부·기업 협력 필요</a:t>
            </a:r>
          </a:p>
        </p:txBody>
      </p:sp>
      <p:sp>
        <p:nvSpPr>
          <p:cNvPr id="61" name="카드"/>
          <p:cNvSpPr/>
          <p:nvPr/>
        </p:nvSpPr>
        <p:spPr>
          <a:xfrm>
            <a:off x="4015565" y="2574783"/>
            <a:ext cx="2788435" cy="909391"/>
          </a:xfrm>
          <a:prstGeom prst="rect">
            <a:avLst/>
          </a:prstGeom>
          <a:solidFill>
            <a:srgbClr val="FFFF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2" name="아이콘 칸"/>
          <p:cNvSpPr/>
          <p:nvPr/>
        </p:nvSpPr>
        <p:spPr>
          <a:xfrm>
            <a:off x="4048435" y="2618609"/>
            <a:ext cx="427304" cy="427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3600" rIns="3600" tIns="0" bIns="0" wrap="square"/>
          <a:lstStyle/>
          <a:p/>
        </p:txBody>
      </p:sp>
      <p:sp>
        <p:nvSpPr>
          <p:cNvPr id="63" name="아이콘 칸"/>
          <p:cNvSpPr>
            <a:spLocks noGrp="1"/>
          </p:cNvSpPr>
          <p:nvPr>
            <p:ph type="body" sz="quarter" idx="45"/>
          </p:nvPr>
        </p:nvSpPr>
        <p:spPr>
          <a:xfrm>
            <a:off x="4048435" y="2618609"/>
            <a:ext cx="427304" cy="427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3600" rIns="3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분야 D</a:t>
            </a:r>
          </a:p>
        </p:txBody>
      </p:sp>
      <p:sp>
        <p:nvSpPr>
          <p:cNvPr id="64" name="구분 칩"/>
          <p:cNvSpPr/>
          <p:nvPr/>
        </p:nvSpPr>
        <p:spPr>
          <a:xfrm>
            <a:off x="4519565" y="2618609"/>
            <a:ext cx="284870" cy="186261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65" name="구분 칩"/>
          <p:cNvSpPr>
            <a:spLocks noGrp="1"/>
          </p:cNvSpPr>
          <p:nvPr>
            <p:ph type="body" sz="quarter" idx="46"/>
          </p:nvPr>
        </p:nvSpPr>
        <p:spPr>
          <a:xfrm>
            <a:off x="4519565" y="2618609"/>
            <a:ext cx="284870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</a:t>
            </a:r>
          </a:p>
        </p:txBody>
      </p:sp>
      <p:sp>
        <p:nvSpPr>
          <p:cNvPr id="66" name="칩 줄 글"/>
          <p:cNvSpPr>
            <a:spLocks noGrp="1"/>
          </p:cNvSpPr>
          <p:nvPr>
            <p:ph type="body" sz="quarter" idx="47"/>
          </p:nvPr>
        </p:nvSpPr>
        <p:spPr>
          <a:xfrm>
            <a:off x="4837304" y="2618609"/>
            <a:ext cx="1944783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유관기관, 지자체, 기업</a:t>
            </a:r>
          </a:p>
        </p:txBody>
      </p:sp>
      <p:sp>
        <p:nvSpPr>
          <p:cNvPr id="67" name="구분 칩"/>
          <p:cNvSpPr/>
          <p:nvPr/>
        </p:nvSpPr>
        <p:spPr>
          <a:xfrm>
            <a:off x="4519565" y="2837739"/>
            <a:ext cx="284870" cy="186261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68" name="구분 칩"/>
          <p:cNvSpPr>
            <a:spLocks noGrp="1"/>
          </p:cNvSpPr>
          <p:nvPr>
            <p:ph type="body" sz="quarter" idx="48"/>
          </p:nvPr>
        </p:nvSpPr>
        <p:spPr>
          <a:xfrm>
            <a:off x="4519565" y="2837739"/>
            <a:ext cx="284870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확장</a:t>
            </a:r>
          </a:p>
        </p:txBody>
      </p:sp>
      <p:sp>
        <p:nvSpPr>
          <p:cNvPr id="69" name="칩 줄 글"/>
          <p:cNvSpPr>
            <a:spLocks noGrp="1"/>
          </p:cNvSpPr>
          <p:nvPr>
            <p:ph type="body" sz="quarter" idx="49"/>
          </p:nvPr>
        </p:nvSpPr>
        <p:spPr>
          <a:xfrm>
            <a:off x="4837304" y="2837739"/>
            <a:ext cx="1944783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신산업 기업, 해외 정부</a:t>
            </a:r>
          </a:p>
        </p:txBody>
      </p:sp>
      <p:sp>
        <p:nvSpPr>
          <p:cNvPr id="70" name="카드 요약"/>
          <p:cNvSpPr/>
          <p:nvPr/>
        </p:nvSpPr>
        <p:spPr>
          <a:xfrm>
            <a:off x="4037478" y="3100696"/>
            <a:ext cx="2744609" cy="361565"/>
          </a:xfrm>
          <a:prstGeom prst="rect">
            <a:avLst/>
          </a:prstGeom>
          <a:solidFill>
            <a:srgbClr val="EFF9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71" name="카드 요약"/>
          <p:cNvSpPr>
            <a:spLocks noGrp="1"/>
          </p:cNvSpPr>
          <p:nvPr>
            <p:ph type="body" sz="quarter" idx="50"/>
          </p:nvPr>
        </p:nvSpPr>
        <p:spPr>
          <a:xfrm>
            <a:off x="4037478" y="3100696"/>
            <a:ext cx="2744609" cy="361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협력주체 확대</a:t>
            </a:r>
          </a:p>
        </p:txBody>
      </p:sp>
      <p:sp>
        <p:nvSpPr>
          <p:cNvPr id="72" name="캡션 띠"/>
          <p:cNvSpPr/>
          <p:nvPr/>
        </p:nvSpPr>
        <p:spPr>
          <a:xfrm>
            <a:off x="536869" y="3593739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3" name="캡션"/>
          <p:cNvSpPr>
            <a:spLocks noGrp="1"/>
          </p:cNvSpPr>
          <p:nvPr>
            <p:ph type="body" sz="quarter" idx="51"/>
          </p:nvPr>
        </p:nvSpPr>
        <p:spPr>
          <a:xfrm>
            <a:off x="756000" y="3593739"/>
            <a:ext cx="5861739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【 재분류된 이해관계자 대상 현 미션·비전·가치 유효성 검증 】</a:t>
            </a:r>
          </a:p>
        </p:txBody>
      </p:sp>
      <p:sp>
        <p:nvSpPr>
          <p:cNvPr id="74" name="패널 외곽"/>
          <p:cNvSpPr/>
          <p:nvPr/>
        </p:nvSpPr>
        <p:spPr>
          <a:xfrm>
            <a:off x="536870" y="3922435"/>
            <a:ext cx="6300000" cy="224608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5" name="레일"/>
          <p:cNvSpPr/>
          <p:nvPr/>
        </p:nvSpPr>
        <p:spPr>
          <a:xfrm>
            <a:off x="547826" y="3933391"/>
            <a:ext cx="580696" cy="2224174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6" name="레일"/>
          <p:cNvSpPr>
            <a:spLocks noGrp="1"/>
          </p:cNvSpPr>
          <p:nvPr>
            <p:ph type="body" sz="quarter" idx="52"/>
          </p:nvPr>
        </p:nvSpPr>
        <p:spPr>
          <a:xfrm>
            <a:off x="547826" y="3933391"/>
            <a:ext cx="580696" cy="2224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가치전략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진단</a:t>
            </a:r>
          </a:p>
        </p:txBody>
      </p:sp>
      <p:sp>
        <p:nvSpPr>
          <p:cNvPr id="77" name="도입 글"/>
          <p:cNvSpPr>
            <a:spLocks noGrp="1"/>
          </p:cNvSpPr>
          <p:nvPr>
            <p:ph type="body" sz="quarter" idx="53"/>
          </p:nvPr>
        </p:nvSpPr>
        <p:spPr>
          <a:xfrm>
            <a:off x="1183304" y="3944348"/>
            <a:ext cx="5620696" cy="38347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 소통은 세분화하고, 외부 소통은 대폭 확대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정책 반영 과정에서 나온 정보를 지속 공유</a:t>
            </a:r>
          </a:p>
        </p:txBody>
      </p:sp>
      <p:sp>
        <p:nvSpPr>
          <p:cNvPr id="78" name="열 머리"/>
          <p:cNvSpPr/>
          <p:nvPr/>
        </p:nvSpPr>
        <p:spPr>
          <a:xfrm>
            <a:off x="1183304" y="4338783"/>
            <a:ext cx="1858957" cy="19721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79" name="열 머리"/>
          <p:cNvSpPr>
            <a:spLocks noGrp="1"/>
          </p:cNvSpPr>
          <p:nvPr>
            <p:ph type="body" sz="quarter" idx="54"/>
          </p:nvPr>
        </p:nvSpPr>
        <p:spPr>
          <a:xfrm>
            <a:off x="1183304" y="4338783"/>
            <a:ext cx="1858957" cy="19721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직원·전문가 설문(1차, 7월)</a:t>
            </a:r>
          </a:p>
        </p:txBody>
      </p:sp>
      <p:sp>
        <p:nvSpPr>
          <p:cNvPr id="80" name="열 본문"/>
          <p:cNvSpPr>
            <a:spLocks noGrp="1"/>
          </p:cNvSpPr>
          <p:nvPr>
            <p:ph type="body" sz="quarter" idx="55"/>
          </p:nvPr>
        </p:nvSpPr>
        <p:spPr>
          <a:xfrm>
            <a:off x="1183304" y="4546957"/>
            <a:ext cx="1858957" cy="460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가치·전략체계 격차 진단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임직원·외부전문가 대상</a:t>
            </a:r>
          </a:p>
        </p:txBody>
      </p:sp>
      <p:sp>
        <p:nvSpPr>
          <p:cNvPr id="81" name="열 머리"/>
          <p:cNvSpPr/>
          <p:nvPr/>
        </p:nvSpPr>
        <p:spPr>
          <a:xfrm>
            <a:off x="3064174" y="4338783"/>
            <a:ext cx="1858957" cy="19721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82" name="열 머리"/>
          <p:cNvSpPr>
            <a:spLocks noGrp="1"/>
          </p:cNvSpPr>
          <p:nvPr>
            <p:ph type="body" sz="quarter" idx="56"/>
          </p:nvPr>
        </p:nvSpPr>
        <p:spPr>
          <a:xfrm>
            <a:off x="3064174" y="4338783"/>
            <a:ext cx="1858957" cy="19721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이해관계자 소통(2차, 7~10월)</a:t>
            </a:r>
          </a:p>
        </p:txBody>
      </p:sp>
      <p:sp>
        <p:nvSpPr>
          <p:cNvPr id="83" name="열 본문"/>
          <p:cNvSpPr>
            <a:spLocks noGrp="1"/>
          </p:cNvSpPr>
          <p:nvPr>
            <p:ph type="body" sz="quarter" idx="57"/>
          </p:nvPr>
        </p:nvSpPr>
        <p:spPr>
          <a:xfrm>
            <a:off x="3064174" y="4546957"/>
            <a:ext cx="1858957" cy="460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정부·지자체 의견 수렴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면담 12회</a:t>
            </a:r>
          </a:p>
        </p:txBody>
      </p:sp>
      <p:sp>
        <p:nvSpPr>
          <p:cNvPr id="84" name="열 머리"/>
          <p:cNvSpPr/>
          <p:nvPr/>
        </p:nvSpPr>
        <p:spPr>
          <a:xfrm>
            <a:off x="4945043" y="4338783"/>
            <a:ext cx="1858957" cy="19721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85" name="열 머리"/>
          <p:cNvSpPr>
            <a:spLocks noGrp="1"/>
          </p:cNvSpPr>
          <p:nvPr>
            <p:ph type="body" sz="quarter" idx="58"/>
          </p:nvPr>
        </p:nvSpPr>
        <p:spPr>
          <a:xfrm>
            <a:off x="4945043" y="4338783"/>
            <a:ext cx="1858957" cy="19721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직원·국민 설문(3차, 11월)</a:t>
            </a:r>
          </a:p>
        </p:txBody>
      </p:sp>
      <p:sp>
        <p:nvSpPr>
          <p:cNvPr id="86" name="열 본문"/>
          <p:cNvSpPr>
            <a:spLocks noGrp="1"/>
          </p:cNvSpPr>
          <p:nvPr>
            <p:ph type="body" sz="quarter" idx="59"/>
          </p:nvPr>
        </p:nvSpPr>
        <p:spPr>
          <a:xfrm>
            <a:off x="4945043" y="4546957"/>
            <a:ext cx="1858957" cy="460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가치·전략체계 변화방향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직원·국민 대상 온라인 등</a:t>
            </a:r>
          </a:p>
        </p:txBody>
      </p:sp>
      <p:sp>
        <p:nvSpPr>
          <p:cNvPr id="87" name="강조 띠"/>
          <p:cNvSpPr/>
          <p:nvPr/>
        </p:nvSpPr>
        <p:spPr>
          <a:xfrm>
            <a:off x="1183304" y="5029043"/>
            <a:ext cx="5620696" cy="219130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88" name="강조 띠"/>
          <p:cNvSpPr>
            <a:spLocks noGrp="1"/>
          </p:cNvSpPr>
          <p:nvPr>
            <p:ph type="body" sz="quarter" idx="60"/>
          </p:nvPr>
        </p:nvSpPr>
        <p:spPr>
          <a:xfrm>
            <a:off x="1183304" y="5029043"/>
            <a:ext cx="5620696" cy="219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큰 틀은 유지하되 새 요구 및 국정과제 반영·세부 의미 재해석</a:t>
            </a:r>
          </a:p>
        </p:txBody>
      </p:sp>
      <p:sp>
        <p:nvSpPr>
          <p:cNvPr id="89" name="행 라벨"/>
          <p:cNvSpPr/>
          <p:nvPr/>
        </p:nvSpPr>
        <p:spPr>
          <a:xfrm>
            <a:off x="1183304" y="5281043"/>
            <a:ext cx="350609" cy="38347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90" name="행 라벨"/>
          <p:cNvSpPr>
            <a:spLocks noGrp="1"/>
          </p:cNvSpPr>
          <p:nvPr>
            <p:ph type="body" sz="quarter" idx="61"/>
          </p:nvPr>
        </p:nvSpPr>
        <p:spPr>
          <a:xfrm>
            <a:off x="1183304" y="5281043"/>
            <a:ext cx="350609" cy="38347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가치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체계</a:t>
            </a:r>
          </a:p>
        </p:txBody>
      </p:sp>
      <p:sp>
        <p:nvSpPr>
          <p:cNvPr id="91" name="지표"/>
          <p:cNvSpPr>
            <a:spLocks noGrp="1"/>
          </p:cNvSpPr>
          <p:nvPr>
            <p:ph type="body" sz="quarter" idx="62"/>
          </p:nvPr>
        </p:nvSpPr>
        <p:spPr>
          <a:xfrm>
            <a:off x="1566783" y="5281043"/>
            <a:ext cx="1161757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설립목적 부합</a:t>
            </a:r>
          </a:p>
        </p:txBody>
      </p:sp>
      <p:sp>
        <p:nvSpPr>
          <p:cNvPr id="92" name="수치"/>
          <p:cNvSpPr>
            <a:spLocks noGrp="1"/>
          </p:cNvSpPr>
          <p:nvPr>
            <p:ph type="body" sz="quarter" idx="63"/>
          </p:nvPr>
        </p:nvSpPr>
        <p:spPr>
          <a:xfrm>
            <a:off x="1566783" y="5478261"/>
            <a:ext cx="1161757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 95.5%  외 97.3%</a:t>
            </a:r>
          </a:p>
        </p:txBody>
      </p:sp>
      <p:sp>
        <p:nvSpPr>
          <p:cNvPr id="93" name="지표"/>
          <p:cNvSpPr>
            <a:spLocks noGrp="1"/>
          </p:cNvSpPr>
          <p:nvPr>
            <p:ph type="body" sz="quarter" idx="64"/>
          </p:nvPr>
        </p:nvSpPr>
        <p:spPr>
          <a:xfrm>
            <a:off x="2750452" y="5281043"/>
            <a:ext cx="1161757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환경변화 부합</a:t>
            </a:r>
          </a:p>
        </p:txBody>
      </p:sp>
      <p:sp>
        <p:nvSpPr>
          <p:cNvPr id="94" name="수치"/>
          <p:cNvSpPr>
            <a:spLocks noGrp="1"/>
          </p:cNvSpPr>
          <p:nvPr>
            <p:ph type="body" sz="quarter" idx="65"/>
          </p:nvPr>
        </p:nvSpPr>
        <p:spPr>
          <a:xfrm>
            <a:off x="2750452" y="5478261"/>
            <a:ext cx="1161757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 97.4%  외 98.4%</a:t>
            </a:r>
          </a:p>
        </p:txBody>
      </p:sp>
      <p:sp>
        <p:nvSpPr>
          <p:cNvPr id="95" name="지표"/>
          <p:cNvSpPr>
            <a:spLocks noGrp="1"/>
          </p:cNvSpPr>
          <p:nvPr>
            <p:ph type="body" sz="quarter" idx="66"/>
          </p:nvPr>
        </p:nvSpPr>
        <p:spPr>
          <a:xfrm>
            <a:off x="3934122" y="5281043"/>
            <a:ext cx="1161757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장기적 유지·확산</a:t>
            </a:r>
          </a:p>
        </p:txBody>
      </p:sp>
      <p:sp>
        <p:nvSpPr>
          <p:cNvPr id="96" name="수치"/>
          <p:cNvSpPr>
            <a:spLocks noGrp="1"/>
          </p:cNvSpPr>
          <p:nvPr>
            <p:ph type="body" sz="quarter" idx="67"/>
          </p:nvPr>
        </p:nvSpPr>
        <p:spPr>
          <a:xfrm>
            <a:off x="3934122" y="5478261"/>
            <a:ext cx="1161757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 97.2%  외 98.9%</a:t>
            </a:r>
          </a:p>
        </p:txBody>
      </p:sp>
      <p:cxnSp>
        <p:nvCxnSpPr>
          <p:cNvPr id="97" name="Connector 65"/>
          <p:cNvCxnSpPr/>
          <p:nvPr/>
        </p:nvCxnSpPr>
        <p:spPr>
          <a:xfrm>
            <a:off x="1566783" y="5472783"/>
            <a:ext cx="3551008" cy="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98" name="행 라벨"/>
          <p:cNvSpPr/>
          <p:nvPr/>
        </p:nvSpPr>
        <p:spPr>
          <a:xfrm>
            <a:off x="1183304" y="5697391"/>
            <a:ext cx="350609" cy="38347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99" name="행 라벨"/>
          <p:cNvSpPr>
            <a:spLocks noGrp="1"/>
          </p:cNvSpPr>
          <p:nvPr>
            <p:ph type="body" sz="quarter" idx="68"/>
          </p:nvPr>
        </p:nvSpPr>
        <p:spPr>
          <a:xfrm>
            <a:off x="1183304" y="5697391"/>
            <a:ext cx="350609" cy="38347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체계</a:t>
            </a:r>
          </a:p>
        </p:txBody>
      </p:sp>
      <p:sp>
        <p:nvSpPr>
          <p:cNvPr id="100" name="지표"/>
          <p:cNvSpPr>
            <a:spLocks noGrp="1"/>
          </p:cNvSpPr>
          <p:nvPr>
            <p:ph type="body" sz="quarter" idx="69"/>
          </p:nvPr>
        </p:nvSpPr>
        <p:spPr>
          <a:xfrm>
            <a:off x="1566783" y="5697391"/>
            <a:ext cx="1161757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전략체계 변화 필요</a:t>
            </a:r>
          </a:p>
        </p:txBody>
      </p:sp>
      <p:sp>
        <p:nvSpPr>
          <p:cNvPr id="101" name="수치"/>
          <p:cNvSpPr>
            <a:spLocks noGrp="1"/>
          </p:cNvSpPr>
          <p:nvPr>
            <p:ph type="body" sz="quarter" idx="70"/>
          </p:nvPr>
        </p:nvSpPr>
        <p:spPr>
          <a:xfrm>
            <a:off x="1566783" y="5894609"/>
            <a:ext cx="1161757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 97.2%</a:t>
            </a:r>
          </a:p>
        </p:txBody>
      </p:sp>
      <p:sp>
        <p:nvSpPr>
          <p:cNvPr id="102" name="지표"/>
          <p:cNvSpPr>
            <a:spLocks noGrp="1"/>
          </p:cNvSpPr>
          <p:nvPr>
            <p:ph type="body" sz="quarter" idx="71"/>
          </p:nvPr>
        </p:nvSpPr>
        <p:spPr>
          <a:xfrm>
            <a:off x="2750452" y="5697391"/>
            <a:ext cx="1161757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직관적 이해도 향상</a:t>
            </a:r>
          </a:p>
        </p:txBody>
      </p:sp>
      <p:sp>
        <p:nvSpPr>
          <p:cNvPr id="103" name="수치"/>
          <p:cNvSpPr>
            <a:spLocks noGrp="1"/>
          </p:cNvSpPr>
          <p:nvPr>
            <p:ph type="body" sz="quarter" idx="72"/>
          </p:nvPr>
        </p:nvSpPr>
        <p:spPr>
          <a:xfrm>
            <a:off x="2750452" y="5894609"/>
            <a:ext cx="1161757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 92.6%  외 91.1%</a:t>
            </a:r>
          </a:p>
        </p:txBody>
      </p:sp>
      <p:sp>
        <p:nvSpPr>
          <p:cNvPr id="104" name="지표"/>
          <p:cNvSpPr>
            <a:spLocks noGrp="1"/>
          </p:cNvSpPr>
          <p:nvPr>
            <p:ph type="body" sz="quarter" idx="73"/>
          </p:nvPr>
        </p:nvSpPr>
        <p:spPr>
          <a:xfrm>
            <a:off x="3934122" y="5697391"/>
            <a:ext cx="1161757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국정과제 연계 변경</a:t>
            </a:r>
          </a:p>
        </p:txBody>
      </p:sp>
      <p:sp>
        <p:nvSpPr>
          <p:cNvPr id="105" name="수치"/>
          <p:cNvSpPr>
            <a:spLocks noGrp="1"/>
          </p:cNvSpPr>
          <p:nvPr>
            <p:ph type="body" sz="quarter" idx="74"/>
          </p:nvPr>
        </p:nvSpPr>
        <p:spPr>
          <a:xfrm>
            <a:off x="3934122" y="5894609"/>
            <a:ext cx="1161757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 95.0%  외 93.3%</a:t>
            </a:r>
          </a:p>
        </p:txBody>
      </p:sp>
      <p:cxnSp>
        <p:nvCxnSpPr>
          <p:cNvPr id="106" name="Connector 73"/>
          <p:cNvCxnSpPr/>
          <p:nvPr/>
        </p:nvCxnSpPr>
        <p:spPr>
          <a:xfrm>
            <a:off x="1566783" y="5889130"/>
            <a:ext cx="3551008" cy="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07" name="판단 글"/>
          <p:cNvSpPr>
            <a:spLocks noGrp="1"/>
          </p:cNvSpPr>
          <p:nvPr>
            <p:ph type="body" sz="quarter" idx="75"/>
          </p:nvPr>
        </p:nvSpPr>
        <p:spPr>
          <a:xfrm>
            <a:off x="5161617" y="5281043"/>
            <a:ext cx="1642383" cy="38347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☑ 국민 기대·역할 기본방향은 전반적 적합</a:t>
            </a:r>
          </a:p>
        </p:txBody>
      </p:sp>
      <p:sp>
        <p:nvSpPr>
          <p:cNvPr id="108" name="판단 글"/>
          <p:cNvSpPr>
            <a:spLocks noGrp="1"/>
          </p:cNvSpPr>
          <p:nvPr>
            <p:ph type="body" sz="quarter" idx="76"/>
          </p:nvPr>
        </p:nvSpPr>
        <p:spPr>
          <a:xfrm>
            <a:off x="5161617" y="5697391"/>
            <a:ext cx="1642383" cy="38347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☑ 새 정부 출범·여건 변화 반영 필요</a:t>
            </a:r>
          </a:p>
        </p:txBody>
      </p:sp>
      <p:sp>
        <p:nvSpPr>
          <p:cNvPr id="109" name="캡션 띠"/>
          <p:cNvSpPr/>
          <p:nvPr/>
        </p:nvSpPr>
        <p:spPr>
          <a:xfrm>
            <a:off x="536869" y="6190434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0" name="캡션"/>
          <p:cNvSpPr>
            <a:spLocks noGrp="1"/>
          </p:cNvSpPr>
          <p:nvPr>
            <p:ph type="body" sz="quarter" idx="77"/>
          </p:nvPr>
        </p:nvSpPr>
        <p:spPr>
          <a:xfrm>
            <a:off x="756000" y="6190435"/>
            <a:ext cx="5861739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【 가치 전략체계 롤링 】</a:t>
            </a:r>
          </a:p>
        </p:txBody>
      </p:sp>
      <p:sp>
        <p:nvSpPr>
          <p:cNvPr id="111" name="틀"/>
          <p:cNvSpPr/>
          <p:nvPr/>
        </p:nvSpPr>
        <p:spPr>
          <a:xfrm>
            <a:off x="536870" y="6519130"/>
            <a:ext cx="6300000" cy="1566783"/>
          </a:xfrm>
          <a:prstGeom prst="rect">
            <a:avLst/>
          </a:prstGeom>
          <a:solidFill>
            <a:srgbClr val="FFFF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2" name="단계"/>
          <p:cNvSpPr/>
          <p:nvPr/>
        </p:nvSpPr>
        <p:spPr>
          <a:xfrm>
            <a:off x="536870" y="6519130"/>
            <a:ext cx="2100000" cy="252000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13" name="단계"/>
          <p:cNvSpPr>
            <a:spLocks noGrp="1"/>
          </p:cNvSpPr>
          <p:nvPr>
            <p:ph type="body" sz="quarter" idx="78"/>
          </p:nvPr>
        </p:nvSpPr>
        <p:spPr>
          <a:xfrm>
            <a:off x="536870" y="6519130"/>
            <a:ext cx="2100000" cy="25200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미션 [재해석]</a:t>
            </a:r>
          </a:p>
        </p:txBody>
      </p:sp>
      <p:sp>
        <p:nvSpPr>
          <p:cNvPr id="114" name="단계"/>
          <p:cNvSpPr/>
          <p:nvPr/>
        </p:nvSpPr>
        <p:spPr>
          <a:xfrm>
            <a:off x="2636870" y="6519130"/>
            <a:ext cx="2100000" cy="252000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15" name="단계"/>
          <p:cNvSpPr>
            <a:spLocks noGrp="1"/>
          </p:cNvSpPr>
          <p:nvPr>
            <p:ph type="body" sz="quarter" idx="79"/>
          </p:nvPr>
        </p:nvSpPr>
        <p:spPr>
          <a:xfrm>
            <a:off x="2636870" y="6519130"/>
            <a:ext cx="2100000" cy="25200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비전 [재해석] 목표 [강화]</a:t>
            </a:r>
          </a:p>
        </p:txBody>
      </p:sp>
      <p:sp>
        <p:nvSpPr>
          <p:cNvPr id="116" name="단계"/>
          <p:cNvSpPr/>
          <p:nvPr/>
        </p:nvSpPr>
        <p:spPr>
          <a:xfrm>
            <a:off x="4736870" y="6519130"/>
            <a:ext cx="2100000" cy="252000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17" name="단계"/>
          <p:cNvSpPr>
            <a:spLocks noGrp="1"/>
          </p:cNvSpPr>
          <p:nvPr>
            <p:ph type="body" sz="quarter" idx="80"/>
          </p:nvPr>
        </p:nvSpPr>
        <p:spPr>
          <a:xfrm>
            <a:off x="4736870" y="6519130"/>
            <a:ext cx="2100000" cy="25200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핵심가치 [재해석]</a:t>
            </a:r>
          </a:p>
        </p:txBody>
      </p:sp>
      <p:sp>
        <p:nvSpPr>
          <p:cNvPr id="118" name="단계 삼각형"/>
          <p:cNvSpPr/>
          <p:nvPr/>
        </p:nvSpPr>
        <p:spPr>
          <a:xfrm>
            <a:off x="2636869" y="6519130"/>
            <a:ext cx="109565" cy="252000"/>
          </a:xfrm>
          <a:custGeom>
            <a:avLst/>
            <a:gdLst/>
            <a:ahLst/>
            <a:cxnLst/>
            <a:rect l="l" t="t" r="r" b="b"/>
            <a:pathLst>
              <a:path w="109565" h="252000">
                <a:moveTo>
                  <a:pt x="0" y="0"/>
                </a:moveTo>
                <a:lnTo>
                  <a:pt x="109565" y="126000"/>
                </a:lnTo>
                <a:lnTo>
                  <a:pt x="0" y="252000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9" name="단계 삼각형"/>
          <p:cNvSpPr/>
          <p:nvPr/>
        </p:nvSpPr>
        <p:spPr>
          <a:xfrm>
            <a:off x="4736869" y="6519130"/>
            <a:ext cx="109565" cy="252000"/>
          </a:xfrm>
          <a:custGeom>
            <a:avLst/>
            <a:gdLst/>
            <a:ahLst/>
            <a:cxnLst/>
            <a:rect l="l" t="t" r="r" b="b"/>
            <a:pathLst>
              <a:path w="109565" h="252000">
                <a:moveTo>
                  <a:pt x="0" y="0"/>
                </a:moveTo>
                <a:lnTo>
                  <a:pt x="109565" y="126000"/>
                </a:lnTo>
                <a:lnTo>
                  <a:pt x="0" y="252000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0" name="아이콘 칸"/>
          <p:cNvSpPr/>
          <p:nvPr/>
        </p:nvSpPr>
        <p:spPr>
          <a:xfrm>
            <a:off x="591652" y="6825913"/>
            <a:ext cx="416348" cy="438261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3600" rIns="3600" tIns="0" bIns="0" wrap="square"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/>
            </a:r>
          </a:p>
        </p:txBody>
      </p:sp>
      <p:sp>
        <p:nvSpPr>
          <p:cNvPr id="121" name="큰 문구"/>
          <p:cNvSpPr>
            <a:spLocks noGrp="1"/>
          </p:cNvSpPr>
          <p:nvPr>
            <p:ph type="body" sz="quarter" idx="81"/>
          </p:nvPr>
        </p:nvSpPr>
        <p:spPr>
          <a:xfrm>
            <a:off x="1040870" y="6793043"/>
            <a:ext cx="1552174" cy="624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물이 여는 미래,
물로 나누는 행복</a:t>
            </a:r>
          </a:p>
        </p:txBody>
      </p:sp>
      <p:sp>
        <p:nvSpPr>
          <p:cNvPr id="122" name="요약 줄"/>
          <p:cNvSpPr/>
          <p:nvPr/>
        </p:nvSpPr>
        <p:spPr>
          <a:xfrm>
            <a:off x="558783" y="7428522"/>
            <a:ext cx="2056174" cy="19721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123" name="요약 줄"/>
          <p:cNvSpPr>
            <a:spLocks noGrp="1"/>
          </p:cNvSpPr>
          <p:nvPr>
            <p:ph type="body" sz="quarter" idx="82"/>
          </p:nvPr>
        </p:nvSpPr>
        <p:spPr>
          <a:xfrm>
            <a:off x="558783" y="7428522"/>
            <a:ext cx="2056174" cy="19721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물의 가치로 열린 미래와 행복 나눔</a:t>
            </a:r>
          </a:p>
        </p:txBody>
      </p:sp>
      <p:sp>
        <p:nvSpPr>
          <p:cNvPr id="124" name="불릿"/>
          <p:cNvSpPr>
            <a:spLocks noGrp="1"/>
          </p:cNvSpPr>
          <p:nvPr>
            <p:ph type="body" sz="quarter" idx="83"/>
          </p:nvPr>
        </p:nvSpPr>
        <p:spPr>
          <a:xfrm>
            <a:off x="558783" y="7647652"/>
            <a:ext cx="2056174" cy="41634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물관리·녹색전환 지원 등 의미 보완</a:t>
            </a:r>
          </a:p>
        </p:txBody>
      </p:sp>
      <p:sp>
        <p:nvSpPr>
          <p:cNvPr id="125" name="아이콘 칸"/>
          <p:cNvSpPr/>
          <p:nvPr/>
        </p:nvSpPr>
        <p:spPr>
          <a:xfrm>
            <a:off x="2691652" y="6825913"/>
            <a:ext cx="416348" cy="438261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3600" rIns="3600" tIns="0" bIns="0" wrap="square"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/>
            </a:r>
          </a:p>
        </p:txBody>
      </p:sp>
      <p:sp>
        <p:nvSpPr>
          <p:cNvPr id="126" name="큰 문구"/>
          <p:cNvSpPr>
            <a:spLocks noGrp="1"/>
          </p:cNvSpPr>
          <p:nvPr>
            <p:ph type="body" sz="quarter" idx="84"/>
          </p:nvPr>
        </p:nvSpPr>
        <p:spPr>
          <a:xfrm>
            <a:off x="3140870" y="6793043"/>
            <a:ext cx="1552174" cy="624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기후위기 대응을 선도하는 글로벌 물기업</a:t>
            </a:r>
          </a:p>
        </p:txBody>
      </p:sp>
      <p:sp>
        <p:nvSpPr>
          <p:cNvPr id="127" name="요약 줄"/>
          <p:cNvSpPr/>
          <p:nvPr/>
        </p:nvSpPr>
        <p:spPr>
          <a:xfrm>
            <a:off x="2658783" y="7428522"/>
            <a:ext cx="2056174" cy="19721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128" name="요약 줄"/>
          <p:cNvSpPr>
            <a:spLocks noGrp="1"/>
          </p:cNvSpPr>
          <p:nvPr>
            <p:ph type="body" sz="quarter" idx="85"/>
          </p:nvPr>
        </p:nvSpPr>
        <p:spPr>
          <a:xfrm>
            <a:off x="2658783" y="7428522"/>
            <a:ext cx="2056174" cy="19721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새로운 시대, 기후위기 대응 솔루션 구현</a:t>
            </a:r>
          </a:p>
        </p:txBody>
      </p:sp>
      <p:sp>
        <p:nvSpPr>
          <p:cNvPr id="129" name="불릿"/>
          <p:cNvSpPr>
            <a:spLocks noGrp="1"/>
          </p:cNvSpPr>
          <p:nvPr>
            <p:ph type="body" sz="quarter" idx="86"/>
          </p:nvPr>
        </p:nvSpPr>
        <p:spPr>
          <a:xfrm>
            <a:off x="2658783" y="7647652"/>
            <a:ext cx="2056174" cy="41634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기후안전망 강화 ＋ AI·기후테크 역량 구체화</a:t>
            </a:r>
          </a:p>
        </p:txBody>
      </p:sp>
      <p:cxnSp>
        <p:nvCxnSpPr>
          <p:cNvPr id="130" name="Connector 92"/>
          <p:cNvCxnSpPr/>
          <p:nvPr/>
        </p:nvCxnSpPr>
        <p:spPr>
          <a:xfrm>
            <a:off x="2636870" y="6825913"/>
            <a:ext cx="0" cy="1216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31" name="아이콘 칸"/>
          <p:cNvSpPr/>
          <p:nvPr/>
        </p:nvSpPr>
        <p:spPr>
          <a:xfrm>
            <a:off x="4791652" y="6825913"/>
            <a:ext cx="416348" cy="438261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3600" rIns="3600" tIns="0" bIns="0" wrap="square"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/>
            </a:r>
          </a:p>
        </p:txBody>
      </p:sp>
      <p:sp>
        <p:nvSpPr>
          <p:cNvPr id="132" name="큰 문구"/>
          <p:cNvSpPr>
            <a:spLocks noGrp="1"/>
          </p:cNvSpPr>
          <p:nvPr>
            <p:ph type="body" sz="quarter" idx="87"/>
          </p:nvPr>
        </p:nvSpPr>
        <p:spPr>
          <a:xfrm>
            <a:off x="5240870" y="6793043"/>
            <a:ext cx="1552174" cy="624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안전 · 역동 · 공정</a:t>
            </a:r>
          </a:p>
        </p:txBody>
      </p:sp>
      <p:sp>
        <p:nvSpPr>
          <p:cNvPr id="133" name="요약 줄"/>
          <p:cNvSpPr/>
          <p:nvPr/>
        </p:nvSpPr>
        <p:spPr>
          <a:xfrm>
            <a:off x="4758783" y="7428522"/>
            <a:ext cx="2056174" cy="19721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134" name="요약 줄"/>
          <p:cNvSpPr>
            <a:spLocks noGrp="1"/>
          </p:cNvSpPr>
          <p:nvPr>
            <p:ph type="body" sz="quarter" idx="88"/>
          </p:nvPr>
        </p:nvSpPr>
        <p:spPr>
          <a:xfrm>
            <a:off x="4758783" y="7428522"/>
            <a:ext cx="2056174" cy="19721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국가 안전망, 세계 일류기업, 국민 공기업</a:t>
            </a:r>
          </a:p>
        </p:txBody>
      </p:sp>
      <p:sp>
        <p:nvSpPr>
          <p:cNvPr id="135" name="불릿"/>
          <p:cNvSpPr>
            <a:spLocks noGrp="1"/>
          </p:cNvSpPr>
          <p:nvPr>
            <p:ph type="body" sz="quarter" idx="89"/>
          </p:nvPr>
        </p:nvSpPr>
        <p:spPr>
          <a:xfrm>
            <a:off x="4758783" y="7647652"/>
            <a:ext cx="2056174" cy="41634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 최우선, ESG 경영 등 중심 실천기준 재해석</a:t>
            </a:r>
          </a:p>
        </p:txBody>
      </p:sp>
      <p:cxnSp>
        <p:nvCxnSpPr>
          <p:cNvPr id="136" name="Connector 97"/>
          <p:cNvCxnSpPr/>
          <p:nvPr/>
        </p:nvCxnSpPr>
        <p:spPr>
          <a:xfrm>
            <a:off x="4736870" y="6825913"/>
            <a:ext cx="0" cy="1216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26 서사 · 유형 분류 → 맞춤형 소통 · 전방위 확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4669479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 이해관계자 대상 가치전략 체계 적극 공유·확산으로 공감대 및 추진동력 확보</a:t>
            </a:r>
          </a:p>
        </p:txBody>
      </p:sp>
      <p:sp>
        <p:nvSpPr>
          <p:cNvPr id="11" name="분류 패널"/>
          <p:cNvSpPr/>
          <p:nvPr/>
        </p:nvSpPr>
        <p:spPr>
          <a:xfrm>
            <a:off x="723130" y="1084696"/>
            <a:ext cx="2142000" cy="2246087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2" name="4분면"/>
          <p:cNvSpPr/>
          <p:nvPr/>
        </p:nvSpPr>
        <p:spPr>
          <a:xfrm>
            <a:off x="887478" y="1139478"/>
            <a:ext cx="1922870" cy="1742087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cxnSp>
        <p:nvCxnSpPr>
          <p:cNvPr id="13" name="Connector 7"/>
          <p:cNvCxnSpPr/>
          <p:nvPr/>
        </p:nvCxnSpPr>
        <p:spPr>
          <a:xfrm>
            <a:off x="1848913" y="1139478"/>
            <a:ext cx="0" cy="1742087"/>
          </a:xfrm>
          <a:prstGeom prst="line">
            <a:avLst/>
          </a:prstGeom>
          <a:ln w="9525">
            <a:solidFill>
              <a:srgbClr val="30C2FF"/>
            </a:solidFill>
          </a:ln>
        </p:spPr>
      </p:cxnSp>
      <p:cxnSp>
        <p:nvCxnSpPr>
          <p:cNvPr id="14" name="Connector 8"/>
          <p:cNvCxnSpPr/>
          <p:nvPr/>
        </p:nvCxnSpPr>
        <p:spPr>
          <a:xfrm>
            <a:off x="887478" y="2010522"/>
            <a:ext cx="1922870" cy="0"/>
          </a:xfrm>
          <a:prstGeom prst="line">
            <a:avLst/>
          </a:prstGeom>
          <a:ln w="9525">
            <a:solidFill>
              <a:srgbClr val="30C2FF"/>
            </a:solidFill>
          </a:ln>
        </p:spPr>
      </p:cxnSp>
      <p:sp>
        <p:nvSpPr>
          <p:cNvPr id="15" name="분면 이름"/>
          <p:cNvSpPr/>
          <p:nvPr/>
        </p:nvSpPr>
        <p:spPr>
          <a:xfrm>
            <a:off x="909391" y="1161391"/>
            <a:ext cx="917609" cy="16434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16" name="분면 이름"/>
          <p:cNvSpPr>
            <a:spLocks noGrp="1"/>
          </p:cNvSpPr>
          <p:nvPr>
            <p:ph type="body" sz="quarter" idx="21"/>
          </p:nvPr>
        </p:nvSpPr>
        <p:spPr>
          <a:xfrm>
            <a:off x="909391" y="1161391"/>
            <a:ext cx="917609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② 상세 설명·자료</a:t>
            </a:r>
          </a:p>
        </p:txBody>
      </p:sp>
      <p:sp>
        <p:nvSpPr>
          <p:cNvPr id="17" name="분면 글"/>
          <p:cNvSpPr>
            <a:spLocks noGrp="1"/>
          </p:cNvSpPr>
          <p:nvPr>
            <p:ph type="body" sz="quarter" idx="22"/>
          </p:nvPr>
        </p:nvSpPr>
        <p:spPr>
          <a:xfrm>
            <a:off x="909391" y="1336696"/>
            <a:ext cx="917609" cy="651913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000359"/>
                </a:solidFill>
                <a:latin typeface="Pretendard"/>
                <a:ea typeface="Pretendard"/>
              </a:rPr>
              <a:t>전문가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000359"/>
                </a:solidFill>
                <a:latin typeface="Pretendard"/>
                <a:ea typeface="Pretendard"/>
              </a:rPr>
              <a:t>해외정부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000359"/>
                </a:solidFill>
                <a:latin typeface="Pretendard"/>
                <a:ea typeface="Pretendard"/>
              </a:rPr>
              <a:t>유관기관</a:t>
            </a:r>
          </a:p>
        </p:txBody>
      </p:sp>
      <p:sp>
        <p:nvSpPr>
          <p:cNvPr id="18" name="분면 이름"/>
          <p:cNvSpPr/>
          <p:nvPr/>
        </p:nvSpPr>
        <p:spPr>
          <a:xfrm>
            <a:off x="1870826" y="1161391"/>
            <a:ext cx="917609" cy="16434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19" name="분면 이름"/>
          <p:cNvSpPr>
            <a:spLocks noGrp="1"/>
          </p:cNvSpPr>
          <p:nvPr>
            <p:ph type="body" sz="quarter" idx="23"/>
          </p:nvPr>
        </p:nvSpPr>
        <p:spPr>
          <a:xfrm>
            <a:off x="1870826" y="1161391"/>
            <a:ext cx="917609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① 적극·대면 설명</a:t>
            </a:r>
          </a:p>
        </p:txBody>
      </p:sp>
      <p:sp>
        <p:nvSpPr>
          <p:cNvPr id="20" name="분면 글"/>
          <p:cNvSpPr>
            <a:spLocks noGrp="1"/>
          </p:cNvSpPr>
          <p:nvPr>
            <p:ph type="body" sz="quarter" idx="24"/>
          </p:nvPr>
        </p:nvSpPr>
        <p:spPr>
          <a:xfrm>
            <a:off x="1870826" y="1336696"/>
            <a:ext cx="917609" cy="651913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000359"/>
                </a:solidFill>
                <a:latin typeface="Pretendard"/>
                <a:ea typeface="Pretendard"/>
              </a:rPr>
              <a:t>정부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000359"/>
                </a:solidFill>
                <a:latin typeface="Pretendard"/>
                <a:ea typeface="Pretendard"/>
              </a:rPr>
              <a:t>주변 주민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000359"/>
                </a:solidFill>
                <a:latin typeface="Pretendard"/>
                <a:ea typeface="Pretendard"/>
              </a:rPr>
              <a:t>지자체</a:t>
            </a:r>
          </a:p>
        </p:txBody>
      </p:sp>
      <p:sp>
        <p:nvSpPr>
          <p:cNvPr id="21" name="분면 이름"/>
          <p:cNvSpPr/>
          <p:nvPr/>
        </p:nvSpPr>
        <p:spPr>
          <a:xfrm>
            <a:off x="909391" y="2695304"/>
            <a:ext cx="917609" cy="16434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2" name="분면 이름"/>
          <p:cNvSpPr>
            <a:spLocks noGrp="1"/>
          </p:cNvSpPr>
          <p:nvPr>
            <p:ph type="body" sz="quarter" idx="25"/>
          </p:nvPr>
        </p:nvSpPr>
        <p:spPr>
          <a:xfrm>
            <a:off x="909391" y="2695304"/>
            <a:ext cx="917609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③ 전방위 확산</a:t>
            </a:r>
          </a:p>
        </p:txBody>
      </p:sp>
      <p:sp>
        <p:nvSpPr>
          <p:cNvPr id="23" name="분면 글"/>
          <p:cNvSpPr>
            <a:spLocks noGrp="1"/>
          </p:cNvSpPr>
          <p:nvPr>
            <p:ph type="body" sz="quarter" idx="26"/>
          </p:nvPr>
        </p:nvSpPr>
        <p:spPr>
          <a:xfrm>
            <a:off x="909391" y="2032435"/>
            <a:ext cx="917609" cy="651913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000359"/>
                </a:solidFill>
                <a:latin typeface="Pretendard"/>
                <a:ea typeface="Pretendard"/>
              </a:rPr>
              <a:t>국민(대중)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000359"/>
                </a:solidFill>
                <a:latin typeface="Pretendard"/>
                <a:ea typeface="Pretendard"/>
              </a:rPr>
              <a:t>기업·연구기관</a:t>
            </a:r>
          </a:p>
        </p:txBody>
      </p:sp>
      <p:sp>
        <p:nvSpPr>
          <p:cNvPr id="24" name="분면 이름"/>
          <p:cNvSpPr/>
          <p:nvPr/>
        </p:nvSpPr>
        <p:spPr>
          <a:xfrm>
            <a:off x="1870826" y="2695304"/>
            <a:ext cx="917609" cy="16434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5" name="분면 이름"/>
          <p:cNvSpPr>
            <a:spLocks noGrp="1"/>
          </p:cNvSpPr>
          <p:nvPr>
            <p:ph type="body" sz="quarter" idx="27"/>
          </p:nvPr>
        </p:nvSpPr>
        <p:spPr>
          <a:xfrm>
            <a:off x="1870826" y="2695304"/>
            <a:ext cx="917609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④ 사업연계 홍보</a:t>
            </a:r>
          </a:p>
        </p:txBody>
      </p:sp>
      <p:sp>
        <p:nvSpPr>
          <p:cNvPr id="26" name="분면 글"/>
          <p:cNvSpPr>
            <a:spLocks noGrp="1"/>
          </p:cNvSpPr>
          <p:nvPr>
            <p:ph type="body" sz="quarter" idx="28"/>
          </p:nvPr>
        </p:nvSpPr>
        <p:spPr>
          <a:xfrm>
            <a:off x="1870826" y="2032435"/>
            <a:ext cx="917609" cy="651913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000359"/>
                </a:solidFill>
                <a:latin typeface="Pretendard"/>
                <a:ea typeface="Pretendard"/>
              </a:rPr>
              <a:t>협력 기업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000359"/>
                </a:solidFill>
                <a:latin typeface="Pretendard"/>
                <a:ea typeface="Pretendard"/>
              </a:rPr>
              <a:t>신산업 기업</a:t>
            </a:r>
          </a:p>
        </p:txBody>
      </p:sp>
      <p:sp>
        <p:nvSpPr>
          <p:cNvPr id="27" name="세로축"/>
          <p:cNvSpPr>
            <a:spLocks noGrp="1"/>
          </p:cNvSpPr>
          <p:nvPr>
            <p:ph type="body" sz="quarter" idx="29"/>
          </p:nvPr>
        </p:nvSpPr>
        <p:spPr>
          <a:xfrm>
            <a:off x="734087" y="1139478"/>
            <a:ext cx="142435" cy="1687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영향력</a:t>
            </a:r>
          </a:p>
        </p:txBody>
      </p:sp>
      <p:sp>
        <p:nvSpPr>
          <p:cNvPr id="28" name="가로축"/>
          <p:cNvSpPr>
            <a:spLocks noGrp="1"/>
          </p:cNvSpPr>
          <p:nvPr>
            <p:ph type="body" sz="quarter" idx="30"/>
          </p:nvPr>
        </p:nvSpPr>
        <p:spPr>
          <a:xfrm>
            <a:off x="887478" y="2892522"/>
            <a:ext cx="1922870" cy="175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관심도 ▶</a:t>
            </a:r>
          </a:p>
        </p:txBody>
      </p:sp>
      <p:sp>
        <p:nvSpPr>
          <p:cNvPr id="29" name="분류 설명"/>
          <p:cNvSpPr/>
          <p:nvPr/>
        </p:nvSpPr>
        <p:spPr>
          <a:xfrm>
            <a:off x="756000" y="3045913"/>
            <a:ext cx="2076261" cy="252000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30" name="분류 설명"/>
          <p:cNvSpPr>
            <a:spLocks noGrp="1"/>
          </p:cNvSpPr>
          <p:nvPr>
            <p:ph type="body" sz="quarter" idx="31"/>
          </p:nvPr>
        </p:nvSpPr>
        <p:spPr>
          <a:xfrm>
            <a:off x="756000" y="3045913"/>
            <a:ext cx="2076261" cy="25200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영향력·관심도 기반 유형 분류</a:t>
            </a:r>
          </a:p>
        </p:txBody>
      </p:sp>
      <p:sp>
        <p:nvSpPr>
          <p:cNvPr id="31" name="소통 패널"/>
          <p:cNvSpPr/>
          <p:nvPr/>
        </p:nvSpPr>
        <p:spPr>
          <a:xfrm>
            <a:off x="2908957" y="1084696"/>
            <a:ext cx="4114174" cy="2246087"/>
          </a:xfrm>
          <a:prstGeom prst="rect">
            <a:avLst/>
          </a:prstGeom>
          <a:solidFill>
            <a:srgbClr val="FFFF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2" name="패널 머리"/>
          <p:cNvSpPr/>
          <p:nvPr/>
        </p:nvSpPr>
        <p:spPr>
          <a:xfrm>
            <a:off x="2908957" y="1084696"/>
            <a:ext cx="2468504" cy="241043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33" name="패널 머리"/>
          <p:cNvSpPr>
            <a:spLocks noGrp="1"/>
          </p:cNvSpPr>
          <p:nvPr>
            <p:ph type="body" sz="quarter" idx="32"/>
          </p:nvPr>
        </p:nvSpPr>
        <p:spPr>
          <a:xfrm>
            <a:off x="2908957" y="1084696"/>
            <a:ext cx="2468504" cy="24104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유형별 맞춤형 소통</a:t>
            </a:r>
          </a:p>
        </p:txBody>
      </p:sp>
      <p:sp>
        <p:nvSpPr>
          <p:cNvPr id="34" name="패널 머리"/>
          <p:cNvSpPr/>
          <p:nvPr/>
        </p:nvSpPr>
        <p:spPr>
          <a:xfrm>
            <a:off x="5410330" y="1084696"/>
            <a:ext cx="1612800" cy="241043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35" name="패널 머리"/>
          <p:cNvSpPr>
            <a:spLocks noGrp="1"/>
          </p:cNvSpPr>
          <p:nvPr>
            <p:ph type="body" sz="quarter" idx="33"/>
          </p:nvPr>
        </p:nvSpPr>
        <p:spPr>
          <a:xfrm>
            <a:off x="5410330" y="1084696"/>
            <a:ext cx="1612800" cy="24104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＋ 전방위 확산(조회수 518만)</a:t>
            </a:r>
          </a:p>
        </p:txBody>
      </p:sp>
      <p:sp>
        <p:nvSpPr>
          <p:cNvPr id="36" name="번호"/>
          <p:cNvSpPr>
            <a:spLocks noGrp="1"/>
          </p:cNvSpPr>
          <p:nvPr>
            <p:ph type="body" sz="quarter" idx="34"/>
          </p:nvPr>
        </p:nvSpPr>
        <p:spPr>
          <a:xfrm>
            <a:off x="2919913" y="1358609"/>
            <a:ext cx="175304" cy="490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BDE0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BDE0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37" name="소통 이름"/>
          <p:cNvSpPr>
            <a:spLocks noGrp="1"/>
          </p:cNvSpPr>
          <p:nvPr>
            <p:ph type="body" sz="quarter" idx="35"/>
          </p:nvPr>
        </p:nvSpPr>
        <p:spPr>
          <a:xfrm>
            <a:off x="3117130" y="1358609"/>
            <a:ext cx="1102774" cy="220637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소통회의</a:t>
            </a:r>
          </a:p>
        </p:txBody>
      </p:sp>
      <p:sp>
        <p:nvSpPr>
          <p:cNvPr id="38" name="소통 칩"/>
          <p:cNvSpPr/>
          <p:nvPr/>
        </p:nvSpPr>
        <p:spPr>
          <a:xfrm>
            <a:off x="3117130" y="1593955"/>
            <a:ext cx="1102774" cy="222089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9" name="소통 칩"/>
          <p:cNvSpPr>
            <a:spLocks noGrp="1"/>
          </p:cNvSpPr>
          <p:nvPr>
            <p:ph type="body" sz="quarter" idx="36"/>
          </p:nvPr>
        </p:nvSpPr>
        <p:spPr>
          <a:xfrm>
            <a:off x="3117130" y="1593955"/>
            <a:ext cx="1102774" cy="22208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정책 대응 체계</a:t>
            </a:r>
          </a:p>
        </p:txBody>
      </p:sp>
      <p:sp>
        <p:nvSpPr>
          <p:cNvPr id="40" name="소통 이름"/>
          <p:cNvSpPr>
            <a:spLocks noGrp="1"/>
          </p:cNvSpPr>
          <p:nvPr>
            <p:ph type="body" sz="quarter" idx="37"/>
          </p:nvPr>
        </p:nvSpPr>
        <p:spPr>
          <a:xfrm>
            <a:off x="4241817" y="1358609"/>
            <a:ext cx="1102774" cy="220637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종합포털</a:t>
            </a:r>
          </a:p>
        </p:txBody>
      </p:sp>
      <p:sp>
        <p:nvSpPr>
          <p:cNvPr id="41" name="소통 칩"/>
          <p:cNvSpPr/>
          <p:nvPr/>
        </p:nvSpPr>
        <p:spPr>
          <a:xfrm>
            <a:off x="4241817" y="1593955"/>
            <a:ext cx="1102774" cy="222089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2" name="소통 칩"/>
          <p:cNvSpPr>
            <a:spLocks noGrp="1"/>
          </p:cNvSpPr>
          <p:nvPr>
            <p:ph type="body" sz="quarter" idx="38"/>
          </p:nvPr>
        </p:nvSpPr>
        <p:spPr>
          <a:xfrm>
            <a:off x="4241817" y="1593955"/>
            <a:ext cx="1102774" cy="22208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정보 제공</a:t>
            </a:r>
          </a:p>
        </p:txBody>
      </p:sp>
      <p:sp>
        <p:nvSpPr>
          <p:cNvPr id="43" name="번호"/>
          <p:cNvSpPr>
            <a:spLocks noGrp="1"/>
          </p:cNvSpPr>
          <p:nvPr>
            <p:ph type="body" sz="quarter" idx="39"/>
          </p:nvPr>
        </p:nvSpPr>
        <p:spPr>
          <a:xfrm>
            <a:off x="2919913" y="1848913"/>
            <a:ext cx="175304" cy="490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BDE0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BDE0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44" name="소통 이름"/>
          <p:cNvSpPr>
            <a:spLocks noGrp="1"/>
          </p:cNvSpPr>
          <p:nvPr>
            <p:ph type="body" sz="quarter" idx="40"/>
          </p:nvPr>
        </p:nvSpPr>
        <p:spPr>
          <a:xfrm>
            <a:off x="3117130" y="1848913"/>
            <a:ext cx="1102774" cy="220637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협력위원회</a:t>
            </a:r>
          </a:p>
        </p:txBody>
      </p:sp>
      <p:sp>
        <p:nvSpPr>
          <p:cNvPr id="45" name="소통 칩"/>
          <p:cNvSpPr/>
          <p:nvPr/>
        </p:nvSpPr>
        <p:spPr>
          <a:xfrm>
            <a:off x="3117130" y="2084259"/>
            <a:ext cx="1102774" cy="222089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6" name="소통 칩"/>
          <p:cNvSpPr>
            <a:spLocks noGrp="1"/>
          </p:cNvSpPr>
          <p:nvPr>
            <p:ph type="body" sz="quarter" idx="41"/>
          </p:nvPr>
        </p:nvSpPr>
        <p:spPr>
          <a:xfrm>
            <a:off x="3117130" y="2084259"/>
            <a:ext cx="1102774" cy="22208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미래자문위</a:t>
            </a:r>
          </a:p>
        </p:txBody>
      </p:sp>
      <p:sp>
        <p:nvSpPr>
          <p:cNvPr id="47" name="소통 이름"/>
          <p:cNvSpPr>
            <a:spLocks noGrp="1"/>
          </p:cNvSpPr>
          <p:nvPr>
            <p:ph type="body" sz="quarter" idx="42"/>
          </p:nvPr>
        </p:nvSpPr>
        <p:spPr>
          <a:xfrm>
            <a:off x="4241817" y="1848913"/>
            <a:ext cx="1102774" cy="220637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경영·정책 제언</a:t>
            </a:r>
          </a:p>
        </p:txBody>
      </p:sp>
      <p:sp>
        <p:nvSpPr>
          <p:cNvPr id="48" name="소통 칩"/>
          <p:cNvSpPr/>
          <p:nvPr/>
        </p:nvSpPr>
        <p:spPr>
          <a:xfrm>
            <a:off x="4241817" y="2084259"/>
            <a:ext cx="1102774" cy="222089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9" name="소통 칩"/>
          <p:cNvSpPr>
            <a:spLocks noGrp="1"/>
          </p:cNvSpPr>
          <p:nvPr>
            <p:ph type="body" sz="quarter" idx="43"/>
          </p:nvPr>
        </p:nvSpPr>
        <p:spPr>
          <a:xfrm>
            <a:off x="4241817" y="2084259"/>
            <a:ext cx="1102774" cy="22208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전략 소통</a:t>
            </a:r>
          </a:p>
        </p:txBody>
      </p:sp>
      <p:sp>
        <p:nvSpPr>
          <p:cNvPr id="50" name="번호"/>
          <p:cNvSpPr>
            <a:spLocks noGrp="1"/>
          </p:cNvSpPr>
          <p:nvPr>
            <p:ph type="body" sz="quarter" idx="44"/>
          </p:nvPr>
        </p:nvSpPr>
        <p:spPr>
          <a:xfrm>
            <a:off x="2919913" y="2339217"/>
            <a:ext cx="175304" cy="490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BDE0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BDE0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51" name="소통 이름"/>
          <p:cNvSpPr>
            <a:spLocks noGrp="1"/>
          </p:cNvSpPr>
          <p:nvPr>
            <p:ph type="body" sz="quarter" idx="45"/>
          </p:nvPr>
        </p:nvSpPr>
        <p:spPr>
          <a:xfrm>
            <a:off x="3117130" y="2339217"/>
            <a:ext cx="1102774" cy="220637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라운드</a:t>
            </a:r>
          </a:p>
        </p:txBody>
      </p:sp>
      <p:sp>
        <p:nvSpPr>
          <p:cNvPr id="52" name="소통 칩"/>
          <p:cNvSpPr/>
          <p:nvPr/>
        </p:nvSpPr>
        <p:spPr>
          <a:xfrm>
            <a:off x="3117130" y="2574563"/>
            <a:ext cx="1102774" cy="222089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53" name="소통 칩"/>
          <p:cNvSpPr>
            <a:spLocks noGrp="1"/>
          </p:cNvSpPr>
          <p:nvPr>
            <p:ph type="body" sz="quarter" idx="46"/>
          </p:nvPr>
        </p:nvSpPr>
        <p:spPr>
          <a:xfrm>
            <a:off x="3117130" y="2574563"/>
            <a:ext cx="1102774" cy="22208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해외 박람회</a:t>
            </a:r>
          </a:p>
        </p:txBody>
      </p:sp>
      <p:sp>
        <p:nvSpPr>
          <p:cNvPr id="54" name="소통 이름"/>
          <p:cNvSpPr>
            <a:spLocks noGrp="1"/>
          </p:cNvSpPr>
          <p:nvPr>
            <p:ph type="body" sz="quarter" idx="47"/>
          </p:nvPr>
        </p:nvSpPr>
        <p:spPr>
          <a:xfrm>
            <a:off x="4241817" y="2339217"/>
            <a:ext cx="1102774" cy="220637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산업 육성</a:t>
            </a:r>
          </a:p>
        </p:txBody>
      </p:sp>
      <p:sp>
        <p:nvSpPr>
          <p:cNvPr id="55" name="소통 칩"/>
          <p:cNvSpPr/>
          <p:nvPr/>
        </p:nvSpPr>
        <p:spPr>
          <a:xfrm>
            <a:off x="4241817" y="2574563"/>
            <a:ext cx="1102774" cy="222089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56" name="소통 칩"/>
          <p:cNvSpPr>
            <a:spLocks noGrp="1"/>
          </p:cNvSpPr>
          <p:nvPr>
            <p:ph type="body" sz="quarter" idx="48"/>
          </p:nvPr>
        </p:nvSpPr>
        <p:spPr>
          <a:xfrm>
            <a:off x="4241817" y="2574563"/>
            <a:ext cx="1102774" cy="22208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해외진출 지원</a:t>
            </a:r>
          </a:p>
        </p:txBody>
      </p:sp>
      <p:sp>
        <p:nvSpPr>
          <p:cNvPr id="57" name="번호"/>
          <p:cNvSpPr>
            <a:spLocks noGrp="1"/>
          </p:cNvSpPr>
          <p:nvPr>
            <p:ph type="body" sz="quarter" idx="49"/>
          </p:nvPr>
        </p:nvSpPr>
        <p:spPr>
          <a:xfrm>
            <a:off x="2919913" y="2829522"/>
            <a:ext cx="175304" cy="49030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BDE0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BDE0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58" name="소통 이름"/>
          <p:cNvSpPr>
            <a:spLocks noGrp="1"/>
          </p:cNvSpPr>
          <p:nvPr>
            <p:ph type="body" sz="quarter" idx="50"/>
          </p:nvPr>
        </p:nvSpPr>
        <p:spPr>
          <a:xfrm>
            <a:off x="3117130" y="2829522"/>
            <a:ext cx="1102774" cy="220637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소통센터</a:t>
            </a:r>
          </a:p>
        </p:txBody>
      </p:sp>
      <p:sp>
        <p:nvSpPr>
          <p:cNvPr id="59" name="소통 칩"/>
          <p:cNvSpPr/>
          <p:nvPr/>
        </p:nvSpPr>
        <p:spPr>
          <a:xfrm>
            <a:off x="3117130" y="3064868"/>
            <a:ext cx="1102774" cy="222089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60" name="소통 칩"/>
          <p:cNvSpPr>
            <a:spLocks noGrp="1"/>
          </p:cNvSpPr>
          <p:nvPr>
            <p:ph type="body" sz="quarter" idx="51"/>
          </p:nvPr>
        </p:nvSpPr>
        <p:spPr>
          <a:xfrm>
            <a:off x="3117130" y="3064868"/>
            <a:ext cx="1102774" cy="22208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 교육</a:t>
            </a:r>
          </a:p>
        </p:txBody>
      </p:sp>
      <p:sp>
        <p:nvSpPr>
          <p:cNvPr id="61" name="소통 이름"/>
          <p:cNvSpPr>
            <a:spLocks noGrp="1"/>
          </p:cNvSpPr>
          <p:nvPr>
            <p:ph type="body" sz="quarter" idx="52"/>
          </p:nvPr>
        </p:nvSpPr>
        <p:spPr>
          <a:xfrm>
            <a:off x="4241817" y="2829522"/>
            <a:ext cx="1102774" cy="220637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VoC 창구</a:t>
            </a:r>
          </a:p>
        </p:txBody>
      </p:sp>
      <p:sp>
        <p:nvSpPr>
          <p:cNvPr id="62" name="소통 칩"/>
          <p:cNvSpPr/>
          <p:nvPr/>
        </p:nvSpPr>
        <p:spPr>
          <a:xfrm>
            <a:off x="4241817" y="3064868"/>
            <a:ext cx="1102774" cy="222089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63" name="소통 칩"/>
          <p:cNvSpPr>
            <a:spLocks noGrp="1"/>
          </p:cNvSpPr>
          <p:nvPr>
            <p:ph type="body" sz="quarter" idx="53"/>
          </p:nvPr>
        </p:nvSpPr>
        <p:spPr>
          <a:xfrm>
            <a:off x="4241817" y="3064868"/>
            <a:ext cx="1102774" cy="22208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인식 제고</a:t>
            </a:r>
          </a:p>
        </p:txBody>
      </p:sp>
      <p:sp>
        <p:nvSpPr>
          <p:cNvPr id="64" name="사진 칸"/>
          <p:cNvSpPr/>
          <p:nvPr/>
        </p:nvSpPr>
        <p:spPr>
          <a:xfrm>
            <a:off x="5421287" y="1358609"/>
            <a:ext cx="634163" cy="620870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65" name="사진 칸"/>
          <p:cNvSpPr>
            <a:spLocks noGrp="1"/>
          </p:cNvSpPr>
          <p:nvPr>
            <p:ph type="body" sz="quarter" idx="54"/>
          </p:nvPr>
        </p:nvSpPr>
        <p:spPr>
          <a:xfrm>
            <a:off x="5421287" y="1358609"/>
            <a:ext cx="634163" cy="62087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66" name="태그"/>
          <p:cNvSpPr/>
          <p:nvPr/>
        </p:nvSpPr>
        <p:spPr>
          <a:xfrm>
            <a:off x="6087706" y="1380522"/>
            <a:ext cx="329103" cy="142435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67" name="태그"/>
          <p:cNvSpPr>
            <a:spLocks noGrp="1"/>
          </p:cNvSpPr>
          <p:nvPr>
            <p:ph type="body" sz="quarter" idx="55"/>
          </p:nvPr>
        </p:nvSpPr>
        <p:spPr>
          <a:xfrm>
            <a:off x="6087706" y="1380522"/>
            <a:ext cx="329103" cy="142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확산</a:t>
            </a:r>
          </a:p>
        </p:txBody>
      </p:sp>
      <p:sp>
        <p:nvSpPr>
          <p:cNvPr id="68" name="확산 글"/>
          <p:cNvSpPr>
            <a:spLocks noGrp="1"/>
          </p:cNvSpPr>
          <p:nvPr>
            <p:ph type="body" sz="quarter" idx="56"/>
          </p:nvPr>
        </p:nvSpPr>
        <p:spPr>
          <a:xfrm>
            <a:off x="6087706" y="1522957"/>
            <a:ext cx="913511" cy="456522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영상 채널 협업</a:t>
            </a:r>
          </a:p>
        </p:txBody>
      </p:sp>
      <p:sp>
        <p:nvSpPr>
          <p:cNvPr id="69" name="사진 칸"/>
          <p:cNvSpPr/>
          <p:nvPr/>
        </p:nvSpPr>
        <p:spPr>
          <a:xfrm>
            <a:off x="5421287" y="2012348"/>
            <a:ext cx="634163" cy="620870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70" name="사진 칸"/>
          <p:cNvSpPr>
            <a:spLocks noGrp="1"/>
          </p:cNvSpPr>
          <p:nvPr>
            <p:ph type="body" sz="quarter" idx="57"/>
          </p:nvPr>
        </p:nvSpPr>
        <p:spPr>
          <a:xfrm>
            <a:off x="5421287" y="2012348"/>
            <a:ext cx="634163" cy="62087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71" name="태그"/>
          <p:cNvSpPr/>
          <p:nvPr/>
        </p:nvSpPr>
        <p:spPr>
          <a:xfrm>
            <a:off x="6087706" y="2034261"/>
            <a:ext cx="329103" cy="142435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72" name="태그"/>
          <p:cNvSpPr>
            <a:spLocks noGrp="1"/>
          </p:cNvSpPr>
          <p:nvPr>
            <p:ph type="body" sz="quarter" idx="58"/>
          </p:nvPr>
        </p:nvSpPr>
        <p:spPr>
          <a:xfrm>
            <a:off x="6087706" y="2034261"/>
            <a:ext cx="329103" cy="142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혁신</a:t>
            </a:r>
          </a:p>
        </p:txBody>
      </p:sp>
      <p:sp>
        <p:nvSpPr>
          <p:cNvPr id="73" name="확산 글"/>
          <p:cNvSpPr>
            <a:spLocks noGrp="1"/>
          </p:cNvSpPr>
          <p:nvPr>
            <p:ph type="body" sz="quarter" idx="59"/>
          </p:nvPr>
        </p:nvSpPr>
        <p:spPr>
          <a:xfrm>
            <a:off x="6087706" y="2176696"/>
            <a:ext cx="913511" cy="456522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콘텐츠 도입</a:t>
            </a:r>
          </a:p>
        </p:txBody>
      </p:sp>
      <p:sp>
        <p:nvSpPr>
          <p:cNvPr id="74" name="사진 칸"/>
          <p:cNvSpPr/>
          <p:nvPr/>
        </p:nvSpPr>
        <p:spPr>
          <a:xfrm>
            <a:off x="5421287" y="2666087"/>
            <a:ext cx="634163" cy="620870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75" name="사진 칸"/>
          <p:cNvSpPr>
            <a:spLocks noGrp="1"/>
          </p:cNvSpPr>
          <p:nvPr>
            <p:ph type="body" sz="quarter" idx="60"/>
          </p:nvPr>
        </p:nvSpPr>
        <p:spPr>
          <a:xfrm>
            <a:off x="5421287" y="2666087"/>
            <a:ext cx="634163" cy="62087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76" name="태그"/>
          <p:cNvSpPr/>
          <p:nvPr/>
        </p:nvSpPr>
        <p:spPr>
          <a:xfrm>
            <a:off x="6087706" y="2688000"/>
            <a:ext cx="329103" cy="142435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77" name="태그"/>
          <p:cNvSpPr>
            <a:spLocks noGrp="1"/>
          </p:cNvSpPr>
          <p:nvPr>
            <p:ph type="body" sz="quarter" idx="61"/>
          </p:nvPr>
        </p:nvSpPr>
        <p:spPr>
          <a:xfrm>
            <a:off x="6087706" y="2688000"/>
            <a:ext cx="329103" cy="142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몰입</a:t>
            </a:r>
          </a:p>
        </p:txBody>
      </p:sp>
      <p:sp>
        <p:nvSpPr>
          <p:cNvPr id="78" name="확산 글"/>
          <p:cNvSpPr>
            <a:spLocks noGrp="1"/>
          </p:cNvSpPr>
          <p:nvPr>
            <p:ph type="body" sz="quarter" idx="62"/>
          </p:nvPr>
        </p:nvSpPr>
        <p:spPr>
          <a:xfrm>
            <a:off x="6087706" y="2830435"/>
            <a:ext cx="913511" cy="456522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숏폼 등 확대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27 서사 · 혁신연계 → 3대 TF(전략·실행·2030 미래상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설립목적·가치체계 등 본격 이행을 위한 3대 TF 운영</a:t>
            </a:r>
          </a:p>
        </p:txBody>
      </p:sp>
      <p:sp>
        <p:nvSpPr>
          <p:cNvPr id="15" name="번호 띠 칩"/>
          <p:cNvSpPr/>
          <p:nvPr/>
        </p:nvSpPr>
        <p:spPr>
          <a:xfrm>
            <a:off x="6241922" y="832696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번호 띠 칩"/>
          <p:cNvSpPr>
            <a:spLocks noGrp="1"/>
          </p:cNvSpPr>
          <p:nvPr>
            <p:ph type="body" sz="quarter" idx="22"/>
          </p:nvPr>
        </p:nvSpPr>
        <p:spPr>
          <a:xfrm>
            <a:off x="6241922" y="832696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7" name="표 외곽"/>
          <p:cNvSpPr/>
          <p:nvPr/>
        </p:nvSpPr>
        <p:spPr>
          <a:xfrm>
            <a:off x="536870" y="1117565"/>
            <a:ext cx="6300000" cy="89029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레일"/>
          <p:cNvSpPr/>
          <p:nvPr/>
        </p:nvSpPr>
        <p:spPr>
          <a:xfrm>
            <a:off x="547826" y="1134000"/>
            <a:ext cx="580696" cy="85742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레일"/>
          <p:cNvSpPr>
            <a:spLocks noGrp="1"/>
          </p:cNvSpPr>
          <p:nvPr>
            <p:ph type="body" sz="quarter" idx="23"/>
          </p:nvPr>
        </p:nvSpPr>
        <p:spPr>
          <a:xfrm>
            <a:off x="547826" y="1134000"/>
            <a:ext cx="580696" cy="8574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그간의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혁신연계</a:t>
            </a:r>
          </a:p>
        </p:txBody>
      </p:sp>
      <p:sp>
        <p:nvSpPr>
          <p:cNvPr id="20" name="배너"/>
          <p:cNvSpPr/>
          <p:nvPr/>
        </p:nvSpPr>
        <p:spPr>
          <a:xfrm>
            <a:off x="1161391" y="1155913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1" name="배너"/>
          <p:cNvSpPr>
            <a:spLocks noGrp="1"/>
          </p:cNvSpPr>
          <p:nvPr>
            <p:ph type="body" sz="quarter" idx="24"/>
          </p:nvPr>
        </p:nvSpPr>
        <p:spPr>
          <a:xfrm>
            <a:off x="1161391" y="1155913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그동안 다져온 역량과 기술력을 기반으로 선제적 실행엔진 가동</a:t>
            </a:r>
          </a:p>
        </p:txBody>
      </p:sp>
      <p:sp>
        <p:nvSpPr>
          <p:cNvPr id="22" name="단계"/>
          <p:cNvSpPr/>
          <p:nvPr/>
        </p:nvSpPr>
        <p:spPr>
          <a:xfrm>
            <a:off x="1161391" y="1391478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3" name="단계"/>
          <p:cNvSpPr>
            <a:spLocks noGrp="1"/>
          </p:cNvSpPr>
          <p:nvPr>
            <p:ph type="body" sz="quarter" idx="25"/>
          </p:nvPr>
        </p:nvSpPr>
        <p:spPr>
          <a:xfrm>
            <a:off x="1161391" y="139147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’23년 새로운 전략</a:t>
            </a:r>
          </a:p>
        </p:txBody>
      </p:sp>
      <p:sp>
        <p:nvSpPr>
          <p:cNvPr id="24" name="단계"/>
          <p:cNvSpPr/>
          <p:nvPr/>
        </p:nvSpPr>
        <p:spPr>
          <a:xfrm>
            <a:off x="3044087" y="1391478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5" name="단계"/>
          <p:cNvSpPr>
            <a:spLocks noGrp="1"/>
          </p:cNvSpPr>
          <p:nvPr>
            <p:ph type="body" sz="quarter" idx="26"/>
          </p:nvPr>
        </p:nvSpPr>
        <p:spPr>
          <a:xfrm>
            <a:off x="3044087" y="139147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재도약의 원년</a:t>
            </a:r>
          </a:p>
        </p:txBody>
      </p:sp>
      <p:sp>
        <p:nvSpPr>
          <p:cNvPr id="26" name="단계"/>
          <p:cNvSpPr/>
          <p:nvPr/>
        </p:nvSpPr>
        <p:spPr>
          <a:xfrm>
            <a:off x="4926783" y="1391478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7" name="단계"/>
          <p:cNvSpPr>
            <a:spLocks noGrp="1"/>
          </p:cNvSpPr>
          <p:nvPr>
            <p:ph type="body" sz="quarter" idx="27"/>
          </p:nvPr>
        </p:nvSpPr>
        <p:spPr>
          <a:xfrm>
            <a:off x="4926783" y="139147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’25년 핵심과제로 구체화</a:t>
            </a:r>
          </a:p>
        </p:txBody>
      </p:sp>
      <p:sp>
        <p:nvSpPr>
          <p:cNvPr id="28" name="단계 삼각형"/>
          <p:cNvSpPr/>
          <p:nvPr/>
        </p:nvSpPr>
        <p:spPr>
          <a:xfrm>
            <a:off x="3044086" y="1391478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단계 삼각형"/>
          <p:cNvSpPr/>
          <p:nvPr/>
        </p:nvSpPr>
        <p:spPr>
          <a:xfrm>
            <a:off x="4926782" y="1391478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0" name="칸 본문"/>
          <p:cNvSpPr>
            <a:spLocks noGrp="1"/>
          </p:cNvSpPr>
          <p:nvPr>
            <p:ph type="body" sz="quarter" idx="28"/>
          </p:nvPr>
        </p:nvSpPr>
        <p:spPr>
          <a:xfrm>
            <a:off x="1172348" y="1643478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추진단 출범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「비전」 선포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29"/>
          </p:nvPr>
        </p:nvSpPr>
        <p:spPr>
          <a:xfrm>
            <a:off x="3055043" y="1643478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사업규모와 시장을 넓히는 추진단</a:t>
            </a:r>
          </a:p>
        </p:txBody>
      </p:sp>
      <p:cxnSp>
        <p:nvCxnSpPr>
          <p:cNvPr id="32" name="Connector 22"/>
          <p:cNvCxnSpPr/>
          <p:nvPr/>
        </p:nvCxnSpPr>
        <p:spPr>
          <a:xfrm>
            <a:off x="3044087" y="1676348"/>
            <a:ext cx="0" cy="2767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칸 본문"/>
          <p:cNvSpPr>
            <a:spLocks noGrp="1"/>
          </p:cNvSpPr>
          <p:nvPr>
            <p:ph type="body" sz="quarter" idx="30"/>
          </p:nvPr>
        </p:nvSpPr>
        <p:spPr>
          <a:xfrm>
            <a:off x="4937739" y="1643478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전략기획단 ＋ TF 신설</a:t>
            </a:r>
          </a:p>
        </p:txBody>
      </p:sp>
      <p:cxnSp>
        <p:nvCxnSpPr>
          <p:cNvPr id="34" name="Connector 24"/>
          <p:cNvCxnSpPr/>
          <p:nvPr/>
        </p:nvCxnSpPr>
        <p:spPr>
          <a:xfrm>
            <a:off x="4926783" y="1676348"/>
            <a:ext cx="0" cy="2767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5" name="캡션 띠"/>
          <p:cNvSpPr/>
          <p:nvPr/>
        </p:nvSpPr>
        <p:spPr>
          <a:xfrm>
            <a:off x="536869" y="2029773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6" name="태그"/>
          <p:cNvSpPr/>
          <p:nvPr/>
        </p:nvSpPr>
        <p:spPr>
          <a:xfrm>
            <a:off x="865565" y="2073600"/>
            <a:ext cx="483274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7" name="태그"/>
          <p:cNvSpPr>
            <a:spLocks noGrp="1"/>
          </p:cNvSpPr>
          <p:nvPr>
            <p:ph type="body" sz="quarter" idx="31"/>
          </p:nvPr>
        </p:nvSpPr>
        <p:spPr>
          <a:xfrm>
            <a:off x="865565" y="2073600"/>
            <a:ext cx="483274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전환</a:t>
            </a:r>
          </a:p>
        </p:txBody>
      </p:sp>
      <p:sp>
        <p:nvSpPr>
          <p:cNvPr id="38" name="캡션"/>
          <p:cNvSpPr>
            <a:spLocks noGrp="1"/>
          </p:cNvSpPr>
          <p:nvPr>
            <p:ph type="body" sz="quarter" idx="32"/>
          </p:nvPr>
        </p:nvSpPr>
        <p:spPr>
          <a:xfrm>
            <a:off x="1403622" y="2029774"/>
            <a:ext cx="5214117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정부는 글로벌 AI 3대 강국, 우리는 2030 1위 도약</a:t>
            </a:r>
          </a:p>
        </p:txBody>
      </p:sp>
      <p:sp>
        <p:nvSpPr>
          <p:cNvPr id="39" name="표 외곽"/>
          <p:cNvSpPr/>
          <p:nvPr/>
        </p:nvSpPr>
        <p:spPr>
          <a:xfrm>
            <a:off x="536870" y="2336557"/>
            <a:ext cx="6300000" cy="2031339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0" name="레일"/>
          <p:cNvSpPr/>
          <p:nvPr/>
        </p:nvSpPr>
        <p:spPr>
          <a:xfrm>
            <a:off x="547826" y="2352991"/>
            <a:ext cx="580696" cy="9698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1" name="레일"/>
          <p:cNvSpPr>
            <a:spLocks noGrp="1"/>
          </p:cNvSpPr>
          <p:nvPr>
            <p:ph type="body" sz="quarter" idx="33"/>
          </p:nvPr>
        </p:nvSpPr>
        <p:spPr>
          <a:xfrm>
            <a:off x="547826" y="2352991"/>
            <a:ext cx="580696" cy="9698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기획단</a:t>
            </a:r>
          </a:p>
        </p:txBody>
      </p:sp>
      <p:sp>
        <p:nvSpPr>
          <p:cNvPr id="42" name="단계"/>
          <p:cNvSpPr/>
          <p:nvPr/>
        </p:nvSpPr>
        <p:spPr>
          <a:xfrm>
            <a:off x="1161391" y="2374904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3" name="단계"/>
          <p:cNvSpPr>
            <a:spLocks noGrp="1"/>
          </p:cNvSpPr>
          <p:nvPr>
            <p:ph type="body" sz="quarter" idx="34"/>
          </p:nvPr>
        </p:nvSpPr>
        <p:spPr>
          <a:xfrm>
            <a:off x="1161391" y="237490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입증된 AI 글로벌 역량</a:t>
            </a:r>
          </a:p>
        </p:txBody>
      </p:sp>
      <p:sp>
        <p:nvSpPr>
          <p:cNvPr id="44" name="단계"/>
          <p:cNvSpPr/>
          <p:nvPr/>
        </p:nvSpPr>
        <p:spPr>
          <a:xfrm>
            <a:off x="3044087" y="2374904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5" name="단계"/>
          <p:cNvSpPr>
            <a:spLocks noGrp="1"/>
          </p:cNvSpPr>
          <p:nvPr>
            <p:ph type="body" sz="quarter" idx="35"/>
          </p:nvPr>
        </p:nvSpPr>
        <p:spPr>
          <a:xfrm>
            <a:off x="3044087" y="237490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’25–’29 전략환류</a:t>
            </a:r>
          </a:p>
        </p:txBody>
      </p:sp>
      <p:sp>
        <p:nvSpPr>
          <p:cNvPr id="46" name="단계"/>
          <p:cNvSpPr/>
          <p:nvPr/>
        </p:nvSpPr>
        <p:spPr>
          <a:xfrm>
            <a:off x="4926783" y="2374904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7" name="단계"/>
          <p:cNvSpPr>
            <a:spLocks noGrp="1"/>
          </p:cNvSpPr>
          <p:nvPr>
            <p:ph type="body" sz="quarter" idx="36"/>
          </p:nvPr>
        </p:nvSpPr>
        <p:spPr>
          <a:xfrm>
            <a:off x="4926783" y="237490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성장 연계 전략기획단</a:t>
            </a:r>
          </a:p>
        </p:txBody>
      </p:sp>
      <p:sp>
        <p:nvSpPr>
          <p:cNvPr id="48" name="단계 삼각형"/>
          <p:cNvSpPr/>
          <p:nvPr/>
        </p:nvSpPr>
        <p:spPr>
          <a:xfrm>
            <a:off x="3044086" y="2374904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9" name="단계 삼각형"/>
          <p:cNvSpPr/>
          <p:nvPr/>
        </p:nvSpPr>
        <p:spPr>
          <a:xfrm>
            <a:off x="4926782" y="2374904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0" name="칸 본문"/>
          <p:cNvSpPr>
            <a:spLocks noGrp="1"/>
          </p:cNvSpPr>
          <p:nvPr>
            <p:ph type="body" sz="quarter" idx="37"/>
          </p:nvPr>
        </p:nvSpPr>
        <p:spPr>
          <a:xfrm>
            <a:off x="1172348" y="2626904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선정 사례(최초)</a:t>
            </a:r>
          </a:p>
        </p:txBody>
      </p:sp>
      <p:sp>
        <p:nvSpPr>
          <p:cNvPr id="51" name="칸 본문"/>
          <p:cNvSpPr>
            <a:spLocks noGrp="1"/>
          </p:cNvSpPr>
          <p:nvPr>
            <p:ph type="body" sz="quarter" idx="38"/>
          </p:nvPr>
        </p:nvSpPr>
        <p:spPr>
          <a:xfrm>
            <a:off x="3055043" y="2626904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초격차 기술로 글로벌 선도</a:t>
            </a:r>
          </a:p>
        </p:txBody>
      </p:sp>
      <p:cxnSp>
        <p:nvCxnSpPr>
          <p:cNvPr id="52" name="Connector 37"/>
          <p:cNvCxnSpPr/>
          <p:nvPr/>
        </p:nvCxnSpPr>
        <p:spPr>
          <a:xfrm>
            <a:off x="3044087" y="2659774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3" name="칸 본문"/>
          <p:cNvSpPr>
            <a:spLocks noGrp="1"/>
          </p:cNvSpPr>
          <p:nvPr>
            <p:ph type="body" sz="quarter" idx="39"/>
          </p:nvPr>
        </p:nvSpPr>
        <p:spPr>
          <a:xfrm>
            <a:off x="4937739" y="2626904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‘3대 목표 – 7대 전략 – 132개 과제’ 수립</a:t>
            </a:r>
          </a:p>
        </p:txBody>
      </p:sp>
      <p:cxnSp>
        <p:nvCxnSpPr>
          <p:cNvPr id="54" name="Connector 39"/>
          <p:cNvCxnSpPr/>
          <p:nvPr/>
        </p:nvCxnSpPr>
        <p:spPr>
          <a:xfrm>
            <a:off x="4926783" y="2659774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5" name="칸 본문"/>
          <p:cNvSpPr>
            <a:spLocks noGrp="1"/>
          </p:cNvSpPr>
          <p:nvPr>
            <p:ph type="body" sz="quarter" idx="40"/>
          </p:nvPr>
        </p:nvSpPr>
        <p:spPr>
          <a:xfrm>
            <a:off x="1172348" y="2980330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전략방향: AI 확산 본격화</a:t>
            </a:r>
          </a:p>
        </p:txBody>
      </p:sp>
      <p:sp>
        <p:nvSpPr>
          <p:cNvPr id="56" name="칸 본문"/>
          <p:cNvSpPr>
            <a:spLocks noGrp="1"/>
          </p:cNvSpPr>
          <p:nvPr>
            <p:ph type="body" sz="quarter" idx="41"/>
          </p:nvPr>
        </p:nvSpPr>
        <p:spPr>
          <a:xfrm>
            <a:off x="3055043" y="2980330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국정과제: AI 3대 강국 도약</a:t>
            </a:r>
          </a:p>
        </p:txBody>
      </p:sp>
      <p:cxnSp>
        <p:nvCxnSpPr>
          <p:cNvPr id="57" name="Connector 42"/>
          <p:cNvCxnSpPr/>
          <p:nvPr/>
        </p:nvCxnSpPr>
        <p:spPr>
          <a:xfrm>
            <a:off x="3044087" y="3013200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8" name="칸 본문"/>
          <p:cNvSpPr>
            <a:spLocks noGrp="1"/>
          </p:cNvSpPr>
          <p:nvPr>
            <p:ph type="body" sz="quarter" idx="42"/>
          </p:nvPr>
        </p:nvSpPr>
        <p:spPr>
          <a:xfrm>
            <a:off x="4937739" y="2980330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초연결 업무환경 · 완전 자율운영 · 생태계</a:t>
            </a:r>
          </a:p>
        </p:txBody>
      </p:sp>
      <p:cxnSp>
        <p:nvCxnSpPr>
          <p:cNvPr id="59" name="Connector 44"/>
          <p:cNvCxnSpPr/>
          <p:nvPr/>
        </p:nvCxnSpPr>
        <p:spPr>
          <a:xfrm>
            <a:off x="4926783" y="3013200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0" name="레일"/>
          <p:cNvSpPr/>
          <p:nvPr/>
        </p:nvSpPr>
        <p:spPr>
          <a:xfrm>
            <a:off x="547826" y="3339235"/>
            <a:ext cx="580696" cy="1012226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1" name="레일"/>
          <p:cNvSpPr>
            <a:spLocks noGrp="1"/>
          </p:cNvSpPr>
          <p:nvPr>
            <p:ph type="body" sz="quarter" idx="43"/>
          </p:nvPr>
        </p:nvSpPr>
        <p:spPr>
          <a:xfrm>
            <a:off x="547826" y="3339235"/>
            <a:ext cx="580696" cy="10122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2030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미래상</a:t>
            </a:r>
          </a:p>
        </p:txBody>
      </p:sp>
      <p:sp>
        <p:nvSpPr>
          <p:cNvPr id="62" name="레일 삼각형"/>
          <p:cNvSpPr/>
          <p:nvPr/>
        </p:nvSpPr>
        <p:spPr>
          <a:xfrm>
            <a:off x="547826" y="3339234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3" name="배너"/>
          <p:cNvSpPr/>
          <p:nvPr/>
        </p:nvSpPr>
        <p:spPr>
          <a:xfrm>
            <a:off x="1161391" y="3361148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64" name="배너"/>
          <p:cNvSpPr>
            <a:spLocks noGrp="1"/>
          </p:cNvSpPr>
          <p:nvPr>
            <p:ph type="body" sz="quarter" idx="44"/>
          </p:nvPr>
        </p:nvSpPr>
        <p:spPr>
          <a:xfrm>
            <a:off x="1161391" y="3361148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2030년까지 AI분야 글로벌 Top1 달성을 위한 전략·실행로드맵 수립</a:t>
            </a:r>
          </a:p>
        </p:txBody>
      </p:sp>
      <p:sp>
        <p:nvSpPr>
          <p:cNvPr id="65" name="단계"/>
          <p:cNvSpPr/>
          <p:nvPr/>
        </p:nvSpPr>
        <p:spPr>
          <a:xfrm>
            <a:off x="1161391" y="3596713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6" name="단계"/>
          <p:cNvSpPr>
            <a:spLocks noGrp="1"/>
          </p:cNvSpPr>
          <p:nvPr>
            <p:ph type="body" sz="quarter" idx="45"/>
          </p:nvPr>
        </p:nvSpPr>
        <p:spPr>
          <a:xfrm>
            <a:off x="1161391" y="359671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금년(’25)</a:t>
            </a:r>
          </a:p>
        </p:txBody>
      </p:sp>
      <p:sp>
        <p:nvSpPr>
          <p:cNvPr id="67" name="단계"/>
          <p:cNvSpPr/>
          <p:nvPr/>
        </p:nvSpPr>
        <p:spPr>
          <a:xfrm>
            <a:off x="3044087" y="3596713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8" name="단계"/>
          <p:cNvSpPr>
            <a:spLocks noGrp="1"/>
          </p:cNvSpPr>
          <p:nvPr>
            <p:ph type="body" sz="quarter" idx="46"/>
          </p:nvPr>
        </p:nvSpPr>
        <p:spPr>
          <a:xfrm>
            <a:off x="3044087" y="359671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단기(’28)</a:t>
            </a:r>
          </a:p>
        </p:txBody>
      </p:sp>
      <p:sp>
        <p:nvSpPr>
          <p:cNvPr id="69" name="단계"/>
          <p:cNvSpPr/>
          <p:nvPr/>
        </p:nvSpPr>
        <p:spPr>
          <a:xfrm>
            <a:off x="4926783" y="3596713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0" name="단계"/>
          <p:cNvSpPr>
            <a:spLocks noGrp="1"/>
          </p:cNvSpPr>
          <p:nvPr>
            <p:ph type="body" sz="quarter" idx="47"/>
          </p:nvPr>
        </p:nvSpPr>
        <p:spPr>
          <a:xfrm>
            <a:off x="4926783" y="359671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장기(’30)</a:t>
            </a:r>
          </a:p>
        </p:txBody>
      </p:sp>
      <p:sp>
        <p:nvSpPr>
          <p:cNvPr id="71" name="단계 삼각형"/>
          <p:cNvSpPr/>
          <p:nvPr/>
        </p:nvSpPr>
        <p:spPr>
          <a:xfrm>
            <a:off x="3044086" y="3596713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2" name="단계 삼각형"/>
          <p:cNvSpPr/>
          <p:nvPr/>
        </p:nvSpPr>
        <p:spPr>
          <a:xfrm>
            <a:off x="4926782" y="359671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3" name="칸 본문"/>
          <p:cNvSpPr>
            <a:spLocks noGrp="1"/>
          </p:cNvSpPr>
          <p:nvPr>
            <p:ph type="body" sz="quarter" idx="48"/>
          </p:nvPr>
        </p:nvSpPr>
        <p:spPr>
          <a:xfrm>
            <a:off x="1172348" y="3848713"/>
            <a:ext cx="1860783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First 전략 수립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기술·인적·제도적 토대 구축</a:t>
            </a:r>
          </a:p>
        </p:txBody>
      </p:sp>
      <p:sp>
        <p:nvSpPr>
          <p:cNvPr id="74" name="칸 본문"/>
          <p:cNvSpPr>
            <a:spLocks noGrp="1"/>
          </p:cNvSpPr>
          <p:nvPr>
            <p:ph type="body" sz="quarter" idx="49"/>
          </p:nvPr>
        </p:nvSpPr>
        <p:spPr>
          <a:xfrm>
            <a:off x="3055043" y="3848713"/>
            <a:ext cx="1860783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솔루션 도입 및 확산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국제 표준화 글로벌 확산기반 마련</a:t>
            </a:r>
          </a:p>
        </p:txBody>
      </p:sp>
      <p:cxnSp>
        <p:nvCxnSpPr>
          <p:cNvPr id="75" name="Connector 55"/>
          <p:cNvCxnSpPr/>
          <p:nvPr/>
        </p:nvCxnSpPr>
        <p:spPr>
          <a:xfrm>
            <a:off x="3044087" y="3881583"/>
            <a:ext cx="0" cy="4315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6" name="칸 본문"/>
          <p:cNvSpPr>
            <a:spLocks noGrp="1"/>
          </p:cNvSpPr>
          <p:nvPr>
            <p:ph type="body" sz="quarter" idx="50"/>
          </p:nvPr>
        </p:nvSpPr>
        <p:spPr>
          <a:xfrm>
            <a:off x="4937739" y="3848713"/>
            <a:ext cx="1860783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자율형 시스템 완성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세계 시장 리더십 확보</a:t>
            </a:r>
          </a:p>
        </p:txBody>
      </p:sp>
      <p:cxnSp>
        <p:nvCxnSpPr>
          <p:cNvPr id="77" name="Connector 57"/>
          <p:cNvCxnSpPr/>
          <p:nvPr/>
        </p:nvCxnSpPr>
        <p:spPr>
          <a:xfrm>
            <a:off x="4926783" y="3881583"/>
            <a:ext cx="0" cy="4315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8" name="캡션 띠"/>
          <p:cNvSpPr/>
          <p:nvPr/>
        </p:nvSpPr>
        <p:spPr>
          <a:xfrm>
            <a:off x="536869" y="4389808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9" name="태그"/>
          <p:cNvSpPr/>
          <p:nvPr/>
        </p:nvSpPr>
        <p:spPr>
          <a:xfrm>
            <a:off x="865565" y="4433635"/>
            <a:ext cx="402033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80" name="태그"/>
          <p:cNvSpPr>
            <a:spLocks noGrp="1"/>
          </p:cNvSpPr>
          <p:nvPr>
            <p:ph type="body" sz="quarter" idx="51"/>
          </p:nvPr>
        </p:nvSpPr>
        <p:spPr>
          <a:xfrm>
            <a:off x="865565" y="4433635"/>
            <a:ext cx="402033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재생e</a:t>
            </a:r>
          </a:p>
        </p:txBody>
      </p:sp>
      <p:sp>
        <p:nvSpPr>
          <p:cNvPr id="81" name="캡션"/>
          <p:cNvSpPr>
            <a:spLocks noGrp="1"/>
          </p:cNvSpPr>
          <p:nvPr>
            <p:ph type="body" sz="quarter" idx="52"/>
          </p:nvPr>
        </p:nvSpPr>
        <p:spPr>
          <a:xfrm>
            <a:off x="1322381" y="4389809"/>
            <a:ext cx="5295358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재생에너지 100GW 국정과제 동행, 인프라로 10GW 조기확보</a:t>
            </a:r>
          </a:p>
        </p:txBody>
      </p:sp>
      <p:sp>
        <p:nvSpPr>
          <p:cNvPr id="82" name="표 외곽"/>
          <p:cNvSpPr/>
          <p:nvPr/>
        </p:nvSpPr>
        <p:spPr>
          <a:xfrm>
            <a:off x="536870" y="4696591"/>
            <a:ext cx="6300000" cy="174756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3" name="레일"/>
          <p:cNvSpPr/>
          <p:nvPr/>
        </p:nvSpPr>
        <p:spPr>
          <a:xfrm>
            <a:off x="547826" y="4713026"/>
            <a:ext cx="580696" cy="86556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84" name="레일"/>
          <p:cNvSpPr>
            <a:spLocks noGrp="1"/>
          </p:cNvSpPr>
          <p:nvPr>
            <p:ph type="body" sz="quarter" idx="53"/>
          </p:nvPr>
        </p:nvSpPr>
        <p:spPr>
          <a:xfrm>
            <a:off x="547826" y="4713026"/>
            <a:ext cx="580696" cy="865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에너지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TF</a:t>
            </a:r>
          </a:p>
        </p:txBody>
      </p:sp>
      <p:sp>
        <p:nvSpPr>
          <p:cNvPr id="85" name="단계"/>
          <p:cNvSpPr/>
          <p:nvPr/>
        </p:nvSpPr>
        <p:spPr>
          <a:xfrm>
            <a:off x="1161391" y="4734939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86" name="단계"/>
          <p:cNvSpPr>
            <a:spLocks noGrp="1"/>
          </p:cNvSpPr>
          <p:nvPr>
            <p:ph type="body" sz="quarter" idx="54"/>
          </p:nvPr>
        </p:nvSpPr>
        <p:spPr>
          <a:xfrm>
            <a:off x="1161391" y="473493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국내 설비용량 1위</a:t>
            </a:r>
          </a:p>
        </p:txBody>
      </p:sp>
      <p:sp>
        <p:nvSpPr>
          <p:cNvPr id="87" name="단계"/>
          <p:cNvSpPr/>
          <p:nvPr/>
        </p:nvSpPr>
        <p:spPr>
          <a:xfrm>
            <a:off x="3044087" y="4734939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88" name="단계"/>
          <p:cNvSpPr>
            <a:spLocks noGrp="1"/>
          </p:cNvSpPr>
          <p:nvPr>
            <p:ph type="body" sz="quarter" idx="55"/>
          </p:nvPr>
        </p:nvSpPr>
        <p:spPr>
          <a:xfrm>
            <a:off x="3044087" y="473493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’25–’29 전략환류</a:t>
            </a:r>
          </a:p>
        </p:txBody>
      </p:sp>
      <p:sp>
        <p:nvSpPr>
          <p:cNvPr id="89" name="단계"/>
          <p:cNvSpPr/>
          <p:nvPr/>
        </p:nvSpPr>
        <p:spPr>
          <a:xfrm>
            <a:off x="4926783" y="4734939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90" name="단계"/>
          <p:cNvSpPr>
            <a:spLocks noGrp="1"/>
          </p:cNvSpPr>
          <p:nvPr>
            <p:ph type="body" sz="quarter" idx="56"/>
          </p:nvPr>
        </p:nvSpPr>
        <p:spPr>
          <a:xfrm>
            <a:off x="4926783" y="473493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속도감 있는 도전</a:t>
            </a:r>
          </a:p>
        </p:txBody>
      </p:sp>
      <p:sp>
        <p:nvSpPr>
          <p:cNvPr id="91" name="단계 삼각형"/>
          <p:cNvSpPr/>
          <p:nvPr/>
        </p:nvSpPr>
        <p:spPr>
          <a:xfrm>
            <a:off x="3044086" y="4734939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92" name="단계 삼각형"/>
          <p:cNvSpPr/>
          <p:nvPr/>
        </p:nvSpPr>
        <p:spPr>
          <a:xfrm>
            <a:off x="4926782" y="4734939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93" name="칸 본문"/>
          <p:cNvSpPr>
            <a:spLocks noGrp="1"/>
          </p:cNvSpPr>
          <p:nvPr>
            <p:ph type="body" sz="quarter" idx="57"/>
          </p:nvPr>
        </p:nvSpPr>
        <p:spPr>
          <a:xfrm>
            <a:off x="1172348" y="4986939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성장 정체 우려</a:t>
            </a:r>
          </a:p>
        </p:txBody>
      </p:sp>
      <p:sp>
        <p:nvSpPr>
          <p:cNvPr id="94" name="칸 본문"/>
          <p:cNvSpPr>
            <a:spLocks noGrp="1"/>
          </p:cNvSpPr>
          <p:nvPr>
            <p:ph type="body" sz="quarter" idx="58"/>
          </p:nvPr>
        </p:nvSpPr>
        <p:spPr>
          <a:xfrm>
            <a:off x="3055043" y="4986939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저탄소 에너지 전환</a:t>
            </a:r>
          </a:p>
        </p:txBody>
      </p:sp>
      <p:cxnSp>
        <p:nvCxnSpPr>
          <p:cNvPr id="95" name="Connector 70"/>
          <p:cNvCxnSpPr/>
          <p:nvPr/>
        </p:nvCxnSpPr>
        <p:spPr>
          <a:xfrm>
            <a:off x="3044087" y="5019809"/>
            <a:ext cx="0" cy="24104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96" name="칸 본문"/>
          <p:cNvSpPr>
            <a:spLocks noGrp="1"/>
          </p:cNvSpPr>
          <p:nvPr>
            <p:ph type="body" sz="quarter" idx="59"/>
          </p:nvPr>
        </p:nvSpPr>
        <p:spPr>
          <a:xfrm>
            <a:off x="4937739" y="4986939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‘2030년까지 10GW(누적) 개발’</a:t>
            </a:r>
          </a:p>
        </p:txBody>
      </p:sp>
      <p:cxnSp>
        <p:nvCxnSpPr>
          <p:cNvPr id="97" name="Connector 72"/>
          <p:cNvCxnSpPr/>
          <p:nvPr/>
        </p:nvCxnSpPr>
        <p:spPr>
          <a:xfrm>
            <a:off x="4926783" y="5019809"/>
            <a:ext cx="0" cy="24104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98" name="칸 본문"/>
          <p:cNvSpPr>
            <a:spLocks noGrp="1"/>
          </p:cNvSpPr>
          <p:nvPr>
            <p:ph type="body" sz="quarter" idx="60"/>
          </p:nvPr>
        </p:nvSpPr>
        <p:spPr>
          <a:xfrm>
            <a:off x="1172348" y="5310157"/>
            <a:ext cx="1860783" cy="262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이익공유형 태양광</a:t>
            </a:r>
          </a:p>
        </p:txBody>
      </p:sp>
      <p:sp>
        <p:nvSpPr>
          <p:cNvPr id="99" name="칸 본문"/>
          <p:cNvSpPr>
            <a:spLocks noGrp="1"/>
          </p:cNvSpPr>
          <p:nvPr>
            <p:ph type="body" sz="quarter" idx="61"/>
          </p:nvPr>
        </p:nvSpPr>
        <p:spPr>
          <a:xfrm>
            <a:off x="3055043" y="5310157"/>
            <a:ext cx="1860783" cy="262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재생e 개발 확대</a:t>
            </a:r>
          </a:p>
        </p:txBody>
      </p:sp>
      <p:cxnSp>
        <p:nvCxnSpPr>
          <p:cNvPr id="100" name="Connector 75"/>
          <p:cNvCxnSpPr/>
          <p:nvPr/>
        </p:nvCxnSpPr>
        <p:spPr>
          <a:xfrm>
            <a:off x="3044087" y="5343026"/>
            <a:ext cx="0" cy="19721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01" name="칸 본문"/>
          <p:cNvSpPr>
            <a:spLocks noGrp="1"/>
          </p:cNvSpPr>
          <p:nvPr>
            <p:ph type="body" sz="quarter" idx="62"/>
          </p:nvPr>
        </p:nvSpPr>
        <p:spPr>
          <a:xfrm>
            <a:off x="4937739" y="5310157"/>
            <a:ext cx="1860783" cy="262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 RE100 확산</a:t>
            </a:r>
          </a:p>
        </p:txBody>
      </p:sp>
      <p:cxnSp>
        <p:nvCxnSpPr>
          <p:cNvPr id="102" name="Connector 77"/>
          <p:cNvCxnSpPr/>
          <p:nvPr/>
        </p:nvCxnSpPr>
        <p:spPr>
          <a:xfrm>
            <a:off x="4926783" y="5343026"/>
            <a:ext cx="0" cy="19721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03" name="레일"/>
          <p:cNvSpPr/>
          <p:nvPr/>
        </p:nvSpPr>
        <p:spPr>
          <a:xfrm>
            <a:off x="547826" y="5595026"/>
            <a:ext cx="580696" cy="832696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04" name="레일"/>
          <p:cNvSpPr>
            <a:spLocks noGrp="1"/>
          </p:cNvSpPr>
          <p:nvPr>
            <p:ph type="body" sz="quarter" idx="63"/>
          </p:nvPr>
        </p:nvSpPr>
        <p:spPr>
          <a:xfrm>
            <a:off x="547826" y="5595026"/>
            <a:ext cx="580696" cy="83269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2030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미래상</a:t>
            </a:r>
          </a:p>
        </p:txBody>
      </p:sp>
      <p:sp>
        <p:nvSpPr>
          <p:cNvPr id="105" name="레일 삼각형"/>
          <p:cNvSpPr/>
          <p:nvPr/>
        </p:nvSpPr>
        <p:spPr>
          <a:xfrm>
            <a:off x="547826" y="5595026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06" name="배너"/>
          <p:cNvSpPr/>
          <p:nvPr/>
        </p:nvSpPr>
        <p:spPr>
          <a:xfrm>
            <a:off x="1161391" y="5616939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107" name="배너"/>
          <p:cNvSpPr>
            <a:spLocks noGrp="1"/>
          </p:cNvSpPr>
          <p:nvPr>
            <p:ph type="body" sz="quarter" idx="64"/>
          </p:nvPr>
        </p:nvSpPr>
        <p:spPr>
          <a:xfrm>
            <a:off x="1161391" y="5616939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10년의 기반 위에 재생e 국가목표의 10% 10GW 도약·달성</a:t>
            </a:r>
          </a:p>
        </p:txBody>
      </p:sp>
      <p:sp>
        <p:nvSpPr>
          <p:cNvPr id="108" name="머리칸"/>
          <p:cNvSpPr/>
          <p:nvPr/>
        </p:nvSpPr>
        <p:spPr>
          <a:xfrm>
            <a:off x="1161391" y="585250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09" name="머리칸"/>
          <p:cNvSpPr>
            <a:spLocks noGrp="1"/>
          </p:cNvSpPr>
          <p:nvPr>
            <p:ph type="body" sz="quarter" idx="65"/>
          </p:nvPr>
        </p:nvSpPr>
        <p:spPr>
          <a:xfrm>
            <a:off x="1161391" y="585250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주민이익 공유형 마을</a:t>
            </a:r>
          </a:p>
        </p:txBody>
      </p:sp>
      <p:sp>
        <p:nvSpPr>
          <p:cNvPr id="110" name="머리칸"/>
          <p:cNvSpPr/>
          <p:nvPr/>
        </p:nvSpPr>
        <p:spPr>
          <a:xfrm>
            <a:off x="3044087" y="585250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11" name="머리칸"/>
          <p:cNvSpPr>
            <a:spLocks noGrp="1"/>
          </p:cNvSpPr>
          <p:nvPr>
            <p:ph type="body" sz="quarter" idx="66"/>
          </p:nvPr>
        </p:nvSpPr>
        <p:spPr>
          <a:xfrm>
            <a:off x="3044087" y="585250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직접공급(PPA)</a:t>
            </a:r>
          </a:p>
        </p:txBody>
      </p:sp>
      <p:sp>
        <p:nvSpPr>
          <p:cNvPr id="112" name="머리칸"/>
          <p:cNvSpPr/>
          <p:nvPr/>
        </p:nvSpPr>
        <p:spPr>
          <a:xfrm>
            <a:off x="4926783" y="585250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13" name="머리칸"/>
          <p:cNvSpPr>
            <a:spLocks noGrp="1"/>
          </p:cNvSpPr>
          <p:nvPr>
            <p:ph type="body" sz="quarter" idx="67"/>
          </p:nvPr>
        </p:nvSpPr>
        <p:spPr>
          <a:xfrm>
            <a:off x="4926783" y="585250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→ 확대</a:t>
            </a:r>
          </a:p>
        </p:txBody>
      </p:sp>
      <p:sp>
        <p:nvSpPr>
          <p:cNvPr id="114" name="칸 본문"/>
          <p:cNvSpPr>
            <a:spLocks noGrp="1"/>
          </p:cNvSpPr>
          <p:nvPr>
            <p:ph type="body" sz="quarter" idx="68"/>
          </p:nvPr>
        </p:nvSpPr>
        <p:spPr>
          <a:xfrm>
            <a:off x="1172348" y="6093548"/>
            <a:ext cx="1860783" cy="328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총 32개소 마을 조성</a:t>
            </a:r>
          </a:p>
        </p:txBody>
      </p:sp>
      <p:sp>
        <p:nvSpPr>
          <p:cNvPr id="115" name="칸 본문"/>
          <p:cNvSpPr>
            <a:spLocks noGrp="1"/>
          </p:cNvSpPr>
          <p:nvPr>
            <p:ph type="body" sz="quarter" idx="69"/>
          </p:nvPr>
        </p:nvSpPr>
        <p:spPr>
          <a:xfrm>
            <a:off x="3055043" y="6093548"/>
            <a:ext cx="1860783" cy="328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소수력 등 444MW</a:t>
            </a:r>
          </a:p>
        </p:txBody>
      </p:sp>
      <p:cxnSp>
        <p:nvCxnSpPr>
          <p:cNvPr id="116" name="Connector 86"/>
          <p:cNvCxnSpPr/>
          <p:nvPr/>
        </p:nvCxnSpPr>
        <p:spPr>
          <a:xfrm>
            <a:off x="3044087" y="6126417"/>
            <a:ext cx="0" cy="26295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17" name="칸 본문"/>
          <p:cNvSpPr>
            <a:spLocks noGrp="1"/>
          </p:cNvSpPr>
          <p:nvPr>
            <p:ph type="body" sz="quarter" idx="70"/>
          </p:nvPr>
        </p:nvSpPr>
        <p:spPr>
          <a:xfrm>
            <a:off x="4937739" y="6093548"/>
            <a:ext cx="1860783" cy="328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대수력 포함 975MW</a:t>
            </a:r>
          </a:p>
        </p:txBody>
      </p:sp>
      <p:cxnSp>
        <p:nvCxnSpPr>
          <p:cNvPr id="118" name="Connector 88"/>
          <p:cNvCxnSpPr/>
          <p:nvPr/>
        </p:nvCxnSpPr>
        <p:spPr>
          <a:xfrm>
            <a:off x="4926783" y="6126417"/>
            <a:ext cx="0" cy="26295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19" name="캡션 띠"/>
          <p:cNvSpPr/>
          <p:nvPr/>
        </p:nvSpPr>
        <p:spPr>
          <a:xfrm>
            <a:off x="536869" y="6466069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0" name="태그"/>
          <p:cNvSpPr/>
          <p:nvPr/>
        </p:nvSpPr>
        <p:spPr>
          <a:xfrm>
            <a:off x="865565" y="6509896"/>
            <a:ext cx="548640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121" name="태그"/>
          <p:cNvSpPr>
            <a:spLocks noGrp="1"/>
          </p:cNvSpPr>
          <p:nvPr>
            <p:ph type="body" sz="quarter" idx="71"/>
          </p:nvPr>
        </p:nvSpPr>
        <p:spPr>
          <a:xfrm>
            <a:off x="865565" y="6509896"/>
            <a:ext cx="548640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산업용수</a:t>
            </a:r>
          </a:p>
        </p:txBody>
      </p:sp>
      <p:sp>
        <p:nvSpPr>
          <p:cNvPr id="122" name="캡션"/>
          <p:cNvSpPr>
            <a:spLocks noGrp="1"/>
          </p:cNvSpPr>
          <p:nvPr>
            <p:ph type="body" sz="quarter" idx="72"/>
          </p:nvPr>
        </p:nvSpPr>
        <p:spPr>
          <a:xfrm>
            <a:off x="1468988" y="6466070"/>
            <a:ext cx="5148751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첨단산업 초격차를 지키는 생명수 공급</a:t>
            </a:r>
          </a:p>
        </p:txBody>
      </p:sp>
      <p:sp>
        <p:nvSpPr>
          <p:cNvPr id="123" name="표 외곽"/>
          <p:cNvSpPr/>
          <p:nvPr/>
        </p:nvSpPr>
        <p:spPr>
          <a:xfrm>
            <a:off x="536870" y="6772852"/>
            <a:ext cx="6300000" cy="1314783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24" name="레일"/>
          <p:cNvSpPr/>
          <p:nvPr/>
        </p:nvSpPr>
        <p:spPr>
          <a:xfrm>
            <a:off x="547826" y="6789287"/>
            <a:ext cx="580696" cy="586174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5" name="레일"/>
          <p:cNvSpPr>
            <a:spLocks noGrp="1"/>
          </p:cNvSpPr>
          <p:nvPr>
            <p:ph type="body" sz="quarter" idx="73"/>
          </p:nvPr>
        </p:nvSpPr>
        <p:spPr>
          <a:xfrm>
            <a:off x="547826" y="6789287"/>
            <a:ext cx="580696" cy="586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산업용수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TF</a:t>
            </a:r>
          </a:p>
        </p:txBody>
      </p:sp>
      <p:sp>
        <p:nvSpPr>
          <p:cNvPr id="126" name="단계"/>
          <p:cNvSpPr/>
          <p:nvPr/>
        </p:nvSpPr>
        <p:spPr>
          <a:xfrm>
            <a:off x="1161391" y="6811200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27" name="단계"/>
          <p:cNvSpPr>
            <a:spLocks noGrp="1"/>
          </p:cNvSpPr>
          <p:nvPr>
            <p:ph type="body" sz="quarter" idx="74"/>
          </p:nvPr>
        </p:nvSpPr>
        <p:spPr>
          <a:xfrm>
            <a:off x="1161391" y="681120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초순수 4대 강국 도약</a:t>
            </a:r>
          </a:p>
        </p:txBody>
      </p:sp>
      <p:sp>
        <p:nvSpPr>
          <p:cNvPr id="128" name="단계"/>
          <p:cNvSpPr/>
          <p:nvPr/>
        </p:nvSpPr>
        <p:spPr>
          <a:xfrm>
            <a:off x="3044087" y="6811200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29" name="단계"/>
          <p:cNvSpPr>
            <a:spLocks noGrp="1"/>
          </p:cNvSpPr>
          <p:nvPr>
            <p:ph type="body" sz="quarter" idx="75"/>
          </p:nvPr>
        </p:nvSpPr>
        <p:spPr>
          <a:xfrm>
            <a:off x="3044087" y="681120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’25–’29 전략환류</a:t>
            </a:r>
          </a:p>
        </p:txBody>
      </p:sp>
      <p:sp>
        <p:nvSpPr>
          <p:cNvPr id="130" name="단계"/>
          <p:cNvSpPr/>
          <p:nvPr/>
        </p:nvSpPr>
        <p:spPr>
          <a:xfrm>
            <a:off x="4926783" y="6811200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31" name="단계"/>
          <p:cNvSpPr>
            <a:spLocks noGrp="1"/>
          </p:cNvSpPr>
          <p:nvPr>
            <p:ph type="body" sz="quarter" idx="76"/>
          </p:nvPr>
        </p:nvSpPr>
        <p:spPr>
          <a:xfrm>
            <a:off x="4926783" y="681120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산업용수 활성화</a:t>
            </a:r>
          </a:p>
        </p:txBody>
      </p:sp>
      <p:sp>
        <p:nvSpPr>
          <p:cNvPr id="132" name="단계 삼각형"/>
          <p:cNvSpPr/>
          <p:nvPr/>
        </p:nvSpPr>
        <p:spPr>
          <a:xfrm>
            <a:off x="3044086" y="6811200"/>
            <a:ext cx="109566" cy="230086"/>
          </a:xfrm>
          <a:custGeom>
            <a:avLst/>
            <a:gdLst/>
            <a:ahLst/>
            <a:cxnLst/>
            <a:rect l="l" t="t" r="r" b="b"/>
            <a:pathLst>
              <a:path w="109566" h="230086">
                <a:moveTo>
                  <a:pt x="0" y="0"/>
                </a:moveTo>
                <a:lnTo>
                  <a:pt x="109566" y="115043"/>
                </a:lnTo>
                <a:lnTo>
                  <a:pt x="0" y="23008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3" name="단계 삼각형"/>
          <p:cNvSpPr/>
          <p:nvPr/>
        </p:nvSpPr>
        <p:spPr>
          <a:xfrm>
            <a:off x="4926782" y="6811200"/>
            <a:ext cx="109565" cy="230086"/>
          </a:xfrm>
          <a:custGeom>
            <a:avLst/>
            <a:gdLst/>
            <a:ahLst/>
            <a:cxnLst/>
            <a:rect l="l" t="t" r="r" b="b"/>
            <a:pathLst>
              <a:path w="109565" h="230086">
                <a:moveTo>
                  <a:pt x="0" y="0"/>
                </a:moveTo>
                <a:lnTo>
                  <a:pt x="109565" y="115043"/>
                </a:lnTo>
                <a:lnTo>
                  <a:pt x="0" y="230086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4" name="칸 본문"/>
          <p:cNvSpPr>
            <a:spLocks noGrp="1"/>
          </p:cNvSpPr>
          <p:nvPr>
            <p:ph type="body" sz="quarter" idx="77"/>
          </p:nvPr>
        </p:nvSpPr>
        <p:spPr>
          <a:xfrm>
            <a:off x="1172348" y="7063200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글로벌·R&amp;D 진출</a:t>
            </a:r>
          </a:p>
        </p:txBody>
      </p:sp>
      <p:sp>
        <p:nvSpPr>
          <p:cNvPr id="135" name="칸 본문"/>
          <p:cNvSpPr>
            <a:spLocks noGrp="1"/>
          </p:cNvSpPr>
          <p:nvPr>
            <p:ph type="body" sz="quarter" idx="78"/>
          </p:nvPr>
        </p:nvSpPr>
        <p:spPr>
          <a:xfrm>
            <a:off x="3055043" y="7063200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첨단산업 적기 용수공급</a:t>
            </a:r>
          </a:p>
        </p:txBody>
      </p:sp>
      <p:cxnSp>
        <p:nvCxnSpPr>
          <p:cNvPr id="136" name="Connector 101"/>
          <p:cNvCxnSpPr/>
          <p:nvPr/>
        </p:nvCxnSpPr>
        <p:spPr>
          <a:xfrm>
            <a:off x="3044087" y="7096070"/>
            <a:ext cx="0" cy="24104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37" name="칸 본문"/>
          <p:cNvSpPr>
            <a:spLocks noGrp="1"/>
          </p:cNvSpPr>
          <p:nvPr>
            <p:ph type="body" sz="quarter" idx="79"/>
          </p:nvPr>
        </p:nvSpPr>
        <p:spPr>
          <a:xfrm>
            <a:off x="4937739" y="7063200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‘2030년까지 일 87만㎥ 공급’</a:t>
            </a:r>
          </a:p>
        </p:txBody>
      </p:sp>
      <p:cxnSp>
        <p:nvCxnSpPr>
          <p:cNvPr id="138" name="Connector 103"/>
          <p:cNvCxnSpPr/>
          <p:nvPr/>
        </p:nvCxnSpPr>
        <p:spPr>
          <a:xfrm>
            <a:off x="4926783" y="7096070"/>
            <a:ext cx="0" cy="24104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39" name="레일"/>
          <p:cNvSpPr/>
          <p:nvPr/>
        </p:nvSpPr>
        <p:spPr>
          <a:xfrm>
            <a:off x="547826" y="7391896"/>
            <a:ext cx="580696" cy="679304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40" name="레일"/>
          <p:cNvSpPr>
            <a:spLocks noGrp="1"/>
          </p:cNvSpPr>
          <p:nvPr>
            <p:ph type="body" sz="quarter" idx="80"/>
          </p:nvPr>
        </p:nvSpPr>
        <p:spPr>
          <a:xfrm>
            <a:off x="547826" y="7391896"/>
            <a:ext cx="580696" cy="679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2030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미래상</a:t>
            </a:r>
          </a:p>
        </p:txBody>
      </p:sp>
      <p:sp>
        <p:nvSpPr>
          <p:cNvPr id="141" name="레일 삼각형"/>
          <p:cNvSpPr/>
          <p:nvPr/>
        </p:nvSpPr>
        <p:spPr>
          <a:xfrm>
            <a:off x="547826" y="7391895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42" name="배너"/>
          <p:cNvSpPr/>
          <p:nvPr/>
        </p:nvSpPr>
        <p:spPr>
          <a:xfrm>
            <a:off x="1161391" y="7413809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143" name="배너"/>
          <p:cNvSpPr>
            <a:spLocks noGrp="1"/>
          </p:cNvSpPr>
          <p:nvPr>
            <p:ph type="body" sz="quarter" idx="81"/>
          </p:nvPr>
        </p:nvSpPr>
        <p:spPr>
          <a:xfrm>
            <a:off x="1161391" y="7413809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첨단수처리 사업·기술·인적 역량 강화로 물산업 글로벌 진출 촉진</a:t>
            </a:r>
          </a:p>
        </p:txBody>
      </p:sp>
      <p:sp>
        <p:nvSpPr>
          <p:cNvPr id="144" name="태그"/>
          <p:cNvSpPr/>
          <p:nvPr/>
        </p:nvSpPr>
        <p:spPr>
          <a:xfrm>
            <a:off x="1161391" y="7671287"/>
            <a:ext cx="581509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45" name="태그"/>
          <p:cNvSpPr>
            <a:spLocks noGrp="1"/>
          </p:cNvSpPr>
          <p:nvPr>
            <p:ph type="body" sz="quarter" idx="82"/>
          </p:nvPr>
        </p:nvSpPr>
        <p:spPr>
          <a:xfrm>
            <a:off x="1161391" y="7671287"/>
            <a:ext cx="58150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초순수</a:t>
            </a:r>
          </a:p>
        </p:txBody>
      </p:sp>
      <p:sp>
        <p:nvSpPr>
          <p:cNvPr id="146" name="태그 설명"/>
          <p:cNvSpPr>
            <a:spLocks noGrp="1"/>
          </p:cNvSpPr>
          <p:nvPr>
            <p:ph type="body" sz="quarter" idx="83"/>
          </p:nvPr>
        </p:nvSpPr>
        <p:spPr>
          <a:xfrm>
            <a:off x="1786727" y="7660330"/>
            <a:ext cx="502275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운영관리에서 건설운영까지 국내 시장 14% 진출</a:t>
            </a:r>
          </a:p>
        </p:txBody>
      </p:sp>
      <p:sp>
        <p:nvSpPr>
          <p:cNvPr id="147" name="태그"/>
          <p:cNvSpPr/>
          <p:nvPr/>
        </p:nvSpPr>
        <p:spPr>
          <a:xfrm>
            <a:off x="1161391" y="7868504"/>
            <a:ext cx="581509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48" name="태그"/>
          <p:cNvSpPr>
            <a:spLocks noGrp="1"/>
          </p:cNvSpPr>
          <p:nvPr>
            <p:ph type="body" sz="quarter" idx="84"/>
          </p:nvPr>
        </p:nvSpPr>
        <p:spPr>
          <a:xfrm>
            <a:off x="1161391" y="7868504"/>
            <a:ext cx="58150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물재이용</a:t>
            </a:r>
          </a:p>
        </p:txBody>
      </p:sp>
      <p:sp>
        <p:nvSpPr>
          <p:cNvPr id="149" name="태그 설명"/>
          <p:cNvSpPr>
            <a:spLocks noGrp="1"/>
          </p:cNvSpPr>
          <p:nvPr>
            <p:ph type="body" sz="quarter" idx="85"/>
          </p:nvPr>
        </p:nvSpPr>
        <p:spPr>
          <a:xfrm>
            <a:off x="1786727" y="7857548"/>
            <a:ext cx="502275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공공주도 사업 다각화로 시장 30% 진출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28 서사 · 프로세스 로드맵 → 정책 제안 → 과제 지도 → 방향 설정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새 정책 제안·반영으로 임무지향성 확보</a:t>
            </a:r>
          </a:p>
        </p:txBody>
      </p:sp>
      <p:sp>
        <p:nvSpPr>
          <p:cNvPr id="14" name="번호 띠 칩"/>
          <p:cNvSpPr/>
          <p:nvPr/>
        </p:nvSpPr>
        <p:spPr>
          <a:xfrm>
            <a:off x="6428183" y="843652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번호 띠 칩"/>
          <p:cNvSpPr>
            <a:spLocks noGrp="1"/>
          </p:cNvSpPr>
          <p:nvPr>
            <p:ph type="body" sz="quarter" idx="22"/>
          </p:nvPr>
        </p:nvSpPr>
        <p:spPr>
          <a:xfrm>
            <a:off x="6428183" y="843652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배너"/>
          <p:cNvSpPr/>
          <p:nvPr/>
        </p:nvSpPr>
        <p:spPr>
          <a:xfrm>
            <a:off x="723130" y="1128521"/>
            <a:ext cx="6300000" cy="273913"/>
          </a:xfrm>
          <a:custGeom>
            <a:avLst/>
            <a:gdLst/>
            <a:ahLst/>
            <a:cxnLst/>
            <a:rect l="l" t="t" r="r" b="b"/>
            <a:pathLst>
              <a:path w="6300000" h="273913">
                <a:moveTo>
                  <a:pt x="0" y="0"/>
                </a:moveTo>
                <a:lnTo>
                  <a:pt x="6300000" y="0"/>
                </a:lnTo>
                <a:lnTo>
                  <a:pt x="6234261" y="273913"/>
                </a:lnTo>
                <a:lnTo>
                  <a:pt x="65739" y="273913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7" name="태그"/>
          <p:cNvSpPr/>
          <p:nvPr/>
        </p:nvSpPr>
        <p:spPr>
          <a:xfrm>
            <a:off x="942261" y="1183304"/>
            <a:ext cx="548640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18" name="태그"/>
          <p:cNvSpPr>
            <a:spLocks noGrp="1"/>
          </p:cNvSpPr>
          <p:nvPr>
            <p:ph type="body" sz="quarter" idx="23"/>
          </p:nvPr>
        </p:nvSpPr>
        <p:spPr>
          <a:xfrm>
            <a:off x="942261" y="1183304"/>
            <a:ext cx="548640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프로세스</a:t>
            </a:r>
          </a:p>
        </p:txBody>
      </p:sp>
      <p:sp>
        <p:nvSpPr>
          <p:cNvPr id="19" name="배너 글"/>
          <p:cNvSpPr>
            <a:spLocks noGrp="1"/>
          </p:cNvSpPr>
          <p:nvPr>
            <p:ph type="body" sz="quarter" idx="24"/>
          </p:nvPr>
        </p:nvSpPr>
        <p:spPr>
          <a:xfrm>
            <a:off x="1545683" y="1128522"/>
            <a:ext cx="5313099" cy="273913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400" b="1" spc="-7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공약 단계부터 국정과제 이행계획 수립 및 전략 반영까지 로드맵</a:t>
            </a:r>
          </a:p>
        </p:txBody>
      </p:sp>
      <p:sp>
        <p:nvSpPr>
          <p:cNvPr id="20" name="주체 박스"/>
          <p:cNvSpPr/>
          <p:nvPr/>
        </p:nvSpPr>
        <p:spPr>
          <a:xfrm>
            <a:off x="723130" y="1457217"/>
            <a:ext cx="1197000" cy="127095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21" name="주체 박스"/>
          <p:cNvSpPr>
            <a:spLocks noGrp="1"/>
          </p:cNvSpPr>
          <p:nvPr>
            <p:ph type="body" sz="quarter" idx="25"/>
          </p:nvPr>
        </p:nvSpPr>
        <p:spPr>
          <a:xfrm>
            <a:off x="723130" y="1457217"/>
            <a:ext cx="1197000" cy="1270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First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전략기획단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＋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에너지 TF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산업용수 TF</a:t>
            </a:r>
          </a:p>
        </p:txBody>
      </p:sp>
      <p:sp>
        <p:nvSpPr>
          <p:cNvPr id="22" name="시작"/>
          <p:cNvSpPr>
            <a:spLocks noGrp="1"/>
          </p:cNvSpPr>
          <p:nvPr>
            <p:ph type="body" sz="quarter" idx="26"/>
          </p:nvPr>
        </p:nvSpPr>
        <p:spPr>
          <a:xfrm>
            <a:off x="1942043" y="2016000"/>
            <a:ext cx="449217" cy="153391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START</a:t>
            </a:r>
          </a:p>
        </p:txBody>
      </p:sp>
      <p:sp>
        <p:nvSpPr>
          <p:cNvPr id="23" name="로드맵 선"/>
          <p:cNvSpPr/>
          <p:nvPr/>
        </p:nvSpPr>
        <p:spPr>
          <a:xfrm>
            <a:off x="2413174" y="2076261"/>
            <a:ext cx="4577087" cy="32870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4" name="위 마디"/>
          <p:cNvSpPr/>
          <p:nvPr/>
        </p:nvSpPr>
        <p:spPr>
          <a:xfrm>
            <a:off x="2424130" y="1457217"/>
            <a:ext cx="882548" cy="350609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5" name="위 마디"/>
          <p:cNvSpPr>
            <a:spLocks noGrp="1"/>
          </p:cNvSpPr>
          <p:nvPr>
            <p:ph type="body" sz="quarter" idx="27"/>
          </p:nvPr>
        </p:nvSpPr>
        <p:spPr>
          <a:xfrm>
            <a:off x="2424130" y="1457217"/>
            <a:ext cx="882548" cy="350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공약분석</a:t>
            </a:r>
          </a:p>
        </p:txBody>
      </p:sp>
      <p:sp>
        <p:nvSpPr>
          <p:cNvPr id="26" name="삼각 화살표"/>
          <p:cNvSpPr/>
          <p:nvPr/>
        </p:nvSpPr>
        <p:spPr>
          <a:xfrm>
            <a:off x="2821578" y="1827000"/>
            <a:ext cx="87652" cy="49304"/>
          </a:xfrm>
          <a:custGeom>
            <a:avLst/>
            <a:gdLst/>
            <a:ahLst/>
            <a:cxnLst/>
            <a:rect l="l" t="t" r="r" b="b"/>
            <a:pathLst>
              <a:path w="87652" h="49304">
                <a:moveTo>
                  <a:pt x="0" y="0"/>
                </a:moveTo>
                <a:lnTo>
                  <a:pt x="87652" y="0"/>
                </a:lnTo>
                <a:lnTo>
                  <a:pt x="43826" y="49304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7" name="날짜"/>
          <p:cNvSpPr>
            <a:spLocks noGrp="1"/>
          </p:cNvSpPr>
          <p:nvPr>
            <p:ph type="body" sz="quarter" idx="28"/>
          </p:nvPr>
        </p:nvSpPr>
        <p:spPr>
          <a:xfrm>
            <a:off x="2413174" y="1873565"/>
            <a:ext cx="904461" cy="186261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~5월</a:t>
            </a:r>
          </a:p>
        </p:txBody>
      </p:sp>
      <p:sp>
        <p:nvSpPr>
          <p:cNvPr id="28" name="마디 점"/>
          <p:cNvSpPr/>
          <p:nvPr/>
        </p:nvSpPr>
        <p:spPr>
          <a:xfrm>
            <a:off x="2832535" y="2054348"/>
            <a:ext cx="65739" cy="76696"/>
          </a:xfrm>
          <a:prstGeom prst="rect">
            <a:avLst/>
          </a:prstGeom>
          <a:solidFill>
            <a:srgbClr val="FFFFFF"/>
          </a:solidFill>
          <a:ln w="19050">
            <a:solidFill>
              <a:srgbClr val="0051BC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9" name="위 마디"/>
          <p:cNvSpPr/>
          <p:nvPr/>
        </p:nvSpPr>
        <p:spPr>
          <a:xfrm>
            <a:off x="3339548" y="1457217"/>
            <a:ext cx="882548" cy="350609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0" name="위 마디"/>
          <p:cNvSpPr>
            <a:spLocks noGrp="1"/>
          </p:cNvSpPr>
          <p:nvPr>
            <p:ph type="body" sz="quarter" idx="29"/>
          </p:nvPr>
        </p:nvSpPr>
        <p:spPr>
          <a:xfrm>
            <a:off x="3339548" y="1457217"/>
            <a:ext cx="882548" cy="350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새 정부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출범</a:t>
            </a:r>
          </a:p>
        </p:txBody>
      </p:sp>
      <p:sp>
        <p:nvSpPr>
          <p:cNvPr id="31" name="삼각 화살표"/>
          <p:cNvSpPr/>
          <p:nvPr/>
        </p:nvSpPr>
        <p:spPr>
          <a:xfrm>
            <a:off x="3736995" y="1827000"/>
            <a:ext cx="87652" cy="49304"/>
          </a:xfrm>
          <a:custGeom>
            <a:avLst/>
            <a:gdLst/>
            <a:ahLst/>
            <a:cxnLst/>
            <a:rect l="l" t="t" r="r" b="b"/>
            <a:pathLst>
              <a:path w="87652" h="49304">
                <a:moveTo>
                  <a:pt x="0" y="0"/>
                </a:moveTo>
                <a:lnTo>
                  <a:pt x="87652" y="0"/>
                </a:lnTo>
                <a:lnTo>
                  <a:pt x="43826" y="49304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2" name="날짜"/>
          <p:cNvSpPr>
            <a:spLocks noGrp="1"/>
          </p:cNvSpPr>
          <p:nvPr>
            <p:ph type="body" sz="quarter" idx="30"/>
          </p:nvPr>
        </p:nvSpPr>
        <p:spPr>
          <a:xfrm>
            <a:off x="3328591" y="1873565"/>
            <a:ext cx="904461" cy="186261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6.4</a:t>
            </a:r>
          </a:p>
        </p:txBody>
      </p:sp>
      <p:sp>
        <p:nvSpPr>
          <p:cNvPr id="33" name="마디 점"/>
          <p:cNvSpPr/>
          <p:nvPr/>
        </p:nvSpPr>
        <p:spPr>
          <a:xfrm>
            <a:off x="3747952" y="2054348"/>
            <a:ext cx="65739" cy="76696"/>
          </a:xfrm>
          <a:prstGeom prst="rect">
            <a:avLst/>
          </a:prstGeom>
          <a:solidFill>
            <a:srgbClr val="FFFFFF"/>
          </a:solidFill>
          <a:ln w="19050">
            <a:solidFill>
              <a:srgbClr val="0051BC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4" name="위 마디"/>
          <p:cNvSpPr/>
          <p:nvPr/>
        </p:nvSpPr>
        <p:spPr>
          <a:xfrm>
            <a:off x="4254965" y="1457217"/>
            <a:ext cx="882548" cy="350609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5" name="위 마디"/>
          <p:cNvSpPr>
            <a:spLocks noGrp="1"/>
          </p:cNvSpPr>
          <p:nvPr>
            <p:ph type="body" sz="quarter" idx="31"/>
          </p:nvPr>
        </p:nvSpPr>
        <p:spPr>
          <a:xfrm>
            <a:off x="4254965" y="1457217"/>
            <a:ext cx="882548" cy="350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중장기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계획 수립</a:t>
            </a:r>
          </a:p>
        </p:txBody>
      </p:sp>
      <p:sp>
        <p:nvSpPr>
          <p:cNvPr id="36" name="삼각 화살표"/>
          <p:cNvSpPr/>
          <p:nvPr/>
        </p:nvSpPr>
        <p:spPr>
          <a:xfrm>
            <a:off x="4652413" y="1827000"/>
            <a:ext cx="87652" cy="49304"/>
          </a:xfrm>
          <a:custGeom>
            <a:avLst/>
            <a:gdLst/>
            <a:ahLst/>
            <a:cxnLst/>
            <a:rect l="l" t="t" r="r" b="b"/>
            <a:pathLst>
              <a:path w="87652" h="49304">
                <a:moveTo>
                  <a:pt x="0" y="0"/>
                </a:moveTo>
                <a:lnTo>
                  <a:pt x="87652" y="0"/>
                </a:lnTo>
                <a:lnTo>
                  <a:pt x="43826" y="49304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7" name="날짜"/>
          <p:cNvSpPr>
            <a:spLocks noGrp="1"/>
          </p:cNvSpPr>
          <p:nvPr>
            <p:ph type="body" sz="quarter" idx="32"/>
          </p:nvPr>
        </p:nvSpPr>
        <p:spPr>
          <a:xfrm>
            <a:off x="4244009" y="1873565"/>
            <a:ext cx="904461" cy="186261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6월</a:t>
            </a:r>
          </a:p>
        </p:txBody>
      </p:sp>
      <p:sp>
        <p:nvSpPr>
          <p:cNvPr id="38" name="마디 점"/>
          <p:cNvSpPr/>
          <p:nvPr/>
        </p:nvSpPr>
        <p:spPr>
          <a:xfrm>
            <a:off x="4663370" y="2054348"/>
            <a:ext cx="65739" cy="76696"/>
          </a:xfrm>
          <a:prstGeom prst="rect">
            <a:avLst/>
          </a:prstGeom>
          <a:solidFill>
            <a:srgbClr val="FFFFFF"/>
          </a:solidFill>
          <a:ln w="19050">
            <a:solidFill>
              <a:srgbClr val="0051BC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9" name="위 마디"/>
          <p:cNvSpPr/>
          <p:nvPr/>
        </p:nvSpPr>
        <p:spPr>
          <a:xfrm>
            <a:off x="5170383" y="1457217"/>
            <a:ext cx="882548" cy="350609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0" name="위 마디"/>
          <p:cNvSpPr>
            <a:spLocks noGrp="1"/>
          </p:cNvSpPr>
          <p:nvPr>
            <p:ph type="body" sz="quarter" idx="33"/>
          </p:nvPr>
        </p:nvSpPr>
        <p:spPr>
          <a:xfrm>
            <a:off x="5170383" y="1457217"/>
            <a:ext cx="882548" cy="350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5개년 계획</a:t>
            </a:r>
          </a:p>
        </p:txBody>
      </p:sp>
      <p:sp>
        <p:nvSpPr>
          <p:cNvPr id="41" name="삼각 화살표"/>
          <p:cNvSpPr/>
          <p:nvPr/>
        </p:nvSpPr>
        <p:spPr>
          <a:xfrm>
            <a:off x="5567830" y="1827000"/>
            <a:ext cx="87652" cy="49304"/>
          </a:xfrm>
          <a:custGeom>
            <a:avLst/>
            <a:gdLst/>
            <a:ahLst/>
            <a:cxnLst/>
            <a:rect l="l" t="t" r="r" b="b"/>
            <a:pathLst>
              <a:path w="87652" h="49304">
                <a:moveTo>
                  <a:pt x="0" y="0"/>
                </a:moveTo>
                <a:lnTo>
                  <a:pt x="87652" y="0"/>
                </a:lnTo>
                <a:lnTo>
                  <a:pt x="43826" y="49304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2" name="날짜"/>
          <p:cNvSpPr>
            <a:spLocks noGrp="1"/>
          </p:cNvSpPr>
          <p:nvPr>
            <p:ph type="body" sz="quarter" idx="34"/>
          </p:nvPr>
        </p:nvSpPr>
        <p:spPr>
          <a:xfrm>
            <a:off x="5159426" y="1873565"/>
            <a:ext cx="904461" cy="186261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~8월</a:t>
            </a:r>
          </a:p>
        </p:txBody>
      </p:sp>
      <p:sp>
        <p:nvSpPr>
          <p:cNvPr id="43" name="마디 점"/>
          <p:cNvSpPr/>
          <p:nvPr/>
        </p:nvSpPr>
        <p:spPr>
          <a:xfrm>
            <a:off x="5578787" y="2054348"/>
            <a:ext cx="65739" cy="76696"/>
          </a:xfrm>
          <a:prstGeom prst="rect">
            <a:avLst/>
          </a:prstGeom>
          <a:solidFill>
            <a:srgbClr val="FFFFFF"/>
          </a:solidFill>
          <a:ln w="19050">
            <a:solidFill>
              <a:srgbClr val="0051BC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4" name="위 마디"/>
          <p:cNvSpPr/>
          <p:nvPr/>
        </p:nvSpPr>
        <p:spPr>
          <a:xfrm>
            <a:off x="6085800" y="1457217"/>
            <a:ext cx="882548" cy="350609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5" name="위 마디"/>
          <p:cNvSpPr>
            <a:spLocks noGrp="1"/>
          </p:cNvSpPr>
          <p:nvPr>
            <p:ph type="body" sz="quarter" idx="35"/>
          </p:nvPr>
        </p:nvSpPr>
        <p:spPr>
          <a:xfrm>
            <a:off x="6085800" y="1457217"/>
            <a:ext cx="882548" cy="350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 확정</a:t>
            </a:r>
          </a:p>
        </p:txBody>
      </p:sp>
      <p:sp>
        <p:nvSpPr>
          <p:cNvPr id="46" name="삼각 화살표"/>
          <p:cNvSpPr/>
          <p:nvPr/>
        </p:nvSpPr>
        <p:spPr>
          <a:xfrm>
            <a:off x="6483247" y="1827000"/>
            <a:ext cx="87653" cy="49304"/>
          </a:xfrm>
          <a:custGeom>
            <a:avLst/>
            <a:gdLst/>
            <a:ahLst/>
            <a:cxnLst/>
            <a:rect l="l" t="t" r="r" b="b"/>
            <a:pathLst>
              <a:path w="87653" h="49304">
                <a:moveTo>
                  <a:pt x="0" y="0"/>
                </a:moveTo>
                <a:lnTo>
                  <a:pt x="87653" y="0"/>
                </a:lnTo>
                <a:lnTo>
                  <a:pt x="43826" y="49304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7" name="날짜"/>
          <p:cNvSpPr>
            <a:spLocks noGrp="1"/>
          </p:cNvSpPr>
          <p:nvPr>
            <p:ph type="body" sz="quarter" idx="36"/>
          </p:nvPr>
        </p:nvSpPr>
        <p:spPr>
          <a:xfrm>
            <a:off x="6074843" y="1873565"/>
            <a:ext cx="904461" cy="186261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9.16</a:t>
            </a:r>
          </a:p>
        </p:txBody>
      </p:sp>
      <p:sp>
        <p:nvSpPr>
          <p:cNvPr id="48" name="마디 점"/>
          <p:cNvSpPr/>
          <p:nvPr/>
        </p:nvSpPr>
        <p:spPr>
          <a:xfrm>
            <a:off x="6494204" y="2054348"/>
            <a:ext cx="65739" cy="76696"/>
          </a:xfrm>
          <a:prstGeom prst="rect">
            <a:avLst/>
          </a:prstGeom>
          <a:solidFill>
            <a:srgbClr val="FFFFFF"/>
          </a:solidFill>
          <a:ln w="19050">
            <a:solidFill>
              <a:srgbClr val="0051BC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9" name="마디 점"/>
          <p:cNvSpPr/>
          <p:nvPr/>
        </p:nvSpPr>
        <p:spPr>
          <a:xfrm>
            <a:off x="2946962" y="2054348"/>
            <a:ext cx="65739" cy="76696"/>
          </a:xfrm>
          <a:prstGeom prst="rect">
            <a:avLst/>
          </a:prstGeom>
          <a:solidFill>
            <a:srgbClr val="FFFFFF"/>
          </a:solidFill>
          <a:ln w="19050">
            <a:solidFill>
              <a:srgbClr val="0051BC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0" name="날짜"/>
          <p:cNvSpPr>
            <a:spLocks noGrp="1"/>
          </p:cNvSpPr>
          <p:nvPr>
            <p:ph type="body" sz="quarter" idx="37"/>
          </p:nvPr>
        </p:nvSpPr>
        <p:spPr>
          <a:xfrm>
            <a:off x="2413174" y="2147478"/>
            <a:ext cx="1133315" cy="19721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12월</a:t>
            </a:r>
          </a:p>
        </p:txBody>
      </p:sp>
      <p:sp>
        <p:nvSpPr>
          <p:cNvPr id="51" name="아래 마디"/>
          <p:cNvSpPr/>
          <p:nvPr/>
        </p:nvSpPr>
        <p:spPr>
          <a:xfrm>
            <a:off x="2424130" y="2366609"/>
            <a:ext cx="1111402" cy="361565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2" name="아래 마디"/>
          <p:cNvSpPr>
            <a:spLocks noGrp="1"/>
          </p:cNvSpPr>
          <p:nvPr>
            <p:ph type="body" sz="quarter" idx="38"/>
          </p:nvPr>
        </p:nvSpPr>
        <p:spPr>
          <a:xfrm>
            <a:off x="2424130" y="2366609"/>
            <a:ext cx="1111402" cy="361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경영방향 시행</a:t>
            </a:r>
          </a:p>
        </p:txBody>
      </p:sp>
      <p:sp>
        <p:nvSpPr>
          <p:cNvPr id="53" name="마디 점"/>
          <p:cNvSpPr/>
          <p:nvPr/>
        </p:nvSpPr>
        <p:spPr>
          <a:xfrm>
            <a:off x="4091234" y="2054348"/>
            <a:ext cx="65739" cy="76696"/>
          </a:xfrm>
          <a:prstGeom prst="rect">
            <a:avLst/>
          </a:prstGeom>
          <a:solidFill>
            <a:srgbClr val="FFFFFF"/>
          </a:solidFill>
          <a:ln w="19050">
            <a:solidFill>
              <a:srgbClr val="0051BC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4" name="날짜"/>
          <p:cNvSpPr>
            <a:spLocks noGrp="1"/>
          </p:cNvSpPr>
          <p:nvPr>
            <p:ph type="body" sz="quarter" idx="39"/>
          </p:nvPr>
        </p:nvSpPr>
        <p:spPr>
          <a:xfrm>
            <a:off x="3557446" y="2147478"/>
            <a:ext cx="1133315" cy="19721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11월</a:t>
            </a:r>
          </a:p>
        </p:txBody>
      </p:sp>
      <p:sp>
        <p:nvSpPr>
          <p:cNvPr id="55" name="아래 마디"/>
          <p:cNvSpPr/>
          <p:nvPr/>
        </p:nvSpPr>
        <p:spPr>
          <a:xfrm>
            <a:off x="3568402" y="2366609"/>
            <a:ext cx="1111402" cy="361565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6" name="아래 마디"/>
          <p:cNvSpPr>
            <a:spLocks noGrp="1"/>
          </p:cNvSpPr>
          <p:nvPr>
            <p:ph type="body" sz="quarter" idx="40"/>
          </p:nvPr>
        </p:nvSpPr>
        <p:spPr>
          <a:xfrm>
            <a:off x="3568402" y="2366609"/>
            <a:ext cx="1111402" cy="361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중장기 전략경영계획</a:t>
            </a:r>
          </a:p>
        </p:txBody>
      </p:sp>
      <p:sp>
        <p:nvSpPr>
          <p:cNvPr id="57" name="마디 점"/>
          <p:cNvSpPr/>
          <p:nvPr/>
        </p:nvSpPr>
        <p:spPr>
          <a:xfrm>
            <a:off x="5235505" y="2054348"/>
            <a:ext cx="65739" cy="76696"/>
          </a:xfrm>
          <a:prstGeom prst="rect">
            <a:avLst/>
          </a:prstGeom>
          <a:solidFill>
            <a:srgbClr val="FFFFFF"/>
          </a:solidFill>
          <a:ln w="19050">
            <a:solidFill>
              <a:srgbClr val="0051BC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8" name="날짜"/>
          <p:cNvSpPr>
            <a:spLocks noGrp="1"/>
          </p:cNvSpPr>
          <p:nvPr>
            <p:ph type="body" sz="quarter" idx="41"/>
          </p:nvPr>
        </p:nvSpPr>
        <p:spPr>
          <a:xfrm>
            <a:off x="4701717" y="2147478"/>
            <a:ext cx="1133315" cy="19721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10월</a:t>
            </a:r>
          </a:p>
        </p:txBody>
      </p:sp>
      <p:sp>
        <p:nvSpPr>
          <p:cNvPr id="59" name="아래 마디"/>
          <p:cNvSpPr/>
          <p:nvPr/>
        </p:nvSpPr>
        <p:spPr>
          <a:xfrm>
            <a:off x="4712674" y="2366609"/>
            <a:ext cx="1111402" cy="361565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0" name="아래 마디"/>
          <p:cNvSpPr>
            <a:spLocks noGrp="1"/>
          </p:cNvSpPr>
          <p:nvPr>
            <p:ph type="body" sz="quarter" idx="42"/>
          </p:nvPr>
        </p:nvSpPr>
        <p:spPr>
          <a:xfrm>
            <a:off x="4712674" y="2366609"/>
            <a:ext cx="1111402" cy="361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경영목표 수립</a:t>
            </a:r>
          </a:p>
        </p:txBody>
      </p:sp>
      <p:sp>
        <p:nvSpPr>
          <p:cNvPr id="61" name="마디 점"/>
          <p:cNvSpPr/>
          <p:nvPr/>
        </p:nvSpPr>
        <p:spPr>
          <a:xfrm>
            <a:off x="6379777" y="2054348"/>
            <a:ext cx="65739" cy="76696"/>
          </a:xfrm>
          <a:prstGeom prst="rect">
            <a:avLst/>
          </a:prstGeom>
          <a:solidFill>
            <a:srgbClr val="FFFFFF"/>
          </a:solidFill>
          <a:ln w="19050">
            <a:solidFill>
              <a:srgbClr val="0051BC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2" name="날짜"/>
          <p:cNvSpPr>
            <a:spLocks noGrp="1"/>
          </p:cNvSpPr>
          <p:nvPr>
            <p:ph type="body" sz="quarter" idx="43"/>
          </p:nvPr>
        </p:nvSpPr>
        <p:spPr>
          <a:xfrm>
            <a:off x="5845989" y="2147478"/>
            <a:ext cx="1133315" cy="19721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~9월</a:t>
            </a:r>
          </a:p>
        </p:txBody>
      </p:sp>
      <p:sp>
        <p:nvSpPr>
          <p:cNvPr id="63" name="아래 마디"/>
          <p:cNvSpPr/>
          <p:nvPr/>
        </p:nvSpPr>
        <p:spPr>
          <a:xfrm>
            <a:off x="5856946" y="2366609"/>
            <a:ext cx="1111402" cy="361565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4" name="아래 마디"/>
          <p:cNvSpPr>
            <a:spLocks noGrp="1"/>
          </p:cNvSpPr>
          <p:nvPr>
            <p:ph type="body" sz="quarter" idx="44"/>
          </p:nvPr>
        </p:nvSpPr>
        <p:spPr>
          <a:xfrm>
            <a:off x="5856946" y="2366609"/>
            <a:ext cx="1111402" cy="361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이행계획 수립</a:t>
            </a:r>
          </a:p>
        </p:txBody>
      </p:sp>
      <p:sp>
        <p:nvSpPr>
          <p:cNvPr id="65" name="배너"/>
          <p:cNvSpPr/>
          <p:nvPr/>
        </p:nvSpPr>
        <p:spPr>
          <a:xfrm>
            <a:off x="723130" y="2782956"/>
            <a:ext cx="6300000" cy="273913"/>
          </a:xfrm>
          <a:custGeom>
            <a:avLst/>
            <a:gdLst/>
            <a:ahLst/>
            <a:cxnLst/>
            <a:rect l="l" t="t" r="r" b="b"/>
            <a:pathLst>
              <a:path w="6300000" h="273913">
                <a:moveTo>
                  <a:pt x="0" y="0"/>
                </a:moveTo>
                <a:lnTo>
                  <a:pt x="6300000" y="0"/>
                </a:lnTo>
                <a:lnTo>
                  <a:pt x="6234261" y="273913"/>
                </a:lnTo>
                <a:lnTo>
                  <a:pt x="65739" y="273913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6" name="태그"/>
          <p:cNvSpPr/>
          <p:nvPr/>
        </p:nvSpPr>
        <p:spPr>
          <a:xfrm>
            <a:off x="942261" y="2837739"/>
            <a:ext cx="577911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67" name="태그"/>
          <p:cNvSpPr>
            <a:spLocks noGrp="1"/>
          </p:cNvSpPr>
          <p:nvPr>
            <p:ph type="body" sz="quarter" idx="45"/>
          </p:nvPr>
        </p:nvSpPr>
        <p:spPr>
          <a:xfrm>
            <a:off x="942261" y="2837739"/>
            <a:ext cx="577911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정책 제안</a:t>
            </a:r>
          </a:p>
        </p:txBody>
      </p:sp>
      <p:sp>
        <p:nvSpPr>
          <p:cNvPr id="68" name="배너 글"/>
          <p:cNvSpPr>
            <a:spLocks noGrp="1"/>
          </p:cNvSpPr>
          <p:nvPr>
            <p:ph type="body" sz="quarter" idx="46"/>
          </p:nvPr>
        </p:nvSpPr>
        <p:spPr>
          <a:xfrm>
            <a:off x="1574955" y="2782957"/>
            <a:ext cx="5283828" cy="273913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400" b="1" spc="-7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국정기획위원회 및 정부부처 대상 핵심 솔루션 과제 반영 설득</a:t>
            </a:r>
          </a:p>
        </p:txBody>
      </p:sp>
      <p:sp>
        <p:nvSpPr>
          <p:cNvPr id="69" name="머리"/>
          <p:cNvSpPr/>
          <p:nvPr/>
        </p:nvSpPr>
        <p:spPr>
          <a:xfrm>
            <a:off x="723130" y="3100696"/>
            <a:ext cx="2078087" cy="241043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0" name="태그"/>
          <p:cNvSpPr/>
          <p:nvPr/>
        </p:nvSpPr>
        <p:spPr>
          <a:xfrm>
            <a:off x="777913" y="3139043"/>
            <a:ext cx="292389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71" name="태그"/>
          <p:cNvSpPr>
            <a:spLocks noGrp="1"/>
          </p:cNvSpPr>
          <p:nvPr>
            <p:ph type="body" sz="quarter" idx="47"/>
          </p:nvPr>
        </p:nvSpPr>
        <p:spPr>
          <a:xfrm>
            <a:off x="777913" y="3139043"/>
            <a:ext cx="292389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7월</a:t>
            </a:r>
          </a:p>
        </p:txBody>
      </p:sp>
      <p:sp>
        <p:nvSpPr>
          <p:cNvPr id="72" name="머리 글"/>
          <p:cNvSpPr>
            <a:spLocks noGrp="1"/>
          </p:cNvSpPr>
          <p:nvPr>
            <p:ph type="body" sz="quarter" idx="48"/>
          </p:nvPr>
        </p:nvSpPr>
        <p:spPr>
          <a:xfrm>
            <a:off x="1103172" y="3100696"/>
            <a:ext cx="1676132" cy="241043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400" b="1" spc="-7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국정기획위 보고</a:t>
            </a:r>
          </a:p>
        </p:txBody>
      </p:sp>
      <p:sp>
        <p:nvSpPr>
          <p:cNvPr id="73" name="본문"/>
          <p:cNvSpPr>
            <a:spLocks noGrp="1"/>
          </p:cNvSpPr>
          <p:nvPr>
            <p:ph type="body" sz="quarter" idx="49"/>
          </p:nvPr>
        </p:nvSpPr>
        <p:spPr>
          <a:xfrm>
            <a:off x="723130" y="3363652"/>
            <a:ext cx="2078087" cy="40539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주요사업 3개 국정과제화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물관리, 에너지 등</a:t>
            </a:r>
          </a:p>
        </p:txBody>
      </p:sp>
      <p:sp>
        <p:nvSpPr>
          <p:cNvPr id="74" name="머리"/>
          <p:cNvSpPr/>
          <p:nvPr/>
        </p:nvSpPr>
        <p:spPr>
          <a:xfrm>
            <a:off x="2823130" y="3100696"/>
            <a:ext cx="2078087" cy="241043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5" name="태그"/>
          <p:cNvSpPr/>
          <p:nvPr/>
        </p:nvSpPr>
        <p:spPr>
          <a:xfrm>
            <a:off x="2877913" y="3139043"/>
            <a:ext cx="301071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76" name="태그"/>
          <p:cNvSpPr>
            <a:spLocks noGrp="1"/>
          </p:cNvSpPr>
          <p:nvPr>
            <p:ph type="body" sz="quarter" idx="50"/>
          </p:nvPr>
        </p:nvSpPr>
        <p:spPr>
          <a:xfrm>
            <a:off x="2877913" y="3139043"/>
            <a:ext cx="301071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8월</a:t>
            </a:r>
          </a:p>
        </p:txBody>
      </p:sp>
      <p:sp>
        <p:nvSpPr>
          <p:cNvPr id="77" name="머리 글"/>
          <p:cNvSpPr>
            <a:spLocks noGrp="1"/>
          </p:cNvSpPr>
          <p:nvPr>
            <p:ph type="body" sz="quarter" idx="51"/>
          </p:nvPr>
        </p:nvSpPr>
        <p:spPr>
          <a:xfrm>
            <a:off x="3211854" y="3100696"/>
            <a:ext cx="1667450" cy="241043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400" b="1" spc="-7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국정운영계획 발표</a:t>
            </a:r>
          </a:p>
        </p:txBody>
      </p:sp>
      <p:sp>
        <p:nvSpPr>
          <p:cNvPr id="78" name="본문"/>
          <p:cNvSpPr>
            <a:spLocks noGrp="1"/>
          </p:cNvSpPr>
          <p:nvPr>
            <p:ph type="body" sz="quarter" idx="52"/>
          </p:nvPr>
        </p:nvSpPr>
        <p:spPr>
          <a:xfrm>
            <a:off x="2823130" y="3363652"/>
            <a:ext cx="2078087" cy="40539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사업·기능 14개 국정과제화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AI·재생e 지원 정책</a:t>
            </a:r>
          </a:p>
        </p:txBody>
      </p:sp>
      <p:cxnSp>
        <p:nvCxnSpPr>
          <p:cNvPr id="79" name="Connector 58"/>
          <p:cNvCxnSpPr/>
          <p:nvPr/>
        </p:nvCxnSpPr>
        <p:spPr>
          <a:xfrm>
            <a:off x="2812174" y="3385565"/>
            <a:ext cx="0" cy="361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0" name="머리"/>
          <p:cNvSpPr/>
          <p:nvPr/>
        </p:nvSpPr>
        <p:spPr>
          <a:xfrm>
            <a:off x="4923130" y="3100696"/>
            <a:ext cx="2078087" cy="241043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1" name="태그"/>
          <p:cNvSpPr/>
          <p:nvPr/>
        </p:nvSpPr>
        <p:spPr>
          <a:xfrm>
            <a:off x="4977913" y="3139043"/>
            <a:ext cx="300946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82" name="태그"/>
          <p:cNvSpPr>
            <a:spLocks noGrp="1"/>
          </p:cNvSpPr>
          <p:nvPr>
            <p:ph type="body" sz="quarter" idx="53"/>
          </p:nvPr>
        </p:nvSpPr>
        <p:spPr>
          <a:xfrm>
            <a:off x="4977913" y="3139043"/>
            <a:ext cx="300946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9월</a:t>
            </a:r>
          </a:p>
        </p:txBody>
      </p:sp>
      <p:sp>
        <p:nvSpPr>
          <p:cNvPr id="83" name="머리 글"/>
          <p:cNvSpPr>
            <a:spLocks noGrp="1"/>
          </p:cNvSpPr>
          <p:nvPr>
            <p:ph type="body" sz="quarter" idx="54"/>
          </p:nvPr>
        </p:nvSpPr>
        <p:spPr>
          <a:xfrm>
            <a:off x="5311729" y="3100696"/>
            <a:ext cx="1667575" cy="241043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400" b="1" spc="-7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123대 국정과제 확정</a:t>
            </a:r>
          </a:p>
        </p:txBody>
      </p:sp>
      <p:sp>
        <p:nvSpPr>
          <p:cNvPr id="84" name="본문"/>
          <p:cNvSpPr>
            <a:spLocks noGrp="1"/>
          </p:cNvSpPr>
          <p:nvPr>
            <p:ph type="body" sz="quarter" idx="55"/>
          </p:nvPr>
        </p:nvSpPr>
        <p:spPr>
          <a:xfrm>
            <a:off x="4923130" y="3363652"/>
            <a:ext cx="2078087" cy="40539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추가 15개 국정과제화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성과 구체화 가능 과제 확장</a:t>
            </a:r>
          </a:p>
        </p:txBody>
      </p:sp>
      <p:cxnSp>
        <p:nvCxnSpPr>
          <p:cNvPr id="85" name="Connector 63"/>
          <p:cNvCxnSpPr/>
          <p:nvPr/>
        </p:nvCxnSpPr>
        <p:spPr>
          <a:xfrm>
            <a:off x="4912174" y="3385565"/>
            <a:ext cx="0" cy="361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6" name="단계"/>
          <p:cNvSpPr/>
          <p:nvPr/>
        </p:nvSpPr>
        <p:spPr>
          <a:xfrm>
            <a:off x="1249043" y="3812870"/>
            <a:ext cx="287608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87" name="단계"/>
          <p:cNvSpPr>
            <a:spLocks noGrp="1"/>
          </p:cNvSpPr>
          <p:nvPr>
            <p:ph type="body" sz="quarter" idx="56"/>
          </p:nvPr>
        </p:nvSpPr>
        <p:spPr>
          <a:xfrm>
            <a:off x="1249043" y="3812870"/>
            <a:ext cx="28760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사업·기능 직접반영 과제(14개)</a:t>
            </a:r>
          </a:p>
        </p:txBody>
      </p:sp>
      <p:sp>
        <p:nvSpPr>
          <p:cNvPr id="88" name="단계"/>
          <p:cNvSpPr/>
          <p:nvPr/>
        </p:nvSpPr>
        <p:spPr>
          <a:xfrm>
            <a:off x="4125130" y="3812870"/>
            <a:ext cx="2898000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89" name="단계"/>
          <p:cNvSpPr>
            <a:spLocks noGrp="1"/>
          </p:cNvSpPr>
          <p:nvPr>
            <p:ph type="body" sz="quarter" idx="57"/>
          </p:nvPr>
        </p:nvSpPr>
        <p:spPr>
          <a:xfrm>
            <a:off x="4125130" y="3812870"/>
            <a:ext cx="2898000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국민·기업·지역체감 확장반영 과제(15개)</a:t>
            </a:r>
          </a:p>
        </p:txBody>
      </p:sp>
      <p:sp>
        <p:nvSpPr>
          <p:cNvPr id="90" name="단계 삼각형"/>
          <p:cNvSpPr/>
          <p:nvPr/>
        </p:nvSpPr>
        <p:spPr>
          <a:xfrm>
            <a:off x="4125130" y="3812869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91" name="행 틀"/>
          <p:cNvSpPr/>
          <p:nvPr/>
        </p:nvSpPr>
        <p:spPr>
          <a:xfrm>
            <a:off x="723130" y="4064870"/>
            <a:ext cx="6300000" cy="405391"/>
          </a:xfrm>
          <a:prstGeom prst="rect">
            <a:avLst/>
          </a:prstGeom>
          <a:solidFill>
            <a:srgbClr val="FFFF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2" name="레일"/>
          <p:cNvSpPr/>
          <p:nvPr/>
        </p:nvSpPr>
        <p:spPr>
          <a:xfrm>
            <a:off x="734087" y="4075826"/>
            <a:ext cx="493043" cy="383478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93" name="레일"/>
          <p:cNvSpPr>
            <a:spLocks noGrp="1"/>
          </p:cNvSpPr>
          <p:nvPr>
            <p:ph type="body" sz="quarter" idx="58"/>
          </p:nvPr>
        </p:nvSpPr>
        <p:spPr>
          <a:xfrm>
            <a:off x="734087" y="4075826"/>
            <a:ext cx="493043" cy="38347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수자원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</a:t>
            </a:r>
          </a:p>
        </p:txBody>
      </p:sp>
      <p:sp>
        <p:nvSpPr>
          <p:cNvPr id="94" name="번호 칩"/>
          <p:cNvSpPr/>
          <p:nvPr/>
        </p:nvSpPr>
        <p:spPr>
          <a:xfrm>
            <a:off x="1270957" y="4114174"/>
            <a:ext cx="224827" cy="136957"/>
          </a:xfrm>
          <a:prstGeom prst="rect">
            <a:avLst/>
          </a:prstGeom>
          <a:solidFill>
            <a:srgbClr val="FFFFFF"/>
          </a:solidFill>
          <a:ln w="9525">
            <a:solidFill>
              <a:srgbClr val="0051BC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95" name="번호 칩"/>
          <p:cNvSpPr>
            <a:spLocks noGrp="1"/>
          </p:cNvSpPr>
          <p:nvPr>
            <p:ph type="body" sz="quarter" idx="59"/>
          </p:nvPr>
        </p:nvSpPr>
        <p:spPr>
          <a:xfrm>
            <a:off x="1270957" y="4114174"/>
            <a:ext cx="224827" cy="136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43</a:t>
            </a:r>
          </a:p>
        </p:txBody>
      </p:sp>
      <p:sp>
        <p:nvSpPr>
          <p:cNvPr id="96" name="과제명"/>
          <p:cNvSpPr>
            <a:spLocks noGrp="1"/>
          </p:cNvSpPr>
          <p:nvPr>
            <p:ph type="body" sz="quarter" idx="60"/>
          </p:nvPr>
        </p:nvSpPr>
        <p:spPr>
          <a:xfrm>
            <a:off x="1528653" y="4097739"/>
            <a:ext cx="2574564" cy="169826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안전성 강화</a:t>
            </a:r>
          </a:p>
        </p:txBody>
      </p:sp>
      <p:sp>
        <p:nvSpPr>
          <p:cNvPr id="97" name="번호 칩"/>
          <p:cNvSpPr/>
          <p:nvPr/>
        </p:nvSpPr>
        <p:spPr>
          <a:xfrm>
            <a:off x="1270957" y="4284000"/>
            <a:ext cx="213554" cy="136957"/>
          </a:xfrm>
          <a:prstGeom prst="rect">
            <a:avLst/>
          </a:prstGeom>
          <a:solidFill>
            <a:srgbClr val="FFFFFF"/>
          </a:solidFill>
          <a:ln w="9525">
            <a:solidFill>
              <a:srgbClr val="0051BC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98" name="번호 칩"/>
          <p:cNvSpPr>
            <a:spLocks noGrp="1"/>
          </p:cNvSpPr>
          <p:nvPr>
            <p:ph type="body" sz="quarter" idx="61"/>
          </p:nvPr>
        </p:nvSpPr>
        <p:spPr>
          <a:xfrm>
            <a:off x="1270957" y="4284000"/>
            <a:ext cx="213554" cy="136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73</a:t>
            </a:r>
          </a:p>
        </p:txBody>
      </p:sp>
      <p:sp>
        <p:nvSpPr>
          <p:cNvPr id="99" name="과제명"/>
          <p:cNvSpPr>
            <a:spLocks noGrp="1"/>
          </p:cNvSpPr>
          <p:nvPr>
            <p:ph type="body" sz="quarter" idx="62"/>
          </p:nvPr>
        </p:nvSpPr>
        <p:spPr>
          <a:xfrm>
            <a:off x="1517380" y="4267565"/>
            <a:ext cx="2585838" cy="169826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워터그리드</a:t>
            </a:r>
          </a:p>
        </p:txBody>
      </p:sp>
      <p:sp>
        <p:nvSpPr>
          <p:cNvPr id="100" name="번호 칩"/>
          <p:cNvSpPr/>
          <p:nvPr/>
        </p:nvSpPr>
        <p:spPr>
          <a:xfrm>
            <a:off x="4147043" y="4114174"/>
            <a:ext cx="221591" cy="136957"/>
          </a:xfrm>
          <a:prstGeom prst="rect">
            <a:avLst/>
          </a:prstGeom>
          <a:solidFill>
            <a:srgbClr val="FFFFFF"/>
          </a:solidFill>
          <a:ln w="9525">
            <a:solidFill>
              <a:srgbClr val="0051BC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101" name="번호 칩"/>
          <p:cNvSpPr>
            <a:spLocks noGrp="1"/>
          </p:cNvSpPr>
          <p:nvPr>
            <p:ph type="body" sz="quarter" idx="63"/>
          </p:nvPr>
        </p:nvSpPr>
        <p:spPr>
          <a:xfrm>
            <a:off x="4147043" y="4114174"/>
            <a:ext cx="221591" cy="136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42</a:t>
            </a:r>
          </a:p>
        </p:txBody>
      </p:sp>
      <p:sp>
        <p:nvSpPr>
          <p:cNvPr id="102" name="과제명"/>
          <p:cNvSpPr>
            <a:spLocks noGrp="1"/>
          </p:cNvSpPr>
          <p:nvPr>
            <p:ph type="body" sz="quarter" idx="64"/>
          </p:nvPr>
        </p:nvSpPr>
        <p:spPr>
          <a:xfrm>
            <a:off x="4401504" y="4097739"/>
            <a:ext cx="2577801" cy="169826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활성탄 자원순환</a:t>
            </a:r>
          </a:p>
        </p:txBody>
      </p:sp>
      <p:sp>
        <p:nvSpPr>
          <p:cNvPr id="103" name="번호 칩"/>
          <p:cNvSpPr/>
          <p:nvPr/>
        </p:nvSpPr>
        <p:spPr>
          <a:xfrm>
            <a:off x="4147043" y="4284000"/>
            <a:ext cx="226949" cy="136957"/>
          </a:xfrm>
          <a:prstGeom prst="rect">
            <a:avLst/>
          </a:prstGeom>
          <a:solidFill>
            <a:srgbClr val="FFFFFF"/>
          </a:solidFill>
          <a:ln w="9525">
            <a:solidFill>
              <a:srgbClr val="0051BC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104" name="번호 칩"/>
          <p:cNvSpPr>
            <a:spLocks noGrp="1"/>
          </p:cNvSpPr>
          <p:nvPr>
            <p:ph type="body" sz="quarter" idx="65"/>
          </p:nvPr>
        </p:nvSpPr>
        <p:spPr>
          <a:xfrm>
            <a:off x="4147043" y="4284000"/>
            <a:ext cx="226949" cy="136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44</a:t>
            </a:r>
          </a:p>
        </p:txBody>
      </p:sp>
      <p:sp>
        <p:nvSpPr>
          <p:cNvPr id="105" name="과제명"/>
          <p:cNvSpPr>
            <a:spLocks noGrp="1"/>
          </p:cNvSpPr>
          <p:nvPr>
            <p:ph type="body" sz="quarter" idx="66"/>
          </p:nvPr>
        </p:nvSpPr>
        <p:spPr>
          <a:xfrm>
            <a:off x="4406862" y="4267565"/>
            <a:ext cx="2572442" cy="169826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물환경 DT, 녹조 대응</a:t>
            </a:r>
          </a:p>
        </p:txBody>
      </p:sp>
      <p:cxnSp>
        <p:nvCxnSpPr>
          <p:cNvPr id="106" name="Connector 77"/>
          <p:cNvCxnSpPr/>
          <p:nvPr/>
        </p:nvCxnSpPr>
        <p:spPr>
          <a:xfrm>
            <a:off x="4114174" y="4086783"/>
            <a:ext cx="0" cy="361565"/>
          </a:xfrm>
          <a:prstGeom prst="line">
            <a:avLst/>
          </a:prstGeom>
          <a:ln w="9525">
            <a:solidFill>
              <a:srgbClr val="30C2FF"/>
            </a:solidFill>
          </a:ln>
        </p:spPr>
      </p:cxnSp>
      <p:sp>
        <p:nvSpPr>
          <p:cNvPr id="107" name="행 틀"/>
          <p:cNvSpPr/>
          <p:nvPr/>
        </p:nvSpPr>
        <p:spPr>
          <a:xfrm>
            <a:off x="723130" y="4470261"/>
            <a:ext cx="6300000" cy="405391"/>
          </a:xfrm>
          <a:prstGeom prst="rect">
            <a:avLst/>
          </a:prstGeom>
          <a:solidFill>
            <a:srgbClr val="EFF9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8" name="레일"/>
          <p:cNvSpPr/>
          <p:nvPr/>
        </p:nvSpPr>
        <p:spPr>
          <a:xfrm>
            <a:off x="734087" y="4481217"/>
            <a:ext cx="493043" cy="383478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09" name="레일"/>
          <p:cNvSpPr>
            <a:spLocks noGrp="1"/>
          </p:cNvSpPr>
          <p:nvPr>
            <p:ph type="body" sz="quarter" idx="67"/>
          </p:nvPr>
        </p:nvSpPr>
        <p:spPr>
          <a:xfrm>
            <a:off x="734087" y="4481217"/>
            <a:ext cx="493043" cy="38347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 도</a:t>
            </a:r>
          </a:p>
        </p:txBody>
      </p:sp>
      <p:sp>
        <p:nvSpPr>
          <p:cNvPr id="110" name="번호 칩"/>
          <p:cNvSpPr/>
          <p:nvPr/>
        </p:nvSpPr>
        <p:spPr>
          <a:xfrm>
            <a:off x="1270957" y="4519565"/>
            <a:ext cx="200046" cy="136957"/>
          </a:xfrm>
          <a:prstGeom prst="rect">
            <a:avLst/>
          </a:prstGeom>
          <a:solidFill>
            <a:srgbClr val="FFFFFF"/>
          </a:solidFill>
          <a:ln w="9525">
            <a:solidFill>
              <a:srgbClr val="0051BC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111" name="번호 칩"/>
          <p:cNvSpPr>
            <a:spLocks noGrp="1"/>
          </p:cNvSpPr>
          <p:nvPr>
            <p:ph type="body" sz="quarter" idx="68"/>
          </p:nvPr>
        </p:nvSpPr>
        <p:spPr>
          <a:xfrm>
            <a:off x="1270957" y="4519565"/>
            <a:ext cx="200046" cy="136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21</a:t>
            </a:r>
          </a:p>
        </p:txBody>
      </p:sp>
      <p:sp>
        <p:nvSpPr>
          <p:cNvPr id="112" name="과제명"/>
          <p:cNvSpPr>
            <a:spLocks noGrp="1"/>
          </p:cNvSpPr>
          <p:nvPr>
            <p:ph type="body" sz="quarter" idx="69"/>
          </p:nvPr>
        </p:nvSpPr>
        <p:spPr>
          <a:xfrm>
            <a:off x="1503872" y="4503130"/>
            <a:ext cx="2599346" cy="169826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정수장</a:t>
            </a:r>
          </a:p>
        </p:txBody>
      </p:sp>
      <p:sp>
        <p:nvSpPr>
          <p:cNvPr id="113" name="번호 칩"/>
          <p:cNvSpPr/>
          <p:nvPr/>
        </p:nvSpPr>
        <p:spPr>
          <a:xfrm>
            <a:off x="1270957" y="4689391"/>
            <a:ext cx="212214" cy="136957"/>
          </a:xfrm>
          <a:prstGeom prst="rect">
            <a:avLst/>
          </a:prstGeom>
          <a:solidFill>
            <a:srgbClr val="FFFFFF"/>
          </a:solidFill>
          <a:ln w="9525">
            <a:solidFill>
              <a:srgbClr val="0051BC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114" name="번호 칩"/>
          <p:cNvSpPr>
            <a:spLocks noGrp="1"/>
          </p:cNvSpPr>
          <p:nvPr>
            <p:ph type="body" sz="quarter" idx="70"/>
          </p:nvPr>
        </p:nvSpPr>
        <p:spPr>
          <a:xfrm>
            <a:off x="1270957" y="4689391"/>
            <a:ext cx="212214" cy="136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72</a:t>
            </a:r>
          </a:p>
        </p:txBody>
      </p:sp>
      <p:sp>
        <p:nvSpPr>
          <p:cNvPr id="115" name="과제명"/>
          <p:cNvSpPr>
            <a:spLocks noGrp="1"/>
          </p:cNvSpPr>
          <p:nvPr>
            <p:ph type="body" sz="quarter" idx="71"/>
          </p:nvPr>
        </p:nvSpPr>
        <p:spPr>
          <a:xfrm>
            <a:off x="1516040" y="4672957"/>
            <a:ext cx="2587177" cy="169826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노후 상수도관 정비</a:t>
            </a:r>
          </a:p>
        </p:txBody>
      </p:sp>
      <p:sp>
        <p:nvSpPr>
          <p:cNvPr id="116" name="번호 칩"/>
          <p:cNvSpPr/>
          <p:nvPr/>
        </p:nvSpPr>
        <p:spPr>
          <a:xfrm>
            <a:off x="4147043" y="4519565"/>
            <a:ext cx="225161" cy="136957"/>
          </a:xfrm>
          <a:prstGeom prst="rect">
            <a:avLst/>
          </a:prstGeom>
          <a:solidFill>
            <a:srgbClr val="FFFFFF"/>
          </a:solidFill>
          <a:ln w="9525">
            <a:solidFill>
              <a:srgbClr val="0051BC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117" name="번호 칩"/>
          <p:cNvSpPr>
            <a:spLocks noGrp="1"/>
          </p:cNvSpPr>
          <p:nvPr>
            <p:ph type="body" sz="quarter" idx="72"/>
          </p:nvPr>
        </p:nvSpPr>
        <p:spPr>
          <a:xfrm>
            <a:off x="4147043" y="4519565"/>
            <a:ext cx="225161" cy="136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30</a:t>
            </a:r>
          </a:p>
        </p:txBody>
      </p:sp>
      <p:sp>
        <p:nvSpPr>
          <p:cNvPr id="118" name="과제명"/>
          <p:cNvSpPr>
            <a:spLocks noGrp="1"/>
          </p:cNvSpPr>
          <p:nvPr>
            <p:ph type="body" sz="quarter" idx="73"/>
          </p:nvPr>
        </p:nvSpPr>
        <p:spPr>
          <a:xfrm>
            <a:off x="4405074" y="4503130"/>
            <a:ext cx="2574230" cy="169826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초순수 운영관리, 기술 국산화</a:t>
            </a:r>
          </a:p>
        </p:txBody>
      </p:sp>
      <p:sp>
        <p:nvSpPr>
          <p:cNvPr id="119" name="번호 칩"/>
          <p:cNvSpPr/>
          <p:nvPr/>
        </p:nvSpPr>
        <p:spPr>
          <a:xfrm>
            <a:off x="4147043" y="4689391"/>
            <a:ext cx="212214" cy="136957"/>
          </a:xfrm>
          <a:prstGeom prst="rect">
            <a:avLst/>
          </a:prstGeom>
          <a:solidFill>
            <a:srgbClr val="FFFFFF"/>
          </a:solidFill>
          <a:ln w="9525">
            <a:solidFill>
              <a:srgbClr val="0051BC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120" name="번호 칩"/>
          <p:cNvSpPr>
            <a:spLocks noGrp="1"/>
          </p:cNvSpPr>
          <p:nvPr>
            <p:ph type="body" sz="quarter" idx="74"/>
          </p:nvPr>
        </p:nvSpPr>
        <p:spPr>
          <a:xfrm>
            <a:off x="4147043" y="4689391"/>
            <a:ext cx="212214" cy="136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72</a:t>
            </a:r>
          </a:p>
        </p:txBody>
      </p:sp>
      <p:sp>
        <p:nvSpPr>
          <p:cNvPr id="121" name="과제명"/>
          <p:cNvSpPr>
            <a:spLocks noGrp="1"/>
          </p:cNvSpPr>
          <p:nvPr>
            <p:ph type="body" sz="quarter" idx="75"/>
          </p:nvPr>
        </p:nvSpPr>
        <p:spPr>
          <a:xfrm>
            <a:off x="4392127" y="4672957"/>
            <a:ext cx="2587177" cy="169826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광역 복선화 및 노후관 개량</a:t>
            </a:r>
          </a:p>
        </p:txBody>
      </p:sp>
      <p:cxnSp>
        <p:nvCxnSpPr>
          <p:cNvPr id="122" name="Connector 88"/>
          <p:cNvCxnSpPr/>
          <p:nvPr/>
        </p:nvCxnSpPr>
        <p:spPr>
          <a:xfrm>
            <a:off x="4114174" y="4492174"/>
            <a:ext cx="0" cy="361565"/>
          </a:xfrm>
          <a:prstGeom prst="line">
            <a:avLst/>
          </a:prstGeom>
          <a:ln w="9525">
            <a:solidFill>
              <a:srgbClr val="30C2FF"/>
            </a:solidFill>
          </a:ln>
        </p:spPr>
      </p:cxnSp>
      <p:sp>
        <p:nvSpPr>
          <p:cNvPr id="123" name="행 틀"/>
          <p:cNvSpPr/>
          <p:nvPr/>
        </p:nvSpPr>
        <p:spPr>
          <a:xfrm>
            <a:off x="723130" y="4875652"/>
            <a:ext cx="6300000" cy="405391"/>
          </a:xfrm>
          <a:prstGeom prst="rect">
            <a:avLst/>
          </a:prstGeom>
          <a:solidFill>
            <a:srgbClr val="FFFF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24" name="레일"/>
          <p:cNvSpPr/>
          <p:nvPr/>
        </p:nvSpPr>
        <p:spPr>
          <a:xfrm>
            <a:off x="734087" y="4886609"/>
            <a:ext cx="493043" cy="383478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5" name="레일"/>
          <p:cNvSpPr>
            <a:spLocks noGrp="1"/>
          </p:cNvSpPr>
          <p:nvPr>
            <p:ph type="body" sz="quarter" idx="76"/>
          </p:nvPr>
        </p:nvSpPr>
        <p:spPr>
          <a:xfrm>
            <a:off x="734087" y="4886609"/>
            <a:ext cx="493043" cy="38347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에너지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도 시</a:t>
            </a:r>
          </a:p>
        </p:txBody>
      </p:sp>
      <p:sp>
        <p:nvSpPr>
          <p:cNvPr id="126" name="번호 칩"/>
          <p:cNvSpPr/>
          <p:nvPr/>
        </p:nvSpPr>
        <p:spPr>
          <a:xfrm>
            <a:off x="1270957" y="4924957"/>
            <a:ext cx="223152" cy="136957"/>
          </a:xfrm>
          <a:prstGeom prst="rect">
            <a:avLst/>
          </a:prstGeom>
          <a:solidFill>
            <a:srgbClr val="FFFFFF"/>
          </a:solidFill>
          <a:ln w="9525">
            <a:solidFill>
              <a:srgbClr val="0051BC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127" name="번호 칩"/>
          <p:cNvSpPr>
            <a:spLocks noGrp="1"/>
          </p:cNvSpPr>
          <p:nvPr>
            <p:ph type="body" sz="quarter" idx="77"/>
          </p:nvPr>
        </p:nvSpPr>
        <p:spPr>
          <a:xfrm>
            <a:off x="1270957" y="4924957"/>
            <a:ext cx="223152" cy="136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39</a:t>
            </a:r>
          </a:p>
        </p:txBody>
      </p:sp>
      <p:sp>
        <p:nvSpPr>
          <p:cNvPr id="128" name="과제명"/>
          <p:cNvSpPr>
            <a:spLocks noGrp="1"/>
          </p:cNvSpPr>
          <p:nvPr>
            <p:ph type="body" sz="quarter" idx="78"/>
          </p:nvPr>
        </p:nvSpPr>
        <p:spPr>
          <a:xfrm>
            <a:off x="1526978" y="4908522"/>
            <a:ext cx="2576240" cy="169826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태양광 확대</a:t>
            </a:r>
          </a:p>
        </p:txBody>
      </p:sp>
      <p:sp>
        <p:nvSpPr>
          <p:cNvPr id="129" name="번호 칩"/>
          <p:cNvSpPr/>
          <p:nvPr/>
        </p:nvSpPr>
        <p:spPr>
          <a:xfrm>
            <a:off x="1270957" y="5094783"/>
            <a:ext cx="227283" cy="136957"/>
          </a:xfrm>
          <a:prstGeom prst="rect">
            <a:avLst/>
          </a:prstGeom>
          <a:solidFill>
            <a:srgbClr val="FFFFFF"/>
          </a:solidFill>
          <a:ln w="9525">
            <a:solidFill>
              <a:srgbClr val="0051BC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130" name="번호 칩"/>
          <p:cNvSpPr>
            <a:spLocks noGrp="1"/>
          </p:cNvSpPr>
          <p:nvPr>
            <p:ph type="body" sz="quarter" idx="79"/>
          </p:nvPr>
        </p:nvSpPr>
        <p:spPr>
          <a:xfrm>
            <a:off x="1270957" y="5094783"/>
            <a:ext cx="227283" cy="136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40</a:t>
            </a:r>
          </a:p>
        </p:txBody>
      </p:sp>
      <p:sp>
        <p:nvSpPr>
          <p:cNvPr id="131" name="과제명"/>
          <p:cNvSpPr>
            <a:spLocks noGrp="1"/>
          </p:cNvSpPr>
          <p:nvPr>
            <p:ph type="body" sz="quarter" idx="80"/>
          </p:nvPr>
        </p:nvSpPr>
        <p:spPr>
          <a:xfrm>
            <a:off x="1531109" y="5078348"/>
            <a:ext cx="2572108" cy="169826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탄소중립도시</a:t>
            </a:r>
          </a:p>
        </p:txBody>
      </p:sp>
      <p:sp>
        <p:nvSpPr>
          <p:cNvPr id="132" name="번호 칩"/>
          <p:cNvSpPr/>
          <p:nvPr/>
        </p:nvSpPr>
        <p:spPr>
          <a:xfrm>
            <a:off x="4147043" y="4924957"/>
            <a:ext cx="203282" cy="136957"/>
          </a:xfrm>
          <a:prstGeom prst="rect">
            <a:avLst/>
          </a:prstGeom>
          <a:solidFill>
            <a:srgbClr val="FFFFFF"/>
          </a:solidFill>
          <a:ln w="9525">
            <a:solidFill>
              <a:srgbClr val="0051BC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133" name="번호 칩"/>
          <p:cNvSpPr>
            <a:spLocks noGrp="1"/>
          </p:cNvSpPr>
          <p:nvPr>
            <p:ph type="body" sz="quarter" idx="81"/>
          </p:nvPr>
        </p:nvSpPr>
        <p:spPr>
          <a:xfrm>
            <a:off x="4147043" y="4924957"/>
            <a:ext cx="203282" cy="136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31</a:t>
            </a:r>
          </a:p>
        </p:txBody>
      </p:sp>
      <p:sp>
        <p:nvSpPr>
          <p:cNvPr id="134" name="과제명"/>
          <p:cNvSpPr>
            <a:spLocks noGrp="1"/>
          </p:cNvSpPr>
          <p:nvPr>
            <p:ph type="body" sz="quarter" idx="82"/>
          </p:nvPr>
        </p:nvSpPr>
        <p:spPr>
          <a:xfrm>
            <a:off x="4383195" y="4908522"/>
            <a:ext cx="2596109" cy="169826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‘AI시티’ 실증</a:t>
            </a:r>
          </a:p>
        </p:txBody>
      </p:sp>
      <p:sp>
        <p:nvSpPr>
          <p:cNvPr id="135" name="번호 칩"/>
          <p:cNvSpPr/>
          <p:nvPr/>
        </p:nvSpPr>
        <p:spPr>
          <a:xfrm>
            <a:off x="4147043" y="5094783"/>
            <a:ext cx="391599" cy="136957"/>
          </a:xfrm>
          <a:prstGeom prst="rect">
            <a:avLst/>
          </a:prstGeom>
          <a:solidFill>
            <a:srgbClr val="FFFFFF"/>
          </a:solidFill>
          <a:ln w="9525">
            <a:solidFill>
              <a:srgbClr val="0051BC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136" name="번호 칩"/>
          <p:cNvSpPr>
            <a:spLocks noGrp="1"/>
          </p:cNvSpPr>
          <p:nvPr>
            <p:ph type="body" sz="quarter" idx="83"/>
          </p:nvPr>
        </p:nvSpPr>
        <p:spPr>
          <a:xfrm>
            <a:off x="4147043" y="5094783"/>
            <a:ext cx="391599" cy="136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39·70</a:t>
            </a:r>
          </a:p>
        </p:txBody>
      </p:sp>
      <p:sp>
        <p:nvSpPr>
          <p:cNvPr id="137" name="과제명"/>
          <p:cNvSpPr>
            <a:spLocks noGrp="1"/>
          </p:cNvSpPr>
          <p:nvPr>
            <p:ph type="body" sz="quarter" idx="84"/>
          </p:nvPr>
        </p:nvSpPr>
        <p:spPr>
          <a:xfrm>
            <a:off x="4571513" y="5078348"/>
            <a:ext cx="2407792" cy="169826"/>
          </a:xfrm>
          <a:prstGeom prst="rect">
            <a:avLst/>
          </a:prstGeom>
          <a:noFill/>
          <a:ln>
            <a:noFill/>
          </a:ln>
        </p:spPr>
        <p:txBody>
          <a:bodyPr wrap="square" lIns="7200" tIns="0" rIns="72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주민 이익공유형 에너지사업</a:t>
            </a:r>
          </a:p>
        </p:txBody>
      </p:sp>
      <p:cxnSp>
        <p:nvCxnSpPr>
          <p:cNvPr id="138" name="Connector 99"/>
          <p:cNvCxnSpPr/>
          <p:nvPr/>
        </p:nvCxnSpPr>
        <p:spPr>
          <a:xfrm>
            <a:off x="4114174" y="4897565"/>
            <a:ext cx="0" cy="361565"/>
          </a:xfrm>
          <a:prstGeom prst="line">
            <a:avLst/>
          </a:prstGeom>
          <a:ln w="9525">
            <a:solidFill>
              <a:srgbClr val="30C2FF"/>
            </a:solidFill>
          </a:ln>
        </p:spPr>
      </p:cxnSp>
      <p:sp>
        <p:nvSpPr>
          <p:cNvPr id="139" name="배너"/>
          <p:cNvSpPr/>
          <p:nvPr/>
        </p:nvSpPr>
        <p:spPr>
          <a:xfrm>
            <a:off x="723130" y="5324869"/>
            <a:ext cx="6300000" cy="273913"/>
          </a:xfrm>
          <a:custGeom>
            <a:avLst/>
            <a:gdLst/>
            <a:ahLst/>
            <a:cxnLst/>
            <a:rect l="l" t="t" r="r" b="b"/>
            <a:pathLst>
              <a:path w="6300000" h="273913">
                <a:moveTo>
                  <a:pt x="0" y="0"/>
                </a:moveTo>
                <a:lnTo>
                  <a:pt x="6300000" y="0"/>
                </a:lnTo>
                <a:lnTo>
                  <a:pt x="6234261" y="273913"/>
                </a:lnTo>
                <a:lnTo>
                  <a:pt x="65739" y="273913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40" name="태그"/>
          <p:cNvSpPr/>
          <p:nvPr/>
        </p:nvSpPr>
        <p:spPr>
          <a:xfrm>
            <a:off x="942261" y="5379652"/>
            <a:ext cx="577911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141" name="태그"/>
          <p:cNvSpPr>
            <a:spLocks noGrp="1"/>
          </p:cNvSpPr>
          <p:nvPr>
            <p:ph type="body" sz="quarter" idx="85"/>
          </p:nvPr>
        </p:nvSpPr>
        <p:spPr>
          <a:xfrm>
            <a:off x="942261" y="5379652"/>
            <a:ext cx="577911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방향 설정</a:t>
            </a:r>
          </a:p>
        </p:txBody>
      </p:sp>
      <p:sp>
        <p:nvSpPr>
          <p:cNvPr id="142" name="배너 글"/>
          <p:cNvSpPr>
            <a:spLocks noGrp="1"/>
          </p:cNvSpPr>
          <p:nvPr>
            <p:ph type="body" sz="quarter" idx="86"/>
          </p:nvPr>
        </p:nvSpPr>
        <p:spPr>
          <a:xfrm>
            <a:off x="1574955" y="5324870"/>
            <a:ext cx="5283828" cy="273913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400" b="1" spc="-7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확정된 국정목표·과제 분석을 통한 ‘국정기조’ 도출로 미래 방향성 구체화</a:t>
            </a:r>
          </a:p>
        </p:txBody>
      </p:sp>
      <p:sp>
        <p:nvSpPr>
          <p:cNvPr id="143" name="머리"/>
          <p:cNvSpPr/>
          <p:nvPr/>
        </p:nvSpPr>
        <p:spPr>
          <a:xfrm>
            <a:off x="723130" y="5642609"/>
            <a:ext cx="3117130" cy="241043"/>
          </a:xfrm>
          <a:prstGeom prst="rect">
            <a:avLst/>
          </a:pr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4" name="태그"/>
          <p:cNvSpPr/>
          <p:nvPr/>
        </p:nvSpPr>
        <p:spPr>
          <a:xfrm>
            <a:off x="766957" y="5680957"/>
            <a:ext cx="329103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145" name="태그"/>
          <p:cNvSpPr>
            <a:spLocks noGrp="1"/>
          </p:cNvSpPr>
          <p:nvPr>
            <p:ph type="body" sz="quarter" idx="87"/>
          </p:nvPr>
        </p:nvSpPr>
        <p:spPr>
          <a:xfrm>
            <a:off x="766957" y="5680957"/>
            <a:ext cx="329103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</a:t>
            </a:r>
          </a:p>
        </p:txBody>
      </p:sp>
      <p:sp>
        <p:nvSpPr>
          <p:cNvPr id="146" name="머리 글"/>
          <p:cNvSpPr>
            <a:spLocks noGrp="1"/>
          </p:cNvSpPr>
          <p:nvPr>
            <p:ph type="body" sz="quarter" idx="88"/>
          </p:nvPr>
        </p:nvSpPr>
        <p:spPr>
          <a:xfrm>
            <a:off x="1128929" y="5642609"/>
            <a:ext cx="2601767" cy="241043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400" b="1" spc="-7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추진사업 재구성 방향</a:t>
            </a:r>
          </a:p>
        </p:txBody>
      </p:sp>
      <p:sp>
        <p:nvSpPr>
          <p:cNvPr id="147" name="삼각 화살표"/>
          <p:cNvSpPr/>
          <p:nvPr/>
        </p:nvSpPr>
        <p:spPr>
          <a:xfrm>
            <a:off x="3747130" y="5697391"/>
            <a:ext cx="76696" cy="131478"/>
          </a:xfrm>
          <a:custGeom>
            <a:avLst/>
            <a:gdLst/>
            <a:ahLst/>
            <a:cxnLst/>
            <a:rect l="l" t="t" r="r" b="b"/>
            <a:pathLst>
              <a:path w="76696" h="131478">
                <a:moveTo>
                  <a:pt x="0" y="0"/>
                </a:moveTo>
                <a:lnTo>
                  <a:pt x="0" y="131478"/>
                </a:lnTo>
                <a:lnTo>
                  <a:pt x="76696" y="65739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48" name="알약 칸"/>
          <p:cNvSpPr/>
          <p:nvPr/>
        </p:nvSpPr>
        <p:spPr>
          <a:xfrm>
            <a:off x="723130" y="5938435"/>
            <a:ext cx="1402709" cy="295826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149" name="알약 칸"/>
          <p:cNvSpPr>
            <a:spLocks noGrp="1"/>
          </p:cNvSpPr>
          <p:nvPr>
            <p:ph type="body" sz="quarter" idx="89"/>
          </p:nvPr>
        </p:nvSpPr>
        <p:spPr>
          <a:xfrm>
            <a:off x="723130" y="5938435"/>
            <a:ext cx="1402709" cy="295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 최우선 일터</a:t>
            </a:r>
          </a:p>
        </p:txBody>
      </p:sp>
      <p:cxnSp>
        <p:nvCxnSpPr>
          <p:cNvPr id="150" name="Connector 108"/>
          <p:cNvCxnSpPr/>
          <p:nvPr/>
        </p:nvCxnSpPr>
        <p:spPr>
          <a:xfrm>
            <a:off x="2125839" y="6086348"/>
            <a:ext cx="311713" cy="0"/>
          </a:xfrm>
          <a:prstGeom prst="line">
            <a:avLst/>
          </a:prstGeom>
          <a:ln w="15875">
            <a:solidFill>
              <a:srgbClr val="0051BC"/>
            </a:solidFill>
          </a:ln>
        </p:spPr>
      </p:cxnSp>
      <p:sp>
        <p:nvSpPr>
          <p:cNvPr id="151" name="연결 점"/>
          <p:cNvSpPr/>
          <p:nvPr/>
        </p:nvSpPr>
        <p:spPr>
          <a:xfrm>
            <a:off x="2103926" y="6064435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2" name="상자"/>
          <p:cNvSpPr/>
          <p:nvPr/>
        </p:nvSpPr>
        <p:spPr>
          <a:xfrm>
            <a:off x="2437552" y="5938435"/>
            <a:ext cx="1402709" cy="295826"/>
          </a:xfrm>
          <a:prstGeom prst="rect">
            <a:avLst/>
          </a:prstGeom>
          <a:solidFill>
            <a:srgbClr val="FFFFFF"/>
          </a:solidFill>
          <a:ln w="15875">
            <a:solidFill>
              <a:srgbClr val="0051BC"/>
            </a:solidFill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153" name="상자"/>
          <p:cNvSpPr>
            <a:spLocks noGrp="1"/>
          </p:cNvSpPr>
          <p:nvPr>
            <p:ph type="body" sz="quarter" idx="90"/>
          </p:nvPr>
        </p:nvSpPr>
        <p:spPr>
          <a:xfrm>
            <a:off x="2437552" y="5938435"/>
            <a:ext cx="1402709" cy="295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안전경영</a:t>
            </a:r>
          </a:p>
        </p:txBody>
      </p:sp>
      <p:sp>
        <p:nvSpPr>
          <p:cNvPr id="154" name="알약 칸"/>
          <p:cNvSpPr/>
          <p:nvPr/>
        </p:nvSpPr>
        <p:spPr>
          <a:xfrm>
            <a:off x="723130" y="6278087"/>
            <a:ext cx="1402709" cy="295826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155" name="알약 칸"/>
          <p:cNvSpPr>
            <a:spLocks noGrp="1"/>
          </p:cNvSpPr>
          <p:nvPr>
            <p:ph type="body" sz="quarter" idx="91"/>
          </p:nvPr>
        </p:nvSpPr>
        <p:spPr>
          <a:xfrm>
            <a:off x="723130" y="6278087"/>
            <a:ext cx="1402709" cy="295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3대 강국 도약</a:t>
            </a:r>
          </a:p>
        </p:txBody>
      </p:sp>
      <p:cxnSp>
        <p:nvCxnSpPr>
          <p:cNvPr id="156" name="Connector 112"/>
          <p:cNvCxnSpPr/>
          <p:nvPr/>
        </p:nvCxnSpPr>
        <p:spPr>
          <a:xfrm>
            <a:off x="2125839" y="6426000"/>
            <a:ext cx="311713" cy="0"/>
          </a:xfrm>
          <a:prstGeom prst="line">
            <a:avLst/>
          </a:prstGeom>
          <a:ln w="15875">
            <a:solidFill>
              <a:srgbClr val="0051BC"/>
            </a:solidFill>
          </a:ln>
        </p:spPr>
      </p:cxnSp>
      <p:sp>
        <p:nvSpPr>
          <p:cNvPr id="157" name="연결 점"/>
          <p:cNvSpPr/>
          <p:nvPr/>
        </p:nvSpPr>
        <p:spPr>
          <a:xfrm>
            <a:off x="2103926" y="6404087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8" name="상자"/>
          <p:cNvSpPr/>
          <p:nvPr/>
        </p:nvSpPr>
        <p:spPr>
          <a:xfrm>
            <a:off x="2437552" y="6278087"/>
            <a:ext cx="1402709" cy="295826"/>
          </a:xfrm>
          <a:prstGeom prst="rect">
            <a:avLst/>
          </a:prstGeom>
          <a:solidFill>
            <a:srgbClr val="FFFFFF"/>
          </a:solidFill>
          <a:ln w="15875">
            <a:solidFill>
              <a:srgbClr val="0051BC"/>
            </a:solidFill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159" name="상자"/>
          <p:cNvSpPr>
            <a:spLocks noGrp="1"/>
          </p:cNvSpPr>
          <p:nvPr>
            <p:ph type="body" sz="quarter" idx="92"/>
          </p:nvPr>
        </p:nvSpPr>
        <p:spPr>
          <a:xfrm>
            <a:off x="2437552" y="6278087"/>
            <a:ext cx="1402709" cy="295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AI전환</a:t>
            </a:r>
          </a:p>
        </p:txBody>
      </p:sp>
      <p:sp>
        <p:nvSpPr>
          <p:cNvPr id="160" name="알약 칸"/>
          <p:cNvSpPr/>
          <p:nvPr/>
        </p:nvSpPr>
        <p:spPr>
          <a:xfrm>
            <a:off x="723130" y="6617739"/>
            <a:ext cx="1402709" cy="295826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161" name="알약 칸"/>
          <p:cNvSpPr>
            <a:spLocks noGrp="1"/>
          </p:cNvSpPr>
          <p:nvPr>
            <p:ph type="body" sz="quarter" idx="93"/>
          </p:nvPr>
        </p:nvSpPr>
        <p:spPr>
          <a:xfrm>
            <a:off x="723130" y="6617739"/>
            <a:ext cx="1402709" cy="295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물관리 기본 책무 충실</a:t>
            </a:r>
          </a:p>
        </p:txBody>
      </p:sp>
      <p:cxnSp>
        <p:nvCxnSpPr>
          <p:cNvPr id="162" name="Connector 116"/>
          <p:cNvCxnSpPr/>
          <p:nvPr/>
        </p:nvCxnSpPr>
        <p:spPr>
          <a:xfrm>
            <a:off x="2125839" y="6765652"/>
            <a:ext cx="311713" cy="0"/>
          </a:xfrm>
          <a:prstGeom prst="line">
            <a:avLst/>
          </a:prstGeom>
          <a:ln w="15875">
            <a:solidFill>
              <a:srgbClr val="0051BC"/>
            </a:solidFill>
          </a:ln>
        </p:spPr>
      </p:cxnSp>
      <p:sp>
        <p:nvSpPr>
          <p:cNvPr id="163" name="연결 점"/>
          <p:cNvSpPr/>
          <p:nvPr/>
        </p:nvSpPr>
        <p:spPr>
          <a:xfrm>
            <a:off x="2103926" y="6743739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4" name="상자"/>
          <p:cNvSpPr/>
          <p:nvPr/>
        </p:nvSpPr>
        <p:spPr>
          <a:xfrm>
            <a:off x="2437552" y="6617739"/>
            <a:ext cx="1402709" cy="295826"/>
          </a:xfrm>
          <a:prstGeom prst="rect">
            <a:avLst/>
          </a:prstGeom>
          <a:solidFill>
            <a:srgbClr val="FFFFFF"/>
          </a:solidFill>
          <a:ln w="15875">
            <a:solidFill>
              <a:srgbClr val="0051BC"/>
            </a:solidFill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165" name="상자"/>
          <p:cNvSpPr>
            <a:spLocks noGrp="1"/>
          </p:cNvSpPr>
          <p:nvPr>
            <p:ph type="body" sz="quarter" idx="94"/>
          </p:nvPr>
        </p:nvSpPr>
        <p:spPr>
          <a:xfrm>
            <a:off x="2437552" y="6617739"/>
            <a:ext cx="1402709" cy="295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물관리 강화</a:t>
            </a:r>
          </a:p>
        </p:txBody>
      </p:sp>
      <p:sp>
        <p:nvSpPr>
          <p:cNvPr id="166" name="머리"/>
          <p:cNvSpPr/>
          <p:nvPr/>
        </p:nvSpPr>
        <p:spPr>
          <a:xfrm>
            <a:off x="3906000" y="5642609"/>
            <a:ext cx="3117130" cy="241043"/>
          </a:xfrm>
          <a:prstGeom prst="rect">
            <a:avLst/>
          </a:pr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7" name="태그"/>
          <p:cNvSpPr/>
          <p:nvPr/>
        </p:nvSpPr>
        <p:spPr>
          <a:xfrm>
            <a:off x="3949826" y="5680957"/>
            <a:ext cx="329103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168" name="태그"/>
          <p:cNvSpPr>
            <a:spLocks noGrp="1"/>
          </p:cNvSpPr>
          <p:nvPr>
            <p:ph type="body" sz="quarter" idx="95"/>
          </p:nvPr>
        </p:nvSpPr>
        <p:spPr>
          <a:xfrm>
            <a:off x="3949826" y="5680957"/>
            <a:ext cx="329103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기능</a:t>
            </a:r>
          </a:p>
        </p:txBody>
      </p:sp>
      <p:sp>
        <p:nvSpPr>
          <p:cNvPr id="169" name="머리 글"/>
          <p:cNvSpPr>
            <a:spLocks noGrp="1"/>
          </p:cNvSpPr>
          <p:nvPr>
            <p:ph type="body" sz="quarter" idx="96"/>
          </p:nvPr>
        </p:nvSpPr>
        <p:spPr>
          <a:xfrm>
            <a:off x="4311798" y="5642609"/>
            <a:ext cx="2601767" cy="241043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400" b="1" spc="-7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경영체계 고도화 방향</a:t>
            </a:r>
          </a:p>
        </p:txBody>
      </p:sp>
      <p:sp>
        <p:nvSpPr>
          <p:cNvPr id="170" name="삼각 화살표"/>
          <p:cNvSpPr/>
          <p:nvPr/>
        </p:nvSpPr>
        <p:spPr>
          <a:xfrm>
            <a:off x="6930000" y="5697391"/>
            <a:ext cx="76695" cy="131478"/>
          </a:xfrm>
          <a:custGeom>
            <a:avLst/>
            <a:gdLst/>
            <a:ahLst/>
            <a:cxnLst/>
            <a:rect l="l" t="t" r="r" b="b"/>
            <a:pathLst>
              <a:path w="76695" h="131478">
                <a:moveTo>
                  <a:pt x="0" y="0"/>
                </a:moveTo>
                <a:lnTo>
                  <a:pt x="0" y="131478"/>
                </a:lnTo>
                <a:lnTo>
                  <a:pt x="76695" y="65739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71" name="알약 칸"/>
          <p:cNvSpPr/>
          <p:nvPr/>
        </p:nvSpPr>
        <p:spPr>
          <a:xfrm>
            <a:off x="3906000" y="5938435"/>
            <a:ext cx="1402709" cy="295826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172" name="알약 칸"/>
          <p:cNvSpPr>
            <a:spLocks noGrp="1"/>
          </p:cNvSpPr>
          <p:nvPr>
            <p:ph type="body" sz="quarter" idx="97"/>
          </p:nvPr>
        </p:nvSpPr>
        <p:spPr>
          <a:xfrm>
            <a:off x="3906000" y="5938435"/>
            <a:ext cx="1402709" cy="295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3대 강국 도약</a:t>
            </a:r>
          </a:p>
        </p:txBody>
      </p:sp>
      <p:cxnSp>
        <p:nvCxnSpPr>
          <p:cNvPr id="173" name="Connector 124"/>
          <p:cNvCxnSpPr/>
          <p:nvPr/>
        </p:nvCxnSpPr>
        <p:spPr>
          <a:xfrm>
            <a:off x="5308709" y="6086348"/>
            <a:ext cx="311713" cy="0"/>
          </a:xfrm>
          <a:prstGeom prst="line">
            <a:avLst/>
          </a:prstGeom>
          <a:ln w="15875">
            <a:solidFill>
              <a:srgbClr val="0051BC"/>
            </a:solidFill>
          </a:ln>
        </p:spPr>
      </p:cxnSp>
      <p:sp>
        <p:nvSpPr>
          <p:cNvPr id="174" name="연결 점"/>
          <p:cNvSpPr/>
          <p:nvPr/>
        </p:nvSpPr>
        <p:spPr>
          <a:xfrm>
            <a:off x="5286796" y="6064435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5" name="상자"/>
          <p:cNvSpPr/>
          <p:nvPr/>
        </p:nvSpPr>
        <p:spPr>
          <a:xfrm>
            <a:off x="5620422" y="5938435"/>
            <a:ext cx="1402709" cy="295826"/>
          </a:xfrm>
          <a:prstGeom prst="rect">
            <a:avLst/>
          </a:prstGeom>
          <a:solidFill>
            <a:srgbClr val="FFFFFF"/>
          </a:solidFill>
          <a:ln w="15875">
            <a:solidFill>
              <a:srgbClr val="0051BC"/>
            </a:solidFill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176" name="상자"/>
          <p:cNvSpPr>
            <a:spLocks noGrp="1"/>
          </p:cNvSpPr>
          <p:nvPr>
            <p:ph type="body" sz="quarter" idx="98"/>
          </p:nvPr>
        </p:nvSpPr>
        <p:spPr>
          <a:xfrm>
            <a:off x="5620422" y="5938435"/>
            <a:ext cx="1402709" cy="295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AI·디지털 인프라 강화</a:t>
            </a:r>
          </a:p>
        </p:txBody>
      </p:sp>
      <p:sp>
        <p:nvSpPr>
          <p:cNvPr id="177" name="알약 칸"/>
          <p:cNvSpPr/>
          <p:nvPr/>
        </p:nvSpPr>
        <p:spPr>
          <a:xfrm>
            <a:off x="3906000" y="6278087"/>
            <a:ext cx="1402709" cy="295826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178" name="알약 칸"/>
          <p:cNvSpPr>
            <a:spLocks noGrp="1"/>
          </p:cNvSpPr>
          <p:nvPr>
            <p:ph type="body" sz="quarter" idx="99"/>
          </p:nvPr>
        </p:nvSpPr>
        <p:spPr>
          <a:xfrm>
            <a:off x="3906000" y="6278087"/>
            <a:ext cx="1402709" cy="295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국민이 주인인 나라</a:t>
            </a:r>
          </a:p>
        </p:txBody>
      </p:sp>
      <p:cxnSp>
        <p:nvCxnSpPr>
          <p:cNvPr id="179" name="Connector 128"/>
          <p:cNvCxnSpPr/>
          <p:nvPr/>
        </p:nvCxnSpPr>
        <p:spPr>
          <a:xfrm>
            <a:off x="5308709" y="6426000"/>
            <a:ext cx="311713" cy="0"/>
          </a:xfrm>
          <a:prstGeom prst="line">
            <a:avLst/>
          </a:prstGeom>
          <a:ln w="15875">
            <a:solidFill>
              <a:srgbClr val="0051BC"/>
            </a:solidFill>
          </a:ln>
        </p:spPr>
      </p:cxnSp>
      <p:sp>
        <p:nvSpPr>
          <p:cNvPr id="180" name="연결 점"/>
          <p:cNvSpPr/>
          <p:nvPr/>
        </p:nvSpPr>
        <p:spPr>
          <a:xfrm>
            <a:off x="5286796" y="6404087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1" name="상자"/>
          <p:cNvSpPr/>
          <p:nvPr/>
        </p:nvSpPr>
        <p:spPr>
          <a:xfrm>
            <a:off x="5620422" y="6278087"/>
            <a:ext cx="1402709" cy="295826"/>
          </a:xfrm>
          <a:prstGeom prst="rect">
            <a:avLst/>
          </a:prstGeom>
          <a:solidFill>
            <a:srgbClr val="FFFFFF"/>
          </a:solidFill>
          <a:ln w="15875">
            <a:solidFill>
              <a:srgbClr val="0051BC"/>
            </a:solidFill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182" name="상자"/>
          <p:cNvSpPr>
            <a:spLocks noGrp="1"/>
          </p:cNvSpPr>
          <p:nvPr>
            <p:ph type="body" sz="quarter" idx="100"/>
          </p:nvPr>
        </p:nvSpPr>
        <p:spPr>
          <a:xfrm>
            <a:off x="5620422" y="6278087"/>
            <a:ext cx="1402709" cy="295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신뢰 기반 성장 조직</a:t>
            </a:r>
          </a:p>
        </p:txBody>
      </p:sp>
      <p:sp>
        <p:nvSpPr>
          <p:cNvPr id="183" name="알약 칸"/>
          <p:cNvSpPr/>
          <p:nvPr/>
        </p:nvSpPr>
        <p:spPr>
          <a:xfrm>
            <a:off x="3906000" y="6617739"/>
            <a:ext cx="1402709" cy="295826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184" name="알약 칸"/>
          <p:cNvSpPr>
            <a:spLocks noGrp="1"/>
          </p:cNvSpPr>
          <p:nvPr>
            <p:ph type="body" sz="quarter" idx="101"/>
          </p:nvPr>
        </p:nvSpPr>
        <p:spPr>
          <a:xfrm>
            <a:off x="3906000" y="6617739"/>
            <a:ext cx="1402709" cy="295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공공기관 ESG 경영</a:t>
            </a:r>
          </a:p>
        </p:txBody>
      </p:sp>
      <p:cxnSp>
        <p:nvCxnSpPr>
          <p:cNvPr id="185" name="Connector 132"/>
          <p:cNvCxnSpPr/>
          <p:nvPr/>
        </p:nvCxnSpPr>
        <p:spPr>
          <a:xfrm>
            <a:off x="5308709" y="6765652"/>
            <a:ext cx="311713" cy="0"/>
          </a:xfrm>
          <a:prstGeom prst="line">
            <a:avLst/>
          </a:prstGeom>
          <a:ln w="15875">
            <a:solidFill>
              <a:srgbClr val="0051BC"/>
            </a:solidFill>
          </a:ln>
        </p:spPr>
      </p:cxnSp>
      <p:sp>
        <p:nvSpPr>
          <p:cNvPr id="186" name="연결 점"/>
          <p:cNvSpPr/>
          <p:nvPr/>
        </p:nvSpPr>
        <p:spPr>
          <a:xfrm>
            <a:off x="5286796" y="6743739"/>
            <a:ext cx="43826" cy="4382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7" name="상자"/>
          <p:cNvSpPr/>
          <p:nvPr/>
        </p:nvSpPr>
        <p:spPr>
          <a:xfrm>
            <a:off x="5620422" y="6617739"/>
            <a:ext cx="1402709" cy="295826"/>
          </a:xfrm>
          <a:prstGeom prst="rect">
            <a:avLst/>
          </a:prstGeom>
          <a:solidFill>
            <a:srgbClr val="FFFFFF"/>
          </a:solidFill>
          <a:ln w="15875">
            <a:solidFill>
              <a:srgbClr val="0051BC"/>
            </a:solidFill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188" name="상자"/>
          <p:cNvSpPr>
            <a:spLocks noGrp="1"/>
          </p:cNvSpPr>
          <p:nvPr>
            <p:ph type="body" sz="quarter" idx="102"/>
          </p:nvPr>
        </p:nvSpPr>
        <p:spPr>
          <a:xfrm>
            <a:off x="5620422" y="6617739"/>
            <a:ext cx="1402709" cy="295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지속가능 경영체계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29 서사 · 추진배경 → E·S·G 3축 실천 → 주요성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ESG LEAD 독보적 ESG 모델로 여는 새 이정표</a:t>
            </a:r>
          </a:p>
        </p:txBody>
      </p:sp>
      <p:sp>
        <p:nvSpPr>
          <p:cNvPr id="15" name="번호 띠 칩"/>
          <p:cNvSpPr/>
          <p:nvPr/>
        </p:nvSpPr>
        <p:spPr>
          <a:xfrm>
            <a:off x="6265613" y="832696"/>
            <a:ext cx="505517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번호 띠 칩"/>
          <p:cNvSpPr>
            <a:spLocks noGrp="1"/>
          </p:cNvSpPr>
          <p:nvPr>
            <p:ph type="body" sz="quarter" idx="22"/>
          </p:nvPr>
        </p:nvSpPr>
        <p:spPr>
          <a:xfrm>
            <a:off x="6265613" y="832696"/>
            <a:ext cx="50551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7" name="번호 띠 칩"/>
          <p:cNvSpPr/>
          <p:nvPr/>
        </p:nvSpPr>
        <p:spPr>
          <a:xfrm>
            <a:off x="5692579" y="832696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번호 띠 칩"/>
          <p:cNvSpPr>
            <a:spLocks noGrp="1"/>
          </p:cNvSpPr>
          <p:nvPr>
            <p:ph type="body" sz="quarter" idx="23"/>
          </p:nvPr>
        </p:nvSpPr>
        <p:spPr>
          <a:xfrm>
            <a:off x="5692579" y="832696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9" name="형광 밑줄"/>
          <p:cNvSpPr/>
          <p:nvPr/>
        </p:nvSpPr>
        <p:spPr>
          <a:xfrm>
            <a:off x="536870" y="1347652"/>
            <a:ext cx="4044505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0" name="소제목"/>
          <p:cNvSpPr>
            <a:spLocks noGrp="1"/>
          </p:cNvSpPr>
          <p:nvPr>
            <p:ph type="body" sz="quarter" idx="24"/>
          </p:nvPr>
        </p:nvSpPr>
        <p:spPr>
          <a:xfrm>
            <a:off x="536870" y="1194261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자연을 되살리고, 이익은 공유하며, 신뢰는 올리는 ESG 경영 혁신</a:t>
            </a:r>
          </a:p>
        </p:txBody>
      </p:sp>
      <p:sp>
        <p:nvSpPr>
          <p:cNvPr id="21" name="표 외곽"/>
          <p:cNvSpPr/>
          <p:nvPr/>
        </p:nvSpPr>
        <p:spPr>
          <a:xfrm>
            <a:off x="536870" y="1479130"/>
            <a:ext cx="6300000" cy="385967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2" name="레일"/>
          <p:cNvSpPr/>
          <p:nvPr/>
        </p:nvSpPr>
        <p:spPr>
          <a:xfrm>
            <a:off x="547826" y="1495565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3" name="레일"/>
          <p:cNvSpPr>
            <a:spLocks noGrp="1"/>
          </p:cNvSpPr>
          <p:nvPr>
            <p:ph type="body" sz="quarter" idx="25"/>
          </p:nvPr>
        </p:nvSpPr>
        <p:spPr>
          <a:xfrm>
            <a:off x="547826" y="1495565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6"/>
          </p:nvPr>
        </p:nvSpPr>
        <p:spPr>
          <a:xfrm>
            <a:off x="1172348" y="1517478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기후대응 사업 등 위기 대응 ESG 경영 집중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3996391" y="1517478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평가 제언을 바탕으로 전 분야 ESG 경영 혁신</a:t>
            </a:r>
          </a:p>
        </p:txBody>
      </p:sp>
      <p:cxnSp>
        <p:nvCxnSpPr>
          <p:cNvPr id="26" name="Connector 19"/>
          <p:cNvCxnSpPr/>
          <p:nvPr/>
        </p:nvCxnSpPr>
        <p:spPr>
          <a:xfrm>
            <a:off x="3985435" y="1550348"/>
            <a:ext cx="0" cy="284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7" name="레일"/>
          <p:cNvSpPr/>
          <p:nvPr/>
        </p:nvSpPr>
        <p:spPr>
          <a:xfrm>
            <a:off x="547826" y="1920209"/>
            <a:ext cx="580696" cy="105464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8" name="레일 태그"/>
          <p:cNvSpPr/>
          <p:nvPr/>
        </p:nvSpPr>
        <p:spPr>
          <a:xfrm>
            <a:off x="740517" y="2084557"/>
            <a:ext cx="195314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9" name="레일 태그"/>
          <p:cNvSpPr>
            <a:spLocks noGrp="1"/>
          </p:cNvSpPr>
          <p:nvPr>
            <p:ph type="body" sz="quarter" idx="28"/>
          </p:nvPr>
        </p:nvSpPr>
        <p:spPr>
          <a:xfrm>
            <a:off x="740517" y="2084557"/>
            <a:ext cx="195314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E</a:t>
            </a:r>
          </a:p>
        </p:txBody>
      </p:sp>
      <p:sp>
        <p:nvSpPr>
          <p:cNvPr id="30" name="레일 라벨"/>
          <p:cNvSpPr>
            <a:spLocks noGrp="1"/>
          </p:cNvSpPr>
          <p:nvPr>
            <p:ph type="body" sz="quarter" idx="29"/>
          </p:nvPr>
        </p:nvSpPr>
        <p:spPr>
          <a:xfrm>
            <a:off x="547826" y="2270817"/>
            <a:ext cx="580696" cy="682122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Water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Positive</a:t>
            </a:r>
          </a:p>
        </p:txBody>
      </p:sp>
      <p:sp>
        <p:nvSpPr>
          <p:cNvPr id="31" name="레일 삼각형"/>
          <p:cNvSpPr/>
          <p:nvPr/>
        </p:nvSpPr>
        <p:spPr>
          <a:xfrm>
            <a:off x="547826" y="1920208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2" name="태그"/>
          <p:cNvSpPr/>
          <p:nvPr/>
        </p:nvSpPr>
        <p:spPr>
          <a:xfrm>
            <a:off x="1161391" y="1964035"/>
            <a:ext cx="610781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3" name="태그"/>
          <p:cNvSpPr>
            <a:spLocks noGrp="1"/>
          </p:cNvSpPr>
          <p:nvPr>
            <p:ph type="body" sz="quarter" idx="30"/>
          </p:nvPr>
        </p:nvSpPr>
        <p:spPr>
          <a:xfrm>
            <a:off x="1161391" y="1964035"/>
            <a:ext cx="61078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 니즈</a:t>
            </a:r>
          </a:p>
        </p:txBody>
      </p:sp>
      <p:sp>
        <p:nvSpPr>
          <p:cNvPr id="34" name="태그 설명"/>
          <p:cNvSpPr>
            <a:spLocks noGrp="1"/>
          </p:cNvSpPr>
          <p:nvPr>
            <p:ph type="body" sz="quarter" idx="31"/>
          </p:nvPr>
        </p:nvSpPr>
        <p:spPr>
          <a:xfrm>
            <a:off x="1815998" y="1953078"/>
            <a:ext cx="4993480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기후위기로 사용 가능한 물의 양 감소, 수량 확보 필요</a:t>
            </a:r>
          </a:p>
        </p:txBody>
      </p:sp>
      <p:sp>
        <p:nvSpPr>
          <p:cNvPr id="35" name="태그"/>
          <p:cNvSpPr/>
          <p:nvPr/>
        </p:nvSpPr>
        <p:spPr>
          <a:xfrm>
            <a:off x="1161391" y="2161252"/>
            <a:ext cx="610781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6" name="태그"/>
          <p:cNvSpPr>
            <a:spLocks noGrp="1"/>
          </p:cNvSpPr>
          <p:nvPr>
            <p:ph type="body" sz="quarter" idx="32"/>
          </p:nvPr>
        </p:nvSpPr>
        <p:spPr>
          <a:xfrm>
            <a:off x="1161391" y="2161252"/>
            <a:ext cx="61078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강점</a:t>
            </a:r>
          </a:p>
        </p:txBody>
      </p:sp>
      <p:sp>
        <p:nvSpPr>
          <p:cNvPr id="37" name="태그 설명"/>
          <p:cNvSpPr>
            <a:spLocks noGrp="1"/>
          </p:cNvSpPr>
          <p:nvPr>
            <p:ph type="body" sz="quarter" idx="33"/>
          </p:nvPr>
        </p:nvSpPr>
        <p:spPr>
          <a:xfrm>
            <a:off x="1815998" y="2150296"/>
            <a:ext cx="4993480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저류지 설치, 하수 재이용 등 물관리 전반 최적화 수행 중</a:t>
            </a:r>
          </a:p>
        </p:txBody>
      </p:sp>
      <p:sp>
        <p:nvSpPr>
          <p:cNvPr id="38" name="단계"/>
          <p:cNvSpPr/>
          <p:nvPr/>
        </p:nvSpPr>
        <p:spPr>
          <a:xfrm>
            <a:off x="1161391" y="2374904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9" name="단계"/>
          <p:cNvSpPr>
            <a:spLocks noGrp="1"/>
          </p:cNvSpPr>
          <p:nvPr>
            <p:ph type="body" sz="quarter" idx="34"/>
          </p:nvPr>
        </p:nvSpPr>
        <p:spPr>
          <a:xfrm>
            <a:off x="1161391" y="237490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준공 A사</a:t>
            </a:r>
          </a:p>
        </p:txBody>
      </p:sp>
      <p:sp>
        <p:nvSpPr>
          <p:cNvPr id="40" name="단계"/>
          <p:cNvSpPr/>
          <p:nvPr/>
        </p:nvSpPr>
        <p:spPr>
          <a:xfrm>
            <a:off x="3044087" y="2374904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1" name="단계"/>
          <p:cNvSpPr>
            <a:spLocks noGrp="1"/>
          </p:cNvSpPr>
          <p:nvPr>
            <p:ph type="body" sz="quarter" idx="35"/>
          </p:nvPr>
        </p:nvSpPr>
        <p:spPr>
          <a:xfrm>
            <a:off x="3044087" y="237490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착수 B사 본사</a:t>
            </a:r>
          </a:p>
        </p:txBody>
      </p:sp>
      <p:sp>
        <p:nvSpPr>
          <p:cNvPr id="42" name="단계"/>
          <p:cNvSpPr/>
          <p:nvPr/>
        </p:nvSpPr>
        <p:spPr>
          <a:xfrm>
            <a:off x="4926783" y="2374904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3" name="단계"/>
          <p:cNvSpPr>
            <a:spLocks noGrp="1"/>
          </p:cNvSpPr>
          <p:nvPr>
            <p:ph type="body" sz="quarter" idx="36"/>
          </p:nvPr>
        </p:nvSpPr>
        <p:spPr>
          <a:xfrm>
            <a:off x="4926783" y="237490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’26년 예정 A사</a:t>
            </a:r>
          </a:p>
        </p:txBody>
      </p:sp>
      <p:sp>
        <p:nvSpPr>
          <p:cNvPr id="44" name="단계 삼각형"/>
          <p:cNvSpPr/>
          <p:nvPr/>
        </p:nvSpPr>
        <p:spPr>
          <a:xfrm>
            <a:off x="3044086" y="2374904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5" name="단계 삼각형"/>
          <p:cNvSpPr/>
          <p:nvPr/>
        </p:nvSpPr>
        <p:spPr>
          <a:xfrm>
            <a:off x="4926782" y="2374904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6" name="칸 본문"/>
          <p:cNvSpPr>
            <a:spLocks noGrp="1"/>
          </p:cNvSpPr>
          <p:nvPr>
            <p:ph type="body" sz="quarter" idx="37"/>
          </p:nvPr>
        </p:nvSpPr>
        <p:spPr>
          <a:xfrm>
            <a:off x="1172348" y="2626904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상류 노후 습지 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2천명/연 사용분 복원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38"/>
          </p:nvPr>
        </p:nvSpPr>
        <p:spPr>
          <a:xfrm>
            <a:off x="3055043" y="2626904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상류 인공습지 조성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2천명/연 사용분 복원</a:t>
            </a:r>
          </a:p>
        </p:txBody>
      </p:sp>
      <p:cxnSp>
        <p:nvCxnSpPr>
          <p:cNvPr id="48" name="Connector 35"/>
          <p:cNvCxnSpPr/>
          <p:nvPr/>
        </p:nvCxnSpPr>
        <p:spPr>
          <a:xfrm>
            <a:off x="3044087" y="2659774"/>
            <a:ext cx="0" cy="2767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9" name="칸 본문"/>
          <p:cNvSpPr>
            <a:spLocks noGrp="1"/>
          </p:cNvSpPr>
          <p:nvPr>
            <p:ph type="body" sz="quarter" idx="39"/>
          </p:nvPr>
        </p:nvSpPr>
        <p:spPr>
          <a:xfrm>
            <a:off x="4937739" y="2626904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식수원 확보 모래샘 조성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700명/일 사용분 복원</a:t>
            </a:r>
          </a:p>
        </p:txBody>
      </p:sp>
      <p:cxnSp>
        <p:nvCxnSpPr>
          <p:cNvPr id="50" name="Connector 37"/>
          <p:cNvCxnSpPr/>
          <p:nvPr/>
        </p:nvCxnSpPr>
        <p:spPr>
          <a:xfrm>
            <a:off x="4926783" y="2659774"/>
            <a:ext cx="0" cy="2767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1" name="레일"/>
          <p:cNvSpPr/>
          <p:nvPr/>
        </p:nvSpPr>
        <p:spPr>
          <a:xfrm>
            <a:off x="547826" y="2991287"/>
            <a:ext cx="580696" cy="105464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2" name="레일 태그"/>
          <p:cNvSpPr/>
          <p:nvPr/>
        </p:nvSpPr>
        <p:spPr>
          <a:xfrm>
            <a:off x="737912" y="3035113"/>
            <a:ext cx="200523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53" name="레일 태그"/>
          <p:cNvSpPr>
            <a:spLocks noGrp="1"/>
          </p:cNvSpPr>
          <p:nvPr>
            <p:ph type="body" sz="quarter" idx="40"/>
          </p:nvPr>
        </p:nvSpPr>
        <p:spPr>
          <a:xfrm>
            <a:off x="737912" y="3035113"/>
            <a:ext cx="200523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S</a:t>
            </a:r>
          </a:p>
        </p:txBody>
      </p:sp>
      <p:sp>
        <p:nvSpPr>
          <p:cNvPr id="54" name="레일 라벨"/>
          <p:cNvSpPr>
            <a:spLocks noGrp="1"/>
          </p:cNvSpPr>
          <p:nvPr>
            <p:ph type="body" sz="quarter" idx="41"/>
          </p:nvPr>
        </p:nvSpPr>
        <p:spPr>
          <a:xfrm>
            <a:off x="547826" y="3221374"/>
            <a:ext cx="580696" cy="802643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주민이익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공유모델</a:t>
            </a:r>
          </a:p>
        </p:txBody>
      </p:sp>
      <p:sp>
        <p:nvSpPr>
          <p:cNvPr id="55" name="태그"/>
          <p:cNvSpPr/>
          <p:nvPr/>
        </p:nvSpPr>
        <p:spPr>
          <a:xfrm>
            <a:off x="1161391" y="3035113"/>
            <a:ext cx="621696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6" name="태그"/>
          <p:cNvSpPr>
            <a:spLocks noGrp="1"/>
          </p:cNvSpPr>
          <p:nvPr>
            <p:ph type="body" sz="quarter" idx="42"/>
          </p:nvPr>
        </p:nvSpPr>
        <p:spPr>
          <a:xfrm>
            <a:off x="1161391" y="3035113"/>
            <a:ext cx="62169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</a:t>
            </a:r>
          </a:p>
        </p:txBody>
      </p:sp>
      <p:sp>
        <p:nvSpPr>
          <p:cNvPr id="57" name="태그 설명"/>
          <p:cNvSpPr>
            <a:spLocks noGrp="1"/>
          </p:cNvSpPr>
          <p:nvPr>
            <p:ph type="body" sz="quarter" idx="43"/>
          </p:nvPr>
        </p:nvSpPr>
        <p:spPr>
          <a:xfrm>
            <a:off x="1826913" y="3024157"/>
            <a:ext cx="4982565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여의도 17배에 달하는 풍부한 활용 가능 수면 보유</a:t>
            </a:r>
          </a:p>
        </p:txBody>
      </p:sp>
      <p:sp>
        <p:nvSpPr>
          <p:cNvPr id="58" name="태그"/>
          <p:cNvSpPr/>
          <p:nvPr/>
        </p:nvSpPr>
        <p:spPr>
          <a:xfrm>
            <a:off x="1161391" y="3232330"/>
            <a:ext cx="621696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9" name="태그"/>
          <p:cNvSpPr>
            <a:spLocks noGrp="1"/>
          </p:cNvSpPr>
          <p:nvPr>
            <p:ph type="body" sz="quarter" idx="44"/>
          </p:nvPr>
        </p:nvSpPr>
        <p:spPr>
          <a:xfrm>
            <a:off x="1161391" y="3232330"/>
            <a:ext cx="62169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지역주민</a:t>
            </a:r>
          </a:p>
        </p:txBody>
      </p:sp>
      <p:sp>
        <p:nvSpPr>
          <p:cNvPr id="60" name="태그 설명"/>
          <p:cNvSpPr>
            <a:spLocks noGrp="1"/>
          </p:cNvSpPr>
          <p:nvPr>
            <p:ph type="body" sz="quarter" idx="45"/>
          </p:nvPr>
        </p:nvSpPr>
        <p:spPr>
          <a:xfrm>
            <a:off x="1826913" y="3221374"/>
            <a:ext cx="4982565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피해의식으로 보상심리 및 지역 활성화 요구 강함</a:t>
            </a:r>
          </a:p>
        </p:txBody>
      </p:sp>
      <p:sp>
        <p:nvSpPr>
          <p:cNvPr id="61" name="단계"/>
          <p:cNvSpPr/>
          <p:nvPr/>
        </p:nvSpPr>
        <p:spPr>
          <a:xfrm>
            <a:off x="1161391" y="3445983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2" name="단계"/>
          <p:cNvSpPr>
            <a:spLocks noGrp="1"/>
          </p:cNvSpPr>
          <p:nvPr>
            <p:ph type="body" sz="quarter" idx="46"/>
          </p:nvPr>
        </p:nvSpPr>
        <p:spPr>
          <a:xfrm>
            <a:off x="1161391" y="344598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A댐 수상태양광</a:t>
            </a:r>
          </a:p>
        </p:txBody>
      </p:sp>
      <p:sp>
        <p:nvSpPr>
          <p:cNvPr id="63" name="단계"/>
          <p:cNvSpPr/>
          <p:nvPr/>
        </p:nvSpPr>
        <p:spPr>
          <a:xfrm>
            <a:off x="3044087" y="3445983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4" name="단계"/>
          <p:cNvSpPr>
            <a:spLocks noGrp="1"/>
          </p:cNvSpPr>
          <p:nvPr>
            <p:ph type="body" sz="quarter" idx="47"/>
          </p:nvPr>
        </p:nvSpPr>
        <p:spPr>
          <a:xfrm>
            <a:off x="3044087" y="344598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준공 이익환원 시작</a:t>
            </a:r>
          </a:p>
        </p:txBody>
      </p:sp>
      <p:sp>
        <p:nvSpPr>
          <p:cNvPr id="65" name="단계"/>
          <p:cNvSpPr/>
          <p:nvPr/>
        </p:nvSpPr>
        <p:spPr>
          <a:xfrm>
            <a:off x="4926783" y="3445983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6" name="단계"/>
          <p:cNvSpPr>
            <a:spLocks noGrp="1"/>
          </p:cNvSpPr>
          <p:nvPr>
            <p:ph type="body" sz="quarter" idx="48"/>
          </p:nvPr>
        </p:nvSpPr>
        <p:spPr>
          <a:xfrm>
            <a:off x="4926783" y="344598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’25년 착수 B댐 수상태양광</a:t>
            </a:r>
          </a:p>
        </p:txBody>
      </p:sp>
      <p:sp>
        <p:nvSpPr>
          <p:cNvPr id="67" name="단계 삼각형"/>
          <p:cNvSpPr/>
          <p:nvPr/>
        </p:nvSpPr>
        <p:spPr>
          <a:xfrm>
            <a:off x="3044086" y="3445982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8" name="단계 삼각형"/>
          <p:cNvSpPr/>
          <p:nvPr/>
        </p:nvSpPr>
        <p:spPr>
          <a:xfrm>
            <a:off x="4926782" y="3445982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9" name="칸 본문"/>
          <p:cNvSpPr>
            <a:spLocks noGrp="1"/>
          </p:cNvSpPr>
          <p:nvPr>
            <p:ph type="body" sz="quarter" idx="49"/>
          </p:nvPr>
        </p:nvSpPr>
        <p:spPr>
          <a:xfrm>
            <a:off x="1172348" y="3697983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사업구조 도해 자리</a:t>
            </a:r>
          </a:p>
        </p:txBody>
      </p:sp>
      <p:sp>
        <p:nvSpPr>
          <p:cNvPr id="70" name="칸 본문"/>
          <p:cNvSpPr>
            <a:spLocks noGrp="1"/>
          </p:cNvSpPr>
          <p:nvPr>
            <p:ph type="body" sz="quarter" idx="50"/>
          </p:nvPr>
        </p:nvSpPr>
        <p:spPr>
          <a:xfrm>
            <a:off x="3055043" y="3697983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33개 마을 2,600가구 참여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20년간 222억원 지급</a:t>
            </a:r>
          </a:p>
        </p:txBody>
      </p:sp>
      <p:cxnSp>
        <p:nvCxnSpPr>
          <p:cNvPr id="71" name="Connector 52"/>
          <p:cNvCxnSpPr/>
          <p:nvPr/>
        </p:nvCxnSpPr>
        <p:spPr>
          <a:xfrm>
            <a:off x="3044087" y="3730852"/>
            <a:ext cx="0" cy="2767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2" name="칸 본문"/>
          <p:cNvSpPr>
            <a:spLocks noGrp="1"/>
          </p:cNvSpPr>
          <p:nvPr>
            <p:ph type="body" sz="quarter" idx="51"/>
          </p:nvPr>
        </p:nvSpPr>
        <p:spPr>
          <a:xfrm>
            <a:off x="4937739" y="3697983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합동 주민 설명회(7회)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주민주도 협의체 발족</a:t>
            </a:r>
          </a:p>
        </p:txBody>
      </p:sp>
      <p:cxnSp>
        <p:nvCxnSpPr>
          <p:cNvPr id="73" name="Connector 54"/>
          <p:cNvCxnSpPr/>
          <p:nvPr/>
        </p:nvCxnSpPr>
        <p:spPr>
          <a:xfrm>
            <a:off x="4926783" y="3730852"/>
            <a:ext cx="0" cy="2767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4" name="레일"/>
          <p:cNvSpPr/>
          <p:nvPr/>
        </p:nvSpPr>
        <p:spPr>
          <a:xfrm>
            <a:off x="547826" y="4062365"/>
            <a:ext cx="580696" cy="1260000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5" name="레일 태그"/>
          <p:cNvSpPr/>
          <p:nvPr/>
        </p:nvSpPr>
        <p:spPr>
          <a:xfrm>
            <a:off x="731401" y="4226713"/>
            <a:ext cx="213545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76" name="레일 태그"/>
          <p:cNvSpPr>
            <a:spLocks noGrp="1"/>
          </p:cNvSpPr>
          <p:nvPr>
            <p:ph type="body" sz="quarter" idx="52"/>
          </p:nvPr>
        </p:nvSpPr>
        <p:spPr>
          <a:xfrm>
            <a:off x="731401" y="4226713"/>
            <a:ext cx="213545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G</a:t>
            </a:r>
          </a:p>
        </p:txBody>
      </p:sp>
      <p:sp>
        <p:nvSpPr>
          <p:cNvPr id="77" name="레일 라벨"/>
          <p:cNvSpPr>
            <a:spLocks noGrp="1"/>
          </p:cNvSpPr>
          <p:nvPr>
            <p:ph type="body" sz="quarter" idx="53"/>
          </p:nvPr>
        </p:nvSpPr>
        <p:spPr>
          <a:xfrm>
            <a:off x="547826" y="4412974"/>
            <a:ext cx="580696" cy="887478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청렴도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1등급</a:t>
            </a:r>
          </a:p>
        </p:txBody>
      </p:sp>
      <p:sp>
        <p:nvSpPr>
          <p:cNvPr id="78" name="레일 삼각형"/>
          <p:cNvSpPr/>
          <p:nvPr/>
        </p:nvSpPr>
        <p:spPr>
          <a:xfrm>
            <a:off x="547826" y="4062365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9" name="단계"/>
          <p:cNvSpPr/>
          <p:nvPr/>
        </p:nvSpPr>
        <p:spPr>
          <a:xfrm>
            <a:off x="1161391" y="4084278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80" name="단계"/>
          <p:cNvSpPr>
            <a:spLocks noGrp="1"/>
          </p:cNvSpPr>
          <p:nvPr>
            <p:ph type="body" sz="quarter" idx="54"/>
          </p:nvPr>
        </p:nvSpPr>
        <p:spPr>
          <a:xfrm>
            <a:off x="1161391" y="408427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윤리경영체계 고도화</a:t>
            </a:r>
          </a:p>
        </p:txBody>
      </p:sp>
      <p:sp>
        <p:nvSpPr>
          <p:cNvPr id="81" name="단계"/>
          <p:cNvSpPr/>
          <p:nvPr/>
        </p:nvSpPr>
        <p:spPr>
          <a:xfrm>
            <a:off x="3044087" y="4084278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82" name="단계"/>
          <p:cNvSpPr>
            <a:spLocks noGrp="1"/>
          </p:cNvSpPr>
          <p:nvPr>
            <p:ph type="body" sz="quarter" idx="55"/>
          </p:nvPr>
        </p:nvSpPr>
        <p:spPr>
          <a:xfrm>
            <a:off x="3044087" y="408427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공공 윤리경영 선도</a:t>
            </a:r>
          </a:p>
        </p:txBody>
      </p:sp>
      <p:sp>
        <p:nvSpPr>
          <p:cNvPr id="83" name="단계"/>
          <p:cNvSpPr/>
          <p:nvPr/>
        </p:nvSpPr>
        <p:spPr>
          <a:xfrm>
            <a:off x="4926783" y="4084278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84" name="단계"/>
          <p:cNvSpPr>
            <a:spLocks noGrp="1"/>
          </p:cNvSpPr>
          <p:nvPr>
            <p:ph type="body" sz="quarter" idx="56"/>
          </p:nvPr>
        </p:nvSpPr>
        <p:spPr>
          <a:xfrm>
            <a:off x="4926783" y="408427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’26년~ 지속가능한 윤리경영</a:t>
            </a:r>
          </a:p>
        </p:txBody>
      </p:sp>
      <p:sp>
        <p:nvSpPr>
          <p:cNvPr id="85" name="단계 삼각형"/>
          <p:cNvSpPr/>
          <p:nvPr/>
        </p:nvSpPr>
        <p:spPr>
          <a:xfrm>
            <a:off x="3044086" y="4084278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86" name="단계 삼각형"/>
          <p:cNvSpPr/>
          <p:nvPr/>
        </p:nvSpPr>
        <p:spPr>
          <a:xfrm>
            <a:off x="4926782" y="4084278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87" name="칸 본문"/>
          <p:cNvSpPr>
            <a:spLocks noGrp="1"/>
          </p:cNvSpPr>
          <p:nvPr>
            <p:ph type="body" sz="quarter" idx="57"/>
          </p:nvPr>
        </p:nvSpPr>
        <p:spPr>
          <a:xfrm>
            <a:off x="1172348" y="4336278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CEO 청렴혁신단 구성·운영</a:t>
            </a:r>
          </a:p>
        </p:txBody>
      </p:sp>
      <p:sp>
        <p:nvSpPr>
          <p:cNvPr id="88" name="칸 본문"/>
          <p:cNvSpPr>
            <a:spLocks noGrp="1"/>
          </p:cNvSpPr>
          <p:nvPr>
            <p:ph type="body" sz="quarter" idx="58"/>
          </p:nvPr>
        </p:nvSpPr>
        <p:spPr>
          <a:xfrm>
            <a:off x="3055043" y="4336278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내재화·확산, 디지털 내부통제</a:t>
            </a:r>
          </a:p>
        </p:txBody>
      </p:sp>
      <p:cxnSp>
        <p:nvCxnSpPr>
          <p:cNvPr id="89" name="Connector 66"/>
          <p:cNvCxnSpPr/>
          <p:nvPr/>
        </p:nvCxnSpPr>
        <p:spPr>
          <a:xfrm>
            <a:off x="3044087" y="4369148"/>
            <a:ext cx="0" cy="24104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90" name="칸 본문"/>
          <p:cNvSpPr>
            <a:spLocks noGrp="1"/>
          </p:cNvSpPr>
          <p:nvPr>
            <p:ph type="body" sz="quarter" idx="59"/>
          </p:nvPr>
        </p:nvSpPr>
        <p:spPr>
          <a:xfrm>
            <a:off x="4937739" y="4336278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청렴 최우수기업 지속</a:t>
            </a:r>
          </a:p>
        </p:txBody>
      </p:sp>
      <p:cxnSp>
        <p:nvCxnSpPr>
          <p:cNvPr id="91" name="Connector 68"/>
          <p:cNvCxnSpPr/>
          <p:nvPr/>
        </p:nvCxnSpPr>
        <p:spPr>
          <a:xfrm>
            <a:off x="4926783" y="4369148"/>
            <a:ext cx="0" cy="24104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92" name="머리칸"/>
          <p:cNvSpPr/>
          <p:nvPr/>
        </p:nvSpPr>
        <p:spPr>
          <a:xfrm>
            <a:off x="1161391" y="465949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93" name="머리칸"/>
          <p:cNvSpPr>
            <a:spLocks noGrp="1"/>
          </p:cNvSpPr>
          <p:nvPr>
            <p:ph type="body" sz="quarter" idx="60"/>
          </p:nvPr>
        </p:nvSpPr>
        <p:spPr>
          <a:xfrm>
            <a:off x="1161391" y="465949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청렴의식 내재화</a:t>
            </a:r>
          </a:p>
        </p:txBody>
      </p:sp>
      <p:sp>
        <p:nvSpPr>
          <p:cNvPr id="94" name="머리칸"/>
          <p:cNvSpPr/>
          <p:nvPr/>
        </p:nvSpPr>
        <p:spPr>
          <a:xfrm>
            <a:off x="3044087" y="465949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95" name="머리칸"/>
          <p:cNvSpPr>
            <a:spLocks noGrp="1"/>
          </p:cNvSpPr>
          <p:nvPr>
            <p:ph type="body" sz="quarter" idx="61"/>
          </p:nvPr>
        </p:nvSpPr>
        <p:spPr>
          <a:xfrm>
            <a:off x="3044087" y="465949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현장중심 리스크관리</a:t>
            </a:r>
          </a:p>
        </p:txBody>
      </p:sp>
      <p:sp>
        <p:nvSpPr>
          <p:cNvPr id="96" name="머리칸"/>
          <p:cNvSpPr/>
          <p:nvPr/>
        </p:nvSpPr>
        <p:spPr>
          <a:xfrm>
            <a:off x="4926783" y="465949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97" name="머리칸"/>
          <p:cNvSpPr>
            <a:spLocks noGrp="1"/>
          </p:cNvSpPr>
          <p:nvPr>
            <p:ph type="body" sz="quarter" idx="62"/>
          </p:nvPr>
        </p:nvSpPr>
        <p:spPr>
          <a:xfrm>
            <a:off x="4926783" y="465949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전문적 모니터링 체계</a:t>
            </a:r>
          </a:p>
        </p:txBody>
      </p:sp>
      <p:sp>
        <p:nvSpPr>
          <p:cNvPr id="98" name="칸 본문"/>
          <p:cNvSpPr>
            <a:spLocks noGrp="1"/>
          </p:cNvSpPr>
          <p:nvPr>
            <p:ph type="body" sz="quarter" idx="63"/>
          </p:nvPr>
        </p:nvSpPr>
        <p:spPr>
          <a:xfrm>
            <a:off x="1172348" y="4900539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의식확립 청렴의지 전사전파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관리체계 본사·현장 협력강화</a:t>
            </a:r>
          </a:p>
        </p:txBody>
      </p:sp>
      <p:sp>
        <p:nvSpPr>
          <p:cNvPr id="99" name="칸 본문"/>
          <p:cNvSpPr>
            <a:spLocks noGrp="1"/>
          </p:cNvSpPr>
          <p:nvPr>
            <p:ph type="body" sz="quarter" idx="64"/>
          </p:nvPr>
        </p:nvSpPr>
        <p:spPr>
          <a:xfrm>
            <a:off x="3055043" y="4900539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위험식별 현업 위험관리 확산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현장통제 고객체감 통제활동</a:t>
            </a:r>
          </a:p>
        </p:txBody>
      </p:sp>
      <p:cxnSp>
        <p:nvCxnSpPr>
          <p:cNvPr id="100" name="Connector 74"/>
          <p:cNvCxnSpPr/>
          <p:nvPr/>
        </p:nvCxnSpPr>
        <p:spPr>
          <a:xfrm>
            <a:off x="3044087" y="4933409"/>
            <a:ext cx="0" cy="35060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01" name="칸 본문"/>
          <p:cNvSpPr>
            <a:spLocks noGrp="1"/>
          </p:cNvSpPr>
          <p:nvPr>
            <p:ph type="body" sz="quarter" idx="65"/>
          </p:nvPr>
        </p:nvSpPr>
        <p:spPr>
          <a:xfrm>
            <a:off x="4937739" y="4900539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신고제도 내부신고 활성화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모니터링 AI 기술활용 선진화</a:t>
            </a:r>
          </a:p>
        </p:txBody>
      </p:sp>
      <p:cxnSp>
        <p:nvCxnSpPr>
          <p:cNvPr id="102" name="Connector 76"/>
          <p:cNvCxnSpPr/>
          <p:nvPr/>
        </p:nvCxnSpPr>
        <p:spPr>
          <a:xfrm>
            <a:off x="4926783" y="4933409"/>
            <a:ext cx="0" cy="35060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03" name="주요성과 박스"/>
          <p:cNvSpPr/>
          <p:nvPr/>
        </p:nvSpPr>
        <p:spPr>
          <a:xfrm>
            <a:off x="536870" y="5415496"/>
            <a:ext cx="6300000" cy="737217"/>
          </a:xfrm>
          <a:prstGeom prst="rect">
            <a:avLst/>
          </a:prstGeom>
          <a:solidFill>
            <a:srgbClr val="EFF9FF"/>
          </a:solidFill>
          <a:ln w="12700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4" name="주요성과 라벨"/>
          <p:cNvSpPr/>
          <p:nvPr/>
        </p:nvSpPr>
        <p:spPr>
          <a:xfrm>
            <a:off x="569739" y="5448365"/>
            <a:ext cx="657391" cy="67147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105" name="주요성과 라벨"/>
          <p:cNvSpPr>
            <a:spLocks noGrp="1"/>
          </p:cNvSpPr>
          <p:nvPr>
            <p:ph type="body" sz="quarter" idx="66"/>
          </p:nvPr>
        </p:nvSpPr>
        <p:spPr>
          <a:xfrm>
            <a:off x="569739" y="5448365"/>
            <a:ext cx="657391" cy="67147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주요성과</a:t>
            </a:r>
          </a:p>
        </p:txBody>
      </p:sp>
      <p:sp>
        <p:nvSpPr>
          <p:cNvPr id="106" name="주요성과 문구"/>
          <p:cNvSpPr>
            <a:spLocks noGrp="1"/>
          </p:cNvSpPr>
          <p:nvPr>
            <p:ph type="body" sz="quarter" idx="67"/>
          </p:nvPr>
        </p:nvSpPr>
        <p:spPr>
          <a:xfrm>
            <a:off x="1314783" y="5431930"/>
            <a:ext cx="5456348" cy="70434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WP 누적 물 복원 4,000명분 달성, 국정과제 선도적 이행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주민이익 공유 주민공감대 형성으로 마을 조성(총 3개소)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청렴도 강도 높은 노력으로 종합청렴도 최고·최초 1등급 결실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30 서사 · 추진배경 → 분야 3개(각각 주요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기술로 세우는 국가의 기반, 혁신으로 빛나는 행복</a:t>
            </a:r>
          </a:p>
        </p:txBody>
      </p:sp>
      <p:sp>
        <p:nvSpPr>
          <p:cNvPr id="14" name="번호 띠 칩"/>
          <p:cNvSpPr/>
          <p:nvPr/>
        </p:nvSpPr>
        <p:spPr>
          <a:xfrm>
            <a:off x="6428183" y="843652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번호 띠 칩"/>
          <p:cNvSpPr>
            <a:spLocks noGrp="1"/>
          </p:cNvSpPr>
          <p:nvPr>
            <p:ph type="body" sz="quarter" idx="22"/>
          </p:nvPr>
        </p:nvSpPr>
        <p:spPr>
          <a:xfrm>
            <a:off x="6428183" y="843652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번호 띠 칩"/>
          <p:cNvSpPr/>
          <p:nvPr/>
        </p:nvSpPr>
        <p:spPr>
          <a:xfrm>
            <a:off x="5855149" y="843652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번호 띠 칩"/>
          <p:cNvSpPr>
            <a:spLocks noGrp="1"/>
          </p:cNvSpPr>
          <p:nvPr>
            <p:ph type="body" sz="quarter" idx="23"/>
          </p:nvPr>
        </p:nvSpPr>
        <p:spPr>
          <a:xfrm>
            <a:off x="5855149" y="843652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8" name="형광 밑줄"/>
          <p:cNvSpPr/>
          <p:nvPr/>
        </p:nvSpPr>
        <p:spPr>
          <a:xfrm>
            <a:off x="723130" y="1358609"/>
            <a:ext cx="3111063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소제목"/>
          <p:cNvSpPr>
            <a:spLocks noGrp="1"/>
          </p:cNvSpPr>
          <p:nvPr>
            <p:ph type="body" sz="quarter" idx="24"/>
          </p:nvPr>
        </p:nvSpPr>
        <p:spPr>
          <a:xfrm>
            <a:off x="723130" y="120521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보이지 않는 미래의 행복을 위해, 자율적 기술혁신</a:t>
            </a:r>
          </a:p>
        </p:txBody>
      </p:sp>
      <p:sp>
        <p:nvSpPr>
          <p:cNvPr id="20" name="표 외곽"/>
          <p:cNvSpPr/>
          <p:nvPr/>
        </p:nvSpPr>
        <p:spPr>
          <a:xfrm>
            <a:off x="723130" y="1490087"/>
            <a:ext cx="6300000" cy="174490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1" name="레일"/>
          <p:cNvSpPr/>
          <p:nvPr/>
        </p:nvSpPr>
        <p:spPr>
          <a:xfrm>
            <a:off x="734087" y="1506522"/>
            <a:ext cx="580696" cy="640957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레일"/>
          <p:cNvSpPr>
            <a:spLocks noGrp="1"/>
          </p:cNvSpPr>
          <p:nvPr>
            <p:ph type="body" sz="quarter" idx="25"/>
          </p:nvPr>
        </p:nvSpPr>
        <p:spPr>
          <a:xfrm>
            <a:off x="734087" y="1506522"/>
            <a:ext cx="580696" cy="640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23" name="태그"/>
          <p:cNvSpPr/>
          <p:nvPr/>
        </p:nvSpPr>
        <p:spPr>
          <a:xfrm>
            <a:off x="1347652" y="1550348"/>
            <a:ext cx="596641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4" name="태그"/>
          <p:cNvSpPr>
            <a:spLocks noGrp="1"/>
          </p:cNvSpPr>
          <p:nvPr>
            <p:ph type="body" sz="quarter" idx="26"/>
          </p:nvPr>
        </p:nvSpPr>
        <p:spPr>
          <a:xfrm>
            <a:off x="1347652" y="1550348"/>
            <a:ext cx="59664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AI정수장</a:t>
            </a:r>
          </a:p>
        </p:txBody>
      </p:sp>
      <p:sp>
        <p:nvSpPr>
          <p:cNvPr id="25" name="태그 설명"/>
          <p:cNvSpPr>
            <a:spLocks noGrp="1"/>
          </p:cNvSpPr>
          <p:nvPr>
            <p:ph type="body" sz="quarter" idx="27"/>
          </p:nvPr>
        </p:nvSpPr>
        <p:spPr>
          <a:xfrm>
            <a:off x="1988119" y="1539391"/>
            <a:ext cx="5007620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불확실성 심화 ➡ 일관된 안정적 물 공급 위한 혁신 긴요</a:t>
            </a:r>
          </a:p>
        </p:txBody>
      </p:sp>
      <p:sp>
        <p:nvSpPr>
          <p:cNvPr id="26" name="태그"/>
          <p:cNvSpPr/>
          <p:nvPr/>
        </p:nvSpPr>
        <p:spPr>
          <a:xfrm>
            <a:off x="1347652" y="1747565"/>
            <a:ext cx="596641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7" name="태그"/>
          <p:cNvSpPr>
            <a:spLocks noGrp="1"/>
          </p:cNvSpPr>
          <p:nvPr>
            <p:ph type="body" sz="quarter" idx="28"/>
          </p:nvPr>
        </p:nvSpPr>
        <p:spPr>
          <a:xfrm>
            <a:off x="1347652" y="1747565"/>
            <a:ext cx="59664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자원순환</a:t>
            </a:r>
          </a:p>
        </p:txBody>
      </p:sp>
      <p:sp>
        <p:nvSpPr>
          <p:cNvPr id="28" name="태그 설명"/>
          <p:cNvSpPr>
            <a:spLocks noGrp="1"/>
          </p:cNvSpPr>
          <p:nvPr>
            <p:ph type="body" sz="quarter" idx="29"/>
          </p:nvPr>
        </p:nvSpPr>
        <p:spPr>
          <a:xfrm>
            <a:off x="1988119" y="1736609"/>
            <a:ext cx="5007620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친환경 규제 강화 ➡ 선제적 기술 도입으로 마중물 역할 필요</a:t>
            </a:r>
          </a:p>
        </p:txBody>
      </p:sp>
      <p:sp>
        <p:nvSpPr>
          <p:cNvPr id="29" name="태그"/>
          <p:cNvSpPr/>
          <p:nvPr/>
        </p:nvSpPr>
        <p:spPr>
          <a:xfrm>
            <a:off x="1347652" y="1944783"/>
            <a:ext cx="596641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0" name="태그"/>
          <p:cNvSpPr>
            <a:spLocks noGrp="1"/>
          </p:cNvSpPr>
          <p:nvPr>
            <p:ph type="body" sz="quarter" idx="30"/>
          </p:nvPr>
        </p:nvSpPr>
        <p:spPr>
          <a:xfrm>
            <a:off x="1347652" y="1944783"/>
            <a:ext cx="59664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산업기반</a:t>
            </a:r>
          </a:p>
        </p:txBody>
      </p:sp>
      <p:sp>
        <p:nvSpPr>
          <p:cNvPr id="31" name="태그 설명"/>
          <p:cNvSpPr>
            <a:spLocks noGrp="1"/>
          </p:cNvSpPr>
          <p:nvPr>
            <p:ph type="body" sz="quarter" idx="31"/>
          </p:nvPr>
        </p:nvSpPr>
        <p:spPr>
          <a:xfrm>
            <a:off x="1988119" y="1933826"/>
            <a:ext cx="5007620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진입장벽으로 신기술 도입 어려움 ➡ 공공중심 기술 활성화</a:t>
            </a:r>
          </a:p>
        </p:txBody>
      </p:sp>
      <p:sp>
        <p:nvSpPr>
          <p:cNvPr id="32" name="레일"/>
          <p:cNvSpPr/>
          <p:nvPr/>
        </p:nvSpPr>
        <p:spPr>
          <a:xfrm>
            <a:off x="734087" y="2163913"/>
            <a:ext cx="580696" cy="105464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3" name="레일 태그"/>
          <p:cNvSpPr/>
          <p:nvPr/>
        </p:nvSpPr>
        <p:spPr>
          <a:xfrm>
            <a:off x="667551" y="2328261"/>
            <a:ext cx="713768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4" name="레일 태그"/>
          <p:cNvSpPr>
            <a:spLocks noGrp="1"/>
          </p:cNvSpPr>
          <p:nvPr>
            <p:ph type="body" sz="quarter" idx="32"/>
          </p:nvPr>
        </p:nvSpPr>
        <p:spPr>
          <a:xfrm>
            <a:off x="667551" y="2328261"/>
            <a:ext cx="713768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국가AI 선도</a:t>
            </a:r>
          </a:p>
        </p:txBody>
      </p:sp>
      <p:sp>
        <p:nvSpPr>
          <p:cNvPr id="35" name="레일 라벨"/>
          <p:cNvSpPr>
            <a:spLocks noGrp="1"/>
          </p:cNvSpPr>
          <p:nvPr>
            <p:ph type="body" sz="quarter" idx="33"/>
          </p:nvPr>
        </p:nvSpPr>
        <p:spPr>
          <a:xfrm>
            <a:off x="734087" y="2514522"/>
            <a:ext cx="580696" cy="682122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AI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정수장</a:t>
            </a:r>
          </a:p>
        </p:txBody>
      </p:sp>
      <p:sp>
        <p:nvSpPr>
          <p:cNvPr id="36" name="레일 삼각형"/>
          <p:cNvSpPr/>
          <p:nvPr/>
        </p:nvSpPr>
        <p:spPr>
          <a:xfrm>
            <a:off x="734086" y="2163913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7" name="태그"/>
          <p:cNvSpPr/>
          <p:nvPr/>
        </p:nvSpPr>
        <p:spPr>
          <a:xfrm>
            <a:off x="1347652" y="2207739"/>
            <a:ext cx="361972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8" name="태그"/>
          <p:cNvSpPr>
            <a:spLocks noGrp="1"/>
          </p:cNvSpPr>
          <p:nvPr>
            <p:ph type="body" sz="quarter" idx="34"/>
          </p:nvPr>
        </p:nvSpPr>
        <p:spPr>
          <a:xfrm>
            <a:off x="1347652" y="2207739"/>
            <a:ext cx="36197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정책</a:t>
            </a:r>
          </a:p>
        </p:txBody>
      </p:sp>
      <p:sp>
        <p:nvSpPr>
          <p:cNvPr id="39" name="태그 설명"/>
          <p:cNvSpPr>
            <a:spLocks noGrp="1"/>
          </p:cNvSpPr>
          <p:nvPr>
            <p:ph type="body" sz="quarter" idx="35"/>
          </p:nvPr>
        </p:nvSpPr>
        <p:spPr>
          <a:xfrm>
            <a:off x="1753450" y="2196783"/>
            <a:ext cx="5242289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국가 AI 대전환 촉구</a:t>
            </a:r>
          </a:p>
        </p:txBody>
      </p:sp>
      <p:sp>
        <p:nvSpPr>
          <p:cNvPr id="40" name="태그"/>
          <p:cNvSpPr/>
          <p:nvPr/>
        </p:nvSpPr>
        <p:spPr>
          <a:xfrm>
            <a:off x="1347652" y="2404957"/>
            <a:ext cx="361972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1" name="태그"/>
          <p:cNvSpPr>
            <a:spLocks noGrp="1"/>
          </p:cNvSpPr>
          <p:nvPr>
            <p:ph type="body" sz="quarter" idx="36"/>
          </p:nvPr>
        </p:nvSpPr>
        <p:spPr>
          <a:xfrm>
            <a:off x="1347652" y="2404957"/>
            <a:ext cx="36197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노력</a:t>
            </a:r>
          </a:p>
        </p:txBody>
      </p:sp>
      <p:sp>
        <p:nvSpPr>
          <p:cNvPr id="42" name="태그 설명"/>
          <p:cNvSpPr>
            <a:spLocks noGrp="1"/>
          </p:cNvSpPr>
          <p:nvPr>
            <p:ph type="body" sz="quarter" idx="37"/>
          </p:nvPr>
        </p:nvSpPr>
        <p:spPr>
          <a:xfrm>
            <a:off x="1753450" y="2394000"/>
            <a:ext cx="5242289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 전 과정 AI 내재화</a:t>
            </a:r>
          </a:p>
        </p:txBody>
      </p:sp>
      <p:sp>
        <p:nvSpPr>
          <p:cNvPr id="43" name="단계"/>
          <p:cNvSpPr/>
          <p:nvPr/>
        </p:nvSpPr>
        <p:spPr>
          <a:xfrm>
            <a:off x="1347652" y="2618609"/>
            <a:ext cx="282404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4" name="단계"/>
          <p:cNvSpPr>
            <a:spLocks noGrp="1"/>
          </p:cNvSpPr>
          <p:nvPr>
            <p:ph type="body" sz="quarter" idx="38"/>
          </p:nvPr>
        </p:nvSpPr>
        <p:spPr>
          <a:xfrm>
            <a:off x="1347652" y="2618609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~’24년 세계적으로 인정받은 AI정수장</a:t>
            </a:r>
          </a:p>
        </p:txBody>
      </p:sp>
      <p:sp>
        <p:nvSpPr>
          <p:cNvPr id="45" name="단계"/>
          <p:cNvSpPr/>
          <p:nvPr/>
        </p:nvSpPr>
        <p:spPr>
          <a:xfrm>
            <a:off x="4171696" y="2618609"/>
            <a:ext cx="2824043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6" name="단계"/>
          <p:cNvSpPr>
            <a:spLocks noGrp="1"/>
          </p:cNvSpPr>
          <p:nvPr>
            <p:ph type="body" sz="quarter" idx="39"/>
          </p:nvPr>
        </p:nvSpPr>
        <p:spPr>
          <a:xfrm>
            <a:off x="4171696" y="2618609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행동하는 Physical AI로 진화</a:t>
            </a:r>
          </a:p>
        </p:txBody>
      </p:sp>
      <p:sp>
        <p:nvSpPr>
          <p:cNvPr id="47" name="단계 삼각형"/>
          <p:cNvSpPr/>
          <p:nvPr/>
        </p:nvSpPr>
        <p:spPr>
          <a:xfrm>
            <a:off x="4171695" y="2618608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8" name="칸 본문"/>
          <p:cNvSpPr>
            <a:spLocks noGrp="1"/>
          </p:cNvSpPr>
          <p:nvPr>
            <p:ph type="body" sz="quarter" idx="40"/>
          </p:nvPr>
        </p:nvSpPr>
        <p:spPr>
          <a:xfrm>
            <a:off x="1358609" y="2870609"/>
            <a:ext cx="2802130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세계 물기업 최초 등대공장 선정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평시 수질관리·최적 의사결정 지원</a:t>
            </a:r>
          </a:p>
        </p:txBody>
      </p:sp>
      <p:sp>
        <p:nvSpPr>
          <p:cNvPr id="49" name="칸 본문"/>
          <p:cNvSpPr>
            <a:spLocks noGrp="1"/>
          </p:cNvSpPr>
          <p:nvPr>
            <p:ph type="body" sz="quarter" idx="41"/>
          </p:nvPr>
        </p:nvSpPr>
        <p:spPr>
          <a:xfrm>
            <a:off x="4182652" y="2870609"/>
            <a:ext cx="2802130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 공정 스스로 움직이는 AI 접목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의사결정 제시 → 위기시 직접 제어</a:t>
            </a:r>
          </a:p>
        </p:txBody>
      </p:sp>
      <p:cxnSp>
        <p:nvCxnSpPr>
          <p:cNvPr id="50" name="Connector 33"/>
          <p:cNvCxnSpPr/>
          <p:nvPr/>
        </p:nvCxnSpPr>
        <p:spPr>
          <a:xfrm>
            <a:off x="4171696" y="2903478"/>
            <a:ext cx="0" cy="2767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1" name="주요성과 박스"/>
          <p:cNvSpPr/>
          <p:nvPr/>
        </p:nvSpPr>
        <p:spPr>
          <a:xfrm>
            <a:off x="723130" y="3311687"/>
            <a:ext cx="6300000" cy="524348"/>
          </a:xfrm>
          <a:prstGeom prst="rect">
            <a:avLst/>
          </a:prstGeom>
          <a:solidFill>
            <a:srgbClr val="EFF9FF"/>
          </a:solidFill>
          <a:ln w="12700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2" name="주요성과 라벨"/>
          <p:cNvSpPr/>
          <p:nvPr/>
        </p:nvSpPr>
        <p:spPr>
          <a:xfrm>
            <a:off x="756000" y="3344557"/>
            <a:ext cx="657391" cy="458609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53" name="주요성과 라벨"/>
          <p:cNvSpPr>
            <a:spLocks noGrp="1"/>
          </p:cNvSpPr>
          <p:nvPr>
            <p:ph type="body" sz="quarter" idx="42"/>
          </p:nvPr>
        </p:nvSpPr>
        <p:spPr>
          <a:xfrm>
            <a:off x="756000" y="3344557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주요성과</a:t>
            </a:r>
          </a:p>
        </p:txBody>
      </p:sp>
      <p:sp>
        <p:nvSpPr>
          <p:cNvPr id="54" name="주요성과 문구"/>
          <p:cNvSpPr>
            <a:spLocks noGrp="1"/>
          </p:cNvSpPr>
          <p:nvPr>
            <p:ph type="body" sz="quarter" idx="43"/>
          </p:nvPr>
        </p:nvSpPr>
        <p:spPr>
          <a:xfrm>
            <a:off x="1501043" y="3328122"/>
            <a:ext cx="5456348" cy="49147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AI정수장 국제표준인증 기술위원회 참여완료, 원가 110억원 절감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우수성 인증, 동반성장 기업 기술이전 35건 등 AI 기술 선도</a:t>
            </a:r>
          </a:p>
        </p:txBody>
      </p:sp>
      <p:sp>
        <p:nvSpPr>
          <p:cNvPr id="55" name="표 외곽"/>
          <p:cNvSpPr/>
          <p:nvPr/>
        </p:nvSpPr>
        <p:spPr>
          <a:xfrm>
            <a:off x="723130" y="3879861"/>
            <a:ext cx="6300000" cy="108203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6" name="레일"/>
          <p:cNvSpPr/>
          <p:nvPr/>
        </p:nvSpPr>
        <p:spPr>
          <a:xfrm>
            <a:off x="734087" y="3896296"/>
            <a:ext cx="580696" cy="104916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7" name="레일 태그"/>
          <p:cNvSpPr/>
          <p:nvPr/>
        </p:nvSpPr>
        <p:spPr>
          <a:xfrm>
            <a:off x="620232" y="3940122"/>
            <a:ext cx="808405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58" name="레일 태그"/>
          <p:cNvSpPr>
            <a:spLocks noGrp="1"/>
          </p:cNvSpPr>
          <p:nvPr>
            <p:ph type="body" sz="quarter" idx="44"/>
          </p:nvPr>
        </p:nvSpPr>
        <p:spPr>
          <a:xfrm>
            <a:off x="620232" y="3940122"/>
            <a:ext cx="808405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자원순환 리딩</a:t>
            </a:r>
          </a:p>
        </p:txBody>
      </p:sp>
      <p:sp>
        <p:nvSpPr>
          <p:cNvPr id="59" name="레일 라벨"/>
          <p:cNvSpPr>
            <a:spLocks noGrp="1"/>
          </p:cNvSpPr>
          <p:nvPr>
            <p:ph type="body" sz="quarter" idx="45"/>
          </p:nvPr>
        </p:nvSpPr>
        <p:spPr>
          <a:xfrm>
            <a:off x="734087" y="4126383"/>
            <a:ext cx="580696" cy="797165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재생 100%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병입수돗물</a:t>
            </a:r>
          </a:p>
        </p:txBody>
      </p:sp>
      <p:sp>
        <p:nvSpPr>
          <p:cNvPr id="60" name="태그"/>
          <p:cNvSpPr/>
          <p:nvPr/>
        </p:nvSpPr>
        <p:spPr>
          <a:xfrm>
            <a:off x="1347652" y="3940122"/>
            <a:ext cx="720549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1" name="태그"/>
          <p:cNvSpPr>
            <a:spLocks noGrp="1"/>
          </p:cNvSpPr>
          <p:nvPr>
            <p:ph type="body" sz="quarter" idx="46"/>
          </p:nvPr>
        </p:nvSpPr>
        <p:spPr>
          <a:xfrm>
            <a:off x="1347652" y="3940122"/>
            <a:ext cx="72054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정책</a:t>
            </a:r>
          </a:p>
        </p:txBody>
      </p:sp>
      <p:sp>
        <p:nvSpPr>
          <p:cNvPr id="62" name="태그 설명"/>
          <p:cNvSpPr>
            <a:spLocks noGrp="1"/>
          </p:cNvSpPr>
          <p:nvPr>
            <p:ph type="body" sz="quarter" idx="47"/>
          </p:nvPr>
        </p:nvSpPr>
        <p:spPr>
          <a:xfrm>
            <a:off x="2112028" y="3929165"/>
            <a:ext cx="488371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재생 원료 의무 사용</a:t>
            </a:r>
          </a:p>
        </p:txBody>
      </p:sp>
      <p:sp>
        <p:nvSpPr>
          <p:cNvPr id="63" name="태그"/>
          <p:cNvSpPr/>
          <p:nvPr/>
        </p:nvSpPr>
        <p:spPr>
          <a:xfrm>
            <a:off x="1347652" y="4137339"/>
            <a:ext cx="720549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4" name="태그"/>
          <p:cNvSpPr>
            <a:spLocks noGrp="1"/>
          </p:cNvSpPr>
          <p:nvPr>
            <p:ph type="body" sz="quarter" idx="48"/>
          </p:nvPr>
        </p:nvSpPr>
        <p:spPr>
          <a:xfrm>
            <a:off x="1347652" y="4137339"/>
            <a:ext cx="72054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선제적 도입</a:t>
            </a:r>
          </a:p>
        </p:txBody>
      </p:sp>
      <p:sp>
        <p:nvSpPr>
          <p:cNvPr id="65" name="태그 설명"/>
          <p:cNvSpPr>
            <a:spLocks noGrp="1"/>
          </p:cNvSpPr>
          <p:nvPr>
            <p:ph type="body" sz="quarter" idx="49"/>
          </p:nvPr>
        </p:nvSpPr>
        <p:spPr>
          <a:xfrm>
            <a:off x="2112028" y="4126383"/>
            <a:ext cx="488371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재생 원료 100% 활용</a:t>
            </a:r>
          </a:p>
        </p:txBody>
      </p:sp>
      <p:sp>
        <p:nvSpPr>
          <p:cNvPr id="66" name="단계"/>
          <p:cNvSpPr/>
          <p:nvPr/>
        </p:nvSpPr>
        <p:spPr>
          <a:xfrm>
            <a:off x="1347652" y="4350991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7" name="단계"/>
          <p:cNvSpPr>
            <a:spLocks noGrp="1"/>
          </p:cNvSpPr>
          <p:nvPr>
            <p:ph type="body" sz="quarter" idx="50"/>
          </p:nvPr>
        </p:nvSpPr>
        <p:spPr>
          <a:xfrm>
            <a:off x="1347652" y="4350991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시제품 제작 ➡ 검증</a:t>
            </a:r>
          </a:p>
        </p:txBody>
      </p:sp>
      <p:sp>
        <p:nvSpPr>
          <p:cNvPr id="68" name="단계"/>
          <p:cNvSpPr/>
          <p:nvPr/>
        </p:nvSpPr>
        <p:spPr>
          <a:xfrm>
            <a:off x="3230348" y="4350991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9" name="단계"/>
          <p:cNvSpPr>
            <a:spLocks noGrp="1"/>
          </p:cNvSpPr>
          <p:nvPr>
            <p:ph type="body" sz="quarter" idx="51"/>
          </p:nvPr>
        </p:nvSpPr>
        <p:spPr>
          <a:xfrm>
            <a:off x="3230348" y="4350991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재생원료 인식조사</a:t>
            </a:r>
          </a:p>
        </p:txBody>
      </p:sp>
      <p:sp>
        <p:nvSpPr>
          <p:cNvPr id="70" name="단계"/>
          <p:cNvSpPr/>
          <p:nvPr/>
        </p:nvSpPr>
        <p:spPr>
          <a:xfrm>
            <a:off x="5113043" y="4350991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1" name="단계"/>
          <p:cNvSpPr>
            <a:spLocks noGrp="1"/>
          </p:cNvSpPr>
          <p:nvPr>
            <p:ph type="body" sz="quarter" idx="52"/>
          </p:nvPr>
        </p:nvSpPr>
        <p:spPr>
          <a:xfrm>
            <a:off x="5113043" y="4350991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재생100% 병입수돗물 생산</a:t>
            </a:r>
          </a:p>
        </p:txBody>
      </p:sp>
      <p:sp>
        <p:nvSpPr>
          <p:cNvPr id="72" name="단계 삼각형"/>
          <p:cNvSpPr/>
          <p:nvPr/>
        </p:nvSpPr>
        <p:spPr>
          <a:xfrm>
            <a:off x="3230347" y="4350991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3" name="단계 삼각형"/>
          <p:cNvSpPr/>
          <p:nvPr/>
        </p:nvSpPr>
        <p:spPr>
          <a:xfrm>
            <a:off x="5113043" y="4350991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4" name="칸 본문"/>
          <p:cNvSpPr>
            <a:spLocks noGrp="1"/>
          </p:cNvSpPr>
          <p:nvPr>
            <p:ph type="body" sz="quarter" idx="53"/>
          </p:nvPr>
        </p:nvSpPr>
        <p:spPr>
          <a:xfrm>
            <a:off x="1358609" y="4602991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생산·비축 공급 위한 품질 안정성 확인</a:t>
            </a:r>
          </a:p>
        </p:txBody>
      </p:sp>
      <p:sp>
        <p:nvSpPr>
          <p:cNvPr id="75" name="칸 본문"/>
          <p:cNvSpPr>
            <a:spLocks noGrp="1"/>
          </p:cNvSpPr>
          <p:nvPr>
            <p:ph type="body" sz="quarter" idx="54"/>
          </p:nvPr>
        </p:nvSpPr>
        <p:spPr>
          <a:xfrm>
            <a:off x="3241304" y="4602991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내부직원 대상 시제품 의견 조사</a:t>
            </a:r>
          </a:p>
        </p:txBody>
      </p:sp>
      <p:cxnSp>
        <p:nvCxnSpPr>
          <p:cNvPr id="76" name="Connector 52"/>
          <p:cNvCxnSpPr/>
          <p:nvPr/>
        </p:nvCxnSpPr>
        <p:spPr>
          <a:xfrm>
            <a:off x="3230348" y="4635861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7" name="칸 본문"/>
          <p:cNvSpPr>
            <a:spLocks noGrp="1"/>
          </p:cNvSpPr>
          <p:nvPr>
            <p:ph type="body" sz="quarter" idx="55"/>
          </p:nvPr>
        </p:nvSpPr>
        <p:spPr>
          <a:xfrm>
            <a:off x="5124000" y="4602991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재생 원료 100% 병입 수돗물 생산</a:t>
            </a:r>
          </a:p>
        </p:txBody>
      </p:sp>
      <p:cxnSp>
        <p:nvCxnSpPr>
          <p:cNvPr id="78" name="Connector 54"/>
          <p:cNvCxnSpPr/>
          <p:nvPr/>
        </p:nvCxnSpPr>
        <p:spPr>
          <a:xfrm>
            <a:off x="5113043" y="4635861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9" name="주요성과 박스"/>
          <p:cNvSpPr/>
          <p:nvPr/>
        </p:nvSpPr>
        <p:spPr>
          <a:xfrm>
            <a:off x="723130" y="5038591"/>
            <a:ext cx="6300000" cy="311478"/>
          </a:xfrm>
          <a:prstGeom prst="rect">
            <a:avLst/>
          </a:prstGeom>
          <a:solidFill>
            <a:srgbClr val="EFF9FF"/>
          </a:solidFill>
          <a:ln w="12700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0" name="주요성과 라벨"/>
          <p:cNvSpPr/>
          <p:nvPr/>
        </p:nvSpPr>
        <p:spPr>
          <a:xfrm>
            <a:off x="756000" y="5071461"/>
            <a:ext cx="657391" cy="245739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81" name="주요성과 라벨"/>
          <p:cNvSpPr>
            <a:spLocks noGrp="1"/>
          </p:cNvSpPr>
          <p:nvPr>
            <p:ph type="body" sz="quarter" idx="56"/>
          </p:nvPr>
        </p:nvSpPr>
        <p:spPr>
          <a:xfrm>
            <a:off x="756000" y="5071461"/>
            <a:ext cx="657391" cy="245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주요성과</a:t>
            </a:r>
          </a:p>
        </p:txBody>
      </p:sp>
      <p:sp>
        <p:nvSpPr>
          <p:cNvPr id="82" name="주요성과 문구"/>
          <p:cNvSpPr>
            <a:spLocks noGrp="1"/>
          </p:cNvSpPr>
          <p:nvPr>
            <p:ph type="body" sz="quarter" idx="57"/>
          </p:nvPr>
        </p:nvSpPr>
        <p:spPr>
          <a:xfrm>
            <a:off x="1501043" y="5055026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지정 공공부문 수도사업자 중 재생원료 100% 활용 선도 기관 선정</a:t>
            </a:r>
          </a:p>
        </p:txBody>
      </p:sp>
      <p:sp>
        <p:nvSpPr>
          <p:cNvPr id="83" name="표 외곽"/>
          <p:cNvSpPr/>
          <p:nvPr/>
        </p:nvSpPr>
        <p:spPr>
          <a:xfrm>
            <a:off x="723130" y="5393896"/>
            <a:ext cx="6300000" cy="1087513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4" name="레일"/>
          <p:cNvSpPr/>
          <p:nvPr/>
        </p:nvSpPr>
        <p:spPr>
          <a:xfrm>
            <a:off x="734087" y="5410330"/>
            <a:ext cx="580696" cy="105464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5" name="레일 태그"/>
          <p:cNvSpPr/>
          <p:nvPr/>
        </p:nvSpPr>
        <p:spPr>
          <a:xfrm>
            <a:off x="510464" y="5454157"/>
            <a:ext cx="1027942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86" name="레일 태그"/>
          <p:cNvSpPr>
            <a:spLocks noGrp="1"/>
          </p:cNvSpPr>
          <p:nvPr>
            <p:ph type="body" sz="quarter" idx="58"/>
          </p:nvPr>
        </p:nvSpPr>
        <p:spPr>
          <a:xfrm>
            <a:off x="510464" y="5454157"/>
            <a:ext cx="1027942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기업성장 응답센터</a:t>
            </a:r>
          </a:p>
        </p:txBody>
      </p:sp>
      <p:sp>
        <p:nvSpPr>
          <p:cNvPr id="87" name="레일 라벨"/>
          <p:cNvSpPr>
            <a:spLocks noGrp="1"/>
          </p:cNvSpPr>
          <p:nvPr>
            <p:ph type="body" sz="quarter" idx="59"/>
          </p:nvPr>
        </p:nvSpPr>
        <p:spPr>
          <a:xfrm>
            <a:off x="734087" y="5640417"/>
            <a:ext cx="580696" cy="802643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AI실증랩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기술나눔</a:t>
            </a:r>
          </a:p>
        </p:txBody>
      </p:sp>
      <p:sp>
        <p:nvSpPr>
          <p:cNvPr id="88" name="태그"/>
          <p:cNvSpPr/>
          <p:nvPr/>
        </p:nvSpPr>
        <p:spPr>
          <a:xfrm>
            <a:off x="1347652" y="5454157"/>
            <a:ext cx="361972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89" name="태그"/>
          <p:cNvSpPr>
            <a:spLocks noGrp="1"/>
          </p:cNvSpPr>
          <p:nvPr>
            <p:ph type="body" sz="quarter" idx="60"/>
          </p:nvPr>
        </p:nvSpPr>
        <p:spPr>
          <a:xfrm>
            <a:off x="1347652" y="5454157"/>
            <a:ext cx="36197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고민</a:t>
            </a:r>
          </a:p>
        </p:txBody>
      </p:sp>
      <p:sp>
        <p:nvSpPr>
          <p:cNvPr id="90" name="태그 설명"/>
          <p:cNvSpPr>
            <a:spLocks noGrp="1"/>
          </p:cNvSpPr>
          <p:nvPr>
            <p:ph type="body" sz="quarter" idx="61"/>
          </p:nvPr>
        </p:nvSpPr>
        <p:spPr>
          <a:xfrm>
            <a:off x="1753450" y="5443200"/>
            <a:ext cx="5242289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규제보다 무서운 신기술 도입 난제</a:t>
            </a:r>
          </a:p>
        </p:txBody>
      </p:sp>
      <p:sp>
        <p:nvSpPr>
          <p:cNvPr id="91" name="태그"/>
          <p:cNvSpPr/>
          <p:nvPr/>
        </p:nvSpPr>
        <p:spPr>
          <a:xfrm>
            <a:off x="1347652" y="5651374"/>
            <a:ext cx="361972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92" name="태그"/>
          <p:cNvSpPr>
            <a:spLocks noGrp="1"/>
          </p:cNvSpPr>
          <p:nvPr>
            <p:ph type="body" sz="quarter" idx="62"/>
          </p:nvPr>
        </p:nvSpPr>
        <p:spPr>
          <a:xfrm>
            <a:off x="1347652" y="5651374"/>
            <a:ext cx="36197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노력</a:t>
            </a:r>
          </a:p>
        </p:txBody>
      </p:sp>
      <p:sp>
        <p:nvSpPr>
          <p:cNvPr id="93" name="태그 설명"/>
          <p:cNvSpPr>
            <a:spLocks noGrp="1"/>
          </p:cNvSpPr>
          <p:nvPr>
            <p:ph type="body" sz="quarter" idx="63"/>
          </p:nvPr>
        </p:nvSpPr>
        <p:spPr>
          <a:xfrm>
            <a:off x="1753450" y="5640417"/>
            <a:ext cx="5242289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물산업 AI발전 위한 선도역할 수행</a:t>
            </a:r>
          </a:p>
        </p:txBody>
      </p:sp>
      <p:sp>
        <p:nvSpPr>
          <p:cNvPr id="94" name="단계"/>
          <p:cNvSpPr/>
          <p:nvPr/>
        </p:nvSpPr>
        <p:spPr>
          <a:xfrm>
            <a:off x="1347652" y="5865026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95" name="단계"/>
          <p:cNvSpPr>
            <a:spLocks noGrp="1"/>
          </p:cNvSpPr>
          <p:nvPr>
            <p:ph type="body" sz="quarter" idx="64"/>
          </p:nvPr>
        </p:nvSpPr>
        <p:spPr>
          <a:xfrm>
            <a:off x="1347652" y="586502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디지털 실증랩 구축</a:t>
            </a:r>
          </a:p>
        </p:txBody>
      </p:sp>
      <p:sp>
        <p:nvSpPr>
          <p:cNvPr id="96" name="단계"/>
          <p:cNvSpPr/>
          <p:nvPr/>
        </p:nvSpPr>
        <p:spPr>
          <a:xfrm>
            <a:off x="3230348" y="5865026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97" name="단계"/>
          <p:cNvSpPr>
            <a:spLocks noGrp="1"/>
          </p:cNvSpPr>
          <p:nvPr>
            <p:ph type="body" sz="quarter" idx="65"/>
          </p:nvPr>
        </p:nvSpPr>
        <p:spPr>
          <a:xfrm>
            <a:off x="3230348" y="586502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 맞춤형 고도화</a:t>
            </a:r>
          </a:p>
        </p:txBody>
      </p:sp>
      <p:sp>
        <p:nvSpPr>
          <p:cNvPr id="98" name="단계"/>
          <p:cNvSpPr/>
          <p:nvPr/>
        </p:nvSpPr>
        <p:spPr>
          <a:xfrm>
            <a:off x="5113043" y="5865026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99" name="단계"/>
          <p:cNvSpPr>
            <a:spLocks noGrp="1"/>
          </p:cNvSpPr>
          <p:nvPr>
            <p:ph type="body" sz="quarter" idx="66"/>
          </p:nvPr>
        </p:nvSpPr>
        <p:spPr>
          <a:xfrm>
            <a:off x="5113043" y="586502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안정성·시장진출 확보</a:t>
            </a:r>
          </a:p>
        </p:txBody>
      </p:sp>
      <p:sp>
        <p:nvSpPr>
          <p:cNvPr id="100" name="단계 삼각형"/>
          <p:cNvSpPr/>
          <p:nvPr/>
        </p:nvSpPr>
        <p:spPr>
          <a:xfrm>
            <a:off x="3230347" y="5865026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01" name="단계 삼각형"/>
          <p:cNvSpPr/>
          <p:nvPr/>
        </p:nvSpPr>
        <p:spPr>
          <a:xfrm>
            <a:off x="5113043" y="5865026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02" name="칸 본문"/>
          <p:cNvSpPr>
            <a:spLocks noGrp="1"/>
          </p:cNvSpPr>
          <p:nvPr>
            <p:ph type="body" sz="quarter" idx="67"/>
          </p:nvPr>
        </p:nvSpPr>
        <p:spPr>
          <a:xfrm>
            <a:off x="1358609" y="6117026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서비스 플랫폼 활용 실증랩 완성</a:t>
            </a:r>
          </a:p>
        </p:txBody>
      </p:sp>
      <p:sp>
        <p:nvSpPr>
          <p:cNvPr id="103" name="칸 본문"/>
          <p:cNvSpPr>
            <a:spLocks noGrp="1"/>
          </p:cNvSpPr>
          <p:nvPr>
            <p:ph type="body" sz="quarter" idx="68"/>
          </p:nvPr>
        </p:nvSpPr>
        <p:spPr>
          <a:xfrm>
            <a:off x="3241304" y="6117026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참여 기업 선정·컨설팅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GPU 자원 할당</a:t>
            </a:r>
          </a:p>
        </p:txBody>
      </p:sp>
      <p:cxnSp>
        <p:nvCxnSpPr>
          <p:cNvPr id="104" name="Connector 73"/>
          <p:cNvCxnSpPr/>
          <p:nvPr/>
        </p:nvCxnSpPr>
        <p:spPr>
          <a:xfrm>
            <a:off x="3230348" y="6149896"/>
            <a:ext cx="0" cy="2767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05" name="칸 본문"/>
          <p:cNvSpPr>
            <a:spLocks noGrp="1"/>
          </p:cNvSpPr>
          <p:nvPr>
            <p:ph type="body" sz="quarter" idx="69"/>
          </p:nvPr>
        </p:nvSpPr>
        <p:spPr>
          <a:xfrm>
            <a:off x="5124000" y="6117026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개발 환경 안정화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우수 개발성과 지원</a:t>
            </a:r>
          </a:p>
        </p:txBody>
      </p:sp>
      <p:cxnSp>
        <p:nvCxnSpPr>
          <p:cNvPr id="106" name="Connector 75"/>
          <p:cNvCxnSpPr/>
          <p:nvPr/>
        </p:nvCxnSpPr>
        <p:spPr>
          <a:xfrm>
            <a:off x="5113043" y="6149896"/>
            <a:ext cx="0" cy="2767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07" name="주요성과 박스"/>
          <p:cNvSpPr/>
          <p:nvPr/>
        </p:nvSpPr>
        <p:spPr>
          <a:xfrm>
            <a:off x="723130" y="6558104"/>
            <a:ext cx="6300000" cy="311478"/>
          </a:xfrm>
          <a:prstGeom prst="rect">
            <a:avLst/>
          </a:prstGeom>
          <a:solidFill>
            <a:srgbClr val="EFF9FF"/>
          </a:solidFill>
          <a:ln w="12700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8" name="주요성과 라벨"/>
          <p:cNvSpPr/>
          <p:nvPr/>
        </p:nvSpPr>
        <p:spPr>
          <a:xfrm>
            <a:off x="756000" y="6590974"/>
            <a:ext cx="657391" cy="245739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109" name="주요성과 라벨"/>
          <p:cNvSpPr>
            <a:spLocks noGrp="1"/>
          </p:cNvSpPr>
          <p:nvPr>
            <p:ph type="body" sz="quarter" idx="70"/>
          </p:nvPr>
        </p:nvSpPr>
        <p:spPr>
          <a:xfrm>
            <a:off x="756000" y="6590974"/>
            <a:ext cx="657391" cy="245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주요성과</a:t>
            </a:r>
          </a:p>
        </p:txBody>
      </p:sp>
      <p:sp>
        <p:nvSpPr>
          <p:cNvPr id="110" name="주요성과 문구"/>
          <p:cNvSpPr>
            <a:spLocks noGrp="1"/>
          </p:cNvSpPr>
          <p:nvPr>
            <p:ph type="body" sz="quarter" idx="71"/>
          </p:nvPr>
        </p:nvSpPr>
        <p:spPr>
          <a:xfrm>
            <a:off x="1501043" y="6574539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참여기업 SaaS형 플랫폼 제작, 대상 수상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31 서사 · 환경분석 → 추진방향 → 질·양 개선 → 추진성과 사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5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한 조각의 생각이 만드는 단단한 미래, 20년 혁신챌린지의 재도약</a:t>
            </a:r>
          </a:p>
        </p:txBody>
      </p:sp>
      <p:sp>
        <p:nvSpPr>
          <p:cNvPr id="15" name="번호 띠 칩"/>
          <p:cNvSpPr/>
          <p:nvPr/>
        </p:nvSpPr>
        <p:spPr>
          <a:xfrm>
            <a:off x="6022385" y="832696"/>
            <a:ext cx="74874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번호 띠 칩"/>
          <p:cNvSpPr>
            <a:spLocks noGrp="1"/>
          </p:cNvSpPr>
          <p:nvPr>
            <p:ph type="body" sz="quarter" idx="22"/>
          </p:nvPr>
        </p:nvSpPr>
        <p:spPr>
          <a:xfrm>
            <a:off x="6022385" y="832696"/>
            <a:ext cx="74874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7" name="표 외곽"/>
          <p:cNvSpPr/>
          <p:nvPr/>
        </p:nvSpPr>
        <p:spPr>
          <a:xfrm>
            <a:off x="536870" y="1117565"/>
            <a:ext cx="6300000" cy="44107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레일"/>
          <p:cNvSpPr/>
          <p:nvPr/>
        </p:nvSpPr>
        <p:spPr>
          <a:xfrm>
            <a:off x="547826" y="1134000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레일"/>
          <p:cNvSpPr>
            <a:spLocks noGrp="1"/>
          </p:cNvSpPr>
          <p:nvPr>
            <p:ph type="body" sz="quarter" idx="23"/>
          </p:nvPr>
        </p:nvSpPr>
        <p:spPr>
          <a:xfrm>
            <a:off x="547826" y="1134000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혁신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챌린지</a:t>
            </a:r>
          </a:p>
        </p:txBody>
      </p:sp>
      <p:sp>
        <p:nvSpPr>
          <p:cNvPr id="20" name="배너"/>
          <p:cNvSpPr/>
          <p:nvPr/>
        </p:nvSpPr>
        <p:spPr>
          <a:xfrm>
            <a:off x="1161391" y="1155913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1" name="배너"/>
          <p:cNvSpPr>
            <a:spLocks noGrp="1"/>
          </p:cNvSpPr>
          <p:nvPr>
            <p:ph type="body" sz="quarter" idx="24"/>
          </p:nvPr>
        </p:nvSpPr>
        <p:spPr>
          <a:xfrm>
            <a:off x="1161391" y="1155913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’05년 자유 제안에서 시작되어 20년간 고유 ‘자율 혁신’으로 정착</a:t>
            </a:r>
          </a:p>
        </p:txBody>
      </p:sp>
      <p:sp>
        <p:nvSpPr>
          <p:cNvPr id="22" name="틀"/>
          <p:cNvSpPr/>
          <p:nvPr/>
        </p:nvSpPr>
        <p:spPr>
          <a:xfrm>
            <a:off x="536870" y="1613426"/>
            <a:ext cx="6300000" cy="115043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3" name="레일"/>
          <p:cNvSpPr/>
          <p:nvPr/>
        </p:nvSpPr>
        <p:spPr>
          <a:xfrm>
            <a:off x="547826" y="1624383"/>
            <a:ext cx="580696" cy="1128522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4" name="레일"/>
          <p:cNvSpPr>
            <a:spLocks noGrp="1"/>
          </p:cNvSpPr>
          <p:nvPr>
            <p:ph type="body" sz="quarter" idx="25"/>
          </p:nvPr>
        </p:nvSpPr>
        <p:spPr>
          <a:xfrm>
            <a:off x="547826" y="1624383"/>
            <a:ext cx="580696" cy="112852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2025년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환경분석</a:t>
            </a:r>
          </a:p>
        </p:txBody>
      </p:sp>
      <p:sp>
        <p:nvSpPr>
          <p:cNvPr id="25" name="칸 제목 띠"/>
          <p:cNvSpPr/>
          <p:nvPr/>
        </p:nvSpPr>
        <p:spPr>
          <a:xfrm>
            <a:off x="1194261" y="1646296"/>
            <a:ext cx="1833391" cy="186261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6" name="칸 제목"/>
          <p:cNvSpPr>
            <a:spLocks noGrp="1"/>
          </p:cNvSpPr>
          <p:nvPr>
            <p:ph type="body" sz="quarter" idx="26"/>
          </p:nvPr>
        </p:nvSpPr>
        <p:spPr>
          <a:xfrm>
            <a:off x="1194261" y="1646296"/>
            <a:ext cx="1833391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새 정부 ‘국정기조’ 반영</a:t>
            </a:r>
          </a:p>
        </p:txBody>
      </p:sp>
      <p:sp>
        <p:nvSpPr>
          <p:cNvPr id="27" name="삼각 화살표"/>
          <p:cNvSpPr/>
          <p:nvPr/>
        </p:nvSpPr>
        <p:spPr>
          <a:xfrm>
            <a:off x="2050695" y="1843513"/>
            <a:ext cx="120522" cy="54782"/>
          </a:xfrm>
          <a:custGeom>
            <a:avLst/>
            <a:gdLst/>
            <a:ahLst/>
            <a:cxnLst/>
            <a:rect l="l" t="t" r="r" b="b"/>
            <a:pathLst>
              <a:path w="120522" h="54782">
                <a:moveTo>
                  <a:pt x="0" y="0"/>
                </a:moveTo>
                <a:lnTo>
                  <a:pt x="120522" y="0"/>
                </a:lnTo>
                <a:lnTo>
                  <a:pt x="60261" y="54782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7"/>
          </p:nvPr>
        </p:nvSpPr>
        <p:spPr>
          <a:xfrm>
            <a:off x="1205217" y="1909252"/>
            <a:ext cx="1811478" cy="799826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국가 발전을 위한 공공의 혁신 노력 강조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국민이 체감할 수 있는 서비스 최우선</a:t>
            </a:r>
          </a:p>
        </p:txBody>
      </p:sp>
      <p:sp>
        <p:nvSpPr>
          <p:cNvPr id="29" name="칸 제목 띠"/>
          <p:cNvSpPr/>
          <p:nvPr/>
        </p:nvSpPr>
        <p:spPr>
          <a:xfrm>
            <a:off x="3071478" y="1646296"/>
            <a:ext cx="1833391" cy="186261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0" name="칸 제목"/>
          <p:cNvSpPr>
            <a:spLocks noGrp="1"/>
          </p:cNvSpPr>
          <p:nvPr>
            <p:ph type="body" sz="quarter" idx="28"/>
          </p:nvPr>
        </p:nvSpPr>
        <p:spPr>
          <a:xfrm>
            <a:off x="3071478" y="1646296"/>
            <a:ext cx="1833391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전문가 ‘혁신발전 제언’</a:t>
            </a:r>
          </a:p>
        </p:txBody>
      </p:sp>
      <p:sp>
        <p:nvSpPr>
          <p:cNvPr id="31" name="삼각 화살표"/>
          <p:cNvSpPr/>
          <p:nvPr/>
        </p:nvSpPr>
        <p:spPr>
          <a:xfrm>
            <a:off x="3927913" y="1843513"/>
            <a:ext cx="120521" cy="54782"/>
          </a:xfrm>
          <a:custGeom>
            <a:avLst/>
            <a:gdLst/>
            <a:ahLst/>
            <a:cxnLst/>
            <a:rect l="l" t="t" r="r" b="b"/>
            <a:pathLst>
              <a:path w="120521" h="54782">
                <a:moveTo>
                  <a:pt x="0" y="0"/>
                </a:moveTo>
                <a:lnTo>
                  <a:pt x="120521" y="0"/>
                </a:lnTo>
                <a:lnTo>
                  <a:pt x="60260" y="54782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2" name="사진 칸"/>
          <p:cNvSpPr/>
          <p:nvPr/>
        </p:nvSpPr>
        <p:spPr>
          <a:xfrm>
            <a:off x="4025718" y="1920209"/>
            <a:ext cx="868195" cy="766957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33" name="사진 칸"/>
          <p:cNvSpPr>
            <a:spLocks noGrp="1"/>
          </p:cNvSpPr>
          <p:nvPr>
            <p:ph type="body" sz="quarter" idx="29"/>
          </p:nvPr>
        </p:nvSpPr>
        <p:spPr>
          <a:xfrm>
            <a:off x="4025718" y="1920209"/>
            <a:ext cx="868195" cy="766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인물 사진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0"/>
          </p:nvPr>
        </p:nvSpPr>
        <p:spPr>
          <a:xfrm>
            <a:off x="3082435" y="1909252"/>
            <a:ext cx="905739" cy="799826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혁신의 질과 양을 높일 수 있는 고민이 필요</a:t>
            </a:r>
          </a:p>
        </p:txBody>
      </p:sp>
      <p:cxnSp>
        <p:nvCxnSpPr>
          <p:cNvPr id="35" name="Connector 26"/>
          <p:cNvCxnSpPr/>
          <p:nvPr/>
        </p:nvCxnSpPr>
        <p:spPr>
          <a:xfrm>
            <a:off x="3049565" y="1898296"/>
            <a:ext cx="0" cy="821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6" name="칸 제목 띠"/>
          <p:cNvSpPr/>
          <p:nvPr/>
        </p:nvSpPr>
        <p:spPr>
          <a:xfrm>
            <a:off x="4948696" y="1646296"/>
            <a:ext cx="1833391" cy="186261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7" name="칸 제목"/>
          <p:cNvSpPr>
            <a:spLocks noGrp="1"/>
          </p:cNvSpPr>
          <p:nvPr>
            <p:ph type="body" sz="quarter" idx="31"/>
          </p:nvPr>
        </p:nvSpPr>
        <p:spPr>
          <a:xfrm>
            <a:off x="4948696" y="1646296"/>
            <a:ext cx="1833391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구성원의 ‘관심과 니즈’</a:t>
            </a:r>
          </a:p>
        </p:txBody>
      </p:sp>
      <p:sp>
        <p:nvSpPr>
          <p:cNvPr id="38" name="삼각 화살표"/>
          <p:cNvSpPr/>
          <p:nvPr/>
        </p:nvSpPr>
        <p:spPr>
          <a:xfrm>
            <a:off x="5805130" y="1843513"/>
            <a:ext cx="120522" cy="54782"/>
          </a:xfrm>
          <a:custGeom>
            <a:avLst/>
            <a:gdLst/>
            <a:ahLst/>
            <a:cxnLst/>
            <a:rect l="l" t="t" r="r" b="b"/>
            <a:pathLst>
              <a:path w="120522" h="54782">
                <a:moveTo>
                  <a:pt x="0" y="0"/>
                </a:moveTo>
                <a:lnTo>
                  <a:pt x="120522" y="0"/>
                </a:lnTo>
                <a:lnTo>
                  <a:pt x="60261" y="54782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2"/>
          </p:nvPr>
        </p:nvSpPr>
        <p:spPr>
          <a:xfrm>
            <a:off x="4959652" y="1909252"/>
            <a:ext cx="1811478" cy="799826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예산·지원 부족 ➡ 실행 지원제도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기대심리 ➡ 성과 보상체계 확대</a:t>
            </a:r>
          </a:p>
        </p:txBody>
      </p:sp>
      <p:cxnSp>
        <p:nvCxnSpPr>
          <p:cNvPr id="40" name="Connector 31"/>
          <p:cNvCxnSpPr/>
          <p:nvPr/>
        </p:nvCxnSpPr>
        <p:spPr>
          <a:xfrm>
            <a:off x="4926783" y="1898296"/>
            <a:ext cx="0" cy="821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1" name="배너"/>
          <p:cNvSpPr/>
          <p:nvPr/>
        </p:nvSpPr>
        <p:spPr>
          <a:xfrm>
            <a:off x="536869" y="2807686"/>
            <a:ext cx="6300000" cy="273914"/>
          </a:xfrm>
          <a:custGeom>
            <a:avLst/>
            <a:gdLst/>
            <a:ahLst/>
            <a:cxnLst/>
            <a:rect l="l" t="t" r="r" b="b"/>
            <a:pathLst>
              <a:path w="6300000" h="273914">
                <a:moveTo>
                  <a:pt x="0" y="0"/>
                </a:moveTo>
                <a:lnTo>
                  <a:pt x="6300000" y="0"/>
                </a:lnTo>
                <a:lnTo>
                  <a:pt x="6234261" y="273914"/>
                </a:lnTo>
                <a:lnTo>
                  <a:pt x="65739" y="273914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2" name="태그"/>
          <p:cNvSpPr/>
          <p:nvPr/>
        </p:nvSpPr>
        <p:spPr>
          <a:xfrm>
            <a:off x="756000" y="2862470"/>
            <a:ext cx="878317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3" name="태그"/>
          <p:cNvSpPr>
            <a:spLocks noGrp="1"/>
          </p:cNvSpPr>
          <p:nvPr>
            <p:ph type="body" sz="quarter" idx="33"/>
          </p:nvPr>
        </p:nvSpPr>
        <p:spPr>
          <a:xfrm>
            <a:off x="756000" y="2862470"/>
            <a:ext cx="878317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추진방향</a:t>
            </a:r>
          </a:p>
        </p:txBody>
      </p:sp>
      <p:sp>
        <p:nvSpPr>
          <p:cNvPr id="44" name="배너 글"/>
          <p:cNvSpPr>
            <a:spLocks noGrp="1"/>
          </p:cNvSpPr>
          <p:nvPr>
            <p:ph type="body" sz="quarter" idx="34"/>
          </p:nvPr>
        </p:nvSpPr>
        <p:spPr>
          <a:xfrm>
            <a:off x="1689099" y="2807687"/>
            <a:ext cx="4983422" cy="273913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400" b="1" spc="-7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혁신이 제대로 작동하여 ‘질과 양을 높이는’ 혁신챌린지 제도 운영</a:t>
            </a:r>
          </a:p>
        </p:txBody>
      </p:sp>
      <p:sp>
        <p:nvSpPr>
          <p:cNvPr id="45" name="표 외곽"/>
          <p:cNvSpPr/>
          <p:nvPr/>
        </p:nvSpPr>
        <p:spPr>
          <a:xfrm>
            <a:off x="536870" y="3125426"/>
            <a:ext cx="6300000" cy="144782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6" name="레일"/>
          <p:cNvSpPr/>
          <p:nvPr/>
        </p:nvSpPr>
        <p:spPr>
          <a:xfrm>
            <a:off x="547826" y="3141861"/>
            <a:ext cx="580696" cy="776661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7" name="레일"/>
          <p:cNvSpPr>
            <a:spLocks noGrp="1"/>
          </p:cNvSpPr>
          <p:nvPr>
            <p:ph type="body" sz="quarter" idx="35"/>
          </p:nvPr>
        </p:nvSpPr>
        <p:spPr>
          <a:xfrm>
            <a:off x="547826" y="3141861"/>
            <a:ext cx="580696" cy="7766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혁신의 質</a:t>
            </a:r>
          </a:p>
        </p:txBody>
      </p:sp>
      <p:sp>
        <p:nvSpPr>
          <p:cNvPr id="48" name="단계"/>
          <p:cNvSpPr/>
          <p:nvPr/>
        </p:nvSpPr>
        <p:spPr>
          <a:xfrm>
            <a:off x="1161391" y="3163774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9" name="단계"/>
          <p:cNvSpPr>
            <a:spLocks noGrp="1"/>
          </p:cNvSpPr>
          <p:nvPr>
            <p:ph type="body" sz="quarter" idx="36"/>
          </p:nvPr>
        </p:nvSpPr>
        <p:spPr>
          <a:xfrm>
            <a:off x="1161391" y="316377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</a:t>
            </a:r>
          </a:p>
        </p:txBody>
      </p:sp>
      <p:sp>
        <p:nvSpPr>
          <p:cNvPr id="50" name="단계"/>
          <p:cNvSpPr/>
          <p:nvPr/>
        </p:nvSpPr>
        <p:spPr>
          <a:xfrm>
            <a:off x="3044087" y="3163774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1" name="단계"/>
          <p:cNvSpPr>
            <a:spLocks noGrp="1"/>
          </p:cNvSpPr>
          <p:nvPr>
            <p:ph type="body" sz="quarter" idx="37"/>
          </p:nvPr>
        </p:nvSpPr>
        <p:spPr>
          <a:xfrm>
            <a:off x="3044087" y="316377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① 과제선정의 방향성 제안</a:t>
            </a:r>
          </a:p>
        </p:txBody>
      </p:sp>
      <p:sp>
        <p:nvSpPr>
          <p:cNvPr id="52" name="단계"/>
          <p:cNvSpPr/>
          <p:nvPr/>
        </p:nvSpPr>
        <p:spPr>
          <a:xfrm>
            <a:off x="4926783" y="3163774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3" name="단계"/>
          <p:cNvSpPr>
            <a:spLocks noGrp="1"/>
          </p:cNvSpPr>
          <p:nvPr>
            <p:ph type="body" sz="quarter" idx="38"/>
          </p:nvPr>
        </p:nvSpPr>
        <p:spPr>
          <a:xfrm>
            <a:off x="4926783" y="316377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② 혁신인재 육성·성과 고도화</a:t>
            </a:r>
          </a:p>
        </p:txBody>
      </p:sp>
      <p:sp>
        <p:nvSpPr>
          <p:cNvPr id="54" name="단계 삼각형"/>
          <p:cNvSpPr/>
          <p:nvPr/>
        </p:nvSpPr>
        <p:spPr>
          <a:xfrm>
            <a:off x="3044086" y="3163773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5" name="단계 삼각형"/>
          <p:cNvSpPr/>
          <p:nvPr/>
        </p:nvSpPr>
        <p:spPr>
          <a:xfrm>
            <a:off x="4926782" y="316377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6" name="칸 본문"/>
          <p:cNvSpPr>
            <a:spLocks noGrp="1"/>
          </p:cNvSpPr>
          <p:nvPr>
            <p:ph type="body" sz="quarter" idx="39"/>
          </p:nvPr>
        </p:nvSpPr>
        <p:spPr>
          <a:xfrm>
            <a:off x="1172348" y="3415774"/>
            <a:ext cx="1860783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자율성에 기반을 둔 제도 운영</a:t>
            </a:r>
          </a:p>
        </p:txBody>
      </p:sp>
      <p:sp>
        <p:nvSpPr>
          <p:cNvPr id="57" name="칸 본문"/>
          <p:cNvSpPr>
            <a:spLocks noGrp="1"/>
          </p:cNvSpPr>
          <p:nvPr>
            <p:ph type="body" sz="quarter" idx="40"/>
          </p:nvPr>
        </p:nvSpPr>
        <p:spPr>
          <a:xfrm>
            <a:off x="3055043" y="3415774"/>
            <a:ext cx="1860783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자율 제안에서 정책 연계 ‘중점 분야’를 설정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중점 분야 52건 발굴</a:t>
            </a:r>
          </a:p>
        </p:txBody>
      </p:sp>
      <p:cxnSp>
        <p:nvCxnSpPr>
          <p:cNvPr id="58" name="Connector 44"/>
          <p:cNvCxnSpPr/>
          <p:nvPr/>
        </p:nvCxnSpPr>
        <p:spPr>
          <a:xfrm>
            <a:off x="3044087" y="3448643"/>
            <a:ext cx="0" cy="4315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9" name="칸 본문"/>
          <p:cNvSpPr>
            <a:spLocks noGrp="1"/>
          </p:cNvSpPr>
          <p:nvPr>
            <p:ph type="body" sz="quarter" idx="41"/>
          </p:nvPr>
        </p:nvSpPr>
        <p:spPr>
          <a:xfrm>
            <a:off x="4937739" y="3415774"/>
            <a:ext cx="1860783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역량교육(6회)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‘Step-Up’ 제도 도입으로 단계 점검</a:t>
            </a:r>
          </a:p>
        </p:txBody>
      </p:sp>
      <p:cxnSp>
        <p:nvCxnSpPr>
          <p:cNvPr id="60" name="Connector 46"/>
          <p:cNvCxnSpPr/>
          <p:nvPr/>
        </p:nvCxnSpPr>
        <p:spPr>
          <a:xfrm>
            <a:off x="4926783" y="3448643"/>
            <a:ext cx="0" cy="4315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1" name="레일"/>
          <p:cNvSpPr/>
          <p:nvPr/>
        </p:nvSpPr>
        <p:spPr>
          <a:xfrm>
            <a:off x="547826" y="3934957"/>
            <a:ext cx="580696" cy="621861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2" name="레일"/>
          <p:cNvSpPr>
            <a:spLocks noGrp="1"/>
          </p:cNvSpPr>
          <p:nvPr>
            <p:ph type="body" sz="quarter" idx="42"/>
          </p:nvPr>
        </p:nvSpPr>
        <p:spPr>
          <a:xfrm>
            <a:off x="547826" y="3934957"/>
            <a:ext cx="580696" cy="6218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혁신의 量</a:t>
            </a:r>
          </a:p>
        </p:txBody>
      </p:sp>
      <p:sp>
        <p:nvSpPr>
          <p:cNvPr id="63" name="레일 삼각형"/>
          <p:cNvSpPr/>
          <p:nvPr/>
        </p:nvSpPr>
        <p:spPr>
          <a:xfrm>
            <a:off x="547826" y="3934956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4" name="단계"/>
          <p:cNvSpPr/>
          <p:nvPr/>
        </p:nvSpPr>
        <p:spPr>
          <a:xfrm>
            <a:off x="1161391" y="3956870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5" name="단계"/>
          <p:cNvSpPr>
            <a:spLocks noGrp="1"/>
          </p:cNvSpPr>
          <p:nvPr>
            <p:ph type="body" sz="quarter" idx="43"/>
          </p:nvPr>
        </p:nvSpPr>
        <p:spPr>
          <a:xfrm>
            <a:off x="1161391" y="395687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</a:t>
            </a:r>
          </a:p>
        </p:txBody>
      </p:sp>
      <p:sp>
        <p:nvSpPr>
          <p:cNvPr id="66" name="단계"/>
          <p:cNvSpPr/>
          <p:nvPr/>
        </p:nvSpPr>
        <p:spPr>
          <a:xfrm>
            <a:off x="3044087" y="3956870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7" name="단계"/>
          <p:cNvSpPr>
            <a:spLocks noGrp="1"/>
          </p:cNvSpPr>
          <p:nvPr>
            <p:ph type="body" sz="quarter" idx="44"/>
          </p:nvPr>
        </p:nvSpPr>
        <p:spPr>
          <a:xfrm>
            <a:off x="3044087" y="395687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① 과제 완성지원 강화</a:t>
            </a:r>
          </a:p>
        </p:txBody>
      </p:sp>
      <p:sp>
        <p:nvSpPr>
          <p:cNvPr id="68" name="단계"/>
          <p:cNvSpPr/>
          <p:nvPr/>
        </p:nvSpPr>
        <p:spPr>
          <a:xfrm>
            <a:off x="4926783" y="3956870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9" name="단계"/>
          <p:cNvSpPr>
            <a:spLocks noGrp="1"/>
          </p:cNvSpPr>
          <p:nvPr>
            <p:ph type="body" sz="quarter" idx="45"/>
          </p:nvPr>
        </p:nvSpPr>
        <p:spPr>
          <a:xfrm>
            <a:off x="4926783" y="395687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② 혁신의 주역에게 명예보상 강화</a:t>
            </a:r>
          </a:p>
        </p:txBody>
      </p:sp>
      <p:sp>
        <p:nvSpPr>
          <p:cNvPr id="70" name="단계 삼각형"/>
          <p:cNvSpPr/>
          <p:nvPr/>
        </p:nvSpPr>
        <p:spPr>
          <a:xfrm>
            <a:off x="3044086" y="3956869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1" name="단계 삼각형"/>
          <p:cNvSpPr/>
          <p:nvPr/>
        </p:nvSpPr>
        <p:spPr>
          <a:xfrm>
            <a:off x="4926782" y="3956869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2" name="칸 본문"/>
          <p:cNvSpPr>
            <a:spLocks noGrp="1"/>
          </p:cNvSpPr>
          <p:nvPr>
            <p:ph type="body" sz="quarter" idx="46"/>
          </p:nvPr>
        </p:nvSpPr>
        <p:spPr>
          <a:xfrm>
            <a:off x="1172348" y="4208870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지원제도 점검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명예보상 부재</a:t>
            </a:r>
          </a:p>
        </p:txBody>
      </p:sp>
      <p:sp>
        <p:nvSpPr>
          <p:cNvPr id="73" name="칸 본문"/>
          <p:cNvSpPr>
            <a:spLocks noGrp="1"/>
          </p:cNvSpPr>
          <p:nvPr>
            <p:ph type="body" sz="quarter" idx="47"/>
          </p:nvPr>
        </p:nvSpPr>
        <p:spPr>
          <a:xfrm>
            <a:off x="3055043" y="4208870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방향성을 고려한 지원제도 고도화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플랫폼 참여 43팀, 7억원 지원</a:t>
            </a:r>
          </a:p>
        </p:txBody>
      </p:sp>
      <p:cxnSp>
        <p:nvCxnSpPr>
          <p:cNvPr id="74" name="Connector 56"/>
          <p:cNvCxnSpPr/>
          <p:nvPr/>
        </p:nvCxnSpPr>
        <p:spPr>
          <a:xfrm>
            <a:off x="3044087" y="4241739"/>
            <a:ext cx="0" cy="2767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5" name="칸 본문"/>
          <p:cNvSpPr>
            <a:spLocks noGrp="1"/>
          </p:cNvSpPr>
          <p:nvPr>
            <p:ph type="body" sz="quarter" idx="48"/>
          </p:nvPr>
        </p:nvSpPr>
        <p:spPr>
          <a:xfrm>
            <a:off x="4937739" y="4208870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‘혁신챌린지 특별승진’ 제도화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1명 특별승진</a:t>
            </a:r>
          </a:p>
        </p:txBody>
      </p:sp>
      <p:cxnSp>
        <p:nvCxnSpPr>
          <p:cNvPr id="76" name="Connector 58"/>
          <p:cNvCxnSpPr/>
          <p:nvPr/>
        </p:nvCxnSpPr>
        <p:spPr>
          <a:xfrm>
            <a:off x="4926783" y="4241739"/>
            <a:ext cx="0" cy="2767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7" name="캡션 띠"/>
          <p:cNvSpPr/>
          <p:nvPr/>
        </p:nvSpPr>
        <p:spPr>
          <a:xfrm>
            <a:off x="536869" y="4595165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8" name="태그"/>
          <p:cNvSpPr/>
          <p:nvPr/>
        </p:nvSpPr>
        <p:spPr>
          <a:xfrm>
            <a:off x="865565" y="4638991"/>
            <a:ext cx="548640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79" name="태그"/>
          <p:cNvSpPr>
            <a:spLocks noGrp="1"/>
          </p:cNvSpPr>
          <p:nvPr>
            <p:ph type="body" sz="quarter" idx="49"/>
          </p:nvPr>
        </p:nvSpPr>
        <p:spPr>
          <a:xfrm>
            <a:off x="865565" y="4638991"/>
            <a:ext cx="548640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80" name="캡션"/>
          <p:cNvSpPr>
            <a:spLocks noGrp="1"/>
          </p:cNvSpPr>
          <p:nvPr>
            <p:ph type="body" sz="quarter" idx="50"/>
          </p:nvPr>
        </p:nvSpPr>
        <p:spPr>
          <a:xfrm>
            <a:off x="1468988" y="4595165"/>
            <a:ext cx="5148751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AI 활용, 국민안전, 공공서비스 향상 등 정책 방향성을 담은 과제 52건 발굴</a:t>
            </a:r>
          </a:p>
        </p:txBody>
      </p:sp>
      <p:sp>
        <p:nvSpPr>
          <p:cNvPr id="81" name="표 외곽"/>
          <p:cNvSpPr/>
          <p:nvPr/>
        </p:nvSpPr>
        <p:spPr>
          <a:xfrm>
            <a:off x="536870" y="4901948"/>
            <a:ext cx="6300000" cy="1902522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2" name="레일"/>
          <p:cNvSpPr/>
          <p:nvPr/>
        </p:nvSpPr>
        <p:spPr>
          <a:xfrm>
            <a:off x="547826" y="4918383"/>
            <a:ext cx="580696" cy="1231357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83" name="레일"/>
          <p:cNvSpPr>
            <a:spLocks noGrp="1"/>
          </p:cNvSpPr>
          <p:nvPr>
            <p:ph type="body" sz="quarter" idx="51"/>
          </p:nvPr>
        </p:nvSpPr>
        <p:spPr>
          <a:xfrm>
            <a:off x="547826" y="4918383"/>
            <a:ext cx="580696" cy="12313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AI·안전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위험제거</a:t>
            </a:r>
          </a:p>
        </p:txBody>
      </p:sp>
      <p:sp>
        <p:nvSpPr>
          <p:cNvPr id="84" name="단계"/>
          <p:cNvSpPr/>
          <p:nvPr/>
        </p:nvSpPr>
        <p:spPr>
          <a:xfrm>
            <a:off x="1161391" y="4940296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85" name="단계"/>
          <p:cNvSpPr>
            <a:spLocks noGrp="1"/>
          </p:cNvSpPr>
          <p:nvPr>
            <p:ph type="body" sz="quarter" idx="52"/>
          </p:nvPr>
        </p:nvSpPr>
        <p:spPr>
          <a:xfrm>
            <a:off x="1161391" y="494029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발밑의 습격</a:t>
            </a:r>
          </a:p>
        </p:txBody>
      </p:sp>
      <p:sp>
        <p:nvSpPr>
          <p:cNvPr id="86" name="단계"/>
          <p:cNvSpPr/>
          <p:nvPr/>
        </p:nvSpPr>
        <p:spPr>
          <a:xfrm>
            <a:off x="3044087" y="4940296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87" name="단계"/>
          <p:cNvSpPr>
            <a:spLocks noGrp="1"/>
          </p:cNvSpPr>
          <p:nvPr>
            <p:ph type="body" sz="quarter" idx="53"/>
          </p:nvPr>
        </p:nvSpPr>
        <p:spPr>
          <a:xfrm>
            <a:off x="3044087" y="494029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기술 활용 위험 제거</a:t>
            </a:r>
          </a:p>
        </p:txBody>
      </p:sp>
      <p:sp>
        <p:nvSpPr>
          <p:cNvPr id="88" name="단계"/>
          <p:cNvSpPr/>
          <p:nvPr/>
        </p:nvSpPr>
        <p:spPr>
          <a:xfrm>
            <a:off x="4926783" y="4940296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89" name="단계"/>
          <p:cNvSpPr>
            <a:spLocks noGrp="1"/>
          </p:cNvSpPr>
          <p:nvPr>
            <p:ph type="body" sz="quarter" idx="54"/>
          </p:nvPr>
        </p:nvSpPr>
        <p:spPr>
          <a:xfrm>
            <a:off x="4926783" y="494029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관로주변 위험 제거</a:t>
            </a:r>
          </a:p>
        </p:txBody>
      </p:sp>
      <p:sp>
        <p:nvSpPr>
          <p:cNvPr id="90" name="단계 삼각형"/>
          <p:cNvSpPr/>
          <p:nvPr/>
        </p:nvSpPr>
        <p:spPr>
          <a:xfrm>
            <a:off x="3044086" y="4940295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91" name="단계 삼각형"/>
          <p:cNvSpPr/>
          <p:nvPr/>
        </p:nvSpPr>
        <p:spPr>
          <a:xfrm>
            <a:off x="4926782" y="4940295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92" name="칸 본문"/>
          <p:cNvSpPr>
            <a:spLocks noGrp="1"/>
          </p:cNvSpPr>
          <p:nvPr>
            <p:ph type="body" sz="quarter" idx="55"/>
          </p:nvPr>
        </p:nvSpPr>
        <p:spPr>
          <a:xfrm>
            <a:off x="1172348" y="5192296"/>
            <a:ext cx="1860783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주요원인은 상·하수관 손상 50.2%</a:t>
            </a:r>
          </a:p>
        </p:txBody>
      </p:sp>
      <p:sp>
        <p:nvSpPr>
          <p:cNvPr id="93" name="칸 본문"/>
          <p:cNvSpPr>
            <a:spLocks noGrp="1"/>
          </p:cNvSpPr>
          <p:nvPr>
            <p:ph type="body" sz="quarter" idx="56"/>
          </p:nvPr>
        </p:nvSpPr>
        <p:spPr>
          <a:xfrm>
            <a:off x="3055043" y="5192296"/>
            <a:ext cx="1860783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침하영향 AI 학습으로 위험등급 시각화</a:t>
            </a:r>
          </a:p>
        </p:txBody>
      </p:sp>
      <p:cxnSp>
        <p:nvCxnSpPr>
          <p:cNvPr id="94" name="Connector 71"/>
          <p:cNvCxnSpPr/>
          <p:nvPr/>
        </p:nvCxnSpPr>
        <p:spPr>
          <a:xfrm>
            <a:off x="3044087" y="5225165"/>
            <a:ext cx="0" cy="4315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95" name="칸 본문"/>
          <p:cNvSpPr>
            <a:spLocks noGrp="1"/>
          </p:cNvSpPr>
          <p:nvPr>
            <p:ph type="body" sz="quarter" idx="57"/>
          </p:nvPr>
        </p:nvSpPr>
        <p:spPr>
          <a:xfrm>
            <a:off x="4937739" y="5192296"/>
            <a:ext cx="1860783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44개 지점, 관로 78.5km 시범운영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예측정확도 73.9% 달성</a:t>
            </a:r>
          </a:p>
        </p:txBody>
      </p:sp>
      <p:cxnSp>
        <p:nvCxnSpPr>
          <p:cNvPr id="96" name="Connector 73"/>
          <p:cNvCxnSpPr/>
          <p:nvPr/>
        </p:nvCxnSpPr>
        <p:spPr>
          <a:xfrm>
            <a:off x="4926783" y="5225165"/>
            <a:ext cx="0" cy="4315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97" name="칸 본문"/>
          <p:cNvSpPr>
            <a:spLocks noGrp="1"/>
          </p:cNvSpPr>
          <p:nvPr>
            <p:ph type="body" sz="quarter" idx="58"/>
          </p:nvPr>
        </p:nvSpPr>
        <p:spPr>
          <a:xfrm>
            <a:off x="1172348" y="5706000"/>
            <a:ext cx="4514087" cy="438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사진 자리: 점검 전후</a:t>
            </a:r>
          </a:p>
        </p:txBody>
      </p:sp>
      <p:sp>
        <p:nvSpPr>
          <p:cNvPr id="98" name="사진 칸"/>
          <p:cNvSpPr/>
          <p:nvPr/>
        </p:nvSpPr>
        <p:spPr>
          <a:xfrm>
            <a:off x="5730261" y="5711478"/>
            <a:ext cx="1079217" cy="427304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99" name="사진 칸"/>
          <p:cNvSpPr>
            <a:spLocks noGrp="1"/>
          </p:cNvSpPr>
          <p:nvPr>
            <p:ph type="body" sz="quarter" idx="59"/>
          </p:nvPr>
        </p:nvSpPr>
        <p:spPr>
          <a:xfrm>
            <a:off x="5730261" y="5711478"/>
            <a:ext cx="1079217" cy="427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100" name="레일"/>
          <p:cNvSpPr/>
          <p:nvPr/>
        </p:nvSpPr>
        <p:spPr>
          <a:xfrm>
            <a:off x="547826" y="6166174"/>
            <a:ext cx="580696" cy="621861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01" name="레일"/>
          <p:cNvSpPr>
            <a:spLocks noGrp="1"/>
          </p:cNvSpPr>
          <p:nvPr>
            <p:ph type="body" sz="quarter" idx="60"/>
          </p:nvPr>
        </p:nvSpPr>
        <p:spPr>
          <a:xfrm>
            <a:off x="547826" y="6166174"/>
            <a:ext cx="580696" cy="6218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업무효율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예방</a:t>
            </a:r>
          </a:p>
        </p:txBody>
      </p:sp>
      <p:sp>
        <p:nvSpPr>
          <p:cNvPr id="102" name="레일 삼각형"/>
          <p:cNvSpPr/>
          <p:nvPr/>
        </p:nvSpPr>
        <p:spPr>
          <a:xfrm>
            <a:off x="547826" y="6166173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03" name="단계"/>
          <p:cNvSpPr/>
          <p:nvPr/>
        </p:nvSpPr>
        <p:spPr>
          <a:xfrm>
            <a:off x="1161391" y="6188087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04" name="단계"/>
          <p:cNvSpPr>
            <a:spLocks noGrp="1"/>
          </p:cNvSpPr>
          <p:nvPr>
            <p:ph type="body" sz="quarter" idx="61"/>
          </p:nvPr>
        </p:nvSpPr>
        <p:spPr>
          <a:xfrm>
            <a:off x="1161391" y="6188087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담당자가 공사 개별 확인</a:t>
            </a:r>
          </a:p>
        </p:txBody>
      </p:sp>
      <p:sp>
        <p:nvSpPr>
          <p:cNvPr id="105" name="단계"/>
          <p:cNvSpPr/>
          <p:nvPr/>
        </p:nvSpPr>
        <p:spPr>
          <a:xfrm>
            <a:off x="3044087" y="6188087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06" name="단계"/>
          <p:cNvSpPr>
            <a:spLocks noGrp="1"/>
          </p:cNvSpPr>
          <p:nvPr>
            <p:ph type="body" sz="quarter" idx="62"/>
          </p:nvPr>
        </p:nvSpPr>
        <p:spPr>
          <a:xfrm>
            <a:off x="3044087" y="6188087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집중 검토 대상을 한 곳에</a:t>
            </a:r>
          </a:p>
        </p:txBody>
      </p:sp>
      <p:sp>
        <p:nvSpPr>
          <p:cNvPr id="107" name="단계"/>
          <p:cNvSpPr/>
          <p:nvPr/>
        </p:nvSpPr>
        <p:spPr>
          <a:xfrm>
            <a:off x="4926783" y="6188087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08" name="단계"/>
          <p:cNvSpPr>
            <a:spLocks noGrp="1"/>
          </p:cNvSpPr>
          <p:nvPr>
            <p:ph type="body" sz="quarter" idx="63"/>
          </p:nvPr>
        </p:nvSpPr>
        <p:spPr>
          <a:xfrm>
            <a:off x="4926783" y="6188087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통합플랫폼 구축</a:t>
            </a:r>
          </a:p>
        </p:txBody>
      </p:sp>
      <p:sp>
        <p:nvSpPr>
          <p:cNvPr id="109" name="단계 삼각형"/>
          <p:cNvSpPr/>
          <p:nvPr/>
        </p:nvSpPr>
        <p:spPr>
          <a:xfrm>
            <a:off x="3044086" y="6188086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0" name="단계 삼각형"/>
          <p:cNvSpPr/>
          <p:nvPr/>
        </p:nvSpPr>
        <p:spPr>
          <a:xfrm>
            <a:off x="4926782" y="6188086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1" name="칸 본문"/>
          <p:cNvSpPr>
            <a:spLocks noGrp="1"/>
          </p:cNvSpPr>
          <p:nvPr>
            <p:ph type="body" sz="quarter" idx="64"/>
          </p:nvPr>
        </p:nvSpPr>
        <p:spPr>
          <a:xfrm>
            <a:off x="1172348" y="6440087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도시 개발로 저촉 공사 과다</a:t>
            </a:r>
          </a:p>
        </p:txBody>
      </p:sp>
      <p:sp>
        <p:nvSpPr>
          <p:cNvPr id="112" name="칸 본문"/>
          <p:cNvSpPr>
            <a:spLocks noGrp="1"/>
          </p:cNvSpPr>
          <p:nvPr>
            <p:ph type="body" sz="quarter" idx="65"/>
          </p:nvPr>
        </p:nvSpPr>
        <p:spPr>
          <a:xfrm>
            <a:off x="3055043" y="6440087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저촉 여부 판별 시스템 개발</a:t>
            </a:r>
          </a:p>
        </p:txBody>
      </p:sp>
      <p:cxnSp>
        <p:nvCxnSpPr>
          <p:cNvPr id="113" name="Connector 85"/>
          <p:cNvCxnSpPr/>
          <p:nvPr/>
        </p:nvCxnSpPr>
        <p:spPr>
          <a:xfrm>
            <a:off x="3044087" y="6472957"/>
            <a:ext cx="0" cy="2767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14" name="칸 본문"/>
          <p:cNvSpPr>
            <a:spLocks noGrp="1"/>
          </p:cNvSpPr>
          <p:nvPr>
            <p:ph type="body" sz="quarter" idx="66"/>
          </p:nvPr>
        </p:nvSpPr>
        <p:spPr>
          <a:xfrm>
            <a:off x="4937739" y="6440087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검토시간 83% 단축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안정적 물 공급 실현</a:t>
            </a:r>
          </a:p>
        </p:txBody>
      </p:sp>
      <p:cxnSp>
        <p:nvCxnSpPr>
          <p:cNvPr id="115" name="Connector 87"/>
          <p:cNvCxnSpPr/>
          <p:nvPr/>
        </p:nvCxnSpPr>
        <p:spPr>
          <a:xfrm>
            <a:off x="4926783" y="6472957"/>
            <a:ext cx="0" cy="2767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32 서사 · 환경·성과분석 → 시사점 → 로드맵 → 추진체계 → 종합성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한 마음으로 이뤄낸 최고의 결실, 청렴도 1위 달성</a:t>
            </a:r>
          </a:p>
        </p:txBody>
      </p:sp>
      <p:sp>
        <p:nvSpPr>
          <p:cNvPr id="14" name="번호 띠 칩"/>
          <p:cNvSpPr/>
          <p:nvPr/>
        </p:nvSpPr>
        <p:spPr>
          <a:xfrm>
            <a:off x="6451874" y="843652"/>
            <a:ext cx="505517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번호 띠 칩"/>
          <p:cNvSpPr>
            <a:spLocks noGrp="1"/>
          </p:cNvSpPr>
          <p:nvPr>
            <p:ph type="body" sz="quarter" idx="22"/>
          </p:nvPr>
        </p:nvSpPr>
        <p:spPr>
          <a:xfrm>
            <a:off x="6451874" y="843652"/>
            <a:ext cx="50551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6" name="번호 띠 칩"/>
          <p:cNvSpPr/>
          <p:nvPr/>
        </p:nvSpPr>
        <p:spPr>
          <a:xfrm>
            <a:off x="5878840" y="843652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번호 띠 칩"/>
          <p:cNvSpPr>
            <a:spLocks noGrp="1"/>
          </p:cNvSpPr>
          <p:nvPr>
            <p:ph type="body" sz="quarter" idx="23"/>
          </p:nvPr>
        </p:nvSpPr>
        <p:spPr>
          <a:xfrm>
            <a:off x="5878840" y="843652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8" name="표 외곽"/>
          <p:cNvSpPr/>
          <p:nvPr/>
        </p:nvSpPr>
        <p:spPr>
          <a:xfrm>
            <a:off x="723130" y="1128522"/>
            <a:ext cx="6300000" cy="126970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레일"/>
          <p:cNvSpPr/>
          <p:nvPr/>
        </p:nvSpPr>
        <p:spPr>
          <a:xfrm>
            <a:off x="734087" y="1144957"/>
            <a:ext cx="580696" cy="2534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4"/>
          </p:nvPr>
        </p:nvSpPr>
        <p:spPr>
          <a:xfrm>
            <a:off x="734087" y="1144957"/>
            <a:ext cx="580696" cy="2534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C E O</a:t>
            </a:r>
          </a:p>
        </p:txBody>
      </p:sp>
      <p:sp>
        <p:nvSpPr>
          <p:cNvPr id="21" name="배너"/>
          <p:cNvSpPr/>
          <p:nvPr/>
        </p:nvSpPr>
        <p:spPr>
          <a:xfrm>
            <a:off x="1347652" y="1166870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2" name="배너"/>
          <p:cNvSpPr>
            <a:spLocks noGrp="1"/>
          </p:cNvSpPr>
          <p:nvPr>
            <p:ph type="body" sz="quarter" idx="25"/>
          </p:nvPr>
        </p:nvSpPr>
        <p:spPr>
          <a:xfrm>
            <a:off x="1347652" y="1166870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“청렴은 가장 기본, 강력한 내부통제 기반 윤리경영으로 청렴도 제고”(’25 신년사)</a:t>
            </a:r>
          </a:p>
        </p:txBody>
      </p:sp>
      <p:sp>
        <p:nvSpPr>
          <p:cNvPr id="23" name="레일"/>
          <p:cNvSpPr/>
          <p:nvPr/>
        </p:nvSpPr>
        <p:spPr>
          <a:xfrm>
            <a:off x="734087" y="1414800"/>
            <a:ext cx="580696" cy="410870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4" name="레일"/>
          <p:cNvSpPr>
            <a:spLocks noGrp="1"/>
          </p:cNvSpPr>
          <p:nvPr>
            <p:ph type="body" sz="quarter" idx="26"/>
          </p:nvPr>
        </p:nvSpPr>
        <p:spPr>
          <a:xfrm>
            <a:off x="734087" y="1414800"/>
            <a:ext cx="580696" cy="41087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환경분석</a:t>
            </a:r>
          </a:p>
        </p:txBody>
      </p:sp>
      <p:sp>
        <p:nvSpPr>
          <p:cNvPr id="25" name="레일 삼각형"/>
          <p:cNvSpPr/>
          <p:nvPr/>
        </p:nvSpPr>
        <p:spPr>
          <a:xfrm>
            <a:off x="734086" y="1414800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7"/>
          </p:nvPr>
        </p:nvSpPr>
        <p:spPr>
          <a:xfrm>
            <a:off x="1358609" y="1436713"/>
            <a:ext cx="448761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28"/>
          </p:nvPr>
        </p:nvSpPr>
        <p:spPr>
          <a:xfrm>
            <a:off x="1829283" y="1436713"/>
            <a:ext cx="2331457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정부목표 국가청렴도 20위 달성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 반부패 개혁</a:t>
            </a:r>
          </a:p>
        </p:txBody>
      </p:sp>
      <p:cxnSp>
        <p:nvCxnSpPr>
          <p:cNvPr id="28" name="Connector 17"/>
          <p:cNvCxnSpPr/>
          <p:nvPr/>
        </p:nvCxnSpPr>
        <p:spPr>
          <a:xfrm>
            <a:off x="1818326" y="1469583"/>
            <a:ext cx="0" cy="317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4182652" y="1436713"/>
            <a:ext cx="448761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</a:t>
            </a:r>
          </a:p>
        </p:txBody>
      </p:sp>
      <p:cxnSp>
        <p:nvCxnSpPr>
          <p:cNvPr id="30" name="Connector 19"/>
          <p:cNvCxnSpPr/>
          <p:nvPr/>
        </p:nvCxnSpPr>
        <p:spPr>
          <a:xfrm>
            <a:off x="4171696" y="1469583"/>
            <a:ext cx="0" cy="317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4653326" y="1436713"/>
            <a:ext cx="2331457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내부체감 소폭 반등에도 60점대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외부체감 평균 하회</a:t>
            </a:r>
          </a:p>
        </p:txBody>
      </p:sp>
      <p:cxnSp>
        <p:nvCxnSpPr>
          <p:cNvPr id="32" name="Connector 21"/>
          <p:cNvCxnSpPr/>
          <p:nvPr/>
        </p:nvCxnSpPr>
        <p:spPr>
          <a:xfrm>
            <a:off x="4642370" y="1469583"/>
            <a:ext cx="0" cy="317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레일"/>
          <p:cNvSpPr/>
          <p:nvPr/>
        </p:nvSpPr>
        <p:spPr>
          <a:xfrm>
            <a:off x="734087" y="1842104"/>
            <a:ext cx="580696" cy="5396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4" name="레일"/>
          <p:cNvSpPr>
            <a:spLocks noGrp="1"/>
          </p:cNvSpPr>
          <p:nvPr>
            <p:ph type="body" sz="quarter" idx="31"/>
          </p:nvPr>
        </p:nvSpPr>
        <p:spPr>
          <a:xfrm>
            <a:off x="734087" y="1842104"/>
            <a:ext cx="580696" cy="5396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성과분석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(~’24년)</a:t>
            </a:r>
          </a:p>
        </p:txBody>
      </p:sp>
      <p:sp>
        <p:nvSpPr>
          <p:cNvPr id="35" name="레일 삼각형"/>
          <p:cNvSpPr/>
          <p:nvPr/>
        </p:nvSpPr>
        <p:spPr>
          <a:xfrm>
            <a:off x="734086" y="1842104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2"/>
          </p:nvPr>
        </p:nvSpPr>
        <p:spPr>
          <a:xfrm>
            <a:off x="1358609" y="1864017"/>
            <a:ext cx="448761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3"/>
          </p:nvPr>
        </p:nvSpPr>
        <p:spPr>
          <a:xfrm>
            <a:off x="1829283" y="1864017"/>
            <a:ext cx="2331457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’23년 표준모델 선제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실행조직 발족</a:t>
            </a:r>
          </a:p>
        </p:txBody>
      </p:sp>
      <p:cxnSp>
        <p:nvCxnSpPr>
          <p:cNvPr id="38" name="Connector 26"/>
          <p:cNvCxnSpPr/>
          <p:nvPr/>
        </p:nvCxnSpPr>
        <p:spPr>
          <a:xfrm>
            <a:off x="1818326" y="1896887"/>
            <a:ext cx="0" cy="317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9" name="칸 본문"/>
          <p:cNvSpPr>
            <a:spLocks noGrp="1"/>
          </p:cNvSpPr>
          <p:nvPr>
            <p:ph type="body" sz="quarter" idx="34"/>
          </p:nvPr>
        </p:nvSpPr>
        <p:spPr>
          <a:xfrm>
            <a:off x="4182652" y="1864017"/>
            <a:ext cx="448761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한계</a:t>
            </a:r>
          </a:p>
        </p:txBody>
      </p:sp>
      <p:cxnSp>
        <p:nvCxnSpPr>
          <p:cNvPr id="40" name="Connector 28"/>
          <p:cNvCxnSpPr/>
          <p:nvPr/>
        </p:nvCxnSpPr>
        <p:spPr>
          <a:xfrm>
            <a:off x="4171696" y="1896887"/>
            <a:ext cx="0" cy="317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1" name="칸 본문"/>
          <p:cNvSpPr>
            <a:spLocks noGrp="1"/>
          </p:cNvSpPr>
          <p:nvPr>
            <p:ph type="body" sz="quarter" idx="35"/>
          </p:nvPr>
        </p:nvSpPr>
        <p:spPr>
          <a:xfrm>
            <a:off x="4653326" y="1864017"/>
            <a:ext cx="2331457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본사 중심 활동, 현장 반영 부족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현안과 단기 성과 집중</a:t>
            </a:r>
          </a:p>
        </p:txBody>
      </p:sp>
      <p:cxnSp>
        <p:nvCxnSpPr>
          <p:cNvPr id="42" name="Connector 30"/>
          <p:cNvCxnSpPr/>
          <p:nvPr/>
        </p:nvCxnSpPr>
        <p:spPr>
          <a:xfrm>
            <a:off x="4642370" y="1896887"/>
            <a:ext cx="0" cy="317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3" name="캡션 띠"/>
          <p:cNvSpPr/>
          <p:nvPr/>
        </p:nvSpPr>
        <p:spPr>
          <a:xfrm>
            <a:off x="723130" y="2420139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4" name="태그"/>
          <p:cNvSpPr/>
          <p:nvPr/>
        </p:nvSpPr>
        <p:spPr>
          <a:xfrm>
            <a:off x="1051826" y="2463965"/>
            <a:ext cx="438871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5" name="태그"/>
          <p:cNvSpPr>
            <a:spLocks noGrp="1"/>
          </p:cNvSpPr>
          <p:nvPr>
            <p:ph type="body" sz="quarter" idx="36"/>
          </p:nvPr>
        </p:nvSpPr>
        <p:spPr>
          <a:xfrm>
            <a:off x="1051826" y="2463965"/>
            <a:ext cx="438871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46" name="캡션"/>
          <p:cNvSpPr>
            <a:spLocks noGrp="1"/>
          </p:cNvSpPr>
          <p:nvPr>
            <p:ph type="body" sz="quarter" idx="37"/>
          </p:nvPr>
        </p:nvSpPr>
        <p:spPr>
          <a:xfrm>
            <a:off x="1545480" y="2420139"/>
            <a:ext cx="5258520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국민·구성원이 체감 가능한, 청렴위기 극복 위한 뼈를 깎는 노력 필요</a:t>
            </a:r>
          </a:p>
        </p:txBody>
      </p:sp>
      <p:sp>
        <p:nvSpPr>
          <p:cNvPr id="47" name="표 외곽"/>
          <p:cNvSpPr/>
          <p:nvPr/>
        </p:nvSpPr>
        <p:spPr>
          <a:xfrm>
            <a:off x="723130" y="2726922"/>
            <a:ext cx="6300000" cy="619043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8" name="레일"/>
          <p:cNvSpPr/>
          <p:nvPr/>
        </p:nvSpPr>
        <p:spPr>
          <a:xfrm>
            <a:off x="734087" y="2743357"/>
            <a:ext cx="580696" cy="586174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9" name="레일"/>
          <p:cNvSpPr>
            <a:spLocks noGrp="1"/>
          </p:cNvSpPr>
          <p:nvPr>
            <p:ph type="body" sz="quarter" idx="38"/>
          </p:nvPr>
        </p:nvSpPr>
        <p:spPr>
          <a:xfrm>
            <a:off x="734087" y="2743357"/>
            <a:ext cx="580696" cy="586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로 드 맵</a:t>
            </a:r>
          </a:p>
        </p:txBody>
      </p:sp>
      <p:sp>
        <p:nvSpPr>
          <p:cNvPr id="50" name="단계"/>
          <p:cNvSpPr/>
          <p:nvPr/>
        </p:nvSpPr>
        <p:spPr>
          <a:xfrm>
            <a:off x="1347652" y="2765270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1" name="단계"/>
          <p:cNvSpPr>
            <a:spLocks noGrp="1"/>
          </p:cNvSpPr>
          <p:nvPr>
            <p:ph type="body" sz="quarter" idx="39"/>
          </p:nvPr>
        </p:nvSpPr>
        <p:spPr>
          <a:xfrm>
            <a:off x="1347652" y="276527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윤리경영체계 고도화</a:t>
            </a:r>
          </a:p>
        </p:txBody>
      </p:sp>
      <p:sp>
        <p:nvSpPr>
          <p:cNvPr id="52" name="단계"/>
          <p:cNvSpPr/>
          <p:nvPr/>
        </p:nvSpPr>
        <p:spPr>
          <a:xfrm>
            <a:off x="3230348" y="2765270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3" name="단계"/>
          <p:cNvSpPr>
            <a:spLocks noGrp="1"/>
          </p:cNvSpPr>
          <p:nvPr>
            <p:ph type="body" sz="quarter" idx="40"/>
          </p:nvPr>
        </p:nvSpPr>
        <p:spPr>
          <a:xfrm>
            <a:off x="3230348" y="276527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공공 윤리경영 선도</a:t>
            </a:r>
          </a:p>
        </p:txBody>
      </p:sp>
      <p:sp>
        <p:nvSpPr>
          <p:cNvPr id="54" name="단계"/>
          <p:cNvSpPr/>
          <p:nvPr/>
        </p:nvSpPr>
        <p:spPr>
          <a:xfrm>
            <a:off x="5113043" y="2765270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5" name="단계"/>
          <p:cNvSpPr>
            <a:spLocks noGrp="1"/>
          </p:cNvSpPr>
          <p:nvPr>
            <p:ph type="body" sz="quarter" idx="41"/>
          </p:nvPr>
        </p:nvSpPr>
        <p:spPr>
          <a:xfrm>
            <a:off x="5113043" y="276527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’26년~ 지속가능한 윤리경영</a:t>
            </a:r>
          </a:p>
        </p:txBody>
      </p:sp>
      <p:sp>
        <p:nvSpPr>
          <p:cNvPr id="56" name="단계 삼각형"/>
          <p:cNvSpPr/>
          <p:nvPr/>
        </p:nvSpPr>
        <p:spPr>
          <a:xfrm>
            <a:off x="3230347" y="2765269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7" name="단계 삼각형"/>
          <p:cNvSpPr/>
          <p:nvPr/>
        </p:nvSpPr>
        <p:spPr>
          <a:xfrm>
            <a:off x="5113043" y="2765269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8" name="칸 본문"/>
          <p:cNvSpPr>
            <a:spLocks noGrp="1"/>
          </p:cNvSpPr>
          <p:nvPr>
            <p:ph type="body" sz="quarter" idx="42"/>
          </p:nvPr>
        </p:nvSpPr>
        <p:spPr>
          <a:xfrm>
            <a:off x="1358609" y="3017270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CEO 청렴혁신단 구성·운영</a:t>
            </a:r>
          </a:p>
        </p:txBody>
      </p:sp>
      <p:sp>
        <p:nvSpPr>
          <p:cNvPr id="59" name="칸 본문"/>
          <p:cNvSpPr>
            <a:spLocks noGrp="1"/>
          </p:cNvSpPr>
          <p:nvPr>
            <p:ph type="body" sz="quarter" idx="43"/>
          </p:nvPr>
        </p:nvSpPr>
        <p:spPr>
          <a:xfrm>
            <a:off x="3241304" y="3017270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내재화·확산, 디지털 내부통제</a:t>
            </a:r>
          </a:p>
        </p:txBody>
      </p:sp>
      <p:cxnSp>
        <p:nvCxnSpPr>
          <p:cNvPr id="60" name="Connector 43"/>
          <p:cNvCxnSpPr/>
          <p:nvPr/>
        </p:nvCxnSpPr>
        <p:spPr>
          <a:xfrm>
            <a:off x="3230348" y="3050139"/>
            <a:ext cx="0" cy="24104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1" name="칸 본문"/>
          <p:cNvSpPr>
            <a:spLocks noGrp="1"/>
          </p:cNvSpPr>
          <p:nvPr>
            <p:ph type="body" sz="quarter" idx="44"/>
          </p:nvPr>
        </p:nvSpPr>
        <p:spPr>
          <a:xfrm>
            <a:off x="5124000" y="3017270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청렴 최우수기업 지속</a:t>
            </a:r>
          </a:p>
        </p:txBody>
      </p:sp>
      <p:cxnSp>
        <p:nvCxnSpPr>
          <p:cNvPr id="62" name="Connector 45"/>
          <p:cNvCxnSpPr/>
          <p:nvPr/>
        </p:nvCxnSpPr>
        <p:spPr>
          <a:xfrm>
            <a:off x="5113043" y="3050139"/>
            <a:ext cx="0" cy="24104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3" name="삼각 화살표"/>
          <p:cNvSpPr/>
          <p:nvPr/>
        </p:nvSpPr>
        <p:spPr>
          <a:xfrm>
            <a:off x="4010086" y="3389791"/>
            <a:ext cx="350609" cy="142435"/>
          </a:xfrm>
          <a:custGeom>
            <a:avLst/>
            <a:gdLst/>
            <a:ahLst/>
            <a:cxnLst/>
            <a:rect l="l" t="t" r="r" b="b"/>
            <a:pathLst>
              <a:path w="350609" h="142435">
                <a:moveTo>
                  <a:pt x="0" y="0"/>
                </a:moveTo>
                <a:lnTo>
                  <a:pt x="350609" y="0"/>
                </a:lnTo>
                <a:lnTo>
                  <a:pt x="175305" y="142435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4" name="표 외곽"/>
          <p:cNvSpPr/>
          <p:nvPr/>
        </p:nvSpPr>
        <p:spPr>
          <a:xfrm>
            <a:off x="723130" y="3603443"/>
            <a:ext cx="6300000" cy="2327009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5" name="레일"/>
          <p:cNvSpPr/>
          <p:nvPr/>
        </p:nvSpPr>
        <p:spPr>
          <a:xfrm>
            <a:off x="734087" y="3619878"/>
            <a:ext cx="580696" cy="2534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6" name="레일"/>
          <p:cNvSpPr>
            <a:spLocks noGrp="1"/>
          </p:cNvSpPr>
          <p:nvPr>
            <p:ph type="body" sz="quarter" idx="45"/>
          </p:nvPr>
        </p:nvSpPr>
        <p:spPr>
          <a:xfrm>
            <a:off x="734087" y="3619878"/>
            <a:ext cx="580696" cy="2534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목 표</a:t>
            </a:r>
          </a:p>
        </p:txBody>
      </p:sp>
      <p:sp>
        <p:nvSpPr>
          <p:cNvPr id="67" name="배너"/>
          <p:cNvSpPr/>
          <p:nvPr/>
        </p:nvSpPr>
        <p:spPr>
          <a:xfrm>
            <a:off x="1347652" y="3641791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68" name="배너"/>
          <p:cNvSpPr>
            <a:spLocks noGrp="1"/>
          </p:cNvSpPr>
          <p:nvPr>
            <p:ph type="body" sz="quarter" idx="46"/>
          </p:nvPr>
        </p:nvSpPr>
        <p:spPr>
          <a:xfrm>
            <a:off x="1347652" y="3641791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최고수준의 청렴기관으로서 국민 눈높이에 부합하는 윤리경영 실천</a:t>
            </a:r>
          </a:p>
        </p:txBody>
      </p:sp>
      <p:sp>
        <p:nvSpPr>
          <p:cNvPr id="69" name="레일"/>
          <p:cNvSpPr/>
          <p:nvPr/>
        </p:nvSpPr>
        <p:spPr>
          <a:xfrm>
            <a:off x="734087" y="3889722"/>
            <a:ext cx="580696" cy="68478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0" name="레일"/>
          <p:cNvSpPr>
            <a:spLocks noGrp="1"/>
          </p:cNvSpPr>
          <p:nvPr>
            <p:ph type="body" sz="quarter" idx="47"/>
          </p:nvPr>
        </p:nvSpPr>
        <p:spPr>
          <a:xfrm>
            <a:off x="734087" y="3889722"/>
            <a:ext cx="580696" cy="684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추진과제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(표준모델)</a:t>
            </a:r>
          </a:p>
        </p:txBody>
      </p:sp>
      <p:sp>
        <p:nvSpPr>
          <p:cNvPr id="71" name="레일 삼각형"/>
          <p:cNvSpPr/>
          <p:nvPr/>
        </p:nvSpPr>
        <p:spPr>
          <a:xfrm>
            <a:off x="734086" y="3889721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2" name="머리칸"/>
          <p:cNvSpPr/>
          <p:nvPr/>
        </p:nvSpPr>
        <p:spPr>
          <a:xfrm>
            <a:off x="1347652" y="391163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3" name="머리칸"/>
          <p:cNvSpPr>
            <a:spLocks noGrp="1"/>
          </p:cNvSpPr>
          <p:nvPr>
            <p:ph type="body" sz="quarter" idx="48"/>
          </p:nvPr>
        </p:nvSpPr>
        <p:spPr>
          <a:xfrm>
            <a:off x="1347652" y="391163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① 청렴의식 내재화</a:t>
            </a:r>
          </a:p>
        </p:txBody>
      </p:sp>
      <p:sp>
        <p:nvSpPr>
          <p:cNvPr id="74" name="머리칸"/>
          <p:cNvSpPr/>
          <p:nvPr/>
        </p:nvSpPr>
        <p:spPr>
          <a:xfrm>
            <a:off x="3230348" y="391163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5" name="머리칸"/>
          <p:cNvSpPr>
            <a:spLocks noGrp="1"/>
          </p:cNvSpPr>
          <p:nvPr>
            <p:ph type="body" sz="quarter" idx="49"/>
          </p:nvPr>
        </p:nvSpPr>
        <p:spPr>
          <a:xfrm>
            <a:off x="3230348" y="391163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② 현장 중심 리스크관리</a:t>
            </a:r>
          </a:p>
        </p:txBody>
      </p:sp>
      <p:sp>
        <p:nvSpPr>
          <p:cNvPr id="76" name="머리칸"/>
          <p:cNvSpPr/>
          <p:nvPr/>
        </p:nvSpPr>
        <p:spPr>
          <a:xfrm>
            <a:off x="5113043" y="391163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7" name="머리칸"/>
          <p:cNvSpPr>
            <a:spLocks noGrp="1"/>
          </p:cNvSpPr>
          <p:nvPr>
            <p:ph type="body" sz="quarter" idx="50"/>
          </p:nvPr>
        </p:nvSpPr>
        <p:spPr>
          <a:xfrm>
            <a:off x="5113043" y="391163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③ 전문적 모니터링 체계</a:t>
            </a:r>
          </a:p>
        </p:txBody>
      </p:sp>
      <p:sp>
        <p:nvSpPr>
          <p:cNvPr id="78" name="칸 본문"/>
          <p:cNvSpPr>
            <a:spLocks noGrp="1"/>
          </p:cNvSpPr>
          <p:nvPr>
            <p:ph type="body" sz="quarter" idx="51"/>
          </p:nvPr>
        </p:nvSpPr>
        <p:spPr>
          <a:xfrm>
            <a:off x="1358609" y="4152678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의식확립 청렴의지 전사 전파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관리체계 본사·현장 협력 강화</a:t>
            </a:r>
          </a:p>
        </p:txBody>
      </p:sp>
      <p:sp>
        <p:nvSpPr>
          <p:cNvPr id="79" name="칸 본문"/>
          <p:cNvSpPr>
            <a:spLocks noGrp="1"/>
          </p:cNvSpPr>
          <p:nvPr>
            <p:ph type="body" sz="quarter" idx="52"/>
          </p:nvPr>
        </p:nvSpPr>
        <p:spPr>
          <a:xfrm>
            <a:off x="3241304" y="4152678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위험식별 현업 위험관리 확산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위험통제 고객체감 통제활동</a:t>
            </a:r>
          </a:p>
        </p:txBody>
      </p:sp>
      <p:cxnSp>
        <p:nvCxnSpPr>
          <p:cNvPr id="80" name="Connector 57"/>
          <p:cNvCxnSpPr/>
          <p:nvPr/>
        </p:nvCxnSpPr>
        <p:spPr>
          <a:xfrm>
            <a:off x="3230348" y="4185548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1" name="칸 본문"/>
          <p:cNvSpPr>
            <a:spLocks noGrp="1"/>
          </p:cNvSpPr>
          <p:nvPr>
            <p:ph type="body" sz="quarter" idx="53"/>
          </p:nvPr>
        </p:nvSpPr>
        <p:spPr>
          <a:xfrm>
            <a:off x="5124000" y="4152678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신고제도 내부신고 활성화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모니터링 AI 기술활용</a:t>
            </a:r>
          </a:p>
        </p:txBody>
      </p:sp>
      <p:cxnSp>
        <p:nvCxnSpPr>
          <p:cNvPr id="82" name="Connector 59"/>
          <p:cNvCxnSpPr/>
          <p:nvPr/>
        </p:nvCxnSpPr>
        <p:spPr>
          <a:xfrm>
            <a:off x="5113043" y="4185548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3" name="레일"/>
          <p:cNvSpPr/>
          <p:nvPr/>
        </p:nvSpPr>
        <p:spPr>
          <a:xfrm>
            <a:off x="734087" y="4590939"/>
            <a:ext cx="580696" cy="68478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84" name="레일"/>
          <p:cNvSpPr>
            <a:spLocks noGrp="1"/>
          </p:cNvSpPr>
          <p:nvPr>
            <p:ph type="body" sz="quarter" idx="54"/>
          </p:nvPr>
        </p:nvSpPr>
        <p:spPr>
          <a:xfrm>
            <a:off x="734087" y="4590939"/>
            <a:ext cx="580696" cy="684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추진체계</a:t>
            </a:r>
          </a:p>
        </p:txBody>
      </p:sp>
      <p:sp>
        <p:nvSpPr>
          <p:cNvPr id="85" name="머리칸"/>
          <p:cNvSpPr/>
          <p:nvPr/>
        </p:nvSpPr>
        <p:spPr>
          <a:xfrm>
            <a:off x="1347652" y="461285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86" name="머리칸"/>
          <p:cNvSpPr>
            <a:spLocks noGrp="1"/>
          </p:cNvSpPr>
          <p:nvPr>
            <p:ph type="body" sz="quarter" idx="55"/>
          </p:nvPr>
        </p:nvSpPr>
        <p:spPr>
          <a:xfrm>
            <a:off x="1347652" y="461285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청렴내부통제위원회</a:t>
            </a:r>
          </a:p>
        </p:txBody>
      </p:sp>
      <p:sp>
        <p:nvSpPr>
          <p:cNvPr id="87" name="머리칸"/>
          <p:cNvSpPr/>
          <p:nvPr/>
        </p:nvSpPr>
        <p:spPr>
          <a:xfrm>
            <a:off x="3230348" y="461285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88" name="머리칸"/>
          <p:cNvSpPr>
            <a:spLocks noGrp="1"/>
          </p:cNvSpPr>
          <p:nvPr>
            <p:ph type="body" sz="quarter" idx="56"/>
          </p:nvPr>
        </p:nvSpPr>
        <p:spPr>
          <a:xfrm>
            <a:off x="3230348" y="461285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청렴혁신 DRIVE 추진단</a:t>
            </a:r>
          </a:p>
        </p:txBody>
      </p:sp>
      <p:sp>
        <p:nvSpPr>
          <p:cNvPr id="89" name="머리칸"/>
          <p:cNvSpPr/>
          <p:nvPr/>
        </p:nvSpPr>
        <p:spPr>
          <a:xfrm>
            <a:off x="5113043" y="461285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90" name="머리칸"/>
          <p:cNvSpPr>
            <a:spLocks noGrp="1"/>
          </p:cNvSpPr>
          <p:nvPr>
            <p:ph type="body" sz="quarter" idx="57"/>
          </p:nvPr>
        </p:nvSpPr>
        <p:spPr>
          <a:xfrm>
            <a:off x="5113043" y="461285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내부통제 3단계 방어선</a:t>
            </a:r>
          </a:p>
        </p:txBody>
      </p:sp>
      <p:sp>
        <p:nvSpPr>
          <p:cNvPr id="91" name="칸 본문"/>
          <p:cNvSpPr>
            <a:spLocks noGrp="1"/>
          </p:cNvSpPr>
          <p:nvPr>
            <p:ph type="body" sz="quarter" idx="58"/>
          </p:nvPr>
        </p:nvSpPr>
        <p:spPr>
          <a:xfrm>
            <a:off x="1358609" y="4853896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윤리경영 최고 의사결정기구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CEO, 임원, 비상임이사 등</a:t>
            </a:r>
          </a:p>
        </p:txBody>
      </p:sp>
      <p:sp>
        <p:nvSpPr>
          <p:cNvPr id="92" name="칸 본문"/>
          <p:cNvSpPr>
            <a:spLocks noGrp="1"/>
          </p:cNvSpPr>
          <p:nvPr>
            <p:ph type="body" sz="quarter" idx="59"/>
          </p:nvPr>
        </p:nvSpPr>
        <p:spPr>
          <a:xfrm>
            <a:off x="3241304" y="4853896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청렴혁신활동 전사협의체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3개 분과 26개 개선과제 이행</a:t>
            </a:r>
          </a:p>
        </p:txBody>
      </p:sp>
      <p:cxnSp>
        <p:nvCxnSpPr>
          <p:cNvPr id="93" name="Connector 66"/>
          <p:cNvCxnSpPr/>
          <p:nvPr/>
        </p:nvCxnSpPr>
        <p:spPr>
          <a:xfrm>
            <a:off x="3230348" y="4886765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94" name="칸 본문"/>
          <p:cNvSpPr>
            <a:spLocks noGrp="1"/>
          </p:cNvSpPr>
          <p:nvPr>
            <p:ph type="body" sz="quarter" idx="60"/>
          </p:nvPr>
        </p:nvSpPr>
        <p:spPr>
          <a:xfrm>
            <a:off x="5124000" y="4853896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1선 실무부서 자율점검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2선 통제부서 모니터링</a:t>
            </a:r>
          </a:p>
        </p:txBody>
      </p:sp>
      <p:cxnSp>
        <p:nvCxnSpPr>
          <p:cNvPr id="95" name="Connector 68"/>
          <p:cNvCxnSpPr/>
          <p:nvPr/>
        </p:nvCxnSpPr>
        <p:spPr>
          <a:xfrm>
            <a:off x="5113043" y="4886765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96" name="레일"/>
          <p:cNvSpPr/>
          <p:nvPr/>
        </p:nvSpPr>
        <p:spPr>
          <a:xfrm>
            <a:off x="734087" y="5292157"/>
            <a:ext cx="580696" cy="621861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97" name="레일"/>
          <p:cNvSpPr>
            <a:spLocks noGrp="1"/>
          </p:cNvSpPr>
          <p:nvPr>
            <p:ph type="body" sz="quarter" idx="61"/>
          </p:nvPr>
        </p:nvSpPr>
        <p:spPr>
          <a:xfrm>
            <a:off x="734087" y="5292157"/>
            <a:ext cx="580696" cy="6218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모니터링</a:t>
            </a:r>
          </a:p>
        </p:txBody>
      </p:sp>
      <p:sp>
        <p:nvSpPr>
          <p:cNvPr id="98" name="레일 삼각형"/>
          <p:cNvSpPr/>
          <p:nvPr/>
        </p:nvSpPr>
        <p:spPr>
          <a:xfrm>
            <a:off x="734086" y="5292156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99" name="단계"/>
          <p:cNvSpPr/>
          <p:nvPr/>
        </p:nvSpPr>
        <p:spPr>
          <a:xfrm>
            <a:off x="1347652" y="5314070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00" name="단계"/>
          <p:cNvSpPr>
            <a:spLocks noGrp="1"/>
          </p:cNvSpPr>
          <p:nvPr>
            <p:ph type="body" sz="quarter" idx="62"/>
          </p:nvPr>
        </p:nvSpPr>
        <p:spPr>
          <a:xfrm>
            <a:off x="1347652" y="531407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외부 협력·자문</a:t>
            </a:r>
          </a:p>
        </p:txBody>
      </p:sp>
      <p:sp>
        <p:nvSpPr>
          <p:cNvPr id="101" name="단계"/>
          <p:cNvSpPr/>
          <p:nvPr/>
        </p:nvSpPr>
        <p:spPr>
          <a:xfrm>
            <a:off x="3230348" y="5314070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02" name="단계"/>
          <p:cNvSpPr>
            <a:spLocks noGrp="1"/>
          </p:cNvSpPr>
          <p:nvPr>
            <p:ph type="body" sz="quarter" idx="63"/>
          </p:nvPr>
        </p:nvSpPr>
        <p:spPr>
          <a:xfrm>
            <a:off x="3230348" y="531407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내부 소통·확산</a:t>
            </a:r>
          </a:p>
        </p:txBody>
      </p:sp>
      <p:sp>
        <p:nvSpPr>
          <p:cNvPr id="103" name="단계"/>
          <p:cNvSpPr/>
          <p:nvPr/>
        </p:nvSpPr>
        <p:spPr>
          <a:xfrm>
            <a:off x="5113043" y="5314070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04" name="단계"/>
          <p:cNvSpPr>
            <a:spLocks noGrp="1"/>
          </p:cNvSpPr>
          <p:nvPr>
            <p:ph type="body" sz="quarter" idx="64"/>
          </p:nvPr>
        </p:nvSpPr>
        <p:spPr>
          <a:xfrm>
            <a:off x="5113043" y="531407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진단 및 환류</a:t>
            </a:r>
          </a:p>
        </p:txBody>
      </p:sp>
      <p:sp>
        <p:nvSpPr>
          <p:cNvPr id="105" name="단계 삼각형"/>
          <p:cNvSpPr/>
          <p:nvPr/>
        </p:nvSpPr>
        <p:spPr>
          <a:xfrm>
            <a:off x="3230347" y="5314069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06" name="단계 삼각형"/>
          <p:cNvSpPr/>
          <p:nvPr/>
        </p:nvSpPr>
        <p:spPr>
          <a:xfrm>
            <a:off x="5113043" y="5314069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07" name="칸 본문"/>
          <p:cNvSpPr>
            <a:spLocks noGrp="1"/>
          </p:cNvSpPr>
          <p:nvPr>
            <p:ph type="body" sz="quarter" idx="65"/>
          </p:nvPr>
        </p:nvSpPr>
        <p:spPr>
          <a:xfrm>
            <a:off x="1358609" y="5566070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공기업 청렴협의회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청렴시민감사관</a:t>
            </a:r>
          </a:p>
        </p:txBody>
      </p:sp>
      <p:sp>
        <p:nvSpPr>
          <p:cNvPr id="108" name="칸 본문"/>
          <p:cNvSpPr>
            <a:spLocks noGrp="1"/>
          </p:cNvSpPr>
          <p:nvPr>
            <p:ph type="body" sz="quarter" idx="66"/>
          </p:nvPr>
        </p:nvSpPr>
        <p:spPr>
          <a:xfrm>
            <a:off x="3241304" y="5566070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청렴 프로모터 활동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고충 모니터링 담당</a:t>
            </a:r>
          </a:p>
        </p:txBody>
      </p:sp>
      <p:cxnSp>
        <p:nvCxnSpPr>
          <p:cNvPr id="109" name="Connector 78"/>
          <p:cNvCxnSpPr/>
          <p:nvPr/>
        </p:nvCxnSpPr>
        <p:spPr>
          <a:xfrm>
            <a:off x="3230348" y="5598939"/>
            <a:ext cx="0" cy="2767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10" name="칸 본문"/>
          <p:cNvSpPr>
            <a:spLocks noGrp="1"/>
          </p:cNvSpPr>
          <p:nvPr>
            <p:ph type="body" sz="quarter" idx="67"/>
          </p:nvPr>
        </p:nvSpPr>
        <p:spPr>
          <a:xfrm>
            <a:off x="5124000" y="5566070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 청렴도 평가, 전문가 자문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 윤리자수, 상위직 청렴도</a:t>
            </a:r>
          </a:p>
        </p:txBody>
      </p:sp>
      <p:cxnSp>
        <p:nvCxnSpPr>
          <p:cNvPr id="111" name="Connector 80"/>
          <p:cNvCxnSpPr/>
          <p:nvPr/>
        </p:nvCxnSpPr>
        <p:spPr>
          <a:xfrm>
            <a:off x="5113043" y="5598939"/>
            <a:ext cx="0" cy="2767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12" name="틀"/>
          <p:cNvSpPr/>
          <p:nvPr/>
        </p:nvSpPr>
        <p:spPr>
          <a:xfrm>
            <a:off x="723130" y="5996191"/>
            <a:ext cx="6300000" cy="1051826"/>
          </a:xfrm>
          <a:prstGeom prst="rect">
            <a:avLst/>
          </a:prstGeom>
          <a:solidFill>
            <a:srgbClr val="FFFFFF"/>
          </a:solidFill>
          <a:ln w="12700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3" name="성과 라벨"/>
          <p:cNvSpPr/>
          <p:nvPr/>
        </p:nvSpPr>
        <p:spPr>
          <a:xfrm>
            <a:off x="734087" y="6007148"/>
            <a:ext cx="580696" cy="1029913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114" name="성과 라벨"/>
          <p:cNvSpPr>
            <a:spLocks noGrp="1"/>
          </p:cNvSpPr>
          <p:nvPr>
            <p:ph type="body" sz="quarter" idx="68"/>
          </p:nvPr>
        </p:nvSpPr>
        <p:spPr>
          <a:xfrm>
            <a:off x="734087" y="6007148"/>
            <a:ext cx="580696" cy="10299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종합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성과</a:t>
            </a:r>
          </a:p>
        </p:txBody>
      </p:sp>
      <p:sp>
        <p:nvSpPr>
          <p:cNvPr id="115" name="성과 띠"/>
          <p:cNvSpPr/>
          <p:nvPr/>
        </p:nvSpPr>
        <p:spPr>
          <a:xfrm>
            <a:off x="1358609" y="6029061"/>
            <a:ext cx="5631652" cy="20817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116" name="성과 띠"/>
          <p:cNvSpPr>
            <a:spLocks noGrp="1"/>
          </p:cNvSpPr>
          <p:nvPr>
            <p:ph type="body" sz="quarter" idx="69"/>
          </p:nvPr>
        </p:nvSpPr>
        <p:spPr>
          <a:xfrm>
            <a:off x="1358609" y="6029061"/>
            <a:ext cx="5631652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강도 높은 노력으로 ’25년 종합청렴도 역대 최고 점수, 최초 1등급 결실</a:t>
            </a:r>
          </a:p>
        </p:txBody>
      </p:sp>
      <p:sp>
        <p:nvSpPr>
          <p:cNvPr id="117" name="카드"/>
          <p:cNvSpPr/>
          <p:nvPr/>
        </p:nvSpPr>
        <p:spPr>
          <a:xfrm>
            <a:off x="1358609" y="6270104"/>
            <a:ext cx="1848000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8" name="카드 문구"/>
          <p:cNvSpPr>
            <a:spLocks noGrp="1"/>
          </p:cNvSpPr>
          <p:nvPr>
            <p:ph type="body" sz="quarter" idx="70"/>
          </p:nvPr>
        </p:nvSpPr>
        <p:spPr>
          <a:xfrm>
            <a:off x="1380522" y="6281061"/>
            <a:ext cx="828167" cy="72313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종합청렴도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최초 1등급</a:t>
            </a:r>
          </a:p>
        </p:txBody>
      </p:sp>
      <p:sp>
        <p:nvSpPr>
          <p:cNvPr id="119" name="막대"/>
          <p:cNvSpPr/>
          <p:nvPr/>
        </p:nvSpPr>
        <p:spPr>
          <a:xfrm>
            <a:off x="2263471" y="6664063"/>
            <a:ext cx="164348" cy="197694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20" name="값"/>
          <p:cNvSpPr>
            <a:spLocks noGrp="1"/>
          </p:cNvSpPr>
          <p:nvPr>
            <p:ph type="body" sz="quarter" idx="71"/>
          </p:nvPr>
        </p:nvSpPr>
        <p:spPr>
          <a:xfrm>
            <a:off x="2175819" y="6488758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83.3점</a:t>
            </a:r>
          </a:p>
        </p:txBody>
      </p:sp>
      <p:sp>
        <p:nvSpPr>
          <p:cNvPr id="121" name="연도"/>
          <p:cNvSpPr>
            <a:spLocks noGrp="1"/>
          </p:cNvSpPr>
          <p:nvPr>
            <p:ph type="body" sz="quarter" idx="72"/>
          </p:nvPr>
        </p:nvSpPr>
        <p:spPr>
          <a:xfrm>
            <a:off x="2175819" y="6872713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’23</a:t>
            </a:r>
          </a:p>
        </p:txBody>
      </p:sp>
      <p:sp>
        <p:nvSpPr>
          <p:cNvPr id="122" name="막대"/>
          <p:cNvSpPr/>
          <p:nvPr/>
        </p:nvSpPr>
        <p:spPr>
          <a:xfrm>
            <a:off x="2559590" y="6652153"/>
            <a:ext cx="164348" cy="209603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23" name="값"/>
          <p:cNvSpPr>
            <a:spLocks noGrp="1"/>
          </p:cNvSpPr>
          <p:nvPr>
            <p:ph type="body" sz="quarter" idx="73"/>
          </p:nvPr>
        </p:nvSpPr>
        <p:spPr>
          <a:xfrm>
            <a:off x="2471937" y="6476849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88.1점</a:t>
            </a:r>
          </a:p>
        </p:txBody>
      </p:sp>
      <p:sp>
        <p:nvSpPr>
          <p:cNvPr id="124" name="연도"/>
          <p:cNvSpPr>
            <a:spLocks noGrp="1"/>
          </p:cNvSpPr>
          <p:nvPr>
            <p:ph type="body" sz="quarter" idx="74"/>
          </p:nvPr>
        </p:nvSpPr>
        <p:spPr>
          <a:xfrm>
            <a:off x="2471937" y="6872713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125" name="막대"/>
          <p:cNvSpPr/>
          <p:nvPr/>
        </p:nvSpPr>
        <p:spPr>
          <a:xfrm>
            <a:off x="2855708" y="6642626"/>
            <a:ext cx="164348" cy="219130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26" name="값"/>
          <p:cNvSpPr>
            <a:spLocks noGrp="1"/>
          </p:cNvSpPr>
          <p:nvPr>
            <p:ph type="body" sz="quarter" idx="75"/>
          </p:nvPr>
        </p:nvSpPr>
        <p:spPr>
          <a:xfrm>
            <a:off x="2768056" y="6467322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92.2점</a:t>
            </a:r>
          </a:p>
        </p:txBody>
      </p:sp>
      <p:sp>
        <p:nvSpPr>
          <p:cNvPr id="127" name="연도"/>
          <p:cNvSpPr>
            <a:spLocks noGrp="1"/>
          </p:cNvSpPr>
          <p:nvPr>
            <p:ph type="body" sz="quarter" idx="76"/>
          </p:nvPr>
        </p:nvSpPr>
        <p:spPr>
          <a:xfrm>
            <a:off x="2768056" y="6872713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128" name="카드"/>
          <p:cNvSpPr/>
          <p:nvPr/>
        </p:nvSpPr>
        <p:spPr>
          <a:xfrm>
            <a:off x="3250435" y="6270104"/>
            <a:ext cx="1848000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29" name="카드 문구"/>
          <p:cNvSpPr>
            <a:spLocks noGrp="1"/>
          </p:cNvSpPr>
          <p:nvPr>
            <p:ph type="body" sz="quarter" idx="77"/>
          </p:nvPr>
        </p:nvSpPr>
        <p:spPr>
          <a:xfrm>
            <a:off x="3272348" y="6281061"/>
            <a:ext cx="828167" cy="72313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청렴체감도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공기업 유일 1등급</a:t>
            </a:r>
          </a:p>
        </p:txBody>
      </p:sp>
      <p:sp>
        <p:nvSpPr>
          <p:cNvPr id="130" name="막대"/>
          <p:cNvSpPr/>
          <p:nvPr/>
        </p:nvSpPr>
        <p:spPr>
          <a:xfrm>
            <a:off x="4155297" y="6661681"/>
            <a:ext cx="164348" cy="200076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31" name="값"/>
          <p:cNvSpPr>
            <a:spLocks noGrp="1"/>
          </p:cNvSpPr>
          <p:nvPr>
            <p:ph type="body" sz="quarter" idx="78"/>
          </p:nvPr>
        </p:nvSpPr>
        <p:spPr>
          <a:xfrm>
            <a:off x="4067645" y="6486377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84.0점</a:t>
            </a:r>
          </a:p>
        </p:txBody>
      </p:sp>
      <p:sp>
        <p:nvSpPr>
          <p:cNvPr id="132" name="연도"/>
          <p:cNvSpPr>
            <a:spLocks noGrp="1"/>
          </p:cNvSpPr>
          <p:nvPr>
            <p:ph type="body" sz="quarter" idx="79"/>
          </p:nvPr>
        </p:nvSpPr>
        <p:spPr>
          <a:xfrm>
            <a:off x="4067645" y="6872713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’23</a:t>
            </a:r>
          </a:p>
        </p:txBody>
      </p:sp>
      <p:sp>
        <p:nvSpPr>
          <p:cNvPr id="133" name="막대"/>
          <p:cNvSpPr/>
          <p:nvPr/>
        </p:nvSpPr>
        <p:spPr>
          <a:xfrm>
            <a:off x="4451416" y="6659299"/>
            <a:ext cx="164348" cy="20245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34" name="값"/>
          <p:cNvSpPr>
            <a:spLocks noGrp="1"/>
          </p:cNvSpPr>
          <p:nvPr>
            <p:ph type="body" sz="quarter" idx="80"/>
          </p:nvPr>
        </p:nvSpPr>
        <p:spPr>
          <a:xfrm>
            <a:off x="4363763" y="6483995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85.1점</a:t>
            </a:r>
          </a:p>
        </p:txBody>
      </p:sp>
      <p:sp>
        <p:nvSpPr>
          <p:cNvPr id="135" name="연도"/>
          <p:cNvSpPr>
            <a:spLocks noGrp="1"/>
          </p:cNvSpPr>
          <p:nvPr>
            <p:ph type="body" sz="quarter" idx="81"/>
          </p:nvPr>
        </p:nvSpPr>
        <p:spPr>
          <a:xfrm>
            <a:off x="4363763" y="6872713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136" name="막대"/>
          <p:cNvSpPr/>
          <p:nvPr/>
        </p:nvSpPr>
        <p:spPr>
          <a:xfrm>
            <a:off x="4747534" y="6642626"/>
            <a:ext cx="164348" cy="219130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37" name="값"/>
          <p:cNvSpPr>
            <a:spLocks noGrp="1"/>
          </p:cNvSpPr>
          <p:nvPr>
            <p:ph type="body" sz="quarter" idx="82"/>
          </p:nvPr>
        </p:nvSpPr>
        <p:spPr>
          <a:xfrm>
            <a:off x="4659882" y="6467322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91.6점</a:t>
            </a:r>
          </a:p>
        </p:txBody>
      </p:sp>
      <p:sp>
        <p:nvSpPr>
          <p:cNvPr id="138" name="연도"/>
          <p:cNvSpPr>
            <a:spLocks noGrp="1"/>
          </p:cNvSpPr>
          <p:nvPr>
            <p:ph type="body" sz="quarter" idx="83"/>
          </p:nvPr>
        </p:nvSpPr>
        <p:spPr>
          <a:xfrm>
            <a:off x="4659882" y="6872713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139" name="카드"/>
          <p:cNvSpPr/>
          <p:nvPr/>
        </p:nvSpPr>
        <p:spPr>
          <a:xfrm>
            <a:off x="5142261" y="6270104"/>
            <a:ext cx="1848000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0" name="카드 문구"/>
          <p:cNvSpPr>
            <a:spLocks noGrp="1"/>
          </p:cNvSpPr>
          <p:nvPr>
            <p:ph type="body" sz="quarter" idx="84"/>
          </p:nvPr>
        </p:nvSpPr>
        <p:spPr>
          <a:xfrm>
            <a:off x="5164174" y="6281061"/>
            <a:ext cx="1826087" cy="72313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외부기관 부패적발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2년 연속 Zero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33 서사 · 경영진 의지 → 전직원 확산 → 추진성과(막대 카드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CEO의 윤리의지가 전사에 스며들고, 실행되도록 추진력 확보</a:t>
            </a:r>
          </a:p>
        </p:txBody>
      </p:sp>
      <p:sp>
        <p:nvSpPr>
          <p:cNvPr id="15" name="번호"/>
          <p:cNvSpPr>
            <a:spLocks noGrp="1"/>
          </p:cNvSpPr>
          <p:nvPr>
            <p:ph type="body" sz="quarter" idx="22"/>
          </p:nvPr>
        </p:nvSpPr>
        <p:spPr>
          <a:xfrm>
            <a:off x="536870" y="1194261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16" name="분야 박스"/>
          <p:cNvSpPr/>
          <p:nvPr/>
        </p:nvSpPr>
        <p:spPr>
          <a:xfrm>
            <a:off x="766390" y="1227130"/>
            <a:ext cx="592466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분야 박스"/>
          <p:cNvSpPr>
            <a:spLocks noGrp="1"/>
          </p:cNvSpPr>
          <p:nvPr>
            <p:ph type="body" sz="quarter" idx="23"/>
          </p:nvPr>
        </p:nvSpPr>
        <p:spPr>
          <a:xfrm>
            <a:off x="766390" y="1227130"/>
            <a:ext cx="59246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의식확립</a:t>
            </a:r>
          </a:p>
        </p:txBody>
      </p:sp>
      <p:sp>
        <p:nvSpPr>
          <p:cNvPr id="18" name="형광 밑줄"/>
          <p:cNvSpPr/>
          <p:nvPr/>
        </p:nvSpPr>
        <p:spPr>
          <a:xfrm>
            <a:off x="1424595" y="1347652"/>
            <a:ext cx="3479213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소제목"/>
          <p:cNvSpPr>
            <a:spLocks noGrp="1"/>
          </p:cNvSpPr>
          <p:nvPr>
            <p:ph type="body" sz="quarter" idx="24"/>
          </p:nvPr>
        </p:nvSpPr>
        <p:spPr>
          <a:xfrm>
            <a:off x="1424595" y="1194261"/>
            <a:ext cx="5412275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선언적 구호 탈피, ‘CEO＋청렴 프로모터’가 전사 공감 형성</a:t>
            </a:r>
          </a:p>
        </p:txBody>
      </p:sp>
      <p:sp>
        <p:nvSpPr>
          <p:cNvPr id="20" name="태그칩"/>
          <p:cNvSpPr/>
          <p:nvPr/>
        </p:nvSpPr>
        <p:spPr>
          <a:xfrm>
            <a:off x="5002416" y="1227130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태그칩"/>
          <p:cNvSpPr>
            <a:spLocks noGrp="1"/>
          </p:cNvSpPr>
          <p:nvPr>
            <p:ph type="body" sz="quarter" idx="25"/>
          </p:nvPr>
        </p:nvSpPr>
        <p:spPr>
          <a:xfrm>
            <a:off x="5002416" y="1227130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22" name="태그칩"/>
          <p:cNvSpPr/>
          <p:nvPr/>
        </p:nvSpPr>
        <p:spPr>
          <a:xfrm>
            <a:off x="5553537" y="1227130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3" name="태그칩"/>
          <p:cNvSpPr>
            <a:spLocks noGrp="1"/>
          </p:cNvSpPr>
          <p:nvPr>
            <p:ph type="body" sz="quarter" idx="26"/>
          </p:nvPr>
        </p:nvSpPr>
        <p:spPr>
          <a:xfrm>
            <a:off x="5553537" y="1227130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24" name="표 외곽"/>
          <p:cNvSpPr/>
          <p:nvPr/>
        </p:nvSpPr>
        <p:spPr>
          <a:xfrm>
            <a:off x="536870" y="1479130"/>
            <a:ext cx="6300000" cy="201600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5" name="레일"/>
          <p:cNvSpPr/>
          <p:nvPr/>
        </p:nvSpPr>
        <p:spPr>
          <a:xfrm>
            <a:off x="547826" y="1495565"/>
            <a:ext cx="580696" cy="909391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6" name="레일"/>
          <p:cNvSpPr>
            <a:spLocks noGrp="1"/>
          </p:cNvSpPr>
          <p:nvPr>
            <p:ph type="body" sz="quarter" idx="27"/>
          </p:nvPr>
        </p:nvSpPr>
        <p:spPr>
          <a:xfrm>
            <a:off x="547826" y="1495565"/>
            <a:ext cx="580696" cy="90939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경영진의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강력한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의지가</a:t>
            </a:r>
          </a:p>
        </p:txBody>
      </p:sp>
      <p:sp>
        <p:nvSpPr>
          <p:cNvPr id="27" name="머리칸"/>
          <p:cNvSpPr/>
          <p:nvPr/>
        </p:nvSpPr>
        <p:spPr>
          <a:xfrm>
            <a:off x="1161391" y="1517478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8" name="머리칸"/>
          <p:cNvSpPr>
            <a:spLocks noGrp="1"/>
          </p:cNvSpPr>
          <p:nvPr>
            <p:ph type="body" sz="quarter" idx="28"/>
          </p:nvPr>
        </p:nvSpPr>
        <p:spPr>
          <a:xfrm>
            <a:off x="1161391" y="1517478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CEO 의지 표명과 지원</a:t>
            </a:r>
          </a:p>
        </p:txBody>
      </p:sp>
      <p:sp>
        <p:nvSpPr>
          <p:cNvPr id="29" name="머리칸"/>
          <p:cNvSpPr/>
          <p:nvPr/>
        </p:nvSpPr>
        <p:spPr>
          <a:xfrm>
            <a:off x="3985435" y="1517478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0" name="머리칸"/>
          <p:cNvSpPr>
            <a:spLocks noGrp="1"/>
          </p:cNvSpPr>
          <p:nvPr>
            <p:ph type="body" sz="quarter" idx="29"/>
          </p:nvPr>
        </p:nvSpPr>
        <p:spPr>
          <a:xfrm>
            <a:off x="3985435" y="1517478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상위직 특별 교육 및 규정 강화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1172348" y="1758522"/>
            <a:ext cx="2802130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“청렴과 안전 최우선 가치로…”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“솔선수범”(전사회의)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1"/>
          </p:nvPr>
        </p:nvSpPr>
        <p:spPr>
          <a:xfrm>
            <a:off x="3996391" y="1758522"/>
            <a:ext cx="2802130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특강 확대(연 1회→연 2회)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직무청렴계약 규정 개정 추진중</a:t>
            </a:r>
          </a:p>
        </p:txBody>
      </p:sp>
      <p:cxnSp>
        <p:nvCxnSpPr>
          <p:cNvPr id="33" name="Connector 23"/>
          <p:cNvCxnSpPr/>
          <p:nvPr/>
        </p:nvCxnSpPr>
        <p:spPr>
          <a:xfrm>
            <a:off x="3985435" y="1791391"/>
            <a:ext cx="0" cy="317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4" name="칸 본문"/>
          <p:cNvSpPr>
            <a:spLocks noGrp="1"/>
          </p:cNvSpPr>
          <p:nvPr>
            <p:ph type="body" sz="quarter" idx="32"/>
          </p:nvPr>
        </p:nvSpPr>
        <p:spPr>
          <a:xfrm>
            <a:off x="1172348" y="2158435"/>
            <a:ext cx="2802130" cy="241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청렴실천 확산 노사 공동 핵심가치 선언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3"/>
          </p:nvPr>
        </p:nvSpPr>
        <p:spPr>
          <a:xfrm>
            <a:off x="3996391" y="2158435"/>
            <a:ext cx="2802130" cy="241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상위직 청렴의무 위반 징계 Zero</a:t>
            </a:r>
          </a:p>
        </p:txBody>
      </p:sp>
      <p:cxnSp>
        <p:nvCxnSpPr>
          <p:cNvPr id="36" name="Connector 26"/>
          <p:cNvCxnSpPr/>
          <p:nvPr/>
        </p:nvCxnSpPr>
        <p:spPr>
          <a:xfrm>
            <a:off x="3985435" y="2191304"/>
            <a:ext cx="0" cy="17530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7" name="레일"/>
          <p:cNvSpPr/>
          <p:nvPr/>
        </p:nvSpPr>
        <p:spPr>
          <a:xfrm>
            <a:off x="547826" y="2421391"/>
            <a:ext cx="580696" cy="1057304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8" name="레일"/>
          <p:cNvSpPr>
            <a:spLocks noGrp="1"/>
          </p:cNvSpPr>
          <p:nvPr>
            <p:ph type="body" sz="quarter" idx="34"/>
          </p:nvPr>
        </p:nvSpPr>
        <p:spPr>
          <a:xfrm>
            <a:off x="547826" y="2421391"/>
            <a:ext cx="580696" cy="1057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전직원에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닿도록</a:t>
            </a:r>
          </a:p>
        </p:txBody>
      </p:sp>
      <p:sp>
        <p:nvSpPr>
          <p:cNvPr id="39" name="레일 삼각형"/>
          <p:cNvSpPr/>
          <p:nvPr/>
        </p:nvSpPr>
        <p:spPr>
          <a:xfrm>
            <a:off x="547826" y="2421391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0" name="배너"/>
          <p:cNvSpPr/>
          <p:nvPr/>
        </p:nvSpPr>
        <p:spPr>
          <a:xfrm>
            <a:off x="1161391" y="2443304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1" name="배너"/>
          <p:cNvSpPr>
            <a:spLocks noGrp="1"/>
          </p:cNvSpPr>
          <p:nvPr>
            <p:ph type="body" sz="quarter" idx="35"/>
          </p:nvPr>
        </p:nvSpPr>
        <p:spPr>
          <a:xfrm>
            <a:off x="1161391" y="2443304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워킹그룹 ‘청렴 프로모터’ 출범, 전국 곳곳으로 의지·개선과제 전파</a:t>
            </a:r>
          </a:p>
        </p:txBody>
      </p:sp>
      <p:sp>
        <p:nvSpPr>
          <p:cNvPr id="42" name="단계"/>
          <p:cNvSpPr/>
          <p:nvPr/>
        </p:nvSpPr>
        <p:spPr>
          <a:xfrm>
            <a:off x="1161391" y="2678870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3" name="단계"/>
          <p:cNvSpPr>
            <a:spLocks noGrp="1"/>
          </p:cNvSpPr>
          <p:nvPr>
            <p:ph type="body" sz="quarter" idx="36"/>
          </p:nvPr>
        </p:nvSpPr>
        <p:spPr>
          <a:xfrm>
            <a:off x="1161391" y="267887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직원 참여</a:t>
            </a:r>
          </a:p>
        </p:txBody>
      </p:sp>
      <p:sp>
        <p:nvSpPr>
          <p:cNvPr id="44" name="단계"/>
          <p:cNvSpPr/>
          <p:nvPr/>
        </p:nvSpPr>
        <p:spPr>
          <a:xfrm>
            <a:off x="3044087" y="2678870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5" name="단계"/>
          <p:cNvSpPr>
            <a:spLocks noGrp="1"/>
          </p:cNvSpPr>
          <p:nvPr>
            <p:ph type="body" sz="quarter" idx="37"/>
          </p:nvPr>
        </p:nvSpPr>
        <p:spPr>
          <a:xfrm>
            <a:off x="3044087" y="267887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필요한 교육</a:t>
            </a:r>
          </a:p>
        </p:txBody>
      </p:sp>
      <p:sp>
        <p:nvSpPr>
          <p:cNvPr id="46" name="단계"/>
          <p:cNvSpPr/>
          <p:nvPr/>
        </p:nvSpPr>
        <p:spPr>
          <a:xfrm>
            <a:off x="4926783" y="2678870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7" name="단계"/>
          <p:cNvSpPr>
            <a:spLocks noGrp="1"/>
          </p:cNvSpPr>
          <p:nvPr>
            <p:ph type="body" sz="quarter" idx="38"/>
          </p:nvPr>
        </p:nvSpPr>
        <p:spPr>
          <a:xfrm>
            <a:off x="4926783" y="267887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공감 소통</a:t>
            </a:r>
          </a:p>
        </p:txBody>
      </p:sp>
      <p:sp>
        <p:nvSpPr>
          <p:cNvPr id="48" name="단계 삼각형"/>
          <p:cNvSpPr/>
          <p:nvPr/>
        </p:nvSpPr>
        <p:spPr>
          <a:xfrm>
            <a:off x="3044086" y="2678869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9" name="단계 삼각형"/>
          <p:cNvSpPr/>
          <p:nvPr/>
        </p:nvSpPr>
        <p:spPr>
          <a:xfrm>
            <a:off x="4926782" y="2678869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0" name="칸 본문"/>
          <p:cNvSpPr>
            <a:spLocks noGrp="1"/>
          </p:cNvSpPr>
          <p:nvPr>
            <p:ph type="body" sz="quarter" idx="39"/>
          </p:nvPr>
        </p:nvSpPr>
        <p:spPr>
          <a:xfrm>
            <a:off x="1172348" y="2930870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‘우리부서 청렴 루틴’ 도출</a:t>
            </a:r>
          </a:p>
        </p:txBody>
      </p:sp>
      <p:sp>
        <p:nvSpPr>
          <p:cNvPr id="51" name="칸 본문"/>
          <p:cNvSpPr>
            <a:spLocks noGrp="1"/>
          </p:cNvSpPr>
          <p:nvPr>
            <p:ph type="body" sz="quarter" idx="40"/>
          </p:nvPr>
        </p:nvSpPr>
        <p:spPr>
          <a:xfrm>
            <a:off x="3055043" y="2930870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직군·직급별 맞춤형 교육</a:t>
            </a:r>
          </a:p>
        </p:txBody>
      </p:sp>
      <p:cxnSp>
        <p:nvCxnSpPr>
          <p:cNvPr id="52" name="Connector 37"/>
          <p:cNvCxnSpPr/>
          <p:nvPr/>
        </p:nvCxnSpPr>
        <p:spPr>
          <a:xfrm>
            <a:off x="3044087" y="2963739"/>
            <a:ext cx="0" cy="24104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3" name="칸 본문"/>
          <p:cNvSpPr>
            <a:spLocks noGrp="1"/>
          </p:cNvSpPr>
          <p:nvPr>
            <p:ph type="body" sz="quarter" idx="41"/>
          </p:nvPr>
        </p:nvSpPr>
        <p:spPr>
          <a:xfrm>
            <a:off x="4937739" y="2930870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다양한 직급 직접 소통</a:t>
            </a:r>
          </a:p>
        </p:txBody>
      </p:sp>
      <p:cxnSp>
        <p:nvCxnSpPr>
          <p:cNvPr id="54" name="Connector 39"/>
          <p:cNvCxnSpPr/>
          <p:nvPr/>
        </p:nvCxnSpPr>
        <p:spPr>
          <a:xfrm>
            <a:off x="4926783" y="2963739"/>
            <a:ext cx="0" cy="24104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5" name="배너"/>
          <p:cNvSpPr/>
          <p:nvPr/>
        </p:nvSpPr>
        <p:spPr>
          <a:xfrm>
            <a:off x="1161391" y="3254087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56" name="배너"/>
          <p:cNvSpPr>
            <a:spLocks noGrp="1"/>
          </p:cNvSpPr>
          <p:nvPr>
            <p:ph type="body" sz="quarter" idx="42"/>
          </p:nvPr>
        </p:nvSpPr>
        <p:spPr>
          <a:xfrm>
            <a:off x="1161391" y="3254087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“같은 업무고민을 하는 직원이 청렴교육을 하니 더욱 와닿아” – 사후설문 응답</a:t>
            </a:r>
          </a:p>
        </p:txBody>
      </p:sp>
      <p:sp>
        <p:nvSpPr>
          <p:cNvPr id="57" name="틀"/>
          <p:cNvSpPr/>
          <p:nvPr/>
        </p:nvSpPr>
        <p:spPr>
          <a:xfrm>
            <a:off x="536870" y="3560870"/>
            <a:ext cx="6300000" cy="1051826"/>
          </a:xfrm>
          <a:prstGeom prst="rect">
            <a:avLst/>
          </a:prstGeom>
          <a:solidFill>
            <a:srgbClr val="FFFFFF"/>
          </a:solidFill>
          <a:ln w="12700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8" name="성과 라벨"/>
          <p:cNvSpPr/>
          <p:nvPr/>
        </p:nvSpPr>
        <p:spPr>
          <a:xfrm>
            <a:off x="547826" y="3571826"/>
            <a:ext cx="580696" cy="1029913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59" name="성과 라벨"/>
          <p:cNvSpPr>
            <a:spLocks noGrp="1"/>
          </p:cNvSpPr>
          <p:nvPr>
            <p:ph type="body" sz="quarter" idx="43"/>
          </p:nvPr>
        </p:nvSpPr>
        <p:spPr>
          <a:xfrm>
            <a:off x="547826" y="3571826"/>
            <a:ext cx="580696" cy="10299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성과</a:t>
            </a:r>
          </a:p>
        </p:txBody>
      </p:sp>
      <p:sp>
        <p:nvSpPr>
          <p:cNvPr id="60" name="성과 띠"/>
          <p:cNvSpPr/>
          <p:nvPr/>
        </p:nvSpPr>
        <p:spPr>
          <a:xfrm>
            <a:off x="1172348" y="3593739"/>
            <a:ext cx="5631652" cy="20817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61" name="성과 띠"/>
          <p:cNvSpPr>
            <a:spLocks noGrp="1"/>
          </p:cNvSpPr>
          <p:nvPr>
            <p:ph type="body" sz="quarter" idx="44"/>
          </p:nvPr>
        </p:nvSpPr>
        <p:spPr>
          <a:xfrm>
            <a:off x="1172348" y="3593739"/>
            <a:ext cx="5631652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구성원 청렴 공감 형성으로 정부평가 우수 성과 획득</a:t>
            </a:r>
          </a:p>
        </p:txBody>
      </p:sp>
      <p:sp>
        <p:nvSpPr>
          <p:cNvPr id="62" name="카드"/>
          <p:cNvSpPr/>
          <p:nvPr/>
        </p:nvSpPr>
        <p:spPr>
          <a:xfrm>
            <a:off x="1172348" y="3834783"/>
            <a:ext cx="2793913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3" name="카드 문구"/>
          <p:cNvSpPr>
            <a:spLocks noGrp="1"/>
          </p:cNvSpPr>
          <p:nvPr>
            <p:ph type="body" sz="quarter" idx="45"/>
          </p:nvPr>
        </p:nvSpPr>
        <p:spPr>
          <a:xfrm>
            <a:off x="1194261" y="3845739"/>
            <a:ext cx="1263287" cy="72313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청렴노력도 평가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4등급 ➡ 1등급, 만점 획득</a:t>
            </a:r>
          </a:p>
        </p:txBody>
      </p:sp>
      <p:sp>
        <p:nvSpPr>
          <p:cNvPr id="64" name="막대"/>
          <p:cNvSpPr/>
          <p:nvPr/>
        </p:nvSpPr>
        <p:spPr>
          <a:xfrm>
            <a:off x="2512330" y="4316870"/>
            <a:ext cx="164348" cy="109565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5" name="값"/>
          <p:cNvSpPr>
            <a:spLocks noGrp="1"/>
          </p:cNvSpPr>
          <p:nvPr>
            <p:ph type="body" sz="quarter" idx="46"/>
          </p:nvPr>
        </p:nvSpPr>
        <p:spPr>
          <a:xfrm>
            <a:off x="2424678" y="4141565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4등급</a:t>
            </a:r>
          </a:p>
        </p:txBody>
      </p:sp>
      <p:sp>
        <p:nvSpPr>
          <p:cNvPr id="66" name="연도"/>
          <p:cNvSpPr>
            <a:spLocks noGrp="1"/>
          </p:cNvSpPr>
          <p:nvPr>
            <p:ph type="body" sz="quarter" idx="47"/>
          </p:nvPr>
        </p:nvSpPr>
        <p:spPr>
          <a:xfrm>
            <a:off x="2424678" y="4437391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67" name="막대"/>
          <p:cNvSpPr/>
          <p:nvPr/>
        </p:nvSpPr>
        <p:spPr>
          <a:xfrm>
            <a:off x="3211904" y="4207304"/>
            <a:ext cx="164348" cy="219130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8" name="값"/>
          <p:cNvSpPr>
            <a:spLocks noGrp="1"/>
          </p:cNvSpPr>
          <p:nvPr>
            <p:ph type="body" sz="quarter" idx="48"/>
          </p:nvPr>
        </p:nvSpPr>
        <p:spPr>
          <a:xfrm>
            <a:off x="3124252" y="4032000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1등급</a:t>
            </a:r>
          </a:p>
        </p:txBody>
      </p:sp>
      <p:sp>
        <p:nvSpPr>
          <p:cNvPr id="69" name="연도"/>
          <p:cNvSpPr>
            <a:spLocks noGrp="1"/>
          </p:cNvSpPr>
          <p:nvPr>
            <p:ph type="body" sz="quarter" idx="49"/>
          </p:nvPr>
        </p:nvSpPr>
        <p:spPr>
          <a:xfrm>
            <a:off x="3124252" y="4437391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70" name="카드"/>
          <p:cNvSpPr/>
          <p:nvPr/>
        </p:nvSpPr>
        <p:spPr>
          <a:xfrm>
            <a:off x="4010087" y="3834783"/>
            <a:ext cx="2793913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1" name="카드 문구"/>
          <p:cNvSpPr>
            <a:spLocks noGrp="1"/>
          </p:cNvSpPr>
          <p:nvPr>
            <p:ph type="body" sz="quarter" idx="50"/>
          </p:nvPr>
        </p:nvSpPr>
        <p:spPr>
          <a:xfrm>
            <a:off x="4032000" y="3845739"/>
            <a:ext cx="1263287" cy="72313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산하기관 내부체감도 1위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평균대비 20.1점 상회</a:t>
            </a:r>
          </a:p>
        </p:txBody>
      </p:sp>
      <p:sp>
        <p:nvSpPr>
          <p:cNvPr id="72" name="막대"/>
          <p:cNvSpPr/>
          <p:nvPr/>
        </p:nvSpPr>
        <p:spPr>
          <a:xfrm>
            <a:off x="5350070" y="4262087"/>
            <a:ext cx="164348" cy="164348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3" name="값"/>
          <p:cNvSpPr>
            <a:spLocks noGrp="1"/>
          </p:cNvSpPr>
          <p:nvPr>
            <p:ph type="body" sz="quarter" idx="51"/>
          </p:nvPr>
        </p:nvSpPr>
        <p:spPr>
          <a:xfrm>
            <a:off x="5262417" y="4086783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59.6점</a:t>
            </a:r>
          </a:p>
        </p:txBody>
      </p:sp>
      <p:sp>
        <p:nvSpPr>
          <p:cNvPr id="74" name="연도"/>
          <p:cNvSpPr>
            <a:spLocks noGrp="1"/>
          </p:cNvSpPr>
          <p:nvPr>
            <p:ph type="body" sz="quarter" idx="52"/>
          </p:nvPr>
        </p:nvSpPr>
        <p:spPr>
          <a:xfrm>
            <a:off x="5262417" y="4437391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평균</a:t>
            </a:r>
          </a:p>
        </p:txBody>
      </p:sp>
      <p:sp>
        <p:nvSpPr>
          <p:cNvPr id="75" name="막대"/>
          <p:cNvSpPr/>
          <p:nvPr/>
        </p:nvSpPr>
        <p:spPr>
          <a:xfrm>
            <a:off x="6049643" y="4207304"/>
            <a:ext cx="164348" cy="219130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6" name="값"/>
          <p:cNvSpPr>
            <a:spLocks noGrp="1"/>
          </p:cNvSpPr>
          <p:nvPr>
            <p:ph type="body" sz="quarter" idx="53"/>
          </p:nvPr>
        </p:nvSpPr>
        <p:spPr>
          <a:xfrm>
            <a:off x="5961991" y="4032000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79.7점</a:t>
            </a:r>
          </a:p>
        </p:txBody>
      </p:sp>
      <p:sp>
        <p:nvSpPr>
          <p:cNvPr id="77" name="연도"/>
          <p:cNvSpPr>
            <a:spLocks noGrp="1"/>
          </p:cNvSpPr>
          <p:nvPr>
            <p:ph type="body" sz="quarter" idx="54"/>
          </p:nvPr>
        </p:nvSpPr>
        <p:spPr>
          <a:xfrm>
            <a:off x="5961991" y="4437391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우리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34 서사 · 추진배경 → 의결기구 → 과제실행(괄호 머리) → 추진성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10" name="분야 박스"/>
          <p:cNvSpPr/>
          <p:nvPr/>
        </p:nvSpPr>
        <p:spPr>
          <a:xfrm>
            <a:off x="952651" y="810783"/>
            <a:ext cx="592466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1" name="분야 박스"/>
          <p:cNvSpPr>
            <a:spLocks noGrp="1"/>
          </p:cNvSpPr>
          <p:nvPr>
            <p:ph type="body" sz="quarter" idx="21"/>
          </p:nvPr>
        </p:nvSpPr>
        <p:spPr>
          <a:xfrm>
            <a:off x="952651" y="810783"/>
            <a:ext cx="59246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관리체계</a:t>
            </a:r>
          </a:p>
        </p:txBody>
      </p:sp>
      <p:sp>
        <p:nvSpPr>
          <p:cNvPr id="12" name="형광 밑줄"/>
          <p:cNvSpPr/>
          <p:nvPr/>
        </p:nvSpPr>
        <p:spPr>
          <a:xfrm>
            <a:off x="1610856" y="931304"/>
            <a:ext cx="2308895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3" name="소제목"/>
          <p:cNvSpPr>
            <a:spLocks noGrp="1"/>
          </p:cNvSpPr>
          <p:nvPr>
            <p:ph type="body" sz="quarter" idx="22"/>
          </p:nvPr>
        </p:nvSpPr>
        <p:spPr>
          <a:xfrm>
            <a:off x="1610856" y="777913"/>
            <a:ext cx="5412275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위원회가 의결, 청렴혁신 추진단이 실행</a:t>
            </a:r>
          </a:p>
        </p:txBody>
      </p:sp>
      <p:sp>
        <p:nvSpPr>
          <p:cNvPr id="14" name="태그칩"/>
          <p:cNvSpPr/>
          <p:nvPr/>
        </p:nvSpPr>
        <p:spPr>
          <a:xfrm>
            <a:off x="4018360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3"/>
          </p:nvPr>
        </p:nvSpPr>
        <p:spPr>
          <a:xfrm>
            <a:off x="4018360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태그칩"/>
          <p:cNvSpPr/>
          <p:nvPr/>
        </p:nvSpPr>
        <p:spPr>
          <a:xfrm>
            <a:off x="4569481" y="810783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칩"/>
          <p:cNvSpPr>
            <a:spLocks noGrp="1"/>
          </p:cNvSpPr>
          <p:nvPr>
            <p:ph type="body" sz="quarter" idx="24"/>
          </p:nvPr>
        </p:nvSpPr>
        <p:spPr>
          <a:xfrm>
            <a:off x="4569481" y="810783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8" name="표 외곽"/>
          <p:cNvSpPr/>
          <p:nvPr/>
        </p:nvSpPr>
        <p:spPr>
          <a:xfrm>
            <a:off x="723130" y="1062783"/>
            <a:ext cx="6300000" cy="135594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레일"/>
          <p:cNvSpPr/>
          <p:nvPr/>
        </p:nvSpPr>
        <p:spPr>
          <a:xfrm>
            <a:off x="734087" y="1079217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5"/>
          </p:nvPr>
        </p:nvSpPr>
        <p:spPr>
          <a:xfrm>
            <a:off x="734087" y="1079217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6"/>
          </p:nvPr>
        </p:nvSpPr>
        <p:spPr>
          <a:xfrm>
            <a:off x="1358609" y="1101130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강력한 내부통제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감사원 내부통제 운영 미흡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7"/>
          </p:nvPr>
        </p:nvSpPr>
        <p:spPr>
          <a:xfrm>
            <a:off x="4182652" y="1101130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윤리경영 관리 전문역량 높여 위상 제고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이해관계자 공감 윤리문화 내재화</a:t>
            </a:r>
          </a:p>
        </p:txBody>
      </p:sp>
      <p:cxnSp>
        <p:nvCxnSpPr>
          <p:cNvPr id="23" name="Connector 13"/>
          <p:cNvCxnSpPr/>
          <p:nvPr/>
        </p:nvCxnSpPr>
        <p:spPr>
          <a:xfrm>
            <a:off x="4171696" y="1134000"/>
            <a:ext cx="0" cy="284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4" name="레일"/>
          <p:cNvSpPr/>
          <p:nvPr/>
        </p:nvSpPr>
        <p:spPr>
          <a:xfrm>
            <a:off x="734087" y="1503861"/>
            <a:ext cx="580696" cy="898435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5" name="레일 태그"/>
          <p:cNvSpPr/>
          <p:nvPr/>
        </p:nvSpPr>
        <p:spPr>
          <a:xfrm>
            <a:off x="744637" y="1668209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6" name="레일 태그"/>
          <p:cNvSpPr>
            <a:spLocks noGrp="1"/>
          </p:cNvSpPr>
          <p:nvPr>
            <p:ph type="body" sz="quarter" idx="28"/>
          </p:nvPr>
        </p:nvSpPr>
        <p:spPr>
          <a:xfrm>
            <a:off x="744637" y="1668209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의결기구</a:t>
            </a:r>
          </a:p>
        </p:txBody>
      </p:sp>
      <p:sp>
        <p:nvSpPr>
          <p:cNvPr id="27" name="레일 라벨"/>
          <p:cNvSpPr>
            <a:spLocks noGrp="1"/>
          </p:cNvSpPr>
          <p:nvPr>
            <p:ph type="body" sz="quarter" idx="29"/>
          </p:nvPr>
        </p:nvSpPr>
        <p:spPr>
          <a:xfrm>
            <a:off x="734087" y="1854470"/>
            <a:ext cx="580696" cy="525913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외부위원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참여보장</a:t>
            </a:r>
          </a:p>
        </p:txBody>
      </p:sp>
      <p:sp>
        <p:nvSpPr>
          <p:cNvPr id="28" name="레일 삼각형"/>
          <p:cNvSpPr/>
          <p:nvPr/>
        </p:nvSpPr>
        <p:spPr>
          <a:xfrm>
            <a:off x="734086" y="1503860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배너"/>
          <p:cNvSpPr/>
          <p:nvPr/>
        </p:nvSpPr>
        <p:spPr>
          <a:xfrm>
            <a:off x="1347652" y="1525774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0" name="배너"/>
          <p:cNvSpPr>
            <a:spLocks noGrp="1"/>
          </p:cNvSpPr>
          <p:nvPr>
            <p:ph type="body" sz="quarter" idx="30"/>
          </p:nvPr>
        </p:nvSpPr>
        <p:spPr>
          <a:xfrm>
            <a:off x="1347652" y="1525774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견제와 균형 원칙에 따른 CEO의 결단, 최고 의결기구에 독립성과 전문성 확보</a:t>
            </a:r>
          </a:p>
        </p:txBody>
      </p:sp>
      <p:sp>
        <p:nvSpPr>
          <p:cNvPr id="31" name="단계"/>
          <p:cNvSpPr/>
          <p:nvPr/>
        </p:nvSpPr>
        <p:spPr>
          <a:xfrm>
            <a:off x="1347652" y="1761339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2" name="단계"/>
          <p:cNvSpPr>
            <a:spLocks noGrp="1"/>
          </p:cNvSpPr>
          <p:nvPr>
            <p:ph type="body" sz="quarter" idx="31"/>
          </p:nvPr>
        </p:nvSpPr>
        <p:spPr>
          <a:xfrm>
            <a:off x="1347652" y="176133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CEO 제언</a:t>
            </a:r>
          </a:p>
        </p:txBody>
      </p:sp>
      <p:sp>
        <p:nvSpPr>
          <p:cNvPr id="33" name="단계"/>
          <p:cNvSpPr/>
          <p:nvPr/>
        </p:nvSpPr>
        <p:spPr>
          <a:xfrm>
            <a:off x="3230348" y="1761339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4" name="단계"/>
          <p:cNvSpPr>
            <a:spLocks noGrp="1"/>
          </p:cNvSpPr>
          <p:nvPr>
            <p:ph type="body" sz="quarter" idx="32"/>
          </p:nvPr>
        </p:nvSpPr>
        <p:spPr>
          <a:xfrm>
            <a:off x="3230348" y="176133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외부위원 추가 선임</a:t>
            </a:r>
          </a:p>
        </p:txBody>
      </p:sp>
      <p:sp>
        <p:nvSpPr>
          <p:cNvPr id="35" name="단계"/>
          <p:cNvSpPr/>
          <p:nvPr/>
        </p:nvSpPr>
        <p:spPr>
          <a:xfrm>
            <a:off x="5113043" y="1761339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6" name="단계"/>
          <p:cNvSpPr>
            <a:spLocks noGrp="1"/>
          </p:cNvSpPr>
          <p:nvPr>
            <p:ph type="body" sz="quarter" idx="33"/>
          </p:nvPr>
        </p:nvSpPr>
        <p:spPr>
          <a:xfrm>
            <a:off x="5113043" y="176133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 실적</a:t>
            </a:r>
          </a:p>
        </p:txBody>
      </p:sp>
      <p:sp>
        <p:nvSpPr>
          <p:cNvPr id="37" name="단계 삼각형"/>
          <p:cNvSpPr/>
          <p:nvPr/>
        </p:nvSpPr>
        <p:spPr>
          <a:xfrm>
            <a:off x="3230347" y="1761339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8" name="단계 삼각형"/>
          <p:cNvSpPr/>
          <p:nvPr/>
        </p:nvSpPr>
        <p:spPr>
          <a:xfrm>
            <a:off x="5113043" y="1761339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4"/>
          </p:nvPr>
        </p:nvSpPr>
        <p:spPr>
          <a:xfrm>
            <a:off x="1358609" y="2013339"/>
            <a:ext cx="1860783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“나도 견제 받을 수 있게 외부위원이 직접 참여”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35"/>
          </p:nvPr>
        </p:nvSpPr>
        <p:spPr>
          <a:xfrm>
            <a:off x="3241304" y="2013339"/>
            <a:ext cx="1860783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비상임이사 2명 외부위원 참여</a:t>
            </a:r>
          </a:p>
        </p:txBody>
      </p:sp>
      <p:cxnSp>
        <p:nvCxnSpPr>
          <p:cNvPr id="41" name="Connector 26"/>
          <p:cNvCxnSpPr/>
          <p:nvPr/>
        </p:nvCxnSpPr>
        <p:spPr>
          <a:xfrm>
            <a:off x="3230348" y="2046209"/>
            <a:ext cx="0" cy="317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2" name="칸 본문"/>
          <p:cNvSpPr>
            <a:spLocks noGrp="1"/>
          </p:cNvSpPr>
          <p:nvPr>
            <p:ph type="body" sz="quarter" idx="36"/>
          </p:nvPr>
        </p:nvSpPr>
        <p:spPr>
          <a:xfrm>
            <a:off x="5124000" y="2013339"/>
            <a:ext cx="1860783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안건 의견 보완 및 의결(5건)</a:t>
            </a:r>
          </a:p>
        </p:txBody>
      </p:sp>
      <p:cxnSp>
        <p:nvCxnSpPr>
          <p:cNvPr id="43" name="Connector 28"/>
          <p:cNvCxnSpPr/>
          <p:nvPr/>
        </p:nvCxnSpPr>
        <p:spPr>
          <a:xfrm>
            <a:off x="5113043" y="2046209"/>
            <a:ext cx="0" cy="317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4" name="틀"/>
          <p:cNvSpPr/>
          <p:nvPr/>
        </p:nvSpPr>
        <p:spPr>
          <a:xfrm>
            <a:off x="723130" y="2473513"/>
            <a:ext cx="6300000" cy="115043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5" name="레일"/>
          <p:cNvSpPr/>
          <p:nvPr/>
        </p:nvSpPr>
        <p:spPr>
          <a:xfrm>
            <a:off x="734087" y="2484470"/>
            <a:ext cx="580696" cy="1128522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6" name="레일"/>
          <p:cNvSpPr>
            <a:spLocks noGrp="1"/>
          </p:cNvSpPr>
          <p:nvPr>
            <p:ph type="body" sz="quarter" idx="37"/>
          </p:nvPr>
        </p:nvSpPr>
        <p:spPr>
          <a:xfrm>
            <a:off x="734087" y="2484470"/>
            <a:ext cx="580696" cy="112852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전사확산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가속화</a:t>
            </a:r>
          </a:p>
        </p:txBody>
      </p:sp>
      <p:sp>
        <p:nvSpPr>
          <p:cNvPr id="47" name="칸 제목 띠"/>
          <p:cNvSpPr/>
          <p:nvPr/>
        </p:nvSpPr>
        <p:spPr>
          <a:xfrm>
            <a:off x="1380522" y="2506383"/>
            <a:ext cx="2772000" cy="186261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8" name="칸 제목"/>
          <p:cNvSpPr>
            <a:spLocks noGrp="1"/>
          </p:cNvSpPr>
          <p:nvPr>
            <p:ph type="body" sz="quarter" idx="38"/>
          </p:nvPr>
        </p:nvSpPr>
        <p:spPr>
          <a:xfrm>
            <a:off x="1380522" y="2506383"/>
            <a:ext cx="2772000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구성 현장부서 참여로 체감·파급력 향상</a:t>
            </a:r>
          </a:p>
        </p:txBody>
      </p:sp>
      <p:sp>
        <p:nvSpPr>
          <p:cNvPr id="49" name="삼각 화살표"/>
          <p:cNvSpPr/>
          <p:nvPr/>
        </p:nvSpPr>
        <p:spPr>
          <a:xfrm>
            <a:off x="2706260" y="2703600"/>
            <a:ext cx="120522" cy="54782"/>
          </a:xfrm>
          <a:custGeom>
            <a:avLst/>
            <a:gdLst/>
            <a:ahLst/>
            <a:cxnLst/>
            <a:rect l="l" t="t" r="r" b="b"/>
            <a:pathLst>
              <a:path w="120522" h="54782">
                <a:moveTo>
                  <a:pt x="0" y="0"/>
                </a:moveTo>
                <a:lnTo>
                  <a:pt x="120522" y="0"/>
                </a:lnTo>
                <a:lnTo>
                  <a:pt x="60261" y="54782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0" name="칸 본문"/>
          <p:cNvSpPr>
            <a:spLocks noGrp="1"/>
          </p:cNvSpPr>
          <p:nvPr>
            <p:ph type="body" sz="quarter" idx="39"/>
          </p:nvPr>
        </p:nvSpPr>
        <p:spPr>
          <a:xfrm>
            <a:off x="1391478" y="2769339"/>
            <a:ext cx="2750087" cy="799826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CEO＋기획 상임이사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본사(18개)·현장(5개) 참여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참여부서 확대(14→23개 부서)</a:t>
            </a:r>
          </a:p>
        </p:txBody>
      </p:sp>
      <p:sp>
        <p:nvSpPr>
          <p:cNvPr id="51" name="칸 제목 띠"/>
          <p:cNvSpPr/>
          <p:nvPr/>
        </p:nvSpPr>
        <p:spPr>
          <a:xfrm>
            <a:off x="4196348" y="2506383"/>
            <a:ext cx="2772000" cy="186261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2" name="칸 제목"/>
          <p:cNvSpPr>
            <a:spLocks noGrp="1"/>
          </p:cNvSpPr>
          <p:nvPr>
            <p:ph type="body" sz="quarter" idx="40"/>
          </p:nvPr>
        </p:nvSpPr>
        <p:spPr>
          <a:xfrm>
            <a:off x="4196348" y="2506383"/>
            <a:ext cx="2772000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제도화 단발성 개선이 아닌 시스템으로 정착</a:t>
            </a:r>
          </a:p>
        </p:txBody>
      </p:sp>
      <p:sp>
        <p:nvSpPr>
          <p:cNvPr id="53" name="삼각 화살표"/>
          <p:cNvSpPr/>
          <p:nvPr/>
        </p:nvSpPr>
        <p:spPr>
          <a:xfrm>
            <a:off x="5522086" y="2703600"/>
            <a:ext cx="120522" cy="54782"/>
          </a:xfrm>
          <a:custGeom>
            <a:avLst/>
            <a:gdLst/>
            <a:ahLst/>
            <a:cxnLst/>
            <a:rect l="l" t="t" r="r" b="b"/>
            <a:pathLst>
              <a:path w="120522" h="54782">
                <a:moveTo>
                  <a:pt x="0" y="0"/>
                </a:moveTo>
                <a:lnTo>
                  <a:pt x="120522" y="0"/>
                </a:lnTo>
                <a:lnTo>
                  <a:pt x="60261" y="54782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4" name="사진 칸"/>
          <p:cNvSpPr/>
          <p:nvPr/>
        </p:nvSpPr>
        <p:spPr>
          <a:xfrm>
            <a:off x="5638664" y="2780296"/>
            <a:ext cx="1318727" cy="766957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55" name="사진 칸"/>
          <p:cNvSpPr>
            <a:spLocks noGrp="1"/>
          </p:cNvSpPr>
          <p:nvPr>
            <p:ph type="body" sz="quarter" idx="41"/>
          </p:nvPr>
        </p:nvSpPr>
        <p:spPr>
          <a:xfrm>
            <a:off x="5638664" y="2780296"/>
            <a:ext cx="1318727" cy="766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도해 자리</a:t>
            </a:r>
          </a:p>
        </p:txBody>
      </p:sp>
      <p:sp>
        <p:nvSpPr>
          <p:cNvPr id="56" name="칸 본문"/>
          <p:cNvSpPr>
            <a:spLocks noGrp="1"/>
          </p:cNvSpPr>
          <p:nvPr>
            <p:ph type="body" sz="quarter" idx="42"/>
          </p:nvPr>
        </p:nvSpPr>
        <p:spPr>
          <a:xfrm>
            <a:off x="4207304" y="2769339"/>
            <a:ext cx="1375043" cy="799826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토지보상·조직개편·건설공사·수도보수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청렴혁신 추진단 중심 시스템화</a:t>
            </a:r>
          </a:p>
        </p:txBody>
      </p:sp>
      <p:cxnSp>
        <p:nvCxnSpPr>
          <p:cNvPr id="57" name="Connector 40"/>
          <p:cNvCxnSpPr/>
          <p:nvPr/>
        </p:nvCxnSpPr>
        <p:spPr>
          <a:xfrm>
            <a:off x="4174435" y="2758383"/>
            <a:ext cx="0" cy="821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8" name="핵심성과 박스"/>
          <p:cNvSpPr/>
          <p:nvPr/>
        </p:nvSpPr>
        <p:spPr>
          <a:xfrm>
            <a:off x="723130" y="3711600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9" name="핵심성과 라벨"/>
          <p:cNvSpPr/>
          <p:nvPr/>
        </p:nvSpPr>
        <p:spPr>
          <a:xfrm>
            <a:off x="756000" y="3744470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60" name="핵심성과 라벨"/>
          <p:cNvSpPr>
            <a:spLocks noGrp="1"/>
          </p:cNvSpPr>
          <p:nvPr>
            <p:ph type="body" sz="quarter" idx="43"/>
          </p:nvPr>
        </p:nvSpPr>
        <p:spPr>
          <a:xfrm>
            <a:off x="756000" y="3744470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61" name="핵심성과 문구"/>
          <p:cNvSpPr>
            <a:spLocks noGrp="1"/>
          </p:cNvSpPr>
          <p:nvPr>
            <p:ph type="body" sz="quarter" idx="44"/>
          </p:nvPr>
        </p:nvSpPr>
        <p:spPr>
          <a:xfrm>
            <a:off x="1501043" y="3733513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탄탄한 윤리경영 체계로 권익위 청렴노력도 공사 최고 94.7점 달성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부패 취약분야 집중개선 대표사례 수행기관 중 1위 획득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35 서사 · 추진배경 → 현장 의견 → 위험 경감 → 핵심위험 선정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전 부서 ‘위험관리’를 통한 핵심위험 선정, 체감가능한 개선 이행</a:t>
            </a:r>
          </a:p>
        </p:txBody>
      </p:sp>
      <p:sp>
        <p:nvSpPr>
          <p:cNvPr id="15" name="번호"/>
          <p:cNvSpPr>
            <a:spLocks noGrp="1"/>
          </p:cNvSpPr>
          <p:nvPr>
            <p:ph type="body" sz="quarter" idx="22"/>
          </p:nvPr>
        </p:nvSpPr>
        <p:spPr>
          <a:xfrm>
            <a:off x="536870" y="1194261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16" name="분야 박스"/>
          <p:cNvSpPr/>
          <p:nvPr/>
        </p:nvSpPr>
        <p:spPr>
          <a:xfrm>
            <a:off x="766390" y="1227130"/>
            <a:ext cx="592466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분야 박스"/>
          <p:cNvSpPr>
            <a:spLocks noGrp="1"/>
          </p:cNvSpPr>
          <p:nvPr>
            <p:ph type="body" sz="quarter" idx="23"/>
          </p:nvPr>
        </p:nvSpPr>
        <p:spPr>
          <a:xfrm>
            <a:off x="766390" y="1227130"/>
            <a:ext cx="59246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위험식별</a:t>
            </a:r>
          </a:p>
        </p:txBody>
      </p:sp>
      <p:sp>
        <p:nvSpPr>
          <p:cNvPr id="18" name="형광 밑줄"/>
          <p:cNvSpPr/>
          <p:nvPr/>
        </p:nvSpPr>
        <p:spPr>
          <a:xfrm>
            <a:off x="1424595" y="1347652"/>
            <a:ext cx="3200811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소제목"/>
          <p:cNvSpPr>
            <a:spLocks noGrp="1"/>
          </p:cNvSpPr>
          <p:nvPr>
            <p:ph type="body" sz="quarter" idx="24"/>
          </p:nvPr>
        </p:nvSpPr>
        <p:spPr>
          <a:xfrm>
            <a:off x="1424595" y="1194261"/>
            <a:ext cx="5412275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현장 곳곳에 숨은 위험이 없도록 더 넓고 확실하게 예방</a:t>
            </a:r>
          </a:p>
        </p:txBody>
      </p:sp>
      <p:sp>
        <p:nvSpPr>
          <p:cNvPr id="20" name="태그칩"/>
          <p:cNvSpPr/>
          <p:nvPr/>
        </p:nvSpPr>
        <p:spPr>
          <a:xfrm>
            <a:off x="4724014" y="1227130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태그칩"/>
          <p:cNvSpPr>
            <a:spLocks noGrp="1"/>
          </p:cNvSpPr>
          <p:nvPr>
            <p:ph type="body" sz="quarter" idx="25"/>
          </p:nvPr>
        </p:nvSpPr>
        <p:spPr>
          <a:xfrm>
            <a:off x="4724014" y="1227130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22" name="표 외곽"/>
          <p:cNvSpPr/>
          <p:nvPr/>
        </p:nvSpPr>
        <p:spPr>
          <a:xfrm>
            <a:off x="536870" y="1479130"/>
            <a:ext cx="6300000" cy="2496991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3" name="레일"/>
          <p:cNvSpPr/>
          <p:nvPr/>
        </p:nvSpPr>
        <p:spPr>
          <a:xfrm>
            <a:off x="547826" y="1495565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4" name="레일"/>
          <p:cNvSpPr>
            <a:spLocks noGrp="1"/>
          </p:cNvSpPr>
          <p:nvPr>
            <p:ph type="body" sz="quarter" idx="26"/>
          </p:nvPr>
        </p:nvSpPr>
        <p:spPr>
          <a:xfrm>
            <a:off x="547826" y="1495565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1172348" y="1517478"/>
            <a:ext cx="2802130" cy="241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더 많은 부서 위험관리 필요(’24년 권고)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8"/>
          </p:nvPr>
        </p:nvSpPr>
        <p:spPr>
          <a:xfrm>
            <a:off x="3996391" y="1517478"/>
            <a:ext cx="2802130" cy="241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현업부서 위험 관리 프로세스 확대</a:t>
            </a:r>
          </a:p>
        </p:txBody>
      </p:sp>
      <p:cxnSp>
        <p:nvCxnSpPr>
          <p:cNvPr id="27" name="Connector 20"/>
          <p:cNvCxnSpPr/>
          <p:nvPr/>
        </p:nvCxnSpPr>
        <p:spPr>
          <a:xfrm>
            <a:off x="3985435" y="1550348"/>
            <a:ext cx="0" cy="17530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8" name="레일"/>
          <p:cNvSpPr/>
          <p:nvPr/>
        </p:nvSpPr>
        <p:spPr>
          <a:xfrm>
            <a:off x="547826" y="1920209"/>
            <a:ext cx="580696" cy="68478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9" name="레일"/>
          <p:cNvSpPr>
            <a:spLocks noGrp="1"/>
          </p:cNvSpPr>
          <p:nvPr>
            <p:ph type="body" sz="quarter" idx="29"/>
          </p:nvPr>
        </p:nvSpPr>
        <p:spPr>
          <a:xfrm>
            <a:off x="547826" y="1920209"/>
            <a:ext cx="580696" cy="684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현장에서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답을 찾아</a:t>
            </a:r>
          </a:p>
        </p:txBody>
      </p:sp>
      <p:sp>
        <p:nvSpPr>
          <p:cNvPr id="30" name="레일 삼각형"/>
          <p:cNvSpPr/>
          <p:nvPr/>
        </p:nvSpPr>
        <p:spPr>
          <a:xfrm>
            <a:off x="547826" y="1920208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1" name="머리칸"/>
          <p:cNvSpPr/>
          <p:nvPr/>
        </p:nvSpPr>
        <p:spPr>
          <a:xfrm>
            <a:off x="1161391" y="194212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2" name="머리칸"/>
          <p:cNvSpPr>
            <a:spLocks noGrp="1"/>
          </p:cNvSpPr>
          <p:nvPr>
            <p:ph type="body" sz="quarter" idx="30"/>
          </p:nvPr>
        </p:nvSpPr>
        <p:spPr>
          <a:xfrm>
            <a:off x="1161391" y="194212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 눈높이에 맞추고</a:t>
            </a:r>
          </a:p>
        </p:txBody>
      </p:sp>
      <p:sp>
        <p:nvSpPr>
          <p:cNvPr id="33" name="머리칸"/>
          <p:cNvSpPr/>
          <p:nvPr/>
        </p:nvSpPr>
        <p:spPr>
          <a:xfrm>
            <a:off x="3044087" y="194212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4" name="머리칸"/>
          <p:cNvSpPr>
            <a:spLocks noGrp="1"/>
          </p:cNvSpPr>
          <p:nvPr>
            <p:ph type="body" sz="quarter" idx="31"/>
          </p:nvPr>
        </p:nvSpPr>
        <p:spPr>
          <a:xfrm>
            <a:off x="3044087" y="194212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고객 목소리를 귀담아</a:t>
            </a:r>
          </a:p>
        </p:txBody>
      </p:sp>
      <p:sp>
        <p:nvSpPr>
          <p:cNvPr id="35" name="머리칸"/>
          <p:cNvSpPr/>
          <p:nvPr/>
        </p:nvSpPr>
        <p:spPr>
          <a:xfrm>
            <a:off x="4926783" y="194212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6" name="머리칸"/>
          <p:cNvSpPr>
            <a:spLocks noGrp="1"/>
          </p:cNvSpPr>
          <p:nvPr>
            <p:ph type="body" sz="quarter" idx="32"/>
          </p:nvPr>
        </p:nvSpPr>
        <p:spPr>
          <a:xfrm>
            <a:off x="4926783" y="194212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직원과 함께 위험을 감지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3"/>
          </p:nvPr>
        </p:nvSpPr>
        <p:spPr>
          <a:xfrm>
            <a:off x="1172348" y="2183165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 의견수렴(’25.5, 1천명)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윤리실천 의지 표명(’25.9)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4"/>
          </p:nvPr>
        </p:nvSpPr>
        <p:spPr>
          <a:xfrm>
            <a:off x="3055043" y="2183165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고객 청렴도 진단(’25.4, 2천명)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자회사 청렴도 조사(반기)</a:t>
            </a:r>
          </a:p>
        </p:txBody>
      </p:sp>
      <p:cxnSp>
        <p:nvCxnSpPr>
          <p:cNvPr id="39" name="Connector 28"/>
          <p:cNvCxnSpPr/>
          <p:nvPr/>
        </p:nvCxnSpPr>
        <p:spPr>
          <a:xfrm>
            <a:off x="3044087" y="2216035"/>
            <a:ext cx="0" cy="35060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0" name="칸 본문"/>
          <p:cNvSpPr>
            <a:spLocks noGrp="1"/>
          </p:cNvSpPr>
          <p:nvPr>
            <p:ph type="body" sz="quarter" idx="35"/>
          </p:nvPr>
        </p:nvSpPr>
        <p:spPr>
          <a:xfrm>
            <a:off x="4937739" y="2183165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내부통제 실무협의회(38명)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위험관리 파트너 양성(13명)</a:t>
            </a:r>
          </a:p>
        </p:txBody>
      </p:sp>
      <p:cxnSp>
        <p:nvCxnSpPr>
          <p:cNvPr id="41" name="Connector 30"/>
          <p:cNvCxnSpPr/>
          <p:nvPr/>
        </p:nvCxnSpPr>
        <p:spPr>
          <a:xfrm>
            <a:off x="4926783" y="2216035"/>
            <a:ext cx="0" cy="35060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2" name="레일"/>
          <p:cNvSpPr/>
          <p:nvPr/>
        </p:nvSpPr>
        <p:spPr>
          <a:xfrm>
            <a:off x="547826" y="2621426"/>
            <a:ext cx="580696" cy="782139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3" name="레일"/>
          <p:cNvSpPr>
            <a:spLocks noGrp="1"/>
          </p:cNvSpPr>
          <p:nvPr>
            <p:ph type="body" sz="quarter" idx="36"/>
          </p:nvPr>
        </p:nvSpPr>
        <p:spPr>
          <a:xfrm>
            <a:off x="547826" y="2621426"/>
            <a:ext cx="580696" cy="7821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위험을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경감하고</a:t>
            </a:r>
          </a:p>
        </p:txBody>
      </p:sp>
      <p:sp>
        <p:nvSpPr>
          <p:cNvPr id="44" name="단계"/>
          <p:cNvSpPr/>
          <p:nvPr/>
        </p:nvSpPr>
        <p:spPr>
          <a:xfrm>
            <a:off x="1161391" y="2643339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5" name="단계"/>
          <p:cNvSpPr>
            <a:spLocks noGrp="1"/>
          </p:cNvSpPr>
          <p:nvPr>
            <p:ph type="body" sz="quarter" idx="37"/>
          </p:nvPr>
        </p:nvSpPr>
        <p:spPr>
          <a:xfrm>
            <a:off x="1161391" y="264333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부서별 위험식별</a:t>
            </a:r>
          </a:p>
        </p:txBody>
      </p:sp>
      <p:sp>
        <p:nvSpPr>
          <p:cNvPr id="46" name="단계"/>
          <p:cNvSpPr/>
          <p:nvPr/>
        </p:nvSpPr>
        <p:spPr>
          <a:xfrm>
            <a:off x="3044087" y="2643339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7" name="단계"/>
          <p:cNvSpPr>
            <a:spLocks noGrp="1"/>
          </p:cNvSpPr>
          <p:nvPr>
            <p:ph type="body" sz="quarter" idx="38"/>
          </p:nvPr>
        </p:nvSpPr>
        <p:spPr>
          <a:xfrm>
            <a:off x="3044087" y="264333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위험수준 평가</a:t>
            </a:r>
          </a:p>
        </p:txBody>
      </p:sp>
      <p:sp>
        <p:nvSpPr>
          <p:cNvPr id="48" name="단계"/>
          <p:cNvSpPr/>
          <p:nvPr/>
        </p:nvSpPr>
        <p:spPr>
          <a:xfrm>
            <a:off x="4926783" y="2643339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9" name="단계"/>
          <p:cNvSpPr>
            <a:spLocks noGrp="1"/>
          </p:cNvSpPr>
          <p:nvPr>
            <p:ph type="body" sz="quarter" idx="39"/>
          </p:nvPr>
        </p:nvSpPr>
        <p:spPr>
          <a:xfrm>
            <a:off x="4926783" y="264333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위험수준별 경감</a:t>
            </a:r>
          </a:p>
        </p:txBody>
      </p:sp>
      <p:sp>
        <p:nvSpPr>
          <p:cNvPr id="50" name="단계 삼각형"/>
          <p:cNvSpPr/>
          <p:nvPr/>
        </p:nvSpPr>
        <p:spPr>
          <a:xfrm>
            <a:off x="3044086" y="2643339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1" name="단계 삼각형"/>
          <p:cNvSpPr/>
          <p:nvPr/>
        </p:nvSpPr>
        <p:spPr>
          <a:xfrm>
            <a:off x="4926782" y="2643339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2" name="칸 본문"/>
          <p:cNvSpPr>
            <a:spLocks noGrp="1"/>
          </p:cNvSpPr>
          <p:nvPr>
            <p:ph type="body" sz="quarter" idx="40"/>
          </p:nvPr>
        </p:nvSpPr>
        <p:spPr>
          <a:xfrm>
            <a:off x="1172348" y="2895339"/>
            <a:ext cx="1860783" cy="5027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위험관리 프로세스 전부서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’23년 32개 → ’25년 전부서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고유위험 1,243개 식별</a:t>
            </a:r>
          </a:p>
        </p:txBody>
      </p:sp>
      <p:sp>
        <p:nvSpPr>
          <p:cNvPr id="53" name="칸 본문"/>
          <p:cNvSpPr>
            <a:spLocks noGrp="1"/>
          </p:cNvSpPr>
          <p:nvPr>
            <p:ph type="body" sz="quarter" idx="41"/>
          </p:nvPr>
        </p:nvSpPr>
        <p:spPr>
          <a:xfrm>
            <a:off x="3055043" y="2895339"/>
            <a:ext cx="1860783" cy="5027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 평가기준 상향 조정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영향력 4점 이상 고위험 분류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13대 위험 유형 선정</a:t>
            </a:r>
          </a:p>
        </p:txBody>
      </p:sp>
      <p:cxnSp>
        <p:nvCxnSpPr>
          <p:cNvPr id="54" name="Connector 39"/>
          <p:cNvCxnSpPr/>
          <p:nvPr/>
        </p:nvCxnSpPr>
        <p:spPr>
          <a:xfrm>
            <a:off x="3044087" y="2928209"/>
            <a:ext cx="0" cy="43700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5" name="칸 본문"/>
          <p:cNvSpPr>
            <a:spLocks noGrp="1"/>
          </p:cNvSpPr>
          <p:nvPr>
            <p:ph type="body" sz="quarter" idx="42"/>
          </p:nvPr>
        </p:nvSpPr>
        <p:spPr>
          <a:xfrm>
            <a:off x="4937739" y="2895339"/>
            <a:ext cx="1860783" cy="5027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고위험 통제활동 이행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중위험 교차심사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저위험 자체점검(상시)</a:t>
            </a:r>
          </a:p>
        </p:txBody>
      </p:sp>
      <p:cxnSp>
        <p:nvCxnSpPr>
          <p:cNvPr id="56" name="Connector 41"/>
          <p:cNvCxnSpPr/>
          <p:nvPr/>
        </p:nvCxnSpPr>
        <p:spPr>
          <a:xfrm>
            <a:off x="4926783" y="2928209"/>
            <a:ext cx="0" cy="43700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7" name="레일"/>
          <p:cNvSpPr/>
          <p:nvPr/>
        </p:nvSpPr>
        <p:spPr>
          <a:xfrm>
            <a:off x="547826" y="3420000"/>
            <a:ext cx="580696" cy="5396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8" name="레일"/>
          <p:cNvSpPr>
            <a:spLocks noGrp="1"/>
          </p:cNvSpPr>
          <p:nvPr>
            <p:ph type="body" sz="quarter" idx="43"/>
          </p:nvPr>
        </p:nvSpPr>
        <p:spPr>
          <a:xfrm>
            <a:off x="547826" y="3420000"/>
            <a:ext cx="580696" cy="5396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핵심위험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선 정</a:t>
            </a:r>
          </a:p>
        </p:txBody>
      </p:sp>
      <p:sp>
        <p:nvSpPr>
          <p:cNvPr id="59" name="레일 삼각형"/>
          <p:cNvSpPr/>
          <p:nvPr/>
        </p:nvSpPr>
        <p:spPr>
          <a:xfrm>
            <a:off x="547826" y="3420000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0" name="태그"/>
          <p:cNvSpPr/>
          <p:nvPr/>
        </p:nvSpPr>
        <p:spPr>
          <a:xfrm>
            <a:off x="1161391" y="3463826"/>
            <a:ext cx="361972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1" name="태그"/>
          <p:cNvSpPr>
            <a:spLocks noGrp="1"/>
          </p:cNvSpPr>
          <p:nvPr>
            <p:ph type="body" sz="quarter" idx="44"/>
          </p:nvPr>
        </p:nvSpPr>
        <p:spPr>
          <a:xfrm>
            <a:off x="1161391" y="3463826"/>
            <a:ext cx="36197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핵심</a:t>
            </a:r>
          </a:p>
        </p:txBody>
      </p:sp>
      <p:sp>
        <p:nvSpPr>
          <p:cNvPr id="62" name="태그 설명"/>
          <p:cNvSpPr>
            <a:spLocks noGrp="1"/>
          </p:cNvSpPr>
          <p:nvPr>
            <p:ph type="body" sz="quarter" idx="45"/>
          </p:nvPr>
        </p:nvSpPr>
        <p:spPr>
          <a:xfrm>
            <a:off x="1567189" y="3452870"/>
            <a:ext cx="5242289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외부고객 관련 위험(2개)을 추가 선정한 ’25년 7대 핵심 윤리위험 선정</a:t>
            </a:r>
          </a:p>
        </p:txBody>
      </p:sp>
      <p:sp>
        <p:nvSpPr>
          <p:cNvPr id="63" name="태그"/>
          <p:cNvSpPr/>
          <p:nvPr/>
        </p:nvSpPr>
        <p:spPr>
          <a:xfrm>
            <a:off x="1161391" y="3661043"/>
            <a:ext cx="361972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4" name="태그"/>
          <p:cNvSpPr>
            <a:spLocks noGrp="1"/>
          </p:cNvSpPr>
          <p:nvPr>
            <p:ph type="body" sz="quarter" idx="46"/>
          </p:nvPr>
        </p:nvSpPr>
        <p:spPr>
          <a:xfrm>
            <a:off x="1161391" y="3661043"/>
            <a:ext cx="36197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내부</a:t>
            </a:r>
          </a:p>
        </p:txBody>
      </p:sp>
      <p:sp>
        <p:nvSpPr>
          <p:cNvPr id="65" name="태그 설명"/>
          <p:cNvSpPr>
            <a:spLocks noGrp="1"/>
          </p:cNvSpPr>
          <p:nvPr>
            <p:ph type="body" sz="quarter" idx="47"/>
          </p:nvPr>
        </p:nvSpPr>
        <p:spPr>
          <a:xfrm>
            <a:off x="1567189" y="3650087"/>
            <a:ext cx="5242289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특혜제공 · 예산낭비 · 회계부정 · 정보보안 / 외부 소극행정 · 갑질행위 / 자회사 운영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36 서사 · 통제활동 → 내부 임직원 · 외부 고객 · 자회사 카드 격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10" name="분야 박스"/>
          <p:cNvSpPr/>
          <p:nvPr/>
        </p:nvSpPr>
        <p:spPr>
          <a:xfrm>
            <a:off x="952651" y="810783"/>
            <a:ext cx="592466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1" name="분야 박스"/>
          <p:cNvSpPr>
            <a:spLocks noGrp="1"/>
          </p:cNvSpPr>
          <p:nvPr>
            <p:ph type="body" sz="quarter" idx="21"/>
          </p:nvPr>
        </p:nvSpPr>
        <p:spPr>
          <a:xfrm>
            <a:off x="952651" y="810783"/>
            <a:ext cx="59246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통제활동</a:t>
            </a:r>
          </a:p>
        </p:txBody>
      </p:sp>
      <p:sp>
        <p:nvSpPr>
          <p:cNvPr id="12" name="형광 밑줄"/>
          <p:cNvSpPr/>
          <p:nvPr/>
        </p:nvSpPr>
        <p:spPr>
          <a:xfrm>
            <a:off x="1610856" y="931304"/>
            <a:ext cx="3033963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3" name="소제목"/>
          <p:cNvSpPr>
            <a:spLocks noGrp="1"/>
          </p:cNvSpPr>
          <p:nvPr>
            <p:ph type="body" sz="quarter" idx="22"/>
          </p:nvPr>
        </p:nvSpPr>
        <p:spPr>
          <a:xfrm>
            <a:off x="1610856" y="777913"/>
            <a:ext cx="5412275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구성원과 고객이 실제 체감할 수 있는 부패저감 활동</a:t>
            </a:r>
          </a:p>
        </p:txBody>
      </p:sp>
      <p:sp>
        <p:nvSpPr>
          <p:cNvPr id="14" name="태그칩"/>
          <p:cNvSpPr/>
          <p:nvPr/>
        </p:nvSpPr>
        <p:spPr>
          <a:xfrm>
            <a:off x="4743427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3"/>
          </p:nvPr>
        </p:nvSpPr>
        <p:spPr>
          <a:xfrm>
            <a:off x="4743427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태그칩"/>
          <p:cNvSpPr/>
          <p:nvPr/>
        </p:nvSpPr>
        <p:spPr>
          <a:xfrm>
            <a:off x="5294548" y="810783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칩"/>
          <p:cNvSpPr>
            <a:spLocks noGrp="1"/>
          </p:cNvSpPr>
          <p:nvPr>
            <p:ph type="body" sz="quarter" idx="24"/>
          </p:nvPr>
        </p:nvSpPr>
        <p:spPr>
          <a:xfrm>
            <a:off x="5294548" y="810783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8" name="아이콘 칸"/>
          <p:cNvSpPr/>
          <p:nvPr/>
        </p:nvSpPr>
        <p:spPr>
          <a:xfrm>
            <a:off x="723130" y="1117565"/>
            <a:ext cx="175304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3600" rIns="3600" tIns="0" bIns="0" wrap="square"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/>
            </a:r>
          </a:p>
        </p:txBody>
      </p:sp>
      <p:sp>
        <p:nvSpPr>
          <p:cNvPr id="19" name="태그"/>
          <p:cNvSpPr/>
          <p:nvPr/>
        </p:nvSpPr>
        <p:spPr>
          <a:xfrm>
            <a:off x="942261" y="1117565"/>
            <a:ext cx="687680" cy="175304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0" name="태그"/>
          <p:cNvSpPr>
            <a:spLocks noGrp="1"/>
          </p:cNvSpPr>
          <p:nvPr>
            <p:ph type="body" sz="quarter" idx="25"/>
          </p:nvPr>
        </p:nvSpPr>
        <p:spPr>
          <a:xfrm>
            <a:off x="942261" y="1117565"/>
            <a:ext cx="687680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내부 임직원</a:t>
            </a:r>
          </a:p>
        </p:txBody>
      </p:sp>
      <p:sp>
        <p:nvSpPr>
          <p:cNvPr id="21" name="그룹 제목"/>
          <p:cNvSpPr>
            <a:spLocks noGrp="1"/>
          </p:cNvSpPr>
          <p:nvPr>
            <p:ph type="body" sz="quarter" idx="26"/>
          </p:nvPr>
        </p:nvSpPr>
        <p:spPr>
          <a:xfrm>
            <a:off x="1673767" y="1095652"/>
            <a:ext cx="5327451" cy="21913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직원이 직접 마주하는 인사·복지 등 부패위험 통제, 제도 전면 개선</a:t>
            </a:r>
          </a:p>
        </p:txBody>
      </p:sp>
      <p:sp>
        <p:nvSpPr>
          <p:cNvPr id="22" name="그룹 틀"/>
          <p:cNvSpPr/>
          <p:nvPr/>
        </p:nvSpPr>
        <p:spPr>
          <a:xfrm>
            <a:off x="723130" y="1336696"/>
            <a:ext cx="6300000" cy="2268000"/>
          </a:xfrm>
          <a:prstGeom prst="rect">
            <a:avLst/>
          </a:prstGeom>
          <a:solidFill>
            <a:srgbClr val="FFFFFF"/>
          </a:solidFill>
          <a:ln w="1587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3" name="카드 머리"/>
          <p:cNvSpPr/>
          <p:nvPr/>
        </p:nvSpPr>
        <p:spPr>
          <a:xfrm>
            <a:off x="756000" y="1358609"/>
            <a:ext cx="3095217" cy="208174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4" name="태그"/>
          <p:cNvSpPr/>
          <p:nvPr/>
        </p:nvSpPr>
        <p:spPr>
          <a:xfrm>
            <a:off x="799826" y="1380522"/>
            <a:ext cx="691524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5" name="태그"/>
          <p:cNvSpPr>
            <a:spLocks noGrp="1"/>
          </p:cNvSpPr>
          <p:nvPr>
            <p:ph type="body" sz="quarter" idx="27"/>
          </p:nvPr>
        </p:nvSpPr>
        <p:spPr>
          <a:xfrm>
            <a:off x="799826" y="1380522"/>
            <a:ext cx="691524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특혜제공</a:t>
            </a:r>
          </a:p>
        </p:txBody>
      </p:sp>
      <p:sp>
        <p:nvSpPr>
          <p:cNvPr id="26" name="카드 제목"/>
          <p:cNvSpPr>
            <a:spLocks noGrp="1"/>
          </p:cNvSpPr>
          <p:nvPr>
            <p:ph type="body" sz="quarter" idx="28"/>
          </p:nvPr>
        </p:nvSpPr>
        <p:spPr>
          <a:xfrm>
            <a:off x="1524219" y="1358609"/>
            <a:ext cx="2305085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객관적 인사운영으로 특혜 차단</a:t>
            </a:r>
          </a:p>
        </p:txBody>
      </p:sp>
      <p:sp>
        <p:nvSpPr>
          <p:cNvPr id="27" name="카드 본문"/>
          <p:cNvSpPr>
            <a:spLocks noGrp="1"/>
          </p:cNvSpPr>
          <p:nvPr>
            <p:ph type="body" sz="quarter" idx="29"/>
          </p:nvPr>
        </p:nvSpPr>
        <p:spPr>
          <a:xfrm>
            <a:off x="756000" y="1577739"/>
            <a:ext cx="1905449" cy="843652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승진 시험제도, 직무 중심 인사평가 도입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전사 TF, 설명회 등 점진적 조성</a:t>
            </a:r>
          </a:p>
        </p:txBody>
      </p:sp>
      <p:sp>
        <p:nvSpPr>
          <p:cNvPr id="28" name="도표 제목"/>
          <p:cNvSpPr>
            <a:spLocks noGrp="1"/>
          </p:cNvSpPr>
          <p:nvPr>
            <p:ph type="body" sz="quarter" idx="30"/>
          </p:nvPr>
        </p:nvSpPr>
        <p:spPr>
          <a:xfrm>
            <a:off x="2661449" y="1577739"/>
            <a:ext cx="116785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내부체감도</a:t>
            </a:r>
          </a:p>
        </p:txBody>
      </p:sp>
      <p:sp>
        <p:nvSpPr>
          <p:cNvPr id="29" name="막대"/>
          <p:cNvSpPr/>
          <p:nvPr/>
        </p:nvSpPr>
        <p:spPr>
          <a:xfrm>
            <a:off x="2738144" y="2182386"/>
            <a:ext cx="142435" cy="85614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0" name="값"/>
          <p:cNvSpPr>
            <a:spLocks noGrp="1"/>
          </p:cNvSpPr>
          <p:nvPr>
            <p:ph type="body" sz="quarter" idx="31"/>
          </p:nvPr>
        </p:nvSpPr>
        <p:spPr>
          <a:xfrm>
            <a:off x="2595710" y="2007082"/>
            <a:ext cx="427304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56.0점</a:t>
            </a:r>
          </a:p>
        </p:txBody>
      </p:sp>
      <p:sp>
        <p:nvSpPr>
          <p:cNvPr id="31" name="연도"/>
          <p:cNvSpPr>
            <a:spLocks noGrp="1"/>
          </p:cNvSpPr>
          <p:nvPr>
            <p:ph type="body" sz="quarter" idx="32"/>
          </p:nvPr>
        </p:nvSpPr>
        <p:spPr>
          <a:xfrm>
            <a:off x="2595710" y="2278957"/>
            <a:ext cx="427304" cy="153391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32" name="막대"/>
          <p:cNvSpPr/>
          <p:nvPr/>
        </p:nvSpPr>
        <p:spPr>
          <a:xfrm>
            <a:off x="3267290" y="2136522"/>
            <a:ext cx="142435" cy="13147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3" name="값"/>
          <p:cNvSpPr>
            <a:spLocks noGrp="1"/>
          </p:cNvSpPr>
          <p:nvPr>
            <p:ph type="body" sz="quarter" idx="33"/>
          </p:nvPr>
        </p:nvSpPr>
        <p:spPr>
          <a:xfrm>
            <a:off x="3124855" y="1961217"/>
            <a:ext cx="427304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86.3점</a:t>
            </a:r>
          </a:p>
        </p:txBody>
      </p:sp>
      <p:sp>
        <p:nvSpPr>
          <p:cNvPr id="34" name="연도"/>
          <p:cNvSpPr>
            <a:spLocks noGrp="1"/>
          </p:cNvSpPr>
          <p:nvPr>
            <p:ph type="body" sz="quarter" idx="34"/>
          </p:nvPr>
        </p:nvSpPr>
        <p:spPr>
          <a:xfrm>
            <a:off x="3124855" y="2278957"/>
            <a:ext cx="427304" cy="153391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cxnSp>
        <p:nvCxnSpPr>
          <p:cNvPr id="35" name="Connector 24"/>
          <p:cNvCxnSpPr/>
          <p:nvPr/>
        </p:nvCxnSpPr>
        <p:spPr>
          <a:xfrm>
            <a:off x="3862174" y="1391478"/>
            <a:ext cx="0" cy="101895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6" name="카드 머리"/>
          <p:cNvSpPr/>
          <p:nvPr/>
        </p:nvSpPr>
        <p:spPr>
          <a:xfrm>
            <a:off x="3873130" y="1358609"/>
            <a:ext cx="3095217" cy="208174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7" name="태그"/>
          <p:cNvSpPr/>
          <p:nvPr/>
        </p:nvSpPr>
        <p:spPr>
          <a:xfrm>
            <a:off x="3916957" y="1380522"/>
            <a:ext cx="691524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8" name="태그"/>
          <p:cNvSpPr>
            <a:spLocks noGrp="1"/>
          </p:cNvSpPr>
          <p:nvPr>
            <p:ph type="body" sz="quarter" idx="35"/>
          </p:nvPr>
        </p:nvSpPr>
        <p:spPr>
          <a:xfrm>
            <a:off x="3916957" y="1380522"/>
            <a:ext cx="691524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예산낭비</a:t>
            </a:r>
          </a:p>
        </p:txBody>
      </p:sp>
      <p:sp>
        <p:nvSpPr>
          <p:cNvPr id="39" name="카드 제목"/>
          <p:cNvSpPr>
            <a:spLocks noGrp="1"/>
          </p:cNvSpPr>
          <p:nvPr>
            <p:ph type="body" sz="quarter" idx="36"/>
          </p:nvPr>
        </p:nvSpPr>
        <p:spPr>
          <a:xfrm>
            <a:off x="4641350" y="1358609"/>
            <a:ext cx="2305085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관행적 복지예산 집행 효율화</a:t>
            </a:r>
          </a:p>
        </p:txBody>
      </p:sp>
      <p:sp>
        <p:nvSpPr>
          <p:cNvPr id="40" name="카드 본문"/>
          <p:cNvSpPr>
            <a:spLocks noGrp="1"/>
          </p:cNvSpPr>
          <p:nvPr>
            <p:ph type="body" sz="quarter" idx="37"/>
          </p:nvPr>
        </p:nvSpPr>
        <p:spPr>
          <a:xfrm>
            <a:off x="3873130" y="1577739"/>
            <a:ext cx="1905449" cy="843652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모바일 특근 식권제도 전면 도입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노조 합동설명회 등 갈등 극복</a:t>
            </a:r>
          </a:p>
        </p:txBody>
      </p:sp>
      <p:sp>
        <p:nvSpPr>
          <p:cNvPr id="41" name="요약 칸"/>
          <p:cNvSpPr/>
          <p:nvPr/>
        </p:nvSpPr>
        <p:spPr>
          <a:xfrm>
            <a:off x="5822405" y="1610609"/>
            <a:ext cx="1102117" cy="777913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42" name="요약 칸"/>
          <p:cNvSpPr>
            <a:spLocks noGrp="1"/>
          </p:cNvSpPr>
          <p:nvPr>
            <p:ph type="body" sz="quarter" idx="38"/>
          </p:nvPr>
        </p:nvSpPr>
        <p:spPr>
          <a:xfrm>
            <a:off x="5822405" y="1610609"/>
            <a:ext cx="1102117" cy="7779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예산 절감 5억원</a:t>
            </a:r>
          </a:p>
        </p:txBody>
      </p:sp>
      <p:sp>
        <p:nvSpPr>
          <p:cNvPr id="43" name="카드 머리"/>
          <p:cNvSpPr/>
          <p:nvPr/>
        </p:nvSpPr>
        <p:spPr>
          <a:xfrm>
            <a:off x="756000" y="2454261"/>
            <a:ext cx="3095217" cy="208174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4" name="태그"/>
          <p:cNvSpPr/>
          <p:nvPr/>
        </p:nvSpPr>
        <p:spPr>
          <a:xfrm>
            <a:off x="799826" y="2476174"/>
            <a:ext cx="691524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5" name="태그"/>
          <p:cNvSpPr>
            <a:spLocks noGrp="1"/>
          </p:cNvSpPr>
          <p:nvPr>
            <p:ph type="body" sz="quarter" idx="39"/>
          </p:nvPr>
        </p:nvSpPr>
        <p:spPr>
          <a:xfrm>
            <a:off x="799826" y="2476174"/>
            <a:ext cx="691524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❸ 회계부정</a:t>
            </a:r>
          </a:p>
        </p:txBody>
      </p:sp>
      <p:sp>
        <p:nvSpPr>
          <p:cNvPr id="46" name="카드 제목"/>
          <p:cNvSpPr>
            <a:spLocks noGrp="1"/>
          </p:cNvSpPr>
          <p:nvPr>
            <p:ph type="body" sz="quarter" idx="40"/>
          </p:nvPr>
        </p:nvSpPr>
        <p:spPr>
          <a:xfrm>
            <a:off x="1524219" y="2454261"/>
            <a:ext cx="2305085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회계투명성 강화 관리체계 구축</a:t>
            </a:r>
          </a:p>
        </p:txBody>
      </p:sp>
      <p:sp>
        <p:nvSpPr>
          <p:cNvPr id="47" name="카드 본문"/>
          <p:cNvSpPr>
            <a:spLocks noGrp="1"/>
          </p:cNvSpPr>
          <p:nvPr>
            <p:ph type="body" sz="quarter" idx="41"/>
          </p:nvPr>
        </p:nvSpPr>
        <p:spPr>
          <a:xfrm>
            <a:off x="756000" y="2673391"/>
            <a:ext cx="1905449" cy="843652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교육 유형별 교육, 관리자교육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지침 해외 경비정산 가이드 신설</a:t>
            </a:r>
          </a:p>
        </p:txBody>
      </p:sp>
      <p:sp>
        <p:nvSpPr>
          <p:cNvPr id="48" name="도표 제목"/>
          <p:cNvSpPr>
            <a:spLocks noGrp="1"/>
          </p:cNvSpPr>
          <p:nvPr>
            <p:ph type="body" sz="quarter" idx="42"/>
          </p:nvPr>
        </p:nvSpPr>
        <p:spPr>
          <a:xfrm>
            <a:off x="2661449" y="2673391"/>
            <a:ext cx="116785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점검대상</a:t>
            </a:r>
          </a:p>
        </p:txBody>
      </p:sp>
      <p:sp>
        <p:nvSpPr>
          <p:cNvPr id="49" name="막대"/>
          <p:cNvSpPr/>
          <p:nvPr/>
        </p:nvSpPr>
        <p:spPr>
          <a:xfrm>
            <a:off x="2738144" y="3232174"/>
            <a:ext cx="142435" cy="131478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0" name="값"/>
          <p:cNvSpPr>
            <a:spLocks noGrp="1"/>
          </p:cNvSpPr>
          <p:nvPr>
            <p:ph type="body" sz="quarter" idx="43"/>
          </p:nvPr>
        </p:nvSpPr>
        <p:spPr>
          <a:xfrm>
            <a:off x="2595710" y="3056870"/>
            <a:ext cx="427304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상</a:t>
            </a:r>
          </a:p>
        </p:txBody>
      </p:sp>
      <p:sp>
        <p:nvSpPr>
          <p:cNvPr id="51" name="연도"/>
          <p:cNvSpPr>
            <a:spLocks noGrp="1"/>
          </p:cNvSpPr>
          <p:nvPr>
            <p:ph type="body" sz="quarter" idx="44"/>
          </p:nvPr>
        </p:nvSpPr>
        <p:spPr>
          <a:xfrm>
            <a:off x="2595710" y="3374609"/>
            <a:ext cx="427304" cy="153391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상</a:t>
            </a:r>
          </a:p>
        </p:txBody>
      </p:sp>
      <p:sp>
        <p:nvSpPr>
          <p:cNvPr id="52" name="막대"/>
          <p:cNvSpPr/>
          <p:nvPr/>
        </p:nvSpPr>
        <p:spPr>
          <a:xfrm>
            <a:off x="3267290" y="3288522"/>
            <a:ext cx="142435" cy="75130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3" name="값"/>
          <p:cNvSpPr>
            <a:spLocks noGrp="1"/>
          </p:cNvSpPr>
          <p:nvPr>
            <p:ph type="body" sz="quarter" idx="45"/>
          </p:nvPr>
        </p:nvSpPr>
        <p:spPr>
          <a:xfrm>
            <a:off x="3124855" y="3113217"/>
            <a:ext cx="427304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24%↓</a:t>
            </a:r>
          </a:p>
        </p:txBody>
      </p:sp>
      <p:sp>
        <p:nvSpPr>
          <p:cNvPr id="54" name="연도"/>
          <p:cNvSpPr>
            <a:spLocks noGrp="1"/>
          </p:cNvSpPr>
          <p:nvPr>
            <p:ph type="body" sz="quarter" idx="46"/>
          </p:nvPr>
        </p:nvSpPr>
        <p:spPr>
          <a:xfrm>
            <a:off x="3124855" y="3374609"/>
            <a:ext cx="427304" cy="153391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하</a:t>
            </a:r>
          </a:p>
        </p:txBody>
      </p:sp>
      <p:cxnSp>
        <p:nvCxnSpPr>
          <p:cNvPr id="55" name="Connector 41"/>
          <p:cNvCxnSpPr/>
          <p:nvPr/>
        </p:nvCxnSpPr>
        <p:spPr>
          <a:xfrm>
            <a:off x="3862174" y="2487130"/>
            <a:ext cx="0" cy="101895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6" name="카드 머리"/>
          <p:cNvSpPr/>
          <p:nvPr/>
        </p:nvSpPr>
        <p:spPr>
          <a:xfrm>
            <a:off x="3873130" y="2454261"/>
            <a:ext cx="3095217" cy="208174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7" name="태그"/>
          <p:cNvSpPr/>
          <p:nvPr/>
        </p:nvSpPr>
        <p:spPr>
          <a:xfrm>
            <a:off x="3916957" y="2476174"/>
            <a:ext cx="691524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58" name="태그"/>
          <p:cNvSpPr>
            <a:spLocks noGrp="1"/>
          </p:cNvSpPr>
          <p:nvPr>
            <p:ph type="body" sz="quarter" idx="47"/>
          </p:nvPr>
        </p:nvSpPr>
        <p:spPr>
          <a:xfrm>
            <a:off x="3916957" y="2476174"/>
            <a:ext cx="691524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❹ 정보보안</a:t>
            </a:r>
          </a:p>
        </p:txBody>
      </p:sp>
      <p:sp>
        <p:nvSpPr>
          <p:cNvPr id="59" name="카드 제목"/>
          <p:cNvSpPr>
            <a:spLocks noGrp="1"/>
          </p:cNvSpPr>
          <p:nvPr>
            <p:ph type="body" sz="quarter" idx="48"/>
          </p:nvPr>
        </p:nvSpPr>
        <p:spPr>
          <a:xfrm>
            <a:off x="4641350" y="2454261"/>
            <a:ext cx="2305085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기록물 유출 없는 환경 조성</a:t>
            </a:r>
          </a:p>
        </p:txBody>
      </p:sp>
      <p:sp>
        <p:nvSpPr>
          <p:cNvPr id="60" name="카드 본문"/>
          <p:cNvSpPr>
            <a:spLocks noGrp="1"/>
          </p:cNvSpPr>
          <p:nvPr>
            <p:ph type="body" sz="quarter" idx="49"/>
          </p:nvPr>
        </p:nvSpPr>
        <p:spPr>
          <a:xfrm>
            <a:off x="3873130" y="2673391"/>
            <a:ext cx="1905449" cy="843652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정보보호 중장기 전략수립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민감정보 가명화·합성데이터 생성</a:t>
            </a:r>
          </a:p>
        </p:txBody>
      </p:sp>
      <p:sp>
        <p:nvSpPr>
          <p:cNvPr id="61" name="요약 칸"/>
          <p:cNvSpPr/>
          <p:nvPr/>
        </p:nvSpPr>
        <p:spPr>
          <a:xfrm>
            <a:off x="5822405" y="2706261"/>
            <a:ext cx="1102117" cy="777913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62" name="요약 칸"/>
          <p:cNvSpPr>
            <a:spLocks noGrp="1"/>
          </p:cNvSpPr>
          <p:nvPr>
            <p:ph type="body" sz="quarter" idx="50"/>
          </p:nvPr>
        </p:nvSpPr>
        <p:spPr>
          <a:xfrm>
            <a:off x="5822405" y="2706261"/>
            <a:ext cx="1102117" cy="7779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기록관리 평가 9년 연속 최고등급</a:t>
            </a:r>
          </a:p>
        </p:txBody>
      </p:sp>
      <p:sp>
        <p:nvSpPr>
          <p:cNvPr id="63" name="아이콘 칸"/>
          <p:cNvSpPr/>
          <p:nvPr/>
        </p:nvSpPr>
        <p:spPr>
          <a:xfrm>
            <a:off x="723130" y="3692348"/>
            <a:ext cx="175304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3600" rIns="3600" tIns="0" bIns="0" wrap="square"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/>
            </a:r>
          </a:p>
        </p:txBody>
      </p:sp>
      <p:sp>
        <p:nvSpPr>
          <p:cNvPr id="64" name="태그"/>
          <p:cNvSpPr/>
          <p:nvPr/>
        </p:nvSpPr>
        <p:spPr>
          <a:xfrm>
            <a:off x="942261" y="3692348"/>
            <a:ext cx="577911" cy="175304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65" name="태그"/>
          <p:cNvSpPr>
            <a:spLocks noGrp="1"/>
          </p:cNvSpPr>
          <p:nvPr>
            <p:ph type="body" sz="quarter" idx="51"/>
          </p:nvPr>
        </p:nvSpPr>
        <p:spPr>
          <a:xfrm>
            <a:off x="942261" y="3692348"/>
            <a:ext cx="57791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외부 고객</a:t>
            </a:r>
          </a:p>
        </p:txBody>
      </p:sp>
      <p:sp>
        <p:nvSpPr>
          <p:cNvPr id="66" name="그룹 제목"/>
          <p:cNvSpPr>
            <a:spLocks noGrp="1"/>
          </p:cNvSpPr>
          <p:nvPr>
            <p:ph type="body" sz="quarter" idx="52"/>
          </p:nvPr>
        </p:nvSpPr>
        <p:spPr>
          <a:xfrm>
            <a:off x="1563998" y="3670435"/>
            <a:ext cx="5437219" cy="21913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고객이 불편하고 불안한 요인을 선제적으로 해소</a:t>
            </a:r>
          </a:p>
        </p:txBody>
      </p:sp>
      <p:sp>
        <p:nvSpPr>
          <p:cNvPr id="67" name="그룹 틀"/>
          <p:cNvSpPr/>
          <p:nvPr/>
        </p:nvSpPr>
        <p:spPr>
          <a:xfrm>
            <a:off x="723130" y="3911478"/>
            <a:ext cx="6300000" cy="1172348"/>
          </a:xfrm>
          <a:prstGeom prst="rect">
            <a:avLst/>
          </a:prstGeom>
          <a:solidFill>
            <a:srgbClr val="FFFFFF"/>
          </a:solidFill>
          <a:ln w="1587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8" name="카드 머리"/>
          <p:cNvSpPr/>
          <p:nvPr/>
        </p:nvSpPr>
        <p:spPr>
          <a:xfrm>
            <a:off x="756000" y="3933391"/>
            <a:ext cx="3095217" cy="208174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9" name="태그"/>
          <p:cNvSpPr/>
          <p:nvPr/>
        </p:nvSpPr>
        <p:spPr>
          <a:xfrm>
            <a:off x="799826" y="3955304"/>
            <a:ext cx="691524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70" name="태그"/>
          <p:cNvSpPr>
            <a:spLocks noGrp="1"/>
          </p:cNvSpPr>
          <p:nvPr>
            <p:ph type="body" sz="quarter" idx="53"/>
          </p:nvPr>
        </p:nvSpPr>
        <p:spPr>
          <a:xfrm>
            <a:off x="799826" y="3955304"/>
            <a:ext cx="691524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❺ 소극행정</a:t>
            </a:r>
          </a:p>
        </p:txBody>
      </p:sp>
      <p:sp>
        <p:nvSpPr>
          <p:cNvPr id="71" name="카드 제목"/>
          <p:cNvSpPr>
            <a:spLocks noGrp="1"/>
          </p:cNvSpPr>
          <p:nvPr>
            <p:ph type="body" sz="quarter" idx="54"/>
          </p:nvPr>
        </p:nvSpPr>
        <p:spPr>
          <a:xfrm>
            <a:off x="1524219" y="3933391"/>
            <a:ext cx="2305085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토지보상 고객 불편 해소</a:t>
            </a:r>
          </a:p>
        </p:txBody>
      </p:sp>
      <p:sp>
        <p:nvSpPr>
          <p:cNvPr id="72" name="카드 본문"/>
          <p:cNvSpPr>
            <a:spLocks noGrp="1"/>
          </p:cNvSpPr>
          <p:nvPr>
            <p:ph type="body" sz="quarter" idx="55"/>
          </p:nvPr>
        </p:nvSpPr>
        <p:spPr>
          <a:xfrm>
            <a:off x="756000" y="4152522"/>
            <a:ext cx="1905449" cy="843652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아날로그 업무, 체감도 하락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디지털 전환 ➡ 실시간 서비스</a:t>
            </a:r>
          </a:p>
        </p:txBody>
      </p:sp>
      <p:sp>
        <p:nvSpPr>
          <p:cNvPr id="73" name="도표 제목"/>
          <p:cNvSpPr>
            <a:spLocks noGrp="1"/>
          </p:cNvSpPr>
          <p:nvPr>
            <p:ph type="body" sz="quarter" idx="56"/>
          </p:nvPr>
        </p:nvSpPr>
        <p:spPr>
          <a:xfrm>
            <a:off x="2661449" y="4152522"/>
            <a:ext cx="116785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외부체감도</a:t>
            </a:r>
          </a:p>
        </p:txBody>
      </p:sp>
      <p:sp>
        <p:nvSpPr>
          <p:cNvPr id="74" name="막대"/>
          <p:cNvSpPr/>
          <p:nvPr/>
        </p:nvSpPr>
        <p:spPr>
          <a:xfrm>
            <a:off x="2738144" y="4729883"/>
            <a:ext cx="142435" cy="112900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5" name="값"/>
          <p:cNvSpPr>
            <a:spLocks noGrp="1"/>
          </p:cNvSpPr>
          <p:nvPr>
            <p:ph type="body" sz="quarter" idx="57"/>
          </p:nvPr>
        </p:nvSpPr>
        <p:spPr>
          <a:xfrm>
            <a:off x="2595710" y="4554578"/>
            <a:ext cx="427304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79.1점</a:t>
            </a:r>
          </a:p>
        </p:txBody>
      </p:sp>
      <p:sp>
        <p:nvSpPr>
          <p:cNvPr id="76" name="연도"/>
          <p:cNvSpPr>
            <a:spLocks noGrp="1"/>
          </p:cNvSpPr>
          <p:nvPr>
            <p:ph type="body" sz="quarter" idx="58"/>
          </p:nvPr>
        </p:nvSpPr>
        <p:spPr>
          <a:xfrm>
            <a:off x="2595710" y="4853739"/>
            <a:ext cx="427304" cy="153391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77" name="막대"/>
          <p:cNvSpPr/>
          <p:nvPr/>
        </p:nvSpPr>
        <p:spPr>
          <a:xfrm>
            <a:off x="3267290" y="4711304"/>
            <a:ext cx="142435" cy="13147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8" name="값"/>
          <p:cNvSpPr>
            <a:spLocks noGrp="1"/>
          </p:cNvSpPr>
          <p:nvPr>
            <p:ph type="body" sz="quarter" idx="59"/>
          </p:nvPr>
        </p:nvSpPr>
        <p:spPr>
          <a:xfrm>
            <a:off x="3124855" y="4536000"/>
            <a:ext cx="427304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92.4점</a:t>
            </a:r>
          </a:p>
        </p:txBody>
      </p:sp>
      <p:sp>
        <p:nvSpPr>
          <p:cNvPr id="79" name="연도"/>
          <p:cNvSpPr>
            <a:spLocks noGrp="1"/>
          </p:cNvSpPr>
          <p:nvPr>
            <p:ph type="body" sz="quarter" idx="60"/>
          </p:nvPr>
        </p:nvSpPr>
        <p:spPr>
          <a:xfrm>
            <a:off x="3124855" y="4853739"/>
            <a:ext cx="427304" cy="153391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cxnSp>
        <p:nvCxnSpPr>
          <p:cNvPr id="80" name="Connector 62"/>
          <p:cNvCxnSpPr/>
          <p:nvPr/>
        </p:nvCxnSpPr>
        <p:spPr>
          <a:xfrm>
            <a:off x="3862174" y="3966261"/>
            <a:ext cx="0" cy="1018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1" name="카드 머리"/>
          <p:cNvSpPr/>
          <p:nvPr/>
        </p:nvSpPr>
        <p:spPr>
          <a:xfrm>
            <a:off x="3873130" y="3933391"/>
            <a:ext cx="3095217" cy="208174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2" name="태그"/>
          <p:cNvSpPr/>
          <p:nvPr/>
        </p:nvSpPr>
        <p:spPr>
          <a:xfrm>
            <a:off x="3916957" y="3955304"/>
            <a:ext cx="691524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83" name="태그"/>
          <p:cNvSpPr>
            <a:spLocks noGrp="1"/>
          </p:cNvSpPr>
          <p:nvPr>
            <p:ph type="body" sz="quarter" idx="61"/>
          </p:nvPr>
        </p:nvSpPr>
        <p:spPr>
          <a:xfrm>
            <a:off x="3916957" y="3955304"/>
            <a:ext cx="691524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❻ 갑질행위</a:t>
            </a:r>
          </a:p>
        </p:txBody>
      </p:sp>
      <p:sp>
        <p:nvSpPr>
          <p:cNvPr id="84" name="카드 제목"/>
          <p:cNvSpPr>
            <a:spLocks noGrp="1"/>
          </p:cNvSpPr>
          <p:nvPr>
            <p:ph type="body" sz="quarter" idx="62"/>
          </p:nvPr>
        </p:nvSpPr>
        <p:spPr>
          <a:xfrm>
            <a:off x="4641350" y="3933391"/>
            <a:ext cx="2305085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갑질예방 프로세스 개선</a:t>
            </a:r>
          </a:p>
        </p:txBody>
      </p:sp>
      <p:sp>
        <p:nvSpPr>
          <p:cNvPr id="85" name="카드 본문"/>
          <p:cNvSpPr>
            <a:spLocks noGrp="1"/>
          </p:cNvSpPr>
          <p:nvPr>
            <p:ph type="body" sz="quarter" idx="63"/>
          </p:nvPr>
        </p:nvSpPr>
        <p:spPr>
          <a:xfrm>
            <a:off x="3873130" y="4152522"/>
            <a:ext cx="1905449" cy="843652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전방위 갑질근절 대책 수립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하도급실태 점검, 불공정 계약 개선</a:t>
            </a:r>
          </a:p>
        </p:txBody>
      </p:sp>
      <p:sp>
        <p:nvSpPr>
          <p:cNvPr id="86" name="도표 제목"/>
          <p:cNvSpPr>
            <a:spLocks noGrp="1"/>
          </p:cNvSpPr>
          <p:nvPr>
            <p:ph type="body" sz="quarter" idx="64"/>
          </p:nvPr>
        </p:nvSpPr>
        <p:spPr>
          <a:xfrm>
            <a:off x="5778579" y="4152522"/>
            <a:ext cx="1167856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외부체감도</a:t>
            </a:r>
          </a:p>
        </p:txBody>
      </p:sp>
      <p:sp>
        <p:nvSpPr>
          <p:cNvPr id="87" name="막대"/>
          <p:cNvSpPr/>
          <p:nvPr/>
        </p:nvSpPr>
        <p:spPr>
          <a:xfrm>
            <a:off x="5855275" y="4713988"/>
            <a:ext cx="142435" cy="128795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8" name="값"/>
          <p:cNvSpPr>
            <a:spLocks noGrp="1"/>
          </p:cNvSpPr>
          <p:nvPr>
            <p:ph type="body" sz="quarter" idx="65"/>
          </p:nvPr>
        </p:nvSpPr>
        <p:spPr>
          <a:xfrm>
            <a:off x="5712840" y="4538683"/>
            <a:ext cx="427304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96.2점</a:t>
            </a:r>
          </a:p>
        </p:txBody>
      </p:sp>
      <p:sp>
        <p:nvSpPr>
          <p:cNvPr id="89" name="연도"/>
          <p:cNvSpPr>
            <a:spLocks noGrp="1"/>
          </p:cNvSpPr>
          <p:nvPr>
            <p:ph type="body" sz="quarter" idx="66"/>
          </p:nvPr>
        </p:nvSpPr>
        <p:spPr>
          <a:xfrm>
            <a:off x="5712840" y="4853739"/>
            <a:ext cx="427304" cy="153391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90" name="막대"/>
          <p:cNvSpPr/>
          <p:nvPr/>
        </p:nvSpPr>
        <p:spPr>
          <a:xfrm>
            <a:off x="6384420" y="4711304"/>
            <a:ext cx="142435" cy="13147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1" name="값"/>
          <p:cNvSpPr>
            <a:spLocks noGrp="1"/>
          </p:cNvSpPr>
          <p:nvPr>
            <p:ph type="body" sz="quarter" idx="67"/>
          </p:nvPr>
        </p:nvSpPr>
        <p:spPr>
          <a:xfrm>
            <a:off x="6241985" y="4536000"/>
            <a:ext cx="427304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98.0점</a:t>
            </a:r>
          </a:p>
        </p:txBody>
      </p:sp>
      <p:sp>
        <p:nvSpPr>
          <p:cNvPr id="92" name="연도"/>
          <p:cNvSpPr>
            <a:spLocks noGrp="1"/>
          </p:cNvSpPr>
          <p:nvPr>
            <p:ph type="body" sz="quarter" idx="68"/>
          </p:nvPr>
        </p:nvSpPr>
        <p:spPr>
          <a:xfrm>
            <a:off x="6241985" y="4853739"/>
            <a:ext cx="427304" cy="153391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37 서사 · 환경분석 → 신고채널 안심 → 자정기능 → 추진성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신고채널은 집중적으로, 모니터링은 전문화하여 실효적 윤리경영</a:t>
            </a:r>
          </a:p>
        </p:txBody>
      </p:sp>
      <p:sp>
        <p:nvSpPr>
          <p:cNvPr id="15" name="번호"/>
          <p:cNvSpPr>
            <a:spLocks noGrp="1"/>
          </p:cNvSpPr>
          <p:nvPr>
            <p:ph type="body" sz="quarter" idx="22"/>
          </p:nvPr>
        </p:nvSpPr>
        <p:spPr>
          <a:xfrm>
            <a:off x="536870" y="1194261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16" name="분야 박스"/>
          <p:cNvSpPr/>
          <p:nvPr/>
        </p:nvSpPr>
        <p:spPr>
          <a:xfrm>
            <a:off x="766390" y="1227130"/>
            <a:ext cx="592466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분야 박스"/>
          <p:cNvSpPr>
            <a:spLocks noGrp="1"/>
          </p:cNvSpPr>
          <p:nvPr>
            <p:ph type="body" sz="quarter" idx="23"/>
          </p:nvPr>
        </p:nvSpPr>
        <p:spPr>
          <a:xfrm>
            <a:off x="766390" y="1227130"/>
            <a:ext cx="59246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신고제도</a:t>
            </a:r>
          </a:p>
        </p:txBody>
      </p:sp>
      <p:sp>
        <p:nvSpPr>
          <p:cNvPr id="18" name="형광 밑줄"/>
          <p:cNvSpPr/>
          <p:nvPr/>
        </p:nvSpPr>
        <p:spPr>
          <a:xfrm>
            <a:off x="1424595" y="1347652"/>
            <a:ext cx="3464255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소제목"/>
          <p:cNvSpPr>
            <a:spLocks noGrp="1"/>
          </p:cNvSpPr>
          <p:nvPr>
            <p:ph type="body" sz="quarter" idx="24"/>
          </p:nvPr>
        </p:nvSpPr>
        <p:spPr>
          <a:xfrm>
            <a:off x="1424595" y="1194261"/>
            <a:ext cx="5412275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부정행위에는 한 치의 망설임 없이 쉽고 안전한 신고로 대응</a:t>
            </a:r>
          </a:p>
        </p:txBody>
      </p:sp>
      <p:sp>
        <p:nvSpPr>
          <p:cNvPr id="20" name="태그칩"/>
          <p:cNvSpPr/>
          <p:nvPr/>
        </p:nvSpPr>
        <p:spPr>
          <a:xfrm>
            <a:off x="4987459" y="1227130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태그칩"/>
          <p:cNvSpPr>
            <a:spLocks noGrp="1"/>
          </p:cNvSpPr>
          <p:nvPr>
            <p:ph type="body" sz="quarter" idx="25"/>
          </p:nvPr>
        </p:nvSpPr>
        <p:spPr>
          <a:xfrm>
            <a:off x="4987459" y="1227130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22" name="표 외곽"/>
          <p:cNvSpPr/>
          <p:nvPr/>
        </p:nvSpPr>
        <p:spPr>
          <a:xfrm>
            <a:off x="536870" y="1479130"/>
            <a:ext cx="6300000" cy="65473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3" name="레일"/>
          <p:cNvSpPr/>
          <p:nvPr/>
        </p:nvSpPr>
        <p:spPr>
          <a:xfrm>
            <a:off x="547826" y="1495565"/>
            <a:ext cx="580696" cy="621861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4" name="레일"/>
          <p:cNvSpPr>
            <a:spLocks noGrp="1"/>
          </p:cNvSpPr>
          <p:nvPr>
            <p:ph type="body" sz="quarter" idx="26"/>
          </p:nvPr>
        </p:nvSpPr>
        <p:spPr>
          <a:xfrm>
            <a:off x="547826" y="1495565"/>
            <a:ext cx="580696" cy="6218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환경분석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및 진단</a:t>
            </a:r>
          </a:p>
        </p:txBody>
      </p:sp>
      <p:sp>
        <p:nvSpPr>
          <p:cNvPr id="25" name="단계"/>
          <p:cNvSpPr/>
          <p:nvPr/>
        </p:nvSpPr>
        <p:spPr>
          <a:xfrm>
            <a:off x="1161391" y="1517478"/>
            <a:ext cx="282404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6" name="단계"/>
          <p:cNvSpPr>
            <a:spLocks noGrp="1"/>
          </p:cNvSpPr>
          <p:nvPr>
            <p:ph type="body" sz="quarter" idx="27"/>
          </p:nvPr>
        </p:nvSpPr>
        <p:spPr>
          <a:xfrm>
            <a:off x="1161391" y="1517478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환경분석 및 진단</a:t>
            </a:r>
          </a:p>
        </p:txBody>
      </p:sp>
      <p:sp>
        <p:nvSpPr>
          <p:cNvPr id="27" name="단계"/>
          <p:cNvSpPr/>
          <p:nvPr/>
        </p:nvSpPr>
        <p:spPr>
          <a:xfrm>
            <a:off x="3985435" y="1517478"/>
            <a:ext cx="2824043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8" name="단계"/>
          <p:cNvSpPr>
            <a:spLocks noGrp="1"/>
          </p:cNvSpPr>
          <p:nvPr>
            <p:ph type="body" sz="quarter" idx="28"/>
          </p:nvPr>
        </p:nvSpPr>
        <p:spPr>
          <a:xfrm>
            <a:off x="3985435" y="1517478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개선과제 도출</a:t>
            </a:r>
          </a:p>
        </p:txBody>
      </p:sp>
      <p:sp>
        <p:nvSpPr>
          <p:cNvPr id="29" name="단계 삼각형"/>
          <p:cNvSpPr/>
          <p:nvPr/>
        </p:nvSpPr>
        <p:spPr>
          <a:xfrm>
            <a:off x="3985434" y="1517478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0" name="칸 본문"/>
          <p:cNvSpPr>
            <a:spLocks noGrp="1"/>
          </p:cNvSpPr>
          <p:nvPr>
            <p:ph type="body" sz="quarter" idx="29"/>
          </p:nvPr>
        </p:nvSpPr>
        <p:spPr>
          <a:xfrm>
            <a:off x="1172348" y="1769478"/>
            <a:ext cx="2802130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직원설문 다양한 신고채널 사용 어려움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감사 처분 결과 징계 발생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3996391" y="1769478"/>
            <a:ext cx="2802130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홍보강화 신고제도 홍보·효과성 제고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특별신고 제보 의존 탈피</a:t>
            </a:r>
          </a:p>
        </p:txBody>
      </p:sp>
      <p:cxnSp>
        <p:nvCxnSpPr>
          <p:cNvPr id="32" name="Connector 23"/>
          <p:cNvCxnSpPr/>
          <p:nvPr/>
        </p:nvCxnSpPr>
        <p:spPr>
          <a:xfrm>
            <a:off x="3985435" y="1802348"/>
            <a:ext cx="0" cy="2767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삼각 화살표"/>
          <p:cNvSpPr/>
          <p:nvPr/>
        </p:nvSpPr>
        <p:spPr>
          <a:xfrm>
            <a:off x="3823826" y="2177686"/>
            <a:ext cx="350608" cy="142435"/>
          </a:xfrm>
          <a:custGeom>
            <a:avLst/>
            <a:gdLst/>
            <a:ahLst/>
            <a:cxnLst/>
            <a:rect l="l" t="t" r="r" b="b"/>
            <a:pathLst>
              <a:path w="350608" h="142435">
                <a:moveTo>
                  <a:pt x="0" y="0"/>
                </a:moveTo>
                <a:lnTo>
                  <a:pt x="350608" y="0"/>
                </a:lnTo>
                <a:lnTo>
                  <a:pt x="175304" y="142435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4" name="표 외곽"/>
          <p:cNvSpPr/>
          <p:nvPr/>
        </p:nvSpPr>
        <p:spPr>
          <a:xfrm>
            <a:off x="536870" y="2391339"/>
            <a:ext cx="6300000" cy="184617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5" name="레일"/>
          <p:cNvSpPr/>
          <p:nvPr/>
        </p:nvSpPr>
        <p:spPr>
          <a:xfrm>
            <a:off x="547826" y="2407774"/>
            <a:ext cx="580696" cy="89843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6" name="레일"/>
          <p:cNvSpPr>
            <a:spLocks noGrp="1"/>
          </p:cNvSpPr>
          <p:nvPr>
            <p:ph type="body" sz="quarter" idx="31"/>
          </p:nvPr>
        </p:nvSpPr>
        <p:spPr>
          <a:xfrm>
            <a:off x="547826" y="2407774"/>
            <a:ext cx="580696" cy="898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신고는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 심</a:t>
            </a:r>
          </a:p>
        </p:txBody>
      </p:sp>
      <p:sp>
        <p:nvSpPr>
          <p:cNvPr id="37" name="머리칸"/>
          <p:cNvSpPr/>
          <p:nvPr/>
        </p:nvSpPr>
        <p:spPr>
          <a:xfrm>
            <a:off x="1161391" y="2429687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8" name="머리칸"/>
          <p:cNvSpPr>
            <a:spLocks noGrp="1"/>
          </p:cNvSpPr>
          <p:nvPr>
            <p:ph type="body" sz="quarter" idx="32"/>
          </p:nvPr>
        </p:nvSpPr>
        <p:spPr>
          <a:xfrm>
            <a:off x="1161391" y="2429687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내·외부 신고채널 일원화</a:t>
            </a:r>
          </a:p>
        </p:txBody>
      </p:sp>
      <p:sp>
        <p:nvSpPr>
          <p:cNvPr id="39" name="머리칸"/>
          <p:cNvSpPr/>
          <p:nvPr/>
        </p:nvSpPr>
        <p:spPr>
          <a:xfrm>
            <a:off x="3985435" y="2429687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0" name="머리칸"/>
          <p:cNvSpPr>
            <a:spLocks noGrp="1"/>
          </p:cNvSpPr>
          <p:nvPr>
            <p:ph type="body" sz="quarter" idx="33"/>
          </p:nvPr>
        </p:nvSpPr>
        <p:spPr>
          <a:xfrm>
            <a:off x="3985435" y="2429687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내부신고 오해와 불신 해소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34"/>
          </p:nvPr>
        </p:nvSpPr>
        <p:spPr>
          <a:xfrm>
            <a:off x="1172348" y="2670730"/>
            <a:ext cx="2802130" cy="39443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다양한 신고채널 카카오톡 통합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포스터, QR 등 고객 홍보 강화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35"/>
          </p:nvPr>
        </p:nvSpPr>
        <p:spPr>
          <a:xfrm>
            <a:off x="3996391" y="2670730"/>
            <a:ext cx="2802130" cy="39443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기관 특성 반영 신고 모의훈련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자진신고 인센티브 및 예방감시관 운영</a:t>
            </a:r>
          </a:p>
        </p:txBody>
      </p:sp>
      <p:cxnSp>
        <p:nvCxnSpPr>
          <p:cNvPr id="43" name="Connector 31"/>
          <p:cNvCxnSpPr/>
          <p:nvPr/>
        </p:nvCxnSpPr>
        <p:spPr>
          <a:xfrm>
            <a:off x="3985435" y="2703600"/>
            <a:ext cx="0" cy="32869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4" name="칸 본문"/>
          <p:cNvSpPr>
            <a:spLocks noGrp="1"/>
          </p:cNvSpPr>
          <p:nvPr>
            <p:ph type="body" sz="quarter" idx="36"/>
          </p:nvPr>
        </p:nvSpPr>
        <p:spPr>
          <a:xfrm>
            <a:off x="1172348" y="3081600"/>
            <a:ext cx="2802130" cy="21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통합신고채널 가입자 1.4배 증가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37"/>
          </p:nvPr>
        </p:nvSpPr>
        <p:spPr>
          <a:xfrm>
            <a:off x="3996391" y="3081600"/>
            <a:ext cx="2802130" cy="21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신고 접근성 제고 및 신뢰 상승</a:t>
            </a:r>
          </a:p>
        </p:txBody>
      </p:sp>
      <p:cxnSp>
        <p:nvCxnSpPr>
          <p:cNvPr id="46" name="Connector 34"/>
          <p:cNvCxnSpPr/>
          <p:nvPr/>
        </p:nvCxnSpPr>
        <p:spPr>
          <a:xfrm>
            <a:off x="3985435" y="3114470"/>
            <a:ext cx="0" cy="15339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7" name="레일"/>
          <p:cNvSpPr/>
          <p:nvPr/>
        </p:nvSpPr>
        <p:spPr>
          <a:xfrm>
            <a:off x="547826" y="3322643"/>
            <a:ext cx="580696" cy="898435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8" name="레일"/>
          <p:cNvSpPr>
            <a:spLocks noGrp="1"/>
          </p:cNvSpPr>
          <p:nvPr>
            <p:ph type="body" sz="quarter" idx="38"/>
          </p:nvPr>
        </p:nvSpPr>
        <p:spPr>
          <a:xfrm>
            <a:off x="547826" y="3322643"/>
            <a:ext cx="580696" cy="898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자정기능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작동에는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진 심</a:t>
            </a:r>
          </a:p>
        </p:txBody>
      </p:sp>
      <p:sp>
        <p:nvSpPr>
          <p:cNvPr id="49" name="레일 삼각형"/>
          <p:cNvSpPr/>
          <p:nvPr/>
        </p:nvSpPr>
        <p:spPr>
          <a:xfrm>
            <a:off x="547826" y="3322643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0" name="머리칸"/>
          <p:cNvSpPr/>
          <p:nvPr/>
        </p:nvSpPr>
        <p:spPr>
          <a:xfrm>
            <a:off x="1161391" y="3344557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1" name="머리칸"/>
          <p:cNvSpPr>
            <a:spLocks noGrp="1"/>
          </p:cNvSpPr>
          <p:nvPr>
            <p:ph type="body" sz="quarter" idx="39"/>
          </p:nvPr>
        </p:nvSpPr>
        <p:spPr>
          <a:xfrm>
            <a:off x="1161391" y="3344557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취약분야 특화 신고채널</a:t>
            </a:r>
          </a:p>
        </p:txBody>
      </p:sp>
      <p:sp>
        <p:nvSpPr>
          <p:cNvPr id="52" name="머리칸"/>
          <p:cNvSpPr/>
          <p:nvPr/>
        </p:nvSpPr>
        <p:spPr>
          <a:xfrm>
            <a:off x="3985435" y="3344557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3" name="머리칸"/>
          <p:cNvSpPr>
            <a:spLocks noGrp="1"/>
          </p:cNvSpPr>
          <p:nvPr>
            <p:ph type="body" sz="quarter" idx="40"/>
          </p:nvPr>
        </p:nvSpPr>
        <p:spPr>
          <a:xfrm>
            <a:off x="3985435" y="3344557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전직원 및 고객 무기명 특별신고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41"/>
          </p:nvPr>
        </p:nvSpPr>
        <p:spPr>
          <a:xfrm>
            <a:off x="1172348" y="3585600"/>
            <a:ext cx="2802130" cy="39443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배경 ’24년 우호적 인사평가 강요 사건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평가질서 저해 단독신고 채널 운영</a:t>
            </a:r>
          </a:p>
        </p:txBody>
      </p:sp>
      <p:sp>
        <p:nvSpPr>
          <p:cNvPr id="55" name="칸 본문"/>
          <p:cNvSpPr>
            <a:spLocks noGrp="1"/>
          </p:cNvSpPr>
          <p:nvPr>
            <p:ph type="body" sz="quarter" idx="42"/>
          </p:nvPr>
        </p:nvSpPr>
        <p:spPr>
          <a:xfrm>
            <a:off x="3996391" y="3585600"/>
            <a:ext cx="2802130" cy="39443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취약시기 SMS 발송 익명신고 접수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 위탁 설문조사로 비밀 보장</a:t>
            </a:r>
          </a:p>
        </p:txBody>
      </p:sp>
      <p:cxnSp>
        <p:nvCxnSpPr>
          <p:cNvPr id="56" name="Connector 41"/>
          <p:cNvCxnSpPr/>
          <p:nvPr/>
        </p:nvCxnSpPr>
        <p:spPr>
          <a:xfrm>
            <a:off x="3985435" y="3618470"/>
            <a:ext cx="0" cy="32869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7" name="칸 본문"/>
          <p:cNvSpPr>
            <a:spLocks noGrp="1"/>
          </p:cNvSpPr>
          <p:nvPr>
            <p:ph type="body" sz="quarter" idx="43"/>
          </p:nvPr>
        </p:nvSpPr>
        <p:spPr>
          <a:xfrm>
            <a:off x="1172348" y="3996470"/>
            <a:ext cx="2802130" cy="21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경각심 제고로 유사 부정행위 Zero</a:t>
            </a:r>
          </a:p>
        </p:txBody>
      </p:sp>
      <p:sp>
        <p:nvSpPr>
          <p:cNvPr id="58" name="칸 본문"/>
          <p:cNvSpPr>
            <a:spLocks noGrp="1"/>
          </p:cNvSpPr>
          <p:nvPr>
            <p:ph type="body" sz="quarter" idx="44"/>
          </p:nvPr>
        </p:nvSpPr>
        <p:spPr>
          <a:xfrm>
            <a:off x="3996391" y="3996470"/>
            <a:ext cx="2802130" cy="21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23건 신고 접수, 정식 조사 전환 3건</a:t>
            </a:r>
          </a:p>
        </p:txBody>
      </p:sp>
      <p:cxnSp>
        <p:nvCxnSpPr>
          <p:cNvPr id="59" name="Connector 44"/>
          <p:cNvCxnSpPr/>
          <p:nvPr/>
        </p:nvCxnSpPr>
        <p:spPr>
          <a:xfrm>
            <a:off x="3985435" y="4029339"/>
            <a:ext cx="0" cy="15339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0" name="핵심성과 박스"/>
          <p:cNvSpPr/>
          <p:nvPr/>
        </p:nvSpPr>
        <p:spPr>
          <a:xfrm>
            <a:off x="536870" y="4325165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1" name="핵심성과 라벨"/>
          <p:cNvSpPr/>
          <p:nvPr/>
        </p:nvSpPr>
        <p:spPr>
          <a:xfrm>
            <a:off x="569739" y="4358035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62" name="핵심성과 라벨"/>
          <p:cNvSpPr>
            <a:spLocks noGrp="1"/>
          </p:cNvSpPr>
          <p:nvPr>
            <p:ph type="body" sz="quarter" idx="45"/>
          </p:nvPr>
        </p:nvSpPr>
        <p:spPr>
          <a:xfrm>
            <a:off x="569739" y="4358035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63" name="핵심성과 문구"/>
          <p:cNvSpPr>
            <a:spLocks noGrp="1"/>
          </p:cNvSpPr>
          <p:nvPr>
            <p:ph type="body" sz="quarter" idx="46"/>
          </p:nvPr>
        </p:nvSpPr>
        <p:spPr>
          <a:xfrm>
            <a:off x="1314783" y="4347078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권익위 부패방지시책 평가 ‘신고자 보호 노력’ 90.9점으로 대폭 상승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신뢰경영지수 조사 결과 ‘공정성’ 5점 상승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38 서사 · 추진배경 → AI 활용 선진감사(기존·개선·효과) → 위험관리 전문화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10" name="분야 박스"/>
          <p:cNvSpPr/>
          <p:nvPr/>
        </p:nvSpPr>
        <p:spPr>
          <a:xfrm>
            <a:off x="952651" y="810783"/>
            <a:ext cx="592466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1" name="분야 박스"/>
          <p:cNvSpPr>
            <a:spLocks noGrp="1"/>
          </p:cNvSpPr>
          <p:nvPr>
            <p:ph type="body" sz="quarter" idx="21"/>
          </p:nvPr>
        </p:nvSpPr>
        <p:spPr>
          <a:xfrm>
            <a:off x="952651" y="810783"/>
            <a:ext cx="59246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모니터링</a:t>
            </a:r>
          </a:p>
        </p:txBody>
      </p:sp>
      <p:sp>
        <p:nvSpPr>
          <p:cNvPr id="12" name="형광 밑줄"/>
          <p:cNvSpPr/>
          <p:nvPr/>
        </p:nvSpPr>
        <p:spPr>
          <a:xfrm>
            <a:off x="1610856" y="931304"/>
            <a:ext cx="3227156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3" name="소제목"/>
          <p:cNvSpPr>
            <a:spLocks noGrp="1"/>
          </p:cNvSpPr>
          <p:nvPr>
            <p:ph type="body" sz="quarter" idx="22"/>
          </p:nvPr>
        </p:nvSpPr>
        <p:spPr>
          <a:xfrm>
            <a:off x="1610856" y="777913"/>
            <a:ext cx="5412275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디지털 기술과 전문가가 점검하는 지속가능한 윤리경영</a:t>
            </a:r>
          </a:p>
        </p:txBody>
      </p:sp>
      <p:sp>
        <p:nvSpPr>
          <p:cNvPr id="14" name="태그칩"/>
          <p:cNvSpPr/>
          <p:nvPr/>
        </p:nvSpPr>
        <p:spPr>
          <a:xfrm>
            <a:off x="4936620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3"/>
          </p:nvPr>
        </p:nvSpPr>
        <p:spPr>
          <a:xfrm>
            <a:off x="4936620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표 외곽"/>
          <p:cNvSpPr/>
          <p:nvPr/>
        </p:nvSpPr>
        <p:spPr>
          <a:xfrm>
            <a:off x="723130" y="1062783"/>
            <a:ext cx="6300000" cy="2376313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734087" y="1079217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4"/>
          </p:nvPr>
        </p:nvSpPr>
        <p:spPr>
          <a:xfrm>
            <a:off x="734087" y="1079217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5"/>
          </p:nvPr>
        </p:nvSpPr>
        <p:spPr>
          <a:xfrm>
            <a:off x="1358609" y="1101130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자체점검 윤리경영 체계 자체 모니터링 객관성·신뢰성 확보 한계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6"/>
          </p:nvPr>
        </p:nvSpPr>
        <p:spPr>
          <a:xfrm>
            <a:off x="4182652" y="1101130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디지털 활용 감사 고도화 및 대외 전문가 시각 반영</a:t>
            </a:r>
          </a:p>
        </p:txBody>
      </p:sp>
      <p:cxnSp>
        <p:nvCxnSpPr>
          <p:cNvPr id="21" name="Connector 12"/>
          <p:cNvCxnSpPr/>
          <p:nvPr/>
        </p:nvCxnSpPr>
        <p:spPr>
          <a:xfrm>
            <a:off x="4171696" y="1134000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2" name="레일"/>
          <p:cNvSpPr/>
          <p:nvPr/>
        </p:nvSpPr>
        <p:spPr>
          <a:xfrm>
            <a:off x="734087" y="1503861"/>
            <a:ext cx="580696" cy="110801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3" name="레일"/>
          <p:cNvSpPr>
            <a:spLocks noGrp="1"/>
          </p:cNvSpPr>
          <p:nvPr>
            <p:ph type="body" sz="quarter" idx="27"/>
          </p:nvPr>
        </p:nvSpPr>
        <p:spPr>
          <a:xfrm>
            <a:off x="734087" y="1503861"/>
            <a:ext cx="580696" cy="110801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AI 활용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선진감사</a:t>
            </a:r>
          </a:p>
        </p:txBody>
      </p:sp>
      <p:sp>
        <p:nvSpPr>
          <p:cNvPr id="24" name="레일 삼각형"/>
          <p:cNvSpPr/>
          <p:nvPr/>
        </p:nvSpPr>
        <p:spPr>
          <a:xfrm>
            <a:off x="734086" y="1503860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5" name="머리칸"/>
          <p:cNvSpPr/>
          <p:nvPr/>
        </p:nvSpPr>
        <p:spPr>
          <a:xfrm>
            <a:off x="1347652" y="1525774"/>
            <a:ext cx="401791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6" name="머리칸"/>
          <p:cNvSpPr>
            <a:spLocks noGrp="1"/>
          </p:cNvSpPr>
          <p:nvPr>
            <p:ph type="body" sz="quarter" idx="28"/>
          </p:nvPr>
        </p:nvSpPr>
        <p:spPr>
          <a:xfrm>
            <a:off x="1347652" y="1525774"/>
            <a:ext cx="401791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공기업 최초 디지털 기반 감사기법 연구</a:t>
            </a:r>
          </a:p>
        </p:txBody>
      </p:sp>
      <p:sp>
        <p:nvSpPr>
          <p:cNvPr id="27" name="머리칸"/>
          <p:cNvSpPr/>
          <p:nvPr/>
        </p:nvSpPr>
        <p:spPr>
          <a:xfrm>
            <a:off x="5382000" y="1525774"/>
            <a:ext cx="1597304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8" name="머리칸"/>
          <p:cNvSpPr>
            <a:spLocks noGrp="1"/>
          </p:cNvSpPr>
          <p:nvPr>
            <p:ph type="body" sz="quarter" idx="29"/>
          </p:nvPr>
        </p:nvSpPr>
        <p:spPr>
          <a:xfrm>
            <a:off x="5382000" y="1525774"/>
            <a:ext cx="1597304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추진실적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0"/>
          </p:nvPr>
        </p:nvSpPr>
        <p:spPr>
          <a:xfrm>
            <a:off x="1358609" y="1766817"/>
            <a:ext cx="4012435" cy="1876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내부감사 전주기 AI 활용체계 마련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1"/>
          </p:nvPr>
        </p:nvSpPr>
        <p:spPr>
          <a:xfrm>
            <a:off x="5392957" y="1766817"/>
            <a:ext cx="1591826" cy="8395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감사연구원 논문 게재(’25.12)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활용사례 벤치마킹 등 타 기관 확산</a:t>
            </a:r>
          </a:p>
        </p:txBody>
      </p:sp>
      <p:cxnSp>
        <p:nvCxnSpPr>
          <p:cNvPr id="31" name="Connector 20"/>
          <p:cNvCxnSpPr/>
          <p:nvPr/>
        </p:nvCxnSpPr>
        <p:spPr>
          <a:xfrm>
            <a:off x="5382000" y="1799687"/>
            <a:ext cx="0" cy="77384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2" name="레일"/>
          <p:cNvSpPr/>
          <p:nvPr/>
        </p:nvSpPr>
        <p:spPr>
          <a:xfrm>
            <a:off x="734087" y="2628313"/>
            <a:ext cx="580696" cy="794348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3" name="레일"/>
          <p:cNvSpPr>
            <a:spLocks noGrp="1"/>
          </p:cNvSpPr>
          <p:nvPr>
            <p:ph type="body" sz="quarter" idx="32"/>
          </p:nvPr>
        </p:nvSpPr>
        <p:spPr>
          <a:xfrm>
            <a:off x="734087" y="2628313"/>
            <a:ext cx="580696" cy="79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위험관리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 문 화</a:t>
            </a:r>
          </a:p>
        </p:txBody>
      </p:sp>
      <p:sp>
        <p:nvSpPr>
          <p:cNvPr id="34" name="레일 삼각형"/>
          <p:cNvSpPr/>
          <p:nvPr/>
        </p:nvSpPr>
        <p:spPr>
          <a:xfrm>
            <a:off x="734086" y="2628313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5" name="머리칸"/>
          <p:cNvSpPr/>
          <p:nvPr/>
        </p:nvSpPr>
        <p:spPr>
          <a:xfrm>
            <a:off x="1347652" y="2650226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6" name="머리칸"/>
          <p:cNvSpPr>
            <a:spLocks noGrp="1"/>
          </p:cNvSpPr>
          <p:nvPr>
            <p:ph type="body" sz="quarter" idx="33"/>
          </p:nvPr>
        </p:nvSpPr>
        <p:spPr>
          <a:xfrm>
            <a:off x="1347652" y="2650226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ISO 국제표준 기반 모니터링</a:t>
            </a:r>
          </a:p>
        </p:txBody>
      </p:sp>
      <p:sp>
        <p:nvSpPr>
          <p:cNvPr id="37" name="머리칸"/>
          <p:cNvSpPr/>
          <p:nvPr/>
        </p:nvSpPr>
        <p:spPr>
          <a:xfrm>
            <a:off x="4171696" y="2650226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8" name="머리칸"/>
          <p:cNvSpPr>
            <a:spLocks noGrp="1"/>
          </p:cNvSpPr>
          <p:nvPr>
            <p:ph type="body" sz="quarter" idx="34"/>
          </p:nvPr>
        </p:nvSpPr>
        <p:spPr>
          <a:xfrm>
            <a:off x="4171696" y="2650226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전문가 내부통제 고도화 컨설팅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5"/>
          </p:nvPr>
        </p:nvSpPr>
        <p:spPr>
          <a:xfrm>
            <a:off x="1358609" y="2891270"/>
            <a:ext cx="2802130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부패방지·규범준수경영 국제표준 점검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대표사례 위험관리 내부심사원 선발(13명)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36"/>
          </p:nvPr>
        </p:nvSpPr>
        <p:spPr>
          <a:xfrm>
            <a:off x="4182652" y="2891270"/>
            <a:ext cx="2802130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전문기관 내부통제 수준 진단, 개선 발굴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대표사례 부패위험 범위 확대·규정 개정</a:t>
            </a:r>
          </a:p>
        </p:txBody>
      </p:sp>
      <p:cxnSp>
        <p:nvCxnSpPr>
          <p:cNvPr id="41" name="Connector 27"/>
          <p:cNvCxnSpPr/>
          <p:nvPr/>
        </p:nvCxnSpPr>
        <p:spPr>
          <a:xfrm>
            <a:off x="4171696" y="2924139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2" name="핵심성과 박스"/>
          <p:cNvSpPr/>
          <p:nvPr/>
        </p:nvSpPr>
        <p:spPr>
          <a:xfrm>
            <a:off x="723130" y="3526748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3" name="핵심성과 라벨"/>
          <p:cNvSpPr/>
          <p:nvPr/>
        </p:nvSpPr>
        <p:spPr>
          <a:xfrm>
            <a:off x="756000" y="3559617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4" name="핵심성과 라벨"/>
          <p:cNvSpPr>
            <a:spLocks noGrp="1"/>
          </p:cNvSpPr>
          <p:nvPr>
            <p:ph type="body" sz="quarter" idx="37"/>
          </p:nvPr>
        </p:nvSpPr>
        <p:spPr>
          <a:xfrm>
            <a:off x="756000" y="3559617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5" name="핵심성과 문구"/>
          <p:cNvSpPr>
            <a:spLocks noGrp="1"/>
          </p:cNvSpPr>
          <p:nvPr>
            <p:ph type="body" sz="quarter" idx="38"/>
          </p:nvPr>
        </p:nvSpPr>
        <p:spPr>
          <a:xfrm>
            <a:off x="1501043" y="3548661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대외인정 ISO 37001·37301 통합인증(’25.10)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대내효과 자체 설문조사 결과 ‘내부통제 효과성’ 긍정적 인식 94.5%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39 서사 · 환경분석 → 로드맵(도입·성숙·확산기) → 추진과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더 촘촘하고 더 확실한 다층적 이해충돌 예방체계 구축</a:t>
            </a:r>
          </a:p>
        </p:txBody>
      </p:sp>
      <p:sp>
        <p:nvSpPr>
          <p:cNvPr id="15" name="형광 밑줄"/>
          <p:cNvSpPr/>
          <p:nvPr/>
        </p:nvSpPr>
        <p:spPr>
          <a:xfrm>
            <a:off x="536870" y="1347652"/>
            <a:ext cx="3839926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소제목"/>
          <p:cNvSpPr>
            <a:spLocks noGrp="1"/>
          </p:cNvSpPr>
          <p:nvPr>
            <p:ph type="body" sz="quarter" idx="22"/>
          </p:nvPr>
        </p:nvSpPr>
        <p:spPr>
          <a:xfrm>
            <a:off x="536870" y="1194261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인식수준 진단, 취약분야 선제적 관리 등 맞춤형 개선방향 수립</a:t>
            </a:r>
          </a:p>
        </p:txBody>
      </p:sp>
      <p:sp>
        <p:nvSpPr>
          <p:cNvPr id="17" name="태그칩"/>
          <p:cNvSpPr/>
          <p:nvPr/>
        </p:nvSpPr>
        <p:spPr>
          <a:xfrm>
            <a:off x="4475404" y="1227130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태그칩"/>
          <p:cNvSpPr>
            <a:spLocks noGrp="1"/>
          </p:cNvSpPr>
          <p:nvPr>
            <p:ph type="body" sz="quarter" idx="23"/>
          </p:nvPr>
        </p:nvSpPr>
        <p:spPr>
          <a:xfrm>
            <a:off x="4475404" y="1227130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9" name="표 외곽"/>
          <p:cNvSpPr/>
          <p:nvPr/>
        </p:nvSpPr>
        <p:spPr>
          <a:xfrm>
            <a:off x="536870" y="1479130"/>
            <a:ext cx="6300000" cy="1684643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0" name="레일"/>
          <p:cNvSpPr/>
          <p:nvPr/>
        </p:nvSpPr>
        <p:spPr>
          <a:xfrm>
            <a:off x="547826" y="1495565"/>
            <a:ext cx="580696" cy="41087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4"/>
          </p:nvPr>
        </p:nvSpPr>
        <p:spPr>
          <a:xfrm>
            <a:off x="547826" y="1495565"/>
            <a:ext cx="580696" cy="41087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환경분석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5"/>
          </p:nvPr>
        </p:nvSpPr>
        <p:spPr>
          <a:xfrm>
            <a:off x="1172348" y="1517478"/>
            <a:ext cx="448761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6"/>
          </p:nvPr>
        </p:nvSpPr>
        <p:spPr>
          <a:xfrm>
            <a:off x="1643022" y="1517478"/>
            <a:ext cx="2331457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신유형 부패 통제로 국민 신뢰 확보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공직자 사적 이해관계 실효적 관리</a:t>
            </a:r>
          </a:p>
        </p:txBody>
      </p:sp>
      <p:cxnSp>
        <p:nvCxnSpPr>
          <p:cNvPr id="24" name="Connector 18"/>
          <p:cNvCxnSpPr/>
          <p:nvPr/>
        </p:nvCxnSpPr>
        <p:spPr>
          <a:xfrm>
            <a:off x="1632065" y="1550348"/>
            <a:ext cx="0" cy="317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3996391" y="1517478"/>
            <a:ext cx="448761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</a:t>
            </a:r>
          </a:p>
        </p:txBody>
      </p:sp>
      <p:cxnSp>
        <p:nvCxnSpPr>
          <p:cNvPr id="26" name="Connector 20"/>
          <p:cNvCxnSpPr/>
          <p:nvPr/>
        </p:nvCxnSpPr>
        <p:spPr>
          <a:xfrm>
            <a:off x="3985435" y="1550348"/>
            <a:ext cx="0" cy="317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7" name="칸 본문"/>
          <p:cNvSpPr>
            <a:spLocks noGrp="1"/>
          </p:cNvSpPr>
          <p:nvPr>
            <p:ph type="body" sz="quarter" idx="28"/>
          </p:nvPr>
        </p:nvSpPr>
        <p:spPr>
          <a:xfrm>
            <a:off x="4467065" y="1517478"/>
            <a:ext cx="2331457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이해충돌 징계 처분 발생(’24년)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‘법 인식 수준’ 저조(53점)</a:t>
            </a:r>
          </a:p>
        </p:txBody>
      </p:sp>
      <p:cxnSp>
        <p:nvCxnSpPr>
          <p:cNvPr id="28" name="Connector 22"/>
          <p:cNvCxnSpPr/>
          <p:nvPr/>
        </p:nvCxnSpPr>
        <p:spPr>
          <a:xfrm>
            <a:off x="4456109" y="1550348"/>
            <a:ext cx="0" cy="317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9" name="레일"/>
          <p:cNvSpPr/>
          <p:nvPr/>
        </p:nvSpPr>
        <p:spPr>
          <a:xfrm>
            <a:off x="547826" y="1922870"/>
            <a:ext cx="580696" cy="586174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0" name="레일"/>
          <p:cNvSpPr>
            <a:spLocks noGrp="1"/>
          </p:cNvSpPr>
          <p:nvPr>
            <p:ph type="body" sz="quarter" idx="29"/>
          </p:nvPr>
        </p:nvSpPr>
        <p:spPr>
          <a:xfrm>
            <a:off x="547826" y="1922870"/>
            <a:ext cx="580696" cy="586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로 드 맵</a:t>
            </a:r>
          </a:p>
        </p:txBody>
      </p:sp>
      <p:sp>
        <p:nvSpPr>
          <p:cNvPr id="31" name="레일 삼각형"/>
          <p:cNvSpPr/>
          <p:nvPr/>
        </p:nvSpPr>
        <p:spPr>
          <a:xfrm>
            <a:off x="547826" y="1922869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2" name="단계"/>
          <p:cNvSpPr/>
          <p:nvPr/>
        </p:nvSpPr>
        <p:spPr>
          <a:xfrm>
            <a:off x="1161391" y="1944783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3" name="단계"/>
          <p:cNvSpPr>
            <a:spLocks noGrp="1"/>
          </p:cNvSpPr>
          <p:nvPr>
            <p:ph type="body" sz="quarter" idx="30"/>
          </p:nvPr>
        </p:nvSpPr>
        <p:spPr>
          <a:xfrm>
            <a:off x="1161391" y="194478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도입기(’21~’23년)</a:t>
            </a:r>
          </a:p>
        </p:txBody>
      </p:sp>
      <p:sp>
        <p:nvSpPr>
          <p:cNvPr id="34" name="단계"/>
          <p:cNvSpPr/>
          <p:nvPr/>
        </p:nvSpPr>
        <p:spPr>
          <a:xfrm>
            <a:off x="3044087" y="1944783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5" name="단계"/>
          <p:cNvSpPr>
            <a:spLocks noGrp="1"/>
          </p:cNvSpPr>
          <p:nvPr>
            <p:ph type="body" sz="quarter" idx="31"/>
          </p:nvPr>
        </p:nvSpPr>
        <p:spPr>
          <a:xfrm>
            <a:off x="3044087" y="194478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성숙기(’24년)</a:t>
            </a:r>
          </a:p>
        </p:txBody>
      </p:sp>
      <p:sp>
        <p:nvSpPr>
          <p:cNvPr id="36" name="단계"/>
          <p:cNvSpPr/>
          <p:nvPr/>
        </p:nvSpPr>
        <p:spPr>
          <a:xfrm>
            <a:off x="4926783" y="1944783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7" name="단계"/>
          <p:cNvSpPr>
            <a:spLocks noGrp="1"/>
          </p:cNvSpPr>
          <p:nvPr>
            <p:ph type="body" sz="quarter" idx="32"/>
          </p:nvPr>
        </p:nvSpPr>
        <p:spPr>
          <a:xfrm>
            <a:off x="4926783" y="194478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확산기(’25년~)</a:t>
            </a:r>
          </a:p>
        </p:txBody>
      </p:sp>
      <p:sp>
        <p:nvSpPr>
          <p:cNvPr id="38" name="단계 삼각형"/>
          <p:cNvSpPr/>
          <p:nvPr/>
        </p:nvSpPr>
        <p:spPr>
          <a:xfrm>
            <a:off x="3044086" y="1944782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9" name="단계 삼각형"/>
          <p:cNvSpPr/>
          <p:nvPr/>
        </p:nvSpPr>
        <p:spPr>
          <a:xfrm>
            <a:off x="4926782" y="1944782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0" name="칸 본문"/>
          <p:cNvSpPr>
            <a:spLocks noGrp="1"/>
          </p:cNvSpPr>
          <p:nvPr>
            <p:ph type="body" sz="quarter" idx="33"/>
          </p:nvPr>
        </p:nvSpPr>
        <p:spPr>
          <a:xfrm>
            <a:off x="1172348" y="2196783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충돌방지 시스템 구축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34"/>
          </p:nvPr>
        </p:nvSpPr>
        <p:spPr>
          <a:xfrm>
            <a:off x="3055043" y="2196783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이행체계·제도 고도화</a:t>
            </a:r>
          </a:p>
        </p:txBody>
      </p:sp>
      <p:cxnSp>
        <p:nvCxnSpPr>
          <p:cNvPr id="42" name="Connector 32"/>
          <p:cNvCxnSpPr/>
          <p:nvPr/>
        </p:nvCxnSpPr>
        <p:spPr>
          <a:xfrm>
            <a:off x="3044087" y="2229652"/>
            <a:ext cx="0" cy="24104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3" name="칸 본문"/>
          <p:cNvSpPr>
            <a:spLocks noGrp="1"/>
          </p:cNvSpPr>
          <p:nvPr>
            <p:ph type="body" sz="quarter" idx="35"/>
          </p:nvPr>
        </p:nvSpPr>
        <p:spPr>
          <a:xfrm>
            <a:off x="4937739" y="2196783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이해충돌방지법 준수 일상화</a:t>
            </a:r>
          </a:p>
        </p:txBody>
      </p:sp>
      <p:cxnSp>
        <p:nvCxnSpPr>
          <p:cNvPr id="44" name="Connector 34"/>
          <p:cNvCxnSpPr/>
          <p:nvPr/>
        </p:nvCxnSpPr>
        <p:spPr>
          <a:xfrm>
            <a:off x="4926783" y="2229652"/>
            <a:ext cx="0" cy="24104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5" name="레일"/>
          <p:cNvSpPr/>
          <p:nvPr/>
        </p:nvSpPr>
        <p:spPr>
          <a:xfrm>
            <a:off x="547826" y="2525478"/>
            <a:ext cx="580696" cy="621861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6" name="레일"/>
          <p:cNvSpPr>
            <a:spLocks noGrp="1"/>
          </p:cNvSpPr>
          <p:nvPr>
            <p:ph type="body" sz="quarter" idx="36"/>
          </p:nvPr>
        </p:nvSpPr>
        <p:spPr>
          <a:xfrm>
            <a:off x="547826" y="2525478"/>
            <a:ext cx="580696" cy="6218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추진과제</a:t>
            </a:r>
          </a:p>
        </p:txBody>
      </p:sp>
      <p:sp>
        <p:nvSpPr>
          <p:cNvPr id="47" name="레일 삼각형"/>
          <p:cNvSpPr/>
          <p:nvPr/>
        </p:nvSpPr>
        <p:spPr>
          <a:xfrm>
            <a:off x="547826" y="2525478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8" name="단계"/>
          <p:cNvSpPr/>
          <p:nvPr/>
        </p:nvSpPr>
        <p:spPr>
          <a:xfrm>
            <a:off x="1161391" y="2547391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9" name="단계"/>
          <p:cNvSpPr>
            <a:spLocks noGrp="1"/>
          </p:cNvSpPr>
          <p:nvPr>
            <p:ph type="body" sz="quarter" idx="37"/>
          </p:nvPr>
        </p:nvSpPr>
        <p:spPr>
          <a:xfrm>
            <a:off x="1161391" y="2547391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자율적 내부통제 전환</a:t>
            </a:r>
          </a:p>
        </p:txBody>
      </p:sp>
      <p:sp>
        <p:nvSpPr>
          <p:cNvPr id="50" name="단계"/>
          <p:cNvSpPr/>
          <p:nvPr/>
        </p:nvSpPr>
        <p:spPr>
          <a:xfrm>
            <a:off x="3044087" y="2547391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1" name="단계"/>
          <p:cNvSpPr>
            <a:spLocks noGrp="1"/>
          </p:cNvSpPr>
          <p:nvPr>
            <p:ph type="body" sz="quarter" idx="38"/>
          </p:nvPr>
        </p:nvSpPr>
        <p:spPr>
          <a:xfrm>
            <a:off x="3044087" y="2547391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취약분야 발굴 및 해소</a:t>
            </a:r>
          </a:p>
        </p:txBody>
      </p:sp>
      <p:sp>
        <p:nvSpPr>
          <p:cNvPr id="52" name="단계"/>
          <p:cNvSpPr/>
          <p:nvPr/>
        </p:nvSpPr>
        <p:spPr>
          <a:xfrm>
            <a:off x="4926783" y="2547391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3" name="단계"/>
          <p:cNvSpPr>
            <a:spLocks noGrp="1"/>
          </p:cNvSpPr>
          <p:nvPr>
            <p:ph type="body" sz="quarter" idx="39"/>
          </p:nvPr>
        </p:nvSpPr>
        <p:spPr>
          <a:xfrm>
            <a:off x="4926783" y="2547391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전직원 인식 확산</a:t>
            </a:r>
          </a:p>
        </p:txBody>
      </p:sp>
      <p:sp>
        <p:nvSpPr>
          <p:cNvPr id="54" name="단계 삼각형"/>
          <p:cNvSpPr/>
          <p:nvPr/>
        </p:nvSpPr>
        <p:spPr>
          <a:xfrm>
            <a:off x="3044086" y="2547391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5" name="단계 삼각형"/>
          <p:cNvSpPr/>
          <p:nvPr/>
        </p:nvSpPr>
        <p:spPr>
          <a:xfrm>
            <a:off x="4926782" y="2547391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6" name="칸 본문"/>
          <p:cNvSpPr>
            <a:spLocks noGrp="1"/>
          </p:cNvSpPr>
          <p:nvPr>
            <p:ph type="body" sz="quarter" idx="40"/>
          </p:nvPr>
        </p:nvSpPr>
        <p:spPr>
          <a:xfrm>
            <a:off x="1172348" y="2799391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대응체계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자율규율 행위규범 내재화</a:t>
            </a:r>
          </a:p>
        </p:txBody>
      </p:sp>
      <p:sp>
        <p:nvSpPr>
          <p:cNvPr id="57" name="칸 본문"/>
          <p:cNvSpPr>
            <a:spLocks noGrp="1"/>
          </p:cNvSpPr>
          <p:nvPr>
            <p:ph type="body" sz="quarter" idx="41"/>
          </p:nvPr>
        </p:nvSpPr>
        <p:spPr>
          <a:xfrm>
            <a:off x="3055043" y="2799391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리스크 기반 취약요소 발굴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원인분석 및 개선 조치</a:t>
            </a:r>
          </a:p>
        </p:txBody>
      </p:sp>
      <p:cxnSp>
        <p:nvCxnSpPr>
          <p:cNvPr id="58" name="Connector 44"/>
          <p:cNvCxnSpPr/>
          <p:nvPr/>
        </p:nvCxnSpPr>
        <p:spPr>
          <a:xfrm>
            <a:off x="3044087" y="2832261"/>
            <a:ext cx="0" cy="2767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9" name="칸 본문"/>
          <p:cNvSpPr>
            <a:spLocks noGrp="1"/>
          </p:cNvSpPr>
          <p:nvPr>
            <p:ph type="body" sz="quarter" idx="42"/>
          </p:nvPr>
        </p:nvSpPr>
        <p:spPr>
          <a:xfrm>
            <a:off x="4937739" y="2799391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이해충돌 정보 공유 지속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생애주기 맞춤형 교육</a:t>
            </a:r>
          </a:p>
        </p:txBody>
      </p:sp>
      <p:cxnSp>
        <p:nvCxnSpPr>
          <p:cNvPr id="60" name="Connector 46"/>
          <p:cNvCxnSpPr/>
          <p:nvPr/>
        </p:nvCxnSpPr>
        <p:spPr>
          <a:xfrm>
            <a:off x="4926783" y="2832261"/>
            <a:ext cx="0" cy="2767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40 서사 · 추진배경 → 자율예방 → 충돌방지 → 바로알기 → 추진성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3695627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이해충돌방지법이 일상에 스며들도록 자율적 예방체계 운영</a:t>
            </a:r>
          </a:p>
        </p:txBody>
      </p:sp>
      <p:sp>
        <p:nvSpPr>
          <p:cNvPr id="11" name="태그칩"/>
          <p:cNvSpPr/>
          <p:nvPr/>
        </p:nvSpPr>
        <p:spPr>
          <a:xfrm>
            <a:off x="4517367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4517367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태그칩"/>
          <p:cNvSpPr/>
          <p:nvPr/>
        </p:nvSpPr>
        <p:spPr>
          <a:xfrm>
            <a:off x="5068488" y="810783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4" name="태그칩"/>
          <p:cNvSpPr>
            <a:spLocks noGrp="1"/>
          </p:cNvSpPr>
          <p:nvPr>
            <p:ph type="body" sz="quarter" idx="22"/>
          </p:nvPr>
        </p:nvSpPr>
        <p:spPr>
          <a:xfrm>
            <a:off x="5068488" y="810783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5" name="표 외곽"/>
          <p:cNvSpPr/>
          <p:nvPr/>
        </p:nvSpPr>
        <p:spPr>
          <a:xfrm>
            <a:off x="723130" y="1062783"/>
            <a:ext cx="6300000" cy="292836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레일"/>
          <p:cNvSpPr/>
          <p:nvPr/>
        </p:nvSpPr>
        <p:spPr>
          <a:xfrm>
            <a:off x="734087" y="1079217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레일"/>
          <p:cNvSpPr>
            <a:spLocks noGrp="1"/>
          </p:cNvSpPr>
          <p:nvPr>
            <p:ph type="body" sz="quarter" idx="23"/>
          </p:nvPr>
        </p:nvSpPr>
        <p:spPr>
          <a:xfrm>
            <a:off x="734087" y="1079217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4"/>
          </p:nvPr>
        </p:nvSpPr>
        <p:spPr>
          <a:xfrm>
            <a:off x="1358609" y="1101130"/>
            <a:ext cx="2802130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구체적 상황 제도 적용 미흡, 지속 모니터링 필요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5"/>
          </p:nvPr>
        </p:nvSpPr>
        <p:spPr>
          <a:xfrm>
            <a:off x="4182652" y="1101130"/>
            <a:ext cx="2802130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구성원 주도 예방체계로 사전 예방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인식 강화 및 예방문화 정착</a:t>
            </a:r>
          </a:p>
        </p:txBody>
      </p:sp>
      <p:cxnSp>
        <p:nvCxnSpPr>
          <p:cNvPr id="20" name="Connector 11"/>
          <p:cNvCxnSpPr/>
          <p:nvPr/>
        </p:nvCxnSpPr>
        <p:spPr>
          <a:xfrm>
            <a:off x="4171696" y="1134000"/>
            <a:ext cx="0" cy="2767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1" name="레일"/>
          <p:cNvSpPr/>
          <p:nvPr/>
        </p:nvSpPr>
        <p:spPr>
          <a:xfrm>
            <a:off x="734087" y="1503861"/>
            <a:ext cx="580696" cy="794348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2" name="레일 태그"/>
          <p:cNvSpPr/>
          <p:nvPr/>
        </p:nvSpPr>
        <p:spPr>
          <a:xfrm>
            <a:off x="744637" y="1668209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3" name="레일 태그"/>
          <p:cNvSpPr>
            <a:spLocks noGrp="1"/>
          </p:cNvSpPr>
          <p:nvPr>
            <p:ph type="body" sz="quarter" idx="26"/>
          </p:nvPr>
        </p:nvSpPr>
        <p:spPr>
          <a:xfrm>
            <a:off x="744637" y="1668209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자율점검</a:t>
            </a:r>
          </a:p>
        </p:txBody>
      </p:sp>
      <p:sp>
        <p:nvSpPr>
          <p:cNvPr id="24" name="레일 라벨"/>
          <p:cNvSpPr>
            <a:spLocks noGrp="1"/>
          </p:cNvSpPr>
          <p:nvPr>
            <p:ph type="body" sz="quarter" idx="27"/>
          </p:nvPr>
        </p:nvSpPr>
        <p:spPr>
          <a:xfrm>
            <a:off x="734087" y="1854470"/>
            <a:ext cx="580696" cy="421826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현장중심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자율예방</a:t>
            </a:r>
          </a:p>
        </p:txBody>
      </p:sp>
      <p:sp>
        <p:nvSpPr>
          <p:cNvPr id="25" name="레일 삼각형"/>
          <p:cNvSpPr/>
          <p:nvPr/>
        </p:nvSpPr>
        <p:spPr>
          <a:xfrm>
            <a:off x="734086" y="1503860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6" name="머리칸"/>
          <p:cNvSpPr/>
          <p:nvPr/>
        </p:nvSpPr>
        <p:spPr>
          <a:xfrm>
            <a:off x="1347652" y="152577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7" name="머리칸"/>
          <p:cNvSpPr>
            <a:spLocks noGrp="1"/>
          </p:cNvSpPr>
          <p:nvPr>
            <p:ph type="body" sz="quarter" idx="28"/>
          </p:nvPr>
        </p:nvSpPr>
        <p:spPr>
          <a:xfrm>
            <a:off x="1347652" y="152577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다층적 이해충돌 내부통제 구조</a:t>
            </a:r>
          </a:p>
        </p:txBody>
      </p:sp>
      <p:sp>
        <p:nvSpPr>
          <p:cNvPr id="28" name="머리칸"/>
          <p:cNvSpPr/>
          <p:nvPr/>
        </p:nvSpPr>
        <p:spPr>
          <a:xfrm>
            <a:off x="4171696" y="152577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9" name="머리칸"/>
          <p:cNvSpPr>
            <a:spLocks noGrp="1"/>
          </p:cNvSpPr>
          <p:nvPr>
            <p:ph type="body" sz="quarter" idx="29"/>
          </p:nvPr>
        </p:nvSpPr>
        <p:spPr>
          <a:xfrm>
            <a:off x="4171696" y="152577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나와 연관된 이해충돌은 스스로 멀리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0"/>
          </p:nvPr>
        </p:nvSpPr>
        <p:spPr>
          <a:xfrm>
            <a:off x="1358609" y="1766817"/>
            <a:ext cx="2802130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자율적 내부통제 실행 프로그램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현장부서(매월) + 유역본부(분기) + 본사(연간)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1"/>
          </p:nvPr>
        </p:nvSpPr>
        <p:spPr>
          <a:xfrm>
            <a:off x="4182652" y="1766817"/>
            <a:ext cx="2802130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고유 이해충돌 상황 시나리오 개발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AI챗봇에 이해충돌 챗봇 통합</a:t>
            </a:r>
          </a:p>
        </p:txBody>
      </p:sp>
      <p:cxnSp>
        <p:nvCxnSpPr>
          <p:cNvPr id="32" name="Connector 20"/>
          <p:cNvCxnSpPr/>
          <p:nvPr/>
        </p:nvCxnSpPr>
        <p:spPr>
          <a:xfrm>
            <a:off x="4171696" y="1799687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레일"/>
          <p:cNvSpPr/>
          <p:nvPr/>
        </p:nvSpPr>
        <p:spPr>
          <a:xfrm>
            <a:off x="734087" y="2314643"/>
            <a:ext cx="580696" cy="862904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4" name="레일 태그"/>
          <p:cNvSpPr/>
          <p:nvPr/>
        </p:nvSpPr>
        <p:spPr>
          <a:xfrm>
            <a:off x="744637" y="2358470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5" name="레일 태그"/>
          <p:cNvSpPr>
            <a:spLocks noGrp="1"/>
          </p:cNvSpPr>
          <p:nvPr>
            <p:ph type="body" sz="quarter" idx="32"/>
          </p:nvPr>
        </p:nvSpPr>
        <p:spPr>
          <a:xfrm>
            <a:off x="744637" y="2358470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통제활동</a:t>
            </a:r>
          </a:p>
        </p:txBody>
      </p:sp>
      <p:sp>
        <p:nvSpPr>
          <p:cNvPr id="36" name="레일 라벨"/>
          <p:cNvSpPr>
            <a:spLocks noGrp="1"/>
          </p:cNvSpPr>
          <p:nvPr>
            <p:ph type="body" sz="quarter" idx="33"/>
          </p:nvPr>
        </p:nvSpPr>
        <p:spPr>
          <a:xfrm>
            <a:off x="734087" y="2544730"/>
            <a:ext cx="580696" cy="610904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빈틈없는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충돌방지</a:t>
            </a:r>
          </a:p>
        </p:txBody>
      </p:sp>
      <p:sp>
        <p:nvSpPr>
          <p:cNvPr id="37" name="머리칸"/>
          <p:cNvSpPr/>
          <p:nvPr/>
        </p:nvSpPr>
        <p:spPr>
          <a:xfrm>
            <a:off x="1347652" y="2336557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8" name="머리칸"/>
          <p:cNvSpPr>
            <a:spLocks noGrp="1"/>
          </p:cNvSpPr>
          <p:nvPr>
            <p:ph type="body" sz="quarter" idx="34"/>
          </p:nvPr>
        </p:nvSpPr>
        <p:spPr>
          <a:xfrm>
            <a:off x="1347652" y="2336557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협상에 의한 계약 이해충돌 예방</a:t>
            </a:r>
          </a:p>
        </p:txBody>
      </p:sp>
      <p:sp>
        <p:nvSpPr>
          <p:cNvPr id="39" name="머리칸"/>
          <p:cNvSpPr/>
          <p:nvPr/>
        </p:nvSpPr>
        <p:spPr>
          <a:xfrm>
            <a:off x="4171696" y="2336557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0" name="머리칸"/>
          <p:cNvSpPr>
            <a:spLocks noGrp="1"/>
          </p:cNvSpPr>
          <p:nvPr>
            <p:ph type="body" sz="quarter" idx="35"/>
          </p:nvPr>
        </p:nvSpPr>
        <p:spPr>
          <a:xfrm>
            <a:off x="4171696" y="2336557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포인트 사적사용 방지 강화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36"/>
          </p:nvPr>
        </p:nvSpPr>
        <p:spPr>
          <a:xfrm>
            <a:off x="1358609" y="2577600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계약상대자 선정 정량평가에 사적 이해관계 개입 우려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37"/>
          </p:nvPr>
        </p:nvSpPr>
        <p:spPr>
          <a:xfrm>
            <a:off x="4182652" y="2577600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공무 국외출장 항공 마일리지 사적사용 방지 기준 부재</a:t>
            </a:r>
          </a:p>
        </p:txBody>
      </p:sp>
      <p:cxnSp>
        <p:nvCxnSpPr>
          <p:cNvPr id="43" name="Connector 28"/>
          <p:cNvCxnSpPr/>
          <p:nvPr/>
        </p:nvCxnSpPr>
        <p:spPr>
          <a:xfrm>
            <a:off x="4171696" y="2610470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4" name="칸 본문"/>
          <p:cNvSpPr>
            <a:spLocks noGrp="1"/>
          </p:cNvSpPr>
          <p:nvPr>
            <p:ph type="body" sz="quarter" idx="38"/>
          </p:nvPr>
        </p:nvSpPr>
        <p:spPr>
          <a:xfrm>
            <a:off x="1358609" y="2931026"/>
            <a:ext cx="2802130" cy="241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제척·회피·기피 의무 및 평가기준 마련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39"/>
          </p:nvPr>
        </p:nvSpPr>
        <p:spPr>
          <a:xfrm>
            <a:off x="4182652" y="2931026"/>
            <a:ext cx="2802130" cy="241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법인 전용 포인트 공적재원으로 활용</a:t>
            </a:r>
          </a:p>
        </p:txBody>
      </p:sp>
      <p:cxnSp>
        <p:nvCxnSpPr>
          <p:cNvPr id="46" name="Connector 31"/>
          <p:cNvCxnSpPr/>
          <p:nvPr/>
        </p:nvCxnSpPr>
        <p:spPr>
          <a:xfrm>
            <a:off x="4171696" y="2963896"/>
            <a:ext cx="0" cy="17530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7" name="레일"/>
          <p:cNvSpPr/>
          <p:nvPr/>
        </p:nvSpPr>
        <p:spPr>
          <a:xfrm>
            <a:off x="734087" y="3193983"/>
            <a:ext cx="580696" cy="780730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8" name="레일 태그"/>
          <p:cNvSpPr/>
          <p:nvPr/>
        </p:nvSpPr>
        <p:spPr>
          <a:xfrm>
            <a:off x="744637" y="3358330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9" name="레일 태그"/>
          <p:cNvSpPr>
            <a:spLocks noGrp="1"/>
          </p:cNvSpPr>
          <p:nvPr>
            <p:ph type="body" sz="quarter" idx="40"/>
          </p:nvPr>
        </p:nvSpPr>
        <p:spPr>
          <a:xfrm>
            <a:off x="744637" y="3358330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인식확산</a:t>
            </a:r>
          </a:p>
        </p:txBody>
      </p:sp>
      <p:sp>
        <p:nvSpPr>
          <p:cNvPr id="50" name="레일 라벨"/>
          <p:cNvSpPr>
            <a:spLocks noGrp="1"/>
          </p:cNvSpPr>
          <p:nvPr>
            <p:ph type="body" sz="quarter" idx="41"/>
          </p:nvPr>
        </p:nvSpPr>
        <p:spPr>
          <a:xfrm>
            <a:off x="734087" y="3544591"/>
            <a:ext cx="580696" cy="408209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이해충돌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바로알기</a:t>
            </a:r>
          </a:p>
        </p:txBody>
      </p:sp>
      <p:sp>
        <p:nvSpPr>
          <p:cNvPr id="51" name="레일 삼각형"/>
          <p:cNvSpPr/>
          <p:nvPr/>
        </p:nvSpPr>
        <p:spPr>
          <a:xfrm>
            <a:off x="734086" y="3193982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2" name="단계"/>
          <p:cNvSpPr/>
          <p:nvPr/>
        </p:nvSpPr>
        <p:spPr>
          <a:xfrm>
            <a:off x="1347652" y="3215896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3" name="단계"/>
          <p:cNvSpPr>
            <a:spLocks noGrp="1"/>
          </p:cNvSpPr>
          <p:nvPr>
            <p:ph type="body" sz="quarter" idx="42"/>
          </p:nvPr>
        </p:nvSpPr>
        <p:spPr>
          <a:xfrm>
            <a:off x="1347652" y="321589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인식조사 결과</a:t>
            </a:r>
          </a:p>
        </p:txBody>
      </p:sp>
      <p:sp>
        <p:nvSpPr>
          <p:cNvPr id="54" name="단계"/>
          <p:cNvSpPr/>
          <p:nvPr/>
        </p:nvSpPr>
        <p:spPr>
          <a:xfrm>
            <a:off x="3230348" y="3215896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5" name="단계"/>
          <p:cNvSpPr>
            <a:spLocks noGrp="1"/>
          </p:cNvSpPr>
          <p:nvPr>
            <p:ph type="body" sz="quarter" idx="43"/>
          </p:nvPr>
        </p:nvSpPr>
        <p:spPr>
          <a:xfrm>
            <a:off x="3230348" y="321589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개선사항</a:t>
            </a:r>
          </a:p>
        </p:txBody>
      </p:sp>
      <p:sp>
        <p:nvSpPr>
          <p:cNvPr id="56" name="단계"/>
          <p:cNvSpPr/>
          <p:nvPr/>
        </p:nvSpPr>
        <p:spPr>
          <a:xfrm>
            <a:off x="5113043" y="3215896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7" name="단계"/>
          <p:cNvSpPr>
            <a:spLocks noGrp="1"/>
          </p:cNvSpPr>
          <p:nvPr>
            <p:ph type="body" sz="quarter" idx="44"/>
          </p:nvPr>
        </p:nvSpPr>
        <p:spPr>
          <a:xfrm>
            <a:off x="5113043" y="321589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추진실적</a:t>
            </a:r>
          </a:p>
        </p:txBody>
      </p:sp>
      <p:sp>
        <p:nvSpPr>
          <p:cNvPr id="58" name="단계 삼각형"/>
          <p:cNvSpPr/>
          <p:nvPr/>
        </p:nvSpPr>
        <p:spPr>
          <a:xfrm>
            <a:off x="3230347" y="3215895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9" name="단계 삼각형"/>
          <p:cNvSpPr/>
          <p:nvPr/>
        </p:nvSpPr>
        <p:spPr>
          <a:xfrm>
            <a:off x="5113043" y="3215895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0" name="칸 본문"/>
          <p:cNvSpPr>
            <a:spLocks noGrp="1"/>
          </p:cNvSpPr>
          <p:nvPr>
            <p:ph type="body" sz="quarter" idx="45"/>
          </p:nvPr>
        </p:nvSpPr>
        <p:spPr>
          <a:xfrm>
            <a:off x="1358609" y="3467896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인식조사 결과 법 개념과 사례 막연한 인식 47.4%</a:t>
            </a:r>
          </a:p>
        </p:txBody>
      </p:sp>
      <p:sp>
        <p:nvSpPr>
          <p:cNvPr id="61" name="칸 본문"/>
          <p:cNvSpPr>
            <a:spLocks noGrp="1"/>
          </p:cNvSpPr>
          <p:nvPr>
            <p:ph type="body" sz="quarter" idx="46"/>
          </p:nvPr>
        </p:nvSpPr>
        <p:spPr>
          <a:xfrm>
            <a:off x="3241304" y="3467896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SNS 활용 상황별 알림 발송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이해충돌 사례집 발간(’25.12)</a:t>
            </a:r>
          </a:p>
        </p:txBody>
      </p:sp>
      <p:cxnSp>
        <p:nvCxnSpPr>
          <p:cNvPr id="62" name="Connector 43"/>
          <p:cNvCxnSpPr/>
          <p:nvPr/>
        </p:nvCxnSpPr>
        <p:spPr>
          <a:xfrm>
            <a:off x="3230348" y="3500765"/>
            <a:ext cx="0" cy="2767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3" name="칸 본문"/>
          <p:cNvSpPr>
            <a:spLocks noGrp="1"/>
          </p:cNvSpPr>
          <p:nvPr>
            <p:ph type="body" sz="quarter" idx="47"/>
          </p:nvPr>
        </p:nvSpPr>
        <p:spPr>
          <a:xfrm>
            <a:off x="5124000" y="3467896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부패인식 74.2 → 90.9점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교육수료자 8.2천명 → 9.5천명</a:t>
            </a:r>
          </a:p>
        </p:txBody>
      </p:sp>
      <p:cxnSp>
        <p:nvCxnSpPr>
          <p:cNvPr id="64" name="Connector 45"/>
          <p:cNvCxnSpPr/>
          <p:nvPr/>
        </p:nvCxnSpPr>
        <p:spPr>
          <a:xfrm>
            <a:off x="5113043" y="3500765"/>
            <a:ext cx="0" cy="2767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5" name="핵심성과 박스"/>
          <p:cNvSpPr/>
          <p:nvPr/>
        </p:nvSpPr>
        <p:spPr>
          <a:xfrm>
            <a:off x="723130" y="4078800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6" name="핵심성과 라벨"/>
          <p:cNvSpPr/>
          <p:nvPr/>
        </p:nvSpPr>
        <p:spPr>
          <a:xfrm>
            <a:off x="756000" y="4111670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67" name="핵심성과 라벨"/>
          <p:cNvSpPr>
            <a:spLocks noGrp="1"/>
          </p:cNvSpPr>
          <p:nvPr>
            <p:ph type="body" sz="quarter" idx="48"/>
          </p:nvPr>
        </p:nvSpPr>
        <p:spPr>
          <a:xfrm>
            <a:off x="756000" y="4111670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68" name="핵심성과 문구"/>
          <p:cNvSpPr>
            <a:spLocks noGrp="1"/>
          </p:cNvSpPr>
          <p:nvPr>
            <p:ph type="body" sz="quarter" idx="49"/>
          </p:nvPr>
        </p:nvSpPr>
        <p:spPr>
          <a:xfrm>
            <a:off x="1501043" y="4100713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공사 최초 권익위 청렴도 1등급 및 신뢰경영지수 역대 최고 득점 달성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이해충돌방지 자율적 내부통제 체계로 ’25년 법 위반 사례 Zero 달성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41 서사 · 추진 전략 → 추진방향 · 과제 → PDCA 실행체계 → 추진기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중장기 인권경영 전략 연계 PDCA 인권존중 추진 Build-up</a:t>
            </a:r>
          </a:p>
        </p:txBody>
      </p:sp>
      <p:sp>
        <p:nvSpPr>
          <p:cNvPr id="15" name="표 외곽"/>
          <p:cNvSpPr/>
          <p:nvPr/>
        </p:nvSpPr>
        <p:spPr>
          <a:xfrm>
            <a:off x="536870" y="1117565"/>
            <a:ext cx="6300000" cy="695739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레일"/>
          <p:cNvSpPr/>
          <p:nvPr/>
        </p:nvSpPr>
        <p:spPr>
          <a:xfrm>
            <a:off x="547826" y="1134000"/>
            <a:ext cx="580696" cy="66287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134000"/>
            <a:ext cx="580696" cy="66287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</a:t>
            </a:r>
          </a:p>
        </p:txBody>
      </p:sp>
      <p:sp>
        <p:nvSpPr>
          <p:cNvPr id="18" name="머리칸"/>
          <p:cNvSpPr/>
          <p:nvPr/>
        </p:nvSpPr>
        <p:spPr>
          <a:xfrm>
            <a:off x="1161391" y="115591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9" name="머리칸"/>
          <p:cNvSpPr>
            <a:spLocks noGrp="1"/>
          </p:cNvSpPr>
          <p:nvPr>
            <p:ph type="body" sz="quarter" idx="23"/>
          </p:nvPr>
        </p:nvSpPr>
        <p:spPr>
          <a:xfrm>
            <a:off x="1161391" y="115591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중장기 인권경영 추진 전략(’24.12)</a:t>
            </a:r>
          </a:p>
        </p:txBody>
      </p:sp>
      <p:sp>
        <p:nvSpPr>
          <p:cNvPr id="20" name="머리칸"/>
          <p:cNvSpPr/>
          <p:nvPr/>
        </p:nvSpPr>
        <p:spPr>
          <a:xfrm>
            <a:off x="3985435" y="115591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1" name="머리칸"/>
          <p:cNvSpPr>
            <a:spLocks noGrp="1"/>
          </p:cNvSpPr>
          <p:nvPr>
            <p:ph type="body" sz="quarter" idx="24"/>
          </p:nvPr>
        </p:nvSpPr>
        <p:spPr>
          <a:xfrm>
            <a:off x="3985435" y="115591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인권영향평가 결과(’24.12)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5"/>
          </p:nvPr>
        </p:nvSpPr>
        <p:spPr>
          <a:xfrm>
            <a:off x="1172348" y="1396957"/>
            <a:ext cx="2802130" cy="39443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인권비전 ‘인권경영을 선도하는 기관’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전략방향 인권경영체계 정비, 피드백 강화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6"/>
          </p:nvPr>
        </p:nvSpPr>
        <p:spPr>
          <a:xfrm>
            <a:off x="3996391" y="1396957"/>
            <a:ext cx="2802130" cy="39443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타 기관 대비 높은 수준 인권경영(99.8점)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디지털 전환 대비 개선사항 보완 필요</a:t>
            </a:r>
          </a:p>
        </p:txBody>
      </p:sp>
      <p:cxnSp>
        <p:nvCxnSpPr>
          <p:cNvPr id="24" name="Connector 17"/>
          <p:cNvCxnSpPr/>
          <p:nvPr/>
        </p:nvCxnSpPr>
        <p:spPr>
          <a:xfrm>
            <a:off x="3985435" y="1429826"/>
            <a:ext cx="0" cy="32869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5" name="삼각 화살표"/>
          <p:cNvSpPr/>
          <p:nvPr/>
        </p:nvSpPr>
        <p:spPr>
          <a:xfrm>
            <a:off x="3823826" y="1857130"/>
            <a:ext cx="350608" cy="142435"/>
          </a:xfrm>
          <a:custGeom>
            <a:avLst/>
            <a:gdLst/>
            <a:ahLst/>
            <a:cxnLst/>
            <a:rect l="l" t="t" r="r" b="b"/>
            <a:pathLst>
              <a:path w="350608" h="142435">
                <a:moveTo>
                  <a:pt x="0" y="0"/>
                </a:moveTo>
                <a:lnTo>
                  <a:pt x="350608" y="0"/>
                </a:lnTo>
                <a:lnTo>
                  <a:pt x="175304" y="142435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6" name="표 외곽"/>
          <p:cNvSpPr/>
          <p:nvPr/>
        </p:nvSpPr>
        <p:spPr>
          <a:xfrm>
            <a:off x="536870" y="2070783"/>
            <a:ext cx="6300000" cy="195041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7" name="레일"/>
          <p:cNvSpPr/>
          <p:nvPr/>
        </p:nvSpPr>
        <p:spPr>
          <a:xfrm>
            <a:off x="547826" y="2087217"/>
            <a:ext cx="580696" cy="621861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8" name="레일"/>
          <p:cNvSpPr>
            <a:spLocks noGrp="1"/>
          </p:cNvSpPr>
          <p:nvPr>
            <p:ph type="body" sz="quarter" idx="27"/>
          </p:nvPr>
        </p:nvSpPr>
        <p:spPr>
          <a:xfrm>
            <a:off x="547826" y="2087217"/>
            <a:ext cx="580696" cy="6218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추진방향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· 과제</a:t>
            </a:r>
          </a:p>
        </p:txBody>
      </p:sp>
      <p:sp>
        <p:nvSpPr>
          <p:cNvPr id="29" name="단계"/>
          <p:cNvSpPr/>
          <p:nvPr/>
        </p:nvSpPr>
        <p:spPr>
          <a:xfrm>
            <a:off x="1161391" y="2109130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0" name="단계"/>
          <p:cNvSpPr>
            <a:spLocks noGrp="1"/>
          </p:cNvSpPr>
          <p:nvPr>
            <p:ph type="body" sz="quarter" idx="28"/>
          </p:nvPr>
        </p:nvSpPr>
        <p:spPr>
          <a:xfrm>
            <a:off x="1161391" y="210913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다층적 대응체계</a:t>
            </a:r>
          </a:p>
        </p:txBody>
      </p:sp>
      <p:sp>
        <p:nvSpPr>
          <p:cNvPr id="31" name="단계"/>
          <p:cNvSpPr/>
          <p:nvPr/>
        </p:nvSpPr>
        <p:spPr>
          <a:xfrm>
            <a:off x="3044087" y="2109130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2" name="단계"/>
          <p:cNvSpPr>
            <a:spLocks noGrp="1"/>
          </p:cNvSpPr>
          <p:nvPr>
            <p:ph type="body" sz="quarter" idx="29"/>
          </p:nvPr>
        </p:nvSpPr>
        <p:spPr>
          <a:xfrm>
            <a:off x="3044087" y="210913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인권보호 확대</a:t>
            </a:r>
          </a:p>
        </p:txBody>
      </p:sp>
      <p:sp>
        <p:nvSpPr>
          <p:cNvPr id="33" name="단계"/>
          <p:cNvSpPr/>
          <p:nvPr/>
        </p:nvSpPr>
        <p:spPr>
          <a:xfrm>
            <a:off x="4926783" y="2109130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4" name="단계"/>
          <p:cNvSpPr>
            <a:spLocks noGrp="1"/>
          </p:cNvSpPr>
          <p:nvPr>
            <p:ph type="body" sz="quarter" idx="30"/>
          </p:nvPr>
        </p:nvSpPr>
        <p:spPr>
          <a:xfrm>
            <a:off x="4926783" y="210913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❸ 미래형 인권경영</a:t>
            </a:r>
          </a:p>
        </p:txBody>
      </p:sp>
      <p:sp>
        <p:nvSpPr>
          <p:cNvPr id="35" name="단계 삼각형"/>
          <p:cNvSpPr/>
          <p:nvPr/>
        </p:nvSpPr>
        <p:spPr>
          <a:xfrm>
            <a:off x="3044086" y="2109130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6" name="단계 삼각형"/>
          <p:cNvSpPr/>
          <p:nvPr/>
        </p:nvSpPr>
        <p:spPr>
          <a:xfrm>
            <a:off x="4926782" y="2109130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1"/>
          </p:nvPr>
        </p:nvSpPr>
        <p:spPr>
          <a:xfrm>
            <a:off x="1172348" y="2361130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위험징후 초기 예방관리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상시 점검체계 마련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2"/>
          </p:nvPr>
        </p:nvSpPr>
        <p:spPr>
          <a:xfrm>
            <a:off x="3055043" y="2361130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국제 인권환경실사 대응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공급망 인권보호 추진</a:t>
            </a:r>
          </a:p>
        </p:txBody>
      </p:sp>
      <p:cxnSp>
        <p:nvCxnSpPr>
          <p:cNvPr id="39" name="Connector 28"/>
          <p:cNvCxnSpPr/>
          <p:nvPr/>
        </p:nvCxnSpPr>
        <p:spPr>
          <a:xfrm>
            <a:off x="3044087" y="2394000"/>
            <a:ext cx="0" cy="2767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0" name="칸 본문"/>
          <p:cNvSpPr>
            <a:spLocks noGrp="1"/>
          </p:cNvSpPr>
          <p:nvPr>
            <p:ph type="body" sz="quarter" idx="33"/>
          </p:nvPr>
        </p:nvSpPr>
        <p:spPr>
          <a:xfrm>
            <a:off x="4937739" y="2361130"/>
            <a:ext cx="1860783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인권 기반 AI 활용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인권 리스크 관리</a:t>
            </a:r>
          </a:p>
        </p:txBody>
      </p:sp>
      <p:cxnSp>
        <p:nvCxnSpPr>
          <p:cNvPr id="41" name="Connector 30"/>
          <p:cNvCxnSpPr/>
          <p:nvPr/>
        </p:nvCxnSpPr>
        <p:spPr>
          <a:xfrm>
            <a:off x="4926783" y="2394000"/>
            <a:ext cx="0" cy="2767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2" name="레일"/>
          <p:cNvSpPr/>
          <p:nvPr/>
        </p:nvSpPr>
        <p:spPr>
          <a:xfrm>
            <a:off x="547826" y="2725513"/>
            <a:ext cx="580696" cy="621861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3" name="레일"/>
          <p:cNvSpPr>
            <a:spLocks noGrp="1"/>
          </p:cNvSpPr>
          <p:nvPr>
            <p:ph type="body" sz="quarter" idx="34"/>
          </p:nvPr>
        </p:nvSpPr>
        <p:spPr>
          <a:xfrm>
            <a:off x="547826" y="2725513"/>
            <a:ext cx="580696" cy="6218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실행체계</a:t>
            </a:r>
          </a:p>
        </p:txBody>
      </p:sp>
      <p:sp>
        <p:nvSpPr>
          <p:cNvPr id="44" name="레일 삼각형"/>
          <p:cNvSpPr/>
          <p:nvPr/>
        </p:nvSpPr>
        <p:spPr>
          <a:xfrm>
            <a:off x="547826" y="2725513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5" name="단계"/>
          <p:cNvSpPr/>
          <p:nvPr/>
        </p:nvSpPr>
        <p:spPr>
          <a:xfrm>
            <a:off x="1161391" y="2747426"/>
            <a:ext cx="141202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6" name="단계"/>
          <p:cNvSpPr>
            <a:spLocks noGrp="1"/>
          </p:cNvSpPr>
          <p:nvPr>
            <p:ph type="body" sz="quarter" idx="35"/>
          </p:nvPr>
        </p:nvSpPr>
        <p:spPr>
          <a:xfrm>
            <a:off x="1161391" y="2747426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P 인권경영계획</a:t>
            </a:r>
          </a:p>
        </p:txBody>
      </p:sp>
      <p:sp>
        <p:nvSpPr>
          <p:cNvPr id="47" name="단계"/>
          <p:cNvSpPr/>
          <p:nvPr/>
        </p:nvSpPr>
        <p:spPr>
          <a:xfrm>
            <a:off x="2573413" y="2747426"/>
            <a:ext cx="1412022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8" name="단계"/>
          <p:cNvSpPr>
            <a:spLocks noGrp="1"/>
          </p:cNvSpPr>
          <p:nvPr>
            <p:ph type="body" sz="quarter" idx="36"/>
          </p:nvPr>
        </p:nvSpPr>
        <p:spPr>
          <a:xfrm>
            <a:off x="2573413" y="2747426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D 인권경영이행</a:t>
            </a:r>
          </a:p>
        </p:txBody>
      </p:sp>
      <p:sp>
        <p:nvSpPr>
          <p:cNvPr id="49" name="단계"/>
          <p:cNvSpPr/>
          <p:nvPr/>
        </p:nvSpPr>
        <p:spPr>
          <a:xfrm>
            <a:off x="3985435" y="2747426"/>
            <a:ext cx="1412022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0" name="단계"/>
          <p:cNvSpPr>
            <a:spLocks noGrp="1"/>
          </p:cNvSpPr>
          <p:nvPr>
            <p:ph type="body" sz="quarter" idx="37"/>
          </p:nvPr>
        </p:nvSpPr>
        <p:spPr>
          <a:xfrm>
            <a:off x="3985435" y="2747426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C 모니터링·평가</a:t>
            </a:r>
          </a:p>
        </p:txBody>
      </p:sp>
      <p:sp>
        <p:nvSpPr>
          <p:cNvPr id="51" name="단계"/>
          <p:cNvSpPr/>
          <p:nvPr/>
        </p:nvSpPr>
        <p:spPr>
          <a:xfrm>
            <a:off x="5397457" y="2747426"/>
            <a:ext cx="1412022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2" name="단계"/>
          <p:cNvSpPr>
            <a:spLocks noGrp="1"/>
          </p:cNvSpPr>
          <p:nvPr>
            <p:ph type="body" sz="quarter" idx="38"/>
          </p:nvPr>
        </p:nvSpPr>
        <p:spPr>
          <a:xfrm>
            <a:off x="5397457" y="2747426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 침해 구제 개선</a:t>
            </a:r>
          </a:p>
        </p:txBody>
      </p:sp>
      <p:sp>
        <p:nvSpPr>
          <p:cNvPr id="53" name="단계 삼각형"/>
          <p:cNvSpPr/>
          <p:nvPr/>
        </p:nvSpPr>
        <p:spPr>
          <a:xfrm>
            <a:off x="2573413" y="2747426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4" name="단계 삼각형"/>
          <p:cNvSpPr/>
          <p:nvPr/>
        </p:nvSpPr>
        <p:spPr>
          <a:xfrm>
            <a:off x="3985434" y="2747426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5" name="단계 삼각형"/>
          <p:cNvSpPr/>
          <p:nvPr/>
        </p:nvSpPr>
        <p:spPr>
          <a:xfrm>
            <a:off x="5397456" y="2747426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6" name="칸 본문"/>
          <p:cNvSpPr>
            <a:spLocks noGrp="1"/>
          </p:cNvSpPr>
          <p:nvPr>
            <p:ph type="body" sz="quarter" idx="39"/>
          </p:nvPr>
        </p:nvSpPr>
        <p:spPr>
          <a:xfrm>
            <a:off x="1172348" y="2999426"/>
            <a:ext cx="1390109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목표 및 기본방향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인권 리스크 관리체계</a:t>
            </a:r>
          </a:p>
        </p:txBody>
      </p:sp>
      <p:sp>
        <p:nvSpPr>
          <p:cNvPr id="57" name="칸 본문"/>
          <p:cNvSpPr>
            <a:spLocks noGrp="1"/>
          </p:cNvSpPr>
          <p:nvPr>
            <p:ph type="body" sz="quarter" idx="40"/>
          </p:nvPr>
        </p:nvSpPr>
        <p:spPr>
          <a:xfrm>
            <a:off x="2584370" y="2999426"/>
            <a:ext cx="1390109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인권교육·캠페인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이해관계자 보호</a:t>
            </a:r>
          </a:p>
        </p:txBody>
      </p:sp>
      <p:cxnSp>
        <p:nvCxnSpPr>
          <p:cNvPr id="58" name="Connector 42"/>
          <p:cNvCxnSpPr/>
          <p:nvPr/>
        </p:nvCxnSpPr>
        <p:spPr>
          <a:xfrm>
            <a:off x="2573413" y="3032296"/>
            <a:ext cx="0" cy="2767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9" name="칸 본문"/>
          <p:cNvSpPr>
            <a:spLocks noGrp="1"/>
          </p:cNvSpPr>
          <p:nvPr>
            <p:ph type="body" sz="quarter" idx="41"/>
          </p:nvPr>
        </p:nvSpPr>
        <p:spPr>
          <a:xfrm>
            <a:off x="3996391" y="2999426"/>
            <a:ext cx="1390109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인권영향평가(’25.11)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인권경영지수 등</a:t>
            </a:r>
          </a:p>
        </p:txBody>
      </p:sp>
      <p:cxnSp>
        <p:nvCxnSpPr>
          <p:cNvPr id="60" name="Connector 44"/>
          <p:cNvCxnSpPr/>
          <p:nvPr/>
        </p:nvCxnSpPr>
        <p:spPr>
          <a:xfrm>
            <a:off x="3985435" y="3032296"/>
            <a:ext cx="0" cy="2767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1" name="칸 본문"/>
          <p:cNvSpPr>
            <a:spLocks noGrp="1"/>
          </p:cNvSpPr>
          <p:nvPr>
            <p:ph type="body" sz="quarter" idx="42"/>
          </p:nvPr>
        </p:nvSpPr>
        <p:spPr>
          <a:xfrm>
            <a:off x="5408413" y="2999426"/>
            <a:ext cx="1390109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구제 절차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개선이행, 정보공개</a:t>
            </a:r>
          </a:p>
        </p:txBody>
      </p:sp>
      <p:cxnSp>
        <p:nvCxnSpPr>
          <p:cNvPr id="62" name="Connector 46"/>
          <p:cNvCxnSpPr/>
          <p:nvPr/>
        </p:nvCxnSpPr>
        <p:spPr>
          <a:xfrm>
            <a:off x="5397457" y="3032296"/>
            <a:ext cx="0" cy="2767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3" name="레일"/>
          <p:cNvSpPr/>
          <p:nvPr/>
        </p:nvSpPr>
        <p:spPr>
          <a:xfrm>
            <a:off x="547826" y="3363809"/>
            <a:ext cx="580696" cy="64095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4" name="레일"/>
          <p:cNvSpPr>
            <a:spLocks noGrp="1"/>
          </p:cNvSpPr>
          <p:nvPr>
            <p:ph type="body" sz="quarter" idx="43"/>
          </p:nvPr>
        </p:nvSpPr>
        <p:spPr>
          <a:xfrm>
            <a:off x="547826" y="3363809"/>
            <a:ext cx="580696" cy="640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추진기반</a:t>
            </a:r>
          </a:p>
        </p:txBody>
      </p:sp>
      <p:sp>
        <p:nvSpPr>
          <p:cNvPr id="65" name="레일 삼각형"/>
          <p:cNvSpPr/>
          <p:nvPr/>
        </p:nvSpPr>
        <p:spPr>
          <a:xfrm>
            <a:off x="547826" y="3363808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6" name="태그"/>
          <p:cNvSpPr/>
          <p:nvPr/>
        </p:nvSpPr>
        <p:spPr>
          <a:xfrm>
            <a:off x="1161391" y="3407635"/>
            <a:ext cx="581509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7" name="태그"/>
          <p:cNvSpPr>
            <a:spLocks noGrp="1"/>
          </p:cNvSpPr>
          <p:nvPr>
            <p:ph type="body" sz="quarter" idx="44"/>
          </p:nvPr>
        </p:nvSpPr>
        <p:spPr>
          <a:xfrm>
            <a:off x="1161391" y="3407635"/>
            <a:ext cx="58150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정책기구</a:t>
            </a:r>
          </a:p>
        </p:txBody>
      </p:sp>
      <p:sp>
        <p:nvSpPr>
          <p:cNvPr id="68" name="태그 설명"/>
          <p:cNvSpPr>
            <a:spLocks noGrp="1"/>
          </p:cNvSpPr>
          <p:nvPr>
            <p:ph type="body" sz="quarter" idx="45"/>
          </p:nvPr>
        </p:nvSpPr>
        <p:spPr>
          <a:xfrm>
            <a:off x="1786727" y="3396678"/>
            <a:ext cx="502275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인권경영위원회 · 권익보호위원회</a:t>
            </a:r>
          </a:p>
        </p:txBody>
      </p:sp>
      <p:sp>
        <p:nvSpPr>
          <p:cNvPr id="69" name="태그"/>
          <p:cNvSpPr/>
          <p:nvPr/>
        </p:nvSpPr>
        <p:spPr>
          <a:xfrm>
            <a:off x="1161391" y="3604852"/>
            <a:ext cx="581509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0" name="태그"/>
          <p:cNvSpPr>
            <a:spLocks noGrp="1"/>
          </p:cNvSpPr>
          <p:nvPr>
            <p:ph type="body" sz="quarter" idx="46"/>
          </p:nvPr>
        </p:nvSpPr>
        <p:spPr>
          <a:xfrm>
            <a:off x="1161391" y="3604852"/>
            <a:ext cx="58150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실행조직</a:t>
            </a:r>
          </a:p>
        </p:txBody>
      </p:sp>
      <p:sp>
        <p:nvSpPr>
          <p:cNvPr id="71" name="태그 설명"/>
          <p:cNvSpPr>
            <a:spLocks noGrp="1"/>
          </p:cNvSpPr>
          <p:nvPr>
            <p:ph type="body" sz="quarter" idx="47"/>
          </p:nvPr>
        </p:nvSpPr>
        <p:spPr>
          <a:xfrm>
            <a:off x="1786727" y="3593896"/>
            <a:ext cx="502275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전담부서, 권익보호센터 · 안심케어센터(신규)</a:t>
            </a:r>
          </a:p>
        </p:txBody>
      </p:sp>
      <p:sp>
        <p:nvSpPr>
          <p:cNvPr id="72" name="태그"/>
          <p:cNvSpPr/>
          <p:nvPr/>
        </p:nvSpPr>
        <p:spPr>
          <a:xfrm>
            <a:off x="1161391" y="3802070"/>
            <a:ext cx="581509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3" name="태그"/>
          <p:cNvSpPr>
            <a:spLocks noGrp="1"/>
          </p:cNvSpPr>
          <p:nvPr>
            <p:ph type="body" sz="quarter" idx="48"/>
          </p:nvPr>
        </p:nvSpPr>
        <p:spPr>
          <a:xfrm>
            <a:off x="1161391" y="3802070"/>
            <a:ext cx="58150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신고소통</a:t>
            </a:r>
          </a:p>
        </p:txBody>
      </p:sp>
      <p:sp>
        <p:nvSpPr>
          <p:cNvPr id="74" name="태그 설명"/>
          <p:cNvSpPr>
            <a:spLocks noGrp="1"/>
          </p:cNvSpPr>
          <p:nvPr>
            <p:ph type="body" sz="quarter" idx="49"/>
          </p:nvPr>
        </p:nvSpPr>
        <p:spPr>
          <a:xfrm>
            <a:off x="1786727" y="3791113"/>
            <a:ext cx="502275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권익보호포털, 인권침해 실태조사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42 서사 · 취약사항 → 개선방향(예방·조치·사후관리) → 추진성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다양한 이해관계자를 아우르는 포용적 인권경영 실현</a:t>
            </a:r>
          </a:p>
        </p:txBody>
      </p:sp>
      <p:sp>
        <p:nvSpPr>
          <p:cNvPr id="14" name="형광 밑줄"/>
          <p:cNvSpPr/>
          <p:nvPr/>
        </p:nvSpPr>
        <p:spPr>
          <a:xfrm>
            <a:off x="723130" y="1358609"/>
            <a:ext cx="4068245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소제목"/>
          <p:cNvSpPr>
            <a:spLocks noGrp="1"/>
          </p:cNvSpPr>
          <p:nvPr>
            <p:ph type="body" sz="quarter" idx="22"/>
          </p:nvPr>
        </p:nvSpPr>
        <p:spPr>
          <a:xfrm>
            <a:off x="723130" y="120521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직원 신뢰가 최우선, 사전예방부터 사후지원까지 한층 더 강력하게</a:t>
            </a:r>
          </a:p>
        </p:txBody>
      </p:sp>
      <p:sp>
        <p:nvSpPr>
          <p:cNvPr id="16" name="태그칩"/>
          <p:cNvSpPr/>
          <p:nvPr/>
        </p:nvSpPr>
        <p:spPr>
          <a:xfrm>
            <a:off x="4889984" y="1238087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칩"/>
          <p:cNvSpPr>
            <a:spLocks noGrp="1"/>
          </p:cNvSpPr>
          <p:nvPr>
            <p:ph type="body" sz="quarter" idx="23"/>
          </p:nvPr>
        </p:nvSpPr>
        <p:spPr>
          <a:xfrm>
            <a:off x="4889984" y="1238087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8" name="태그칩"/>
          <p:cNvSpPr/>
          <p:nvPr/>
        </p:nvSpPr>
        <p:spPr>
          <a:xfrm>
            <a:off x="5441105" y="1238087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태그칩"/>
          <p:cNvSpPr>
            <a:spLocks noGrp="1"/>
          </p:cNvSpPr>
          <p:nvPr>
            <p:ph type="body" sz="quarter" idx="24"/>
          </p:nvPr>
        </p:nvSpPr>
        <p:spPr>
          <a:xfrm>
            <a:off x="5441105" y="1238087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20" name="표 외곽"/>
          <p:cNvSpPr/>
          <p:nvPr/>
        </p:nvSpPr>
        <p:spPr>
          <a:xfrm>
            <a:off x="723130" y="1490087"/>
            <a:ext cx="6300000" cy="147521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1" name="레일"/>
          <p:cNvSpPr/>
          <p:nvPr/>
        </p:nvSpPr>
        <p:spPr>
          <a:xfrm>
            <a:off x="734087" y="1506522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레일"/>
          <p:cNvSpPr>
            <a:spLocks noGrp="1"/>
          </p:cNvSpPr>
          <p:nvPr>
            <p:ph type="body" sz="quarter" idx="25"/>
          </p:nvPr>
        </p:nvSpPr>
        <p:spPr>
          <a:xfrm>
            <a:off x="734087" y="1506522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취 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 항</a:t>
            </a:r>
          </a:p>
        </p:txBody>
      </p:sp>
      <p:sp>
        <p:nvSpPr>
          <p:cNvPr id="23" name="배너"/>
          <p:cNvSpPr/>
          <p:nvPr/>
        </p:nvSpPr>
        <p:spPr>
          <a:xfrm>
            <a:off x="1347652" y="1528435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4" name="배너"/>
          <p:cNvSpPr>
            <a:spLocks noGrp="1"/>
          </p:cNvSpPr>
          <p:nvPr>
            <p:ph type="body" sz="quarter" idx="26"/>
          </p:nvPr>
        </p:nvSpPr>
        <p:spPr>
          <a:xfrm>
            <a:off x="1347652" y="1528435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구조적 인권침해 방지 환경·제도 구축 필요(’24년 평가단)</a:t>
            </a:r>
          </a:p>
        </p:txBody>
      </p:sp>
      <p:sp>
        <p:nvSpPr>
          <p:cNvPr id="25" name="레일"/>
          <p:cNvSpPr/>
          <p:nvPr/>
        </p:nvSpPr>
        <p:spPr>
          <a:xfrm>
            <a:off x="734087" y="1931165"/>
            <a:ext cx="580696" cy="1017704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6" name="레일"/>
          <p:cNvSpPr>
            <a:spLocks noGrp="1"/>
          </p:cNvSpPr>
          <p:nvPr>
            <p:ph type="body" sz="quarter" idx="27"/>
          </p:nvPr>
        </p:nvSpPr>
        <p:spPr>
          <a:xfrm>
            <a:off x="734087" y="1931165"/>
            <a:ext cx="580696" cy="10177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활 동</a:t>
            </a:r>
          </a:p>
        </p:txBody>
      </p:sp>
      <p:sp>
        <p:nvSpPr>
          <p:cNvPr id="27" name="레일 삼각형"/>
          <p:cNvSpPr/>
          <p:nvPr/>
        </p:nvSpPr>
        <p:spPr>
          <a:xfrm>
            <a:off x="734086" y="1931165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배너"/>
          <p:cNvSpPr/>
          <p:nvPr/>
        </p:nvSpPr>
        <p:spPr>
          <a:xfrm>
            <a:off x="1347652" y="1953078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9" name="배너"/>
          <p:cNvSpPr>
            <a:spLocks noGrp="1"/>
          </p:cNvSpPr>
          <p:nvPr>
            <p:ph type="body" sz="quarter" idx="28"/>
          </p:nvPr>
        </p:nvSpPr>
        <p:spPr>
          <a:xfrm>
            <a:off x="1347652" y="1953078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다층적 대응체계 강화로 발전된 인권경영 수행</a:t>
            </a:r>
          </a:p>
        </p:txBody>
      </p:sp>
      <p:sp>
        <p:nvSpPr>
          <p:cNvPr id="30" name="단계"/>
          <p:cNvSpPr/>
          <p:nvPr/>
        </p:nvSpPr>
        <p:spPr>
          <a:xfrm>
            <a:off x="1347652" y="2188643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1" name="단계"/>
          <p:cNvSpPr>
            <a:spLocks noGrp="1"/>
          </p:cNvSpPr>
          <p:nvPr>
            <p:ph type="body" sz="quarter" idx="29"/>
          </p:nvPr>
        </p:nvSpPr>
        <p:spPr>
          <a:xfrm>
            <a:off x="1347652" y="218864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예방 사전예방적 관리 강화</a:t>
            </a:r>
          </a:p>
        </p:txBody>
      </p:sp>
      <p:sp>
        <p:nvSpPr>
          <p:cNvPr id="32" name="단계"/>
          <p:cNvSpPr/>
          <p:nvPr/>
        </p:nvSpPr>
        <p:spPr>
          <a:xfrm>
            <a:off x="3230348" y="2188643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3" name="단계"/>
          <p:cNvSpPr>
            <a:spLocks noGrp="1"/>
          </p:cNvSpPr>
          <p:nvPr>
            <p:ph type="body" sz="quarter" idx="30"/>
          </p:nvPr>
        </p:nvSpPr>
        <p:spPr>
          <a:xfrm>
            <a:off x="3230348" y="218864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조치 신속·무관용 처분</a:t>
            </a:r>
          </a:p>
        </p:txBody>
      </p:sp>
      <p:sp>
        <p:nvSpPr>
          <p:cNvPr id="34" name="단계"/>
          <p:cNvSpPr/>
          <p:nvPr/>
        </p:nvSpPr>
        <p:spPr>
          <a:xfrm>
            <a:off x="5113043" y="2188643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5" name="단계"/>
          <p:cNvSpPr>
            <a:spLocks noGrp="1"/>
          </p:cNvSpPr>
          <p:nvPr>
            <p:ph type="body" sz="quarter" idx="31"/>
          </p:nvPr>
        </p:nvSpPr>
        <p:spPr>
          <a:xfrm>
            <a:off x="5113043" y="218864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사후관리 보호체계 고도화</a:t>
            </a:r>
          </a:p>
        </p:txBody>
      </p:sp>
      <p:sp>
        <p:nvSpPr>
          <p:cNvPr id="36" name="단계 삼각형"/>
          <p:cNvSpPr/>
          <p:nvPr/>
        </p:nvSpPr>
        <p:spPr>
          <a:xfrm>
            <a:off x="3230347" y="2188643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7" name="단계 삼각형"/>
          <p:cNvSpPr/>
          <p:nvPr/>
        </p:nvSpPr>
        <p:spPr>
          <a:xfrm>
            <a:off x="5113043" y="218864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2"/>
          </p:nvPr>
        </p:nvSpPr>
        <p:spPr>
          <a:xfrm>
            <a:off x="1358609" y="2440643"/>
            <a:ext cx="1860783" cy="5027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찾아가는 참여형 교육(19회)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전사 모니터링 체계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권익침해 자가진단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3"/>
          </p:nvPr>
        </p:nvSpPr>
        <p:spPr>
          <a:xfrm>
            <a:off x="3241304" y="2440643"/>
            <a:ext cx="1860783" cy="5027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성비위·괴롭힘 대응절차 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처리기간 37% 단축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징계양정기준 개정</a:t>
            </a:r>
          </a:p>
        </p:txBody>
      </p:sp>
      <p:cxnSp>
        <p:nvCxnSpPr>
          <p:cNvPr id="40" name="Connector 25"/>
          <p:cNvCxnSpPr/>
          <p:nvPr/>
        </p:nvCxnSpPr>
        <p:spPr>
          <a:xfrm>
            <a:off x="3230348" y="2473513"/>
            <a:ext cx="0" cy="4370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1" name="칸 본문"/>
          <p:cNvSpPr>
            <a:spLocks noGrp="1"/>
          </p:cNvSpPr>
          <p:nvPr>
            <p:ph type="body" sz="quarter" idx="34"/>
          </p:nvPr>
        </p:nvSpPr>
        <p:spPr>
          <a:xfrm>
            <a:off x="5124000" y="2440643"/>
            <a:ext cx="1860783" cy="5027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안심케어센터 신설로 사고 직원 토탈케어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피해자 PTSD EAP 지원</a:t>
            </a:r>
          </a:p>
        </p:txBody>
      </p:sp>
      <p:cxnSp>
        <p:nvCxnSpPr>
          <p:cNvPr id="42" name="Connector 27"/>
          <p:cNvCxnSpPr/>
          <p:nvPr/>
        </p:nvCxnSpPr>
        <p:spPr>
          <a:xfrm>
            <a:off x="5113043" y="2473513"/>
            <a:ext cx="0" cy="4370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3" name="핵심성과 박스"/>
          <p:cNvSpPr/>
          <p:nvPr/>
        </p:nvSpPr>
        <p:spPr>
          <a:xfrm>
            <a:off x="723130" y="3052957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4" name="핵심성과 라벨"/>
          <p:cNvSpPr/>
          <p:nvPr/>
        </p:nvSpPr>
        <p:spPr>
          <a:xfrm>
            <a:off x="756000" y="3085826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5" name="핵심성과 라벨"/>
          <p:cNvSpPr>
            <a:spLocks noGrp="1"/>
          </p:cNvSpPr>
          <p:nvPr>
            <p:ph type="body" sz="quarter" idx="35"/>
          </p:nvPr>
        </p:nvSpPr>
        <p:spPr>
          <a:xfrm>
            <a:off x="756000" y="3085826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6" name="핵심성과 문구"/>
          <p:cNvSpPr>
            <a:spLocks noGrp="1"/>
          </p:cNvSpPr>
          <p:nvPr>
            <p:ph type="body" sz="quarter" idx="36"/>
          </p:nvPr>
        </p:nvSpPr>
        <p:spPr>
          <a:xfrm>
            <a:off x="1501043" y="3074870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신뢰경영지수 ‘믿음’, ‘존중’ 역대 최고점 달성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권익위 내부체감도 ‘갑질행위’ 지표 대폭 개선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43 서사 · 추진배경 → 네 방향 지원(십자 패널) → 추진성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4262851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고객-파트너-국민까지 모두 아우르는 공급망 인권경영 가치사슬 확대</a:t>
            </a:r>
          </a:p>
        </p:txBody>
      </p:sp>
      <p:sp>
        <p:nvSpPr>
          <p:cNvPr id="12" name="태그칩"/>
          <p:cNvSpPr/>
          <p:nvPr/>
        </p:nvSpPr>
        <p:spPr>
          <a:xfrm>
            <a:off x="4898329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898329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태그칩"/>
          <p:cNvSpPr/>
          <p:nvPr/>
        </p:nvSpPr>
        <p:spPr>
          <a:xfrm>
            <a:off x="5449450" y="799826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2"/>
          </p:nvPr>
        </p:nvSpPr>
        <p:spPr>
          <a:xfrm>
            <a:off x="5449450" y="799826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6" name="표 외곽"/>
          <p:cNvSpPr/>
          <p:nvPr/>
        </p:nvSpPr>
        <p:spPr>
          <a:xfrm>
            <a:off x="536870" y="1051826"/>
            <a:ext cx="6300000" cy="44107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547826" y="1068261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3"/>
          </p:nvPr>
        </p:nvSpPr>
        <p:spPr>
          <a:xfrm>
            <a:off x="547826" y="1068261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4"/>
          </p:nvPr>
        </p:nvSpPr>
        <p:spPr>
          <a:xfrm>
            <a:off x="1172348" y="1090174"/>
            <a:ext cx="2802130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 공급망 인권·환경보호법 발의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인권영향평가 환경권 등 인권존중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5"/>
          </p:nvPr>
        </p:nvSpPr>
        <p:spPr>
          <a:xfrm>
            <a:off x="3996391" y="1090174"/>
            <a:ext cx="2802130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이해관계자, 공급망까지 인권영향 관리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주요 현안 포함 부정적 인권영향 방지 확대</a:t>
            </a:r>
          </a:p>
        </p:txBody>
      </p:sp>
      <p:cxnSp>
        <p:nvCxnSpPr>
          <p:cNvPr id="21" name="Connector 14"/>
          <p:cNvCxnSpPr/>
          <p:nvPr/>
        </p:nvCxnSpPr>
        <p:spPr>
          <a:xfrm>
            <a:off x="3985435" y="1123043"/>
            <a:ext cx="0" cy="2767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2" name="위 머리"/>
          <p:cNvSpPr/>
          <p:nvPr/>
        </p:nvSpPr>
        <p:spPr>
          <a:xfrm>
            <a:off x="536870" y="1558643"/>
            <a:ext cx="3040435" cy="262957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3" name="태그"/>
          <p:cNvSpPr/>
          <p:nvPr/>
        </p:nvSpPr>
        <p:spPr>
          <a:xfrm>
            <a:off x="602609" y="1602470"/>
            <a:ext cx="329103" cy="175304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4" name="태그"/>
          <p:cNvSpPr>
            <a:spLocks noGrp="1"/>
          </p:cNvSpPr>
          <p:nvPr>
            <p:ph type="body" sz="quarter" idx="26"/>
          </p:nvPr>
        </p:nvSpPr>
        <p:spPr>
          <a:xfrm>
            <a:off x="602609" y="1602470"/>
            <a:ext cx="329103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고객</a:t>
            </a:r>
          </a:p>
        </p:txBody>
      </p:sp>
      <p:sp>
        <p:nvSpPr>
          <p:cNvPr id="25" name="위 머리 글"/>
          <p:cNvSpPr>
            <a:spLocks noGrp="1"/>
          </p:cNvSpPr>
          <p:nvPr>
            <p:ph type="body" sz="quarter" idx="27"/>
          </p:nvPr>
        </p:nvSpPr>
        <p:spPr>
          <a:xfrm>
            <a:off x="964581" y="1558643"/>
            <a:ext cx="2557941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존중받을 권리</a:t>
            </a:r>
          </a:p>
        </p:txBody>
      </p:sp>
      <p:sp>
        <p:nvSpPr>
          <p:cNvPr id="26" name="위 머리"/>
          <p:cNvSpPr/>
          <p:nvPr/>
        </p:nvSpPr>
        <p:spPr>
          <a:xfrm>
            <a:off x="3796435" y="1558643"/>
            <a:ext cx="3040435" cy="262957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7" name="태그"/>
          <p:cNvSpPr/>
          <p:nvPr/>
        </p:nvSpPr>
        <p:spPr>
          <a:xfrm>
            <a:off x="3862174" y="1602470"/>
            <a:ext cx="438871" cy="175304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8" name="태그"/>
          <p:cNvSpPr>
            <a:spLocks noGrp="1"/>
          </p:cNvSpPr>
          <p:nvPr>
            <p:ph type="body" sz="quarter" idx="28"/>
          </p:nvPr>
        </p:nvSpPr>
        <p:spPr>
          <a:xfrm>
            <a:off x="3862174" y="1602470"/>
            <a:ext cx="43887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자회사</a:t>
            </a:r>
          </a:p>
        </p:txBody>
      </p:sp>
      <p:sp>
        <p:nvSpPr>
          <p:cNvPr id="29" name="위 머리 글"/>
          <p:cNvSpPr>
            <a:spLocks noGrp="1"/>
          </p:cNvSpPr>
          <p:nvPr>
            <p:ph type="body" sz="quarter" idx="29"/>
          </p:nvPr>
        </p:nvSpPr>
        <p:spPr>
          <a:xfrm>
            <a:off x="4333915" y="1558643"/>
            <a:ext cx="2448172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인권친화경영 지원</a:t>
            </a:r>
          </a:p>
        </p:txBody>
      </p:sp>
      <p:sp>
        <p:nvSpPr>
          <p:cNvPr id="30" name="본문"/>
          <p:cNvSpPr>
            <a:spLocks noGrp="1"/>
          </p:cNvSpPr>
          <p:nvPr>
            <p:ph type="body" sz="quarter" idx="30"/>
          </p:nvPr>
        </p:nvSpPr>
        <p:spPr>
          <a:xfrm>
            <a:off x="536870" y="1854470"/>
            <a:ext cx="3040435" cy="821739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영세규모 고객 매뉴얼·양식 표준화로 편의성 향상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보상고객 전담 창구, 고객 케어 운영으로 만족도 향상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민원창구 내 보상전담반, 단계별 알림</a:t>
            </a:r>
          </a:p>
        </p:txBody>
      </p:sp>
      <p:sp>
        <p:nvSpPr>
          <p:cNvPr id="31" name="본문"/>
          <p:cNvSpPr>
            <a:spLocks noGrp="1"/>
          </p:cNvSpPr>
          <p:nvPr>
            <p:ph type="body" sz="quarter" idx="31"/>
          </p:nvPr>
        </p:nvSpPr>
        <p:spPr>
          <a:xfrm>
            <a:off x="3796435" y="1854470"/>
            <a:ext cx="3040435" cy="821739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자회사 안전·행복 일터 조성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인권보호노력 평가지표 신설로 인권경영 유인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조직문화 개선 노력, 청렴도 조사 결과 반영</a:t>
            </a:r>
          </a:p>
        </p:txBody>
      </p:sp>
      <p:sp>
        <p:nvSpPr>
          <p:cNvPr id="32" name="본문"/>
          <p:cNvSpPr>
            <a:spLocks noGrp="1"/>
          </p:cNvSpPr>
          <p:nvPr>
            <p:ph type="body" sz="quarter" idx="32"/>
          </p:nvPr>
        </p:nvSpPr>
        <p:spPr>
          <a:xfrm>
            <a:off x="536870" y="2840557"/>
            <a:ext cx="3040435" cy="821739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초대형 산불 대응지원 서비스로 골든타임 확보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화재대응 댐 용수방류 + 충수시설 정보제공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강릉 가뭄 선제적 수처리 확보</a:t>
            </a:r>
          </a:p>
        </p:txBody>
      </p:sp>
      <p:sp>
        <p:nvSpPr>
          <p:cNvPr id="33" name="본문"/>
          <p:cNvSpPr>
            <a:spLocks noGrp="1"/>
          </p:cNvSpPr>
          <p:nvPr>
            <p:ph type="body" sz="quarter" idx="33"/>
          </p:nvPr>
        </p:nvSpPr>
        <p:spPr>
          <a:xfrm>
            <a:off x="3796435" y="2840557"/>
            <a:ext cx="3040435" cy="821739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폭염 회피 이동형 휴게시설 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폭염 대비 물품 제공(1.5억원)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간편신고 등 작업중지제 활성화(132건)</a:t>
            </a:r>
          </a:p>
        </p:txBody>
      </p:sp>
      <p:sp>
        <p:nvSpPr>
          <p:cNvPr id="34" name="가운데 띠"/>
          <p:cNvSpPr/>
          <p:nvPr/>
        </p:nvSpPr>
        <p:spPr>
          <a:xfrm>
            <a:off x="536870" y="2741948"/>
            <a:ext cx="6300000" cy="43826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5" name="아이콘 칸"/>
          <p:cNvSpPr/>
          <p:nvPr/>
        </p:nvSpPr>
        <p:spPr>
          <a:xfrm>
            <a:off x="3500609" y="2632383"/>
            <a:ext cx="372522" cy="306783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3600" rIns="3600" tIns="0" bIns="0" wrap="square"/>
          <a:lstStyle/>
          <a:p/>
        </p:txBody>
      </p:sp>
      <p:sp>
        <p:nvSpPr>
          <p:cNvPr id="36" name="아이콘 칸"/>
          <p:cNvSpPr>
            <a:spLocks noGrp="1"/>
          </p:cNvSpPr>
          <p:nvPr>
            <p:ph type="body" sz="quarter" idx="34"/>
          </p:nvPr>
        </p:nvSpPr>
        <p:spPr>
          <a:xfrm>
            <a:off x="3500609" y="2632383"/>
            <a:ext cx="372522" cy="306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3600" rIns="3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아이콘</a:t>
            </a:r>
          </a:p>
        </p:txBody>
      </p:sp>
      <p:sp>
        <p:nvSpPr>
          <p:cNvPr id="37" name="아래 머리"/>
          <p:cNvSpPr/>
          <p:nvPr/>
        </p:nvSpPr>
        <p:spPr>
          <a:xfrm>
            <a:off x="536870" y="3695165"/>
            <a:ext cx="3040435" cy="262957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8" name="태그"/>
          <p:cNvSpPr/>
          <p:nvPr/>
        </p:nvSpPr>
        <p:spPr>
          <a:xfrm>
            <a:off x="602609" y="3738991"/>
            <a:ext cx="329103" cy="175304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9" name="태그"/>
          <p:cNvSpPr>
            <a:spLocks noGrp="1"/>
          </p:cNvSpPr>
          <p:nvPr>
            <p:ph type="body" sz="quarter" idx="35"/>
          </p:nvPr>
        </p:nvSpPr>
        <p:spPr>
          <a:xfrm>
            <a:off x="602609" y="3738991"/>
            <a:ext cx="329103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</a:t>
            </a:r>
          </a:p>
        </p:txBody>
      </p:sp>
      <p:sp>
        <p:nvSpPr>
          <p:cNvPr id="40" name="아래 머리 글"/>
          <p:cNvSpPr>
            <a:spLocks noGrp="1"/>
          </p:cNvSpPr>
          <p:nvPr>
            <p:ph type="body" sz="quarter" idx="36"/>
          </p:nvPr>
        </p:nvSpPr>
        <p:spPr>
          <a:xfrm>
            <a:off x="964581" y="3695165"/>
            <a:ext cx="2557941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극한 기후위기 안전망</a:t>
            </a:r>
          </a:p>
        </p:txBody>
      </p:sp>
      <p:sp>
        <p:nvSpPr>
          <p:cNvPr id="41" name="아래 머리"/>
          <p:cNvSpPr/>
          <p:nvPr/>
        </p:nvSpPr>
        <p:spPr>
          <a:xfrm>
            <a:off x="3796435" y="3695165"/>
            <a:ext cx="3040435" cy="262957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2" name="태그"/>
          <p:cNvSpPr/>
          <p:nvPr/>
        </p:nvSpPr>
        <p:spPr>
          <a:xfrm>
            <a:off x="3862174" y="3738991"/>
            <a:ext cx="438871" cy="175304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3" name="태그"/>
          <p:cNvSpPr>
            <a:spLocks noGrp="1"/>
          </p:cNvSpPr>
          <p:nvPr>
            <p:ph type="body" sz="quarter" idx="37"/>
          </p:nvPr>
        </p:nvSpPr>
        <p:spPr>
          <a:xfrm>
            <a:off x="3862174" y="3738991"/>
            <a:ext cx="43887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협력사</a:t>
            </a:r>
          </a:p>
        </p:txBody>
      </p:sp>
      <p:sp>
        <p:nvSpPr>
          <p:cNvPr id="44" name="아래 머리 글"/>
          <p:cNvSpPr>
            <a:spLocks noGrp="1"/>
          </p:cNvSpPr>
          <p:nvPr>
            <p:ph type="body" sz="quarter" idx="38"/>
          </p:nvPr>
        </p:nvSpPr>
        <p:spPr>
          <a:xfrm>
            <a:off x="4333915" y="3695165"/>
            <a:ext cx="2448172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근로자 중심 핀셋 지원</a:t>
            </a:r>
          </a:p>
        </p:txBody>
      </p:sp>
      <p:sp>
        <p:nvSpPr>
          <p:cNvPr id="45" name="핵심성과 박스"/>
          <p:cNvSpPr/>
          <p:nvPr/>
        </p:nvSpPr>
        <p:spPr>
          <a:xfrm>
            <a:off x="536870" y="4045774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6" name="핵심성과 라벨"/>
          <p:cNvSpPr/>
          <p:nvPr/>
        </p:nvSpPr>
        <p:spPr>
          <a:xfrm>
            <a:off x="569739" y="4078643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7" name="핵심성과 라벨"/>
          <p:cNvSpPr>
            <a:spLocks noGrp="1"/>
          </p:cNvSpPr>
          <p:nvPr>
            <p:ph type="body" sz="quarter" idx="39"/>
          </p:nvPr>
        </p:nvSpPr>
        <p:spPr>
          <a:xfrm>
            <a:off x="569739" y="4078643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8" name="핵심성과 문구"/>
          <p:cNvSpPr>
            <a:spLocks noGrp="1"/>
          </p:cNvSpPr>
          <p:nvPr>
            <p:ph type="body" sz="quarter" idx="40"/>
          </p:nvPr>
        </p:nvSpPr>
        <p:spPr>
          <a:xfrm>
            <a:off x="1314783" y="4067687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권익위 종합청렴도 외부체감도 ‘업무투명’ 상승(88.0 → 92.2점)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노동부 ‘용역근로자 보호지침 준수’ 지표 만점 및 자회사 운영실태 평가 A등급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44 서사 · 디지털 권리보장 → AI 도입 리스크관리 → 새로운 가치창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2966467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 디지털·AI 기반 미래형 인권보호 패러다임 선도</a:t>
            </a:r>
          </a:p>
        </p:txBody>
      </p:sp>
      <p:sp>
        <p:nvSpPr>
          <p:cNvPr id="11" name="태그칩"/>
          <p:cNvSpPr/>
          <p:nvPr/>
        </p:nvSpPr>
        <p:spPr>
          <a:xfrm>
            <a:off x="3788206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3788206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표 외곽"/>
          <p:cNvSpPr/>
          <p:nvPr/>
        </p:nvSpPr>
        <p:spPr>
          <a:xfrm>
            <a:off x="723130" y="1062783"/>
            <a:ext cx="6300000" cy="1120383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레일"/>
          <p:cNvSpPr/>
          <p:nvPr/>
        </p:nvSpPr>
        <p:spPr>
          <a:xfrm>
            <a:off x="734087" y="1079217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079217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3"/>
          </p:nvPr>
        </p:nvSpPr>
        <p:spPr>
          <a:xfrm>
            <a:off x="1358609" y="1101130"/>
            <a:ext cx="2802130" cy="241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인권 중심 AI 활용 촉구(UN 인권이사회, ’25.6)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4"/>
          </p:nvPr>
        </p:nvSpPr>
        <p:spPr>
          <a:xfrm>
            <a:off x="4182652" y="1101130"/>
            <a:ext cx="2802130" cy="241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인권침해 위험과 창출가치 균형 필요</a:t>
            </a:r>
          </a:p>
        </p:txBody>
      </p:sp>
      <p:cxnSp>
        <p:nvCxnSpPr>
          <p:cNvPr id="18" name="Connector 10"/>
          <p:cNvCxnSpPr/>
          <p:nvPr/>
        </p:nvCxnSpPr>
        <p:spPr>
          <a:xfrm>
            <a:off x="4171696" y="1134000"/>
            <a:ext cx="0" cy="17530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9" name="레일"/>
          <p:cNvSpPr/>
          <p:nvPr/>
        </p:nvSpPr>
        <p:spPr>
          <a:xfrm>
            <a:off x="734087" y="1503861"/>
            <a:ext cx="580696" cy="662870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5"/>
          </p:nvPr>
        </p:nvSpPr>
        <p:spPr>
          <a:xfrm>
            <a:off x="734087" y="1503861"/>
            <a:ext cx="580696" cy="66287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디지털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권리보장</a:t>
            </a:r>
          </a:p>
        </p:txBody>
      </p:sp>
      <p:sp>
        <p:nvSpPr>
          <p:cNvPr id="21" name="레일 삼각형"/>
          <p:cNvSpPr/>
          <p:nvPr/>
        </p:nvSpPr>
        <p:spPr>
          <a:xfrm>
            <a:off x="734086" y="1503860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2" name="머리칸"/>
          <p:cNvSpPr/>
          <p:nvPr/>
        </p:nvSpPr>
        <p:spPr>
          <a:xfrm>
            <a:off x="1347652" y="152577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3" name="머리칸"/>
          <p:cNvSpPr>
            <a:spLocks noGrp="1"/>
          </p:cNvSpPr>
          <p:nvPr>
            <p:ph type="body" sz="quarter" idx="26"/>
          </p:nvPr>
        </p:nvSpPr>
        <p:spPr>
          <a:xfrm>
            <a:off x="1347652" y="152577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수도정보는 쉽고 편리하게 접근</a:t>
            </a:r>
          </a:p>
        </p:txBody>
      </p:sp>
      <p:sp>
        <p:nvSpPr>
          <p:cNvPr id="24" name="머리칸"/>
          <p:cNvSpPr/>
          <p:nvPr/>
        </p:nvSpPr>
        <p:spPr>
          <a:xfrm>
            <a:off x="4171696" y="152577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5" name="머리칸"/>
          <p:cNvSpPr>
            <a:spLocks noGrp="1"/>
          </p:cNvSpPr>
          <p:nvPr>
            <p:ph type="body" sz="quarter" idx="27"/>
          </p:nvPr>
        </p:nvSpPr>
        <p:spPr>
          <a:xfrm>
            <a:off x="4171696" y="152577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인명사고 발생은 미리 탐지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8"/>
          </p:nvPr>
        </p:nvSpPr>
        <p:spPr>
          <a:xfrm>
            <a:off x="1358609" y="1766817"/>
            <a:ext cx="2802130" cy="39443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수도정보 대화형 플랫폼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디지털 취약계층 대상 AI 보이스 상담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29"/>
          </p:nvPr>
        </p:nvSpPr>
        <p:spPr>
          <a:xfrm>
            <a:off x="4182652" y="1766817"/>
            <a:ext cx="2802130" cy="39443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공공-민간 데이터 기반 사회안전망 서비스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독거노인 고독사 예방</a:t>
            </a:r>
          </a:p>
        </p:txBody>
      </p:sp>
      <p:cxnSp>
        <p:nvCxnSpPr>
          <p:cNvPr id="28" name="Connector 17"/>
          <p:cNvCxnSpPr/>
          <p:nvPr/>
        </p:nvCxnSpPr>
        <p:spPr>
          <a:xfrm>
            <a:off x="4171696" y="1799687"/>
            <a:ext cx="0" cy="32869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9" name="틀"/>
          <p:cNvSpPr/>
          <p:nvPr/>
        </p:nvSpPr>
        <p:spPr>
          <a:xfrm>
            <a:off x="723130" y="2237948"/>
            <a:ext cx="6300000" cy="115043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0" name="레일"/>
          <p:cNvSpPr/>
          <p:nvPr/>
        </p:nvSpPr>
        <p:spPr>
          <a:xfrm>
            <a:off x="734087" y="2248904"/>
            <a:ext cx="580696" cy="1128522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1" name="레일"/>
          <p:cNvSpPr>
            <a:spLocks noGrp="1"/>
          </p:cNvSpPr>
          <p:nvPr>
            <p:ph type="body" sz="quarter" idx="30"/>
          </p:nvPr>
        </p:nvSpPr>
        <p:spPr>
          <a:xfrm>
            <a:off x="734087" y="2248904"/>
            <a:ext cx="580696" cy="112852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AI 도입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리스크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관리</a:t>
            </a:r>
          </a:p>
        </p:txBody>
      </p:sp>
      <p:sp>
        <p:nvSpPr>
          <p:cNvPr id="32" name="칸 제목 띠"/>
          <p:cNvSpPr/>
          <p:nvPr/>
        </p:nvSpPr>
        <p:spPr>
          <a:xfrm>
            <a:off x="1380522" y="2270817"/>
            <a:ext cx="1833391" cy="186261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3" name="칸 제목"/>
          <p:cNvSpPr>
            <a:spLocks noGrp="1"/>
          </p:cNvSpPr>
          <p:nvPr>
            <p:ph type="body" sz="quarter" idx="31"/>
          </p:nvPr>
        </p:nvSpPr>
        <p:spPr>
          <a:xfrm>
            <a:off x="1380522" y="2270817"/>
            <a:ext cx="1833391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AI 윤리에 대해 고민하고</a:t>
            </a:r>
          </a:p>
        </p:txBody>
      </p:sp>
      <p:sp>
        <p:nvSpPr>
          <p:cNvPr id="34" name="삼각 화살표"/>
          <p:cNvSpPr/>
          <p:nvPr/>
        </p:nvSpPr>
        <p:spPr>
          <a:xfrm>
            <a:off x="2236956" y="2468034"/>
            <a:ext cx="120522" cy="54783"/>
          </a:xfrm>
          <a:custGeom>
            <a:avLst/>
            <a:gdLst/>
            <a:ahLst/>
            <a:cxnLst/>
            <a:rect l="l" t="t" r="r" b="b"/>
            <a:pathLst>
              <a:path w="120522" h="54783">
                <a:moveTo>
                  <a:pt x="0" y="0"/>
                </a:moveTo>
                <a:lnTo>
                  <a:pt x="120522" y="0"/>
                </a:lnTo>
                <a:lnTo>
                  <a:pt x="60261" y="54783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2"/>
          </p:nvPr>
        </p:nvSpPr>
        <p:spPr>
          <a:xfrm>
            <a:off x="1391478" y="2533774"/>
            <a:ext cx="1811478" cy="799826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인권영향평가 지표개선(’25.10)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‘디지털윤리·AI 책임성’ 지표 신설</a:t>
            </a:r>
          </a:p>
        </p:txBody>
      </p:sp>
      <p:sp>
        <p:nvSpPr>
          <p:cNvPr id="36" name="칸 제목 띠"/>
          <p:cNvSpPr/>
          <p:nvPr/>
        </p:nvSpPr>
        <p:spPr>
          <a:xfrm>
            <a:off x="3257739" y="2270817"/>
            <a:ext cx="1833391" cy="186261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7" name="칸 제목"/>
          <p:cNvSpPr>
            <a:spLocks noGrp="1"/>
          </p:cNvSpPr>
          <p:nvPr>
            <p:ph type="body" sz="quarter" idx="33"/>
          </p:nvPr>
        </p:nvSpPr>
        <p:spPr>
          <a:xfrm>
            <a:off x="3257739" y="2270817"/>
            <a:ext cx="1833391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올바른 원칙을 정착하고</a:t>
            </a:r>
          </a:p>
        </p:txBody>
      </p:sp>
      <p:sp>
        <p:nvSpPr>
          <p:cNvPr id="38" name="삼각 화살표"/>
          <p:cNvSpPr/>
          <p:nvPr/>
        </p:nvSpPr>
        <p:spPr>
          <a:xfrm>
            <a:off x="4114173" y="2468034"/>
            <a:ext cx="120522" cy="54783"/>
          </a:xfrm>
          <a:custGeom>
            <a:avLst/>
            <a:gdLst/>
            <a:ahLst/>
            <a:cxnLst/>
            <a:rect l="l" t="t" r="r" b="b"/>
            <a:pathLst>
              <a:path w="120522" h="54783">
                <a:moveTo>
                  <a:pt x="0" y="0"/>
                </a:moveTo>
                <a:lnTo>
                  <a:pt x="120522" y="0"/>
                </a:lnTo>
                <a:lnTo>
                  <a:pt x="60261" y="54783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4"/>
          </p:nvPr>
        </p:nvSpPr>
        <p:spPr>
          <a:xfrm>
            <a:off x="3268696" y="2533774"/>
            <a:ext cx="1811478" cy="799826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「생성형 AI 업무 활용 가이드북」 발간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「인공지능 관리규정」 도입 추진</a:t>
            </a:r>
          </a:p>
        </p:txBody>
      </p:sp>
      <p:cxnSp>
        <p:nvCxnSpPr>
          <p:cNvPr id="40" name="Connector 28"/>
          <p:cNvCxnSpPr/>
          <p:nvPr/>
        </p:nvCxnSpPr>
        <p:spPr>
          <a:xfrm>
            <a:off x="3235826" y="2522817"/>
            <a:ext cx="0" cy="82174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1" name="칸 제목 띠"/>
          <p:cNvSpPr/>
          <p:nvPr/>
        </p:nvSpPr>
        <p:spPr>
          <a:xfrm>
            <a:off x="5134957" y="2270817"/>
            <a:ext cx="1833391" cy="186261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2" name="칸 제목"/>
          <p:cNvSpPr>
            <a:spLocks noGrp="1"/>
          </p:cNvSpPr>
          <p:nvPr>
            <p:ph type="body" sz="quarter" idx="35"/>
          </p:nvPr>
        </p:nvSpPr>
        <p:spPr>
          <a:xfrm>
            <a:off x="5134957" y="2270817"/>
            <a:ext cx="1833391" cy="18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AI의 안전한 활용까지</a:t>
            </a:r>
          </a:p>
        </p:txBody>
      </p:sp>
      <p:sp>
        <p:nvSpPr>
          <p:cNvPr id="43" name="삼각 화살표"/>
          <p:cNvSpPr/>
          <p:nvPr/>
        </p:nvSpPr>
        <p:spPr>
          <a:xfrm>
            <a:off x="5991391" y="2468034"/>
            <a:ext cx="120522" cy="54783"/>
          </a:xfrm>
          <a:custGeom>
            <a:avLst/>
            <a:gdLst/>
            <a:ahLst/>
            <a:cxnLst/>
            <a:rect l="l" t="t" r="r" b="b"/>
            <a:pathLst>
              <a:path w="120522" h="54783">
                <a:moveTo>
                  <a:pt x="0" y="0"/>
                </a:moveTo>
                <a:lnTo>
                  <a:pt x="120522" y="0"/>
                </a:lnTo>
                <a:lnTo>
                  <a:pt x="60261" y="54783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4" name="칸 본문"/>
          <p:cNvSpPr>
            <a:spLocks noGrp="1"/>
          </p:cNvSpPr>
          <p:nvPr>
            <p:ph type="body" sz="quarter" idx="36"/>
          </p:nvPr>
        </p:nvSpPr>
        <p:spPr>
          <a:xfrm>
            <a:off x="5145913" y="2533774"/>
            <a:ext cx="1811478" cy="799826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민원처리시스템 추진(’25.11)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고객과 직원 모두 인권보호</a:t>
            </a:r>
          </a:p>
        </p:txBody>
      </p:sp>
      <p:cxnSp>
        <p:nvCxnSpPr>
          <p:cNvPr id="45" name="Connector 33"/>
          <p:cNvCxnSpPr/>
          <p:nvPr/>
        </p:nvCxnSpPr>
        <p:spPr>
          <a:xfrm>
            <a:off x="5113043" y="2522817"/>
            <a:ext cx="0" cy="82174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6" name="표 외곽"/>
          <p:cNvSpPr/>
          <p:nvPr/>
        </p:nvSpPr>
        <p:spPr>
          <a:xfrm>
            <a:off x="723130" y="3432209"/>
            <a:ext cx="6300000" cy="1120383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7" name="레일"/>
          <p:cNvSpPr/>
          <p:nvPr/>
        </p:nvSpPr>
        <p:spPr>
          <a:xfrm>
            <a:off x="734087" y="3448643"/>
            <a:ext cx="580696" cy="108751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8" name="레일"/>
          <p:cNvSpPr>
            <a:spLocks noGrp="1"/>
          </p:cNvSpPr>
          <p:nvPr>
            <p:ph type="body" sz="quarter" idx="37"/>
          </p:nvPr>
        </p:nvSpPr>
        <p:spPr>
          <a:xfrm>
            <a:off x="734087" y="3448643"/>
            <a:ext cx="580696" cy="10875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새로운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가치창출</a:t>
            </a:r>
          </a:p>
        </p:txBody>
      </p:sp>
      <p:sp>
        <p:nvSpPr>
          <p:cNvPr id="49" name="배너"/>
          <p:cNvSpPr/>
          <p:nvPr/>
        </p:nvSpPr>
        <p:spPr>
          <a:xfrm>
            <a:off x="1347652" y="3470557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50" name="배너"/>
          <p:cNvSpPr>
            <a:spLocks noGrp="1"/>
          </p:cNvSpPr>
          <p:nvPr>
            <p:ph type="body" sz="quarter" idx="38"/>
          </p:nvPr>
        </p:nvSpPr>
        <p:spPr>
          <a:xfrm>
            <a:off x="1347652" y="3470557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환경정보 디지털 허브에서 새롭게 누리는 우리 국토</a:t>
            </a:r>
          </a:p>
        </p:txBody>
      </p:sp>
      <p:sp>
        <p:nvSpPr>
          <p:cNvPr id="51" name="단계"/>
          <p:cNvSpPr/>
          <p:nvPr/>
        </p:nvSpPr>
        <p:spPr>
          <a:xfrm>
            <a:off x="1347652" y="3706122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2" name="단계"/>
          <p:cNvSpPr>
            <a:spLocks noGrp="1"/>
          </p:cNvSpPr>
          <p:nvPr>
            <p:ph type="body" sz="quarter" idx="39"/>
          </p:nvPr>
        </p:nvSpPr>
        <p:spPr>
          <a:xfrm>
            <a:off x="1347652" y="3706122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정보접근 누구나 알 수 있고</a:t>
            </a:r>
          </a:p>
        </p:txBody>
      </p:sp>
      <p:sp>
        <p:nvSpPr>
          <p:cNvPr id="53" name="단계"/>
          <p:cNvSpPr/>
          <p:nvPr/>
        </p:nvSpPr>
        <p:spPr>
          <a:xfrm>
            <a:off x="3230348" y="3706122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4" name="단계"/>
          <p:cNvSpPr>
            <a:spLocks noGrp="1"/>
          </p:cNvSpPr>
          <p:nvPr>
            <p:ph type="body" sz="quarter" idx="40"/>
          </p:nvPr>
        </p:nvSpPr>
        <p:spPr>
          <a:xfrm>
            <a:off x="3230348" y="3706122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안전보호 위험을 감지하고</a:t>
            </a:r>
          </a:p>
        </p:txBody>
      </p:sp>
      <p:sp>
        <p:nvSpPr>
          <p:cNvPr id="55" name="단계"/>
          <p:cNvSpPr/>
          <p:nvPr/>
        </p:nvSpPr>
        <p:spPr>
          <a:xfrm>
            <a:off x="5113043" y="3706122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6" name="단계"/>
          <p:cNvSpPr>
            <a:spLocks noGrp="1"/>
          </p:cNvSpPr>
          <p:nvPr>
            <p:ph type="body" sz="quarter" idx="41"/>
          </p:nvPr>
        </p:nvSpPr>
        <p:spPr>
          <a:xfrm>
            <a:off x="5113043" y="3706122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친수공간 심신 회복도 함께</a:t>
            </a:r>
          </a:p>
        </p:txBody>
      </p:sp>
      <p:sp>
        <p:nvSpPr>
          <p:cNvPr id="57" name="단계 삼각형"/>
          <p:cNvSpPr/>
          <p:nvPr/>
        </p:nvSpPr>
        <p:spPr>
          <a:xfrm>
            <a:off x="3230347" y="3706121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8" name="단계 삼각형"/>
          <p:cNvSpPr/>
          <p:nvPr/>
        </p:nvSpPr>
        <p:spPr>
          <a:xfrm>
            <a:off x="5113043" y="3706121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9" name="칸 본문"/>
          <p:cNvSpPr>
            <a:spLocks noGrp="1"/>
          </p:cNvSpPr>
          <p:nvPr>
            <p:ph type="body" sz="quarter" idx="42"/>
          </p:nvPr>
        </p:nvSpPr>
        <p:spPr>
          <a:xfrm>
            <a:off x="1358609" y="3958122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댐·강·하천 전문정보부터 생활 밀착 서비스까지</a:t>
            </a:r>
          </a:p>
        </p:txBody>
      </p:sp>
      <p:sp>
        <p:nvSpPr>
          <p:cNvPr id="60" name="칸 본문"/>
          <p:cNvSpPr>
            <a:spLocks noGrp="1"/>
          </p:cNvSpPr>
          <p:nvPr>
            <p:ph type="body" sz="quarter" idx="43"/>
          </p:nvPr>
        </p:nvSpPr>
        <p:spPr>
          <a:xfrm>
            <a:off x="3241304" y="3958122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초단기 기상데이터 활용 온도 예측 고도화</a:t>
            </a:r>
          </a:p>
        </p:txBody>
      </p:sp>
      <p:cxnSp>
        <p:nvCxnSpPr>
          <p:cNvPr id="61" name="Connector 44"/>
          <p:cNvCxnSpPr/>
          <p:nvPr/>
        </p:nvCxnSpPr>
        <p:spPr>
          <a:xfrm>
            <a:off x="3230348" y="3990991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2" name="칸 본문"/>
          <p:cNvSpPr>
            <a:spLocks noGrp="1"/>
          </p:cNvSpPr>
          <p:nvPr>
            <p:ph type="body" sz="quarter" idx="44"/>
          </p:nvPr>
        </p:nvSpPr>
        <p:spPr>
          <a:xfrm>
            <a:off x="5124000" y="3958122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물·철도·문화 데이터 융합 서비스</a:t>
            </a:r>
          </a:p>
        </p:txBody>
      </p:sp>
      <p:cxnSp>
        <p:nvCxnSpPr>
          <p:cNvPr id="63" name="Connector 46"/>
          <p:cNvCxnSpPr/>
          <p:nvPr/>
        </p:nvCxnSpPr>
        <p:spPr>
          <a:xfrm>
            <a:off x="5113043" y="3990991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4" name="배너"/>
          <p:cNvSpPr/>
          <p:nvPr/>
        </p:nvSpPr>
        <p:spPr>
          <a:xfrm>
            <a:off x="1347652" y="4311548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65" name="배너"/>
          <p:cNvSpPr>
            <a:spLocks noGrp="1"/>
          </p:cNvSpPr>
          <p:nvPr>
            <p:ph type="body" sz="quarter" idx="45"/>
          </p:nvPr>
        </p:nvSpPr>
        <p:spPr>
          <a:xfrm>
            <a:off x="1347652" y="4311548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데이터 개방 확대(1,137 → 1,164건), 대국민 활용 활성화</a:t>
            </a:r>
          </a:p>
        </p:txBody>
      </p:sp>
      <p:sp>
        <p:nvSpPr>
          <p:cNvPr id="66" name="핵심성과 박스"/>
          <p:cNvSpPr/>
          <p:nvPr/>
        </p:nvSpPr>
        <p:spPr>
          <a:xfrm>
            <a:off x="723130" y="4640243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7" name="핵심성과 라벨"/>
          <p:cNvSpPr/>
          <p:nvPr/>
        </p:nvSpPr>
        <p:spPr>
          <a:xfrm>
            <a:off x="756000" y="4673113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68" name="핵심성과 라벨"/>
          <p:cNvSpPr>
            <a:spLocks noGrp="1"/>
          </p:cNvSpPr>
          <p:nvPr>
            <p:ph type="body" sz="quarter" idx="46"/>
          </p:nvPr>
        </p:nvSpPr>
        <p:spPr>
          <a:xfrm>
            <a:off x="756000" y="4673113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69" name="핵심성과 문구"/>
          <p:cNvSpPr>
            <a:spLocks noGrp="1"/>
          </p:cNvSpPr>
          <p:nvPr>
            <p:ph type="body" sz="quarter" idx="47"/>
          </p:nvPr>
        </p:nvSpPr>
        <p:spPr>
          <a:xfrm>
            <a:off x="1501043" y="4662157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인권영향평가 ‘디지털 윤리 및 AI 책임성’ 지표 신설·만점 획득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인권경영지수 매우우수(AA) 등급 달성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45 서사 · 정책기조 → 일자리 환경 → 시사점 → 전략 → 실행체계(PDCA) → 대표성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기회를 확장하고 성장을 견인하며 모두를 포용하는 일자리 전략</a:t>
            </a:r>
          </a:p>
        </p:txBody>
      </p:sp>
      <p:sp>
        <p:nvSpPr>
          <p:cNvPr id="15" name="배너"/>
          <p:cNvSpPr/>
          <p:nvPr/>
        </p:nvSpPr>
        <p:spPr>
          <a:xfrm>
            <a:off x="536870" y="1128522"/>
            <a:ext cx="6300000" cy="328696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cxnSp>
        <p:nvCxnSpPr>
          <p:cNvPr id="16" name="Connector 12"/>
          <p:cNvCxnSpPr/>
          <p:nvPr/>
        </p:nvCxnSpPr>
        <p:spPr>
          <a:xfrm>
            <a:off x="536870" y="1128522"/>
            <a:ext cx="6300000" cy="0"/>
          </a:xfrm>
          <a:prstGeom prst="line">
            <a:avLst/>
          </a:prstGeom>
          <a:ln w="12700">
            <a:solidFill>
              <a:srgbClr val="BDE0FF"/>
            </a:solidFill>
          </a:ln>
        </p:spPr>
      </p:cxnSp>
      <p:sp>
        <p:nvSpPr>
          <p:cNvPr id="17" name="배너 글"/>
          <p:cNvSpPr>
            <a:spLocks noGrp="1"/>
          </p:cNvSpPr>
          <p:nvPr>
            <p:ph type="body" sz="quarter" idx="22"/>
          </p:nvPr>
        </p:nvSpPr>
        <p:spPr>
          <a:xfrm>
            <a:off x="536870" y="1183304"/>
            <a:ext cx="6300000" cy="19721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새 정부 정책기조에 부합하고, 고용 여건에 선제적으로 대응하기 위한 일자리 전략 재정립</a:t>
            </a:r>
          </a:p>
        </p:txBody>
      </p:sp>
      <p:sp>
        <p:nvSpPr>
          <p:cNvPr id="18" name="표 외곽"/>
          <p:cNvSpPr/>
          <p:nvPr/>
        </p:nvSpPr>
        <p:spPr>
          <a:xfrm>
            <a:off x="536870" y="1501043"/>
            <a:ext cx="6300000" cy="207907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레일"/>
          <p:cNvSpPr/>
          <p:nvPr/>
        </p:nvSpPr>
        <p:spPr>
          <a:xfrm>
            <a:off x="547826" y="1517478"/>
            <a:ext cx="580696" cy="8546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3"/>
          </p:nvPr>
        </p:nvSpPr>
        <p:spPr>
          <a:xfrm>
            <a:off x="547826" y="1517478"/>
            <a:ext cx="580696" cy="854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국 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 조</a:t>
            </a:r>
          </a:p>
        </p:txBody>
      </p:sp>
      <p:sp>
        <p:nvSpPr>
          <p:cNvPr id="21" name="태그"/>
          <p:cNvSpPr/>
          <p:nvPr/>
        </p:nvSpPr>
        <p:spPr>
          <a:xfrm>
            <a:off x="1161391" y="1561304"/>
            <a:ext cx="774006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태그"/>
          <p:cNvSpPr>
            <a:spLocks noGrp="1"/>
          </p:cNvSpPr>
          <p:nvPr>
            <p:ph type="body" sz="quarter" idx="24"/>
          </p:nvPr>
        </p:nvSpPr>
        <p:spPr>
          <a:xfrm>
            <a:off x="1161391" y="1561304"/>
            <a:ext cx="77400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국정과제 96</a:t>
            </a:r>
          </a:p>
        </p:txBody>
      </p:sp>
      <p:sp>
        <p:nvSpPr>
          <p:cNvPr id="23" name="태그 설명"/>
          <p:cNvSpPr>
            <a:spLocks noGrp="1"/>
          </p:cNvSpPr>
          <p:nvPr>
            <p:ph type="body" sz="quarter" idx="25"/>
          </p:nvPr>
        </p:nvSpPr>
        <p:spPr>
          <a:xfrm>
            <a:off x="1979223" y="1550348"/>
            <a:ext cx="4830255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통합과 성장의 혁신적 일자리정책을 통해 청년·민간·취약계층 전반의 고용 확대 추진</a:t>
            </a:r>
          </a:p>
        </p:txBody>
      </p:sp>
      <p:sp>
        <p:nvSpPr>
          <p:cNvPr id="24" name="머리칸"/>
          <p:cNvSpPr/>
          <p:nvPr/>
        </p:nvSpPr>
        <p:spPr>
          <a:xfrm>
            <a:off x="1161391" y="1774957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5" name="머리칸"/>
          <p:cNvSpPr>
            <a:spLocks noGrp="1"/>
          </p:cNvSpPr>
          <p:nvPr>
            <p:ph type="body" sz="quarter" idx="26"/>
          </p:nvPr>
        </p:nvSpPr>
        <p:spPr>
          <a:xfrm>
            <a:off x="1161391" y="1774957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공정과 신뢰</a:t>
            </a:r>
          </a:p>
        </p:txBody>
      </p:sp>
      <p:sp>
        <p:nvSpPr>
          <p:cNvPr id="26" name="머리칸"/>
          <p:cNvSpPr/>
          <p:nvPr/>
        </p:nvSpPr>
        <p:spPr>
          <a:xfrm>
            <a:off x="3044087" y="1774957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7" name="머리칸"/>
          <p:cNvSpPr>
            <a:spLocks noGrp="1"/>
          </p:cNvSpPr>
          <p:nvPr>
            <p:ph type="body" sz="quarter" idx="27"/>
          </p:nvPr>
        </p:nvSpPr>
        <p:spPr>
          <a:xfrm>
            <a:off x="3044087" y="1774957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실용과 성과</a:t>
            </a:r>
          </a:p>
        </p:txBody>
      </p:sp>
      <p:sp>
        <p:nvSpPr>
          <p:cNvPr id="28" name="머리칸"/>
          <p:cNvSpPr/>
          <p:nvPr/>
        </p:nvSpPr>
        <p:spPr>
          <a:xfrm>
            <a:off x="4926783" y="1774957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9" name="머리칸"/>
          <p:cNvSpPr>
            <a:spLocks noGrp="1"/>
          </p:cNvSpPr>
          <p:nvPr>
            <p:ph type="body" sz="quarter" idx="28"/>
          </p:nvPr>
        </p:nvSpPr>
        <p:spPr>
          <a:xfrm>
            <a:off x="4926783" y="1774957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경청과 통합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29"/>
          </p:nvPr>
        </p:nvSpPr>
        <p:spPr>
          <a:xfrm>
            <a:off x="1172348" y="2016000"/>
            <a:ext cx="1860783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모두에게 공정한 일 경험 기회 제공 강조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3055043" y="2016000"/>
            <a:ext cx="1860783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현장에서 체감할 수 있는 일자리 창출 성과 필요</a:t>
            </a:r>
          </a:p>
        </p:txBody>
      </p:sp>
      <p:cxnSp>
        <p:nvCxnSpPr>
          <p:cNvPr id="32" name="Connector 23"/>
          <p:cNvCxnSpPr/>
          <p:nvPr/>
        </p:nvCxnSpPr>
        <p:spPr>
          <a:xfrm>
            <a:off x="3044087" y="2048870"/>
            <a:ext cx="0" cy="284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칸 본문"/>
          <p:cNvSpPr>
            <a:spLocks noGrp="1"/>
          </p:cNvSpPr>
          <p:nvPr>
            <p:ph type="body" sz="quarter" idx="31"/>
          </p:nvPr>
        </p:nvSpPr>
        <p:spPr>
          <a:xfrm>
            <a:off x="4937739" y="2016000"/>
            <a:ext cx="1860783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소외계층까지 모두를 아우르는 고용환경 조성</a:t>
            </a:r>
          </a:p>
        </p:txBody>
      </p:sp>
      <p:cxnSp>
        <p:nvCxnSpPr>
          <p:cNvPr id="34" name="Connector 25"/>
          <p:cNvCxnSpPr/>
          <p:nvPr/>
        </p:nvCxnSpPr>
        <p:spPr>
          <a:xfrm>
            <a:off x="4926783" y="2048870"/>
            <a:ext cx="0" cy="284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5" name="레일"/>
          <p:cNvSpPr/>
          <p:nvPr/>
        </p:nvSpPr>
        <p:spPr>
          <a:xfrm>
            <a:off x="547826" y="2388522"/>
            <a:ext cx="580696" cy="61904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6" name="레일"/>
          <p:cNvSpPr>
            <a:spLocks noGrp="1"/>
          </p:cNvSpPr>
          <p:nvPr>
            <p:ph type="body" sz="quarter" idx="32"/>
          </p:nvPr>
        </p:nvSpPr>
        <p:spPr>
          <a:xfrm>
            <a:off x="547826" y="2388522"/>
            <a:ext cx="580696" cy="61904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일자리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경</a:t>
            </a:r>
          </a:p>
        </p:txBody>
      </p:sp>
      <p:sp>
        <p:nvSpPr>
          <p:cNvPr id="37" name="레일 삼각형"/>
          <p:cNvSpPr/>
          <p:nvPr/>
        </p:nvSpPr>
        <p:spPr>
          <a:xfrm>
            <a:off x="547826" y="2388521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8" name="머리칸"/>
          <p:cNvSpPr/>
          <p:nvPr/>
        </p:nvSpPr>
        <p:spPr>
          <a:xfrm>
            <a:off x="1161391" y="241043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9" name="머리칸"/>
          <p:cNvSpPr>
            <a:spLocks noGrp="1"/>
          </p:cNvSpPr>
          <p:nvPr>
            <p:ph type="body" sz="quarter" idx="33"/>
          </p:nvPr>
        </p:nvSpPr>
        <p:spPr>
          <a:xfrm>
            <a:off x="1161391" y="241043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청년일자리</a:t>
            </a:r>
          </a:p>
        </p:txBody>
      </p:sp>
      <p:sp>
        <p:nvSpPr>
          <p:cNvPr id="40" name="머리칸"/>
          <p:cNvSpPr/>
          <p:nvPr/>
        </p:nvSpPr>
        <p:spPr>
          <a:xfrm>
            <a:off x="3044087" y="241043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1" name="머리칸"/>
          <p:cNvSpPr>
            <a:spLocks noGrp="1"/>
          </p:cNvSpPr>
          <p:nvPr>
            <p:ph type="body" sz="quarter" idx="34"/>
          </p:nvPr>
        </p:nvSpPr>
        <p:spPr>
          <a:xfrm>
            <a:off x="3044087" y="241043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민간일자리</a:t>
            </a:r>
          </a:p>
        </p:txBody>
      </p:sp>
      <p:sp>
        <p:nvSpPr>
          <p:cNvPr id="42" name="머리칸"/>
          <p:cNvSpPr/>
          <p:nvPr/>
        </p:nvSpPr>
        <p:spPr>
          <a:xfrm>
            <a:off x="4926783" y="241043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3" name="머리칸"/>
          <p:cNvSpPr>
            <a:spLocks noGrp="1"/>
          </p:cNvSpPr>
          <p:nvPr>
            <p:ph type="body" sz="quarter" idx="35"/>
          </p:nvPr>
        </p:nvSpPr>
        <p:spPr>
          <a:xfrm>
            <a:off x="4926783" y="241043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사회형평 일자리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36"/>
          </p:nvPr>
        </p:nvSpPr>
        <p:spPr>
          <a:xfrm>
            <a:off x="1172348" y="2651478"/>
            <a:ext cx="1860783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청년 취업시장 한파 속 ‘쉬었음’ 청년인구 급증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37"/>
          </p:nvPr>
        </p:nvSpPr>
        <p:spPr>
          <a:xfrm>
            <a:off x="3055043" y="2651478"/>
            <a:ext cx="1860783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투자 위축과 지역 일자리 감소로 고용환경 악화</a:t>
            </a:r>
          </a:p>
        </p:txBody>
      </p:sp>
      <p:cxnSp>
        <p:nvCxnSpPr>
          <p:cNvPr id="46" name="Connector 33"/>
          <p:cNvCxnSpPr/>
          <p:nvPr/>
        </p:nvCxnSpPr>
        <p:spPr>
          <a:xfrm>
            <a:off x="3044087" y="2684348"/>
            <a:ext cx="0" cy="284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7" name="칸 본문"/>
          <p:cNvSpPr>
            <a:spLocks noGrp="1"/>
          </p:cNvSpPr>
          <p:nvPr>
            <p:ph type="body" sz="quarter" idx="38"/>
          </p:nvPr>
        </p:nvSpPr>
        <p:spPr>
          <a:xfrm>
            <a:off x="4937739" y="2651478"/>
            <a:ext cx="1860783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노동시장 양극화 심화로 취약계층 고용접근성 저하</a:t>
            </a:r>
          </a:p>
        </p:txBody>
      </p:sp>
      <p:cxnSp>
        <p:nvCxnSpPr>
          <p:cNvPr id="48" name="Connector 35"/>
          <p:cNvCxnSpPr/>
          <p:nvPr/>
        </p:nvCxnSpPr>
        <p:spPr>
          <a:xfrm>
            <a:off x="4926783" y="2684348"/>
            <a:ext cx="0" cy="284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9" name="레일"/>
          <p:cNvSpPr/>
          <p:nvPr/>
        </p:nvSpPr>
        <p:spPr>
          <a:xfrm>
            <a:off x="547826" y="3024000"/>
            <a:ext cx="580696" cy="5396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0" name="레일"/>
          <p:cNvSpPr>
            <a:spLocks noGrp="1"/>
          </p:cNvSpPr>
          <p:nvPr>
            <p:ph type="body" sz="quarter" idx="39"/>
          </p:nvPr>
        </p:nvSpPr>
        <p:spPr>
          <a:xfrm>
            <a:off x="547826" y="3024000"/>
            <a:ext cx="580696" cy="5396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 금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우리는?</a:t>
            </a:r>
          </a:p>
        </p:txBody>
      </p:sp>
      <p:sp>
        <p:nvSpPr>
          <p:cNvPr id="51" name="레일 삼각형"/>
          <p:cNvSpPr/>
          <p:nvPr/>
        </p:nvSpPr>
        <p:spPr>
          <a:xfrm>
            <a:off x="547826" y="3024000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2" name="칸 본문"/>
          <p:cNvSpPr>
            <a:spLocks noGrp="1"/>
          </p:cNvSpPr>
          <p:nvPr>
            <p:ph type="body" sz="quarter" idx="40"/>
          </p:nvPr>
        </p:nvSpPr>
        <p:spPr>
          <a:xfrm>
            <a:off x="1172348" y="3045913"/>
            <a:ext cx="1860783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청년채용·인턴 지속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재직단계 편중 인턴 관리</a:t>
            </a:r>
          </a:p>
        </p:txBody>
      </p:sp>
      <p:sp>
        <p:nvSpPr>
          <p:cNvPr id="53" name="칸 본문"/>
          <p:cNvSpPr>
            <a:spLocks noGrp="1"/>
          </p:cNvSpPr>
          <p:nvPr>
            <p:ph type="body" sz="quarter" idx="41"/>
          </p:nvPr>
        </p:nvSpPr>
        <p:spPr>
          <a:xfrm>
            <a:off x="3055043" y="3045913"/>
            <a:ext cx="1860783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물산업 분야 일자리 창출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전반으로 확산은 부족</a:t>
            </a:r>
          </a:p>
        </p:txBody>
      </p:sp>
      <p:cxnSp>
        <p:nvCxnSpPr>
          <p:cNvPr id="54" name="Connector 40"/>
          <p:cNvCxnSpPr/>
          <p:nvPr/>
        </p:nvCxnSpPr>
        <p:spPr>
          <a:xfrm>
            <a:off x="3044087" y="3078783"/>
            <a:ext cx="0" cy="284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5" name="칸 본문"/>
          <p:cNvSpPr>
            <a:spLocks noGrp="1"/>
          </p:cNvSpPr>
          <p:nvPr>
            <p:ph type="body" sz="quarter" idx="42"/>
          </p:nvPr>
        </p:nvSpPr>
        <p:spPr>
          <a:xfrm>
            <a:off x="4937739" y="3045913"/>
            <a:ext cx="1860783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취약계층 대상 제도 확충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실효성 있는 성과연계 미흡</a:t>
            </a:r>
          </a:p>
        </p:txBody>
      </p:sp>
      <p:cxnSp>
        <p:nvCxnSpPr>
          <p:cNvPr id="56" name="Connector 42"/>
          <p:cNvCxnSpPr/>
          <p:nvPr/>
        </p:nvCxnSpPr>
        <p:spPr>
          <a:xfrm>
            <a:off x="4926783" y="3078783"/>
            <a:ext cx="0" cy="284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7" name="캡션 띠"/>
          <p:cNvSpPr/>
          <p:nvPr/>
        </p:nvSpPr>
        <p:spPr>
          <a:xfrm>
            <a:off x="536869" y="3602034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8" name="태그"/>
          <p:cNvSpPr/>
          <p:nvPr/>
        </p:nvSpPr>
        <p:spPr>
          <a:xfrm>
            <a:off x="865565" y="3645861"/>
            <a:ext cx="438871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59" name="태그"/>
          <p:cNvSpPr>
            <a:spLocks noGrp="1"/>
          </p:cNvSpPr>
          <p:nvPr>
            <p:ph type="body" sz="quarter" idx="43"/>
          </p:nvPr>
        </p:nvSpPr>
        <p:spPr>
          <a:xfrm>
            <a:off x="865565" y="3645861"/>
            <a:ext cx="438871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60" name="캡션"/>
          <p:cNvSpPr>
            <a:spLocks noGrp="1"/>
          </p:cNvSpPr>
          <p:nvPr>
            <p:ph type="body" sz="quarter" idx="44"/>
          </p:nvPr>
        </p:nvSpPr>
        <p:spPr>
          <a:xfrm>
            <a:off x="1359219" y="3602035"/>
            <a:ext cx="5258520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청년에게는 기회를, 민간에게는 활력을, 취약계층에는 희망을 주는 일자리 창출</a:t>
            </a:r>
          </a:p>
        </p:txBody>
      </p:sp>
      <p:sp>
        <p:nvSpPr>
          <p:cNvPr id="61" name="표 외곽"/>
          <p:cNvSpPr/>
          <p:nvPr/>
        </p:nvSpPr>
        <p:spPr>
          <a:xfrm>
            <a:off x="536870" y="3908817"/>
            <a:ext cx="6300000" cy="1977652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2" name="레일"/>
          <p:cNvSpPr/>
          <p:nvPr/>
        </p:nvSpPr>
        <p:spPr>
          <a:xfrm>
            <a:off x="547826" y="3925252"/>
            <a:ext cx="580696" cy="52043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3" name="레일"/>
          <p:cNvSpPr>
            <a:spLocks noGrp="1"/>
          </p:cNvSpPr>
          <p:nvPr>
            <p:ph type="body" sz="quarter" idx="45"/>
          </p:nvPr>
        </p:nvSpPr>
        <p:spPr>
          <a:xfrm>
            <a:off x="547826" y="3925252"/>
            <a:ext cx="580696" cy="520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전략방향</a:t>
            </a:r>
          </a:p>
        </p:txBody>
      </p:sp>
      <p:sp>
        <p:nvSpPr>
          <p:cNvPr id="64" name="단계"/>
          <p:cNvSpPr/>
          <p:nvPr/>
        </p:nvSpPr>
        <p:spPr>
          <a:xfrm>
            <a:off x="1161391" y="3947165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5" name="단계"/>
          <p:cNvSpPr>
            <a:spLocks noGrp="1"/>
          </p:cNvSpPr>
          <p:nvPr>
            <p:ph type="body" sz="quarter" idx="46"/>
          </p:nvPr>
        </p:nvSpPr>
        <p:spPr>
          <a:xfrm>
            <a:off x="1161391" y="3947165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청년일자리 확대</a:t>
            </a:r>
          </a:p>
        </p:txBody>
      </p:sp>
      <p:sp>
        <p:nvSpPr>
          <p:cNvPr id="66" name="단계"/>
          <p:cNvSpPr/>
          <p:nvPr/>
        </p:nvSpPr>
        <p:spPr>
          <a:xfrm>
            <a:off x="3044087" y="3947165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7" name="단계"/>
          <p:cNvSpPr>
            <a:spLocks noGrp="1"/>
          </p:cNvSpPr>
          <p:nvPr>
            <p:ph type="body" sz="quarter" idx="47"/>
          </p:nvPr>
        </p:nvSpPr>
        <p:spPr>
          <a:xfrm>
            <a:off x="3044087" y="3947165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민간일자리 창출</a:t>
            </a:r>
          </a:p>
        </p:txBody>
      </p:sp>
      <p:sp>
        <p:nvSpPr>
          <p:cNvPr id="68" name="단계"/>
          <p:cNvSpPr/>
          <p:nvPr/>
        </p:nvSpPr>
        <p:spPr>
          <a:xfrm>
            <a:off x="4926783" y="3947165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9" name="단계"/>
          <p:cNvSpPr>
            <a:spLocks noGrp="1"/>
          </p:cNvSpPr>
          <p:nvPr>
            <p:ph type="body" sz="quarter" idx="48"/>
          </p:nvPr>
        </p:nvSpPr>
        <p:spPr>
          <a:xfrm>
            <a:off x="4926783" y="3947165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사회형평 일자리 혁신</a:t>
            </a:r>
          </a:p>
        </p:txBody>
      </p:sp>
      <p:sp>
        <p:nvSpPr>
          <p:cNvPr id="70" name="단계 삼각형"/>
          <p:cNvSpPr/>
          <p:nvPr/>
        </p:nvSpPr>
        <p:spPr>
          <a:xfrm>
            <a:off x="3044086" y="3947165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1" name="단계 삼각형"/>
          <p:cNvSpPr/>
          <p:nvPr/>
        </p:nvSpPr>
        <p:spPr>
          <a:xfrm>
            <a:off x="4926782" y="3947165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2" name="칸 본문"/>
          <p:cNvSpPr>
            <a:spLocks noGrp="1"/>
          </p:cNvSpPr>
          <p:nvPr>
            <p:ph type="body" sz="quarter" idx="49"/>
          </p:nvPr>
        </p:nvSpPr>
        <p:spPr>
          <a:xfrm>
            <a:off x="1172348" y="4199165"/>
            <a:ext cx="1860783" cy="241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공정한 진입과 성장 지원</a:t>
            </a:r>
          </a:p>
        </p:txBody>
      </p:sp>
      <p:sp>
        <p:nvSpPr>
          <p:cNvPr id="73" name="칸 본문"/>
          <p:cNvSpPr>
            <a:spLocks noGrp="1"/>
          </p:cNvSpPr>
          <p:nvPr>
            <p:ph type="body" sz="quarter" idx="50"/>
          </p:nvPr>
        </p:nvSpPr>
        <p:spPr>
          <a:xfrm>
            <a:off x="3055043" y="4199165"/>
            <a:ext cx="1860783" cy="241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적극적 투자와 확산 견인</a:t>
            </a:r>
          </a:p>
        </p:txBody>
      </p:sp>
      <p:cxnSp>
        <p:nvCxnSpPr>
          <p:cNvPr id="74" name="Connector 55"/>
          <p:cNvCxnSpPr/>
          <p:nvPr/>
        </p:nvCxnSpPr>
        <p:spPr>
          <a:xfrm>
            <a:off x="3044087" y="4232035"/>
            <a:ext cx="0" cy="17530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5" name="칸 본문"/>
          <p:cNvSpPr>
            <a:spLocks noGrp="1"/>
          </p:cNvSpPr>
          <p:nvPr>
            <p:ph type="body" sz="quarter" idx="51"/>
          </p:nvPr>
        </p:nvSpPr>
        <p:spPr>
          <a:xfrm>
            <a:off x="4937739" y="4199165"/>
            <a:ext cx="1860783" cy="241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빠짐없이 모두를 포용</a:t>
            </a:r>
          </a:p>
        </p:txBody>
      </p:sp>
      <p:cxnSp>
        <p:nvCxnSpPr>
          <p:cNvPr id="76" name="Connector 57"/>
          <p:cNvCxnSpPr/>
          <p:nvPr/>
        </p:nvCxnSpPr>
        <p:spPr>
          <a:xfrm>
            <a:off x="4926783" y="4232035"/>
            <a:ext cx="0" cy="17530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7" name="레일"/>
          <p:cNvSpPr/>
          <p:nvPr/>
        </p:nvSpPr>
        <p:spPr>
          <a:xfrm>
            <a:off x="547826" y="4462122"/>
            <a:ext cx="580696" cy="553304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8" name="레일"/>
          <p:cNvSpPr>
            <a:spLocks noGrp="1"/>
          </p:cNvSpPr>
          <p:nvPr>
            <p:ph type="body" sz="quarter" idx="52"/>
          </p:nvPr>
        </p:nvSpPr>
        <p:spPr>
          <a:xfrm>
            <a:off x="547826" y="4462122"/>
            <a:ext cx="580696" cy="553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전략과제</a:t>
            </a:r>
          </a:p>
        </p:txBody>
      </p:sp>
      <p:sp>
        <p:nvSpPr>
          <p:cNvPr id="79" name="레일 삼각형"/>
          <p:cNvSpPr/>
          <p:nvPr/>
        </p:nvSpPr>
        <p:spPr>
          <a:xfrm>
            <a:off x="547826" y="4462121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80" name="칸 본문"/>
          <p:cNvSpPr>
            <a:spLocks noGrp="1"/>
          </p:cNvSpPr>
          <p:nvPr>
            <p:ph type="body" sz="quarter" idx="53"/>
          </p:nvPr>
        </p:nvSpPr>
        <p:spPr>
          <a:xfrm>
            <a:off x="1172348" y="4484035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청년 고용안전망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성장형 청년인턴십 구현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맞춤형 채용서비스 제공</a:t>
            </a:r>
          </a:p>
        </p:txBody>
      </p:sp>
      <p:sp>
        <p:nvSpPr>
          <p:cNvPr id="81" name="칸 본문"/>
          <p:cNvSpPr>
            <a:spLocks noGrp="1"/>
          </p:cNvSpPr>
          <p:nvPr>
            <p:ph type="body" sz="quarter" idx="54"/>
          </p:nvPr>
        </p:nvSpPr>
        <p:spPr>
          <a:xfrm>
            <a:off x="3055043" y="4484035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물산업 전주기 밀착 육성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선순환 투자생태계 조성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기반 상생일자리 창출</a:t>
            </a:r>
          </a:p>
        </p:txBody>
      </p:sp>
      <p:cxnSp>
        <p:nvCxnSpPr>
          <p:cNvPr id="82" name="Connector 62"/>
          <p:cNvCxnSpPr/>
          <p:nvPr/>
        </p:nvCxnSpPr>
        <p:spPr>
          <a:xfrm>
            <a:off x="3044087" y="4516904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3" name="칸 본문"/>
          <p:cNvSpPr>
            <a:spLocks noGrp="1"/>
          </p:cNvSpPr>
          <p:nvPr>
            <p:ph type="body" sz="quarter" idx="55"/>
          </p:nvPr>
        </p:nvSpPr>
        <p:spPr>
          <a:xfrm>
            <a:off x="4937739" y="4484035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장애인 고용구조의 전환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빈틈없는 포용 채용 구현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역량 중심 여성 인사관리</a:t>
            </a:r>
          </a:p>
        </p:txBody>
      </p:sp>
      <p:cxnSp>
        <p:nvCxnSpPr>
          <p:cNvPr id="84" name="Connector 64"/>
          <p:cNvCxnSpPr/>
          <p:nvPr/>
        </p:nvCxnSpPr>
        <p:spPr>
          <a:xfrm>
            <a:off x="4926783" y="4516904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5" name="레일"/>
          <p:cNvSpPr/>
          <p:nvPr/>
        </p:nvSpPr>
        <p:spPr>
          <a:xfrm>
            <a:off x="547826" y="5031861"/>
            <a:ext cx="580696" cy="838174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86" name="레일"/>
          <p:cNvSpPr>
            <a:spLocks noGrp="1"/>
          </p:cNvSpPr>
          <p:nvPr>
            <p:ph type="body" sz="quarter" idx="56"/>
          </p:nvPr>
        </p:nvSpPr>
        <p:spPr>
          <a:xfrm>
            <a:off x="547826" y="5031861"/>
            <a:ext cx="580696" cy="83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 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 계</a:t>
            </a:r>
          </a:p>
        </p:txBody>
      </p:sp>
      <p:sp>
        <p:nvSpPr>
          <p:cNvPr id="87" name="레일 삼각형"/>
          <p:cNvSpPr/>
          <p:nvPr/>
        </p:nvSpPr>
        <p:spPr>
          <a:xfrm>
            <a:off x="547826" y="5031860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88" name="태그"/>
          <p:cNvSpPr/>
          <p:nvPr/>
        </p:nvSpPr>
        <p:spPr>
          <a:xfrm>
            <a:off x="1161391" y="5075687"/>
            <a:ext cx="576673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89" name="태그"/>
          <p:cNvSpPr>
            <a:spLocks noGrp="1"/>
          </p:cNvSpPr>
          <p:nvPr>
            <p:ph type="body" sz="quarter" idx="57"/>
          </p:nvPr>
        </p:nvSpPr>
        <p:spPr>
          <a:xfrm>
            <a:off x="1161391" y="5075687"/>
            <a:ext cx="576673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PLAN</a:t>
            </a:r>
          </a:p>
        </p:txBody>
      </p:sp>
      <p:sp>
        <p:nvSpPr>
          <p:cNvPr id="90" name="태그 설명"/>
          <p:cNvSpPr>
            <a:spLocks noGrp="1"/>
          </p:cNvSpPr>
          <p:nvPr>
            <p:ph type="body" sz="quarter" idx="58"/>
          </p:nvPr>
        </p:nvSpPr>
        <p:spPr>
          <a:xfrm>
            <a:off x="1781891" y="5064730"/>
            <a:ext cx="5027588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경영전략-ESG 전략과 연계한 ‘일자리 창출 계획’ 수립</a:t>
            </a:r>
          </a:p>
        </p:txBody>
      </p:sp>
      <p:sp>
        <p:nvSpPr>
          <p:cNvPr id="91" name="태그"/>
          <p:cNvSpPr/>
          <p:nvPr/>
        </p:nvSpPr>
        <p:spPr>
          <a:xfrm>
            <a:off x="1161391" y="5272904"/>
            <a:ext cx="576673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92" name="태그"/>
          <p:cNvSpPr>
            <a:spLocks noGrp="1"/>
          </p:cNvSpPr>
          <p:nvPr>
            <p:ph type="body" sz="quarter" idx="59"/>
          </p:nvPr>
        </p:nvSpPr>
        <p:spPr>
          <a:xfrm>
            <a:off x="1161391" y="5272904"/>
            <a:ext cx="576673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DO</a:t>
            </a:r>
          </a:p>
        </p:txBody>
      </p:sp>
      <p:sp>
        <p:nvSpPr>
          <p:cNvPr id="93" name="태그 설명"/>
          <p:cNvSpPr>
            <a:spLocks noGrp="1"/>
          </p:cNvSpPr>
          <p:nvPr>
            <p:ph type="body" sz="quarter" idx="60"/>
          </p:nvPr>
        </p:nvSpPr>
        <p:spPr>
          <a:xfrm>
            <a:off x="1781891" y="5261948"/>
            <a:ext cx="5027588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추진단 중심 외부 의견수렴 및 장애 고용TF 보강</a:t>
            </a:r>
          </a:p>
        </p:txBody>
      </p:sp>
      <p:sp>
        <p:nvSpPr>
          <p:cNvPr id="94" name="태그"/>
          <p:cNvSpPr/>
          <p:nvPr/>
        </p:nvSpPr>
        <p:spPr>
          <a:xfrm>
            <a:off x="1161391" y="5470122"/>
            <a:ext cx="576673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95" name="태그"/>
          <p:cNvSpPr>
            <a:spLocks noGrp="1"/>
          </p:cNvSpPr>
          <p:nvPr>
            <p:ph type="body" sz="quarter" idx="61"/>
          </p:nvPr>
        </p:nvSpPr>
        <p:spPr>
          <a:xfrm>
            <a:off x="1161391" y="5470122"/>
            <a:ext cx="576673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CHECK</a:t>
            </a:r>
          </a:p>
        </p:txBody>
      </p:sp>
      <p:sp>
        <p:nvSpPr>
          <p:cNvPr id="96" name="태그 설명"/>
          <p:cNvSpPr>
            <a:spLocks noGrp="1"/>
          </p:cNvSpPr>
          <p:nvPr>
            <p:ph type="body" sz="quarter" idx="62"/>
          </p:nvPr>
        </p:nvSpPr>
        <p:spPr>
          <a:xfrm>
            <a:off x="1781891" y="5459165"/>
            <a:ext cx="5027588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성과지표(KPI)를 통한 고용성과 종합점검</a:t>
            </a:r>
          </a:p>
        </p:txBody>
      </p:sp>
      <p:sp>
        <p:nvSpPr>
          <p:cNvPr id="97" name="태그"/>
          <p:cNvSpPr/>
          <p:nvPr/>
        </p:nvSpPr>
        <p:spPr>
          <a:xfrm>
            <a:off x="1161391" y="5667339"/>
            <a:ext cx="576673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98" name="태그"/>
          <p:cNvSpPr>
            <a:spLocks noGrp="1"/>
          </p:cNvSpPr>
          <p:nvPr>
            <p:ph type="body" sz="quarter" idx="63"/>
          </p:nvPr>
        </p:nvSpPr>
        <p:spPr>
          <a:xfrm>
            <a:off x="1161391" y="5667339"/>
            <a:ext cx="576673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ACT</a:t>
            </a:r>
          </a:p>
        </p:txBody>
      </p:sp>
      <p:sp>
        <p:nvSpPr>
          <p:cNvPr id="99" name="태그 설명"/>
          <p:cNvSpPr>
            <a:spLocks noGrp="1"/>
          </p:cNvSpPr>
          <p:nvPr>
            <p:ph type="body" sz="quarter" idx="64"/>
          </p:nvPr>
        </p:nvSpPr>
        <p:spPr>
          <a:xfrm>
            <a:off x="1781891" y="5656383"/>
            <a:ext cx="5027588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내부평가 반영을 통해 추진성과 환류</a:t>
            </a:r>
          </a:p>
        </p:txBody>
      </p:sp>
      <p:sp>
        <p:nvSpPr>
          <p:cNvPr id="100" name="핵심성과 박스"/>
          <p:cNvSpPr/>
          <p:nvPr/>
        </p:nvSpPr>
        <p:spPr>
          <a:xfrm>
            <a:off x="536870" y="5974122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1" name="핵심성과 라벨"/>
          <p:cNvSpPr/>
          <p:nvPr/>
        </p:nvSpPr>
        <p:spPr>
          <a:xfrm>
            <a:off x="569739" y="6006991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102" name="핵심성과 라벨"/>
          <p:cNvSpPr>
            <a:spLocks noGrp="1"/>
          </p:cNvSpPr>
          <p:nvPr>
            <p:ph type="body" sz="quarter" idx="65"/>
          </p:nvPr>
        </p:nvSpPr>
        <p:spPr>
          <a:xfrm>
            <a:off x="569739" y="6006991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대표성과</a:t>
            </a:r>
          </a:p>
        </p:txBody>
      </p:sp>
      <p:sp>
        <p:nvSpPr>
          <p:cNvPr id="103" name="핵심성과 문구"/>
          <p:cNvSpPr>
            <a:spLocks noGrp="1"/>
          </p:cNvSpPr>
          <p:nvPr>
            <p:ph type="body" sz="quarter" idx="66"/>
          </p:nvPr>
        </p:nvSpPr>
        <p:spPr>
          <a:xfrm>
            <a:off x="1314783" y="5996035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신규 채용 423명, 인턴 출신 정규직 채용률 15.7%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민간일자리 2,549개 창출, 장애 고용률 3.8% 달성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46 서사 · 문제인식 → 시사점 → 채용여력 확보 → 안정적 채용운영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더 빠르게, 더 자주, 더 공정하게 삼박자 채용 혁신</a:t>
            </a:r>
          </a:p>
        </p:txBody>
      </p:sp>
      <p:sp>
        <p:nvSpPr>
          <p:cNvPr id="14" name="형광 밑줄"/>
          <p:cNvSpPr/>
          <p:nvPr/>
        </p:nvSpPr>
        <p:spPr>
          <a:xfrm>
            <a:off x="723130" y="1358609"/>
            <a:ext cx="3708204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소제목"/>
          <p:cNvSpPr>
            <a:spLocks noGrp="1"/>
          </p:cNvSpPr>
          <p:nvPr>
            <p:ph type="body" sz="quarter" idx="22"/>
          </p:nvPr>
        </p:nvSpPr>
        <p:spPr>
          <a:xfrm>
            <a:off x="723130" y="120521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일자리 기회는 넓히고, 시기는 앞당겨 기다림 없는 채용 구현</a:t>
            </a:r>
          </a:p>
        </p:txBody>
      </p:sp>
      <p:sp>
        <p:nvSpPr>
          <p:cNvPr id="16" name="태그칩"/>
          <p:cNvSpPr/>
          <p:nvPr/>
        </p:nvSpPr>
        <p:spPr>
          <a:xfrm>
            <a:off x="4529943" y="1238087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칩"/>
          <p:cNvSpPr>
            <a:spLocks noGrp="1"/>
          </p:cNvSpPr>
          <p:nvPr>
            <p:ph type="body" sz="quarter" idx="23"/>
          </p:nvPr>
        </p:nvSpPr>
        <p:spPr>
          <a:xfrm>
            <a:off x="4529943" y="1238087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8" name="태그칩"/>
          <p:cNvSpPr/>
          <p:nvPr/>
        </p:nvSpPr>
        <p:spPr>
          <a:xfrm>
            <a:off x="5081064" y="1238087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태그칩"/>
          <p:cNvSpPr>
            <a:spLocks noGrp="1"/>
          </p:cNvSpPr>
          <p:nvPr>
            <p:ph type="body" sz="quarter" idx="24"/>
          </p:nvPr>
        </p:nvSpPr>
        <p:spPr>
          <a:xfrm>
            <a:off x="5081064" y="1238087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20" name="표 외곽"/>
          <p:cNvSpPr/>
          <p:nvPr/>
        </p:nvSpPr>
        <p:spPr>
          <a:xfrm>
            <a:off x="723130" y="1490087"/>
            <a:ext cx="6300000" cy="44107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1" name="레일"/>
          <p:cNvSpPr/>
          <p:nvPr/>
        </p:nvSpPr>
        <p:spPr>
          <a:xfrm>
            <a:off x="734087" y="1506522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레일"/>
          <p:cNvSpPr>
            <a:spLocks noGrp="1"/>
          </p:cNvSpPr>
          <p:nvPr>
            <p:ph type="body" sz="quarter" idx="25"/>
          </p:nvPr>
        </p:nvSpPr>
        <p:spPr>
          <a:xfrm>
            <a:off x="734087" y="1506522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문 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 식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6"/>
          </p:nvPr>
        </p:nvSpPr>
        <p:spPr>
          <a:xfrm>
            <a:off x="1358609" y="1528435"/>
            <a:ext cx="542896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청년
니즈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7"/>
          </p:nvPr>
        </p:nvSpPr>
        <p:spPr>
          <a:xfrm>
            <a:off x="1923417" y="1528435"/>
            <a:ext cx="2237322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공기업에 대한 선호도는 상승</a:t>
            </a:r>
          </a:p>
        </p:txBody>
      </p:sp>
      <p:cxnSp>
        <p:nvCxnSpPr>
          <p:cNvPr id="25" name="Connector 16"/>
          <p:cNvCxnSpPr/>
          <p:nvPr/>
        </p:nvCxnSpPr>
        <p:spPr>
          <a:xfrm>
            <a:off x="1912461" y="1561304"/>
            <a:ext cx="0" cy="284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6" name="칸 본문"/>
          <p:cNvSpPr>
            <a:spLocks noGrp="1"/>
          </p:cNvSpPr>
          <p:nvPr>
            <p:ph type="body" sz="quarter" idx="28"/>
          </p:nvPr>
        </p:nvSpPr>
        <p:spPr>
          <a:xfrm>
            <a:off x="4182652" y="1528435"/>
            <a:ext cx="542896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그러나
현실은</a:t>
            </a:r>
          </a:p>
        </p:txBody>
      </p:sp>
      <p:cxnSp>
        <p:nvCxnSpPr>
          <p:cNvPr id="27" name="Connector 18"/>
          <p:cNvCxnSpPr/>
          <p:nvPr/>
        </p:nvCxnSpPr>
        <p:spPr>
          <a:xfrm>
            <a:off x="4171696" y="1561304"/>
            <a:ext cx="0" cy="284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8" name="칸 본문"/>
          <p:cNvSpPr>
            <a:spLocks noGrp="1"/>
          </p:cNvSpPr>
          <p:nvPr>
            <p:ph type="body" sz="quarter" idx="29"/>
          </p:nvPr>
        </p:nvSpPr>
        <p:spPr>
          <a:xfrm>
            <a:off x="4747461" y="1528435"/>
            <a:ext cx="2237322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 정규직 중 청년 비중은 4년만 최저 수준</a:t>
            </a:r>
          </a:p>
        </p:txBody>
      </p:sp>
      <p:cxnSp>
        <p:nvCxnSpPr>
          <p:cNvPr id="29" name="Connector 20"/>
          <p:cNvCxnSpPr/>
          <p:nvPr/>
        </p:nvCxnSpPr>
        <p:spPr>
          <a:xfrm>
            <a:off x="4736504" y="1561304"/>
            <a:ext cx="0" cy="284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0" name="캡션 띠"/>
          <p:cNvSpPr/>
          <p:nvPr/>
        </p:nvSpPr>
        <p:spPr>
          <a:xfrm>
            <a:off x="723130" y="1953078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1" name="태그"/>
          <p:cNvSpPr/>
          <p:nvPr/>
        </p:nvSpPr>
        <p:spPr>
          <a:xfrm>
            <a:off x="1051826" y="1996904"/>
            <a:ext cx="438871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2" name="태그"/>
          <p:cNvSpPr>
            <a:spLocks noGrp="1"/>
          </p:cNvSpPr>
          <p:nvPr>
            <p:ph type="body" sz="quarter" idx="30"/>
          </p:nvPr>
        </p:nvSpPr>
        <p:spPr>
          <a:xfrm>
            <a:off x="1051826" y="1996904"/>
            <a:ext cx="438871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33" name="캡션"/>
          <p:cNvSpPr>
            <a:spLocks noGrp="1"/>
          </p:cNvSpPr>
          <p:nvPr>
            <p:ph type="body" sz="quarter" idx="31"/>
          </p:nvPr>
        </p:nvSpPr>
        <p:spPr>
          <a:xfrm>
            <a:off x="1545480" y="1953078"/>
            <a:ext cx="5258520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청년 취업의 첫 문을 여는 조기채용 선도기관으로서 고용 버팀목 역할 주도</a:t>
            </a:r>
          </a:p>
        </p:txBody>
      </p:sp>
      <p:sp>
        <p:nvSpPr>
          <p:cNvPr id="34" name="표 외곽"/>
          <p:cNvSpPr/>
          <p:nvPr/>
        </p:nvSpPr>
        <p:spPr>
          <a:xfrm>
            <a:off x="723130" y="2259861"/>
            <a:ext cx="6300000" cy="2076261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5" name="레일"/>
          <p:cNvSpPr/>
          <p:nvPr/>
        </p:nvSpPr>
        <p:spPr>
          <a:xfrm>
            <a:off x="734087" y="2276296"/>
            <a:ext cx="580696" cy="89843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6" name="레일"/>
          <p:cNvSpPr>
            <a:spLocks noGrp="1"/>
          </p:cNvSpPr>
          <p:nvPr>
            <p:ph type="body" sz="quarter" idx="32"/>
          </p:nvPr>
        </p:nvSpPr>
        <p:spPr>
          <a:xfrm>
            <a:off x="734087" y="2276296"/>
            <a:ext cx="580696" cy="898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채용여력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 보</a:t>
            </a:r>
          </a:p>
        </p:txBody>
      </p:sp>
      <p:sp>
        <p:nvSpPr>
          <p:cNvPr id="37" name="머리칸"/>
          <p:cNvSpPr/>
          <p:nvPr/>
        </p:nvSpPr>
        <p:spPr>
          <a:xfrm>
            <a:off x="1347652" y="2298209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8" name="머리칸"/>
          <p:cNvSpPr>
            <a:spLocks noGrp="1"/>
          </p:cNvSpPr>
          <p:nvPr>
            <p:ph type="body" sz="quarter" idx="33"/>
          </p:nvPr>
        </p:nvSpPr>
        <p:spPr>
          <a:xfrm>
            <a:off x="1347652" y="2298209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국가 정책사업 증원</a:t>
            </a:r>
          </a:p>
        </p:txBody>
      </p:sp>
      <p:sp>
        <p:nvSpPr>
          <p:cNvPr id="39" name="머리칸"/>
          <p:cNvSpPr/>
          <p:nvPr/>
        </p:nvSpPr>
        <p:spPr>
          <a:xfrm>
            <a:off x="4171696" y="2298209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0" name="머리칸"/>
          <p:cNvSpPr>
            <a:spLocks noGrp="1"/>
          </p:cNvSpPr>
          <p:nvPr>
            <p:ph type="body" sz="quarter" idx="34"/>
          </p:nvPr>
        </p:nvSpPr>
        <p:spPr>
          <a:xfrm>
            <a:off x="4171696" y="2298209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결원 발생·해소 체계적 관리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35"/>
          </p:nvPr>
        </p:nvSpPr>
        <p:spPr>
          <a:xfrm>
            <a:off x="1358609" y="2539252"/>
            <a:ext cx="2802130" cy="39443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수시 신규사업, 직원 케어 기능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정기 AI 혁신, 국민·건설안전 인력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36"/>
          </p:nvPr>
        </p:nvSpPr>
        <p:spPr>
          <a:xfrm>
            <a:off x="4182652" y="2539252"/>
            <a:ext cx="2802130" cy="39443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임신~출산~육아휴직 통합신청 시스템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분기별 복직신청 제도 도입</a:t>
            </a:r>
          </a:p>
        </p:txBody>
      </p:sp>
      <p:cxnSp>
        <p:nvCxnSpPr>
          <p:cNvPr id="43" name="Connector 30"/>
          <p:cNvCxnSpPr/>
          <p:nvPr/>
        </p:nvCxnSpPr>
        <p:spPr>
          <a:xfrm>
            <a:off x="4171696" y="2572122"/>
            <a:ext cx="0" cy="32869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4" name="칸 본문"/>
          <p:cNvSpPr>
            <a:spLocks noGrp="1"/>
          </p:cNvSpPr>
          <p:nvPr>
            <p:ph type="body" sz="quarter" idx="37"/>
          </p:nvPr>
        </p:nvSpPr>
        <p:spPr>
          <a:xfrm>
            <a:off x="1358609" y="2950122"/>
            <a:ext cx="2802130" cy="21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총 43명 증원 확보(’24년 대비 215%)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38"/>
          </p:nvPr>
        </p:nvSpPr>
        <p:spPr>
          <a:xfrm>
            <a:off x="4182652" y="2950122"/>
            <a:ext cx="2802130" cy="21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휴직 결원 125명 확보(’24년 대비 128%)</a:t>
            </a:r>
          </a:p>
        </p:txBody>
      </p:sp>
      <p:cxnSp>
        <p:nvCxnSpPr>
          <p:cNvPr id="46" name="Connector 33"/>
          <p:cNvCxnSpPr/>
          <p:nvPr/>
        </p:nvCxnSpPr>
        <p:spPr>
          <a:xfrm>
            <a:off x="4171696" y="2982991"/>
            <a:ext cx="0" cy="15339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7" name="레일"/>
          <p:cNvSpPr/>
          <p:nvPr/>
        </p:nvSpPr>
        <p:spPr>
          <a:xfrm>
            <a:off x="734087" y="3191165"/>
            <a:ext cx="580696" cy="1128522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8" name="레일"/>
          <p:cNvSpPr>
            <a:spLocks noGrp="1"/>
          </p:cNvSpPr>
          <p:nvPr>
            <p:ph type="body" sz="quarter" idx="39"/>
          </p:nvPr>
        </p:nvSpPr>
        <p:spPr>
          <a:xfrm>
            <a:off x="734087" y="3191165"/>
            <a:ext cx="580696" cy="112852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안정적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채용운영</a:t>
            </a:r>
          </a:p>
        </p:txBody>
      </p:sp>
      <p:sp>
        <p:nvSpPr>
          <p:cNvPr id="49" name="레일 삼각형"/>
          <p:cNvSpPr/>
          <p:nvPr/>
        </p:nvSpPr>
        <p:spPr>
          <a:xfrm>
            <a:off x="734086" y="3191165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0" name="머리칸"/>
          <p:cNvSpPr/>
          <p:nvPr/>
        </p:nvSpPr>
        <p:spPr>
          <a:xfrm>
            <a:off x="1347652" y="3213078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1" name="머리칸"/>
          <p:cNvSpPr>
            <a:spLocks noGrp="1"/>
          </p:cNvSpPr>
          <p:nvPr>
            <p:ph type="body" sz="quarter" idx="40"/>
          </p:nvPr>
        </p:nvSpPr>
        <p:spPr>
          <a:xfrm>
            <a:off x="1347652" y="3213078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속도감 있는 채용</a:t>
            </a:r>
          </a:p>
        </p:txBody>
      </p:sp>
      <p:sp>
        <p:nvSpPr>
          <p:cNvPr id="52" name="머리칸"/>
          <p:cNvSpPr/>
          <p:nvPr/>
        </p:nvSpPr>
        <p:spPr>
          <a:xfrm>
            <a:off x="4171696" y="3213078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3" name="머리칸"/>
          <p:cNvSpPr>
            <a:spLocks noGrp="1"/>
          </p:cNvSpPr>
          <p:nvPr>
            <p:ph type="body" sz="quarter" idx="41"/>
          </p:nvPr>
        </p:nvSpPr>
        <p:spPr>
          <a:xfrm>
            <a:off x="4171696" y="3213078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기다림 없는 인력 충원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42"/>
          </p:nvPr>
        </p:nvSpPr>
        <p:spPr>
          <a:xfrm>
            <a:off x="1358609" y="3454122"/>
            <a:ext cx="2802130" cy="39443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증원·신사업 확정 즉시 채용 착수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 과정 60일 이내 완료</a:t>
            </a:r>
          </a:p>
        </p:txBody>
      </p:sp>
      <p:sp>
        <p:nvSpPr>
          <p:cNvPr id="55" name="칸 본문"/>
          <p:cNvSpPr>
            <a:spLocks noGrp="1"/>
          </p:cNvSpPr>
          <p:nvPr>
            <p:ph type="body" sz="quarter" idx="43"/>
          </p:nvPr>
        </p:nvSpPr>
        <p:spPr>
          <a:xfrm>
            <a:off x="4182652" y="3454122"/>
            <a:ext cx="2802130" cy="39443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상·중·하반기 공채, 탄력적 채용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채용 후보자 Pool 활용 공백 최소화</a:t>
            </a:r>
          </a:p>
        </p:txBody>
      </p:sp>
      <p:cxnSp>
        <p:nvCxnSpPr>
          <p:cNvPr id="56" name="Connector 40"/>
          <p:cNvCxnSpPr/>
          <p:nvPr/>
        </p:nvCxnSpPr>
        <p:spPr>
          <a:xfrm>
            <a:off x="4171696" y="3486991"/>
            <a:ext cx="0" cy="32869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7" name="단계"/>
          <p:cNvSpPr/>
          <p:nvPr/>
        </p:nvSpPr>
        <p:spPr>
          <a:xfrm>
            <a:off x="1347652" y="3864991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8" name="단계"/>
          <p:cNvSpPr>
            <a:spLocks noGrp="1"/>
          </p:cNvSpPr>
          <p:nvPr>
            <p:ph type="body" sz="quarter" idx="44"/>
          </p:nvPr>
        </p:nvSpPr>
        <p:spPr>
          <a:xfrm>
            <a:off x="1347652" y="3864991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상반기</a:t>
            </a:r>
          </a:p>
        </p:txBody>
      </p:sp>
      <p:sp>
        <p:nvSpPr>
          <p:cNvPr id="59" name="단계"/>
          <p:cNvSpPr/>
          <p:nvPr/>
        </p:nvSpPr>
        <p:spPr>
          <a:xfrm>
            <a:off x="3230348" y="3864991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0" name="단계"/>
          <p:cNvSpPr>
            <a:spLocks noGrp="1"/>
          </p:cNvSpPr>
          <p:nvPr>
            <p:ph type="body" sz="quarter" idx="45"/>
          </p:nvPr>
        </p:nvSpPr>
        <p:spPr>
          <a:xfrm>
            <a:off x="3230348" y="3864991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수시</a:t>
            </a:r>
          </a:p>
        </p:txBody>
      </p:sp>
      <p:sp>
        <p:nvSpPr>
          <p:cNvPr id="61" name="단계"/>
          <p:cNvSpPr/>
          <p:nvPr/>
        </p:nvSpPr>
        <p:spPr>
          <a:xfrm>
            <a:off x="5113043" y="3864991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2" name="단계"/>
          <p:cNvSpPr>
            <a:spLocks noGrp="1"/>
          </p:cNvSpPr>
          <p:nvPr>
            <p:ph type="body" sz="quarter" idx="46"/>
          </p:nvPr>
        </p:nvSpPr>
        <p:spPr>
          <a:xfrm>
            <a:off x="5113043" y="3864991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하반기</a:t>
            </a:r>
          </a:p>
        </p:txBody>
      </p:sp>
      <p:sp>
        <p:nvSpPr>
          <p:cNvPr id="63" name="단계 삼각형"/>
          <p:cNvSpPr/>
          <p:nvPr/>
        </p:nvSpPr>
        <p:spPr>
          <a:xfrm>
            <a:off x="3230347" y="3864991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4" name="단계 삼각형"/>
          <p:cNvSpPr/>
          <p:nvPr/>
        </p:nvSpPr>
        <p:spPr>
          <a:xfrm>
            <a:off x="5113043" y="3864991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5" name="칸 본문"/>
          <p:cNvSpPr>
            <a:spLocks noGrp="1"/>
          </p:cNvSpPr>
          <p:nvPr>
            <p:ph type="body" sz="quarter" idx="47"/>
          </p:nvPr>
        </p:nvSpPr>
        <p:spPr>
          <a:xfrm>
            <a:off x="1358609" y="4116991"/>
            <a:ext cx="1860783" cy="19721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201명(’24.12)</a:t>
            </a:r>
          </a:p>
        </p:txBody>
      </p:sp>
      <p:sp>
        <p:nvSpPr>
          <p:cNvPr id="66" name="칸 본문"/>
          <p:cNvSpPr>
            <a:spLocks noGrp="1"/>
          </p:cNvSpPr>
          <p:nvPr>
            <p:ph type="body" sz="quarter" idx="48"/>
          </p:nvPr>
        </p:nvSpPr>
        <p:spPr>
          <a:xfrm>
            <a:off x="3241304" y="4116991"/>
            <a:ext cx="1860783" cy="19721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37명(’25.4)</a:t>
            </a:r>
          </a:p>
        </p:txBody>
      </p:sp>
      <p:cxnSp>
        <p:nvCxnSpPr>
          <p:cNvPr id="67" name="Connector 48"/>
          <p:cNvCxnSpPr/>
          <p:nvPr/>
        </p:nvCxnSpPr>
        <p:spPr>
          <a:xfrm>
            <a:off x="3230348" y="4149861"/>
            <a:ext cx="0" cy="13147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8" name="칸 본문"/>
          <p:cNvSpPr>
            <a:spLocks noGrp="1"/>
          </p:cNvSpPr>
          <p:nvPr>
            <p:ph type="body" sz="quarter" idx="49"/>
          </p:nvPr>
        </p:nvSpPr>
        <p:spPr>
          <a:xfrm>
            <a:off x="5124000" y="4116991"/>
            <a:ext cx="1860783" cy="19721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185명(’25.8)</a:t>
            </a:r>
          </a:p>
        </p:txBody>
      </p:sp>
      <p:cxnSp>
        <p:nvCxnSpPr>
          <p:cNvPr id="69" name="Connector 50"/>
          <p:cNvCxnSpPr/>
          <p:nvPr/>
        </p:nvCxnSpPr>
        <p:spPr>
          <a:xfrm>
            <a:off x="5113043" y="4149861"/>
            <a:ext cx="0" cy="13147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0" name="핵심성과 박스"/>
          <p:cNvSpPr/>
          <p:nvPr/>
        </p:nvSpPr>
        <p:spPr>
          <a:xfrm>
            <a:off x="723130" y="4423774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1" name="핵심성과 라벨"/>
          <p:cNvSpPr/>
          <p:nvPr/>
        </p:nvSpPr>
        <p:spPr>
          <a:xfrm>
            <a:off x="756000" y="4456643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72" name="핵심성과 라벨"/>
          <p:cNvSpPr>
            <a:spLocks noGrp="1"/>
          </p:cNvSpPr>
          <p:nvPr>
            <p:ph type="body" sz="quarter" idx="50"/>
          </p:nvPr>
        </p:nvSpPr>
        <p:spPr>
          <a:xfrm>
            <a:off x="756000" y="4456643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73" name="핵심성과 문구"/>
          <p:cNvSpPr>
            <a:spLocks noGrp="1"/>
          </p:cNvSpPr>
          <p:nvPr>
            <p:ph type="body" sz="quarter" idx="51"/>
          </p:nvPr>
        </p:nvSpPr>
        <p:spPr>
          <a:xfrm>
            <a:off x="1501043" y="4445687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정규직 423명 채용(전년比 66.5%↑), 정원대비 청년 채용률 7.2%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4년 연속 SOC군 최초 채용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47 서사 · 추진배경(현업·채용 담당) → 정밀한 직무검증 → 공정성 강화 → 리스크 예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3836130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유능한 실무인재 선발을 위한 더 공정한 예방 중심 시스템 구축</a:t>
            </a:r>
          </a:p>
        </p:txBody>
      </p:sp>
      <p:sp>
        <p:nvSpPr>
          <p:cNvPr id="12" name="태그칩"/>
          <p:cNvSpPr/>
          <p:nvPr/>
        </p:nvSpPr>
        <p:spPr>
          <a:xfrm>
            <a:off x="4471608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471608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표 외곽"/>
          <p:cNvSpPr/>
          <p:nvPr/>
        </p:nvSpPr>
        <p:spPr>
          <a:xfrm>
            <a:off x="536870" y="1051826"/>
            <a:ext cx="6300000" cy="269953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547826" y="1068261"/>
            <a:ext cx="580696" cy="48756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068261"/>
            <a:ext cx="580696" cy="487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3"/>
          </p:nvPr>
        </p:nvSpPr>
        <p:spPr>
          <a:xfrm>
            <a:off x="1172348" y="1090174"/>
            <a:ext cx="2802130" cy="460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현업부서 “업무가 빠르게 돌아가는 현업 특성상 즉시 실무 투입 가능한 인재가 필요”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4"/>
          </p:nvPr>
        </p:nvSpPr>
        <p:spPr>
          <a:xfrm>
            <a:off x="3996391" y="1090174"/>
            <a:ext cx="2802130" cy="460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채용담당 “공정 채용을 위한 제도는 다 갖췄는데, 놓치고 있는 사각지대는 없는지 고민”</a:t>
            </a:r>
          </a:p>
        </p:txBody>
      </p:sp>
      <p:cxnSp>
        <p:nvCxnSpPr>
          <p:cNvPr id="19" name="Connector 13"/>
          <p:cNvCxnSpPr/>
          <p:nvPr/>
        </p:nvCxnSpPr>
        <p:spPr>
          <a:xfrm>
            <a:off x="3985435" y="1123043"/>
            <a:ext cx="0" cy="394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0" name="레일"/>
          <p:cNvSpPr/>
          <p:nvPr/>
        </p:nvSpPr>
        <p:spPr>
          <a:xfrm>
            <a:off x="547826" y="1572261"/>
            <a:ext cx="580696" cy="68478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5"/>
          </p:nvPr>
        </p:nvSpPr>
        <p:spPr>
          <a:xfrm>
            <a:off x="547826" y="1572261"/>
            <a:ext cx="580696" cy="684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정밀한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직무검증</a:t>
            </a:r>
          </a:p>
        </p:txBody>
      </p:sp>
      <p:sp>
        <p:nvSpPr>
          <p:cNvPr id="22" name="레일 삼각형"/>
          <p:cNvSpPr/>
          <p:nvPr/>
        </p:nvSpPr>
        <p:spPr>
          <a:xfrm>
            <a:off x="547826" y="1572260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3" name="머리칸"/>
          <p:cNvSpPr/>
          <p:nvPr/>
        </p:nvSpPr>
        <p:spPr>
          <a:xfrm>
            <a:off x="1161391" y="1594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4" name="머리칸"/>
          <p:cNvSpPr>
            <a:spLocks noGrp="1"/>
          </p:cNvSpPr>
          <p:nvPr>
            <p:ph type="body" sz="quarter" idx="26"/>
          </p:nvPr>
        </p:nvSpPr>
        <p:spPr>
          <a:xfrm>
            <a:off x="1161391" y="1594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일반직 직무적합 선발</a:t>
            </a:r>
          </a:p>
        </p:txBody>
      </p:sp>
      <p:sp>
        <p:nvSpPr>
          <p:cNvPr id="25" name="머리칸"/>
          <p:cNvSpPr/>
          <p:nvPr/>
        </p:nvSpPr>
        <p:spPr>
          <a:xfrm>
            <a:off x="3044087" y="1594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6" name="머리칸"/>
          <p:cNvSpPr>
            <a:spLocks noGrp="1"/>
          </p:cNvSpPr>
          <p:nvPr>
            <p:ph type="body" sz="quarter" idx="27"/>
          </p:nvPr>
        </p:nvSpPr>
        <p:spPr>
          <a:xfrm>
            <a:off x="3044087" y="1594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운영직 실무역량 반영</a:t>
            </a:r>
          </a:p>
        </p:txBody>
      </p:sp>
      <p:sp>
        <p:nvSpPr>
          <p:cNvPr id="27" name="머리칸"/>
          <p:cNvSpPr/>
          <p:nvPr/>
        </p:nvSpPr>
        <p:spPr>
          <a:xfrm>
            <a:off x="4926783" y="1594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8" name="머리칸"/>
          <p:cNvSpPr>
            <a:spLocks noGrp="1"/>
          </p:cNvSpPr>
          <p:nvPr>
            <p:ph type="body" sz="quarter" idx="28"/>
          </p:nvPr>
        </p:nvSpPr>
        <p:spPr>
          <a:xfrm>
            <a:off x="4926783" y="1594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전문직 직무역량 평가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1172348" y="1835217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총점 40% 미달 과락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직무 40% 미달 과락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0"/>
          </p:nvPr>
        </p:nvSpPr>
        <p:spPr>
          <a:xfrm>
            <a:off x="3055043" y="1835217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관련분야 자격증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관련경력(1년↑)도 인정</a:t>
            </a:r>
          </a:p>
        </p:txBody>
      </p:sp>
      <p:cxnSp>
        <p:nvCxnSpPr>
          <p:cNvPr id="31" name="Connector 21"/>
          <p:cNvCxnSpPr/>
          <p:nvPr/>
        </p:nvCxnSpPr>
        <p:spPr>
          <a:xfrm>
            <a:off x="3044087" y="1868087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2" name="칸 본문"/>
          <p:cNvSpPr>
            <a:spLocks noGrp="1"/>
          </p:cNvSpPr>
          <p:nvPr>
            <p:ph type="body" sz="quarter" idx="31"/>
          </p:nvPr>
        </p:nvSpPr>
        <p:spPr>
          <a:xfrm>
            <a:off x="4937739" y="1835217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학술이론 중심 논술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NCS 평가(’25.12 공지)</a:t>
            </a:r>
          </a:p>
        </p:txBody>
      </p:sp>
      <p:cxnSp>
        <p:nvCxnSpPr>
          <p:cNvPr id="33" name="Connector 23"/>
          <p:cNvCxnSpPr/>
          <p:nvPr/>
        </p:nvCxnSpPr>
        <p:spPr>
          <a:xfrm>
            <a:off x="4926783" y="1868087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4" name="레일"/>
          <p:cNvSpPr/>
          <p:nvPr/>
        </p:nvSpPr>
        <p:spPr>
          <a:xfrm>
            <a:off x="547826" y="2273478"/>
            <a:ext cx="580696" cy="760226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5" name="레일"/>
          <p:cNvSpPr>
            <a:spLocks noGrp="1"/>
          </p:cNvSpPr>
          <p:nvPr>
            <p:ph type="body" sz="quarter" idx="32"/>
          </p:nvPr>
        </p:nvSpPr>
        <p:spPr>
          <a:xfrm>
            <a:off x="547826" y="2273478"/>
            <a:ext cx="580696" cy="7602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공정성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화</a:t>
            </a:r>
          </a:p>
        </p:txBody>
      </p:sp>
      <p:sp>
        <p:nvSpPr>
          <p:cNvPr id="36" name="머리칸"/>
          <p:cNvSpPr/>
          <p:nvPr/>
        </p:nvSpPr>
        <p:spPr>
          <a:xfrm>
            <a:off x="1161391" y="229539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7" name="머리칸"/>
          <p:cNvSpPr>
            <a:spLocks noGrp="1"/>
          </p:cNvSpPr>
          <p:nvPr>
            <p:ph type="body" sz="quarter" idx="33"/>
          </p:nvPr>
        </p:nvSpPr>
        <p:spPr>
          <a:xfrm>
            <a:off x="1161391" y="229539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서류전형 응시기회 확대</a:t>
            </a:r>
          </a:p>
        </p:txBody>
      </p:sp>
      <p:sp>
        <p:nvSpPr>
          <p:cNvPr id="38" name="머리칸"/>
          <p:cNvSpPr/>
          <p:nvPr/>
        </p:nvSpPr>
        <p:spPr>
          <a:xfrm>
            <a:off x="3044087" y="229539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9" name="머리칸"/>
          <p:cNvSpPr>
            <a:spLocks noGrp="1"/>
          </p:cNvSpPr>
          <p:nvPr>
            <p:ph type="body" sz="quarter" idx="34"/>
          </p:nvPr>
        </p:nvSpPr>
        <p:spPr>
          <a:xfrm>
            <a:off x="3044087" y="229539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성격검사 조직적합 검증</a:t>
            </a:r>
          </a:p>
        </p:txBody>
      </p:sp>
      <p:sp>
        <p:nvSpPr>
          <p:cNvPr id="40" name="머리칸"/>
          <p:cNvSpPr/>
          <p:nvPr/>
        </p:nvSpPr>
        <p:spPr>
          <a:xfrm>
            <a:off x="4926783" y="229539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1" name="머리칸"/>
          <p:cNvSpPr>
            <a:spLocks noGrp="1"/>
          </p:cNvSpPr>
          <p:nvPr>
            <p:ph type="body" sz="quarter" idx="35"/>
          </p:nvPr>
        </p:nvSpPr>
        <p:spPr>
          <a:xfrm>
            <a:off x="4926783" y="229539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면접전형 평가신뢰 제고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36"/>
          </p:nvPr>
        </p:nvSpPr>
        <p:spPr>
          <a:xfrm>
            <a:off x="1172348" y="2536435"/>
            <a:ext cx="1860783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서류 합격 배수 상향: 50배수 → 70배수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37"/>
          </p:nvPr>
        </p:nvSpPr>
        <p:spPr>
          <a:xfrm>
            <a:off x="3055043" y="2536435"/>
            <a:ext cx="1860783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성격검사 필수 요건 반영, 미응시자 제한</a:t>
            </a:r>
          </a:p>
        </p:txBody>
      </p:sp>
      <p:cxnSp>
        <p:nvCxnSpPr>
          <p:cNvPr id="44" name="Connector 30"/>
          <p:cNvCxnSpPr/>
          <p:nvPr/>
        </p:nvCxnSpPr>
        <p:spPr>
          <a:xfrm>
            <a:off x="3044087" y="2569304"/>
            <a:ext cx="0" cy="42605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5" name="칸 본문"/>
          <p:cNvSpPr>
            <a:spLocks noGrp="1"/>
          </p:cNvSpPr>
          <p:nvPr>
            <p:ph type="body" sz="quarter" idx="38"/>
          </p:nvPr>
        </p:nvSpPr>
        <p:spPr>
          <a:xfrm>
            <a:off x="4937739" y="2536435"/>
            <a:ext cx="1860783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면접관 사전교육 내실화: 단순 유의사항(2h) → 블라인드·평가사례(5h)</a:t>
            </a:r>
          </a:p>
        </p:txBody>
      </p:sp>
      <p:cxnSp>
        <p:nvCxnSpPr>
          <p:cNvPr id="46" name="Connector 32"/>
          <p:cNvCxnSpPr/>
          <p:nvPr/>
        </p:nvCxnSpPr>
        <p:spPr>
          <a:xfrm>
            <a:off x="4926783" y="2569304"/>
            <a:ext cx="0" cy="42605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7" name="레일"/>
          <p:cNvSpPr/>
          <p:nvPr/>
        </p:nvSpPr>
        <p:spPr>
          <a:xfrm>
            <a:off x="547826" y="3050139"/>
            <a:ext cx="580696" cy="68478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8" name="레일"/>
          <p:cNvSpPr>
            <a:spLocks noGrp="1"/>
          </p:cNvSpPr>
          <p:nvPr>
            <p:ph type="body" sz="quarter" idx="39"/>
          </p:nvPr>
        </p:nvSpPr>
        <p:spPr>
          <a:xfrm>
            <a:off x="547826" y="3050139"/>
            <a:ext cx="580696" cy="684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리스크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예 방</a:t>
            </a:r>
          </a:p>
        </p:txBody>
      </p:sp>
      <p:sp>
        <p:nvSpPr>
          <p:cNvPr id="49" name="레일 삼각형"/>
          <p:cNvSpPr/>
          <p:nvPr/>
        </p:nvSpPr>
        <p:spPr>
          <a:xfrm>
            <a:off x="547826" y="3050139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0" name="머리칸"/>
          <p:cNvSpPr/>
          <p:nvPr/>
        </p:nvSpPr>
        <p:spPr>
          <a:xfrm>
            <a:off x="1161391" y="307205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1" name="머리칸"/>
          <p:cNvSpPr>
            <a:spLocks noGrp="1"/>
          </p:cNvSpPr>
          <p:nvPr>
            <p:ph type="body" sz="quarter" idx="40"/>
          </p:nvPr>
        </p:nvSpPr>
        <p:spPr>
          <a:xfrm>
            <a:off x="1161391" y="307205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유출방지 3단계 필터링</a:t>
            </a:r>
          </a:p>
        </p:txBody>
      </p:sp>
      <p:sp>
        <p:nvSpPr>
          <p:cNvPr id="52" name="머리칸"/>
          <p:cNvSpPr/>
          <p:nvPr/>
        </p:nvSpPr>
        <p:spPr>
          <a:xfrm>
            <a:off x="3044087" y="307205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3" name="머리칸"/>
          <p:cNvSpPr>
            <a:spLocks noGrp="1"/>
          </p:cNvSpPr>
          <p:nvPr>
            <p:ph type="body" sz="quarter" idx="41"/>
          </p:nvPr>
        </p:nvSpPr>
        <p:spPr>
          <a:xfrm>
            <a:off x="3044087" y="307205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서류검증 인적오류 방지</a:t>
            </a:r>
          </a:p>
        </p:txBody>
      </p:sp>
      <p:sp>
        <p:nvSpPr>
          <p:cNvPr id="54" name="머리칸"/>
          <p:cNvSpPr/>
          <p:nvPr/>
        </p:nvSpPr>
        <p:spPr>
          <a:xfrm>
            <a:off x="4926783" y="307205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5" name="머리칸"/>
          <p:cNvSpPr>
            <a:spLocks noGrp="1"/>
          </p:cNvSpPr>
          <p:nvPr>
            <p:ph type="body" sz="quarter" idx="42"/>
          </p:nvPr>
        </p:nvSpPr>
        <p:spPr>
          <a:xfrm>
            <a:off x="4926783" y="307205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내부통제 취약 포인트 통제</a:t>
            </a:r>
          </a:p>
        </p:txBody>
      </p:sp>
      <p:sp>
        <p:nvSpPr>
          <p:cNvPr id="56" name="칸 본문"/>
          <p:cNvSpPr>
            <a:spLocks noGrp="1"/>
          </p:cNvSpPr>
          <p:nvPr>
            <p:ph type="body" sz="quarter" idx="43"/>
          </p:nvPr>
        </p:nvSpPr>
        <p:spPr>
          <a:xfrm>
            <a:off x="1172348" y="3313096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출제과정 단계별 보안관리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출제→선별→검수단계 분리</a:t>
            </a:r>
          </a:p>
        </p:txBody>
      </p:sp>
      <p:sp>
        <p:nvSpPr>
          <p:cNvPr id="57" name="칸 본문"/>
          <p:cNvSpPr>
            <a:spLocks noGrp="1"/>
          </p:cNvSpPr>
          <p:nvPr>
            <p:ph type="body" sz="quarter" idx="44"/>
          </p:nvPr>
        </p:nvSpPr>
        <p:spPr>
          <a:xfrm>
            <a:off x="3055043" y="3313096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경력서류 교차검증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건강보험증명+경력증명서</a:t>
            </a:r>
          </a:p>
        </p:txBody>
      </p:sp>
      <p:cxnSp>
        <p:nvCxnSpPr>
          <p:cNvPr id="58" name="Connector 40"/>
          <p:cNvCxnSpPr/>
          <p:nvPr/>
        </p:nvCxnSpPr>
        <p:spPr>
          <a:xfrm>
            <a:off x="3044087" y="3345965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9" name="칸 본문"/>
          <p:cNvSpPr>
            <a:spLocks noGrp="1"/>
          </p:cNvSpPr>
          <p:nvPr>
            <p:ph type="body" sz="quarter" idx="45"/>
          </p:nvPr>
        </p:nvSpPr>
        <p:spPr>
          <a:xfrm>
            <a:off x="4937739" y="3313096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시험관계자 물리적 통제실시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시험 종료시까지 합숙</a:t>
            </a:r>
          </a:p>
        </p:txBody>
      </p:sp>
      <p:cxnSp>
        <p:nvCxnSpPr>
          <p:cNvPr id="60" name="Connector 42"/>
          <p:cNvCxnSpPr/>
          <p:nvPr/>
        </p:nvCxnSpPr>
        <p:spPr>
          <a:xfrm>
            <a:off x="4926783" y="3345965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1" name="핵심성과 박스"/>
          <p:cNvSpPr/>
          <p:nvPr/>
        </p:nvSpPr>
        <p:spPr>
          <a:xfrm>
            <a:off x="536870" y="3839009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2" name="핵심성과 라벨"/>
          <p:cNvSpPr/>
          <p:nvPr/>
        </p:nvSpPr>
        <p:spPr>
          <a:xfrm>
            <a:off x="569739" y="3871878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63" name="핵심성과 라벨"/>
          <p:cNvSpPr>
            <a:spLocks noGrp="1"/>
          </p:cNvSpPr>
          <p:nvPr>
            <p:ph type="body" sz="quarter" idx="46"/>
          </p:nvPr>
        </p:nvSpPr>
        <p:spPr>
          <a:xfrm>
            <a:off x="569739" y="3871878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64" name="핵심성과 문구"/>
          <p:cNvSpPr>
            <a:spLocks noGrp="1"/>
          </p:cNvSpPr>
          <p:nvPr>
            <p:ph type="body" sz="quarter" idx="47"/>
          </p:nvPr>
        </p:nvSpPr>
        <p:spPr>
          <a:xfrm>
            <a:off x="1314783" y="3860922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직원 대상 ‘채용 합리성’ 만족도 85.2점(’24년 대비 0.5점↑)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전문 심사기관 ‘블라인드 공정채용’ 3년 연속 인증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48 서사 · 문제인식 → 방향설정 → 재직 단계(탭 카드) → 수료 단계(지속 지원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함께 미래를 열어갈 인재를 미리 만나는 청년 인턴십</a:t>
            </a:r>
          </a:p>
        </p:txBody>
      </p:sp>
      <p:sp>
        <p:nvSpPr>
          <p:cNvPr id="14" name="번호 띠 칩"/>
          <p:cNvSpPr/>
          <p:nvPr/>
        </p:nvSpPr>
        <p:spPr>
          <a:xfrm>
            <a:off x="6428183" y="843652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번호 띠 칩"/>
          <p:cNvSpPr>
            <a:spLocks noGrp="1"/>
          </p:cNvSpPr>
          <p:nvPr>
            <p:ph type="body" sz="quarter" idx="22"/>
          </p:nvPr>
        </p:nvSpPr>
        <p:spPr>
          <a:xfrm>
            <a:off x="6428183" y="843652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번호 띠 칩"/>
          <p:cNvSpPr/>
          <p:nvPr/>
        </p:nvSpPr>
        <p:spPr>
          <a:xfrm>
            <a:off x="5878840" y="843652"/>
            <a:ext cx="505517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번호 띠 칩"/>
          <p:cNvSpPr>
            <a:spLocks noGrp="1"/>
          </p:cNvSpPr>
          <p:nvPr>
            <p:ph type="body" sz="quarter" idx="23"/>
          </p:nvPr>
        </p:nvSpPr>
        <p:spPr>
          <a:xfrm>
            <a:off x="5878840" y="843652"/>
            <a:ext cx="50551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8" name="번호 띠 칩"/>
          <p:cNvSpPr/>
          <p:nvPr/>
        </p:nvSpPr>
        <p:spPr>
          <a:xfrm>
            <a:off x="5086269" y="843652"/>
            <a:ext cx="74874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번호 띠 칩"/>
          <p:cNvSpPr>
            <a:spLocks noGrp="1"/>
          </p:cNvSpPr>
          <p:nvPr>
            <p:ph type="body" sz="quarter" idx="24"/>
          </p:nvPr>
        </p:nvSpPr>
        <p:spPr>
          <a:xfrm>
            <a:off x="5086269" y="843652"/>
            <a:ext cx="74874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20" name="표 외곽"/>
          <p:cNvSpPr/>
          <p:nvPr/>
        </p:nvSpPr>
        <p:spPr>
          <a:xfrm>
            <a:off x="723130" y="1128522"/>
            <a:ext cx="6300000" cy="105057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1" name="레일"/>
          <p:cNvSpPr/>
          <p:nvPr/>
        </p:nvSpPr>
        <p:spPr>
          <a:xfrm>
            <a:off x="734087" y="1144957"/>
            <a:ext cx="580696" cy="61638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레일"/>
          <p:cNvSpPr>
            <a:spLocks noGrp="1"/>
          </p:cNvSpPr>
          <p:nvPr>
            <p:ph type="body" sz="quarter" idx="25"/>
          </p:nvPr>
        </p:nvSpPr>
        <p:spPr>
          <a:xfrm>
            <a:off x="734087" y="1144957"/>
            <a:ext cx="580696" cy="6163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문 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 식</a:t>
            </a:r>
          </a:p>
        </p:txBody>
      </p:sp>
      <p:sp>
        <p:nvSpPr>
          <p:cNvPr id="23" name="단계"/>
          <p:cNvSpPr/>
          <p:nvPr/>
        </p:nvSpPr>
        <p:spPr>
          <a:xfrm>
            <a:off x="1347652" y="1166870"/>
            <a:ext cx="282404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4" name="단계"/>
          <p:cNvSpPr>
            <a:spLocks noGrp="1"/>
          </p:cNvSpPr>
          <p:nvPr>
            <p:ph type="body" sz="quarter" idx="26"/>
          </p:nvPr>
        </p:nvSpPr>
        <p:spPr>
          <a:xfrm>
            <a:off x="1347652" y="1166870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</a:t>
            </a:r>
          </a:p>
        </p:txBody>
      </p:sp>
      <p:sp>
        <p:nvSpPr>
          <p:cNvPr id="25" name="단계"/>
          <p:cNvSpPr/>
          <p:nvPr/>
        </p:nvSpPr>
        <p:spPr>
          <a:xfrm>
            <a:off x="4171696" y="1166870"/>
            <a:ext cx="2824043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6" name="단계"/>
          <p:cNvSpPr>
            <a:spLocks noGrp="1"/>
          </p:cNvSpPr>
          <p:nvPr>
            <p:ph type="body" sz="quarter" idx="27"/>
          </p:nvPr>
        </p:nvSpPr>
        <p:spPr>
          <a:xfrm>
            <a:off x="4171696" y="1166870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현황 진단</a:t>
            </a:r>
          </a:p>
        </p:txBody>
      </p:sp>
      <p:sp>
        <p:nvSpPr>
          <p:cNvPr id="27" name="단계 삼각형"/>
          <p:cNvSpPr/>
          <p:nvPr/>
        </p:nvSpPr>
        <p:spPr>
          <a:xfrm>
            <a:off x="4171695" y="1166869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8"/>
          </p:nvPr>
        </p:nvSpPr>
        <p:spPr>
          <a:xfrm>
            <a:off x="1358609" y="1418870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인턴제도의 실효성을 강화하고, 수료 이후에도 지속 지원 필요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4182652" y="1418870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인턴 출신 정규직 입사 증가로 청년인턴을 미래 구성원으로 운영 필요</a:t>
            </a:r>
          </a:p>
        </p:txBody>
      </p:sp>
      <p:cxnSp>
        <p:nvCxnSpPr>
          <p:cNvPr id="30" name="Connector 18"/>
          <p:cNvCxnSpPr/>
          <p:nvPr/>
        </p:nvCxnSpPr>
        <p:spPr>
          <a:xfrm>
            <a:off x="4171696" y="1451739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레일"/>
          <p:cNvSpPr/>
          <p:nvPr/>
        </p:nvSpPr>
        <p:spPr>
          <a:xfrm>
            <a:off x="734087" y="1777774"/>
            <a:ext cx="580696" cy="3848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2" name="레일"/>
          <p:cNvSpPr>
            <a:spLocks noGrp="1"/>
          </p:cNvSpPr>
          <p:nvPr>
            <p:ph type="body" sz="quarter" idx="30"/>
          </p:nvPr>
        </p:nvSpPr>
        <p:spPr>
          <a:xfrm>
            <a:off x="734087" y="1777774"/>
            <a:ext cx="580696" cy="3848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방향설정</a:t>
            </a:r>
          </a:p>
        </p:txBody>
      </p:sp>
      <p:sp>
        <p:nvSpPr>
          <p:cNvPr id="33" name="레일 삼각형"/>
          <p:cNvSpPr/>
          <p:nvPr/>
        </p:nvSpPr>
        <p:spPr>
          <a:xfrm>
            <a:off x="734086" y="1777773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4" name="단계"/>
          <p:cNvSpPr/>
          <p:nvPr/>
        </p:nvSpPr>
        <p:spPr>
          <a:xfrm>
            <a:off x="1347652" y="1799687"/>
            <a:ext cx="282404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5" name="단계"/>
          <p:cNvSpPr>
            <a:spLocks noGrp="1"/>
          </p:cNvSpPr>
          <p:nvPr>
            <p:ph type="body" sz="quarter" idx="31"/>
          </p:nvPr>
        </p:nvSpPr>
        <p:spPr>
          <a:xfrm>
            <a:off x="1347652" y="1799687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정규직 연계 채용 중심</a:t>
            </a:r>
          </a:p>
        </p:txBody>
      </p:sp>
      <p:sp>
        <p:nvSpPr>
          <p:cNvPr id="36" name="단계"/>
          <p:cNvSpPr/>
          <p:nvPr/>
        </p:nvSpPr>
        <p:spPr>
          <a:xfrm>
            <a:off x="4171696" y="1799687"/>
            <a:ext cx="2824043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7" name="단계"/>
          <p:cNvSpPr>
            <a:spLocks noGrp="1"/>
          </p:cNvSpPr>
          <p:nvPr>
            <p:ph type="body" sz="quarter" idx="32"/>
          </p:nvPr>
        </p:nvSpPr>
        <p:spPr>
          <a:xfrm>
            <a:off x="4171696" y="1799687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조직의 미래인재로 관리하는 인턴십</a:t>
            </a:r>
          </a:p>
        </p:txBody>
      </p:sp>
      <p:sp>
        <p:nvSpPr>
          <p:cNvPr id="38" name="단계 삼각형"/>
          <p:cNvSpPr/>
          <p:nvPr/>
        </p:nvSpPr>
        <p:spPr>
          <a:xfrm>
            <a:off x="4171695" y="1799686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9" name="칸 본문"/>
          <p:cNvSpPr txBox="1"/>
          <p:nvPr/>
        </p:nvSpPr>
        <p:spPr>
          <a:xfrm>
            <a:off x="1358609" y="2051687"/>
            <a:ext cx="2802130" cy="43826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sp>
        <p:nvSpPr>
          <p:cNvPr id="40" name="칸 본문"/>
          <p:cNvSpPr txBox="1"/>
          <p:nvPr/>
        </p:nvSpPr>
        <p:spPr>
          <a:xfrm>
            <a:off x="4182652" y="2051687"/>
            <a:ext cx="2802130" cy="43826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41" name="Connector 26"/>
          <p:cNvCxnSpPr/>
          <p:nvPr/>
        </p:nvCxnSpPr>
        <p:spPr>
          <a:xfrm flipV="1">
            <a:off x="4171696" y="2062643"/>
            <a:ext cx="0" cy="2191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2" name="아이콘 칸"/>
          <p:cNvSpPr/>
          <p:nvPr/>
        </p:nvSpPr>
        <p:spPr>
          <a:xfrm>
            <a:off x="723130" y="2277704"/>
            <a:ext cx="175304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3600" rIns="3600" tIns="0" bIns="0" wrap="square"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/>
            </a:r>
          </a:p>
        </p:txBody>
      </p:sp>
      <p:sp>
        <p:nvSpPr>
          <p:cNvPr id="43" name="태그"/>
          <p:cNvSpPr/>
          <p:nvPr/>
        </p:nvSpPr>
        <p:spPr>
          <a:xfrm>
            <a:off x="942261" y="2277704"/>
            <a:ext cx="577911" cy="175304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4" name="태그"/>
          <p:cNvSpPr>
            <a:spLocks noGrp="1"/>
          </p:cNvSpPr>
          <p:nvPr>
            <p:ph type="body" sz="quarter" idx="33"/>
          </p:nvPr>
        </p:nvSpPr>
        <p:spPr>
          <a:xfrm>
            <a:off x="942261" y="2277704"/>
            <a:ext cx="57791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재직 단계</a:t>
            </a:r>
          </a:p>
        </p:txBody>
      </p:sp>
      <p:sp>
        <p:nvSpPr>
          <p:cNvPr id="45" name="그룹 제목"/>
          <p:cNvSpPr>
            <a:spLocks noGrp="1"/>
          </p:cNvSpPr>
          <p:nvPr>
            <p:ph type="body" sz="quarter" idx="34"/>
          </p:nvPr>
        </p:nvSpPr>
        <p:spPr>
          <a:xfrm>
            <a:off x="1563998" y="2255791"/>
            <a:ext cx="5437219" cy="21913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인재를 조기에 발굴해 실무형 인재로 성장시키는 전과정 개편</a:t>
            </a:r>
          </a:p>
        </p:txBody>
      </p:sp>
      <p:sp>
        <p:nvSpPr>
          <p:cNvPr id="46" name="카드 틀"/>
          <p:cNvSpPr/>
          <p:nvPr/>
        </p:nvSpPr>
        <p:spPr>
          <a:xfrm>
            <a:off x="723130" y="2507791"/>
            <a:ext cx="3128087" cy="1040870"/>
          </a:xfrm>
          <a:prstGeom prst="rect">
            <a:avLst/>
          </a:prstGeom>
          <a:solidFill>
            <a:srgbClr val="FFFFFF"/>
          </a:solidFill>
          <a:ln w="12700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7" name="탭"/>
          <p:cNvSpPr/>
          <p:nvPr/>
        </p:nvSpPr>
        <p:spPr>
          <a:xfrm>
            <a:off x="723130" y="2507791"/>
            <a:ext cx="416348" cy="208174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8" name="탭"/>
          <p:cNvSpPr>
            <a:spLocks noGrp="1"/>
          </p:cNvSpPr>
          <p:nvPr>
            <p:ph type="body" sz="quarter" idx="35"/>
          </p:nvPr>
        </p:nvSpPr>
        <p:spPr>
          <a:xfrm>
            <a:off x="723130" y="2507791"/>
            <a:ext cx="416348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선발</a:t>
            </a:r>
          </a:p>
        </p:txBody>
      </p:sp>
      <p:sp>
        <p:nvSpPr>
          <p:cNvPr id="49" name="카드 제목"/>
          <p:cNvSpPr>
            <a:spLocks noGrp="1"/>
          </p:cNvSpPr>
          <p:nvPr>
            <p:ph type="body" sz="quarter" idx="36"/>
          </p:nvPr>
        </p:nvSpPr>
        <p:spPr>
          <a:xfrm>
            <a:off x="1172348" y="2507791"/>
            <a:ext cx="2646000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직무역량 위주</a:t>
            </a:r>
          </a:p>
        </p:txBody>
      </p:sp>
      <p:sp>
        <p:nvSpPr>
          <p:cNvPr id="50" name="카드 본문"/>
          <p:cNvSpPr>
            <a:spLocks noGrp="1"/>
          </p:cNvSpPr>
          <p:nvPr>
            <p:ph type="body" sz="quarter" idx="37"/>
          </p:nvPr>
        </p:nvSpPr>
        <p:spPr>
          <a:xfrm>
            <a:off x="745043" y="2737878"/>
            <a:ext cx="3084261" cy="525913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전부서 직무 단위로 선발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직무역량 중심의 면접 평가 개편</a:t>
            </a:r>
          </a:p>
        </p:txBody>
      </p:sp>
      <p:sp>
        <p:nvSpPr>
          <p:cNvPr id="51" name="카드 요약"/>
          <p:cNvSpPr/>
          <p:nvPr/>
        </p:nvSpPr>
        <p:spPr>
          <a:xfrm>
            <a:off x="723130" y="3296661"/>
            <a:ext cx="3128087" cy="252000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52" name="카드 요약"/>
          <p:cNvSpPr>
            <a:spLocks noGrp="1"/>
          </p:cNvSpPr>
          <p:nvPr>
            <p:ph type="body" sz="quarter" idx="38"/>
          </p:nvPr>
        </p:nvSpPr>
        <p:spPr>
          <a:xfrm>
            <a:off x="723130" y="3296661"/>
            <a:ext cx="3128087" cy="25200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114개 직무, 621명 채용(’24년 대비 7.4%↑)</a:t>
            </a:r>
          </a:p>
        </p:txBody>
      </p:sp>
      <p:sp>
        <p:nvSpPr>
          <p:cNvPr id="53" name="카드 틀"/>
          <p:cNvSpPr/>
          <p:nvPr/>
        </p:nvSpPr>
        <p:spPr>
          <a:xfrm>
            <a:off x="3895043" y="2507791"/>
            <a:ext cx="3128087" cy="1040870"/>
          </a:xfrm>
          <a:prstGeom prst="rect">
            <a:avLst/>
          </a:prstGeom>
          <a:solidFill>
            <a:srgbClr val="FFFFFF"/>
          </a:solidFill>
          <a:ln w="12700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4" name="탭"/>
          <p:cNvSpPr/>
          <p:nvPr/>
        </p:nvSpPr>
        <p:spPr>
          <a:xfrm>
            <a:off x="3895043" y="2507791"/>
            <a:ext cx="416348" cy="208174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55" name="탭"/>
          <p:cNvSpPr>
            <a:spLocks noGrp="1"/>
          </p:cNvSpPr>
          <p:nvPr>
            <p:ph type="body" sz="quarter" idx="39"/>
          </p:nvPr>
        </p:nvSpPr>
        <p:spPr>
          <a:xfrm>
            <a:off x="3895043" y="2507791"/>
            <a:ext cx="416348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육성</a:t>
            </a:r>
          </a:p>
        </p:txBody>
      </p:sp>
      <p:sp>
        <p:nvSpPr>
          <p:cNvPr id="56" name="카드 제목"/>
          <p:cNvSpPr>
            <a:spLocks noGrp="1"/>
          </p:cNvSpPr>
          <p:nvPr>
            <p:ph type="body" sz="quarter" idx="40"/>
          </p:nvPr>
        </p:nvSpPr>
        <p:spPr>
          <a:xfrm>
            <a:off x="4344261" y="2507791"/>
            <a:ext cx="2646000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빠르게 사원으로</a:t>
            </a:r>
          </a:p>
        </p:txBody>
      </p:sp>
      <p:sp>
        <p:nvSpPr>
          <p:cNvPr id="57" name="카드 본문"/>
          <p:cNvSpPr>
            <a:spLocks noGrp="1"/>
          </p:cNvSpPr>
          <p:nvPr>
            <p:ph type="body" sz="quarter" idx="41"/>
          </p:nvPr>
        </p:nvSpPr>
        <p:spPr>
          <a:xfrm>
            <a:off x="3916957" y="2737878"/>
            <a:ext cx="3084261" cy="525913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신입사원 수준의 인턴 교육커리큘럼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1단계 조직적응 · 2단계 직무역량 · 3단계 취업역량</a:t>
            </a:r>
          </a:p>
        </p:txBody>
      </p:sp>
      <p:sp>
        <p:nvSpPr>
          <p:cNvPr id="58" name="카드 요약"/>
          <p:cNvSpPr/>
          <p:nvPr/>
        </p:nvSpPr>
        <p:spPr>
          <a:xfrm>
            <a:off x="3895043" y="3296661"/>
            <a:ext cx="3128087" cy="252000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59" name="카드 요약"/>
          <p:cNvSpPr>
            <a:spLocks noGrp="1"/>
          </p:cNvSpPr>
          <p:nvPr>
            <p:ph type="body" sz="quarter" idx="42"/>
          </p:nvPr>
        </p:nvSpPr>
        <p:spPr>
          <a:xfrm>
            <a:off x="3895043" y="3296661"/>
            <a:ext cx="3128087" cy="25200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인턴 만족도 96.6점(’24년 대비 1.7점↑)</a:t>
            </a:r>
          </a:p>
        </p:txBody>
      </p:sp>
      <p:sp>
        <p:nvSpPr>
          <p:cNvPr id="60" name="카드 틀"/>
          <p:cNvSpPr/>
          <p:nvPr/>
        </p:nvSpPr>
        <p:spPr>
          <a:xfrm>
            <a:off x="723130" y="3581530"/>
            <a:ext cx="3128087" cy="1040870"/>
          </a:xfrm>
          <a:prstGeom prst="rect">
            <a:avLst/>
          </a:prstGeom>
          <a:solidFill>
            <a:srgbClr val="FFFFFF"/>
          </a:solidFill>
          <a:ln w="12700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1" name="탭"/>
          <p:cNvSpPr/>
          <p:nvPr/>
        </p:nvSpPr>
        <p:spPr>
          <a:xfrm>
            <a:off x="723130" y="3581530"/>
            <a:ext cx="416348" cy="208174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62" name="탭"/>
          <p:cNvSpPr>
            <a:spLocks noGrp="1"/>
          </p:cNvSpPr>
          <p:nvPr>
            <p:ph type="body" sz="quarter" idx="43"/>
          </p:nvPr>
        </p:nvSpPr>
        <p:spPr>
          <a:xfrm>
            <a:off x="723130" y="3581530"/>
            <a:ext cx="416348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실무</a:t>
            </a:r>
          </a:p>
        </p:txBody>
      </p:sp>
      <p:sp>
        <p:nvSpPr>
          <p:cNvPr id="63" name="카드 제목"/>
          <p:cNvSpPr>
            <a:spLocks noGrp="1"/>
          </p:cNvSpPr>
          <p:nvPr>
            <p:ph type="body" sz="quarter" idx="44"/>
          </p:nvPr>
        </p:nvSpPr>
        <p:spPr>
          <a:xfrm>
            <a:off x="1172348" y="3581530"/>
            <a:ext cx="2646000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과감히 현업 투입</a:t>
            </a:r>
          </a:p>
        </p:txBody>
      </p:sp>
      <p:sp>
        <p:nvSpPr>
          <p:cNvPr id="64" name="카드 본문"/>
          <p:cNvSpPr>
            <a:spLocks noGrp="1"/>
          </p:cNvSpPr>
          <p:nvPr>
            <p:ph type="body" sz="quarter" idx="45"/>
          </p:nvPr>
        </p:nvSpPr>
        <p:spPr>
          <a:xfrm>
            <a:off x="745043" y="3811617"/>
            <a:ext cx="3084261" cy="525913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정규직 직무와 연계한 업무 부여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임원 참여 직무성과 발표회 개최로 성과 확산</a:t>
            </a:r>
          </a:p>
        </p:txBody>
      </p:sp>
      <p:sp>
        <p:nvSpPr>
          <p:cNvPr id="65" name="카드 요약"/>
          <p:cNvSpPr/>
          <p:nvPr/>
        </p:nvSpPr>
        <p:spPr>
          <a:xfrm>
            <a:off x="723130" y="4370400"/>
            <a:ext cx="3128087" cy="252000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66" name="카드 요약"/>
          <p:cNvSpPr>
            <a:spLocks noGrp="1"/>
          </p:cNvSpPr>
          <p:nvPr>
            <p:ph type="body" sz="quarter" idx="46"/>
          </p:nvPr>
        </p:nvSpPr>
        <p:spPr>
          <a:xfrm>
            <a:off x="723130" y="4370400"/>
            <a:ext cx="3128087" cy="25200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청년인턴이 혁신챌린지 최초 입상</a:t>
            </a:r>
          </a:p>
        </p:txBody>
      </p:sp>
      <p:sp>
        <p:nvSpPr>
          <p:cNvPr id="67" name="카드 틀"/>
          <p:cNvSpPr/>
          <p:nvPr/>
        </p:nvSpPr>
        <p:spPr>
          <a:xfrm>
            <a:off x="3895043" y="3581530"/>
            <a:ext cx="3128087" cy="1040870"/>
          </a:xfrm>
          <a:prstGeom prst="rect">
            <a:avLst/>
          </a:prstGeom>
          <a:solidFill>
            <a:srgbClr val="FFFFFF"/>
          </a:solidFill>
          <a:ln w="12700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8" name="탭"/>
          <p:cNvSpPr/>
          <p:nvPr/>
        </p:nvSpPr>
        <p:spPr>
          <a:xfrm>
            <a:off x="3895043" y="3581530"/>
            <a:ext cx="416348" cy="208174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69" name="탭"/>
          <p:cNvSpPr>
            <a:spLocks noGrp="1"/>
          </p:cNvSpPr>
          <p:nvPr>
            <p:ph type="body" sz="quarter" idx="47"/>
          </p:nvPr>
        </p:nvSpPr>
        <p:spPr>
          <a:xfrm>
            <a:off x="3895043" y="3581530"/>
            <a:ext cx="416348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평가</a:t>
            </a:r>
          </a:p>
        </p:txBody>
      </p:sp>
      <p:sp>
        <p:nvSpPr>
          <p:cNvPr id="70" name="카드 제목"/>
          <p:cNvSpPr>
            <a:spLocks noGrp="1"/>
          </p:cNvSpPr>
          <p:nvPr>
            <p:ph type="body" sz="quarter" idx="48"/>
          </p:nvPr>
        </p:nvSpPr>
        <p:spPr>
          <a:xfrm>
            <a:off x="4344261" y="3581530"/>
            <a:ext cx="2646000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우수 인재를 엄정하게 선별</a:t>
            </a:r>
          </a:p>
        </p:txBody>
      </p:sp>
      <p:sp>
        <p:nvSpPr>
          <p:cNvPr id="71" name="카드 본문"/>
          <p:cNvSpPr>
            <a:spLocks noGrp="1"/>
          </p:cNvSpPr>
          <p:nvPr>
            <p:ph type="body" sz="quarter" idx="49"/>
          </p:nvPr>
        </p:nvSpPr>
        <p:spPr>
          <a:xfrm>
            <a:off x="3916957" y="3811617"/>
            <a:ext cx="3084261" cy="525913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평가체계 정교화로 우수인턴 변별력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가점 중심 평가 → 확대 감점제 도입</a:t>
            </a:r>
          </a:p>
        </p:txBody>
      </p:sp>
      <p:sp>
        <p:nvSpPr>
          <p:cNvPr id="72" name="카드 요약"/>
          <p:cNvSpPr/>
          <p:nvPr/>
        </p:nvSpPr>
        <p:spPr>
          <a:xfrm>
            <a:off x="3895043" y="4370400"/>
            <a:ext cx="3128087" cy="252000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73" name="카드 요약"/>
          <p:cNvSpPr>
            <a:spLocks noGrp="1"/>
          </p:cNvSpPr>
          <p:nvPr>
            <p:ph type="body" sz="quarter" idx="50"/>
          </p:nvPr>
        </p:nvSpPr>
        <p:spPr>
          <a:xfrm>
            <a:off x="3895043" y="4370400"/>
            <a:ext cx="3128087" cy="25200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최상위 우수인턴 19.7%(’24년 대비 5.5%p↓)</a:t>
            </a:r>
          </a:p>
        </p:txBody>
      </p:sp>
      <p:sp>
        <p:nvSpPr>
          <p:cNvPr id="74" name="배너"/>
          <p:cNvSpPr/>
          <p:nvPr/>
        </p:nvSpPr>
        <p:spPr>
          <a:xfrm>
            <a:off x="723130" y="4742922"/>
            <a:ext cx="6300000" cy="328696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cxnSp>
        <p:nvCxnSpPr>
          <p:cNvPr id="75" name="Connector 51"/>
          <p:cNvCxnSpPr/>
          <p:nvPr/>
        </p:nvCxnSpPr>
        <p:spPr>
          <a:xfrm>
            <a:off x="723130" y="4742922"/>
            <a:ext cx="6300000" cy="0"/>
          </a:xfrm>
          <a:prstGeom prst="line">
            <a:avLst/>
          </a:prstGeom>
          <a:ln w="12700">
            <a:solidFill>
              <a:srgbClr val="BDE0FF"/>
            </a:solidFill>
          </a:ln>
        </p:spPr>
      </p:cxnSp>
      <p:sp>
        <p:nvSpPr>
          <p:cNvPr id="76" name="배너 글"/>
          <p:cNvSpPr>
            <a:spLocks noGrp="1"/>
          </p:cNvSpPr>
          <p:nvPr>
            <p:ph type="body" sz="quarter" idx="51"/>
          </p:nvPr>
        </p:nvSpPr>
        <p:spPr>
          <a:xfrm>
            <a:off x="723130" y="4797704"/>
            <a:ext cx="6300000" cy="19721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‘함께 일하고 싶은 동료’라는 조직인식 확산 ➡ 전체 부서 78%(117개) 인턴 수요 발생</a:t>
            </a:r>
          </a:p>
        </p:txBody>
      </p:sp>
      <p:sp>
        <p:nvSpPr>
          <p:cNvPr id="77" name="표 외곽"/>
          <p:cNvSpPr/>
          <p:nvPr/>
        </p:nvSpPr>
        <p:spPr>
          <a:xfrm>
            <a:off x="723130" y="5115443"/>
            <a:ext cx="6300000" cy="1501043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8" name="레일"/>
          <p:cNvSpPr/>
          <p:nvPr/>
        </p:nvSpPr>
        <p:spPr>
          <a:xfrm>
            <a:off x="734087" y="5131878"/>
            <a:ext cx="580696" cy="83269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9" name="레일 태그"/>
          <p:cNvSpPr/>
          <p:nvPr/>
        </p:nvSpPr>
        <p:spPr>
          <a:xfrm>
            <a:off x="730001" y="5175704"/>
            <a:ext cx="588868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80" name="레일 태그"/>
          <p:cNvSpPr>
            <a:spLocks noGrp="1"/>
          </p:cNvSpPr>
          <p:nvPr>
            <p:ph type="body" sz="quarter" idx="52"/>
          </p:nvPr>
        </p:nvSpPr>
        <p:spPr>
          <a:xfrm>
            <a:off x="730001" y="5175704"/>
            <a:ext cx="588868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수료 단계</a:t>
            </a:r>
          </a:p>
        </p:txBody>
      </p:sp>
      <p:sp>
        <p:nvSpPr>
          <p:cNvPr id="81" name="레일 라벨"/>
          <p:cNvSpPr>
            <a:spLocks noGrp="1"/>
          </p:cNvSpPr>
          <p:nvPr>
            <p:ph type="body" sz="quarter" idx="53"/>
          </p:nvPr>
        </p:nvSpPr>
        <p:spPr>
          <a:xfrm>
            <a:off x="734087" y="5361965"/>
            <a:ext cx="580696" cy="580696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네트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워킹</a:t>
            </a:r>
          </a:p>
        </p:txBody>
      </p:sp>
      <p:sp>
        <p:nvSpPr>
          <p:cNvPr id="82" name="머리칸"/>
          <p:cNvSpPr/>
          <p:nvPr/>
        </p:nvSpPr>
        <p:spPr>
          <a:xfrm>
            <a:off x="1347652" y="5153791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83" name="머리칸"/>
          <p:cNvSpPr>
            <a:spLocks noGrp="1"/>
          </p:cNvSpPr>
          <p:nvPr>
            <p:ph type="body" sz="quarter" idx="54"/>
          </p:nvPr>
        </p:nvSpPr>
        <p:spPr>
          <a:xfrm>
            <a:off x="1347652" y="5153791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인재 Pool 구축</a:t>
            </a:r>
          </a:p>
        </p:txBody>
      </p:sp>
      <p:sp>
        <p:nvSpPr>
          <p:cNvPr id="84" name="머리칸"/>
          <p:cNvSpPr/>
          <p:nvPr/>
        </p:nvSpPr>
        <p:spPr>
          <a:xfrm>
            <a:off x="4171696" y="5153791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85" name="머리칸"/>
          <p:cNvSpPr>
            <a:spLocks noGrp="1"/>
          </p:cNvSpPr>
          <p:nvPr>
            <p:ph type="body" sz="quarter" idx="55"/>
          </p:nvPr>
        </p:nvSpPr>
        <p:spPr>
          <a:xfrm>
            <a:off x="4171696" y="5153791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관계 유지 기반 마련</a:t>
            </a:r>
          </a:p>
        </p:txBody>
      </p:sp>
      <p:sp>
        <p:nvSpPr>
          <p:cNvPr id="86" name="칸 본문"/>
          <p:cNvSpPr>
            <a:spLocks noGrp="1"/>
          </p:cNvSpPr>
          <p:nvPr>
            <p:ph type="body" sz="quarter" idx="56"/>
          </p:nvPr>
        </p:nvSpPr>
        <p:spPr>
          <a:xfrm>
            <a:off x="1358609" y="5394835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주기적 취업 현황 모니터링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정규직 입사 지원 이력 관리</a:t>
            </a:r>
          </a:p>
        </p:txBody>
      </p:sp>
      <p:sp>
        <p:nvSpPr>
          <p:cNvPr id="87" name="칸 본문"/>
          <p:cNvSpPr>
            <a:spLocks noGrp="1"/>
          </p:cNvSpPr>
          <p:nvPr>
            <p:ph type="body" sz="quarter" idx="57"/>
          </p:nvPr>
        </p:nvSpPr>
        <p:spPr>
          <a:xfrm>
            <a:off x="4182652" y="5394835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청년인턴 전용 플랫폼 신설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현직자와의 실시간 Q&amp;A</a:t>
            </a:r>
          </a:p>
        </p:txBody>
      </p:sp>
      <p:cxnSp>
        <p:nvCxnSpPr>
          <p:cNvPr id="88" name="Connector 61"/>
          <p:cNvCxnSpPr/>
          <p:nvPr/>
        </p:nvCxnSpPr>
        <p:spPr>
          <a:xfrm>
            <a:off x="4171696" y="5427704"/>
            <a:ext cx="0" cy="284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9" name="칸 본문"/>
          <p:cNvSpPr>
            <a:spLocks noGrp="1"/>
          </p:cNvSpPr>
          <p:nvPr>
            <p:ph type="body" sz="quarter" idx="58"/>
          </p:nvPr>
        </p:nvSpPr>
        <p:spPr>
          <a:xfrm>
            <a:off x="1358609" y="5761878"/>
            <a:ext cx="2802130" cy="19721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수료 인턴 中 74%(404명) ’25년 입사 지원</a:t>
            </a:r>
          </a:p>
        </p:txBody>
      </p:sp>
      <p:sp>
        <p:nvSpPr>
          <p:cNvPr id="90" name="칸 본문"/>
          <p:cNvSpPr>
            <a:spLocks noGrp="1"/>
          </p:cNvSpPr>
          <p:nvPr>
            <p:ph type="body" sz="quarter" idx="59"/>
          </p:nvPr>
        </p:nvSpPr>
        <p:spPr>
          <a:xfrm>
            <a:off x="4182652" y="5761878"/>
            <a:ext cx="2802130" cy="19721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회원수 490명</a:t>
            </a:r>
          </a:p>
        </p:txBody>
      </p:sp>
      <p:cxnSp>
        <p:nvCxnSpPr>
          <p:cNvPr id="91" name="Connector 64"/>
          <p:cNvCxnSpPr/>
          <p:nvPr/>
        </p:nvCxnSpPr>
        <p:spPr>
          <a:xfrm>
            <a:off x="4171696" y="5794748"/>
            <a:ext cx="0" cy="13147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92" name="레일"/>
          <p:cNvSpPr/>
          <p:nvPr/>
        </p:nvSpPr>
        <p:spPr>
          <a:xfrm>
            <a:off x="734087" y="5981009"/>
            <a:ext cx="580696" cy="61904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93" name="레일"/>
          <p:cNvSpPr>
            <a:spLocks noGrp="1"/>
          </p:cNvSpPr>
          <p:nvPr>
            <p:ph type="body" sz="quarter" idx="60"/>
          </p:nvPr>
        </p:nvSpPr>
        <p:spPr>
          <a:xfrm>
            <a:off x="734087" y="5981009"/>
            <a:ext cx="580696" cy="61904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취업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연계</a:t>
            </a:r>
          </a:p>
        </p:txBody>
      </p:sp>
      <p:sp>
        <p:nvSpPr>
          <p:cNvPr id="94" name="레일 삼각형"/>
          <p:cNvSpPr/>
          <p:nvPr/>
        </p:nvSpPr>
        <p:spPr>
          <a:xfrm>
            <a:off x="734086" y="5981008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95" name="머리칸"/>
          <p:cNvSpPr/>
          <p:nvPr/>
        </p:nvSpPr>
        <p:spPr>
          <a:xfrm>
            <a:off x="1347652" y="6002922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96" name="머리칸"/>
          <p:cNvSpPr>
            <a:spLocks noGrp="1"/>
          </p:cNvSpPr>
          <p:nvPr>
            <p:ph type="body" sz="quarter" idx="61"/>
          </p:nvPr>
        </p:nvSpPr>
        <p:spPr>
          <a:xfrm>
            <a:off x="1347652" y="6002922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취업역량 강화</a:t>
            </a:r>
          </a:p>
        </p:txBody>
      </p:sp>
      <p:sp>
        <p:nvSpPr>
          <p:cNvPr id="97" name="머리칸"/>
          <p:cNvSpPr/>
          <p:nvPr/>
        </p:nvSpPr>
        <p:spPr>
          <a:xfrm>
            <a:off x="4171696" y="6002922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98" name="머리칸"/>
          <p:cNvSpPr>
            <a:spLocks noGrp="1"/>
          </p:cNvSpPr>
          <p:nvPr>
            <p:ph type="body" sz="quarter" idx="62"/>
          </p:nvPr>
        </p:nvSpPr>
        <p:spPr>
          <a:xfrm>
            <a:off x="4171696" y="6002922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취업서비스 지원</a:t>
            </a:r>
          </a:p>
        </p:txBody>
      </p:sp>
      <p:sp>
        <p:nvSpPr>
          <p:cNvPr id="99" name="칸 본문"/>
          <p:cNvSpPr>
            <a:spLocks noGrp="1"/>
          </p:cNvSpPr>
          <p:nvPr>
            <p:ph type="body" sz="quarter" idx="63"/>
          </p:nvPr>
        </p:nvSpPr>
        <p:spPr>
          <a:xfrm>
            <a:off x="1358609" y="6243965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취업멘토링 day 개최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정규직 채용과정 참관, 모의면접 제공</a:t>
            </a:r>
          </a:p>
        </p:txBody>
      </p:sp>
      <p:sp>
        <p:nvSpPr>
          <p:cNvPr id="100" name="칸 본문"/>
          <p:cNvSpPr>
            <a:spLocks noGrp="1"/>
          </p:cNvSpPr>
          <p:nvPr>
            <p:ph type="body" sz="quarter" idx="64"/>
          </p:nvPr>
        </p:nvSpPr>
        <p:spPr>
          <a:xfrm>
            <a:off x="4182652" y="6243965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수료증 상시 발급 시스템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면접 결과 기반 역량리포트 제공</a:t>
            </a:r>
          </a:p>
        </p:txBody>
      </p:sp>
      <p:cxnSp>
        <p:nvCxnSpPr>
          <p:cNvPr id="101" name="Connector 71"/>
          <p:cNvCxnSpPr/>
          <p:nvPr/>
        </p:nvCxnSpPr>
        <p:spPr>
          <a:xfrm>
            <a:off x="4171696" y="6276835"/>
            <a:ext cx="0" cy="284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02" name="틀"/>
          <p:cNvSpPr/>
          <p:nvPr/>
        </p:nvSpPr>
        <p:spPr>
          <a:xfrm>
            <a:off x="723130" y="6682226"/>
            <a:ext cx="6300000" cy="1051826"/>
          </a:xfrm>
          <a:prstGeom prst="rect">
            <a:avLst/>
          </a:prstGeom>
          <a:solidFill>
            <a:srgbClr val="FFFFFF"/>
          </a:solidFill>
          <a:ln w="12700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3" name="성과 라벨"/>
          <p:cNvSpPr/>
          <p:nvPr/>
        </p:nvSpPr>
        <p:spPr>
          <a:xfrm>
            <a:off x="734087" y="6693183"/>
            <a:ext cx="580696" cy="1029913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104" name="성과 라벨"/>
          <p:cNvSpPr>
            <a:spLocks noGrp="1"/>
          </p:cNvSpPr>
          <p:nvPr>
            <p:ph type="body" sz="quarter" idx="65"/>
          </p:nvPr>
        </p:nvSpPr>
        <p:spPr>
          <a:xfrm>
            <a:off x="734087" y="6693183"/>
            <a:ext cx="580696" cy="10299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성과</a:t>
            </a:r>
          </a:p>
        </p:txBody>
      </p:sp>
      <p:sp>
        <p:nvSpPr>
          <p:cNvPr id="105" name="성과 띠"/>
          <p:cNvSpPr/>
          <p:nvPr/>
        </p:nvSpPr>
        <p:spPr>
          <a:xfrm>
            <a:off x="1358609" y="6715096"/>
            <a:ext cx="5631652" cy="20817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106" name="성과 띠"/>
          <p:cNvSpPr>
            <a:spLocks noGrp="1"/>
          </p:cNvSpPr>
          <p:nvPr>
            <p:ph type="body" sz="quarter" idx="66"/>
          </p:nvPr>
        </p:nvSpPr>
        <p:spPr>
          <a:xfrm>
            <a:off x="1358609" y="6715096"/>
            <a:ext cx="5631652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인턴 출신 정규직 채용 비율 역대 최대 15.7%</a:t>
            </a:r>
          </a:p>
        </p:txBody>
      </p:sp>
      <p:sp>
        <p:nvSpPr>
          <p:cNvPr id="107" name="카드"/>
          <p:cNvSpPr/>
          <p:nvPr/>
        </p:nvSpPr>
        <p:spPr>
          <a:xfrm>
            <a:off x="1358609" y="6956139"/>
            <a:ext cx="5631652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8" name="카드 문구"/>
          <p:cNvSpPr>
            <a:spLocks noGrp="1"/>
          </p:cNvSpPr>
          <p:nvPr>
            <p:ph type="body" sz="quarter" idx="67"/>
          </p:nvPr>
        </p:nvSpPr>
        <p:spPr>
          <a:xfrm>
            <a:off x="1380522" y="6967096"/>
            <a:ext cx="2568647" cy="72313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인턴출신 정규직 채용 비율</a:t>
            </a:r>
          </a:p>
        </p:txBody>
      </p:sp>
      <p:sp>
        <p:nvSpPr>
          <p:cNvPr id="109" name="막대"/>
          <p:cNvSpPr/>
          <p:nvPr/>
        </p:nvSpPr>
        <p:spPr>
          <a:xfrm>
            <a:off x="4003951" y="7471096"/>
            <a:ext cx="164348" cy="76696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0" name="값"/>
          <p:cNvSpPr>
            <a:spLocks noGrp="1"/>
          </p:cNvSpPr>
          <p:nvPr>
            <p:ph type="body" sz="quarter" idx="68"/>
          </p:nvPr>
        </p:nvSpPr>
        <p:spPr>
          <a:xfrm>
            <a:off x="3916299" y="7295791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5.3%</a:t>
            </a:r>
          </a:p>
        </p:txBody>
      </p:sp>
      <p:sp>
        <p:nvSpPr>
          <p:cNvPr id="111" name="연도"/>
          <p:cNvSpPr>
            <a:spLocks noGrp="1"/>
          </p:cNvSpPr>
          <p:nvPr>
            <p:ph type="body" sz="quarter" idx="69"/>
          </p:nvPr>
        </p:nvSpPr>
        <p:spPr>
          <a:xfrm>
            <a:off x="3916299" y="7558748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’23년</a:t>
            </a:r>
          </a:p>
        </p:txBody>
      </p:sp>
      <p:sp>
        <p:nvSpPr>
          <p:cNvPr id="112" name="막대"/>
          <p:cNvSpPr/>
          <p:nvPr/>
        </p:nvSpPr>
        <p:spPr>
          <a:xfrm>
            <a:off x="4981127" y="7394400"/>
            <a:ext cx="164348" cy="153391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3" name="값"/>
          <p:cNvSpPr>
            <a:spLocks noGrp="1"/>
          </p:cNvSpPr>
          <p:nvPr>
            <p:ph type="body" sz="quarter" idx="70"/>
          </p:nvPr>
        </p:nvSpPr>
        <p:spPr>
          <a:xfrm>
            <a:off x="4893475" y="7219096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11%</a:t>
            </a:r>
          </a:p>
        </p:txBody>
      </p:sp>
      <p:sp>
        <p:nvSpPr>
          <p:cNvPr id="114" name="연도"/>
          <p:cNvSpPr>
            <a:spLocks noGrp="1"/>
          </p:cNvSpPr>
          <p:nvPr>
            <p:ph type="body" sz="quarter" idx="71"/>
          </p:nvPr>
        </p:nvSpPr>
        <p:spPr>
          <a:xfrm>
            <a:off x="4893475" y="7558748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’24년</a:t>
            </a:r>
          </a:p>
        </p:txBody>
      </p:sp>
      <p:sp>
        <p:nvSpPr>
          <p:cNvPr id="115" name="막대"/>
          <p:cNvSpPr/>
          <p:nvPr/>
        </p:nvSpPr>
        <p:spPr>
          <a:xfrm>
            <a:off x="5958303" y="7328661"/>
            <a:ext cx="164348" cy="219130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6" name="값"/>
          <p:cNvSpPr>
            <a:spLocks noGrp="1"/>
          </p:cNvSpPr>
          <p:nvPr>
            <p:ph type="body" sz="quarter" idx="72"/>
          </p:nvPr>
        </p:nvSpPr>
        <p:spPr>
          <a:xfrm>
            <a:off x="5870650" y="7153357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15.7%</a:t>
            </a:r>
          </a:p>
        </p:txBody>
      </p:sp>
      <p:sp>
        <p:nvSpPr>
          <p:cNvPr id="117" name="연도"/>
          <p:cNvSpPr>
            <a:spLocks noGrp="1"/>
          </p:cNvSpPr>
          <p:nvPr>
            <p:ph type="body" sz="quarter" idx="73"/>
          </p:nvPr>
        </p:nvSpPr>
        <p:spPr>
          <a:xfrm>
            <a:off x="5870650" y="7558748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’25년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49 서사 · 현황진단 → 의견수렴 → 진단형·코칭형 피드백 → 추진성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결과 공개를 넘어, 다음을 준비할 수 있는 채용 피드백 제공</a:t>
            </a:r>
          </a:p>
        </p:txBody>
      </p:sp>
      <p:sp>
        <p:nvSpPr>
          <p:cNvPr id="15" name="번호 띠 칩"/>
          <p:cNvSpPr/>
          <p:nvPr/>
        </p:nvSpPr>
        <p:spPr>
          <a:xfrm>
            <a:off x="6241922" y="832696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번호 띠 칩"/>
          <p:cNvSpPr>
            <a:spLocks noGrp="1"/>
          </p:cNvSpPr>
          <p:nvPr>
            <p:ph type="body" sz="quarter" idx="22"/>
          </p:nvPr>
        </p:nvSpPr>
        <p:spPr>
          <a:xfrm>
            <a:off x="6241922" y="832696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7" name="표 외곽"/>
          <p:cNvSpPr/>
          <p:nvPr/>
        </p:nvSpPr>
        <p:spPr>
          <a:xfrm>
            <a:off x="536870" y="1117565"/>
            <a:ext cx="6300000" cy="276120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레일"/>
          <p:cNvSpPr/>
          <p:nvPr/>
        </p:nvSpPr>
        <p:spPr>
          <a:xfrm>
            <a:off x="547826" y="1134000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레일"/>
          <p:cNvSpPr>
            <a:spLocks noGrp="1"/>
          </p:cNvSpPr>
          <p:nvPr>
            <p:ph type="body" sz="quarter" idx="23"/>
          </p:nvPr>
        </p:nvSpPr>
        <p:spPr>
          <a:xfrm>
            <a:off x="547826" y="1134000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 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진 단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4"/>
          </p:nvPr>
        </p:nvSpPr>
        <p:spPr>
          <a:xfrm>
            <a:off x="1172348" y="1155913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그간의 노력 필기 백분율 및 직군별 탈락 피드백 제공 등 투명성 제고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5"/>
          </p:nvPr>
        </p:nvSpPr>
        <p:spPr>
          <a:xfrm>
            <a:off x="3996391" y="1155913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여전한 고민 향후 취업 준비를 어떻게 해야 하는지에 대한 실질적 도움은 부족</a:t>
            </a:r>
          </a:p>
        </p:txBody>
      </p:sp>
      <p:cxnSp>
        <p:nvCxnSpPr>
          <p:cNvPr id="22" name="Connector 16"/>
          <p:cNvCxnSpPr/>
          <p:nvPr/>
        </p:nvCxnSpPr>
        <p:spPr>
          <a:xfrm>
            <a:off x="3985435" y="1188783"/>
            <a:ext cx="0" cy="284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3" name="레일"/>
          <p:cNvSpPr/>
          <p:nvPr/>
        </p:nvSpPr>
        <p:spPr>
          <a:xfrm>
            <a:off x="547826" y="1558643"/>
            <a:ext cx="580696" cy="61904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4" name="레일"/>
          <p:cNvSpPr>
            <a:spLocks noGrp="1"/>
          </p:cNvSpPr>
          <p:nvPr>
            <p:ph type="body" sz="quarter" idx="26"/>
          </p:nvPr>
        </p:nvSpPr>
        <p:spPr>
          <a:xfrm>
            <a:off x="547826" y="1558643"/>
            <a:ext cx="580696" cy="61904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의 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 렴</a:t>
            </a:r>
          </a:p>
        </p:txBody>
      </p:sp>
      <p:sp>
        <p:nvSpPr>
          <p:cNvPr id="25" name="레일 삼각형"/>
          <p:cNvSpPr/>
          <p:nvPr/>
        </p:nvSpPr>
        <p:spPr>
          <a:xfrm>
            <a:off x="547826" y="1558643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6" name="머리칸"/>
          <p:cNvSpPr/>
          <p:nvPr/>
        </p:nvSpPr>
        <p:spPr>
          <a:xfrm>
            <a:off x="1161391" y="1580557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7" name="머리칸"/>
          <p:cNvSpPr>
            <a:spLocks noGrp="1"/>
          </p:cNvSpPr>
          <p:nvPr>
            <p:ph type="body" sz="quarter" idx="27"/>
          </p:nvPr>
        </p:nvSpPr>
        <p:spPr>
          <a:xfrm>
            <a:off x="1161391" y="1580557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채용 응시자</a:t>
            </a:r>
          </a:p>
        </p:txBody>
      </p:sp>
      <p:sp>
        <p:nvSpPr>
          <p:cNvPr id="28" name="머리칸"/>
          <p:cNvSpPr/>
          <p:nvPr/>
        </p:nvSpPr>
        <p:spPr>
          <a:xfrm>
            <a:off x="3044087" y="1580557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9" name="머리칸"/>
          <p:cNvSpPr>
            <a:spLocks noGrp="1"/>
          </p:cNvSpPr>
          <p:nvPr>
            <p:ph type="body" sz="quarter" idx="28"/>
          </p:nvPr>
        </p:nvSpPr>
        <p:spPr>
          <a:xfrm>
            <a:off x="3044087" y="1580557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청년자문단</a:t>
            </a:r>
          </a:p>
        </p:txBody>
      </p:sp>
      <p:sp>
        <p:nvSpPr>
          <p:cNvPr id="30" name="머리칸"/>
          <p:cNvSpPr/>
          <p:nvPr/>
        </p:nvSpPr>
        <p:spPr>
          <a:xfrm>
            <a:off x="4926783" y="1580557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1" name="머리칸"/>
          <p:cNvSpPr>
            <a:spLocks noGrp="1"/>
          </p:cNvSpPr>
          <p:nvPr>
            <p:ph type="body" sz="quarter" idx="29"/>
          </p:nvPr>
        </p:nvSpPr>
        <p:spPr>
          <a:xfrm>
            <a:off x="4926783" y="1580557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면접위원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0"/>
          </p:nvPr>
        </p:nvSpPr>
        <p:spPr>
          <a:xfrm>
            <a:off x="1172348" y="1821600"/>
            <a:ext cx="1860783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“제 수준이 어느 정도인지 알 수 있다면 도움 될 것 같아요”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1"/>
          </p:nvPr>
        </p:nvSpPr>
        <p:spPr>
          <a:xfrm>
            <a:off x="3055043" y="1821600"/>
            <a:ext cx="1860783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“부족한 역량이 어떤 것인지 알려주면 좋을 것 같아요”</a:t>
            </a:r>
          </a:p>
        </p:txBody>
      </p:sp>
      <p:cxnSp>
        <p:nvCxnSpPr>
          <p:cNvPr id="34" name="Connector 24"/>
          <p:cNvCxnSpPr/>
          <p:nvPr/>
        </p:nvCxnSpPr>
        <p:spPr>
          <a:xfrm>
            <a:off x="3044087" y="1854470"/>
            <a:ext cx="0" cy="284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5" name="칸 본문"/>
          <p:cNvSpPr>
            <a:spLocks noGrp="1"/>
          </p:cNvSpPr>
          <p:nvPr>
            <p:ph type="body" sz="quarter" idx="32"/>
          </p:nvPr>
        </p:nvSpPr>
        <p:spPr>
          <a:xfrm>
            <a:off x="4937739" y="1821600"/>
            <a:ext cx="1860783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“면접이 선발 중심으로 운영되어 성장을 지원하는 데 한계 존재”</a:t>
            </a:r>
          </a:p>
        </p:txBody>
      </p:sp>
      <p:cxnSp>
        <p:nvCxnSpPr>
          <p:cNvPr id="36" name="Connector 26"/>
          <p:cNvCxnSpPr/>
          <p:nvPr/>
        </p:nvCxnSpPr>
        <p:spPr>
          <a:xfrm>
            <a:off x="4926783" y="1854470"/>
            <a:ext cx="0" cy="284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7" name="레일"/>
          <p:cNvSpPr/>
          <p:nvPr/>
        </p:nvSpPr>
        <p:spPr>
          <a:xfrm>
            <a:off x="547826" y="2194122"/>
            <a:ext cx="580696" cy="794348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8" name="레일 태그"/>
          <p:cNvSpPr/>
          <p:nvPr/>
        </p:nvSpPr>
        <p:spPr>
          <a:xfrm>
            <a:off x="613260" y="2237948"/>
            <a:ext cx="449828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9" name="레일 태그"/>
          <p:cNvSpPr>
            <a:spLocks noGrp="1"/>
          </p:cNvSpPr>
          <p:nvPr>
            <p:ph type="body" sz="quarter" idx="33"/>
          </p:nvPr>
        </p:nvSpPr>
        <p:spPr>
          <a:xfrm>
            <a:off x="613260" y="2237948"/>
            <a:ext cx="449828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일반직</a:t>
            </a:r>
          </a:p>
        </p:txBody>
      </p:sp>
      <p:sp>
        <p:nvSpPr>
          <p:cNvPr id="40" name="레일 라벨"/>
          <p:cNvSpPr>
            <a:spLocks noGrp="1"/>
          </p:cNvSpPr>
          <p:nvPr>
            <p:ph type="body" sz="quarter" idx="34"/>
          </p:nvPr>
        </p:nvSpPr>
        <p:spPr>
          <a:xfrm>
            <a:off x="547826" y="2424209"/>
            <a:ext cx="580696" cy="542348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진단형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피드백</a:t>
            </a:r>
          </a:p>
        </p:txBody>
      </p:sp>
      <p:sp>
        <p:nvSpPr>
          <p:cNvPr id="41" name="머리칸"/>
          <p:cNvSpPr/>
          <p:nvPr/>
        </p:nvSpPr>
        <p:spPr>
          <a:xfrm>
            <a:off x="1161391" y="2216035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2" name="머리칸"/>
          <p:cNvSpPr>
            <a:spLocks noGrp="1"/>
          </p:cNvSpPr>
          <p:nvPr>
            <p:ph type="body" sz="quarter" idx="35"/>
          </p:nvPr>
        </p:nvSpPr>
        <p:spPr>
          <a:xfrm>
            <a:off x="1161391" y="2216035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필기전형 결과 보고서 제공</a:t>
            </a:r>
          </a:p>
        </p:txBody>
      </p:sp>
      <p:sp>
        <p:nvSpPr>
          <p:cNvPr id="43" name="머리칸"/>
          <p:cNvSpPr/>
          <p:nvPr/>
        </p:nvSpPr>
        <p:spPr>
          <a:xfrm>
            <a:off x="3985435" y="2216035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4" name="머리칸"/>
          <p:cNvSpPr>
            <a:spLocks noGrp="1"/>
          </p:cNvSpPr>
          <p:nvPr>
            <p:ph type="body" sz="quarter" idx="36"/>
          </p:nvPr>
        </p:nvSpPr>
        <p:spPr>
          <a:xfrm>
            <a:off x="3985435" y="2216035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면접 역량별 맞춤 솔루션 제공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37"/>
          </p:nvPr>
        </p:nvSpPr>
        <p:spPr>
          <a:xfrm>
            <a:off x="1172348" y="2457078"/>
            <a:ext cx="2802130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점수, 전체 커트라인 수치 중심 정보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과목별 커트라인, 합격자 평균 등 영역별 강·약점 제공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38"/>
          </p:nvPr>
        </p:nvSpPr>
        <p:spPr>
          <a:xfrm>
            <a:off x="3996391" y="2457078"/>
            <a:ext cx="2802130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소프트스킬 위주 의견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분야별(직무·역량) 피드백 제공, 직무수행 관련 보완점 중심 의견</a:t>
            </a:r>
          </a:p>
        </p:txBody>
      </p:sp>
      <p:cxnSp>
        <p:nvCxnSpPr>
          <p:cNvPr id="47" name="Connector 34"/>
          <p:cNvCxnSpPr/>
          <p:nvPr/>
        </p:nvCxnSpPr>
        <p:spPr>
          <a:xfrm>
            <a:off x="3985435" y="2489948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8" name="레일"/>
          <p:cNvSpPr/>
          <p:nvPr/>
        </p:nvSpPr>
        <p:spPr>
          <a:xfrm>
            <a:off x="547826" y="3004904"/>
            <a:ext cx="580696" cy="857426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9" name="레일 태그"/>
          <p:cNvSpPr/>
          <p:nvPr/>
        </p:nvSpPr>
        <p:spPr>
          <a:xfrm>
            <a:off x="668144" y="3169252"/>
            <a:ext cx="340059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50" name="레일 태그"/>
          <p:cNvSpPr>
            <a:spLocks noGrp="1"/>
          </p:cNvSpPr>
          <p:nvPr>
            <p:ph type="body" sz="quarter" idx="39"/>
          </p:nvPr>
        </p:nvSpPr>
        <p:spPr>
          <a:xfrm>
            <a:off x="668144" y="3169252"/>
            <a:ext cx="340059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고졸</a:t>
            </a:r>
          </a:p>
        </p:txBody>
      </p:sp>
      <p:sp>
        <p:nvSpPr>
          <p:cNvPr id="51" name="레일 라벨"/>
          <p:cNvSpPr>
            <a:spLocks noGrp="1"/>
          </p:cNvSpPr>
          <p:nvPr>
            <p:ph type="body" sz="quarter" idx="40"/>
          </p:nvPr>
        </p:nvSpPr>
        <p:spPr>
          <a:xfrm>
            <a:off x="547826" y="3355513"/>
            <a:ext cx="580696" cy="484904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코칭형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피드백</a:t>
            </a:r>
          </a:p>
        </p:txBody>
      </p:sp>
      <p:sp>
        <p:nvSpPr>
          <p:cNvPr id="52" name="레일 삼각형"/>
          <p:cNvSpPr/>
          <p:nvPr/>
        </p:nvSpPr>
        <p:spPr>
          <a:xfrm>
            <a:off x="547826" y="3004904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3" name="배너"/>
          <p:cNvSpPr/>
          <p:nvPr/>
        </p:nvSpPr>
        <p:spPr>
          <a:xfrm>
            <a:off x="1161391" y="3026817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54" name="배너"/>
          <p:cNvSpPr>
            <a:spLocks noGrp="1"/>
          </p:cNvSpPr>
          <p:nvPr>
            <p:ph type="body" sz="quarter" idx="41"/>
          </p:nvPr>
        </p:nvSpPr>
        <p:spPr>
          <a:xfrm>
            <a:off x="1161391" y="3026817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구직 경험이 적은 고졸 전형 지원자 대상으로 코칭형 피드백 시범 도입</a:t>
            </a:r>
          </a:p>
        </p:txBody>
      </p:sp>
      <p:sp>
        <p:nvSpPr>
          <p:cNvPr id="55" name="단계"/>
          <p:cNvSpPr/>
          <p:nvPr/>
        </p:nvSpPr>
        <p:spPr>
          <a:xfrm>
            <a:off x="1161391" y="3262383"/>
            <a:ext cx="282404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6" name="단계"/>
          <p:cNvSpPr>
            <a:spLocks noGrp="1"/>
          </p:cNvSpPr>
          <p:nvPr>
            <p:ph type="body" sz="quarter" idx="42"/>
          </p:nvPr>
        </p:nvSpPr>
        <p:spPr>
          <a:xfrm>
            <a:off x="1161391" y="3262383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획일적 피드백</a:t>
            </a:r>
          </a:p>
        </p:txBody>
      </p:sp>
      <p:sp>
        <p:nvSpPr>
          <p:cNvPr id="57" name="단계"/>
          <p:cNvSpPr/>
          <p:nvPr/>
        </p:nvSpPr>
        <p:spPr>
          <a:xfrm>
            <a:off x="3985435" y="3262383"/>
            <a:ext cx="2824043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8" name="단계"/>
          <p:cNvSpPr>
            <a:spLocks noGrp="1"/>
          </p:cNvSpPr>
          <p:nvPr>
            <p:ph type="body" sz="quarter" idx="43"/>
          </p:nvPr>
        </p:nvSpPr>
        <p:spPr>
          <a:xfrm>
            <a:off x="3985435" y="3262383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피드백 전문위원 운영</a:t>
            </a:r>
          </a:p>
        </p:txBody>
      </p:sp>
      <p:sp>
        <p:nvSpPr>
          <p:cNvPr id="59" name="단계 삼각형"/>
          <p:cNvSpPr/>
          <p:nvPr/>
        </p:nvSpPr>
        <p:spPr>
          <a:xfrm>
            <a:off x="3985434" y="3262382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0" name="칸 본문"/>
          <p:cNvSpPr>
            <a:spLocks noGrp="1"/>
          </p:cNvSpPr>
          <p:nvPr>
            <p:ph type="body" sz="quarter" idx="44"/>
          </p:nvPr>
        </p:nvSpPr>
        <p:spPr>
          <a:xfrm>
            <a:off x="1172348" y="3514383"/>
            <a:ext cx="2802130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고졸 지원자 특성상 면접·직무 경험이 다소 제한적</a:t>
            </a:r>
          </a:p>
        </p:txBody>
      </p:sp>
      <p:sp>
        <p:nvSpPr>
          <p:cNvPr id="61" name="칸 본문"/>
          <p:cNvSpPr>
            <a:spLocks noGrp="1"/>
          </p:cNvSpPr>
          <p:nvPr>
            <p:ph type="body" sz="quarter" idx="45"/>
          </p:nvPr>
        </p:nvSpPr>
        <p:spPr>
          <a:xfrm>
            <a:off x="3996391" y="3514383"/>
            <a:ext cx="2802130" cy="3424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평가와 코칭을 분리, 개선 방향 중심 피드백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면접 관련 VOC Zero(’24년 7건)</a:t>
            </a:r>
          </a:p>
        </p:txBody>
      </p:sp>
      <p:cxnSp>
        <p:nvCxnSpPr>
          <p:cNvPr id="62" name="Connector 45"/>
          <p:cNvCxnSpPr/>
          <p:nvPr/>
        </p:nvCxnSpPr>
        <p:spPr>
          <a:xfrm>
            <a:off x="3985435" y="3547252"/>
            <a:ext cx="0" cy="2767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3" name="핵심성과 박스"/>
          <p:cNvSpPr/>
          <p:nvPr/>
        </p:nvSpPr>
        <p:spPr>
          <a:xfrm>
            <a:off x="536870" y="3966417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4" name="핵심성과 라벨"/>
          <p:cNvSpPr/>
          <p:nvPr/>
        </p:nvSpPr>
        <p:spPr>
          <a:xfrm>
            <a:off x="569739" y="4004765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65" name="핵심성과 라벨"/>
          <p:cNvSpPr>
            <a:spLocks noGrp="1"/>
          </p:cNvSpPr>
          <p:nvPr>
            <p:ph type="body" sz="quarter" idx="46"/>
          </p:nvPr>
        </p:nvSpPr>
        <p:spPr>
          <a:xfrm>
            <a:off x="569739" y="4004765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66" name="핵심성과 문구"/>
          <p:cNvSpPr>
            <a:spLocks noGrp="1"/>
          </p:cNvSpPr>
          <p:nvPr>
            <p:ph type="body" sz="quarter" idx="47"/>
          </p:nvPr>
        </p:nvSpPr>
        <p:spPr>
          <a:xfrm>
            <a:off x="1314783" y="3982852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지원자 체감 채용 만족도 86점 달성(’24년 대비 1.1점↑)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50 서사 · 직원 니즈 → 추진실적 → 추진성과(행별 대응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5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고용 형태를 허물고 함께 성장하는 원팀으로 도약</a:t>
            </a:r>
          </a:p>
        </p:txBody>
      </p:sp>
      <p:sp>
        <p:nvSpPr>
          <p:cNvPr id="14" name="번호 띠 칩"/>
          <p:cNvSpPr/>
          <p:nvPr/>
        </p:nvSpPr>
        <p:spPr>
          <a:xfrm>
            <a:off x="6428183" y="843652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번호 띠 칩"/>
          <p:cNvSpPr>
            <a:spLocks noGrp="1"/>
          </p:cNvSpPr>
          <p:nvPr>
            <p:ph type="body" sz="quarter" idx="22"/>
          </p:nvPr>
        </p:nvSpPr>
        <p:spPr>
          <a:xfrm>
            <a:off x="6428183" y="843652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단계"/>
          <p:cNvSpPr/>
          <p:nvPr/>
        </p:nvSpPr>
        <p:spPr>
          <a:xfrm>
            <a:off x="1358609" y="1150435"/>
            <a:ext cx="1576863" cy="241043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7" name="단계"/>
          <p:cNvSpPr>
            <a:spLocks noGrp="1"/>
          </p:cNvSpPr>
          <p:nvPr>
            <p:ph type="body" sz="quarter" idx="23"/>
          </p:nvPr>
        </p:nvSpPr>
        <p:spPr>
          <a:xfrm>
            <a:off x="1358609" y="1150435"/>
            <a:ext cx="1576863" cy="24104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직원 니즈</a:t>
            </a:r>
          </a:p>
        </p:txBody>
      </p:sp>
      <p:sp>
        <p:nvSpPr>
          <p:cNvPr id="18" name="단계"/>
          <p:cNvSpPr/>
          <p:nvPr/>
        </p:nvSpPr>
        <p:spPr>
          <a:xfrm>
            <a:off x="2935471" y="1150435"/>
            <a:ext cx="2421610" cy="241043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9" name="단계"/>
          <p:cNvSpPr>
            <a:spLocks noGrp="1"/>
          </p:cNvSpPr>
          <p:nvPr>
            <p:ph type="body" sz="quarter" idx="24"/>
          </p:nvPr>
        </p:nvSpPr>
        <p:spPr>
          <a:xfrm>
            <a:off x="2935471" y="1150435"/>
            <a:ext cx="2421610" cy="24104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추진실적</a:t>
            </a:r>
          </a:p>
        </p:txBody>
      </p:sp>
      <p:sp>
        <p:nvSpPr>
          <p:cNvPr id="20" name="단계"/>
          <p:cNvSpPr/>
          <p:nvPr/>
        </p:nvSpPr>
        <p:spPr>
          <a:xfrm>
            <a:off x="5357082" y="1150435"/>
            <a:ext cx="1633179" cy="241043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1" name="단계"/>
          <p:cNvSpPr>
            <a:spLocks noGrp="1"/>
          </p:cNvSpPr>
          <p:nvPr>
            <p:ph type="body" sz="quarter" idx="25"/>
          </p:nvPr>
        </p:nvSpPr>
        <p:spPr>
          <a:xfrm>
            <a:off x="5357082" y="1150435"/>
            <a:ext cx="1633179" cy="24104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22" name="단계 삼각형"/>
          <p:cNvSpPr/>
          <p:nvPr/>
        </p:nvSpPr>
        <p:spPr>
          <a:xfrm>
            <a:off x="2935471" y="1150434"/>
            <a:ext cx="109565" cy="241044"/>
          </a:xfrm>
          <a:custGeom>
            <a:avLst/>
            <a:gdLst/>
            <a:ahLst/>
            <a:cxnLst/>
            <a:rect l="l" t="t" r="r" b="b"/>
            <a:pathLst>
              <a:path w="109565" h="241044">
                <a:moveTo>
                  <a:pt x="0" y="0"/>
                </a:moveTo>
                <a:lnTo>
                  <a:pt x="109565" y="120522"/>
                </a:lnTo>
                <a:lnTo>
                  <a:pt x="0" y="241044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3" name="단계 삼각형"/>
          <p:cNvSpPr/>
          <p:nvPr/>
        </p:nvSpPr>
        <p:spPr>
          <a:xfrm>
            <a:off x="5357081" y="1150434"/>
            <a:ext cx="109565" cy="241044"/>
          </a:xfrm>
          <a:custGeom>
            <a:avLst/>
            <a:gdLst/>
            <a:ahLst/>
            <a:cxnLst/>
            <a:rect l="l" t="t" r="r" b="b"/>
            <a:pathLst>
              <a:path w="109565" h="241044">
                <a:moveTo>
                  <a:pt x="0" y="0"/>
                </a:moveTo>
                <a:lnTo>
                  <a:pt x="109565" y="120522"/>
                </a:lnTo>
                <a:lnTo>
                  <a:pt x="0" y="241044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4" name="행 틀"/>
          <p:cNvSpPr/>
          <p:nvPr/>
        </p:nvSpPr>
        <p:spPr>
          <a:xfrm>
            <a:off x="723130" y="1413391"/>
            <a:ext cx="6300000" cy="712174"/>
          </a:xfrm>
          <a:prstGeom prst="rect">
            <a:avLst/>
          </a:prstGeom>
          <a:solidFill>
            <a:srgbClr val="FFFF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5" name="레일"/>
          <p:cNvSpPr/>
          <p:nvPr/>
        </p:nvSpPr>
        <p:spPr>
          <a:xfrm>
            <a:off x="734087" y="1424348"/>
            <a:ext cx="580696" cy="690261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6" name="레일"/>
          <p:cNvSpPr>
            <a:spLocks noGrp="1"/>
          </p:cNvSpPr>
          <p:nvPr>
            <p:ph type="body" sz="quarter" idx="26"/>
          </p:nvPr>
        </p:nvSpPr>
        <p:spPr>
          <a:xfrm>
            <a:off x="734087" y="1424348"/>
            <a:ext cx="580696" cy="690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고 졸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운영직</a:t>
            </a:r>
          </a:p>
        </p:txBody>
      </p:sp>
      <p:sp>
        <p:nvSpPr>
          <p:cNvPr id="27" name="니즈"/>
          <p:cNvSpPr>
            <a:spLocks noGrp="1"/>
          </p:cNvSpPr>
          <p:nvPr>
            <p:ph type="body" sz="quarter" idx="27"/>
          </p:nvPr>
        </p:nvSpPr>
        <p:spPr>
          <a:xfrm>
            <a:off x="1358609" y="1413391"/>
            <a:ext cx="1554950" cy="712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 전문성 확보를 위한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경력개발 지원이 필요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(운영직 TF)</a:t>
            </a:r>
          </a:p>
        </p:txBody>
      </p:sp>
      <p:sp>
        <p:nvSpPr>
          <p:cNvPr id="28" name="실적 머리"/>
          <p:cNvSpPr>
            <a:spLocks noGrp="1"/>
          </p:cNvSpPr>
          <p:nvPr>
            <p:ph type="body" sz="quarter" idx="28"/>
          </p:nvPr>
        </p:nvSpPr>
        <p:spPr>
          <a:xfrm>
            <a:off x="2935471" y="1424348"/>
            <a:ext cx="2399697" cy="208174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 전문성·경력개발 동시 지원</a:t>
            </a:r>
          </a:p>
        </p:txBody>
      </p:sp>
      <p:sp>
        <p:nvSpPr>
          <p:cNvPr id="29" name="태그"/>
          <p:cNvSpPr/>
          <p:nvPr/>
        </p:nvSpPr>
        <p:spPr>
          <a:xfrm>
            <a:off x="2979297" y="1676348"/>
            <a:ext cx="329103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0" name="태그"/>
          <p:cNvSpPr>
            <a:spLocks noGrp="1"/>
          </p:cNvSpPr>
          <p:nvPr>
            <p:ph type="body" sz="quarter" idx="29"/>
          </p:nvPr>
        </p:nvSpPr>
        <p:spPr>
          <a:xfrm>
            <a:off x="2979297" y="1676348"/>
            <a:ext cx="329103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</a:t>
            </a:r>
          </a:p>
        </p:txBody>
      </p:sp>
      <p:sp>
        <p:nvSpPr>
          <p:cNvPr id="31" name="칩 줄 글"/>
          <p:cNvSpPr>
            <a:spLocks noGrp="1"/>
          </p:cNvSpPr>
          <p:nvPr>
            <p:ph type="body" sz="quarter" idx="30"/>
          </p:nvPr>
        </p:nvSpPr>
        <p:spPr>
          <a:xfrm>
            <a:off x="3341269" y="1654435"/>
            <a:ext cx="1993899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K-Pro 전문가 과정, 직무세분화</a:t>
            </a:r>
          </a:p>
        </p:txBody>
      </p:sp>
      <p:sp>
        <p:nvSpPr>
          <p:cNvPr id="32" name="태그"/>
          <p:cNvSpPr/>
          <p:nvPr/>
        </p:nvSpPr>
        <p:spPr>
          <a:xfrm>
            <a:off x="2979297" y="1906435"/>
            <a:ext cx="329103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3" name="태그"/>
          <p:cNvSpPr>
            <a:spLocks noGrp="1"/>
          </p:cNvSpPr>
          <p:nvPr>
            <p:ph type="body" sz="quarter" idx="31"/>
          </p:nvPr>
        </p:nvSpPr>
        <p:spPr>
          <a:xfrm>
            <a:off x="2979297" y="1906435"/>
            <a:ext cx="329103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학위</a:t>
            </a:r>
          </a:p>
        </p:txBody>
      </p:sp>
      <p:sp>
        <p:nvSpPr>
          <p:cNvPr id="34" name="칩 줄 글"/>
          <p:cNvSpPr>
            <a:spLocks noGrp="1"/>
          </p:cNvSpPr>
          <p:nvPr>
            <p:ph type="body" sz="quarter" idx="32"/>
          </p:nvPr>
        </p:nvSpPr>
        <p:spPr>
          <a:xfrm>
            <a:off x="3341269" y="1884522"/>
            <a:ext cx="1993899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커리큘럼 개편, 장학금·교육키트 제공</a:t>
            </a:r>
          </a:p>
        </p:txBody>
      </p:sp>
      <p:sp>
        <p:nvSpPr>
          <p:cNvPr id="35" name="성과 머리"/>
          <p:cNvSpPr/>
          <p:nvPr/>
        </p:nvSpPr>
        <p:spPr>
          <a:xfrm>
            <a:off x="5378995" y="1446261"/>
            <a:ext cx="158935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36" name="성과 머리"/>
          <p:cNvSpPr>
            <a:spLocks noGrp="1"/>
          </p:cNvSpPr>
          <p:nvPr>
            <p:ph type="body" sz="quarter" idx="33"/>
          </p:nvPr>
        </p:nvSpPr>
        <p:spPr>
          <a:xfrm>
            <a:off x="5378995" y="1446261"/>
            <a:ext cx="158935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고졸운영직 학위취득(누계)</a:t>
            </a:r>
          </a:p>
        </p:txBody>
      </p:sp>
      <p:sp>
        <p:nvSpPr>
          <p:cNvPr id="37" name="성과 글"/>
          <p:cNvSpPr>
            <a:spLocks noGrp="1"/>
          </p:cNvSpPr>
          <p:nvPr>
            <p:ph type="body" sz="quarter" idx="34"/>
          </p:nvPr>
        </p:nvSpPr>
        <p:spPr>
          <a:xfrm>
            <a:off x="5378995" y="1687304"/>
            <a:ext cx="1589353" cy="41634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69명 → ’25년 94명</a:t>
            </a:r>
          </a:p>
        </p:txBody>
      </p:sp>
      <p:cxnSp>
        <p:nvCxnSpPr>
          <p:cNvPr id="38" name="Connector 24"/>
          <p:cNvCxnSpPr/>
          <p:nvPr/>
        </p:nvCxnSpPr>
        <p:spPr>
          <a:xfrm>
            <a:off x="2924515" y="1446261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cxnSp>
        <p:nvCxnSpPr>
          <p:cNvPr id="39" name="Connector 25"/>
          <p:cNvCxnSpPr/>
          <p:nvPr/>
        </p:nvCxnSpPr>
        <p:spPr>
          <a:xfrm>
            <a:off x="5346125" y="1446261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0" name="행 틀"/>
          <p:cNvSpPr/>
          <p:nvPr/>
        </p:nvSpPr>
        <p:spPr>
          <a:xfrm>
            <a:off x="723130" y="2147478"/>
            <a:ext cx="6300000" cy="712174"/>
          </a:xfrm>
          <a:prstGeom prst="rect">
            <a:avLst/>
          </a:prstGeom>
          <a:solidFill>
            <a:srgbClr val="FFFF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1" name="레일"/>
          <p:cNvSpPr/>
          <p:nvPr/>
        </p:nvSpPr>
        <p:spPr>
          <a:xfrm>
            <a:off x="734087" y="2158435"/>
            <a:ext cx="580696" cy="690261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2" name="레일"/>
          <p:cNvSpPr>
            <a:spLocks noGrp="1"/>
          </p:cNvSpPr>
          <p:nvPr>
            <p:ph type="body" sz="quarter" idx="35"/>
          </p:nvPr>
        </p:nvSpPr>
        <p:spPr>
          <a:xfrm>
            <a:off x="734087" y="2158435"/>
            <a:ext cx="580696" cy="690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무기계약</a:t>
            </a:r>
          </a:p>
        </p:txBody>
      </p:sp>
      <p:sp>
        <p:nvSpPr>
          <p:cNvPr id="43" name="니즈"/>
          <p:cNvSpPr>
            <a:spLocks noGrp="1"/>
          </p:cNvSpPr>
          <p:nvPr>
            <p:ph type="body" sz="quarter" idx="36"/>
          </p:nvPr>
        </p:nvSpPr>
        <p:spPr>
          <a:xfrm>
            <a:off x="1358609" y="2147478"/>
            <a:ext cx="1554950" cy="712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같은 직무를 오래 수행해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역할확장이 필요해 보여요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(인사담당자 간담회)</a:t>
            </a:r>
          </a:p>
        </p:txBody>
      </p:sp>
      <p:sp>
        <p:nvSpPr>
          <p:cNvPr id="44" name="실적 머리"/>
          <p:cNvSpPr>
            <a:spLocks noGrp="1"/>
          </p:cNvSpPr>
          <p:nvPr>
            <p:ph type="body" sz="quarter" idx="37"/>
          </p:nvPr>
        </p:nvSpPr>
        <p:spPr>
          <a:xfrm>
            <a:off x="2935471" y="2158435"/>
            <a:ext cx="2399697" cy="208174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 전환 활성화·조직융합 교육 신설</a:t>
            </a:r>
          </a:p>
        </p:txBody>
      </p:sp>
      <p:sp>
        <p:nvSpPr>
          <p:cNvPr id="45" name="태그"/>
          <p:cNvSpPr/>
          <p:nvPr/>
        </p:nvSpPr>
        <p:spPr>
          <a:xfrm>
            <a:off x="2979297" y="2410435"/>
            <a:ext cx="329103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6" name="태그"/>
          <p:cNvSpPr>
            <a:spLocks noGrp="1"/>
          </p:cNvSpPr>
          <p:nvPr>
            <p:ph type="body" sz="quarter" idx="38"/>
          </p:nvPr>
        </p:nvSpPr>
        <p:spPr>
          <a:xfrm>
            <a:off x="2979297" y="2410435"/>
            <a:ext cx="329103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전보</a:t>
            </a:r>
          </a:p>
        </p:txBody>
      </p:sp>
      <p:sp>
        <p:nvSpPr>
          <p:cNvPr id="47" name="칩 줄 글"/>
          <p:cNvSpPr>
            <a:spLocks noGrp="1"/>
          </p:cNvSpPr>
          <p:nvPr>
            <p:ph type="body" sz="quarter" idx="39"/>
          </p:nvPr>
        </p:nvSpPr>
        <p:spPr>
          <a:xfrm>
            <a:off x="3341269" y="2388522"/>
            <a:ext cx="1993899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이동 규모 확대(9명 → 11명)</a:t>
            </a:r>
          </a:p>
        </p:txBody>
      </p:sp>
      <p:sp>
        <p:nvSpPr>
          <p:cNvPr id="48" name="태그"/>
          <p:cNvSpPr/>
          <p:nvPr/>
        </p:nvSpPr>
        <p:spPr>
          <a:xfrm>
            <a:off x="2979297" y="2640522"/>
            <a:ext cx="329103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9" name="태그"/>
          <p:cNvSpPr>
            <a:spLocks noGrp="1"/>
          </p:cNvSpPr>
          <p:nvPr>
            <p:ph type="body" sz="quarter" idx="40"/>
          </p:nvPr>
        </p:nvSpPr>
        <p:spPr>
          <a:xfrm>
            <a:off x="2979297" y="2640522"/>
            <a:ext cx="329103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교육</a:t>
            </a:r>
          </a:p>
        </p:txBody>
      </p:sp>
      <p:sp>
        <p:nvSpPr>
          <p:cNvPr id="50" name="칩 줄 글"/>
          <p:cNvSpPr>
            <a:spLocks noGrp="1"/>
          </p:cNvSpPr>
          <p:nvPr>
            <p:ph type="body" sz="quarter" idx="41"/>
          </p:nvPr>
        </p:nvSpPr>
        <p:spPr>
          <a:xfrm>
            <a:off x="3341269" y="2618609"/>
            <a:ext cx="1993899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참여자 종합 만족도 9.74점</a:t>
            </a:r>
          </a:p>
        </p:txBody>
      </p:sp>
      <p:sp>
        <p:nvSpPr>
          <p:cNvPr id="51" name="성과 머리"/>
          <p:cNvSpPr/>
          <p:nvPr/>
        </p:nvSpPr>
        <p:spPr>
          <a:xfrm>
            <a:off x="5378995" y="2180348"/>
            <a:ext cx="158935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52" name="성과 머리"/>
          <p:cNvSpPr>
            <a:spLocks noGrp="1"/>
          </p:cNvSpPr>
          <p:nvPr>
            <p:ph type="body" sz="quarter" idx="42"/>
          </p:nvPr>
        </p:nvSpPr>
        <p:spPr>
          <a:xfrm>
            <a:off x="5378995" y="2180348"/>
            <a:ext cx="158935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공사 최초 무기계약직</a:t>
            </a:r>
          </a:p>
        </p:txBody>
      </p:sp>
      <p:sp>
        <p:nvSpPr>
          <p:cNvPr id="53" name="성과 글"/>
          <p:cNvSpPr>
            <a:spLocks noGrp="1"/>
          </p:cNvSpPr>
          <p:nvPr>
            <p:ph type="body" sz="quarter" idx="43"/>
          </p:nvPr>
        </p:nvSpPr>
        <p:spPr>
          <a:xfrm>
            <a:off x="5378995" y="2421391"/>
            <a:ext cx="1589353" cy="41634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사내벤처 팀장 선정</a:t>
            </a:r>
          </a:p>
        </p:txBody>
      </p:sp>
      <p:cxnSp>
        <p:nvCxnSpPr>
          <p:cNvPr id="54" name="Connector 36"/>
          <p:cNvCxnSpPr/>
          <p:nvPr/>
        </p:nvCxnSpPr>
        <p:spPr>
          <a:xfrm>
            <a:off x="2924515" y="2180348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cxnSp>
        <p:nvCxnSpPr>
          <p:cNvPr id="55" name="Connector 37"/>
          <p:cNvCxnSpPr/>
          <p:nvPr/>
        </p:nvCxnSpPr>
        <p:spPr>
          <a:xfrm>
            <a:off x="5346125" y="2180348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6" name="행 틀"/>
          <p:cNvSpPr/>
          <p:nvPr/>
        </p:nvSpPr>
        <p:spPr>
          <a:xfrm>
            <a:off x="723130" y="2881565"/>
            <a:ext cx="6300000" cy="712174"/>
          </a:xfrm>
          <a:prstGeom prst="rect">
            <a:avLst/>
          </a:prstGeom>
          <a:solidFill>
            <a:srgbClr val="FFFF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7" name="레일"/>
          <p:cNvSpPr/>
          <p:nvPr/>
        </p:nvSpPr>
        <p:spPr>
          <a:xfrm>
            <a:off x="734087" y="2892522"/>
            <a:ext cx="580696" cy="690261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8" name="레일"/>
          <p:cNvSpPr>
            <a:spLocks noGrp="1"/>
          </p:cNvSpPr>
          <p:nvPr>
            <p:ph type="body" sz="quarter" idx="44"/>
          </p:nvPr>
        </p:nvSpPr>
        <p:spPr>
          <a:xfrm>
            <a:off x="734087" y="2892522"/>
            <a:ext cx="580696" cy="690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별도직군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(임금피크)</a:t>
            </a:r>
          </a:p>
        </p:txBody>
      </p:sp>
      <p:sp>
        <p:nvSpPr>
          <p:cNvPr id="59" name="니즈"/>
          <p:cNvSpPr>
            <a:spLocks noGrp="1"/>
          </p:cNvSpPr>
          <p:nvPr>
            <p:ph type="body" sz="quarter" idx="45"/>
          </p:nvPr>
        </p:nvSpPr>
        <p:spPr>
          <a:xfrm>
            <a:off x="1358609" y="2881565"/>
            <a:ext cx="1554950" cy="712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퇴직 후 경력관리를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할 수 있으면 좋겠어요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(임금피크 직원 설문조사)</a:t>
            </a:r>
          </a:p>
        </p:txBody>
      </p:sp>
      <p:sp>
        <p:nvSpPr>
          <p:cNvPr id="60" name="실적 머리"/>
          <p:cNvSpPr>
            <a:spLocks noGrp="1"/>
          </p:cNvSpPr>
          <p:nvPr>
            <p:ph type="body" sz="quarter" idx="46"/>
          </p:nvPr>
        </p:nvSpPr>
        <p:spPr>
          <a:xfrm>
            <a:off x="2935471" y="2892522"/>
            <a:ext cx="2399697" cy="208174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맞춤 전문직무·생애경력 지원 확대</a:t>
            </a:r>
          </a:p>
        </p:txBody>
      </p:sp>
      <p:sp>
        <p:nvSpPr>
          <p:cNvPr id="61" name="태그"/>
          <p:cNvSpPr/>
          <p:nvPr/>
        </p:nvSpPr>
        <p:spPr>
          <a:xfrm>
            <a:off x="2979297" y="3144522"/>
            <a:ext cx="329103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62" name="태그"/>
          <p:cNvSpPr>
            <a:spLocks noGrp="1"/>
          </p:cNvSpPr>
          <p:nvPr>
            <p:ph type="body" sz="quarter" idx="47"/>
          </p:nvPr>
        </p:nvSpPr>
        <p:spPr>
          <a:xfrm>
            <a:off x="2979297" y="3144522"/>
            <a:ext cx="329103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</a:t>
            </a:r>
          </a:p>
        </p:txBody>
      </p:sp>
      <p:sp>
        <p:nvSpPr>
          <p:cNvPr id="63" name="칩 줄 글"/>
          <p:cNvSpPr>
            <a:spLocks noGrp="1"/>
          </p:cNvSpPr>
          <p:nvPr>
            <p:ph type="body" sz="quarter" idx="48"/>
          </p:nvPr>
        </p:nvSpPr>
        <p:spPr>
          <a:xfrm>
            <a:off x="3341269" y="3122609"/>
            <a:ext cx="1993899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수요조사 → AI, 대외협력 등 직무 신설</a:t>
            </a:r>
          </a:p>
        </p:txBody>
      </p:sp>
      <p:sp>
        <p:nvSpPr>
          <p:cNvPr id="64" name="태그"/>
          <p:cNvSpPr/>
          <p:nvPr/>
        </p:nvSpPr>
        <p:spPr>
          <a:xfrm>
            <a:off x="2979297" y="3374609"/>
            <a:ext cx="329103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65" name="태그"/>
          <p:cNvSpPr>
            <a:spLocks noGrp="1"/>
          </p:cNvSpPr>
          <p:nvPr>
            <p:ph type="body" sz="quarter" idx="49"/>
          </p:nvPr>
        </p:nvSpPr>
        <p:spPr>
          <a:xfrm>
            <a:off x="2979297" y="3374609"/>
            <a:ext cx="329103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교육</a:t>
            </a:r>
          </a:p>
        </p:txBody>
      </p:sp>
      <p:sp>
        <p:nvSpPr>
          <p:cNvPr id="66" name="칩 줄 글"/>
          <p:cNvSpPr>
            <a:spLocks noGrp="1"/>
          </p:cNvSpPr>
          <p:nvPr>
            <p:ph type="body" sz="quarter" idx="50"/>
          </p:nvPr>
        </p:nvSpPr>
        <p:spPr>
          <a:xfrm>
            <a:off x="3341269" y="3352696"/>
            <a:ext cx="1993899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시니어 디지털·은퇴 설계 등 과정 확대</a:t>
            </a:r>
          </a:p>
        </p:txBody>
      </p:sp>
      <p:sp>
        <p:nvSpPr>
          <p:cNvPr id="67" name="성과 머리"/>
          <p:cNvSpPr/>
          <p:nvPr/>
        </p:nvSpPr>
        <p:spPr>
          <a:xfrm>
            <a:off x="5378995" y="2914435"/>
            <a:ext cx="158935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68" name="성과 머리"/>
          <p:cNvSpPr>
            <a:spLocks noGrp="1"/>
          </p:cNvSpPr>
          <p:nvPr>
            <p:ph type="body" sz="quarter" idx="51"/>
          </p:nvPr>
        </p:nvSpPr>
        <p:spPr>
          <a:xfrm>
            <a:off x="5378995" y="2914435"/>
            <a:ext cx="158935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임금피크 직원 만족도</a:t>
            </a:r>
          </a:p>
        </p:txBody>
      </p:sp>
      <p:sp>
        <p:nvSpPr>
          <p:cNvPr id="69" name="성과 글"/>
          <p:cNvSpPr>
            <a:spLocks noGrp="1"/>
          </p:cNvSpPr>
          <p:nvPr>
            <p:ph type="body" sz="quarter" idx="52"/>
          </p:nvPr>
        </p:nvSpPr>
        <p:spPr>
          <a:xfrm>
            <a:off x="5378995" y="3155478"/>
            <a:ext cx="1589353" cy="41634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97.4점 → ’25년 98.6점</a:t>
            </a:r>
          </a:p>
        </p:txBody>
      </p:sp>
      <p:cxnSp>
        <p:nvCxnSpPr>
          <p:cNvPr id="70" name="Connector 48"/>
          <p:cNvCxnSpPr/>
          <p:nvPr/>
        </p:nvCxnSpPr>
        <p:spPr>
          <a:xfrm>
            <a:off x="2924515" y="2914435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cxnSp>
        <p:nvCxnSpPr>
          <p:cNvPr id="71" name="Connector 49"/>
          <p:cNvCxnSpPr/>
          <p:nvPr/>
        </p:nvCxnSpPr>
        <p:spPr>
          <a:xfrm>
            <a:off x="5346125" y="2914435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2" name="행 틀"/>
          <p:cNvSpPr/>
          <p:nvPr/>
        </p:nvSpPr>
        <p:spPr>
          <a:xfrm>
            <a:off x="723130" y="3615652"/>
            <a:ext cx="6300000" cy="712174"/>
          </a:xfrm>
          <a:prstGeom prst="rect">
            <a:avLst/>
          </a:prstGeom>
          <a:solidFill>
            <a:srgbClr val="FFFF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3" name="레일"/>
          <p:cNvSpPr/>
          <p:nvPr/>
        </p:nvSpPr>
        <p:spPr>
          <a:xfrm>
            <a:off x="734087" y="3626609"/>
            <a:ext cx="580696" cy="690261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4" name="레일"/>
          <p:cNvSpPr>
            <a:spLocks noGrp="1"/>
          </p:cNvSpPr>
          <p:nvPr>
            <p:ph type="body" sz="quarter" idx="53"/>
          </p:nvPr>
        </p:nvSpPr>
        <p:spPr>
          <a:xfrm>
            <a:off x="734087" y="3626609"/>
            <a:ext cx="580696" cy="690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자 회 사</a:t>
            </a:r>
          </a:p>
        </p:txBody>
      </p:sp>
      <p:sp>
        <p:nvSpPr>
          <p:cNvPr id="75" name="니즈"/>
          <p:cNvSpPr>
            <a:spLocks noGrp="1"/>
          </p:cNvSpPr>
          <p:nvPr>
            <p:ph type="body" sz="quarter" idx="54"/>
          </p:nvPr>
        </p:nvSpPr>
        <p:spPr>
          <a:xfrm>
            <a:off x="1358609" y="3615652"/>
            <a:ext cx="1554950" cy="712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안전하고 지속가능하게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일할 수 있는 근무환경 요구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(모·자회사 공동협의회)</a:t>
            </a:r>
          </a:p>
        </p:txBody>
      </p:sp>
      <p:sp>
        <p:nvSpPr>
          <p:cNvPr id="76" name="실적 머리"/>
          <p:cNvSpPr>
            <a:spLocks noGrp="1"/>
          </p:cNvSpPr>
          <p:nvPr>
            <p:ph type="body" sz="quarter" idx="55"/>
          </p:nvPr>
        </p:nvSpPr>
        <p:spPr>
          <a:xfrm>
            <a:off x="2935471" y="3626609"/>
            <a:ext cx="2399697" cy="208174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자회사 처우, 안전수준 동반 강화</a:t>
            </a:r>
          </a:p>
        </p:txBody>
      </p:sp>
      <p:sp>
        <p:nvSpPr>
          <p:cNvPr id="77" name="태그"/>
          <p:cNvSpPr/>
          <p:nvPr/>
        </p:nvSpPr>
        <p:spPr>
          <a:xfrm>
            <a:off x="2979297" y="3878609"/>
            <a:ext cx="329103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78" name="태그"/>
          <p:cNvSpPr>
            <a:spLocks noGrp="1"/>
          </p:cNvSpPr>
          <p:nvPr>
            <p:ph type="body" sz="quarter" idx="56"/>
          </p:nvPr>
        </p:nvSpPr>
        <p:spPr>
          <a:xfrm>
            <a:off x="2979297" y="3878609"/>
            <a:ext cx="329103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처우</a:t>
            </a:r>
          </a:p>
        </p:txBody>
      </p:sp>
      <p:sp>
        <p:nvSpPr>
          <p:cNvPr id="79" name="칩 줄 글"/>
          <p:cNvSpPr>
            <a:spLocks noGrp="1"/>
          </p:cNvSpPr>
          <p:nvPr>
            <p:ph type="body" sz="quarter" idx="57"/>
          </p:nvPr>
        </p:nvSpPr>
        <p:spPr>
          <a:xfrm>
            <a:off x="3341269" y="3856696"/>
            <a:ext cx="1993899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모회사 수준 복지</a:t>
            </a:r>
          </a:p>
        </p:txBody>
      </p:sp>
      <p:sp>
        <p:nvSpPr>
          <p:cNvPr id="80" name="태그"/>
          <p:cNvSpPr/>
          <p:nvPr/>
        </p:nvSpPr>
        <p:spPr>
          <a:xfrm>
            <a:off x="2979297" y="4108696"/>
            <a:ext cx="329103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81" name="태그"/>
          <p:cNvSpPr>
            <a:spLocks noGrp="1"/>
          </p:cNvSpPr>
          <p:nvPr>
            <p:ph type="body" sz="quarter" idx="58"/>
          </p:nvPr>
        </p:nvSpPr>
        <p:spPr>
          <a:xfrm>
            <a:off x="2979297" y="4108696"/>
            <a:ext cx="329103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</a:t>
            </a:r>
          </a:p>
        </p:txBody>
      </p:sp>
      <p:sp>
        <p:nvSpPr>
          <p:cNvPr id="82" name="칩 줄 글"/>
          <p:cNvSpPr>
            <a:spLocks noGrp="1"/>
          </p:cNvSpPr>
          <p:nvPr>
            <p:ph type="body" sz="quarter" idx="59"/>
          </p:nvPr>
        </p:nvSpPr>
        <p:spPr>
          <a:xfrm>
            <a:off x="3341269" y="4086783"/>
            <a:ext cx="1993899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인력증원(10명), 예산 상향(0.9억원)</a:t>
            </a:r>
          </a:p>
        </p:txBody>
      </p:sp>
      <p:sp>
        <p:nvSpPr>
          <p:cNvPr id="83" name="성과 머리"/>
          <p:cNvSpPr/>
          <p:nvPr/>
        </p:nvSpPr>
        <p:spPr>
          <a:xfrm>
            <a:off x="5378995" y="3648522"/>
            <a:ext cx="158935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84" name="성과 머리"/>
          <p:cNvSpPr>
            <a:spLocks noGrp="1"/>
          </p:cNvSpPr>
          <p:nvPr>
            <p:ph type="body" sz="quarter" idx="60"/>
          </p:nvPr>
        </p:nvSpPr>
        <p:spPr>
          <a:xfrm>
            <a:off x="5378995" y="3648522"/>
            <a:ext cx="158935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자회사 운영실태 평가</a:t>
            </a:r>
          </a:p>
        </p:txBody>
      </p:sp>
      <p:sp>
        <p:nvSpPr>
          <p:cNvPr id="85" name="성과 글"/>
          <p:cNvSpPr>
            <a:spLocks noGrp="1"/>
          </p:cNvSpPr>
          <p:nvPr>
            <p:ph type="body" sz="quarter" idx="61"/>
          </p:nvPr>
        </p:nvSpPr>
        <p:spPr>
          <a:xfrm>
            <a:off x="5378995" y="3889565"/>
            <a:ext cx="1589353" cy="41634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최고점수 A등급 달성</a:t>
            </a:r>
          </a:p>
        </p:txBody>
      </p:sp>
      <p:cxnSp>
        <p:nvCxnSpPr>
          <p:cNvPr id="86" name="Connector 60"/>
          <p:cNvCxnSpPr/>
          <p:nvPr/>
        </p:nvCxnSpPr>
        <p:spPr>
          <a:xfrm>
            <a:off x="2924515" y="3648522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cxnSp>
        <p:nvCxnSpPr>
          <p:cNvPr id="87" name="Connector 61"/>
          <p:cNvCxnSpPr/>
          <p:nvPr/>
        </p:nvCxnSpPr>
        <p:spPr>
          <a:xfrm>
            <a:off x="5346125" y="3648522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51 서사 · 환경분석 → 성과환류 → 목표 → 추진방향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데스밸리 극복을 돕는 도전적 지원, 기업 생존율 제고 및 고용 창출 강화</a:t>
            </a:r>
          </a:p>
        </p:txBody>
      </p:sp>
      <p:sp>
        <p:nvSpPr>
          <p:cNvPr id="15" name="표 외곽"/>
          <p:cNvSpPr/>
          <p:nvPr/>
        </p:nvSpPr>
        <p:spPr>
          <a:xfrm>
            <a:off x="536870" y="1117565"/>
            <a:ext cx="6300000" cy="127377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레일"/>
          <p:cNvSpPr/>
          <p:nvPr/>
        </p:nvSpPr>
        <p:spPr>
          <a:xfrm>
            <a:off x="547826" y="1134000"/>
            <a:ext cx="580696" cy="68478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134000"/>
            <a:ext cx="580696" cy="684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분 석</a:t>
            </a:r>
          </a:p>
        </p:txBody>
      </p:sp>
      <p:sp>
        <p:nvSpPr>
          <p:cNvPr id="18" name="머리칸"/>
          <p:cNvSpPr/>
          <p:nvPr/>
        </p:nvSpPr>
        <p:spPr>
          <a:xfrm>
            <a:off x="1161391" y="115591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9" name="머리칸"/>
          <p:cNvSpPr>
            <a:spLocks noGrp="1"/>
          </p:cNvSpPr>
          <p:nvPr>
            <p:ph type="body" sz="quarter" idx="23"/>
          </p:nvPr>
        </p:nvSpPr>
        <p:spPr>
          <a:xfrm>
            <a:off x="1161391" y="115591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대외환경 경기침체 장기화·기술패권 경쟁</a:t>
            </a:r>
          </a:p>
        </p:txBody>
      </p:sp>
      <p:sp>
        <p:nvSpPr>
          <p:cNvPr id="20" name="머리칸"/>
          <p:cNvSpPr/>
          <p:nvPr/>
        </p:nvSpPr>
        <p:spPr>
          <a:xfrm>
            <a:off x="3985435" y="115591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1" name="머리칸"/>
          <p:cNvSpPr>
            <a:spLocks noGrp="1"/>
          </p:cNvSpPr>
          <p:nvPr>
            <p:ph type="body" sz="quarter" idx="24"/>
          </p:nvPr>
        </p:nvSpPr>
        <p:spPr>
          <a:xfrm>
            <a:off x="3985435" y="115591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정부정책 벤처·창업기업 지원 강화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5"/>
          </p:nvPr>
        </p:nvSpPr>
        <p:spPr>
          <a:xfrm>
            <a:off x="1172348" y="1396957"/>
            <a:ext cx="2802130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분쟁·원자재값 폭등 등 변동성 심화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AI·로봇 등 딥테크가 불러온 기술경쟁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6"/>
          </p:nvPr>
        </p:nvSpPr>
        <p:spPr>
          <a:xfrm>
            <a:off x="3996391" y="1396957"/>
            <a:ext cx="2802130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“창업 중심 국가로 대전환 정부 역량 총동원”</a:t>
            </a:r>
          </a:p>
        </p:txBody>
      </p:sp>
      <p:cxnSp>
        <p:nvCxnSpPr>
          <p:cNvPr id="24" name="Connector 17"/>
          <p:cNvCxnSpPr/>
          <p:nvPr/>
        </p:nvCxnSpPr>
        <p:spPr>
          <a:xfrm>
            <a:off x="3985435" y="1429826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5" name="레일"/>
          <p:cNvSpPr/>
          <p:nvPr/>
        </p:nvSpPr>
        <p:spPr>
          <a:xfrm>
            <a:off x="547826" y="1835217"/>
            <a:ext cx="580696" cy="5396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6" name="레일"/>
          <p:cNvSpPr>
            <a:spLocks noGrp="1"/>
          </p:cNvSpPr>
          <p:nvPr>
            <p:ph type="body" sz="quarter" idx="27"/>
          </p:nvPr>
        </p:nvSpPr>
        <p:spPr>
          <a:xfrm>
            <a:off x="547826" y="1835217"/>
            <a:ext cx="580696" cy="5396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 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류</a:t>
            </a:r>
          </a:p>
        </p:txBody>
      </p:sp>
      <p:sp>
        <p:nvSpPr>
          <p:cNvPr id="27" name="레일 삼각형"/>
          <p:cNvSpPr/>
          <p:nvPr/>
        </p:nvSpPr>
        <p:spPr>
          <a:xfrm>
            <a:off x="547826" y="1835217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8"/>
          </p:nvPr>
        </p:nvSpPr>
        <p:spPr>
          <a:xfrm>
            <a:off x="1172348" y="1857130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환류 물산업 기반 일자리 창출 지원 등 민간 일자리 확보 노력 지속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3996391" y="1857130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착안점 기후·환경산업 육성과 민간주도 스케일업 기반의 민관협력 정책 강화</a:t>
            </a:r>
          </a:p>
        </p:txBody>
      </p:sp>
      <p:cxnSp>
        <p:nvCxnSpPr>
          <p:cNvPr id="30" name="Connector 22"/>
          <p:cNvCxnSpPr/>
          <p:nvPr/>
        </p:nvCxnSpPr>
        <p:spPr>
          <a:xfrm>
            <a:off x="3985435" y="1890000"/>
            <a:ext cx="0" cy="284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배너"/>
          <p:cNvSpPr/>
          <p:nvPr/>
        </p:nvSpPr>
        <p:spPr>
          <a:xfrm>
            <a:off x="536870" y="2446122"/>
            <a:ext cx="6300000" cy="328696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cxnSp>
        <p:nvCxnSpPr>
          <p:cNvPr id="32" name="Connector 24"/>
          <p:cNvCxnSpPr/>
          <p:nvPr/>
        </p:nvCxnSpPr>
        <p:spPr>
          <a:xfrm>
            <a:off x="536870" y="2446122"/>
            <a:ext cx="6300000" cy="0"/>
          </a:xfrm>
          <a:prstGeom prst="line">
            <a:avLst/>
          </a:prstGeom>
          <a:ln w="12700">
            <a:solidFill>
              <a:srgbClr val="BDE0FF"/>
            </a:solidFill>
          </a:ln>
        </p:spPr>
      </p:cxnSp>
      <p:sp>
        <p:nvSpPr>
          <p:cNvPr id="33" name="배너 글"/>
          <p:cNvSpPr>
            <a:spLocks noGrp="1"/>
          </p:cNvSpPr>
          <p:nvPr>
            <p:ph type="body" sz="quarter" idx="30"/>
          </p:nvPr>
        </p:nvSpPr>
        <p:spPr>
          <a:xfrm>
            <a:off x="536870" y="2500904"/>
            <a:ext cx="6300000" cy="19721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국가 최대 인프라를 보유한 기후위기 대응 선도 공기업으로 물·기후테크 기업의 제3벤처붐 견인</a:t>
            </a:r>
          </a:p>
        </p:txBody>
      </p:sp>
      <p:sp>
        <p:nvSpPr>
          <p:cNvPr id="34" name="표 외곽"/>
          <p:cNvSpPr/>
          <p:nvPr/>
        </p:nvSpPr>
        <p:spPr>
          <a:xfrm>
            <a:off x="536870" y="2818643"/>
            <a:ext cx="6300000" cy="98749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5" name="레일"/>
          <p:cNvSpPr/>
          <p:nvPr/>
        </p:nvSpPr>
        <p:spPr>
          <a:xfrm>
            <a:off x="547826" y="2835078"/>
            <a:ext cx="580696" cy="2534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6" name="레일"/>
          <p:cNvSpPr>
            <a:spLocks noGrp="1"/>
          </p:cNvSpPr>
          <p:nvPr>
            <p:ph type="body" sz="quarter" idx="31"/>
          </p:nvPr>
        </p:nvSpPr>
        <p:spPr>
          <a:xfrm>
            <a:off x="547826" y="2835078"/>
            <a:ext cx="580696" cy="2534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목 표</a:t>
            </a:r>
          </a:p>
        </p:txBody>
      </p:sp>
      <p:sp>
        <p:nvSpPr>
          <p:cNvPr id="37" name="배너"/>
          <p:cNvSpPr/>
          <p:nvPr/>
        </p:nvSpPr>
        <p:spPr>
          <a:xfrm>
            <a:off x="1161391" y="2856991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8" name="배너"/>
          <p:cNvSpPr>
            <a:spLocks noGrp="1"/>
          </p:cNvSpPr>
          <p:nvPr>
            <p:ph type="body" sz="quarter" idx="32"/>
          </p:nvPr>
        </p:nvSpPr>
        <p:spPr>
          <a:xfrm>
            <a:off x="1161391" y="2856991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아이디어가 혁신으로, 딥테크 기업이 지속 성장하는 창업 숲주기 생태계 실현</a:t>
            </a:r>
          </a:p>
        </p:txBody>
      </p:sp>
      <p:sp>
        <p:nvSpPr>
          <p:cNvPr id="39" name="레일"/>
          <p:cNvSpPr/>
          <p:nvPr/>
        </p:nvSpPr>
        <p:spPr>
          <a:xfrm>
            <a:off x="547826" y="3104922"/>
            <a:ext cx="580696" cy="68478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0" name="레일"/>
          <p:cNvSpPr>
            <a:spLocks noGrp="1"/>
          </p:cNvSpPr>
          <p:nvPr>
            <p:ph type="body" sz="quarter" idx="33"/>
          </p:nvPr>
        </p:nvSpPr>
        <p:spPr>
          <a:xfrm>
            <a:off x="547826" y="3104922"/>
            <a:ext cx="580696" cy="684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 향</a:t>
            </a:r>
          </a:p>
        </p:txBody>
      </p:sp>
      <p:sp>
        <p:nvSpPr>
          <p:cNvPr id="41" name="레일 삼각형"/>
          <p:cNvSpPr/>
          <p:nvPr/>
        </p:nvSpPr>
        <p:spPr>
          <a:xfrm>
            <a:off x="547826" y="3104921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2" name="머리칸"/>
          <p:cNvSpPr/>
          <p:nvPr/>
        </p:nvSpPr>
        <p:spPr>
          <a:xfrm>
            <a:off x="1161391" y="3126835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3" name="머리칸"/>
          <p:cNvSpPr>
            <a:spLocks noGrp="1"/>
          </p:cNvSpPr>
          <p:nvPr>
            <p:ph type="body" sz="quarter" idx="34"/>
          </p:nvPr>
        </p:nvSpPr>
        <p:spPr>
          <a:xfrm>
            <a:off x="1161391" y="3126835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물+기후테크 스타트업 발굴·육성</a:t>
            </a:r>
          </a:p>
        </p:txBody>
      </p:sp>
      <p:sp>
        <p:nvSpPr>
          <p:cNvPr id="44" name="머리칸"/>
          <p:cNvSpPr/>
          <p:nvPr/>
        </p:nvSpPr>
        <p:spPr>
          <a:xfrm>
            <a:off x="3985435" y="3126835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5" name="머리칸"/>
          <p:cNvSpPr>
            <a:spLocks noGrp="1"/>
          </p:cNvSpPr>
          <p:nvPr>
            <p:ph type="body" sz="quarter" idx="35"/>
          </p:nvPr>
        </p:nvSpPr>
        <p:spPr>
          <a:xfrm>
            <a:off x="3985435" y="3126835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투자확대·동반성장 환경 조성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36"/>
          </p:nvPr>
        </p:nvSpPr>
        <p:spPr>
          <a:xfrm>
            <a:off x="1172348" y="3367878"/>
            <a:ext cx="2802130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현장의 목소리에 기반한 사내벤처 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기후테크 기업 양성으로 민간 고용 극대화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37"/>
          </p:nvPr>
        </p:nvSpPr>
        <p:spPr>
          <a:xfrm>
            <a:off x="3996391" y="3367878"/>
            <a:ext cx="2802130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성장→스케일업 단계별 성장사다리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활성화 연계 상생형 일자리 창출</a:t>
            </a:r>
          </a:p>
        </p:txBody>
      </p:sp>
      <p:cxnSp>
        <p:nvCxnSpPr>
          <p:cNvPr id="48" name="Connector 35"/>
          <p:cNvCxnSpPr/>
          <p:nvPr/>
        </p:nvCxnSpPr>
        <p:spPr>
          <a:xfrm>
            <a:off x="3985435" y="3400748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52 서사 · 추진배경 → 시사점 → 추진노력 3단(현 수준 파악 · 제도 개선 · 성과 견인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10" name="분야 박스"/>
          <p:cNvSpPr/>
          <p:nvPr/>
        </p:nvSpPr>
        <p:spPr>
          <a:xfrm>
            <a:off x="952651" y="810783"/>
            <a:ext cx="592466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1" name="분야 박스"/>
          <p:cNvSpPr>
            <a:spLocks noGrp="1"/>
          </p:cNvSpPr>
          <p:nvPr>
            <p:ph type="body" sz="quarter" idx="21"/>
          </p:nvPr>
        </p:nvSpPr>
        <p:spPr>
          <a:xfrm>
            <a:off x="952651" y="810783"/>
            <a:ext cx="59246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사내벤처</a:t>
            </a:r>
          </a:p>
        </p:txBody>
      </p:sp>
      <p:sp>
        <p:nvSpPr>
          <p:cNvPr id="12" name="형광 밑줄"/>
          <p:cNvSpPr/>
          <p:nvPr/>
        </p:nvSpPr>
        <p:spPr>
          <a:xfrm>
            <a:off x="1610856" y="931304"/>
            <a:ext cx="3377780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3" name="소제목"/>
          <p:cNvSpPr>
            <a:spLocks noGrp="1"/>
          </p:cNvSpPr>
          <p:nvPr>
            <p:ph type="body" sz="quarter" idx="22"/>
          </p:nvPr>
        </p:nvSpPr>
        <p:spPr>
          <a:xfrm>
            <a:off x="1610856" y="777913"/>
            <a:ext cx="5412275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‘창업 몰입’ 환경 조성으로 사업화와 성장의 골든타임 확보</a:t>
            </a:r>
          </a:p>
        </p:txBody>
      </p:sp>
      <p:sp>
        <p:nvSpPr>
          <p:cNvPr id="14" name="태그칩"/>
          <p:cNvSpPr/>
          <p:nvPr/>
        </p:nvSpPr>
        <p:spPr>
          <a:xfrm>
            <a:off x="5087244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3"/>
          </p:nvPr>
        </p:nvSpPr>
        <p:spPr>
          <a:xfrm>
            <a:off x="5087244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표 외곽"/>
          <p:cNvSpPr/>
          <p:nvPr/>
        </p:nvSpPr>
        <p:spPr>
          <a:xfrm>
            <a:off x="723130" y="1062783"/>
            <a:ext cx="6300000" cy="45469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734087" y="1079217"/>
            <a:ext cx="580696" cy="42182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4"/>
          </p:nvPr>
        </p:nvSpPr>
        <p:spPr>
          <a:xfrm>
            <a:off x="734087" y="1079217"/>
            <a:ext cx="580696" cy="421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5"/>
          </p:nvPr>
        </p:nvSpPr>
        <p:spPr>
          <a:xfrm>
            <a:off x="1358609" y="1101130"/>
            <a:ext cx="2802130" cy="39443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사내벤처 직원 간담회 “사업화 골든타임을 놓치지 않도록 사전 준비기간이 필요해요”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6"/>
          </p:nvPr>
        </p:nvSpPr>
        <p:spPr>
          <a:xfrm>
            <a:off x="4182652" y="1101130"/>
            <a:ext cx="2802130" cy="39443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전사 설명회 “현업과 병행한 기술상용화·창업 준비로 업무에 지장을 줄까 부담스러워요”</a:t>
            </a:r>
          </a:p>
        </p:txBody>
      </p:sp>
      <p:cxnSp>
        <p:nvCxnSpPr>
          <p:cNvPr id="21" name="Connector 12"/>
          <p:cNvCxnSpPr/>
          <p:nvPr/>
        </p:nvCxnSpPr>
        <p:spPr>
          <a:xfrm>
            <a:off x="4171696" y="1134000"/>
            <a:ext cx="0" cy="32869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2" name="캡션 띠"/>
          <p:cNvSpPr/>
          <p:nvPr/>
        </p:nvSpPr>
        <p:spPr>
          <a:xfrm>
            <a:off x="723130" y="1539391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3" name="태그"/>
          <p:cNvSpPr/>
          <p:nvPr/>
        </p:nvSpPr>
        <p:spPr>
          <a:xfrm>
            <a:off x="1051826" y="1583217"/>
            <a:ext cx="438871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4" name="태그"/>
          <p:cNvSpPr>
            <a:spLocks noGrp="1"/>
          </p:cNvSpPr>
          <p:nvPr>
            <p:ph type="body" sz="quarter" idx="27"/>
          </p:nvPr>
        </p:nvSpPr>
        <p:spPr>
          <a:xfrm>
            <a:off x="1051826" y="1583217"/>
            <a:ext cx="438871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25" name="캡션"/>
          <p:cNvSpPr>
            <a:spLocks noGrp="1"/>
          </p:cNvSpPr>
          <p:nvPr>
            <p:ph type="body" sz="quarter" idx="28"/>
          </p:nvPr>
        </p:nvSpPr>
        <p:spPr>
          <a:xfrm>
            <a:off x="1545480" y="1539391"/>
            <a:ext cx="5258520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성공적인 분사·창업 지원체계 마련으로 사내벤처 활성화 유도</a:t>
            </a:r>
          </a:p>
        </p:txBody>
      </p:sp>
      <p:sp>
        <p:nvSpPr>
          <p:cNvPr id="26" name="표 외곽"/>
          <p:cNvSpPr/>
          <p:nvPr/>
        </p:nvSpPr>
        <p:spPr>
          <a:xfrm>
            <a:off x="723130" y="1846174"/>
            <a:ext cx="6300000" cy="124356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7" name="레일"/>
          <p:cNvSpPr/>
          <p:nvPr/>
        </p:nvSpPr>
        <p:spPr>
          <a:xfrm>
            <a:off x="734087" y="1862609"/>
            <a:ext cx="580696" cy="121069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8" name="레일"/>
          <p:cNvSpPr>
            <a:spLocks noGrp="1"/>
          </p:cNvSpPr>
          <p:nvPr>
            <p:ph type="body" sz="quarter" idx="29"/>
          </p:nvPr>
        </p:nvSpPr>
        <p:spPr>
          <a:xfrm>
            <a:off x="734087" y="1862609"/>
            <a:ext cx="580696" cy="121069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 력</a:t>
            </a:r>
          </a:p>
        </p:txBody>
      </p:sp>
      <p:sp>
        <p:nvSpPr>
          <p:cNvPr id="29" name="단계"/>
          <p:cNvSpPr/>
          <p:nvPr/>
        </p:nvSpPr>
        <p:spPr>
          <a:xfrm>
            <a:off x="1347652" y="1884522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0" name="단계"/>
          <p:cNvSpPr>
            <a:spLocks noGrp="1"/>
          </p:cNvSpPr>
          <p:nvPr>
            <p:ph type="body" sz="quarter" idx="30"/>
          </p:nvPr>
        </p:nvSpPr>
        <p:spPr>
          <a:xfrm>
            <a:off x="1347652" y="1884522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1 現 수준 파악</a:t>
            </a:r>
          </a:p>
        </p:txBody>
      </p:sp>
      <p:sp>
        <p:nvSpPr>
          <p:cNvPr id="31" name="단계"/>
          <p:cNvSpPr/>
          <p:nvPr/>
        </p:nvSpPr>
        <p:spPr>
          <a:xfrm>
            <a:off x="3230348" y="1884522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2" name="단계"/>
          <p:cNvSpPr>
            <a:spLocks noGrp="1"/>
          </p:cNvSpPr>
          <p:nvPr>
            <p:ph type="body" sz="quarter" idx="31"/>
          </p:nvPr>
        </p:nvSpPr>
        <p:spPr>
          <a:xfrm>
            <a:off x="3230348" y="1884522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2 실효성 있는 제도 개선</a:t>
            </a:r>
          </a:p>
        </p:txBody>
      </p:sp>
      <p:sp>
        <p:nvSpPr>
          <p:cNvPr id="33" name="단계"/>
          <p:cNvSpPr/>
          <p:nvPr/>
        </p:nvSpPr>
        <p:spPr>
          <a:xfrm>
            <a:off x="5113043" y="1884522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4" name="단계"/>
          <p:cNvSpPr>
            <a:spLocks noGrp="1"/>
          </p:cNvSpPr>
          <p:nvPr>
            <p:ph type="body" sz="quarter" idx="32"/>
          </p:nvPr>
        </p:nvSpPr>
        <p:spPr>
          <a:xfrm>
            <a:off x="5113043" y="1884522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3 성과 창출 견인</a:t>
            </a:r>
          </a:p>
        </p:txBody>
      </p:sp>
      <p:sp>
        <p:nvSpPr>
          <p:cNvPr id="35" name="단계 삼각형"/>
          <p:cNvSpPr/>
          <p:nvPr/>
        </p:nvSpPr>
        <p:spPr>
          <a:xfrm>
            <a:off x="3230347" y="1884521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6" name="단계 삼각형"/>
          <p:cNvSpPr/>
          <p:nvPr/>
        </p:nvSpPr>
        <p:spPr>
          <a:xfrm>
            <a:off x="5113043" y="1884521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3"/>
          </p:nvPr>
        </p:nvSpPr>
        <p:spPr>
          <a:xfrm>
            <a:off x="1358609" y="2136522"/>
            <a:ext cx="1860783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사내벤처 활성화를 위한 참여직원 대상 설문조사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설문내용 사전 준비 필요 여부·기간 / 결과 현업과 분리된 준비기간(5.5개월) 요구 多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4"/>
          </p:nvPr>
        </p:nvSpPr>
        <p:spPr>
          <a:xfrm>
            <a:off x="3241304" y="2136522"/>
            <a:ext cx="1860783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인사관리 연계·기준 개정으로 사전 준비기간 확보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「사내벤처 운영기준」 개정, 창업 준비기간 확보 명문화</a:t>
            </a:r>
          </a:p>
        </p:txBody>
      </p:sp>
      <p:cxnSp>
        <p:nvCxnSpPr>
          <p:cNvPr id="39" name="Connector 25"/>
          <p:cNvCxnSpPr/>
          <p:nvPr/>
        </p:nvCxnSpPr>
        <p:spPr>
          <a:xfrm>
            <a:off x="3230348" y="2169391"/>
            <a:ext cx="0" cy="86556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0" name="칸 본문"/>
          <p:cNvSpPr>
            <a:spLocks noGrp="1"/>
          </p:cNvSpPr>
          <p:nvPr>
            <p:ph type="body" sz="quarter" idx="35"/>
          </p:nvPr>
        </p:nvSpPr>
        <p:spPr>
          <a:xfrm>
            <a:off x="5124000" y="2136522"/>
            <a:ext cx="1860783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안정적 창업 준비기간 확보로 ‘시제품 개발’ 조기 완료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혁신 창업대전 우수상 수상</a:t>
            </a:r>
          </a:p>
        </p:txBody>
      </p:sp>
      <p:cxnSp>
        <p:nvCxnSpPr>
          <p:cNvPr id="41" name="Connector 27"/>
          <p:cNvCxnSpPr/>
          <p:nvPr/>
        </p:nvCxnSpPr>
        <p:spPr>
          <a:xfrm>
            <a:off x="5113043" y="2169391"/>
            <a:ext cx="0" cy="86556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2" name="핵심성과 박스"/>
          <p:cNvSpPr/>
          <p:nvPr/>
        </p:nvSpPr>
        <p:spPr>
          <a:xfrm>
            <a:off x="723130" y="3177391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3" name="핵심성과 라벨"/>
          <p:cNvSpPr/>
          <p:nvPr/>
        </p:nvSpPr>
        <p:spPr>
          <a:xfrm>
            <a:off x="756000" y="3215739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44" name="핵심성과 라벨"/>
          <p:cNvSpPr>
            <a:spLocks noGrp="1"/>
          </p:cNvSpPr>
          <p:nvPr>
            <p:ph type="body" sz="quarter" idx="36"/>
          </p:nvPr>
        </p:nvSpPr>
        <p:spPr>
          <a:xfrm>
            <a:off x="756000" y="3215739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5" name="핵심성과 문구"/>
          <p:cNvSpPr>
            <a:spLocks noGrp="1"/>
          </p:cNvSpPr>
          <p:nvPr>
            <p:ph type="body" sz="quarter" idx="37"/>
          </p:nvPr>
        </p:nvSpPr>
        <p:spPr>
          <a:xfrm>
            <a:off x="1501043" y="3193826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공기업 최다 19개사(’25년 2개사 2명) 분사 창업, ’25년 신규고용 16명(누계 113명) 창출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53 서사 · 아쉬운 점 → 개선방향 → 추진노력 3갈래(기대효과 · 고용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11" name="분야 박스"/>
          <p:cNvSpPr/>
          <p:nvPr/>
        </p:nvSpPr>
        <p:spPr>
          <a:xfrm>
            <a:off x="766390" y="799826"/>
            <a:ext cx="372929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분야 박스"/>
          <p:cNvSpPr>
            <a:spLocks noGrp="1"/>
          </p:cNvSpPr>
          <p:nvPr>
            <p:ph type="body" sz="quarter" idx="21"/>
          </p:nvPr>
        </p:nvSpPr>
        <p:spPr>
          <a:xfrm>
            <a:off x="766390" y="799826"/>
            <a:ext cx="37292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창업</a:t>
            </a:r>
          </a:p>
        </p:txBody>
      </p:sp>
      <p:sp>
        <p:nvSpPr>
          <p:cNvPr id="13" name="형광 밑줄"/>
          <p:cNvSpPr/>
          <p:nvPr/>
        </p:nvSpPr>
        <p:spPr>
          <a:xfrm>
            <a:off x="1205058" y="920348"/>
            <a:ext cx="4254590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소제목"/>
          <p:cNvSpPr>
            <a:spLocks noGrp="1"/>
          </p:cNvSpPr>
          <p:nvPr>
            <p:ph type="body" sz="quarter" idx="22"/>
          </p:nvPr>
        </p:nvSpPr>
        <p:spPr>
          <a:xfrm>
            <a:off x="1205058" y="766957"/>
            <a:ext cx="5631812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정부사업 연계 하이브리드형 기업지원으로 스케일업 및 민간 고용 극대화</a:t>
            </a:r>
          </a:p>
        </p:txBody>
      </p:sp>
      <p:sp>
        <p:nvSpPr>
          <p:cNvPr id="15" name="태그칩"/>
          <p:cNvSpPr/>
          <p:nvPr/>
        </p:nvSpPr>
        <p:spPr>
          <a:xfrm>
            <a:off x="5558256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태그칩"/>
          <p:cNvSpPr>
            <a:spLocks noGrp="1"/>
          </p:cNvSpPr>
          <p:nvPr>
            <p:ph type="body" sz="quarter" idx="23"/>
          </p:nvPr>
        </p:nvSpPr>
        <p:spPr>
          <a:xfrm>
            <a:off x="5558256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7" name="표 외곽"/>
          <p:cNvSpPr/>
          <p:nvPr/>
        </p:nvSpPr>
        <p:spPr>
          <a:xfrm>
            <a:off x="536870" y="1051826"/>
            <a:ext cx="6300000" cy="207767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레일"/>
          <p:cNvSpPr/>
          <p:nvPr/>
        </p:nvSpPr>
        <p:spPr>
          <a:xfrm>
            <a:off x="547826" y="1068261"/>
            <a:ext cx="580696" cy="26843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레일"/>
          <p:cNvSpPr>
            <a:spLocks noGrp="1"/>
          </p:cNvSpPr>
          <p:nvPr>
            <p:ph type="body" sz="quarter" idx="24"/>
          </p:nvPr>
        </p:nvSpPr>
        <p:spPr>
          <a:xfrm>
            <a:off x="547826" y="1068261"/>
            <a:ext cx="580696" cy="268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아쉬운점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5"/>
          </p:nvPr>
        </p:nvSpPr>
        <p:spPr>
          <a:xfrm>
            <a:off x="1172348" y="1090174"/>
            <a:ext cx="5626174" cy="241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 창업 지원사업 운영으로 좋은 평가를 얻었으나, 자체 지원사업과 연계 부족</a:t>
            </a:r>
          </a:p>
        </p:txBody>
      </p:sp>
      <p:sp>
        <p:nvSpPr>
          <p:cNvPr id="21" name="레일"/>
          <p:cNvSpPr/>
          <p:nvPr/>
        </p:nvSpPr>
        <p:spPr>
          <a:xfrm>
            <a:off x="547826" y="1353130"/>
            <a:ext cx="580696" cy="38488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레일"/>
          <p:cNvSpPr>
            <a:spLocks noGrp="1"/>
          </p:cNvSpPr>
          <p:nvPr>
            <p:ph type="body" sz="quarter" idx="26"/>
          </p:nvPr>
        </p:nvSpPr>
        <p:spPr>
          <a:xfrm>
            <a:off x="547826" y="1353130"/>
            <a:ext cx="580696" cy="3848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개선방향</a:t>
            </a:r>
          </a:p>
        </p:txBody>
      </p:sp>
      <p:sp>
        <p:nvSpPr>
          <p:cNvPr id="23" name="레일 삼각형"/>
          <p:cNvSpPr/>
          <p:nvPr/>
        </p:nvSpPr>
        <p:spPr>
          <a:xfrm>
            <a:off x="547826" y="1353130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4" name="단계"/>
          <p:cNvSpPr/>
          <p:nvPr/>
        </p:nvSpPr>
        <p:spPr>
          <a:xfrm>
            <a:off x="1161391" y="1375043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5" name="단계"/>
          <p:cNvSpPr>
            <a:spLocks noGrp="1"/>
          </p:cNvSpPr>
          <p:nvPr>
            <p:ph type="body" sz="quarter" idx="27"/>
          </p:nvPr>
        </p:nvSpPr>
        <p:spPr>
          <a:xfrm>
            <a:off x="1161391" y="137504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기후테크 역량으로 R&amp;D 인력 지원</a:t>
            </a:r>
          </a:p>
        </p:txBody>
      </p:sp>
      <p:sp>
        <p:nvSpPr>
          <p:cNvPr id="26" name="단계"/>
          <p:cNvSpPr/>
          <p:nvPr/>
        </p:nvSpPr>
        <p:spPr>
          <a:xfrm>
            <a:off x="3044087" y="1375043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7" name="단계"/>
          <p:cNvSpPr>
            <a:spLocks noGrp="1"/>
          </p:cNvSpPr>
          <p:nvPr>
            <p:ph type="body" sz="quarter" idx="28"/>
          </p:nvPr>
        </p:nvSpPr>
        <p:spPr>
          <a:xfrm>
            <a:off x="3044087" y="137504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수상 아이디어가 실제 창업으로</a:t>
            </a:r>
          </a:p>
        </p:txBody>
      </p:sp>
      <p:sp>
        <p:nvSpPr>
          <p:cNvPr id="28" name="단계"/>
          <p:cNvSpPr/>
          <p:nvPr/>
        </p:nvSpPr>
        <p:spPr>
          <a:xfrm>
            <a:off x="4926783" y="1375043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9" name="단계"/>
          <p:cNvSpPr>
            <a:spLocks noGrp="1"/>
          </p:cNvSpPr>
          <p:nvPr>
            <p:ph type="body" sz="quarter" idx="29"/>
          </p:nvPr>
        </p:nvSpPr>
        <p:spPr>
          <a:xfrm>
            <a:off x="4926783" y="137504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정부지원 이후 스케일업 도모</a:t>
            </a:r>
          </a:p>
        </p:txBody>
      </p:sp>
      <p:sp>
        <p:nvSpPr>
          <p:cNvPr id="30" name="단계 삼각형"/>
          <p:cNvSpPr/>
          <p:nvPr/>
        </p:nvSpPr>
        <p:spPr>
          <a:xfrm>
            <a:off x="3044086" y="1375043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1" name="단계 삼각형"/>
          <p:cNvSpPr/>
          <p:nvPr/>
        </p:nvSpPr>
        <p:spPr>
          <a:xfrm>
            <a:off x="4926782" y="137504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2" name="칸 본문"/>
          <p:cNvSpPr txBox="1"/>
          <p:nvPr/>
        </p:nvSpPr>
        <p:spPr>
          <a:xfrm>
            <a:off x="1172348" y="1627043"/>
            <a:ext cx="1860783" cy="43826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sp>
        <p:nvSpPr>
          <p:cNvPr id="33" name="칸 본문"/>
          <p:cNvSpPr txBox="1"/>
          <p:nvPr/>
        </p:nvSpPr>
        <p:spPr>
          <a:xfrm>
            <a:off x="3055043" y="1627043"/>
            <a:ext cx="1860783" cy="43826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34" name="Connector 23"/>
          <p:cNvCxnSpPr/>
          <p:nvPr/>
        </p:nvCxnSpPr>
        <p:spPr>
          <a:xfrm flipV="1">
            <a:off x="3044087" y="1638000"/>
            <a:ext cx="0" cy="2191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5" name="칸 본문"/>
          <p:cNvSpPr txBox="1"/>
          <p:nvPr/>
        </p:nvSpPr>
        <p:spPr>
          <a:xfrm>
            <a:off x="4937739" y="1627043"/>
            <a:ext cx="1860783" cy="43826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36" name="Connector 25"/>
          <p:cNvCxnSpPr/>
          <p:nvPr/>
        </p:nvCxnSpPr>
        <p:spPr>
          <a:xfrm flipV="1">
            <a:off x="4926783" y="1638000"/>
            <a:ext cx="0" cy="2191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7" name="레일"/>
          <p:cNvSpPr/>
          <p:nvPr/>
        </p:nvSpPr>
        <p:spPr>
          <a:xfrm>
            <a:off x="547826" y="1754452"/>
            <a:ext cx="580696" cy="1358609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8" name="레일"/>
          <p:cNvSpPr>
            <a:spLocks noGrp="1"/>
          </p:cNvSpPr>
          <p:nvPr>
            <p:ph type="body" sz="quarter" idx="30"/>
          </p:nvPr>
        </p:nvSpPr>
        <p:spPr>
          <a:xfrm>
            <a:off x="547826" y="1754452"/>
            <a:ext cx="580696" cy="13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추진노력</a:t>
            </a:r>
          </a:p>
        </p:txBody>
      </p:sp>
      <p:sp>
        <p:nvSpPr>
          <p:cNvPr id="39" name="레일 삼각형"/>
          <p:cNvSpPr/>
          <p:nvPr/>
        </p:nvSpPr>
        <p:spPr>
          <a:xfrm>
            <a:off x="547826" y="1754452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0" name="머리칸"/>
          <p:cNvSpPr/>
          <p:nvPr/>
        </p:nvSpPr>
        <p:spPr>
          <a:xfrm>
            <a:off x="1161391" y="177636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1" name="머리칸"/>
          <p:cNvSpPr>
            <a:spLocks noGrp="1"/>
          </p:cNvSpPr>
          <p:nvPr>
            <p:ph type="body" sz="quarter" idx="31"/>
          </p:nvPr>
        </p:nvSpPr>
        <p:spPr>
          <a:xfrm>
            <a:off x="1161391" y="177636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창업패키지</a:t>
            </a:r>
          </a:p>
        </p:txBody>
      </p:sp>
      <p:sp>
        <p:nvSpPr>
          <p:cNvPr id="42" name="머리칸"/>
          <p:cNvSpPr/>
          <p:nvPr/>
        </p:nvSpPr>
        <p:spPr>
          <a:xfrm>
            <a:off x="3044087" y="177636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3" name="머리칸"/>
          <p:cNvSpPr>
            <a:spLocks noGrp="1"/>
          </p:cNvSpPr>
          <p:nvPr>
            <p:ph type="body" sz="quarter" idx="32"/>
          </p:nvPr>
        </p:nvSpPr>
        <p:spPr>
          <a:xfrm>
            <a:off x="3044087" y="177636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혁신창업대전</a:t>
            </a:r>
          </a:p>
        </p:txBody>
      </p:sp>
      <p:sp>
        <p:nvSpPr>
          <p:cNvPr id="44" name="머리칸"/>
          <p:cNvSpPr/>
          <p:nvPr/>
        </p:nvSpPr>
        <p:spPr>
          <a:xfrm>
            <a:off x="4926783" y="177636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5" name="머리칸"/>
          <p:cNvSpPr>
            <a:spLocks noGrp="1"/>
          </p:cNvSpPr>
          <p:nvPr>
            <p:ph type="body" sz="quarter" idx="33"/>
          </p:nvPr>
        </p:nvSpPr>
        <p:spPr>
          <a:xfrm>
            <a:off x="4926783" y="177636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협력 스타트업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34"/>
          </p:nvPr>
        </p:nvSpPr>
        <p:spPr>
          <a:xfrm>
            <a:off x="1172348" y="2017409"/>
            <a:ext cx="1860783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딥테크 트랙 패키지 사업 수주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친환경·에너지 분야 유망기업 추가 보육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기대효과 자금난 해소 및 고용 창출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35"/>
          </p:nvPr>
        </p:nvSpPr>
        <p:spPr>
          <a:xfrm>
            <a:off x="3055043" y="2017409"/>
            <a:ext cx="1860783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최종 수상팀 간담회 의견수렴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실무중심 부트캠프 커리큘럼 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추가개선 부트캠프 만족도 상향</a:t>
            </a:r>
          </a:p>
        </p:txBody>
      </p:sp>
      <p:cxnSp>
        <p:nvCxnSpPr>
          <p:cNvPr id="48" name="Connector 33"/>
          <p:cNvCxnSpPr/>
          <p:nvPr/>
        </p:nvCxnSpPr>
        <p:spPr>
          <a:xfrm>
            <a:off x="3044087" y="2050278"/>
            <a:ext cx="0" cy="788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9" name="칸 본문"/>
          <p:cNvSpPr>
            <a:spLocks noGrp="1"/>
          </p:cNvSpPr>
          <p:nvPr>
            <p:ph type="body" sz="quarter" idx="36"/>
          </p:nvPr>
        </p:nvSpPr>
        <p:spPr>
          <a:xfrm>
            <a:off x="4937739" y="2017409"/>
            <a:ext cx="1860783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기술 상용화 기간 현실화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추천공모제 업력요건 폐지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기대효과 시장안착·고도화 견인</a:t>
            </a:r>
          </a:p>
        </p:txBody>
      </p:sp>
      <p:cxnSp>
        <p:nvCxnSpPr>
          <p:cNvPr id="50" name="Connector 35"/>
          <p:cNvCxnSpPr/>
          <p:nvPr/>
        </p:nvCxnSpPr>
        <p:spPr>
          <a:xfrm>
            <a:off x="4926783" y="2050278"/>
            <a:ext cx="0" cy="788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1" name="칸 본문"/>
          <p:cNvSpPr>
            <a:spLocks noGrp="1"/>
          </p:cNvSpPr>
          <p:nvPr>
            <p:ph type="body" sz="quarter" idx="37"/>
          </p:nvPr>
        </p:nvSpPr>
        <p:spPr>
          <a:xfrm>
            <a:off x="1172348" y="2888452"/>
            <a:ext cx="1860783" cy="21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고용 375개 일자리 창출</a:t>
            </a:r>
          </a:p>
        </p:txBody>
      </p:sp>
      <p:sp>
        <p:nvSpPr>
          <p:cNvPr id="52" name="칸 본문"/>
          <p:cNvSpPr>
            <a:spLocks noGrp="1"/>
          </p:cNvSpPr>
          <p:nvPr>
            <p:ph type="body" sz="quarter" idx="38"/>
          </p:nvPr>
        </p:nvSpPr>
        <p:spPr>
          <a:xfrm>
            <a:off x="3055043" y="2888452"/>
            <a:ext cx="1860783" cy="21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고용 208개 일자리 창출</a:t>
            </a:r>
          </a:p>
        </p:txBody>
      </p:sp>
      <p:cxnSp>
        <p:nvCxnSpPr>
          <p:cNvPr id="53" name="Connector 38"/>
          <p:cNvCxnSpPr/>
          <p:nvPr/>
        </p:nvCxnSpPr>
        <p:spPr>
          <a:xfrm>
            <a:off x="3044087" y="2921322"/>
            <a:ext cx="0" cy="15339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4" name="칸 본문"/>
          <p:cNvSpPr>
            <a:spLocks noGrp="1"/>
          </p:cNvSpPr>
          <p:nvPr>
            <p:ph type="body" sz="quarter" idx="39"/>
          </p:nvPr>
        </p:nvSpPr>
        <p:spPr>
          <a:xfrm>
            <a:off x="4937739" y="2888452"/>
            <a:ext cx="1860783" cy="21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고용 1,163개 일자리 창출</a:t>
            </a:r>
          </a:p>
        </p:txBody>
      </p:sp>
      <p:cxnSp>
        <p:nvCxnSpPr>
          <p:cNvPr id="55" name="Connector 40"/>
          <p:cNvCxnSpPr/>
          <p:nvPr/>
        </p:nvCxnSpPr>
        <p:spPr>
          <a:xfrm>
            <a:off x="4926783" y="2921322"/>
            <a:ext cx="0" cy="15339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6" name="핵심성과 박스"/>
          <p:cNvSpPr/>
          <p:nvPr/>
        </p:nvSpPr>
        <p:spPr>
          <a:xfrm>
            <a:off x="536870" y="3217148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7" name="핵심성과 라벨"/>
          <p:cNvSpPr/>
          <p:nvPr/>
        </p:nvSpPr>
        <p:spPr>
          <a:xfrm>
            <a:off x="569739" y="3255496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58" name="핵심성과 라벨"/>
          <p:cNvSpPr>
            <a:spLocks noGrp="1"/>
          </p:cNvSpPr>
          <p:nvPr>
            <p:ph type="body" sz="quarter" idx="40"/>
          </p:nvPr>
        </p:nvSpPr>
        <p:spPr>
          <a:xfrm>
            <a:off x="569739" y="3255496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9" name="핵심성과 문구"/>
          <p:cNvSpPr>
            <a:spLocks noGrp="1"/>
          </p:cNvSpPr>
          <p:nvPr>
            <p:ph type="body" sz="quarter" idx="41"/>
          </p:nvPr>
        </p:nvSpPr>
        <p:spPr>
          <a:xfrm>
            <a:off x="1314783" y="3233583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자체·정부사업 연계 일자리 1,746개 창출, ‘최우수’ 운영기관 선정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54 서사 · 추진배경 → 성장 사다리(성장 → 스케일업) → 실행 결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</a:t>
            </a:r>
          </a:p>
        </p:txBody>
      </p:sp>
      <p:sp>
        <p:nvSpPr>
          <p:cNvPr id="10" name="분야 박스"/>
          <p:cNvSpPr/>
          <p:nvPr/>
        </p:nvSpPr>
        <p:spPr>
          <a:xfrm>
            <a:off x="952651" y="810783"/>
            <a:ext cx="628312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1" name="분야 박스"/>
          <p:cNvSpPr>
            <a:spLocks noGrp="1"/>
          </p:cNvSpPr>
          <p:nvPr>
            <p:ph type="body" sz="quarter" idx="21"/>
          </p:nvPr>
        </p:nvSpPr>
        <p:spPr>
          <a:xfrm>
            <a:off x="952651" y="810783"/>
            <a:ext cx="62831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육성·성장</a:t>
            </a:r>
          </a:p>
        </p:txBody>
      </p:sp>
      <p:sp>
        <p:nvSpPr>
          <p:cNvPr id="12" name="형광 밑줄"/>
          <p:cNvSpPr/>
          <p:nvPr/>
        </p:nvSpPr>
        <p:spPr>
          <a:xfrm>
            <a:off x="1646702" y="931304"/>
            <a:ext cx="3348014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3" name="소제목"/>
          <p:cNvSpPr>
            <a:spLocks noGrp="1"/>
          </p:cNvSpPr>
          <p:nvPr>
            <p:ph type="body" sz="quarter" idx="22"/>
          </p:nvPr>
        </p:nvSpPr>
        <p:spPr>
          <a:xfrm>
            <a:off x="1646702" y="777913"/>
            <a:ext cx="5376429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성장자금부터 지역특화 VC까지, 고속성장 지원체계 강화</a:t>
            </a:r>
          </a:p>
        </p:txBody>
      </p:sp>
      <p:sp>
        <p:nvSpPr>
          <p:cNvPr id="14" name="태그칩"/>
          <p:cNvSpPr/>
          <p:nvPr/>
        </p:nvSpPr>
        <p:spPr>
          <a:xfrm>
            <a:off x="5093325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3"/>
          </p:nvPr>
        </p:nvSpPr>
        <p:spPr>
          <a:xfrm>
            <a:off x="5093325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태그칩"/>
          <p:cNvSpPr/>
          <p:nvPr/>
        </p:nvSpPr>
        <p:spPr>
          <a:xfrm>
            <a:off x="5644446" y="810783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칩"/>
          <p:cNvSpPr>
            <a:spLocks noGrp="1"/>
          </p:cNvSpPr>
          <p:nvPr>
            <p:ph type="body" sz="quarter" idx="24"/>
          </p:nvPr>
        </p:nvSpPr>
        <p:spPr>
          <a:xfrm>
            <a:off x="5644446" y="810783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8" name="표 외곽"/>
          <p:cNvSpPr/>
          <p:nvPr/>
        </p:nvSpPr>
        <p:spPr>
          <a:xfrm>
            <a:off x="723130" y="1062783"/>
            <a:ext cx="6300000" cy="1881861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레일"/>
          <p:cNvSpPr/>
          <p:nvPr/>
        </p:nvSpPr>
        <p:spPr>
          <a:xfrm>
            <a:off x="734087" y="1079217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5"/>
          </p:nvPr>
        </p:nvSpPr>
        <p:spPr>
          <a:xfrm>
            <a:off x="734087" y="1079217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6"/>
          </p:nvPr>
        </p:nvSpPr>
        <p:spPr>
          <a:xfrm>
            <a:off x="1358609" y="1101130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산업환경 기후테크 분야는 높은 투자비용·민간투자 소외로 ‘데스밸리’ 현상 발생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7"/>
          </p:nvPr>
        </p:nvSpPr>
        <p:spPr>
          <a:xfrm>
            <a:off x="4182652" y="1101130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국정목표 ‘벤처·중소기업이 혁신을 주도할 수 있는 금융 생태계를 조성한다’</a:t>
            </a:r>
          </a:p>
        </p:txBody>
      </p:sp>
      <p:cxnSp>
        <p:nvCxnSpPr>
          <p:cNvPr id="23" name="Connector 13"/>
          <p:cNvCxnSpPr/>
          <p:nvPr/>
        </p:nvCxnSpPr>
        <p:spPr>
          <a:xfrm>
            <a:off x="4171696" y="1134000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4" name="레일"/>
          <p:cNvSpPr/>
          <p:nvPr/>
        </p:nvSpPr>
        <p:spPr>
          <a:xfrm>
            <a:off x="734087" y="1503861"/>
            <a:ext cx="580696" cy="1424348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5" name="레일"/>
          <p:cNvSpPr>
            <a:spLocks noGrp="1"/>
          </p:cNvSpPr>
          <p:nvPr>
            <p:ph type="body" sz="quarter" idx="28"/>
          </p:nvPr>
        </p:nvSpPr>
        <p:spPr>
          <a:xfrm>
            <a:off x="734087" y="1503861"/>
            <a:ext cx="580696" cy="142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노력</a:t>
            </a:r>
          </a:p>
        </p:txBody>
      </p:sp>
      <p:sp>
        <p:nvSpPr>
          <p:cNvPr id="26" name="레일 삼각형"/>
          <p:cNvSpPr/>
          <p:nvPr/>
        </p:nvSpPr>
        <p:spPr>
          <a:xfrm>
            <a:off x="734086" y="1503860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7" name="배너"/>
          <p:cNvSpPr/>
          <p:nvPr/>
        </p:nvSpPr>
        <p:spPr>
          <a:xfrm>
            <a:off x="1347652" y="1525774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8" name="배너"/>
          <p:cNvSpPr>
            <a:spLocks noGrp="1"/>
          </p:cNvSpPr>
          <p:nvPr>
            <p:ph type="body" sz="quarter" idx="29"/>
          </p:nvPr>
        </p:nvSpPr>
        <p:spPr>
          <a:xfrm>
            <a:off x="1347652" y="1525774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성장을 거쳐 스케일업으로, 유니콘 기업까지 이어지는 성장 사다리 구축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0"/>
          </p:nvPr>
        </p:nvSpPr>
        <p:spPr>
          <a:xfrm>
            <a:off x="1358609" y="1761339"/>
            <a:ext cx="2802130" cy="21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성장 지역혁신벤처펀드 대폭 확대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1"/>
          </p:nvPr>
        </p:nvSpPr>
        <p:spPr>
          <a:xfrm>
            <a:off x="4182652" y="1761339"/>
            <a:ext cx="2802130" cy="21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스케일업 지역펀드 신규출자</a:t>
            </a:r>
          </a:p>
        </p:txBody>
      </p:sp>
      <p:cxnSp>
        <p:nvCxnSpPr>
          <p:cNvPr id="31" name="Connector 19"/>
          <p:cNvCxnSpPr/>
          <p:nvPr/>
        </p:nvCxnSpPr>
        <p:spPr>
          <a:xfrm>
            <a:off x="4171696" y="1794209"/>
            <a:ext cx="0" cy="15339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2" name="단계"/>
          <p:cNvSpPr/>
          <p:nvPr/>
        </p:nvSpPr>
        <p:spPr>
          <a:xfrm>
            <a:off x="1347652" y="1996904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3" name="단계"/>
          <p:cNvSpPr>
            <a:spLocks noGrp="1"/>
          </p:cNvSpPr>
          <p:nvPr>
            <p:ph type="body" sz="quarter" idx="32"/>
          </p:nvPr>
        </p:nvSpPr>
        <p:spPr>
          <a:xfrm>
            <a:off x="1347652" y="199690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투자심사역 양성·현장 방문</a:t>
            </a:r>
          </a:p>
        </p:txBody>
      </p:sp>
      <p:sp>
        <p:nvSpPr>
          <p:cNvPr id="34" name="단계"/>
          <p:cNvSpPr/>
          <p:nvPr/>
        </p:nvSpPr>
        <p:spPr>
          <a:xfrm>
            <a:off x="3230348" y="1996904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5" name="단계"/>
          <p:cNvSpPr>
            <a:spLocks noGrp="1"/>
          </p:cNvSpPr>
          <p:nvPr>
            <p:ph type="body" sz="quarter" idx="33"/>
          </p:nvPr>
        </p:nvSpPr>
        <p:spPr>
          <a:xfrm>
            <a:off x="3230348" y="199690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운용사 대상 IR 개최</a:t>
            </a:r>
          </a:p>
        </p:txBody>
      </p:sp>
      <p:sp>
        <p:nvSpPr>
          <p:cNvPr id="36" name="단계"/>
          <p:cNvSpPr/>
          <p:nvPr/>
        </p:nvSpPr>
        <p:spPr>
          <a:xfrm>
            <a:off x="5113043" y="1996904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7" name="단계"/>
          <p:cNvSpPr>
            <a:spLocks noGrp="1"/>
          </p:cNvSpPr>
          <p:nvPr>
            <p:ph type="body" sz="quarter" idx="34"/>
          </p:nvPr>
        </p:nvSpPr>
        <p:spPr>
          <a:xfrm>
            <a:off x="5113043" y="199690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물산업 투자 관심도 제고</a:t>
            </a:r>
          </a:p>
        </p:txBody>
      </p:sp>
      <p:sp>
        <p:nvSpPr>
          <p:cNvPr id="38" name="단계 삼각형"/>
          <p:cNvSpPr/>
          <p:nvPr/>
        </p:nvSpPr>
        <p:spPr>
          <a:xfrm>
            <a:off x="3230347" y="1996904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9" name="단계 삼각형"/>
          <p:cNvSpPr/>
          <p:nvPr/>
        </p:nvSpPr>
        <p:spPr>
          <a:xfrm>
            <a:off x="5113043" y="1996904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0" name="칸 본문"/>
          <p:cNvSpPr>
            <a:spLocks noGrp="1"/>
          </p:cNvSpPr>
          <p:nvPr>
            <p:ph type="body" sz="quarter" idx="35"/>
          </p:nvPr>
        </p:nvSpPr>
        <p:spPr>
          <a:xfrm>
            <a:off x="1358609" y="2248904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450억원 신규투자 실시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36"/>
          </p:nvPr>
        </p:nvSpPr>
        <p:spPr>
          <a:xfrm>
            <a:off x="3241304" y="2248904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펀드 투자재원 확보(200억원)</a:t>
            </a:r>
          </a:p>
        </p:txBody>
      </p:sp>
      <p:cxnSp>
        <p:nvCxnSpPr>
          <p:cNvPr id="42" name="Connector 27"/>
          <p:cNvCxnSpPr/>
          <p:nvPr/>
        </p:nvCxnSpPr>
        <p:spPr>
          <a:xfrm>
            <a:off x="3230348" y="2281774"/>
            <a:ext cx="0" cy="24104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3" name="칸 본문"/>
          <p:cNvSpPr>
            <a:spLocks noGrp="1"/>
          </p:cNvSpPr>
          <p:nvPr>
            <p:ph type="body" sz="quarter" idx="37"/>
          </p:nvPr>
        </p:nvSpPr>
        <p:spPr>
          <a:xfrm>
            <a:off x="5124000" y="2248904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관심도 제고</a:t>
            </a:r>
          </a:p>
        </p:txBody>
      </p:sp>
      <p:cxnSp>
        <p:nvCxnSpPr>
          <p:cNvPr id="44" name="Connector 29"/>
          <p:cNvCxnSpPr/>
          <p:nvPr/>
        </p:nvCxnSpPr>
        <p:spPr>
          <a:xfrm>
            <a:off x="5113043" y="2281774"/>
            <a:ext cx="0" cy="24104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5" name="칸 본문"/>
          <p:cNvSpPr>
            <a:spLocks noGrp="1"/>
          </p:cNvSpPr>
          <p:nvPr>
            <p:ph type="body" sz="quarter" idx="38"/>
          </p:nvPr>
        </p:nvSpPr>
        <p:spPr>
          <a:xfrm>
            <a:off x="1358609" y="2572122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실행결과 유망기업 43개사 성장자금 공급, 창업기업 돈맥경화 방지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39"/>
          </p:nvPr>
        </p:nvSpPr>
        <p:spPr>
          <a:xfrm>
            <a:off x="4182652" y="2572122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실행결과 지역 창업기업 17개사에 투자 및 64명 고용 창출 기대</a:t>
            </a:r>
          </a:p>
        </p:txBody>
      </p:sp>
      <p:cxnSp>
        <p:nvCxnSpPr>
          <p:cNvPr id="47" name="Connector 32"/>
          <p:cNvCxnSpPr/>
          <p:nvPr/>
        </p:nvCxnSpPr>
        <p:spPr>
          <a:xfrm>
            <a:off x="4171696" y="2604991"/>
            <a:ext cx="0" cy="284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8" name="핵심성과 박스"/>
          <p:cNvSpPr/>
          <p:nvPr/>
        </p:nvSpPr>
        <p:spPr>
          <a:xfrm>
            <a:off x="723130" y="3032296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9" name="핵심성과 라벨"/>
          <p:cNvSpPr/>
          <p:nvPr/>
        </p:nvSpPr>
        <p:spPr>
          <a:xfrm>
            <a:off x="756000" y="3070643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50" name="핵심성과 라벨"/>
          <p:cNvSpPr>
            <a:spLocks noGrp="1"/>
          </p:cNvSpPr>
          <p:nvPr>
            <p:ph type="body" sz="quarter" idx="40"/>
          </p:nvPr>
        </p:nvSpPr>
        <p:spPr>
          <a:xfrm>
            <a:off x="756000" y="3070643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1" name="핵심성과 문구"/>
          <p:cNvSpPr>
            <a:spLocks noGrp="1"/>
          </p:cNvSpPr>
          <p:nvPr>
            <p:ph type="body" sz="quarter" idx="41"/>
          </p:nvPr>
        </p:nvSpPr>
        <p:spPr>
          <a:xfrm>
            <a:off x="1501043" y="3048730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기후테크 창업기업 43개사에 출자펀드 650억원 투자 및 761명 일자리 창출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55 서사 · 추진배경 → 매칭 페어 · 로컬 공동체 → 지역 자생 일자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라.</a:t>
            </a:r>
          </a:p>
        </p:txBody>
      </p:sp>
      <p:sp>
        <p:nvSpPr>
          <p:cNvPr id="11" name="분야 박스"/>
          <p:cNvSpPr/>
          <p:nvPr/>
        </p:nvSpPr>
        <p:spPr>
          <a:xfrm>
            <a:off x="766390" y="799826"/>
            <a:ext cx="731506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분야 박스"/>
          <p:cNvSpPr>
            <a:spLocks noGrp="1"/>
          </p:cNvSpPr>
          <p:nvPr>
            <p:ph type="body" sz="quarter" idx="21"/>
          </p:nvPr>
        </p:nvSpPr>
        <p:spPr>
          <a:xfrm>
            <a:off x="766390" y="799826"/>
            <a:ext cx="73150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상생 일자리</a:t>
            </a:r>
          </a:p>
        </p:txBody>
      </p:sp>
      <p:sp>
        <p:nvSpPr>
          <p:cNvPr id="13" name="형광 밑줄"/>
          <p:cNvSpPr/>
          <p:nvPr/>
        </p:nvSpPr>
        <p:spPr>
          <a:xfrm>
            <a:off x="1563635" y="920348"/>
            <a:ext cx="3262282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소제목"/>
          <p:cNvSpPr>
            <a:spLocks noGrp="1"/>
          </p:cNvSpPr>
          <p:nvPr>
            <p:ph type="body" sz="quarter" idx="22"/>
          </p:nvPr>
        </p:nvSpPr>
        <p:spPr>
          <a:xfrm>
            <a:off x="1563635" y="766957"/>
            <a:ext cx="5273235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지역 일자리 생태계를 활성화하는 로컬 친화적 창업지원</a:t>
            </a:r>
          </a:p>
        </p:txBody>
      </p:sp>
      <p:sp>
        <p:nvSpPr>
          <p:cNvPr id="15" name="태그칩"/>
          <p:cNvSpPr/>
          <p:nvPr/>
        </p:nvSpPr>
        <p:spPr>
          <a:xfrm>
            <a:off x="4924525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태그칩"/>
          <p:cNvSpPr>
            <a:spLocks noGrp="1"/>
          </p:cNvSpPr>
          <p:nvPr>
            <p:ph type="body" sz="quarter" idx="23"/>
          </p:nvPr>
        </p:nvSpPr>
        <p:spPr>
          <a:xfrm>
            <a:off x="4924525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7" name="태그칩"/>
          <p:cNvSpPr/>
          <p:nvPr/>
        </p:nvSpPr>
        <p:spPr>
          <a:xfrm>
            <a:off x="5475646" y="799826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태그칩"/>
          <p:cNvSpPr>
            <a:spLocks noGrp="1"/>
          </p:cNvSpPr>
          <p:nvPr>
            <p:ph type="body" sz="quarter" idx="24"/>
          </p:nvPr>
        </p:nvSpPr>
        <p:spPr>
          <a:xfrm>
            <a:off x="5475646" y="799826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9" name="표 외곽"/>
          <p:cNvSpPr/>
          <p:nvPr/>
        </p:nvSpPr>
        <p:spPr>
          <a:xfrm>
            <a:off x="536870" y="1051826"/>
            <a:ext cx="6300000" cy="1564122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0" name="레일"/>
          <p:cNvSpPr/>
          <p:nvPr/>
        </p:nvSpPr>
        <p:spPr>
          <a:xfrm>
            <a:off x="547826" y="1068261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5"/>
          </p:nvPr>
        </p:nvSpPr>
        <p:spPr>
          <a:xfrm>
            <a:off x="547826" y="1068261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6"/>
          </p:nvPr>
        </p:nvSpPr>
        <p:spPr>
          <a:xfrm>
            <a:off x="1172348" y="1090174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SOC 기관으로서 협력기업 및 상생형 일자리 창출 관심 확대 필요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7"/>
          </p:nvPr>
        </p:nvSpPr>
        <p:spPr>
          <a:xfrm>
            <a:off x="3996391" y="1090174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협업 지역주민·대학·시민단체와 협업한 지역 밀착형 창업지원 제공</a:t>
            </a:r>
          </a:p>
        </p:txBody>
      </p:sp>
      <p:cxnSp>
        <p:nvCxnSpPr>
          <p:cNvPr id="24" name="Connector 16"/>
          <p:cNvCxnSpPr/>
          <p:nvPr/>
        </p:nvCxnSpPr>
        <p:spPr>
          <a:xfrm>
            <a:off x="3985435" y="1123043"/>
            <a:ext cx="0" cy="27125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5" name="레일"/>
          <p:cNvSpPr/>
          <p:nvPr/>
        </p:nvSpPr>
        <p:spPr>
          <a:xfrm>
            <a:off x="547826" y="1492904"/>
            <a:ext cx="580696" cy="1106609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6" name="레일"/>
          <p:cNvSpPr>
            <a:spLocks noGrp="1"/>
          </p:cNvSpPr>
          <p:nvPr>
            <p:ph type="body" sz="quarter" idx="28"/>
          </p:nvPr>
        </p:nvSpPr>
        <p:spPr>
          <a:xfrm>
            <a:off x="547826" y="1492904"/>
            <a:ext cx="580696" cy="1106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노력</a:t>
            </a:r>
          </a:p>
        </p:txBody>
      </p:sp>
      <p:sp>
        <p:nvSpPr>
          <p:cNvPr id="27" name="레일 삼각형"/>
          <p:cNvSpPr/>
          <p:nvPr/>
        </p:nvSpPr>
        <p:spPr>
          <a:xfrm>
            <a:off x="547826" y="1492904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머리칸"/>
          <p:cNvSpPr/>
          <p:nvPr/>
        </p:nvSpPr>
        <p:spPr>
          <a:xfrm>
            <a:off x="1161391" y="1514817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9" name="머리칸"/>
          <p:cNvSpPr>
            <a:spLocks noGrp="1"/>
          </p:cNvSpPr>
          <p:nvPr>
            <p:ph type="body" sz="quarter" idx="29"/>
          </p:nvPr>
        </p:nvSpPr>
        <p:spPr>
          <a:xfrm>
            <a:off x="1161391" y="1514817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AI·초격차 스타트업 잡 매칭 페어</a:t>
            </a:r>
          </a:p>
        </p:txBody>
      </p:sp>
      <p:sp>
        <p:nvSpPr>
          <p:cNvPr id="30" name="머리칸"/>
          <p:cNvSpPr/>
          <p:nvPr/>
        </p:nvSpPr>
        <p:spPr>
          <a:xfrm>
            <a:off x="3985435" y="1514817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1" name="머리칸"/>
          <p:cNvSpPr>
            <a:spLocks noGrp="1"/>
          </p:cNvSpPr>
          <p:nvPr>
            <p:ph type="body" sz="quarter" idx="30"/>
          </p:nvPr>
        </p:nvSpPr>
        <p:spPr>
          <a:xfrm>
            <a:off x="3985435" y="1514817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주민과 함께한 ‘꿀벌식당’ 설립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1"/>
          </p:nvPr>
        </p:nvSpPr>
        <p:spPr>
          <a:xfrm>
            <a:off x="1172348" y="1755861"/>
            <a:ext cx="2802130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내 신기술기업·구직자간 취업연결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AI 스타트업(10개사) ↔ 지역 대학생(53명)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2"/>
          </p:nvPr>
        </p:nvSpPr>
        <p:spPr>
          <a:xfrm>
            <a:off x="3996391" y="1755861"/>
            <a:ext cx="2802130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7개 마을 지역주민 협동조합과 협력, 꿀벌을 활용한 수확물 제품 개발·창업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지역주민 일자리(19개), 소득(37백만원) 창출</a:t>
            </a:r>
          </a:p>
        </p:txBody>
      </p:sp>
      <p:cxnSp>
        <p:nvCxnSpPr>
          <p:cNvPr id="34" name="Connector 23"/>
          <p:cNvCxnSpPr/>
          <p:nvPr/>
        </p:nvCxnSpPr>
        <p:spPr>
          <a:xfrm>
            <a:off x="3985435" y="1788730"/>
            <a:ext cx="0" cy="536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5" name="배너"/>
          <p:cNvSpPr/>
          <p:nvPr/>
        </p:nvSpPr>
        <p:spPr>
          <a:xfrm>
            <a:off x="1161391" y="2374904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6" name="배너"/>
          <p:cNvSpPr>
            <a:spLocks noGrp="1"/>
          </p:cNvSpPr>
          <p:nvPr>
            <p:ph type="body" sz="quarter" idx="33"/>
          </p:nvPr>
        </p:nvSpPr>
        <p:spPr>
          <a:xfrm>
            <a:off x="1161391" y="2374904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지역기업 맞춤 구인과 풀뿌리 일자리를 지원해 지역 자생적 일자리 창출</a:t>
            </a:r>
          </a:p>
        </p:txBody>
      </p:sp>
      <p:sp>
        <p:nvSpPr>
          <p:cNvPr id="37" name="핵심성과 박스"/>
          <p:cNvSpPr/>
          <p:nvPr/>
        </p:nvSpPr>
        <p:spPr>
          <a:xfrm>
            <a:off x="536870" y="2703600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8" name="핵심성과 라벨"/>
          <p:cNvSpPr/>
          <p:nvPr/>
        </p:nvSpPr>
        <p:spPr>
          <a:xfrm>
            <a:off x="569739" y="2741948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39" name="핵심성과 라벨"/>
          <p:cNvSpPr>
            <a:spLocks noGrp="1"/>
          </p:cNvSpPr>
          <p:nvPr>
            <p:ph type="body" sz="quarter" idx="34"/>
          </p:nvPr>
        </p:nvSpPr>
        <p:spPr>
          <a:xfrm>
            <a:off x="569739" y="2741948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0" name="핵심성과 문구"/>
          <p:cNvSpPr>
            <a:spLocks noGrp="1"/>
          </p:cNvSpPr>
          <p:nvPr>
            <p:ph type="body" sz="quarter" idx="35"/>
          </p:nvPr>
        </p:nvSpPr>
        <p:spPr>
          <a:xfrm>
            <a:off x="1314783" y="2720035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지역 AI 스타트업 3개사 5명 채용 및 7개 마을 지역 일자리 19개 창출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56 서사 · 돌아보기 → 원인 → 시사점 → 환경 · 직무 · 성장 지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10" name="분야 박스"/>
          <p:cNvSpPr/>
          <p:nvPr/>
        </p:nvSpPr>
        <p:spPr>
          <a:xfrm>
            <a:off x="952651" y="810783"/>
            <a:ext cx="482697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1" name="분야 박스"/>
          <p:cNvSpPr>
            <a:spLocks noGrp="1"/>
          </p:cNvSpPr>
          <p:nvPr>
            <p:ph type="body" sz="quarter" idx="21"/>
          </p:nvPr>
        </p:nvSpPr>
        <p:spPr>
          <a:xfrm>
            <a:off x="952651" y="810783"/>
            <a:ext cx="48269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장애인</a:t>
            </a:r>
          </a:p>
        </p:txBody>
      </p:sp>
      <p:sp>
        <p:nvSpPr>
          <p:cNvPr id="12" name="형광 밑줄"/>
          <p:cNvSpPr/>
          <p:nvPr/>
        </p:nvSpPr>
        <p:spPr>
          <a:xfrm>
            <a:off x="1501087" y="931304"/>
            <a:ext cx="3044083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3" name="소제목"/>
          <p:cNvSpPr>
            <a:spLocks noGrp="1"/>
          </p:cNvSpPr>
          <p:nvPr>
            <p:ph type="body" sz="quarter" idx="22"/>
          </p:nvPr>
        </p:nvSpPr>
        <p:spPr>
          <a:xfrm>
            <a:off x="1501087" y="777913"/>
            <a:ext cx="5522043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‘불가능’이라는 한계를 넘어선 장애인 고용의 전환점</a:t>
            </a:r>
          </a:p>
        </p:txBody>
      </p:sp>
      <p:sp>
        <p:nvSpPr>
          <p:cNvPr id="14" name="태그칩"/>
          <p:cNvSpPr/>
          <p:nvPr/>
        </p:nvSpPr>
        <p:spPr>
          <a:xfrm>
            <a:off x="4643779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3"/>
          </p:nvPr>
        </p:nvSpPr>
        <p:spPr>
          <a:xfrm>
            <a:off x="4643779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태그칩"/>
          <p:cNvSpPr/>
          <p:nvPr/>
        </p:nvSpPr>
        <p:spPr>
          <a:xfrm>
            <a:off x="5194900" y="810783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칩"/>
          <p:cNvSpPr>
            <a:spLocks noGrp="1"/>
          </p:cNvSpPr>
          <p:nvPr>
            <p:ph type="body" sz="quarter" idx="24"/>
          </p:nvPr>
        </p:nvSpPr>
        <p:spPr>
          <a:xfrm>
            <a:off x="5194900" y="810783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8" name="태그칩"/>
          <p:cNvSpPr/>
          <p:nvPr/>
        </p:nvSpPr>
        <p:spPr>
          <a:xfrm>
            <a:off x="5965559" y="810783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태그칩"/>
          <p:cNvSpPr>
            <a:spLocks noGrp="1"/>
          </p:cNvSpPr>
          <p:nvPr>
            <p:ph type="body" sz="quarter" idx="25"/>
          </p:nvPr>
        </p:nvSpPr>
        <p:spPr>
          <a:xfrm>
            <a:off x="5965559" y="810783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20" name="표 외곽"/>
          <p:cNvSpPr/>
          <p:nvPr/>
        </p:nvSpPr>
        <p:spPr>
          <a:xfrm>
            <a:off x="723130" y="1062783"/>
            <a:ext cx="6300000" cy="99720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1" name="레일"/>
          <p:cNvSpPr/>
          <p:nvPr/>
        </p:nvSpPr>
        <p:spPr>
          <a:xfrm>
            <a:off x="734087" y="1079217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레일"/>
          <p:cNvSpPr>
            <a:spLocks noGrp="1"/>
          </p:cNvSpPr>
          <p:nvPr>
            <p:ph type="body" sz="quarter" idx="26"/>
          </p:nvPr>
        </p:nvSpPr>
        <p:spPr>
          <a:xfrm>
            <a:off x="734087" y="1079217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’24년을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돌아보고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7"/>
          </p:nvPr>
        </p:nvSpPr>
        <p:spPr>
          <a:xfrm>
            <a:off x="1358609" y="1101130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질적 성과 장애 이해·공감 중심활동으로 근로자 만족도 상승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8"/>
          </p:nvPr>
        </p:nvSpPr>
        <p:spPr>
          <a:xfrm>
            <a:off x="4182652" y="1101130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현황진단 법정 의무 고용률(3.8%) 달성에는 여전히 부족한 편</a:t>
            </a:r>
          </a:p>
        </p:txBody>
      </p:sp>
      <p:cxnSp>
        <p:nvCxnSpPr>
          <p:cNvPr id="25" name="Connector 14"/>
          <p:cNvCxnSpPr/>
          <p:nvPr/>
        </p:nvCxnSpPr>
        <p:spPr>
          <a:xfrm>
            <a:off x="4171696" y="1134000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6" name="레일"/>
          <p:cNvSpPr/>
          <p:nvPr/>
        </p:nvSpPr>
        <p:spPr>
          <a:xfrm>
            <a:off x="734087" y="1503861"/>
            <a:ext cx="580696" cy="5396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7" name="레일"/>
          <p:cNvSpPr>
            <a:spLocks noGrp="1"/>
          </p:cNvSpPr>
          <p:nvPr>
            <p:ph type="body" sz="quarter" idx="29"/>
          </p:nvPr>
        </p:nvSpPr>
        <p:spPr>
          <a:xfrm>
            <a:off x="734087" y="1503861"/>
            <a:ext cx="580696" cy="5396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원인을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찾아</a:t>
            </a:r>
          </a:p>
        </p:txBody>
      </p:sp>
      <p:sp>
        <p:nvSpPr>
          <p:cNvPr id="28" name="레일 삼각형"/>
          <p:cNvSpPr/>
          <p:nvPr/>
        </p:nvSpPr>
        <p:spPr>
          <a:xfrm>
            <a:off x="734086" y="1503860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0"/>
          </p:nvPr>
        </p:nvSpPr>
        <p:spPr>
          <a:xfrm>
            <a:off x="1358609" y="1525774"/>
            <a:ext cx="1860783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장애인 “근무장소까지 출·퇴근 하기가 부담스러워요”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1"/>
          </p:nvPr>
        </p:nvSpPr>
        <p:spPr>
          <a:xfrm>
            <a:off x="3241304" y="1525774"/>
            <a:ext cx="1860783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내부직원 “장애인을 포용할 수 있는 직무 도입이 필요”</a:t>
            </a:r>
          </a:p>
        </p:txBody>
      </p:sp>
      <p:cxnSp>
        <p:nvCxnSpPr>
          <p:cNvPr id="31" name="Connector 19"/>
          <p:cNvCxnSpPr/>
          <p:nvPr/>
        </p:nvCxnSpPr>
        <p:spPr>
          <a:xfrm>
            <a:off x="3230348" y="1558643"/>
            <a:ext cx="0" cy="284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2" name="칸 본문"/>
          <p:cNvSpPr>
            <a:spLocks noGrp="1"/>
          </p:cNvSpPr>
          <p:nvPr>
            <p:ph type="body" sz="quarter" idx="32"/>
          </p:nvPr>
        </p:nvSpPr>
        <p:spPr>
          <a:xfrm>
            <a:off x="5124000" y="1525774"/>
            <a:ext cx="1860783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고용공단 “일할 수 있는 여건 조성이 가장 중요해요”</a:t>
            </a:r>
          </a:p>
        </p:txBody>
      </p:sp>
      <p:cxnSp>
        <p:nvCxnSpPr>
          <p:cNvPr id="33" name="Connector 21"/>
          <p:cNvCxnSpPr/>
          <p:nvPr/>
        </p:nvCxnSpPr>
        <p:spPr>
          <a:xfrm>
            <a:off x="5113043" y="1558643"/>
            <a:ext cx="0" cy="284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4" name="캡션 띠"/>
          <p:cNvSpPr/>
          <p:nvPr/>
        </p:nvSpPr>
        <p:spPr>
          <a:xfrm>
            <a:off x="723130" y="2081895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5" name="태그"/>
          <p:cNvSpPr/>
          <p:nvPr/>
        </p:nvSpPr>
        <p:spPr>
          <a:xfrm>
            <a:off x="1051826" y="2125722"/>
            <a:ext cx="438871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6" name="태그"/>
          <p:cNvSpPr>
            <a:spLocks noGrp="1"/>
          </p:cNvSpPr>
          <p:nvPr>
            <p:ph type="body" sz="quarter" idx="33"/>
          </p:nvPr>
        </p:nvSpPr>
        <p:spPr>
          <a:xfrm>
            <a:off x="1051826" y="2125722"/>
            <a:ext cx="438871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37" name="캡션"/>
          <p:cNvSpPr>
            <a:spLocks noGrp="1"/>
          </p:cNvSpPr>
          <p:nvPr>
            <p:ph type="body" sz="quarter" idx="34"/>
          </p:nvPr>
        </p:nvSpPr>
        <p:spPr>
          <a:xfrm>
            <a:off x="1545480" y="2081896"/>
            <a:ext cx="5258520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일할 수 있는 환경을 조성하고 적합한 직무 부여를 통한 포용 일자리 확대</a:t>
            </a:r>
          </a:p>
        </p:txBody>
      </p:sp>
      <p:sp>
        <p:nvSpPr>
          <p:cNvPr id="38" name="표 외곽"/>
          <p:cNvSpPr/>
          <p:nvPr/>
        </p:nvSpPr>
        <p:spPr>
          <a:xfrm>
            <a:off x="723130" y="2388678"/>
            <a:ext cx="6300000" cy="2424209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9" name="레일"/>
          <p:cNvSpPr/>
          <p:nvPr/>
        </p:nvSpPr>
        <p:spPr>
          <a:xfrm>
            <a:off x="734087" y="2405113"/>
            <a:ext cx="580696" cy="70669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0" name="레일 태그"/>
          <p:cNvSpPr/>
          <p:nvPr/>
        </p:nvSpPr>
        <p:spPr>
          <a:xfrm>
            <a:off x="854405" y="2448939"/>
            <a:ext cx="340059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1" name="레일 태그"/>
          <p:cNvSpPr>
            <a:spLocks noGrp="1"/>
          </p:cNvSpPr>
          <p:nvPr>
            <p:ph type="body" sz="quarter" idx="35"/>
          </p:nvPr>
        </p:nvSpPr>
        <p:spPr>
          <a:xfrm>
            <a:off x="854405" y="2448939"/>
            <a:ext cx="340059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환경</a:t>
            </a:r>
          </a:p>
        </p:txBody>
      </p:sp>
      <p:sp>
        <p:nvSpPr>
          <p:cNvPr id="42" name="레일 라벨"/>
          <p:cNvSpPr>
            <a:spLocks noGrp="1"/>
          </p:cNvSpPr>
          <p:nvPr>
            <p:ph type="body" sz="quarter" idx="36"/>
          </p:nvPr>
        </p:nvSpPr>
        <p:spPr>
          <a:xfrm>
            <a:off x="734087" y="2635200"/>
            <a:ext cx="580696" cy="454696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근로여건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 성</a:t>
            </a:r>
          </a:p>
        </p:txBody>
      </p:sp>
      <p:sp>
        <p:nvSpPr>
          <p:cNvPr id="43" name="머리칸"/>
          <p:cNvSpPr/>
          <p:nvPr/>
        </p:nvSpPr>
        <p:spPr>
          <a:xfrm>
            <a:off x="1347652" y="2427026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4" name="머리칸"/>
          <p:cNvSpPr>
            <a:spLocks noGrp="1"/>
          </p:cNvSpPr>
          <p:nvPr>
            <p:ph type="body" sz="quarter" idx="37"/>
          </p:nvPr>
        </p:nvSpPr>
        <p:spPr>
          <a:xfrm>
            <a:off x="1347652" y="2427026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재택근무 기반의 신규 직무 신설</a:t>
            </a:r>
          </a:p>
        </p:txBody>
      </p:sp>
      <p:sp>
        <p:nvSpPr>
          <p:cNvPr id="45" name="머리칸"/>
          <p:cNvSpPr/>
          <p:nvPr/>
        </p:nvSpPr>
        <p:spPr>
          <a:xfrm>
            <a:off x="4171696" y="2427026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6" name="머리칸"/>
          <p:cNvSpPr>
            <a:spLocks noGrp="1"/>
          </p:cNvSpPr>
          <p:nvPr>
            <p:ph type="body" sz="quarter" idx="38"/>
          </p:nvPr>
        </p:nvSpPr>
        <p:spPr>
          <a:xfrm>
            <a:off x="4171696" y="2427026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시공간 제약없는 근무환경 조성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39"/>
          </p:nvPr>
        </p:nvSpPr>
        <p:spPr>
          <a:xfrm>
            <a:off x="1358609" y="2668070"/>
            <a:ext cx="2802130" cy="438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고용공단 협업 재택근무 기반 맞춤형 직무 개발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단독 업무수행 가능 직무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40"/>
          </p:nvPr>
        </p:nvSpPr>
        <p:spPr>
          <a:xfrm>
            <a:off x="4182652" y="2668070"/>
            <a:ext cx="2802130" cy="438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일 4시간 재택근무형 인턴 채용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디지털 오피스 근무여건 마련</a:t>
            </a:r>
          </a:p>
        </p:txBody>
      </p:sp>
      <p:cxnSp>
        <p:nvCxnSpPr>
          <p:cNvPr id="49" name="Connector 33"/>
          <p:cNvCxnSpPr/>
          <p:nvPr/>
        </p:nvCxnSpPr>
        <p:spPr>
          <a:xfrm>
            <a:off x="4171696" y="2700939"/>
            <a:ext cx="0" cy="372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0" name="레일"/>
          <p:cNvSpPr/>
          <p:nvPr/>
        </p:nvSpPr>
        <p:spPr>
          <a:xfrm>
            <a:off x="734087" y="3128243"/>
            <a:ext cx="580696" cy="87104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1" name="레일 태그"/>
          <p:cNvSpPr/>
          <p:nvPr/>
        </p:nvSpPr>
        <p:spPr>
          <a:xfrm>
            <a:off x="854405" y="3292591"/>
            <a:ext cx="340059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52" name="레일 태그"/>
          <p:cNvSpPr>
            <a:spLocks noGrp="1"/>
          </p:cNvSpPr>
          <p:nvPr>
            <p:ph type="body" sz="quarter" idx="41"/>
          </p:nvPr>
        </p:nvSpPr>
        <p:spPr>
          <a:xfrm>
            <a:off x="854405" y="3292591"/>
            <a:ext cx="340059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</a:t>
            </a:r>
          </a:p>
        </p:txBody>
      </p:sp>
      <p:sp>
        <p:nvSpPr>
          <p:cNvPr id="53" name="레일 라벨"/>
          <p:cNvSpPr>
            <a:spLocks noGrp="1"/>
          </p:cNvSpPr>
          <p:nvPr>
            <p:ph type="body" sz="quarter" idx="42"/>
          </p:nvPr>
        </p:nvSpPr>
        <p:spPr>
          <a:xfrm>
            <a:off x="734087" y="3478852"/>
            <a:ext cx="580696" cy="498522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직무채용기반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마 련</a:t>
            </a:r>
          </a:p>
        </p:txBody>
      </p:sp>
      <p:sp>
        <p:nvSpPr>
          <p:cNvPr id="54" name="레일 삼각형"/>
          <p:cNvSpPr/>
          <p:nvPr/>
        </p:nvSpPr>
        <p:spPr>
          <a:xfrm>
            <a:off x="734086" y="3128243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5" name="머리칸"/>
          <p:cNvSpPr/>
          <p:nvPr/>
        </p:nvSpPr>
        <p:spPr>
          <a:xfrm>
            <a:off x="1347652" y="3150157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6" name="머리칸"/>
          <p:cNvSpPr>
            <a:spLocks noGrp="1"/>
          </p:cNvSpPr>
          <p:nvPr>
            <p:ph type="body" sz="quarter" idx="43"/>
          </p:nvPr>
        </p:nvSpPr>
        <p:spPr>
          <a:xfrm>
            <a:off x="1347652" y="3150157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시범 도입 직무 전사업장 확산</a:t>
            </a:r>
          </a:p>
        </p:txBody>
      </p:sp>
      <p:sp>
        <p:nvSpPr>
          <p:cNvPr id="57" name="머리칸"/>
          <p:cNvSpPr/>
          <p:nvPr/>
        </p:nvSpPr>
        <p:spPr>
          <a:xfrm>
            <a:off x="4171696" y="3150157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8" name="머리칸"/>
          <p:cNvSpPr>
            <a:spLocks noGrp="1"/>
          </p:cNvSpPr>
          <p:nvPr>
            <p:ph type="body" sz="quarter" idx="44"/>
          </p:nvPr>
        </p:nvSpPr>
        <p:spPr>
          <a:xfrm>
            <a:off x="4171696" y="3150157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적합 직무 신규 개발·고용 확대</a:t>
            </a:r>
          </a:p>
        </p:txBody>
      </p:sp>
      <p:sp>
        <p:nvSpPr>
          <p:cNvPr id="59" name="칸 본문"/>
          <p:cNvSpPr>
            <a:spLocks noGrp="1"/>
          </p:cNvSpPr>
          <p:nvPr>
            <p:ph type="body" sz="quarter" idx="45"/>
          </p:nvPr>
        </p:nvSpPr>
        <p:spPr>
          <a:xfrm>
            <a:off x="1358609" y="3391200"/>
            <a:ext cx="2802130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사택미화·기록물관리 직무 본사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전국 채용 확대, 직무매뉴얼 배포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전사 26명 신규 채용(’24년 14명)</a:t>
            </a:r>
          </a:p>
        </p:txBody>
      </p:sp>
      <p:sp>
        <p:nvSpPr>
          <p:cNvPr id="60" name="칸 본문"/>
          <p:cNvSpPr>
            <a:spLocks noGrp="1"/>
          </p:cNvSpPr>
          <p:nvPr>
            <p:ph type="body" sz="quarter" idx="46"/>
          </p:nvPr>
        </p:nvSpPr>
        <p:spPr>
          <a:xfrm>
            <a:off x="4182652" y="3391200"/>
            <a:ext cx="2802130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장애 고용 TF·장애 직무 공모전 개최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생활지원서비스 직무 개발·채용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8명 고용</a:t>
            </a:r>
          </a:p>
        </p:txBody>
      </p:sp>
      <p:cxnSp>
        <p:nvCxnSpPr>
          <p:cNvPr id="61" name="Connector 42"/>
          <p:cNvCxnSpPr/>
          <p:nvPr/>
        </p:nvCxnSpPr>
        <p:spPr>
          <a:xfrm>
            <a:off x="4171696" y="3424070"/>
            <a:ext cx="0" cy="536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2" name="레일"/>
          <p:cNvSpPr/>
          <p:nvPr/>
        </p:nvSpPr>
        <p:spPr>
          <a:xfrm>
            <a:off x="734087" y="4015722"/>
            <a:ext cx="580696" cy="780730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3" name="레일 태그"/>
          <p:cNvSpPr/>
          <p:nvPr/>
        </p:nvSpPr>
        <p:spPr>
          <a:xfrm>
            <a:off x="854405" y="4180070"/>
            <a:ext cx="340059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64" name="레일 태그"/>
          <p:cNvSpPr>
            <a:spLocks noGrp="1"/>
          </p:cNvSpPr>
          <p:nvPr>
            <p:ph type="body" sz="quarter" idx="47"/>
          </p:nvPr>
        </p:nvSpPr>
        <p:spPr>
          <a:xfrm>
            <a:off x="854405" y="4180070"/>
            <a:ext cx="340059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성장</a:t>
            </a:r>
          </a:p>
        </p:txBody>
      </p:sp>
      <p:sp>
        <p:nvSpPr>
          <p:cNvPr id="65" name="레일 라벨"/>
          <p:cNvSpPr>
            <a:spLocks noGrp="1"/>
          </p:cNvSpPr>
          <p:nvPr>
            <p:ph type="body" sz="quarter" idx="48"/>
          </p:nvPr>
        </p:nvSpPr>
        <p:spPr>
          <a:xfrm>
            <a:off x="734087" y="4366330"/>
            <a:ext cx="580696" cy="408209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고용안착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 원</a:t>
            </a:r>
          </a:p>
        </p:txBody>
      </p:sp>
      <p:sp>
        <p:nvSpPr>
          <p:cNvPr id="66" name="레일 삼각형"/>
          <p:cNvSpPr/>
          <p:nvPr/>
        </p:nvSpPr>
        <p:spPr>
          <a:xfrm>
            <a:off x="734086" y="4015721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7" name="머리칸"/>
          <p:cNvSpPr/>
          <p:nvPr/>
        </p:nvSpPr>
        <p:spPr>
          <a:xfrm>
            <a:off x="1347652" y="4037635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68" name="머리칸"/>
          <p:cNvSpPr>
            <a:spLocks noGrp="1"/>
          </p:cNvSpPr>
          <p:nvPr>
            <p:ph type="body" sz="quarter" idx="49"/>
          </p:nvPr>
        </p:nvSpPr>
        <p:spPr>
          <a:xfrm>
            <a:off x="1347652" y="4037635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조직적응 및 경력지원</a:t>
            </a:r>
          </a:p>
        </p:txBody>
      </p:sp>
      <p:sp>
        <p:nvSpPr>
          <p:cNvPr id="69" name="머리칸"/>
          <p:cNvSpPr/>
          <p:nvPr/>
        </p:nvSpPr>
        <p:spPr>
          <a:xfrm>
            <a:off x="4171696" y="4037635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0" name="머리칸"/>
          <p:cNvSpPr>
            <a:spLocks noGrp="1"/>
          </p:cNvSpPr>
          <p:nvPr>
            <p:ph type="body" sz="quarter" idx="50"/>
          </p:nvPr>
        </p:nvSpPr>
        <p:spPr>
          <a:xfrm>
            <a:off x="4171696" y="4037635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포용문화 확산</a:t>
            </a:r>
          </a:p>
        </p:txBody>
      </p:sp>
      <p:sp>
        <p:nvSpPr>
          <p:cNvPr id="71" name="칸 본문"/>
          <p:cNvSpPr>
            <a:spLocks noGrp="1"/>
          </p:cNvSpPr>
          <p:nvPr>
            <p:ph type="body" sz="quarter" idx="51"/>
          </p:nvPr>
        </p:nvSpPr>
        <p:spPr>
          <a:xfrm>
            <a:off x="1358609" y="4278678"/>
            <a:ext cx="2802130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초기 온보딩 및 맞춤 직무교육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후속 고용공단 연계 직업훈련 참여 지원</a:t>
            </a:r>
          </a:p>
        </p:txBody>
      </p:sp>
      <p:sp>
        <p:nvSpPr>
          <p:cNvPr id="72" name="칸 본문"/>
          <p:cNvSpPr>
            <a:spLocks noGrp="1"/>
          </p:cNvSpPr>
          <p:nvPr>
            <p:ph type="body" sz="quarter" idx="52"/>
          </p:nvPr>
        </p:nvSpPr>
        <p:spPr>
          <a:xfrm>
            <a:off x="4182652" y="4278678"/>
            <a:ext cx="2802130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 직장 내 장애인식 개선 콘서트 개최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 장애대학생 기업탐방, 채용설명회</a:t>
            </a:r>
          </a:p>
        </p:txBody>
      </p:sp>
      <p:cxnSp>
        <p:nvCxnSpPr>
          <p:cNvPr id="73" name="Connector 51"/>
          <p:cNvCxnSpPr/>
          <p:nvPr/>
        </p:nvCxnSpPr>
        <p:spPr>
          <a:xfrm>
            <a:off x="4171696" y="4311548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4" name="핵심성과 박스"/>
          <p:cNvSpPr/>
          <p:nvPr/>
        </p:nvSpPr>
        <p:spPr>
          <a:xfrm>
            <a:off x="723130" y="4900539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5" name="핵심성과 라벨"/>
          <p:cNvSpPr/>
          <p:nvPr/>
        </p:nvSpPr>
        <p:spPr>
          <a:xfrm>
            <a:off x="756000" y="4938887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76" name="핵심성과 라벨"/>
          <p:cNvSpPr>
            <a:spLocks noGrp="1"/>
          </p:cNvSpPr>
          <p:nvPr>
            <p:ph type="body" sz="quarter" idx="53"/>
          </p:nvPr>
        </p:nvSpPr>
        <p:spPr>
          <a:xfrm>
            <a:off x="756000" y="4938887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77" name="핵심성과 문구"/>
          <p:cNvSpPr>
            <a:spLocks noGrp="1"/>
          </p:cNvSpPr>
          <p:nvPr>
            <p:ph type="body" sz="quarter" idx="54"/>
          </p:nvPr>
        </p:nvSpPr>
        <p:spPr>
          <a:xfrm>
            <a:off x="1501043" y="4916974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역대 최고 장애 고용률 3.8% 달성(’24년 대비 0.32%p 상승, 법정 의무 고용률 준수)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57 서사 · 정부 정책 변화 → 이행 노력 → 성과 창출(3단 흐름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11" name="분야 박스"/>
          <p:cNvSpPr/>
          <p:nvPr/>
        </p:nvSpPr>
        <p:spPr>
          <a:xfrm>
            <a:off x="766390" y="799826"/>
            <a:ext cx="621737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분야 박스"/>
          <p:cNvSpPr>
            <a:spLocks noGrp="1"/>
          </p:cNvSpPr>
          <p:nvPr>
            <p:ph type="body" sz="quarter" idx="21"/>
          </p:nvPr>
        </p:nvSpPr>
        <p:spPr>
          <a:xfrm>
            <a:off x="766390" y="799826"/>
            <a:ext cx="62173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고졸 인재</a:t>
            </a:r>
          </a:p>
        </p:txBody>
      </p:sp>
      <p:sp>
        <p:nvSpPr>
          <p:cNvPr id="13" name="형광 밑줄"/>
          <p:cNvSpPr/>
          <p:nvPr/>
        </p:nvSpPr>
        <p:spPr>
          <a:xfrm>
            <a:off x="1453866" y="920348"/>
            <a:ext cx="3243826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소제목"/>
          <p:cNvSpPr>
            <a:spLocks noGrp="1"/>
          </p:cNvSpPr>
          <p:nvPr>
            <p:ph type="body" sz="quarter" idx="22"/>
          </p:nvPr>
        </p:nvSpPr>
        <p:spPr>
          <a:xfrm>
            <a:off x="1453866" y="766957"/>
            <a:ext cx="5383003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우수 인재 조기 확보·입직 지원을 위한 선제적 채용 추진</a:t>
            </a:r>
          </a:p>
        </p:txBody>
      </p:sp>
      <p:sp>
        <p:nvSpPr>
          <p:cNvPr id="15" name="태그칩"/>
          <p:cNvSpPr/>
          <p:nvPr/>
        </p:nvSpPr>
        <p:spPr>
          <a:xfrm>
            <a:off x="4796301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태그칩"/>
          <p:cNvSpPr>
            <a:spLocks noGrp="1"/>
          </p:cNvSpPr>
          <p:nvPr>
            <p:ph type="body" sz="quarter" idx="23"/>
          </p:nvPr>
        </p:nvSpPr>
        <p:spPr>
          <a:xfrm>
            <a:off x="4796301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7" name="표 외곽"/>
          <p:cNvSpPr/>
          <p:nvPr/>
        </p:nvSpPr>
        <p:spPr>
          <a:xfrm>
            <a:off x="536870" y="1051826"/>
            <a:ext cx="6300000" cy="151747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레일"/>
          <p:cNvSpPr/>
          <p:nvPr/>
        </p:nvSpPr>
        <p:spPr>
          <a:xfrm>
            <a:off x="547826" y="1068261"/>
            <a:ext cx="580696" cy="14846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레일"/>
          <p:cNvSpPr>
            <a:spLocks noGrp="1"/>
          </p:cNvSpPr>
          <p:nvPr>
            <p:ph type="body" sz="quarter" idx="24"/>
          </p:nvPr>
        </p:nvSpPr>
        <p:spPr>
          <a:xfrm>
            <a:off x="547826" y="1068261"/>
            <a:ext cx="580696" cy="1484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흐 름</a:t>
            </a:r>
          </a:p>
        </p:txBody>
      </p:sp>
      <p:sp>
        <p:nvSpPr>
          <p:cNvPr id="20" name="단계"/>
          <p:cNvSpPr/>
          <p:nvPr/>
        </p:nvSpPr>
        <p:spPr>
          <a:xfrm>
            <a:off x="1161391" y="1090174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1" name="단계"/>
          <p:cNvSpPr>
            <a:spLocks noGrp="1"/>
          </p:cNvSpPr>
          <p:nvPr>
            <p:ph type="body" sz="quarter" idx="25"/>
          </p:nvPr>
        </p:nvSpPr>
        <p:spPr>
          <a:xfrm>
            <a:off x="1161391" y="109017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정부·정책 변화</a:t>
            </a:r>
          </a:p>
        </p:txBody>
      </p:sp>
      <p:sp>
        <p:nvSpPr>
          <p:cNvPr id="22" name="단계"/>
          <p:cNvSpPr/>
          <p:nvPr/>
        </p:nvSpPr>
        <p:spPr>
          <a:xfrm>
            <a:off x="3044087" y="1090174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3" name="단계"/>
          <p:cNvSpPr>
            <a:spLocks noGrp="1"/>
          </p:cNvSpPr>
          <p:nvPr>
            <p:ph type="body" sz="quarter" idx="26"/>
          </p:nvPr>
        </p:nvSpPr>
        <p:spPr>
          <a:xfrm>
            <a:off x="3044087" y="109017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정부목표 달성 이행 노력</a:t>
            </a:r>
          </a:p>
        </p:txBody>
      </p:sp>
      <p:sp>
        <p:nvSpPr>
          <p:cNvPr id="24" name="단계"/>
          <p:cNvSpPr/>
          <p:nvPr/>
        </p:nvSpPr>
        <p:spPr>
          <a:xfrm>
            <a:off x="4926783" y="1090174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5" name="단계"/>
          <p:cNvSpPr>
            <a:spLocks noGrp="1"/>
          </p:cNvSpPr>
          <p:nvPr>
            <p:ph type="body" sz="quarter" idx="27"/>
          </p:nvPr>
        </p:nvSpPr>
        <p:spPr>
          <a:xfrm>
            <a:off x="4926783" y="109017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 창출</a:t>
            </a:r>
          </a:p>
        </p:txBody>
      </p:sp>
      <p:sp>
        <p:nvSpPr>
          <p:cNvPr id="26" name="단계 삼각형"/>
          <p:cNvSpPr/>
          <p:nvPr/>
        </p:nvSpPr>
        <p:spPr>
          <a:xfrm>
            <a:off x="3044086" y="1090173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7" name="단계 삼각형"/>
          <p:cNvSpPr/>
          <p:nvPr/>
        </p:nvSpPr>
        <p:spPr>
          <a:xfrm>
            <a:off x="4926782" y="109017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8"/>
          </p:nvPr>
        </p:nvSpPr>
        <p:spPr>
          <a:xfrm>
            <a:off x="1172348" y="1342174"/>
            <a:ext cx="1860783" cy="120521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고졸채용 활성화를 위한 공공부문 의무목표 상향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경제정책 방향(’25.1): 경영평가 고졸 채용 만점 비율 상향(기존 8% → ’25년 9% → ’26년 10%)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3055043" y="1342174"/>
            <a:ext cx="1860783" cy="120521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마이스터고 채용설명회 “공공기관 채용인원이 많아져서 졸업 후 바로 취업하고 싶어요”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채용규모 확대 고졸 채용 29명 공고(전년 17명)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맞춤형 설명회 전남 고등학생 400명 대상 채용 상담</a:t>
            </a:r>
          </a:p>
        </p:txBody>
      </p:sp>
      <p:cxnSp>
        <p:nvCxnSpPr>
          <p:cNvPr id="30" name="Connector 20"/>
          <p:cNvCxnSpPr/>
          <p:nvPr/>
        </p:nvCxnSpPr>
        <p:spPr>
          <a:xfrm>
            <a:off x="3044087" y="1375043"/>
            <a:ext cx="0" cy="113947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4937739" y="1342174"/>
            <a:ext cx="1860783" cy="120521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전년 대비 48% 채용규모 확대(’24년 23명 → ’25년 34명)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졸업 시기 고려, SOC군 최초 조기 채용 공고</a:t>
            </a:r>
          </a:p>
        </p:txBody>
      </p:sp>
      <p:cxnSp>
        <p:nvCxnSpPr>
          <p:cNvPr id="32" name="Connector 22"/>
          <p:cNvCxnSpPr/>
          <p:nvPr/>
        </p:nvCxnSpPr>
        <p:spPr>
          <a:xfrm>
            <a:off x="4926783" y="1375043"/>
            <a:ext cx="0" cy="113947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58 서사 · 추진배경 → 시사점 → 추진방향 3축 → 추진성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</a:t>
            </a:r>
          </a:p>
        </p:txBody>
      </p:sp>
      <p:sp>
        <p:nvSpPr>
          <p:cNvPr id="10" name="분야 박스"/>
          <p:cNvSpPr/>
          <p:nvPr/>
        </p:nvSpPr>
        <p:spPr>
          <a:xfrm>
            <a:off x="952651" y="810783"/>
            <a:ext cx="702235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1" name="분야 박스"/>
          <p:cNvSpPr>
            <a:spLocks noGrp="1"/>
          </p:cNvSpPr>
          <p:nvPr>
            <p:ph type="body" sz="quarter" idx="21"/>
          </p:nvPr>
        </p:nvSpPr>
        <p:spPr>
          <a:xfrm>
            <a:off x="952651" y="810783"/>
            <a:ext cx="70223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사회배려자</a:t>
            </a:r>
          </a:p>
        </p:txBody>
      </p:sp>
      <p:sp>
        <p:nvSpPr>
          <p:cNvPr id="12" name="형광 밑줄"/>
          <p:cNvSpPr/>
          <p:nvPr/>
        </p:nvSpPr>
        <p:spPr>
          <a:xfrm>
            <a:off x="1720624" y="931304"/>
            <a:ext cx="3525726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3" name="소제목"/>
          <p:cNvSpPr>
            <a:spLocks noGrp="1"/>
          </p:cNvSpPr>
          <p:nvPr>
            <p:ph type="body" sz="quarter" idx="22"/>
          </p:nvPr>
        </p:nvSpPr>
        <p:spPr>
          <a:xfrm>
            <a:off x="1720624" y="777913"/>
            <a:ext cx="5302506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자립청년을 시작으로 사회배려자 전반으로 고용 안전망 확장</a:t>
            </a:r>
          </a:p>
        </p:txBody>
      </p:sp>
      <p:sp>
        <p:nvSpPr>
          <p:cNvPr id="14" name="태그칩"/>
          <p:cNvSpPr/>
          <p:nvPr/>
        </p:nvSpPr>
        <p:spPr>
          <a:xfrm>
            <a:off x="5344959" y="810783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3"/>
          </p:nvPr>
        </p:nvSpPr>
        <p:spPr>
          <a:xfrm>
            <a:off x="5344959" y="810783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6" name="태그칩"/>
          <p:cNvSpPr/>
          <p:nvPr/>
        </p:nvSpPr>
        <p:spPr>
          <a:xfrm>
            <a:off x="6115618" y="810783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칩"/>
          <p:cNvSpPr>
            <a:spLocks noGrp="1"/>
          </p:cNvSpPr>
          <p:nvPr>
            <p:ph type="body" sz="quarter" idx="24"/>
          </p:nvPr>
        </p:nvSpPr>
        <p:spPr>
          <a:xfrm>
            <a:off x="6115618" y="810783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8" name="표 외곽"/>
          <p:cNvSpPr/>
          <p:nvPr/>
        </p:nvSpPr>
        <p:spPr>
          <a:xfrm>
            <a:off x="723130" y="1062783"/>
            <a:ext cx="6300000" cy="44107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레일"/>
          <p:cNvSpPr/>
          <p:nvPr/>
        </p:nvSpPr>
        <p:spPr>
          <a:xfrm>
            <a:off x="734087" y="1079217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5"/>
          </p:nvPr>
        </p:nvSpPr>
        <p:spPr>
          <a:xfrm>
            <a:off x="734087" y="1079217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6"/>
          </p:nvPr>
        </p:nvSpPr>
        <p:spPr>
          <a:xfrm>
            <a:off x="1358609" y="1101130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본사 소재 지역 외 전국 자립청년 대상으로 확대 필요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7"/>
          </p:nvPr>
        </p:nvSpPr>
        <p:spPr>
          <a:xfrm>
            <a:off x="4182652" y="1101130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 환류 자립청년 外 취약계층 채용성과도 여전히 답보상태</a:t>
            </a:r>
          </a:p>
        </p:txBody>
      </p:sp>
      <p:cxnSp>
        <p:nvCxnSpPr>
          <p:cNvPr id="23" name="Connector 13"/>
          <p:cNvCxnSpPr/>
          <p:nvPr/>
        </p:nvCxnSpPr>
        <p:spPr>
          <a:xfrm>
            <a:off x="4171696" y="1134000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4" name="캡션 띠"/>
          <p:cNvSpPr/>
          <p:nvPr/>
        </p:nvSpPr>
        <p:spPr>
          <a:xfrm>
            <a:off x="723130" y="1525773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5" name="태그"/>
          <p:cNvSpPr/>
          <p:nvPr/>
        </p:nvSpPr>
        <p:spPr>
          <a:xfrm>
            <a:off x="1051826" y="1569600"/>
            <a:ext cx="438871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6" name="태그"/>
          <p:cNvSpPr>
            <a:spLocks noGrp="1"/>
          </p:cNvSpPr>
          <p:nvPr>
            <p:ph type="body" sz="quarter" idx="28"/>
          </p:nvPr>
        </p:nvSpPr>
        <p:spPr>
          <a:xfrm>
            <a:off x="1051826" y="1569600"/>
            <a:ext cx="438871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27" name="캡션"/>
          <p:cNvSpPr>
            <a:spLocks noGrp="1"/>
          </p:cNvSpPr>
          <p:nvPr>
            <p:ph type="body" sz="quarter" idx="29"/>
          </p:nvPr>
        </p:nvSpPr>
        <p:spPr>
          <a:xfrm>
            <a:off x="1545480" y="1525774"/>
            <a:ext cx="5258520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사회배려자(자립청년 포함) 고용·역량 강화 지원으로 안정적 일자리로의 연계 확대</a:t>
            </a:r>
          </a:p>
        </p:txBody>
      </p:sp>
      <p:sp>
        <p:nvSpPr>
          <p:cNvPr id="28" name="표 외곽"/>
          <p:cNvSpPr/>
          <p:nvPr/>
        </p:nvSpPr>
        <p:spPr>
          <a:xfrm>
            <a:off x="723130" y="1832557"/>
            <a:ext cx="6300000" cy="1358609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9" name="레일"/>
          <p:cNvSpPr/>
          <p:nvPr/>
        </p:nvSpPr>
        <p:spPr>
          <a:xfrm>
            <a:off x="734087" y="1848991"/>
            <a:ext cx="580696" cy="132573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0" name="레일"/>
          <p:cNvSpPr>
            <a:spLocks noGrp="1"/>
          </p:cNvSpPr>
          <p:nvPr>
            <p:ph type="body" sz="quarter" idx="30"/>
          </p:nvPr>
        </p:nvSpPr>
        <p:spPr>
          <a:xfrm>
            <a:off x="734087" y="1848991"/>
            <a:ext cx="580696" cy="1325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방향</a:t>
            </a:r>
          </a:p>
        </p:txBody>
      </p:sp>
      <p:sp>
        <p:nvSpPr>
          <p:cNvPr id="31" name="배너"/>
          <p:cNvSpPr/>
          <p:nvPr/>
        </p:nvSpPr>
        <p:spPr>
          <a:xfrm>
            <a:off x="1347652" y="1870904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2" name="배너"/>
          <p:cNvSpPr>
            <a:spLocks noGrp="1"/>
          </p:cNvSpPr>
          <p:nvPr>
            <p:ph type="body" sz="quarter" idx="31"/>
          </p:nvPr>
        </p:nvSpPr>
        <p:spPr>
          <a:xfrm>
            <a:off x="1347652" y="1870904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고용 취약계층(자립청년, 기초수급자, 다문화, 북한이탈, 한부모)을 사회배려자 범위로 재정의</a:t>
            </a:r>
          </a:p>
        </p:txBody>
      </p:sp>
      <p:sp>
        <p:nvSpPr>
          <p:cNvPr id="33" name="머리칸"/>
          <p:cNvSpPr/>
          <p:nvPr/>
        </p:nvSpPr>
        <p:spPr>
          <a:xfrm>
            <a:off x="1347652" y="210647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4" name="머리칸"/>
          <p:cNvSpPr>
            <a:spLocks noGrp="1"/>
          </p:cNvSpPr>
          <p:nvPr>
            <p:ph type="body" sz="quarter" idx="32"/>
          </p:nvPr>
        </p:nvSpPr>
        <p:spPr>
          <a:xfrm>
            <a:off x="1347652" y="210647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참여 지원 확대</a:t>
            </a:r>
          </a:p>
        </p:txBody>
      </p:sp>
      <p:sp>
        <p:nvSpPr>
          <p:cNvPr id="35" name="머리칸"/>
          <p:cNvSpPr/>
          <p:nvPr/>
        </p:nvSpPr>
        <p:spPr>
          <a:xfrm>
            <a:off x="3230348" y="210647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6" name="머리칸"/>
          <p:cNvSpPr>
            <a:spLocks noGrp="1"/>
          </p:cNvSpPr>
          <p:nvPr>
            <p:ph type="body" sz="quarter" idx="33"/>
          </p:nvPr>
        </p:nvSpPr>
        <p:spPr>
          <a:xfrm>
            <a:off x="3230348" y="210647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개인 성장 지원</a:t>
            </a:r>
          </a:p>
        </p:txBody>
      </p:sp>
      <p:sp>
        <p:nvSpPr>
          <p:cNvPr id="37" name="머리칸"/>
          <p:cNvSpPr/>
          <p:nvPr/>
        </p:nvSpPr>
        <p:spPr>
          <a:xfrm>
            <a:off x="5113043" y="210647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8" name="머리칸"/>
          <p:cNvSpPr>
            <a:spLocks noGrp="1"/>
          </p:cNvSpPr>
          <p:nvPr>
            <p:ph type="body" sz="quarter" idx="34"/>
          </p:nvPr>
        </p:nvSpPr>
        <p:spPr>
          <a:xfrm>
            <a:off x="5113043" y="210647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❸ 정규직 연계 강화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5"/>
          </p:nvPr>
        </p:nvSpPr>
        <p:spPr>
          <a:xfrm>
            <a:off x="1358609" y="2347513"/>
            <a:ext cx="1860783" cy="821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본사 → 전국으로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홍보 전국 자립전담기관 대상 채용 전형 홍보 진행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36"/>
          </p:nvPr>
        </p:nvSpPr>
        <p:spPr>
          <a:xfrm>
            <a:off x="3241304" y="2347513"/>
            <a:ext cx="1860783" cy="821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역량 강화 사회배려자 청년 인턴 교육·면접 준비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이러닝 학습(직무·어학), 모의면접 훈련(재직자 1:1)</a:t>
            </a:r>
          </a:p>
        </p:txBody>
      </p:sp>
      <p:cxnSp>
        <p:nvCxnSpPr>
          <p:cNvPr id="41" name="Connector 25"/>
          <p:cNvCxnSpPr/>
          <p:nvPr/>
        </p:nvCxnSpPr>
        <p:spPr>
          <a:xfrm>
            <a:off x="3230348" y="2380383"/>
            <a:ext cx="0" cy="75600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2" name="칸 본문"/>
          <p:cNvSpPr>
            <a:spLocks noGrp="1"/>
          </p:cNvSpPr>
          <p:nvPr>
            <p:ph type="body" sz="quarter" idx="37"/>
          </p:nvPr>
        </p:nvSpPr>
        <p:spPr>
          <a:xfrm>
            <a:off x="5124000" y="2347513"/>
            <a:ext cx="1860783" cy="821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일반직 우수인턴 가점 부여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운영·실무직 별도 전형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「인사규정 채용세칙」 ‘사회배려자 통합전형 명문화’</a:t>
            </a:r>
          </a:p>
        </p:txBody>
      </p:sp>
      <p:cxnSp>
        <p:nvCxnSpPr>
          <p:cNvPr id="43" name="Connector 27"/>
          <p:cNvCxnSpPr/>
          <p:nvPr/>
        </p:nvCxnSpPr>
        <p:spPr>
          <a:xfrm>
            <a:off x="5113043" y="2380383"/>
            <a:ext cx="0" cy="75600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4" name="핵심성과 박스"/>
          <p:cNvSpPr/>
          <p:nvPr/>
        </p:nvSpPr>
        <p:spPr>
          <a:xfrm>
            <a:off x="723130" y="3278817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5" name="핵심성과 라벨"/>
          <p:cNvSpPr/>
          <p:nvPr/>
        </p:nvSpPr>
        <p:spPr>
          <a:xfrm>
            <a:off x="756000" y="3317165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46" name="핵심성과 라벨"/>
          <p:cNvSpPr>
            <a:spLocks noGrp="1"/>
          </p:cNvSpPr>
          <p:nvPr>
            <p:ph type="body" sz="quarter" idx="38"/>
          </p:nvPr>
        </p:nvSpPr>
        <p:spPr>
          <a:xfrm>
            <a:off x="756000" y="3317165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7" name="핵심성과 문구"/>
          <p:cNvSpPr>
            <a:spLocks noGrp="1"/>
          </p:cNvSpPr>
          <p:nvPr>
            <p:ph type="body" sz="quarter" idx="39"/>
          </p:nvPr>
        </p:nvSpPr>
        <p:spPr>
          <a:xfrm>
            <a:off x="1501043" y="3295252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SOC군 유일 사회배려자 전형으로 정규직 5명 채용(기초수급자 1, 한부모 2, 다문화 2)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59 서사 · 추진배경 → 광역 거버넌스 → 지역인재 육성체계 → 종합실적(막대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라.</a:t>
            </a:r>
          </a:p>
        </p:txBody>
      </p:sp>
      <p:sp>
        <p:nvSpPr>
          <p:cNvPr id="11" name="분야 박스"/>
          <p:cNvSpPr/>
          <p:nvPr/>
        </p:nvSpPr>
        <p:spPr>
          <a:xfrm>
            <a:off x="766390" y="799826"/>
            <a:ext cx="592466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분야 박스"/>
          <p:cNvSpPr>
            <a:spLocks noGrp="1"/>
          </p:cNvSpPr>
          <p:nvPr>
            <p:ph type="body" sz="quarter" idx="21"/>
          </p:nvPr>
        </p:nvSpPr>
        <p:spPr>
          <a:xfrm>
            <a:off x="766390" y="799826"/>
            <a:ext cx="59246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지역인재</a:t>
            </a:r>
          </a:p>
        </p:txBody>
      </p:sp>
      <p:sp>
        <p:nvSpPr>
          <p:cNvPr id="13" name="형광 밑줄"/>
          <p:cNvSpPr/>
          <p:nvPr/>
        </p:nvSpPr>
        <p:spPr>
          <a:xfrm>
            <a:off x="1424595" y="920348"/>
            <a:ext cx="3200811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소제목"/>
          <p:cNvSpPr>
            <a:spLocks noGrp="1"/>
          </p:cNvSpPr>
          <p:nvPr>
            <p:ph type="body" sz="quarter" idx="22"/>
          </p:nvPr>
        </p:nvSpPr>
        <p:spPr>
          <a:xfrm>
            <a:off x="1424595" y="766957"/>
            <a:ext cx="5412275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쏠림 없는 성과를 향해 지역인재 채용의 다음 단계 설계</a:t>
            </a:r>
          </a:p>
        </p:txBody>
      </p:sp>
      <p:sp>
        <p:nvSpPr>
          <p:cNvPr id="15" name="태그칩"/>
          <p:cNvSpPr/>
          <p:nvPr/>
        </p:nvSpPr>
        <p:spPr>
          <a:xfrm>
            <a:off x="4724014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태그칩"/>
          <p:cNvSpPr>
            <a:spLocks noGrp="1"/>
          </p:cNvSpPr>
          <p:nvPr>
            <p:ph type="body" sz="quarter" idx="23"/>
          </p:nvPr>
        </p:nvSpPr>
        <p:spPr>
          <a:xfrm>
            <a:off x="4724014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7" name="표 외곽"/>
          <p:cNvSpPr/>
          <p:nvPr/>
        </p:nvSpPr>
        <p:spPr>
          <a:xfrm>
            <a:off x="536870" y="1051826"/>
            <a:ext cx="6300000" cy="44107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레일"/>
          <p:cNvSpPr/>
          <p:nvPr/>
        </p:nvSpPr>
        <p:spPr>
          <a:xfrm>
            <a:off x="547826" y="1068261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레일"/>
          <p:cNvSpPr>
            <a:spLocks noGrp="1"/>
          </p:cNvSpPr>
          <p:nvPr>
            <p:ph type="body" sz="quarter" idx="24"/>
          </p:nvPr>
        </p:nvSpPr>
        <p:spPr>
          <a:xfrm>
            <a:off x="547826" y="1068261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5"/>
          </p:nvPr>
        </p:nvSpPr>
        <p:spPr>
          <a:xfrm>
            <a:off x="1172348" y="1090174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국정방향 지역간 격차 해소 및 지방시대 구현 등 지역균형발전 강조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6"/>
          </p:nvPr>
        </p:nvSpPr>
        <p:spPr>
          <a:xfrm>
            <a:off x="3996391" y="1090174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현황진단 ’24년 지역인재 채용률 60% 돌파 ➡ 특정 3개 권역 97.5% 편중</a:t>
            </a:r>
          </a:p>
        </p:txBody>
      </p:sp>
      <p:cxnSp>
        <p:nvCxnSpPr>
          <p:cNvPr id="22" name="Connector 15"/>
          <p:cNvCxnSpPr/>
          <p:nvPr/>
        </p:nvCxnSpPr>
        <p:spPr>
          <a:xfrm>
            <a:off x="3985435" y="1123043"/>
            <a:ext cx="0" cy="27125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3" name="캡션 띠"/>
          <p:cNvSpPr/>
          <p:nvPr/>
        </p:nvSpPr>
        <p:spPr>
          <a:xfrm>
            <a:off x="536869" y="1514817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4" name="태그"/>
          <p:cNvSpPr/>
          <p:nvPr/>
        </p:nvSpPr>
        <p:spPr>
          <a:xfrm>
            <a:off x="865565" y="1558643"/>
            <a:ext cx="438871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5" name="태그"/>
          <p:cNvSpPr>
            <a:spLocks noGrp="1"/>
          </p:cNvSpPr>
          <p:nvPr>
            <p:ph type="body" sz="quarter" idx="27"/>
          </p:nvPr>
        </p:nvSpPr>
        <p:spPr>
          <a:xfrm>
            <a:off x="865565" y="1558643"/>
            <a:ext cx="438871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26" name="캡션"/>
          <p:cNvSpPr>
            <a:spLocks noGrp="1"/>
          </p:cNvSpPr>
          <p:nvPr>
            <p:ph type="body" sz="quarter" idx="28"/>
          </p:nvPr>
        </p:nvSpPr>
        <p:spPr>
          <a:xfrm>
            <a:off x="1359219" y="1514817"/>
            <a:ext cx="5258520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‘양적 확대’에서 소외 권역을 포괄하는 ‘지역 균형 기반’ 질적 확대 필요</a:t>
            </a:r>
          </a:p>
        </p:txBody>
      </p:sp>
      <p:sp>
        <p:nvSpPr>
          <p:cNvPr id="27" name="표 외곽"/>
          <p:cNvSpPr/>
          <p:nvPr/>
        </p:nvSpPr>
        <p:spPr>
          <a:xfrm>
            <a:off x="536870" y="1821600"/>
            <a:ext cx="6300000" cy="1950261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8" name="레일"/>
          <p:cNvSpPr/>
          <p:nvPr/>
        </p:nvSpPr>
        <p:spPr>
          <a:xfrm>
            <a:off x="547826" y="1838035"/>
            <a:ext cx="580696" cy="87104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9" name="레일 태그"/>
          <p:cNvSpPr/>
          <p:nvPr/>
        </p:nvSpPr>
        <p:spPr>
          <a:xfrm>
            <a:off x="558376" y="1881861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0" name="레일 태그"/>
          <p:cNvSpPr>
            <a:spLocks noGrp="1"/>
          </p:cNvSpPr>
          <p:nvPr>
            <p:ph type="body" sz="quarter" idx="29"/>
          </p:nvPr>
        </p:nvSpPr>
        <p:spPr>
          <a:xfrm>
            <a:off x="558376" y="1881861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외연확장</a:t>
            </a:r>
          </a:p>
        </p:txBody>
      </p:sp>
      <p:sp>
        <p:nvSpPr>
          <p:cNvPr id="31" name="레일 라벨"/>
          <p:cNvSpPr>
            <a:spLocks noGrp="1"/>
          </p:cNvSpPr>
          <p:nvPr>
            <p:ph type="body" sz="quarter" idx="30"/>
          </p:nvPr>
        </p:nvSpPr>
        <p:spPr>
          <a:xfrm>
            <a:off x="547826" y="2068122"/>
            <a:ext cx="580696" cy="619043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광역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거버넌스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구 축</a:t>
            </a:r>
          </a:p>
        </p:txBody>
      </p:sp>
      <p:sp>
        <p:nvSpPr>
          <p:cNvPr id="32" name="머리칸"/>
          <p:cNvSpPr/>
          <p:nvPr/>
        </p:nvSpPr>
        <p:spPr>
          <a:xfrm>
            <a:off x="1161391" y="1859948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3" name="머리칸"/>
          <p:cNvSpPr>
            <a:spLocks noGrp="1"/>
          </p:cNvSpPr>
          <p:nvPr>
            <p:ph type="body" sz="quarter" idx="31"/>
          </p:nvPr>
        </p:nvSpPr>
        <p:spPr>
          <a:xfrm>
            <a:off x="1161391" y="1859948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CEO 주도 전략적 연대 구축</a:t>
            </a:r>
          </a:p>
        </p:txBody>
      </p:sp>
      <p:sp>
        <p:nvSpPr>
          <p:cNvPr id="34" name="머리칸"/>
          <p:cNvSpPr/>
          <p:nvPr/>
        </p:nvSpPr>
        <p:spPr>
          <a:xfrm>
            <a:off x="3044087" y="1859948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5" name="머리칸"/>
          <p:cNvSpPr>
            <a:spLocks noGrp="1"/>
          </p:cNvSpPr>
          <p:nvPr>
            <p:ph type="body" sz="quarter" idx="32"/>
          </p:nvPr>
        </p:nvSpPr>
        <p:spPr>
          <a:xfrm>
            <a:off x="3044087" y="1859948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지역상생 협약(’25.6)</a:t>
            </a:r>
          </a:p>
        </p:txBody>
      </p:sp>
      <p:sp>
        <p:nvSpPr>
          <p:cNvPr id="36" name="머리칸"/>
          <p:cNvSpPr/>
          <p:nvPr/>
        </p:nvSpPr>
        <p:spPr>
          <a:xfrm>
            <a:off x="4926783" y="1859948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7" name="머리칸"/>
          <p:cNvSpPr>
            <a:spLocks noGrp="1"/>
          </p:cNvSpPr>
          <p:nvPr>
            <p:ph type="body" sz="quarter" idx="33"/>
          </p:nvPr>
        </p:nvSpPr>
        <p:spPr>
          <a:xfrm>
            <a:off x="4926783" y="1859948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우수인재 유치 홍보 강화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4"/>
          </p:nvPr>
        </p:nvSpPr>
        <p:spPr>
          <a:xfrm>
            <a:off x="1172348" y="2100991"/>
            <a:ext cx="1860783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강원권 거점대학과 지역인재 양성 파트너십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지역인재 육성·취업 지원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5"/>
          </p:nvPr>
        </p:nvSpPr>
        <p:spPr>
          <a:xfrm>
            <a:off x="3055043" y="2100991"/>
            <a:ext cx="1860783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지역상생 업무협약(’25.6) 사진 자리</a:t>
            </a:r>
          </a:p>
        </p:txBody>
      </p:sp>
      <p:cxnSp>
        <p:nvCxnSpPr>
          <p:cNvPr id="40" name="Connector 28"/>
          <p:cNvCxnSpPr/>
          <p:nvPr/>
        </p:nvCxnSpPr>
        <p:spPr>
          <a:xfrm>
            <a:off x="3044087" y="2133861"/>
            <a:ext cx="0" cy="536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1" name="칸 본문"/>
          <p:cNvSpPr>
            <a:spLocks noGrp="1"/>
          </p:cNvSpPr>
          <p:nvPr>
            <p:ph type="body" sz="quarter" idx="36"/>
          </p:nvPr>
        </p:nvSpPr>
        <p:spPr>
          <a:xfrm>
            <a:off x="4937739" y="2100991"/>
            <a:ext cx="1860783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소외권역 채용설명회 운영으로 지역인재 유입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0회 → ’25년 3회</a:t>
            </a:r>
          </a:p>
        </p:txBody>
      </p:sp>
      <p:cxnSp>
        <p:nvCxnSpPr>
          <p:cNvPr id="42" name="Connector 30"/>
          <p:cNvCxnSpPr/>
          <p:nvPr/>
        </p:nvCxnSpPr>
        <p:spPr>
          <a:xfrm>
            <a:off x="4926783" y="2133861"/>
            <a:ext cx="0" cy="536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3" name="레일"/>
          <p:cNvSpPr/>
          <p:nvPr/>
        </p:nvSpPr>
        <p:spPr>
          <a:xfrm>
            <a:off x="547826" y="2725513"/>
            <a:ext cx="580696" cy="102991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4" name="레일 태그"/>
          <p:cNvSpPr/>
          <p:nvPr/>
        </p:nvSpPr>
        <p:spPr>
          <a:xfrm>
            <a:off x="558376" y="2889861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5" name="레일 태그"/>
          <p:cNvSpPr>
            <a:spLocks noGrp="1"/>
          </p:cNvSpPr>
          <p:nvPr>
            <p:ph type="body" sz="quarter" idx="37"/>
          </p:nvPr>
        </p:nvSpPr>
        <p:spPr>
          <a:xfrm>
            <a:off x="558376" y="2889861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인재육성</a:t>
            </a:r>
          </a:p>
        </p:txBody>
      </p:sp>
      <p:sp>
        <p:nvSpPr>
          <p:cNvPr id="46" name="레일 라벨"/>
          <p:cNvSpPr>
            <a:spLocks noGrp="1"/>
          </p:cNvSpPr>
          <p:nvPr>
            <p:ph type="body" sz="quarter" idx="38"/>
          </p:nvPr>
        </p:nvSpPr>
        <p:spPr>
          <a:xfrm>
            <a:off x="547826" y="3076122"/>
            <a:ext cx="580696" cy="657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포용적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양 성</a:t>
            </a:r>
          </a:p>
        </p:txBody>
      </p:sp>
      <p:sp>
        <p:nvSpPr>
          <p:cNvPr id="47" name="레일 삼각형"/>
          <p:cNvSpPr/>
          <p:nvPr/>
        </p:nvSpPr>
        <p:spPr>
          <a:xfrm>
            <a:off x="547826" y="2725513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8" name="배너"/>
          <p:cNvSpPr/>
          <p:nvPr/>
        </p:nvSpPr>
        <p:spPr>
          <a:xfrm>
            <a:off x="1161391" y="2747426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9" name="배너"/>
          <p:cNvSpPr>
            <a:spLocks noGrp="1"/>
          </p:cNvSpPr>
          <p:nvPr>
            <p:ph type="body" sz="quarter" idx="39"/>
          </p:nvPr>
        </p:nvSpPr>
        <p:spPr>
          <a:xfrm>
            <a:off x="1161391" y="2747426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지역에서 키우고, 지역에서 채용하는 지역인재 육성 체계 구축</a:t>
            </a:r>
          </a:p>
        </p:txBody>
      </p:sp>
      <p:sp>
        <p:nvSpPr>
          <p:cNvPr id="50" name="머리칸"/>
          <p:cNvSpPr/>
          <p:nvPr/>
        </p:nvSpPr>
        <p:spPr>
          <a:xfrm>
            <a:off x="1161391" y="298299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1" name="머리칸"/>
          <p:cNvSpPr>
            <a:spLocks noGrp="1"/>
          </p:cNvSpPr>
          <p:nvPr>
            <p:ph type="body" sz="quarter" idx="40"/>
          </p:nvPr>
        </p:nvSpPr>
        <p:spPr>
          <a:xfrm>
            <a:off x="1161391" y="298299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 장학회</a:t>
            </a:r>
          </a:p>
        </p:txBody>
      </p:sp>
      <p:sp>
        <p:nvSpPr>
          <p:cNvPr id="52" name="머리칸"/>
          <p:cNvSpPr/>
          <p:nvPr/>
        </p:nvSpPr>
        <p:spPr>
          <a:xfrm>
            <a:off x="3044087" y="298299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3" name="머리칸"/>
          <p:cNvSpPr>
            <a:spLocks noGrp="1"/>
          </p:cNvSpPr>
          <p:nvPr>
            <p:ph type="body" sz="quarter" idx="41"/>
          </p:nvPr>
        </p:nvSpPr>
        <p:spPr>
          <a:xfrm>
            <a:off x="3044087" y="298299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배달 강좌제</a:t>
            </a:r>
          </a:p>
        </p:txBody>
      </p:sp>
      <p:sp>
        <p:nvSpPr>
          <p:cNvPr id="54" name="머리칸"/>
          <p:cNvSpPr/>
          <p:nvPr/>
        </p:nvSpPr>
        <p:spPr>
          <a:xfrm>
            <a:off x="4926783" y="298299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5" name="머리칸"/>
          <p:cNvSpPr>
            <a:spLocks noGrp="1"/>
          </p:cNvSpPr>
          <p:nvPr>
            <p:ph type="body" sz="quarter" idx="42"/>
          </p:nvPr>
        </p:nvSpPr>
        <p:spPr>
          <a:xfrm>
            <a:off x="4926783" y="298299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현장실습형 인턴</a:t>
            </a:r>
          </a:p>
        </p:txBody>
      </p:sp>
      <p:sp>
        <p:nvSpPr>
          <p:cNvPr id="56" name="칸 본문"/>
          <p:cNvSpPr>
            <a:spLocks noGrp="1"/>
          </p:cNvSpPr>
          <p:nvPr>
            <p:ph type="body" sz="quarter" idx="43"/>
          </p:nvPr>
        </p:nvSpPr>
        <p:spPr>
          <a:xfrm>
            <a:off x="1172348" y="3224035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취약 아동(186명) 대상 맞춤형 학습 서비스 제공</a:t>
            </a:r>
          </a:p>
        </p:txBody>
      </p:sp>
      <p:sp>
        <p:nvSpPr>
          <p:cNvPr id="57" name="칸 본문"/>
          <p:cNvSpPr>
            <a:spLocks noGrp="1"/>
          </p:cNvSpPr>
          <p:nvPr>
            <p:ph type="body" sz="quarter" idx="44"/>
          </p:nvPr>
        </p:nvSpPr>
        <p:spPr>
          <a:xfrm>
            <a:off x="3055043" y="3224035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대학생(28명) ↔ 소외아동(243명) 학습지원 프로그램 운영</a:t>
            </a:r>
          </a:p>
        </p:txBody>
      </p:sp>
      <p:cxnSp>
        <p:nvCxnSpPr>
          <p:cNvPr id="58" name="Connector 41"/>
          <p:cNvCxnSpPr/>
          <p:nvPr/>
        </p:nvCxnSpPr>
        <p:spPr>
          <a:xfrm>
            <a:off x="3044087" y="3256904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9" name="칸 본문"/>
          <p:cNvSpPr>
            <a:spLocks noGrp="1"/>
          </p:cNvSpPr>
          <p:nvPr>
            <p:ph type="body" sz="quarter" idx="45"/>
          </p:nvPr>
        </p:nvSpPr>
        <p:spPr>
          <a:xfrm>
            <a:off x="4937739" y="3224035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전공·희망직무 매칭 현장 실습형 인턴 채용(37명)</a:t>
            </a:r>
          </a:p>
        </p:txBody>
      </p:sp>
      <p:cxnSp>
        <p:nvCxnSpPr>
          <p:cNvPr id="60" name="Connector 43"/>
          <p:cNvCxnSpPr/>
          <p:nvPr/>
        </p:nvCxnSpPr>
        <p:spPr>
          <a:xfrm>
            <a:off x="4926783" y="3256904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1" name="핵심성과 박스"/>
          <p:cNvSpPr/>
          <p:nvPr/>
        </p:nvSpPr>
        <p:spPr>
          <a:xfrm>
            <a:off x="536870" y="3859513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2" name="핵심성과 라벨"/>
          <p:cNvSpPr/>
          <p:nvPr/>
        </p:nvSpPr>
        <p:spPr>
          <a:xfrm>
            <a:off x="569739" y="3892383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63" name="핵심성과 라벨"/>
          <p:cNvSpPr>
            <a:spLocks noGrp="1"/>
          </p:cNvSpPr>
          <p:nvPr>
            <p:ph type="body" sz="quarter" idx="46"/>
          </p:nvPr>
        </p:nvSpPr>
        <p:spPr>
          <a:xfrm>
            <a:off x="569739" y="3892383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64" name="핵심성과 문구"/>
          <p:cNvSpPr>
            <a:spLocks noGrp="1"/>
          </p:cNvSpPr>
          <p:nvPr>
            <p:ph type="body" sz="quarter" idx="47"/>
          </p:nvPr>
        </p:nvSpPr>
        <p:spPr>
          <a:xfrm>
            <a:off x="1314783" y="3881426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지역인재 채용률 66.0%(’24년 63.4%, 2.6%p 증가)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사각지대(강원·제주지역) 인재 유입 3.25배 증가(’24년 4명 → ’25년 13명)</a:t>
            </a:r>
          </a:p>
        </p:txBody>
      </p:sp>
      <p:sp>
        <p:nvSpPr>
          <p:cNvPr id="65" name="틀"/>
          <p:cNvSpPr/>
          <p:nvPr/>
        </p:nvSpPr>
        <p:spPr>
          <a:xfrm>
            <a:off x="536870" y="4449600"/>
            <a:ext cx="6300000" cy="1051826"/>
          </a:xfrm>
          <a:prstGeom prst="rect">
            <a:avLst/>
          </a:prstGeom>
          <a:solidFill>
            <a:srgbClr val="FFFFFF"/>
          </a:solidFill>
          <a:ln w="12700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6" name="성과 라벨"/>
          <p:cNvSpPr/>
          <p:nvPr/>
        </p:nvSpPr>
        <p:spPr>
          <a:xfrm>
            <a:off x="547826" y="4460557"/>
            <a:ext cx="580696" cy="1029913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67" name="성과 라벨"/>
          <p:cNvSpPr>
            <a:spLocks noGrp="1"/>
          </p:cNvSpPr>
          <p:nvPr>
            <p:ph type="body" sz="quarter" idx="48"/>
          </p:nvPr>
        </p:nvSpPr>
        <p:spPr>
          <a:xfrm>
            <a:off x="547826" y="4460557"/>
            <a:ext cx="580696" cy="10299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사회형평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종합실적</a:t>
            </a:r>
          </a:p>
        </p:txBody>
      </p:sp>
      <p:sp>
        <p:nvSpPr>
          <p:cNvPr id="68" name="성과 띠"/>
          <p:cNvSpPr/>
          <p:nvPr/>
        </p:nvSpPr>
        <p:spPr>
          <a:xfrm>
            <a:off x="1172348" y="4482470"/>
            <a:ext cx="5631652" cy="20817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69" name="성과 띠"/>
          <p:cNvSpPr>
            <a:spLocks noGrp="1"/>
          </p:cNvSpPr>
          <p:nvPr>
            <p:ph type="body" sz="quarter" idx="49"/>
          </p:nvPr>
        </p:nvSpPr>
        <p:spPr>
          <a:xfrm>
            <a:off x="1172348" y="4482470"/>
            <a:ext cx="5631652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고졸 인재를 제외한 사회형평적 채용 분야 채용목표 초과 달성</a:t>
            </a:r>
          </a:p>
        </p:txBody>
      </p:sp>
      <p:sp>
        <p:nvSpPr>
          <p:cNvPr id="70" name="카드"/>
          <p:cNvSpPr/>
          <p:nvPr/>
        </p:nvSpPr>
        <p:spPr>
          <a:xfrm>
            <a:off x="1172348" y="4723513"/>
            <a:ext cx="902087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1" name="카드 문구"/>
          <p:cNvSpPr>
            <a:spLocks noGrp="1"/>
          </p:cNvSpPr>
          <p:nvPr>
            <p:ph type="body" sz="quarter" idx="50"/>
          </p:nvPr>
        </p:nvSpPr>
        <p:spPr>
          <a:xfrm>
            <a:off x="1194261" y="4734470"/>
            <a:ext cx="858261" cy="153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장애인</a:t>
            </a:r>
          </a:p>
        </p:txBody>
      </p:sp>
      <p:sp>
        <p:nvSpPr>
          <p:cNvPr id="72" name="막대"/>
          <p:cNvSpPr/>
          <p:nvPr/>
        </p:nvSpPr>
        <p:spPr>
          <a:xfrm>
            <a:off x="1249043" y="5221252"/>
            <a:ext cx="164348" cy="93913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3" name="값"/>
          <p:cNvSpPr>
            <a:spLocks noGrp="1"/>
          </p:cNvSpPr>
          <p:nvPr>
            <p:ph type="body" sz="quarter" idx="51"/>
          </p:nvPr>
        </p:nvSpPr>
        <p:spPr>
          <a:xfrm>
            <a:off x="1161391" y="5045948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3.48%</a:t>
            </a:r>
          </a:p>
        </p:txBody>
      </p:sp>
      <p:sp>
        <p:nvSpPr>
          <p:cNvPr id="74" name="연도"/>
          <p:cNvSpPr>
            <a:spLocks noGrp="1"/>
          </p:cNvSpPr>
          <p:nvPr>
            <p:ph type="body" sz="quarter" idx="52"/>
          </p:nvPr>
        </p:nvSpPr>
        <p:spPr>
          <a:xfrm>
            <a:off x="1161391" y="5326122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75" name="막대"/>
          <p:cNvSpPr/>
          <p:nvPr/>
        </p:nvSpPr>
        <p:spPr>
          <a:xfrm>
            <a:off x="1498609" y="5150817"/>
            <a:ext cx="164348" cy="164348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6" name="값"/>
          <p:cNvSpPr>
            <a:spLocks noGrp="1"/>
          </p:cNvSpPr>
          <p:nvPr>
            <p:ph type="body" sz="quarter" idx="53"/>
          </p:nvPr>
        </p:nvSpPr>
        <p:spPr>
          <a:xfrm>
            <a:off x="1410957" y="4975513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3.8%</a:t>
            </a:r>
          </a:p>
        </p:txBody>
      </p:sp>
      <p:sp>
        <p:nvSpPr>
          <p:cNvPr id="77" name="연도"/>
          <p:cNvSpPr>
            <a:spLocks noGrp="1"/>
          </p:cNvSpPr>
          <p:nvPr>
            <p:ph type="body" sz="quarter" idx="54"/>
          </p:nvPr>
        </p:nvSpPr>
        <p:spPr>
          <a:xfrm>
            <a:off x="1410957" y="5326122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목표</a:t>
            </a:r>
          </a:p>
        </p:txBody>
      </p:sp>
      <p:sp>
        <p:nvSpPr>
          <p:cNvPr id="78" name="막대"/>
          <p:cNvSpPr/>
          <p:nvPr/>
        </p:nvSpPr>
        <p:spPr>
          <a:xfrm>
            <a:off x="1748174" y="5150817"/>
            <a:ext cx="164348" cy="16434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9" name="값"/>
          <p:cNvSpPr>
            <a:spLocks noGrp="1"/>
          </p:cNvSpPr>
          <p:nvPr>
            <p:ph type="body" sz="quarter" idx="55"/>
          </p:nvPr>
        </p:nvSpPr>
        <p:spPr>
          <a:xfrm>
            <a:off x="1660522" y="4975513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3.8%</a:t>
            </a:r>
          </a:p>
        </p:txBody>
      </p:sp>
      <p:sp>
        <p:nvSpPr>
          <p:cNvPr id="80" name="연도"/>
          <p:cNvSpPr>
            <a:spLocks noGrp="1"/>
          </p:cNvSpPr>
          <p:nvPr>
            <p:ph type="body" sz="quarter" idx="56"/>
          </p:nvPr>
        </p:nvSpPr>
        <p:spPr>
          <a:xfrm>
            <a:off x="1660522" y="5326122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81" name="카드"/>
          <p:cNvSpPr/>
          <p:nvPr/>
        </p:nvSpPr>
        <p:spPr>
          <a:xfrm>
            <a:off x="2118261" y="4723513"/>
            <a:ext cx="902087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2" name="카드 문구"/>
          <p:cNvSpPr>
            <a:spLocks noGrp="1"/>
          </p:cNvSpPr>
          <p:nvPr>
            <p:ph type="body" sz="quarter" idx="57"/>
          </p:nvPr>
        </p:nvSpPr>
        <p:spPr>
          <a:xfrm>
            <a:off x="2140174" y="4734470"/>
            <a:ext cx="858261" cy="153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고졸 인재</a:t>
            </a:r>
          </a:p>
        </p:txBody>
      </p:sp>
      <p:sp>
        <p:nvSpPr>
          <p:cNvPr id="83" name="막대"/>
          <p:cNvSpPr/>
          <p:nvPr/>
        </p:nvSpPr>
        <p:spPr>
          <a:xfrm>
            <a:off x="2194957" y="5224774"/>
            <a:ext cx="164348" cy="90391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4" name="값"/>
          <p:cNvSpPr>
            <a:spLocks noGrp="1"/>
          </p:cNvSpPr>
          <p:nvPr>
            <p:ph type="body" sz="quarter" idx="58"/>
          </p:nvPr>
        </p:nvSpPr>
        <p:spPr>
          <a:xfrm>
            <a:off x="2107304" y="5049470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23명</a:t>
            </a:r>
          </a:p>
        </p:txBody>
      </p:sp>
      <p:sp>
        <p:nvSpPr>
          <p:cNvPr id="85" name="연도"/>
          <p:cNvSpPr>
            <a:spLocks noGrp="1"/>
          </p:cNvSpPr>
          <p:nvPr>
            <p:ph type="body" sz="quarter" idx="59"/>
          </p:nvPr>
        </p:nvSpPr>
        <p:spPr>
          <a:xfrm>
            <a:off x="2107304" y="5326122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86" name="막대"/>
          <p:cNvSpPr/>
          <p:nvPr/>
        </p:nvSpPr>
        <p:spPr>
          <a:xfrm>
            <a:off x="2444522" y="5150817"/>
            <a:ext cx="164348" cy="164348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7" name="값"/>
          <p:cNvSpPr>
            <a:spLocks noGrp="1"/>
          </p:cNvSpPr>
          <p:nvPr>
            <p:ph type="body" sz="quarter" idx="60"/>
          </p:nvPr>
        </p:nvSpPr>
        <p:spPr>
          <a:xfrm>
            <a:off x="2356870" y="4975513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38명</a:t>
            </a:r>
          </a:p>
        </p:txBody>
      </p:sp>
      <p:sp>
        <p:nvSpPr>
          <p:cNvPr id="88" name="연도"/>
          <p:cNvSpPr>
            <a:spLocks noGrp="1"/>
          </p:cNvSpPr>
          <p:nvPr>
            <p:ph type="body" sz="quarter" idx="61"/>
          </p:nvPr>
        </p:nvSpPr>
        <p:spPr>
          <a:xfrm>
            <a:off x="2356870" y="5326122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목표</a:t>
            </a:r>
          </a:p>
        </p:txBody>
      </p:sp>
      <p:sp>
        <p:nvSpPr>
          <p:cNvPr id="89" name="막대"/>
          <p:cNvSpPr/>
          <p:nvPr/>
        </p:nvSpPr>
        <p:spPr>
          <a:xfrm>
            <a:off x="2694087" y="5167252"/>
            <a:ext cx="164348" cy="147913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0" name="값"/>
          <p:cNvSpPr>
            <a:spLocks noGrp="1"/>
          </p:cNvSpPr>
          <p:nvPr>
            <p:ph type="body" sz="quarter" idx="62"/>
          </p:nvPr>
        </p:nvSpPr>
        <p:spPr>
          <a:xfrm>
            <a:off x="2606435" y="4991948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34명</a:t>
            </a:r>
          </a:p>
        </p:txBody>
      </p:sp>
      <p:sp>
        <p:nvSpPr>
          <p:cNvPr id="91" name="연도"/>
          <p:cNvSpPr>
            <a:spLocks noGrp="1"/>
          </p:cNvSpPr>
          <p:nvPr>
            <p:ph type="body" sz="quarter" idx="63"/>
          </p:nvPr>
        </p:nvSpPr>
        <p:spPr>
          <a:xfrm>
            <a:off x="2606435" y="5326122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92" name="카드"/>
          <p:cNvSpPr/>
          <p:nvPr/>
        </p:nvSpPr>
        <p:spPr>
          <a:xfrm>
            <a:off x="3064174" y="4723513"/>
            <a:ext cx="902087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3" name="카드 문구"/>
          <p:cNvSpPr>
            <a:spLocks noGrp="1"/>
          </p:cNvSpPr>
          <p:nvPr>
            <p:ph type="body" sz="quarter" idx="64"/>
          </p:nvPr>
        </p:nvSpPr>
        <p:spPr>
          <a:xfrm>
            <a:off x="3086087" y="4734470"/>
            <a:ext cx="858261" cy="153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사회배려자</a:t>
            </a:r>
          </a:p>
        </p:txBody>
      </p:sp>
      <p:sp>
        <p:nvSpPr>
          <p:cNvPr id="94" name="막대"/>
          <p:cNvSpPr/>
          <p:nvPr/>
        </p:nvSpPr>
        <p:spPr>
          <a:xfrm>
            <a:off x="3140870" y="5238470"/>
            <a:ext cx="164348" cy="76696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5" name="값"/>
          <p:cNvSpPr>
            <a:spLocks noGrp="1"/>
          </p:cNvSpPr>
          <p:nvPr>
            <p:ph type="body" sz="quarter" idx="65"/>
          </p:nvPr>
        </p:nvSpPr>
        <p:spPr>
          <a:xfrm>
            <a:off x="3053217" y="5063165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1명</a:t>
            </a:r>
          </a:p>
        </p:txBody>
      </p:sp>
      <p:sp>
        <p:nvSpPr>
          <p:cNvPr id="96" name="연도"/>
          <p:cNvSpPr>
            <a:spLocks noGrp="1"/>
          </p:cNvSpPr>
          <p:nvPr>
            <p:ph type="body" sz="quarter" idx="66"/>
          </p:nvPr>
        </p:nvSpPr>
        <p:spPr>
          <a:xfrm>
            <a:off x="3053217" y="5326122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97" name="막대"/>
          <p:cNvSpPr/>
          <p:nvPr/>
        </p:nvSpPr>
        <p:spPr>
          <a:xfrm>
            <a:off x="3390435" y="5150817"/>
            <a:ext cx="164348" cy="164348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8" name="값"/>
          <p:cNvSpPr>
            <a:spLocks noGrp="1"/>
          </p:cNvSpPr>
          <p:nvPr>
            <p:ph type="body" sz="quarter" idx="67"/>
          </p:nvPr>
        </p:nvSpPr>
        <p:spPr>
          <a:xfrm>
            <a:off x="3302783" y="4975513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5명</a:t>
            </a:r>
          </a:p>
        </p:txBody>
      </p:sp>
      <p:sp>
        <p:nvSpPr>
          <p:cNvPr id="99" name="연도"/>
          <p:cNvSpPr>
            <a:spLocks noGrp="1"/>
          </p:cNvSpPr>
          <p:nvPr>
            <p:ph type="body" sz="quarter" idx="68"/>
          </p:nvPr>
        </p:nvSpPr>
        <p:spPr>
          <a:xfrm>
            <a:off x="3302783" y="5326122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목표</a:t>
            </a:r>
          </a:p>
        </p:txBody>
      </p:sp>
      <p:sp>
        <p:nvSpPr>
          <p:cNvPr id="100" name="막대"/>
          <p:cNvSpPr/>
          <p:nvPr/>
        </p:nvSpPr>
        <p:spPr>
          <a:xfrm>
            <a:off x="3640000" y="5150817"/>
            <a:ext cx="164348" cy="16434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1" name="값"/>
          <p:cNvSpPr>
            <a:spLocks noGrp="1"/>
          </p:cNvSpPr>
          <p:nvPr>
            <p:ph type="body" sz="quarter" idx="69"/>
          </p:nvPr>
        </p:nvSpPr>
        <p:spPr>
          <a:xfrm>
            <a:off x="3552348" y="4975513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5명</a:t>
            </a:r>
          </a:p>
        </p:txBody>
      </p:sp>
      <p:sp>
        <p:nvSpPr>
          <p:cNvPr id="102" name="연도"/>
          <p:cNvSpPr>
            <a:spLocks noGrp="1"/>
          </p:cNvSpPr>
          <p:nvPr>
            <p:ph type="body" sz="quarter" idx="70"/>
          </p:nvPr>
        </p:nvSpPr>
        <p:spPr>
          <a:xfrm>
            <a:off x="3552348" y="5326122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103" name="카드"/>
          <p:cNvSpPr/>
          <p:nvPr/>
        </p:nvSpPr>
        <p:spPr>
          <a:xfrm>
            <a:off x="4010087" y="4723513"/>
            <a:ext cx="902087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4" name="카드 문구"/>
          <p:cNvSpPr>
            <a:spLocks noGrp="1"/>
          </p:cNvSpPr>
          <p:nvPr>
            <p:ph type="body" sz="quarter" idx="71"/>
          </p:nvPr>
        </p:nvSpPr>
        <p:spPr>
          <a:xfrm>
            <a:off x="4032000" y="4734470"/>
            <a:ext cx="858261" cy="153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자립청년</a:t>
            </a:r>
          </a:p>
        </p:txBody>
      </p:sp>
      <p:sp>
        <p:nvSpPr>
          <p:cNvPr id="105" name="막대"/>
          <p:cNvSpPr/>
          <p:nvPr/>
        </p:nvSpPr>
        <p:spPr>
          <a:xfrm>
            <a:off x="4086783" y="5200122"/>
            <a:ext cx="164348" cy="115043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6" name="값"/>
          <p:cNvSpPr>
            <a:spLocks noGrp="1"/>
          </p:cNvSpPr>
          <p:nvPr>
            <p:ph type="body" sz="quarter" idx="72"/>
          </p:nvPr>
        </p:nvSpPr>
        <p:spPr>
          <a:xfrm>
            <a:off x="3999130" y="5024817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5명</a:t>
            </a:r>
          </a:p>
        </p:txBody>
      </p:sp>
      <p:sp>
        <p:nvSpPr>
          <p:cNvPr id="107" name="연도"/>
          <p:cNvSpPr>
            <a:spLocks noGrp="1"/>
          </p:cNvSpPr>
          <p:nvPr>
            <p:ph type="body" sz="quarter" idx="73"/>
          </p:nvPr>
        </p:nvSpPr>
        <p:spPr>
          <a:xfrm>
            <a:off x="3999130" y="5326122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108" name="막대"/>
          <p:cNvSpPr/>
          <p:nvPr/>
        </p:nvSpPr>
        <p:spPr>
          <a:xfrm>
            <a:off x="4336348" y="5175470"/>
            <a:ext cx="164348" cy="139696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9" name="값"/>
          <p:cNvSpPr>
            <a:spLocks noGrp="1"/>
          </p:cNvSpPr>
          <p:nvPr>
            <p:ph type="body" sz="quarter" idx="74"/>
          </p:nvPr>
        </p:nvSpPr>
        <p:spPr>
          <a:xfrm>
            <a:off x="4248696" y="5000165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6명</a:t>
            </a:r>
          </a:p>
        </p:txBody>
      </p:sp>
      <p:sp>
        <p:nvSpPr>
          <p:cNvPr id="110" name="연도"/>
          <p:cNvSpPr>
            <a:spLocks noGrp="1"/>
          </p:cNvSpPr>
          <p:nvPr>
            <p:ph type="body" sz="quarter" idx="75"/>
          </p:nvPr>
        </p:nvSpPr>
        <p:spPr>
          <a:xfrm>
            <a:off x="4248696" y="5326122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목표</a:t>
            </a:r>
          </a:p>
        </p:txBody>
      </p:sp>
      <p:sp>
        <p:nvSpPr>
          <p:cNvPr id="111" name="막대"/>
          <p:cNvSpPr/>
          <p:nvPr/>
        </p:nvSpPr>
        <p:spPr>
          <a:xfrm>
            <a:off x="4585913" y="5150817"/>
            <a:ext cx="164348" cy="16434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2" name="값"/>
          <p:cNvSpPr>
            <a:spLocks noGrp="1"/>
          </p:cNvSpPr>
          <p:nvPr>
            <p:ph type="body" sz="quarter" idx="76"/>
          </p:nvPr>
        </p:nvSpPr>
        <p:spPr>
          <a:xfrm>
            <a:off x="4498261" y="4975513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7명</a:t>
            </a:r>
          </a:p>
        </p:txBody>
      </p:sp>
      <p:sp>
        <p:nvSpPr>
          <p:cNvPr id="113" name="연도"/>
          <p:cNvSpPr>
            <a:spLocks noGrp="1"/>
          </p:cNvSpPr>
          <p:nvPr>
            <p:ph type="body" sz="quarter" idx="77"/>
          </p:nvPr>
        </p:nvSpPr>
        <p:spPr>
          <a:xfrm>
            <a:off x="4498261" y="5326122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114" name="카드"/>
          <p:cNvSpPr/>
          <p:nvPr/>
        </p:nvSpPr>
        <p:spPr>
          <a:xfrm>
            <a:off x="4956000" y="4723513"/>
            <a:ext cx="902087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5" name="카드 문구"/>
          <p:cNvSpPr>
            <a:spLocks noGrp="1"/>
          </p:cNvSpPr>
          <p:nvPr>
            <p:ph type="body" sz="quarter" idx="78"/>
          </p:nvPr>
        </p:nvSpPr>
        <p:spPr>
          <a:xfrm>
            <a:off x="4977913" y="4734470"/>
            <a:ext cx="858261" cy="153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지역인재</a:t>
            </a:r>
          </a:p>
        </p:txBody>
      </p:sp>
      <p:sp>
        <p:nvSpPr>
          <p:cNvPr id="116" name="막대"/>
          <p:cNvSpPr/>
          <p:nvPr/>
        </p:nvSpPr>
        <p:spPr>
          <a:xfrm>
            <a:off x="5032696" y="5219843"/>
            <a:ext cx="164348" cy="95322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7" name="값"/>
          <p:cNvSpPr>
            <a:spLocks noGrp="1"/>
          </p:cNvSpPr>
          <p:nvPr>
            <p:ph type="body" sz="quarter" idx="79"/>
          </p:nvPr>
        </p:nvSpPr>
        <p:spPr>
          <a:xfrm>
            <a:off x="4945043" y="5044539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161명</a:t>
            </a:r>
          </a:p>
        </p:txBody>
      </p:sp>
      <p:sp>
        <p:nvSpPr>
          <p:cNvPr id="118" name="연도"/>
          <p:cNvSpPr>
            <a:spLocks noGrp="1"/>
          </p:cNvSpPr>
          <p:nvPr>
            <p:ph type="body" sz="quarter" idx="80"/>
          </p:nvPr>
        </p:nvSpPr>
        <p:spPr>
          <a:xfrm>
            <a:off x="4945043" y="5326122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119" name="막대"/>
          <p:cNvSpPr/>
          <p:nvPr/>
        </p:nvSpPr>
        <p:spPr>
          <a:xfrm>
            <a:off x="5282261" y="5228061"/>
            <a:ext cx="164348" cy="87104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20" name="값"/>
          <p:cNvSpPr>
            <a:spLocks noGrp="1"/>
          </p:cNvSpPr>
          <p:nvPr>
            <p:ph type="body" sz="quarter" idx="81"/>
          </p:nvPr>
        </p:nvSpPr>
        <p:spPr>
          <a:xfrm>
            <a:off x="5194609" y="5052757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148명</a:t>
            </a:r>
          </a:p>
        </p:txBody>
      </p:sp>
      <p:sp>
        <p:nvSpPr>
          <p:cNvPr id="121" name="연도"/>
          <p:cNvSpPr>
            <a:spLocks noGrp="1"/>
          </p:cNvSpPr>
          <p:nvPr>
            <p:ph type="body" sz="quarter" idx="82"/>
          </p:nvPr>
        </p:nvSpPr>
        <p:spPr>
          <a:xfrm>
            <a:off x="5194609" y="5326122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목표</a:t>
            </a:r>
          </a:p>
        </p:txBody>
      </p:sp>
      <p:sp>
        <p:nvSpPr>
          <p:cNvPr id="122" name="막대"/>
          <p:cNvSpPr/>
          <p:nvPr/>
        </p:nvSpPr>
        <p:spPr>
          <a:xfrm>
            <a:off x="5531826" y="5150817"/>
            <a:ext cx="164348" cy="16434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23" name="값"/>
          <p:cNvSpPr>
            <a:spLocks noGrp="1"/>
          </p:cNvSpPr>
          <p:nvPr>
            <p:ph type="body" sz="quarter" idx="83"/>
          </p:nvPr>
        </p:nvSpPr>
        <p:spPr>
          <a:xfrm>
            <a:off x="5444174" y="4975513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279명</a:t>
            </a:r>
          </a:p>
        </p:txBody>
      </p:sp>
      <p:sp>
        <p:nvSpPr>
          <p:cNvPr id="124" name="연도"/>
          <p:cNvSpPr>
            <a:spLocks noGrp="1"/>
          </p:cNvSpPr>
          <p:nvPr>
            <p:ph type="body" sz="quarter" idx="84"/>
          </p:nvPr>
        </p:nvSpPr>
        <p:spPr>
          <a:xfrm>
            <a:off x="5444174" y="5326122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125" name="카드"/>
          <p:cNvSpPr/>
          <p:nvPr/>
        </p:nvSpPr>
        <p:spPr>
          <a:xfrm>
            <a:off x="5901913" y="4723513"/>
            <a:ext cx="902087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26" name="카드 문구"/>
          <p:cNvSpPr>
            <a:spLocks noGrp="1"/>
          </p:cNvSpPr>
          <p:nvPr>
            <p:ph type="body" sz="quarter" idx="85"/>
          </p:nvPr>
        </p:nvSpPr>
        <p:spPr>
          <a:xfrm>
            <a:off x="5923826" y="4734470"/>
            <a:ext cx="858261" cy="153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국가 유공자</a:t>
            </a:r>
          </a:p>
        </p:txBody>
      </p:sp>
      <p:sp>
        <p:nvSpPr>
          <p:cNvPr id="127" name="막대"/>
          <p:cNvSpPr/>
          <p:nvPr/>
        </p:nvSpPr>
        <p:spPr>
          <a:xfrm>
            <a:off x="5978609" y="5150817"/>
            <a:ext cx="164348" cy="164348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28" name="값"/>
          <p:cNvSpPr>
            <a:spLocks noGrp="1"/>
          </p:cNvSpPr>
          <p:nvPr>
            <p:ph type="body" sz="quarter" idx="86"/>
          </p:nvPr>
        </p:nvSpPr>
        <p:spPr>
          <a:xfrm>
            <a:off x="5890957" y="4975513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9%</a:t>
            </a:r>
          </a:p>
        </p:txBody>
      </p:sp>
      <p:sp>
        <p:nvSpPr>
          <p:cNvPr id="129" name="연도"/>
          <p:cNvSpPr>
            <a:spLocks noGrp="1"/>
          </p:cNvSpPr>
          <p:nvPr>
            <p:ph type="body" sz="quarter" idx="87"/>
          </p:nvPr>
        </p:nvSpPr>
        <p:spPr>
          <a:xfrm>
            <a:off x="5890957" y="5326122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130" name="막대"/>
          <p:cNvSpPr/>
          <p:nvPr/>
        </p:nvSpPr>
        <p:spPr>
          <a:xfrm>
            <a:off x="6228174" y="5150817"/>
            <a:ext cx="164348" cy="164348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31" name="값"/>
          <p:cNvSpPr>
            <a:spLocks noGrp="1"/>
          </p:cNvSpPr>
          <p:nvPr>
            <p:ph type="body" sz="quarter" idx="88"/>
          </p:nvPr>
        </p:nvSpPr>
        <p:spPr>
          <a:xfrm>
            <a:off x="6140522" y="4975513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9%</a:t>
            </a:r>
          </a:p>
        </p:txBody>
      </p:sp>
      <p:sp>
        <p:nvSpPr>
          <p:cNvPr id="132" name="연도"/>
          <p:cNvSpPr>
            <a:spLocks noGrp="1"/>
          </p:cNvSpPr>
          <p:nvPr>
            <p:ph type="body" sz="quarter" idx="89"/>
          </p:nvPr>
        </p:nvSpPr>
        <p:spPr>
          <a:xfrm>
            <a:off x="6140522" y="5326122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목표</a:t>
            </a:r>
          </a:p>
        </p:txBody>
      </p:sp>
      <p:sp>
        <p:nvSpPr>
          <p:cNvPr id="133" name="막대"/>
          <p:cNvSpPr/>
          <p:nvPr/>
        </p:nvSpPr>
        <p:spPr>
          <a:xfrm>
            <a:off x="6477739" y="5150817"/>
            <a:ext cx="164348" cy="16434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34" name="값"/>
          <p:cNvSpPr>
            <a:spLocks noGrp="1"/>
          </p:cNvSpPr>
          <p:nvPr>
            <p:ph type="body" sz="quarter" idx="90"/>
          </p:nvPr>
        </p:nvSpPr>
        <p:spPr>
          <a:xfrm>
            <a:off x="6390087" y="4975513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9%</a:t>
            </a:r>
          </a:p>
        </p:txBody>
      </p:sp>
      <p:sp>
        <p:nvSpPr>
          <p:cNvPr id="135" name="연도"/>
          <p:cNvSpPr>
            <a:spLocks noGrp="1"/>
          </p:cNvSpPr>
          <p:nvPr>
            <p:ph type="body" sz="quarter" idx="91"/>
          </p:nvPr>
        </p:nvSpPr>
        <p:spPr>
          <a:xfrm>
            <a:off x="6390087" y="5326122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60 서사 · 성과환류 → 시사점(번호 띠 직후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양성평등 기반의 근무환경으로 여성인재와 함께 성장하는 조직</a:t>
            </a:r>
          </a:p>
        </p:txBody>
      </p:sp>
      <p:sp>
        <p:nvSpPr>
          <p:cNvPr id="14" name="표 외곽"/>
          <p:cNvSpPr/>
          <p:nvPr/>
        </p:nvSpPr>
        <p:spPr>
          <a:xfrm>
            <a:off x="723130" y="1128522"/>
            <a:ext cx="6300000" cy="41087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734087" y="1144957"/>
            <a:ext cx="580696" cy="37800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144957"/>
            <a:ext cx="580696" cy="37800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성과환류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3"/>
          </p:nvPr>
        </p:nvSpPr>
        <p:spPr>
          <a:xfrm>
            <a:off x="1358609" y="1166870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가족친화제도 구축·여성 승진 규모 상승에도 불구, 인사지표 직원만족도 정체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4"/>
          </p:nvPr>
        </p:nvSpPr>
        <p:spPr>
          <a:xfrm>
            <a:off x="4182652" y="1166870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여성관리자 육성, 성장경로 마련 노력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직원 의견 제도 사용시 눈치보지 않는 문화 조성</a:t>
            </a:r>
          </a:p>
        </p:txBody>
      </p:sp>
      <p:cxnSp>
        <p:nvCxnSpPr>
          <p:cNvPr id="19" name="Connector 12"/>
          <p:cNvCxnSpPr/>
          <p:nvPr/>
        </p:nvCxnSpPr>
        <p:spPr>
          <a:xfrm>
            <a:off x="4171696" y="1199739"/>
            <a:ext cx="0" cy="284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0" name="캡션 띠"/>
          <p:cNvSpPr/>
          <p:nvPr/>
        </p:nvSpPr>
        <p:spPr>
          <a:xfrm>
            <a:off x="723130" y="1561304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1" name="태그"/>
          <p:cNvSpPr/>
          <p:nvPr/>
        </p:nvSpPr>
        <p:spPr>
          <a:xfrm>
            <a:off x="1051826" y="1605130"/>
            <a:ext cx="438871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2" name="태그"/>
          <p:cNvSpPr>
            <a:spLocks noGrp="1"/>
          </p:cNvSpPr>
          <p:nvPr>
            <p:ph type="body" sz="quarter" idx="25"/>
          </p:nvPr>
        </p:nvSpPr>
        <p:spPr>
          <a:xfrm>
            <a:off x="1051826" y="1605130"/>
            <a:ext cx="438871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23" name="캡션"/>
          <p:cNvSpPr>
            <a:spLocks noGrp="1"/>
          </p:cNvSpPr>
          <p:nvPr>
            <p:ph type="body" sz="quarter" idx="26"/>
          </p:nvPr>
        </p:nvSpPr>
        <p:spPr>
          <a:xfrm>
            <a:off x="1545480" y="1561304"/>
            <a:ext cx="5258520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성별의 벽을 허무는 역량 중심 성장경로 확립과 직원 체감형 조직문화 조성 필요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61 서사 · 조직문화 → 공정한 인사관리 → 여성임원 확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3804800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눈치보지 않는 조직문화, 역량 중심 인사관리로 여성리더 양성</a:t>
            </a:r>
          </a:p>
        </p:txBody>
      </p:sp>
      <p:sp>
        <p:nvSpPr>
          <p:cNvPr id="12" name="태그칩"/>
          <p:cNvSpPr/>
          <p:nvPr/>
        </p:nvSpPr>
        <p:spPr>
          <a:xfrm>
            <a:off x="4440279" y="799826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440279" y="799826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4" name="태그칩"/>
          <p:cNvSpPr/>
          <p:nvPr/>
        </p:nvSpPr>
        <p:spPr>
          <a:xfrm>
            <a:off x="5210937" y="799826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2"/>
          </p:nvPr>
        </p:nvSpPr>
        <p:spPr>
          <a:xfrm>
            <a:off x="5210937" y="799826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6" name="태그칩"/>
          <p:cNvSpPr/>
          <p:nvPr/>
        </p:nvSpPr>
        <p:spPr>
          <a:xfrm>
            <a:off x="5738367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칩"/>
          <p:cNvSpPr>
            <a:spLocks noGrp="1"/>
          </p:cNvSpPr>
          <p:nvPr>
            <p:ph type="body" sz="quarter" idx="23"/>
          </p:nvPr>
        </p:nvSpPr>
        <p:spPr>
          <a:xfrm>
            <a:off x="5738367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8" name="표 외곽"/>
          <p:cNvSpPr/>
          <p:nvPr/>
        </p:nvSpPr>
        <p:spPr>
          <a:xfrm>
            <a:off x="536870" y="1051826"/>
            <a:ext cx="6300000" cy="2887043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레일"/>
          <p:cNvSpPr/>
          <p:nvPr/>
        </p:nvSpPr>
        <p:spPr>
          <a:xfrm>
            <a:off x="547826" y="1068261"/>
            <a:ext cx="580696" cy="805304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4"/>
          </p:nvPr>
        </p:nvSpPr>
        <p:spPr>
          <a:xfrm>
            <a:off x="547826" y="1068261"/>
            <a:ext cx="580696" cy="80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당당한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조직문화</a:t>
            </a:r>
          </a:p>
        </p:txBody>
      </p:sp>
      <p:sp>
        <p:nvSpPr>
          <p:cNvPr id="21" name="단계"/>
          <p:cNvSpPr/>
          <p:nvPr/>
        </p:nvSpPr>
        <p:spPr>
          <a:xfrm>
            <a:off x="1161391" y="1090174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2" name="단계"/>
          <p:cNvSpPr>
            <a:spLocks noGrp="1"/>
          </p:cNvSpPr>
          <p:nvPr>
            <p:ph type="body" sz="quarter" idx="25"/>
          </p:nvPr>
        </p:nvSpPr>
        <p:spPr>
          <a:xfrm>
            <a:off x="1161391" y="109017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가족친화제도 설계</a:t>
            </a:r>
          </a:p>
        </p:txBody>
      </p:sp>
      <p:sp>
        <p:nvSpPr>
          <p:cNvPr id="23" name="단계"/>
          <p:cNvSpPr/>
          <p:nvPr/>
        </p:nvSpPr>
        <p:spPr>
          <a:xfrm>
            <a:off x="3044087" y="1090174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4" name="단계"/>
          <p:cNvSpPr>
            <a:spLocks noGrp="1"/>
          </p:cNvSpPr>
          <p:nvPr>
            <p:ph type="body" sz="quarter" idx="26"/>
          </p:nvPr>
        </p:nvSpPr>
        <p:spPr>
          <a:xfrm>
            <a:off x="3044087" y="109017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가족친화문화 정착</a:t>
            </a:r>
          </a:p>
        </p:txBody>
      </p:sp>
      <p:sp>
        <p:nvSpPr>
          <p:cNvPr id="25" name="단계"/>
          <p:cNvSpPr/>
          <p:nvPr/>
        </p:nvSpPr>
        <p:spPr>
          <a:xfrm>
            <a:off x="4926783" y="1090174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6" name="단계"/>
          <p:cNvSpPr>
            <a:spLocks noGrp="1"/>
          </p:cNvSpPr>
          <p:nvPr>
            <p:ph type="body" sz="quarter" idx="27"/>
          </p:nvPr>
        </p:nvSpPr>
        <p:spPr>
          <a:xfrm>
            <a:off x="4926783" y="109017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문화 경력중단 없는 공정·성장 지원</a:t>
            </a:r>
          </a:p>
        </p:txBody>
      </p:sp>
      <p:sp>
        <p:nvSpPr>
          <p:cNvPr id="27" name="단계 삼각형"/>
          <p:cNvSpPr/>
          <p:nvPr/>
        </p:nvSpPr>
        <p:spPr>
          <a:xfrm>
            <a:off x="3044086" y="1090173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단계 삼각형"/>
          <p:cNvSpPr/>
          <p:nvPr/>
        </p:nvSpPr>
        <p:spPr>
          <a:xfrm>
            <a:off x="4926782" y="109017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칸 본문"/>
          <p:cNvSpPr>
            <a:spLocks noGrp="1"/>
          </p:cNvSpPr>
          <p:nvPr>
            <p:ph type="body" sz="quarter" idx="28"/>
          </p:nvPr>
        </p:nvSpPr>
        <p:spPr>
          <a:xfrm>
            <a:off x="1172348" y="1342174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육아집중형 근무제 등 육아공백 Zero 제도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인사혁신 우수사례 대통령상 수상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29"/>
          </p:nvPr>
        </p:nvSpPr>
        <p:spPr>
          <a:xfrm>
            <a:off x="3055043" y="1342174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제도 참여율 내평 가점 부여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사보·기획기사 등 사례 공유</a:t>
            </a:r>
          </a:p>
        </p:txBody>
      </p:sp>
      <p:cxnSp>
        <p:nvCxnSpPr>
          <p:cNvPr id="31" name="Connector 20"/>
          <p:cNvCxnSpPr/>
          <p:nvPr/>
        </p:nvCxnSpPr>
        <p:spPr>
          <a:xfrm>
            <a:off x="3044087" y="1375043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2" name="칸 본문"/>
          <p:cNvSpPr>
            <a:spLocks noGrp="1"/>
          </p:cNvSpPr>
          <p:nvPr>
            <p:ph type="body" sz="quarter" idx="30"/>
          </p:nvPr>
        </p:nvSpPr>
        <p:spPr>
          <a:xfrm>
            <a:off x="4937739" y="1342174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육아휴직 복직자 희망부서 100% 배치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육아휴직자 승진대상자 최초 포함</a:t>
            </a:r>
          </a:p>
        </p:txBody>
      </p:sp>
      <p:cxnSp>
        <p:nvCxnSpPr>
          <p:cNvPr id="33" name="Connector 22"/>
          <p:cNvCxnSpPr/>
          <p:nvPr/>
        </p:nvCxnSpPr>
        <p:spPr>
          <a:xfrm>
            <a:off x="4926783" y="1375043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4" name="레일"/>
          <p:cNvSpPr/>
          <p:nvPr/>
        </p:nvSpPr>
        <p:spPr>
          <a:xfrm>
            <a:off x="547826" y="1890000"/>
            <a:ext cx="580696" cy="1035391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5" name="레일"/>
          <p:cNvSpPr>
            <a:spLocks noGrp="1"/>
          </p:cNvSpPr>
          <p:nvPr>
            <p:ph type="body" sz="quarter" idx="31"/>
          </p:nvPr>
        </p:nvSpPr>
        <p:spPr>
          <a:xfrm>
            <a:off x="547826" y="1890000"/>
            <a:ext cx="580696" cy="103539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공정한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인사관리</a:t>
            </a:r>
          </a:p>
        </p:txBody>
      </p:sp>
      <p:sp>
        <p:nvSpPr>
          <p:cNvPr id="36" name="레일 삼각형"/>
          <p:cNvSpPr/>
          <p:nvPr/>
        </p:nvSpPr>
        <p:spPr>
          <a:xfrm>
            <a:off x="547826" y="1890000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7" name="머리칸"/>
          <p:cNvSpPr/>
          <p:nvPr/>
        </p:nvSpPr>
        <p:spPr>
          <a:xfrm>
            <a:off x="1161391" y="191191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8" name="머리칸"/>
          <p:cNvSpPr>
            <a:spLocks noGrp="1"/>
          </p:cNvSpPr>
          <p:nvPr>
            <p:ph type="body" sz="quarter" idx="32"/>
          </p:nvPr>
        </p:nvSpPr>
        <p:spPr>
          <a:xfrm>
            <a:off x="1161391" y="191191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승진 성별 무관 역량 중심 승진</a:t>
            </a:r>
          </a:p>
        </p:txBody>
      </p:sp>
      <p:sp>
        <p:nvSpPr>
          <p:cNvPr id="39" name="머리칸"/>
          <p:cNvSpPr/>
          <p:nvPr/>
        </p:nvSpPr>
        <p:spPr>
          <a:xfrm>
            <a:off x="3985435" y="191191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0" name="머리칸"/>
          <p:cNvSpPr>
            <a:spLocks noGrp="1"/>
          </p:cNvSpPr>
          <p:nvPr>
            <p:ph type="body" sz="quarter" idx="33"/>
          </p:nvPr>
        </p:nvSpPr>
        <p:spPr>
          <a:xfrm>
            <a:off x="3985435" y="191191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배치 능력 기반 여성인재 적소적재 배치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34"/>
          </p:nvPr>
        </p:nvSpPr>
        <p:spPr>
          <a:xfrm>
            <a:off x="1172348" y="2152957"/>
            <a:ext cx="2802130" cy="766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육아 휴직기간 100% 근속기간 인정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역량 중심 신승진시험제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여성 초급관리자 선두승진 배출(11명)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35"/>
          </p:nvPr>
        </p:nvSpPr>
        <p:spPr>
          <a:xfrm>
            <a:off x="3996391" y="2152957"/>
            <a:ext cx="2802130" cy="766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여성 관리자 전문성·역량중심 여성 간부직 현장 최전선 배치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여성 인재 직무 공모제 심사로 주요직무 여성직원 배치(7명)</a:t>
            </a:r>
          </a:p>
        </p:txBody>
      </p:sp>
      <p:cxnSp>
        <p:nvCxnSpPr>
          <p:cNvPr id="43" name="Connector 29"/>
          <p:cNvCxnSpPr/>
          <p:nvPr/>
        </p:nvCxnSpPr>
        <p:spPr>
          <a:xfrm>
            <a:off x="3985435" y="2185826"/>
            <a:ext cx="0" cy="70121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4" name="레일"/>
          <p:cNvSpPr/>
          <p:nvPr/>
        </p:nvSpPr>
        <p:spPr>
          <a:xfrm>
            <a:off x="547826" y="2941826"/>
            <a:ext cx="580696" cy="980609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5" name="레일"/>
          <p:cNvSpPr>
            <a:spLocks noGrp="1"/>
          </p:cNvSpPr>
          <p:nvPr>
            <p:ph type="body" sz="quarter" idx="36"/>
          </p:nvPr>
        </p:nvSpPr>
        <p:spPr>
          <a:xfrm>
            <a:off x="547826" y="2941826"/>
            <a:ext cx="580696" cy="980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여성임원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 대</a:t>
            </a:r>
          </a:p>
        </p:txBody>
      </p:sp>
      <p:sp>
        <p:nvSpPr>
          <p:cNvPr id="46" name="레일 삼각형"/>
          <p:cNvSpPr/>
          <p:nvPr/>
        </p:nvSpPr>
        <p:spPr>
          <a:xfrm>
            <a:off x="547826" y="2941826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7" name="머리칸"/>
          <p:cNvSpPr/>
          <p:nvPr/>
        </p:nvSpPr>
        <p:spPr>
          <a:xfrm>
            <a:off x="1161391" y="2963739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8" name="머리칸"/>
          <p:cNvSpPr>
            <a:spLocks noGrp="1"/>
          </p:cNvSpPr>
          <p:nvPr>
            <p:ph type="body" sz="quarter" idx="37"/>
          </p:nvPr>
        </p:nvSpPr>
        <p:spPr>
          <a:xfrm>
            <a:off x="1161391" y="2963739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상임이사 여성 임원 후보 Pool 확대</a:t>
            </a:r>
          </a:p>
        </p:txBody>
      </p:sp>
      <p:sp>
        <p:nvSpPr>
          <p:cNvPr id="49" name="머리칸"/>
          <p:cNvSpPr/>
          <p:nvPr/>
        </p:nvSpPr>
        <p:spPr>
          <a:xfrm>
            <a:off x="3985435" y="2963739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0" name="머리칸"/>
          <p:cNvSpPr>
            <a:spLocks noGrp="1"/>
          </p:cNvSpPr>
          <p:nvPr>
            <p:ph type="body" sz="quarter" idx="38"/>
          </p:nvPr>
        </p:nvSpPr>
        <p:spPr>
          <a:xfrm>
            <a:off x="3985435" y="2963739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비상임이사 여성 임원 선임 노력 지속</a:t>
            </a:r>
          </a:p>
        </p:txBody>
      </p:sp>
      <p:sp>
        <p:nvSpPr>
          <p:cNvPr id="51" name="칸 본문"/>
          <p:cNvSpPr>
            <a:spLocks noGrp="1"/>
          </p:cNvSpPr>
          <p:nvPr>
            <p:ph type="body" sz="quarter" idx="39"/>
          </p:nvPr>
        </p:nvSpPr>
        <p:spPr>
          <a:xfrm>
            <a:off x="1172348" y="3204783"/>
            <a:ext cx="2802130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상임이사 후보군(부서장급) 규모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임원 양성 전문교육 선발(2명)</a:t>
            </a:r>
          </a:p>
        </p:txBody>
      </p:sp>
      <p:sp>
        <p:nvSpPr>
          <p:cNvPr id="52" name="칸 본문"/>
          <p:cNvSpPr>
            <a:spLocks noGrp="1"/>
          </p:cNvSpPr>
          <p:nvPr>
            <p:ph type="body" sz="quarter" idx="40"/>
          </p:nvPr>
        </p:nvSpPr>
        <p:spPr>
          <a:xfrm>
            <a:off x="3996391" y="3204783"/>
            <a:ext cx="2802130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임원추천위원회 외부위원 전원 여성 임명(2명)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양성평등 임원 목표달성 안내</a:t>
            </a:r>
          </a:p>
        </p:txBody>
      </p:sp>
      <p:cxnSp>
        <p:nvCxnSpPr>
          <p:cNvPr id="53" name="Connector 36"/>
          <p:cNvCxnSpPr/>
          <p:nvPr/>
        </p:nvCxnSpPr>
        <p:spPr>
          <a:xfrm>
            <a:off x="3985435" y="3237652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62 서사 · 우수인재 채용 → 미래리더 육성 → 추진성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3726288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공정·공감 채용과 맞춤형 육성으로 미래 여성인재 Pool 확대</a:t>
            </a:r>
          </a:p>
        </p:txBody>
      </p:sp>
      <p:sp>
        <p:nvSpPr>
          <p:cNvPr id="11" name="태그칩"/>
          <p:cNvSpPr/>
          <p:nvPr/>
        </p:nvSpPr>
        <p:spPr>
          <a:xfrm>
            <a:off x="4548027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4548027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태그칩"/>
          <p:cNvSpPr/>
          <p:nvPr/>
        </p:nvSpPr>
        <p:spPr>
          <a:xfrm>
            <a:off x="5099148" y="810783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4" name="태그칩"/>
          <p:cNvSpPr>
            <a:spLocks noGrp="1"/>
          </p:cNvSpPr>
          <p:nvPr>
            <p:ph type="body" sz="quarter" idx="22"/>
          </p:nvPr>
        </p:nvSpPr>
        <p:spPr>
          <a:xfrm>
            <a:off x="5099148" y="810783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5" name="표 외곽"/>
          <p:cNvSpPr/>
          <p:nvPr/>
        </p:nvSpPr>
        <p:spPr>
          <a:xfrm>
            <a:off x="723130" y="1062783"/>
            <a:ext cx="6300000" cy="2114609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레일"/>
          <p:cNvSpPr/>
          <p:nvPr/>
        </p:nvSpPr>
        <p:spPr>
          <a:xfrm>
            <a:off x="734087" y="1079217"/>
            <a:ext cx="580696" cy="794348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레일"/>
          <p:cNvSpPr>
            <a:spLocks noGrp="1"/>
          </p:cNvSpPr>
          <p:nvPr>
            <p:ph type="body" sz="quarter" idx="23"/>
          </p:nvPr>
        </p:nvSpPr>
        <p:spPr>
          <a:xfrm>
            <a:off x="734087" y="1079217"/>
            <a:ext cx="580696" cy="79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우수인재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채 용</a:t>
            </a:r>
          </a:p>
        </p:txBody>
      </p:sp>
      <p:sp>
        <p:nvSpPr>
          <p:cNvPr id="18" name="머리칸"/>
          <p:cNvSpPr/>
          <p:nvPr/>
        </p:nvSpPr>
        <p:spPr>
          <a:xfrm>
            <a:off x="1347652" y="110113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9" name="머리칸"/>
          <p:cNvSpPr>
            <a:spLocks noGrp="1"/>
          </p:cNvSpPr>
          <p:nvPr>
            <p:ph type="body" sz="quarter" idx="24"/>
          </p:nvPr>
        </p:nvSpPr>
        <p:spPr>
          <a:xfrm>
            <a:off x="1347652" y="110113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공감대를 형성하고 여성 직원 취업 노하우</a:t>
            </a:r>
          </a:p>
        </p:txBody>
      </p:sp>
      <p:sp>
        <p:nvSpPr>
          <p:cNvPr id="20" name="머리칸"/>
          <p:cNvSpPr/>
          <p:nvPr/>
        </p:nvSpPr>
        <p:spPr>
          <a:xfrm>
            <a:off x="4171696" y="110113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1" name="머리칸"/>
          <p:cNvSpPr>
            <a:spLocks noGrp="1"/>
          </p:cNvSpPr>
          <p:nvPr>
            <p:ph type="body" sz="quarter" idx="25"/>
          </p:nvPr>
        </p:nvSpPr>
        <p:spPr>
          <a:xfrm>
            <a:off x="4171696" y="110113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경쟁은 공정하게 차별 없는 채용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6"/>
          </p:nvPr>
        </p:nvSpPr>
        <p:spPr>
          <a:xfrm>
            <a:off x="1358609" y="1342174"/>
            <a:ext cx="2802130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심리적 장벽 완화로 설명회 몰입도·채용 홍보효과 제고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여성 육성방안·성장경로 제시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7"/>
          </p:nvPr>
        </p:nvSpPr>
        <p:spPr>
          <a:xfrm>
            <a:off x="4182652" y="1342174"/>
            <a:ext cx="2802130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면접위원 특정 성 비율 40% 이상 의무화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외부인증 블라인드 공정채용 선도기관 인증</a:t>
            </a:r>
          </a:p>
        </p:txBody>
      </p:sp>
      <p:cxnSp>
        <p:nvCxnSpPr>
          <p:cNvPr id="24" name="Connector 13"/>
          <p:cNvCxnSpPr/>
          <p:nvPr/>
        </p:nvCxnSpPr>
        <p:spPr>
          <a:xfrm>
            <a:off x="4171696" y="1375043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5" name="레일"/>
          <p:cNvSpPr/>
          <p:nvPr/>
        </p:nvSpPr>
        <p:spPr>
          <a:xfrm>
            <a:off x="734087" y="1890000"/>
            <a:ext cx="580696" cy="127095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6" name="레일"/>
          <p:cNvSpPr>
            <a:spLocks noGrp="1"/>
          </p:cNvSpPr>
          <p:nvPr>
            <p:ph type="body" sz="quarter" idx="28"/>
          </p:nvPr>
        </p:nvSpPr>
        <p:spPr>
          <a:xfrm>
            <a:off x="734087" y="1890000"/>
            <a:ext cx="580696" cy="1270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미래리더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육 성</a:t>
            </a:r>
          </a:p>
        </p:txBody>
      </p:sp>
      <p:sp>
        <p:nvSpPr>
          <p:cNvPr id="27" name="레일 삼각형"/>
          <p:cNvSpPr/>
          <p:nvPr/>
        </p:nvSpPr>
        <p:spPr>
          <a:xfrm>
            <a:off x="734086" y="1890000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머리칸"/>
          <p:cNvSpPr/>
          <p:nvPr/>
        </p:nvSpPr>
        <p:spPr>
          <a:xfrm>
            <a:off x="1347652" y="191191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9" name="머리칸"/>
          <p:cNvSpPr>
            <a:spLocks noGrp="1"/>
          </p:cNvSpPr>
          <p:nvPr>
            <p:ph type="body" sz="quarter" idx="29"/>
          </p:nvPr>
        </p:nvSpPr>
        <p:spPr>
          <a:xfrm>
            <a:off x="1347652" y="191191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맞춤형 교육 여성 생애주기 기반</a:t>
            </a:r>
          </a:p>
        </p:txBody>
      </p:sp>
      <p:sp>
        <p:nvSpPr>
          <p:cNvPr id="30" name="머리칸"/>
          <p:cNvSpPr/>
          <p:nvPr/>
        </p:nvSpPr>
        <p:spPr>
          <a:xfrm>
            <a:off x="4171696" y="191191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1" name="머리칸"/>
          <p:cNvSpPr>
            <a:spLocks noGrp="1"/>
          </p:cNvSpPr>
          <p:nvPr>
            <p:ph type="body" sz="quarter" idx="30"/>
          </p:nvPr>
        </p:nvSpPr>
        <p:spPr>
          <a:xfrm>
            <a:off x="4171696" y="191191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전문가 교육 여성관리자 양성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1"/>
          </p:nvPr>
        </p:nvSpPr>
        <p:spPr>
          <a:xfrm>
            <a:off x="1358609" y="2152957"/>
            <a:ext cx="2802130" cy="766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대리·사원 상시 온라인 학습 제공으로 역량 강화 기회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과장·복직자 현업복귀·직무적응 중심 교육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부서장·부장 리더십 스킬과정 세분화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2"/>
          </p:nvPr>
        </p:nvSpPr>
        <p:spPr>
          <a:xfrm>
            <a:off x="4182652" y="2152957"/>
            <a:ext cx="2802130" cy="766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공모절차 기반 전문기관 교육 파견 4명 선발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서울대, KDI, 성균관대 등</a:t>
            </a:r>
          </a:p>
        </p:txBody>
      </p:sp>
      <p:cxnSp>
        <p:nvCxnSpPr>
          <p:cNvPr id="34" name="Connector 20"/>
          <p:cNvCxnSpPr/>
          <p:nvPr/>
        </p:nvCxnSpPr>
        <p:spPr>
          <a:xfrm>
            <a:off x="4171696" y="2185826"/>
            <a:ext cx="0" cy="70121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5" name="배너"/>
          <p:cNvSpPr/>
          <p:nvPr/>
        </p:nvSpPr>
        <p:spPr>
          <a:xfrm>
            <a:off x="1347652" y="2936348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6" name="배너"/>
          <p:cNvSpPr>
            <a:spLocks noGrp="1"/>
          </p:cNvSpPr>
          <p:nvPr>
            <p:ph type="body" sz="quarter" idx="33"/>
          </p:nvPr>
        </p:nvSpPr>
        <p:spPr>
          <a:xfrm>
            <a:off x="1347652" y="2936348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단계별 체계적 교육 지원으로 역량 중심 여성관리자 성장 환경 조성</a:t>
            </a:r>
          </a:p>
        </p:txBody>
      </p:sp>
      <p:sp>
        <p:nvSpPr>
          <p:cNvPr id="37" name="핵심성과 박스"/>
          <p:cNvSpPr/>
          <p:nvPr/>
        </p:nvSpPr>
        <p:spPr>
          <a:xfrm>
            <a:off x="723130" y="3265043"/>
            <a:ext cx="6300000" cy="70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8" name="핵심성과 라벨"/>
          <p:cNvSpPr/>
          <p:nvPr/>
        </p:nvSpPr>
        <p:spPr>
          <a:xfrm>
            <a:off x="756000" y="3297913"/>
            <a:ext cx="657391" cy="63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9" name="핵심성과 라벨"/>
          <p:cNvSpPr>
            <a:spLocks noGrp="1"/>
          </p:cNvSpPr>
          <p:nvPr>
            <p:ph type="body" sz="quarter" idx="34"/>
          </p:nvPr>
        </p:nvSpPr>
        <p:spPr>
          <a:xfrm>
            <a:off x="756000" y="3297913"/>
            <a:ext cx="657391" cy="63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0" name="핵심성과 문구"/>
          <p:cNvSpPr>
            <a:spLocks noGrp="1"/>
          </p:cNvSpPr>
          <p:nvPr>
            <p:ph type="body" sz="quarter" idx="35"/>
          </p:nvPr>
        </p:nvSpPr>
        <p:spPr>
          <a:xfrm>
            <a:off x="1501043" y="3286957"/>
            <a:ext cx="5456348" cy="66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여성관리자 최고치 달성(13.6→15%), 육아휴직 中 최초 승진, 여성채용(정규직) 증가(114→170명)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권익위 종합청렴도(88.1→92.2점), 신뢰경영지수(87→91점) 역대 최고 수준 달성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63 서사 · 현주소 → 환경분석 · CEO 의지 → 시사점 → 방향 4축 → 실행기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CEO의 ‘안전 최우선 가치’ 경영철학을 반영한 안전혁신</a:t>
            </a:r>
          </a:p>
        </p:txBody>
      </p:sp>
      <p:sp>
        <p:nvSpPr>
          <p:cNvPr id="15" name="표 외곽"/>
          <p:cNvSpPr/>
          <p:nvPr/>
        </p:nvSpPr>
        <p:spPr>
          <a:xfrm>
            <a:off x="536870" y="1117565"/>
            <a:ext cx="6300000" cy="99156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레일"/>
          <p:cNvSpPr/>
          <p:nvPr/>
        </p:nvSpPr>
        <p:spPr>
          <a:xfrm>
            <a:off x="547826" y="1134000"/>
            <a:ext cx="580696" cy="95869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 태그"/>
          <p:cNvSpPr/>
          <p:nvPr/>
        </p:nvSpPr>
        <p:spPr>
          <a:xfrm>
            <a:off x="558376" y="1177826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18" name="레일 태그"/>
          <p:cNvSpPr>
            <a:spLocks noGrp="1"/>
          </p:cNvSpPr>
          <p:nvPr>
            <p:ph type="body" sz="quarter" idx="22"/>
          </p:nvPr>
        </p:nvSpPr>
        <p:spPr>
          <a:xfrm>
            <a:off x="558376" y="1177826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평가지적</a:t>
            </a:r>
          </a:p>
        </p:txBody>
      </p:sp>
      <p:sp>
        <p:nvSpPr>
          <p:cNvPr id="19" name="레일 라벨"/>
          <p:cNvSpPr>
            <a:spLocks noGrp="1"/>
          </p:cNvSpPr>
          <p:nvPr>
            <p:ph type="body" sz="quarter" idx="23"/>
          </p:nvPr>
        </p:nvSpPr>
        <p:spPr>
          <a:xfrm>
            <a:off x="547826" y="1364087"/>
            <a:ext cx="580696" cy="706696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 주 소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4"/>
          </p:nvPr>
        </p:nvSpPr>
        <p:spPr>
          <a:xfrm>
            <a:off x="1172348" y="1155913"/>
            <a:ext cx="2802130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중대재해 댐, 수도, 단지 건설 및 운영 등 고위험·취약시설 多 → 중대재해 지속 발생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대책 원인분석 ▸ 사업장 관리·예방 체계 개선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5"/>
          </p:nvPr>
        </p:nvSpPr>
        <p:spPr>
          <a:xfrm>
            <a:off x="3996391" y="1155913"/>
            <a:ext cx="2802130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안전등급 지속적인 ‘안전역량’ 향상 노력 불구 ’24년 안전관리등급 하락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대책 안전 역량·수준·성과 개선과제 이행관리</a:t>
            </a:r>
          </a:p>
        </p:txBody>
      </p:sp>
      <p:cxnSp>
        <p:nvCxnSpPr>
          <p:cNvPr id="22" name="Connector 17"/>
          <p:cNvCxnSpPr/>
          <p:nvPr/>
        </p:nvCxnSpPr>
        <p:spPr>
          <a:xfrm>
            <a:off x="3985435" y="1188783"/>
            <a:ext cx="0" cy="865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3" name="캡션 띠"/>
          <p:cNvSpPr/>
          <p:nvPr/>
        </p:nvSpPr>
        <p:spPr>
          <a:xfrm>
            <a:off x="536869" y="2131043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4" name="태그"/>
          <p:cNvSpPr/>
          <p:nvPr/>
        </p:nvSpPr>
        <p:spPr>
          <a:xfrm>
            <a:off x="865565" y="2174870"/>
            <a:ext cx="548640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5" name="태그"/>
          <p:cNvSpPr>
            <a:spLocks noGrp="1"/>
          </p:cNvSpPr>
          <p:nvPr>
            <p:ph type="body" sz="quarter" idx="26"/>
          </p:nvPr>
        </p:nvSpPr>
        <p:spPr>
          <a:xfrm>
            <a:off x="865565" y="2174870"/>
            <a:ext cx="548640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추진전략</a:t>
            </a:r>
          </a:p>
        </p:txBody>
      </p:sp>
      <p:sp>
        <p:nvSpPr>
          <p:cNvPr id="26" name="캡션"/>
          <p:cNvSpPr>
            <a:spLocks noGrp="1"/>
          </p:cNvSpPr>
          <p:nvPr>
            <p:ph type="body" sz="quarter" idx="27"/>
          </p:nvPr>
        </p:nvSpPr>
        <p:spPr>
          <a:xfrm>
            <a:off x="1468988" y="2131043"/>
            <a:ext cx="5148751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안전사고의 근본적 차단을 위하여 안전경영시스템 전반의 패러다임 전환 필요</a:t>
            </a:r>
          </a:p>
        </p:txBody>
      </p:sp>
      <p:sp>
        <p:nvSpPr>
          <p:cNvPr id="27" name="표 외곽"/>
          <p:cNvSpPr/>
          <p:nvPr/>
        </p:nvSpPr>
        <p:spPr>
          <a:xfrm>
            <a:off x="536870" y="2437826"/>
            <a:ext cx="6300000" cy="141887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8" name="레일"/>
          <p:cNvSpPr/>
          <p:nvPr/>
        </p:nvSpPr>
        <p:spPr>
          <a:xfrm>
            <a:off x="547826" y="2454261"/>
            <a:ext cx="580696" cy="794348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9" name="레일"/>
          <p:cNvSpPr>
            <a:spLocks noGrp="1"/>
          </p:cNvSpPr>
          <p:nvPr>
            <p:ph type="body" sz="quarter" idx="28"/>
          </p:nvPr>
        </p:nvSpPr>
        <p:spPr>
          <a:xfrm>
            <a:off x="547826" y="2454261"/>
            <a:ext cx="580696" cy="79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분 석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29"/>
          </p:nvPr>
        </p:nvSpPr>
        <p:spPr>
          <a:xfrm>
            <a:off x="1172348" y="2476174"/>
            <a:ext cx="2802130" cy="766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국정방향 생명과 안전 중시 사회 지향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전종사자 대상 안전보건체계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안전관리 실효성 제고 및 법적기준 강화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3996391" y="2476174"/>
            <a:ext cx="2802130" cy="766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직원인식 지속 상승 불구, 체감도 저조 여전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안전의식 수준 77.6점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현장작동성·안전인프라·안전소통 인식 저조</a:t>
            </a:r>
          </a:p>
        </p:txBody>
      </p:sp>
      <p:cxnSp>
        <p:nvCxnSpPr>
          <p:cNvPr id="32" name="Connector 25"/>
          <p:cNvCxnSpPr/>
          <p:nvPr/>
        </p:nvCxnSpPr>
        <p:spPr>
          <a:xfrm>
            <a:off x="3985435" y="2509043"/>
            <a:ext cx="0" cy="70121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레일"/>
          <p:cNvSpPr/>
          <p:nvPr/>
        </p:nvSpPr>
        <p:spPr>
          <a:xfrm>
            <a:off x="547826" y="3265043"/>
            <a:ext cx="580696" cy="57521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4" name="레일"/>
          <p:cNvSpPr>
            <a:spLocks noGrp="1"/>
          </p:cNvSpPr>
          <p:nvPr>
            <p:ph type="body" sz="quarter" idx="31"/>
          </p:nvPr>
        </p:nvSpPr>
        <p:spPr>
          <a:xfrm>
            <a:off x="547826" y="3265043"/>
            <a:ext cx="580696" cy="57521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C E O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의 지</a:t>
            </a:r>
          </a:p>
        </p:txBody>
      </p:sp>
      <p:sp>
        <p:nvSpPr>
          <p:cNvPr id="35" name="레일 삼각형"/>
          <p:cNvSpPr/>
          <p:nvPr/>
        </p:nvSpPr>
        <p:spPr>
          <a:xfrm>
            <a:off x="547826" y="3265043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2"/>
          </p:nvPr>
        </p:nvSpPr>
        <p:spPr>
          <a:xfrm>
            <a:off x="1172348" y="3286957"/>
            <a:ext cx="5626174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핵심가치 안전은 모든 경영활동의 시작이자 기본, 핵심 가치는 안전(’25 신년사)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안전우선 ‘안전하지 않으면 일하지 않는다’는 마음으로, 개인 안전을 최우선</a:t>
            </a:r>
          </a:p>
        </p:txBody>
      </p:sp>
      <p:sp>
        <p:nvSpPr>
          <p:cNvPr id="37" name="캡션 띠"/>
          <p:cNvSpPr/>
          <p:nvPr/>
        </p:nvSpPr>
        <p:spPr>
          <a:xfrm>
            <a:off x="536869" y="3878608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8" name="태그"/>
          <p:cNvSpPr/>
          <p:nvPr/>
        </p:nvSpPr>
        <p:spPr>
          <a:xfrm>
            <a:off x="865565" y="3922435"/>
            <a:ext cx="438871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9" name="태그"/>
          <p:cNvSpPr>
            <a:spLocks noGrp="1"/>
          </p:cNvSpPr>
          <p:nvPr>
            <p:ph type="body" sz="quarter" idx="33"/>
          </p:nvPr>
        </p:nvSpPr>
        <p:spPr>
          <a:xfrm>
            <a:off x="865565" y="3922435"/>
            <a:ext cx="438871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40" name="캡션"/>
          <p:cNvSpPr>
            <a:spLocks noGrp="1"/>
          </p:cNvSpPr>
          <p:nvPr>
            <p:ph type="body" sz="quarter" idx="34"/>
          </p:nvPr>
        </p:nvSpPr>
        <p:spPr>
          <a:xfrm>
            <a:off x="1359219" y="3878609"/>
            <a:ext cx="5258520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안전을 최우선 가치로 삼아 현장의 실효성 있는 사고예방을 위한 안전체계 강화</a:t>
            </a:r>
          </a:p>
        </p:txBody>
      </p:sp>
      <p:sp>
        <p:nvSpPr>
          <p:cNvPr id="41" name="표 외곽"/>
          <p:cNvSpPr/>
          <p:nvPr/>
        </p:nvSpPr>
        <p:spPr>
          <a:xfrm>
            <a:off x="536870" y="4185391"/>
            <a:ext cx="6300000" cy="239400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2" name="레일"/>
          <p:cNvSpPr/>
          <p:nvPr/>
        </p:nvSpPr>
        <p:spPr>
          <a:xfrm>
            <a:off x="547826" y="4201826"/>
            <a:ext cx="580696" cy="323217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3" name="레일"/>
          <p:cNvSpPr>
            <a:spLocks noGrp="1"/>
          </p:cNvSpPr>
          <p:nvPr>
            <p:ph type="body" sz="quarter" idx="35"/>
          </p:nvPr>
        </p:nvSpPr>
        <p:spPr>
          <a:xfrm>
            <a:off x="547826" y="4201826"/>
            <a:ext cx="580696" cy="32321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추진방향</a:t>
            </a:r>
          </a:p>
        </p:txBody>
      </p:sp>
      <p:sp>
        <p:nvSpPr>
          <p:cNvPr id="44" name="단계"/>
          <p:cNvSpPr/>
          <p:nvPr/>
        </p:nvSpPr>
        <p:spPr>
          <a:xfrm>
            <a:off x="1161391" y="4223739"/>
            <a:ext cx="141202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5" name="단계"/>
          <p:cNvSpPr>
            <a:spLocks noGrp="1"/>
          </p:cNvSpPr>
          <p:nvPr>
            <p:ph type="body" sz="quarter" idx="36"/>
          </p:nvPr>
        </p:nvSpPr>
        <p:spPr>
          <a:xfrm>
            <a:off x="1161391" y="4223739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안전경영체계 고도화</a:t>
            </a:r>
          </a:p>
        </p:txBody>
      </p:sp>
      <p:sp>
        <p:nvSpPr>
          <p:cNvPr id="46" name="단계"/>
          <p:cNvSpPr/>
          <p:nvPr/>
        </p:nvSpPr>
        <p:spPr>
          <a:xfrm>
            <a:off x="2573413" y="4223739"/>
            <a:ext cx="1412022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7" name="단계"/>
          <p:cNvSpPr>
            <a:spLocks noGrp="1"/>
          </p:cNvSpPr>
          <p:nvPr>
            <p:ph type="body" sz="quarter" idx="37"/>
          </p:nvPr>
        </p:nvSpPr>
        <p:spPr>
          <a:xfrm>
            <a:off x="2573413" y="4223739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현장 작동성 실효성 제고</a:t>
            </a:r>
          </a:p>
        </p:txBody>
      </p:sp>
      <p:sp>
        <p:nvSpPr>
          <p:cNvPr id="48" name="단계"/>
          <p:cNvSpPr/>
          <p:nvPr/>
        </p:nvSpPr>
        <p:spPr>
          <a:xfrm>
            <a:off x="3985435" y="4223739"/>
            <a:ext cx="1412022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9" name="단계"/>
          <p:cNvSpPr>
            <a:spLocks noGrp="1"/>
          </p:cNvSpPr>
          <p:nvPr>
            <p:ph type="body" sz="quarter" idx="38"/>
          </p:nvPr>
        </p:nvSpPr>
        <p:spPr>
          <a:xfrm>
            <a:off x="3985435" y="4223739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스마트 기술 기반 안전인프라 고도화</a:t>
            </a:r>
          </a:p>
        </p:txBody>
      </p:sp>
      <p:sp>
        <p:nvSpPr>
          <p:cNvPr id="50" name="단계"/>
          <p:cNvSpPr/>
          <p:nvPr/>
        </p:nvSpPr>
        <p:spPr>
          <a:xfrm>
            <a:off x="5397457" y="4223739"/>
            <a:ext cx="1412022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1" name="단계"/>
          <p:cNvSpPr>
            <a:spLocks noGrp="1"/>
          </p:cNvSpPr>
          <p:nvPr>
            <p:ph type="body" sz="quarter" idx="39"/>
          </p:nvPr>
        </p:nvSpPr>
        <p:spPr>
          <a:xfrm>
            <a:off x="5397457" y="4223739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소통 참여 기반 안전문화의식 제고</a:t>
            </a:r>
          </a:p>
        </p:txBody>
      </p:sp>
      <p:sp>
        <p:nvSpPr>
          <p:cNvPr id="52" name="단계 삼각형"/>
          <p:cNvSpPr/>
          <p:nvPr/>
        </p:nvSpPr>
        <p:spPr>
          <a:xfrm>
            <a:off x="2573413" y="4223739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3" name="단계 삼각형"/>
          <p:cNvSpPr/>
          <p:nvPr/>
        </p:nvSpPr>
        <p:spPr>
          <a:xfrm>
            <a:off x="3985434" y="4223739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4" name="단계 삼각형"/>
          <p:cNvSpPr/>
          <p:nvPr/>
        </p:nvSpPr>
        <p:spPr>
          <a:xfrm>
            <a:off x="5397456" y="4223739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5" name="칸 본문"/>
          <p:cNvSpPr txBox="1"/>
          <p:nvPr/>
        </p:nvSpPr>
        <p:spPr>
          <a:xfrm>
            <a:off x="1172348" y="4475739"/>
            <a:ext cx="1390109" cy="43826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sp>
        <p:nvSpPr>
          <p:cNvPr id="56" name="칸 본문"/>
          <p:cNvSpPr txBox="1"/>
          <p:nvPr/>
        </p:nvSpPr>
        <p:spPr>
          <a:xfrm>
            <a:off x="2584370" y="4475739"/>
            <a:ext cx="1390109" cy="43826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57" name="Connector 43"/>
          <p:cNvCxnSpPr/>
          <p:nvPr/>
        </p:nvCxnSpPr>
        <p:spPr>
          <a:xfrm flipV="1">
            <a:off x="2573413" y="4486696"/>
            <a:ext cx="0" cy="2191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8" name="칸 본문"/>
          <p:cNvSpPr txBox="1"/>
          <p:nvPr/>
        </p:nvSpPr>
        <p:spPr>
          <a:xfrm>
            <a:off x="3996391" y="4475739"/>
            <a:ext cx="1390109" cy="43826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59" name="Connector 45"/>
          <p:cNvCxnSpPr/>
          <p:nvPr/>
        </p:nvCxnSpPr>
        <p:spPr>
          <a:xfrm flipV="1">
            <a:off x="3985435" y="4486696"/>
            <a:ext cx="0" cy="2191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0" name="칸 본문"/>
          <p:cNvSpPr txBox="1"/>
          <p:nvPr/>
        </p:nvSpPr>
        <p:spPr>
          <a:xfrm>
            <a:off x="5408413" y="4475739"/>
            <a:ext cx="1390109" cy="43826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61" name="Connector 47"/>
          <p:cNvCxnSpPr/>
          <p:nvPr/>
        </p:nvCxnSpPr>
        <p:spPr>
          <a:xfrm flipV="1">
            <a:off x="5397457" y="4486696"/>
            <a:ext cx="0" cy="2191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2" name="레일"/>
          <p:cNvSpPr/>
          <p:nvPr/>
        </p:nvSpPr>
        <p:spPr>
          <a:xfrm>
            <a:off x="547826" y="4541478"/>
            <a:ext cx="580696" cy="969652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3" name="레일"/>
          <p:cNvSpPr>
            <a:spLocks noGrp="1"/>
          </p:cNvSpPr>
          <p:nvPr>
            <p:ph type="body" sz="quarter" idx="40"/>
          </p:nvPr>
        </p:nvSpPr>
        <p:spPr>
          <a:xfrm>
            <a:off x="547826" y="4541478"/>
            <a:ext cx="580696" cy="96965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실행과제</a:t>
            </a:r>
          </a:p>
        </p:txBody>
      </p:sp>
      <p:sp>
        <p:nvSpPr>
          <p:cNvPr id="64" name="레일 삼각형"/>
          <p:cNvSpPr/>
          <p:nvPr/>
        </p:nvSpPr>
        <p:spPr>
          <a:xfrm>
            <a:off x="547826" y="4541478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5" name="칸 본문"/>
          <p:cNvSpPr>
            <a:spLocks noGrp="1"/>
          </p:cNvSpPr>
          <p:nvPr>
            <p:ph type="body" sz="quarter" idx="41"/>
          </p:nvPr>
        </p:nvSpPr>
        <p:spPr>
          <a:xfrm>
            <a:off x="1172348" y="4563391"/>
            <a:ext cx="1390109" cy="942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조직 및 인력 확충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건설공사 체계개선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소통회의 활성화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안전의식 환류 강화</a:t>
            </a:r>
          </a:p>
        </p:txBody>
      </p:sp>
      <p:sp>
        <p:nvSpPr>
          <p:cNvPr id="66" name="칸 본문"/>
          <p:cNvSpPr>
            <a:spLocks noGrp="1"/>
          </p:cNvSpPr>
          <p:nvPr>
            <p:ph type="body" sz="quarter" idx="42"/>
          </p:nvPr>
        </p:nvSpPr>
        <p:spPr>
          <a:xfrm>
            <a:off x="2584370" y="4563391"/>
            <a:ext cx="1390109" cy="942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작업중지권 보장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TBM 내실화/개선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위험성평가 표준화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현장관리 감리강화</a:t>
            </a:r>
          </a:p>
        </p:txBody>
      </p:sp>
      <p:cxnSp>
        <p:nvCxnSpPr>
          <p:cNvPr id="67" name="Connector 52"/>
          <p:cNvCxnSpPr/>
          <p:nvPr/>
        </p:nvCxnSpPr>
        <p:spPr>
          <a:xfrm>
            <a:off x="2573413" y="4596261"/>
            <a:ext cx="0" cy="876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8" name="칸 본문"/>
          <p:cNvSpPr>
            <a:spLocks noGrp="1"/>
          </p:cNvSpPr>
          <p:nvPr>
            <p:ph type="body" sz="quarter" idx="43"/>
          </p:nvPr>
        </p:nvSpPr>
        <p:spPr>
          <a:xfrm>
            <a:off x="3996391" y="4563391"/>
            <a:ext cx="1390109" cy="942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스마트안전장비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모바일 PDCA 체계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전현장 통합감시·대응시스템 구축</a:t>
            </a:r>
          </a:p>
        </p:txBody>
      </p:sp>
      <p:cxnSp>
        <p:nvCxnSpPr>
          <p:cNvPr id="69" name="Connector 54"/>
          <p:cNvCxnSpPr/>
          <p:nvPr/>
        </p:nvCxnSpPr>
        <p:spPr>
          <a:xfrm>
            <a:off x="3985435" y="4596261"/>
            <a:ext cx="0" cy="876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0" name="칸 본문"/>
          <p:cNvSpPr>
            <a:spLocks noGrp="1"/>
          </p:cNvSpPr>
          <p:nvPr>
            <p:ph type="body" sz="quarter" idx="44"/>
          </p:nvPr>
        </p:nvSpPr>
        <p:spPr>
          <a:xfrm>
            <a:off x="5408413" y="4563391"/>
            <a:ext cx="1390109" cy="942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안전문화브랜드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 참여 안전보건문화축제 지속 확대</a:t>
            </a:r>
          </a:p>
        </p:txBody>
      </p:sp>
      <p:cxnSp>
        <p:nvCxnSpPr>
          <p:cNvPr id="71" name="Connector 56"/>
          <p:cNvCxnSpPr/>
          <p:nvPr/>
        </p:nvCxnSpPr>
        <p:spPr>
          <a:xfrm>
            <a:off x="5397457" y="4596261"/>
            <a:ext cx="0" cy="876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2" name="레일"/>
          <p:cNvSpPr/>
          <p:nvPr/>
        </p:nvSpPr>
        <p:spPr>
          <a:xfrm>
            <a:off x="547826" y="5527565"/>
            <a:ext cx="580696" cy="1035391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3" name="레일"/>
          <p:cNvSpPr>
            <a:spLocks noGrp="1"/>
          </p:cNvSpPr>
          <p:nvPr>
            <p:ph type="body" sz="quarter" idx="45"/>
          </p:nvPr>
        </p:nvSpPr>
        <p:spPr>
          <a:xfrm>
            <a:off x="547826" y="5527565"/>
            <a:ext cx="580696" cy="103539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실행기반</a:t>
            </a:r>
          </a:p>
        </p:txBody>
      </p:sp>
      <p:sp>
        <p:nvSpPr>
          <p:cNvPr id="74" name="레일 삼각형"/>
          <p:cNvSpPr/>
          <p:nvPr/>
        </p:nvSpPr>
        <p:spPr>
          <a:xfrm>
            <a:off x="547826" y="5527565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5" name="태그"/>
          <p:cNvSpPr/>
          <p:nvPr/>
        </p:nvSpPr>
        <p:spPr>
          <a:xfrm>
            <a:off x="1161391" y="5571391"/>
            <a:ext cx="628641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6" name="태그"/>
          <p:cNvSpPr>
            <a:spLocks noGrp="1"/>
          </p:cNvSpPr>
          <p:nvPr>
            <p:ph type="body" sz="quarter" idx="46"/>
          </p:nvPr>
        </p:nvSpPr>
        <p:spPr>
          <a:xfrm>
            <a:off x="1161391" y="5571391"/>
            <a:ext cx="62864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규정/제도</a:t>
            </a:r>
          </a:p>
        </p:txBody>
      </p:sp>
      <p:sp>
        <p:nvSpPr>
          <p:cNvPr id="77" name="태그 설명"/>
          <p:cNvSpPr>
            <a:spLocks noGrp="1"/>
          </p:cNvSpPr>
          <p:nvPr>
            <p:ph type="body" sz="quarter" idx="47"/>
          </p:nvPr>
        </p:nvSpPr>
        <p:spPr>
          <a:xfrm>
            <a:off x="1833859" y="5560435"/>
            <a:ext cx="4975620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안전보건규정, 건설공사 안전관리 업무기준 등 / ISO45001, KOSHA-MS 등</a:t>
            </a:r>
          </a:p>
        </p:txBody>
      </p:sp>
      <p:sp>
        <p:nvSpPr>
          <p:cNvPr id="78" name="태그"/>
          <p:cNvSpPr/>
          <p:nvPr/>
        </p:nvSpPr>
        <p:spPr>
          <a:xfrm>
            <a:off x="1161391" y="5768609"/>
            <a:ext cx="628641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9" name="태그"/>
          <p:cNvSpPr>
            <a:spLocks noGrp="1"/>
          </p:cNvSpPr>
          <p:nvPr>
            <p:ph type="body" sz="quarter" idx="48"/>
          </p:nvPr>
        </p:nvSpPr>
        <p:spPr>
          <a:xfrm>
            <a:off x="1161391" y="5768609"/>
            <a:ext cx="62864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안전조직</a:t>
            </a:r>
          </a:p>
        </p:txBody>
      </p:sp>
      <p:sp>
        <p:nvSpPr>
          <p:cNvPr id="80" name="태그 설명"/>
          <p:cNvSpPr>
            <a:spLocks noGrp="1"/>
          </p:cNvSpPr>
          <p:nvPr>
            <p:ph type="body" sz="quarter" idx="49"/>
          </p:nvPr>
        </p:nvSpPr>
        <p:spPr>
          <a:xfrm>
            <a:off x="1833859" y="5757652"/>
            <a:ext cx="4975620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본사 안전본부, 본부 안전보건센터, 현장 산업안전담당자, 자문 안전경영위원회</a:t>
            </a:r>
          </a:p>
        </p:txBody>
      </p:sp>
      <p:sp>
        <p:nvSpPr>
          <p:cNvPr id="81" name="태그"/>
          <p:cNvSpPr/>
          <p:nvPr/>
        </p:nvSpPr>
        <p:spPr>
          <a:xfrm>
            <a:off x="1161391" y="5965826"/>
            <a:ext cx="628641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82" name="태그"/>
          <p:cNvSpPr>
            <a:spLocks noGrp="1"/>
          </p:cNvSpPr>
          <p:nvPr>
            <p:ph type="body" sz="quarter" idx="50"/>
          </p:nvPr>
        </p:nvSpPr>
        <p:spPr>
          <a:xfrm>
            <a:off x="1161391" y="5965826"/>
            <a:ext cx="62864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소통회의</a:t>
            </a:r>
          </a:p>
        </p:txBody>
      </p:sp>
      <p:sp>
        <p:nvSpPr>
          <p:cNvPr id="83" name="태그 설명"/>
          <p:cNvSpPr>
            <a:spLocks noGrp="1"/>
          </p:cNvSpPr>
          <p:nvPr>
            <p:ph type="body" sz="quarter" idx="51"/>
          </p:nvPr>
        </p:nvSpPr>
        <p:spPr>
          <a:xfrm>
            <a:off x="1833859" y="5954870"/>
            <a:ext cx="4975620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전사 안전활동 소통회의(매월), 안전보건리더 소통회의(분기)</a:t>
            </a:r>
          </a:p>
        </p:txBody>
      </p:sp>
      <p:sp>
        <p:nvSpPr>
          <p:cNvPr id="84" name="태그"/>
          <p:cNvSpPr/>
          <p:nvPr/>
        </p:nvSpPr>
        <p:spPr>
          <a:xfrm>
            <a:off x="1161391" y="6163043"/>
            <a:ext cx="628641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85" name="태그"/>
          <p:cNvSpPr>
            <a:spLocks noGrp="1"/>
          </p:cNvSpPr>
          <p:nvPr>
            <p:ph type="body" sz="quarter" idx="52"/>
          </p:nvPr>
        </p:nvSpPr>
        <p:spPr>
          <a:xfrm>
            <a:off x="1161391" y="6163043"/>
            <a:ext cx="62864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시스템</a:t>
            </a:r>
          </a:p>
        </p:txBody>
      </p:sp>
      <p:sp>
        <p:nvSpPr>
          <p:cNvPr id="86" name="태그 설명"/>
          <p:cNvSpPr>
            <a:spLocks noGrp="1"/>
          </p:cNvSpPr>
          <p:nvPr>
            <p:ph type="body" sz="quarter" idx="53"/>
          </p:nvPr>
        </p:nvSpPr>
        <p:spPr>
          <a:xfrm>
            <a:off x="1833859" y="6152087"/>
            <a:ext cx="4975620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산업안전포털, 전사적리스크관리(KRM), 스마트산업안전관리시스템 등</a:t>
            </a:r>
          </a:p>
        </p:txBody>
      </p:sp>
      <p:sp>
        <p:nvSpPr>
          <p:cNvPr id="87" name="태그"/>
          <p:cNvSpPr/>
          <p:nvPr/>
        </p:nvSpPr>
        <p:spPr>
          <a:xfrm>
            <a:off x="1161391" y="6360261"/>
            <a:ext cx="628641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88" name="태그"/>
          <p:cNvSpPr>
            <a:spLocks noGrp="1"/>
          </p:cNvSpPr>
          <p:nvPr>
            <p:ph type="body" sz="quarter" idx="54"/>
          </p:nvPr>
        </p:nvSpPr>
        <p:spPr>
          <a:xfrm>
            <a:off x="1161391" y="6360261"/>
            <a:ext cx="62864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평가/점검</a:t>
            </a:r>
          </a:p>
        </p:txBody>
      </p:sp>
      <p:sp>
        <p:nvSpPr>
          <p:cNvPr id="89" name="태그 설명"/>
          <p:cNvSpPr>
            <a:spLocks noGrp="1"/>
          </p:cNvSpPr>
          <p:nvPr>
            <p:ph type="body" sz="quarter" idx="55"/>
          </p:nvPr>
        </p:nvSpPr>
        <p:spPr>
          <a:xfrm>
            <a:off x="1833859" y="6349304"/>
            <a:ext cx="4975620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 안전관리등급제 등, 내부 내부평가 등 / 임원 현장점검(멘토링) 등</a:t>
            </a:r>
          </a:p>
        </p:txBody>
      </p:sp>
      <p:sp>
        <p:nvSpPr>
          <p:cNvPr id="90" name="핵심성과 박스"/>
          <p:cNvSpPr/>
          <p:nvPr/>
        </p:nvSpPr>
        <p:spPr>
          <a:xfrm>
            <a:off x="536870" y="6667043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1" name="핵심성과 라벨"/>
          <p:cNvSpPr/>
          <p:nvPr/>
        </p:nvSpPr>
        <p:spPr>
          <a:xfrm>
            <a:off x="569739" y="6699913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92" name="핵심성과 라벨"/>
          <p:cNvSpPr>
            <a:spLocks noGrp="1"/>
          </p:cNvSpPr>
          <p:nvPr>
            <p:ph type="body" sz="quarter" idx="56"/>
          </p:nvPr>
        </p:nvSpPr>
        <p:spPr>
          <a:xfrm>
            <a:off x="569739" y="6699913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93" name="핵심성과 문구"/>
          <p:cNvSpPr>
            <a:spLocks noGrp="1"/>
          </p:cNvSpPr>
          <p:nvPr>
            <p:ph type="body" sz="quarter" idx="57"/>
          </p:nvPr>
        </p:nvSpPr>
        <p:spPr>
          <a:xfrm>
            <a:off x="1314783" y="6688957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K-water 산업재해 발생 감소(’24년 67명 → ’25년 51명, 24%↓)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공공 건설공사 참여자 「안전관리 수준평가」 ‘우수’ 등급 달성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64 서사 · 안전경영체계 PDCA 도입(번호 띠 직후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‘모두의 안전’을 위한 안전경영체계 고도화</a:t>
            </a:r>
          </a:p>
        </p:txBody>
      </p:sp>
      <p:sp>
        <p:nvSpPr>
          <p:cNvPr id="14" name="표 외곽"/>
          <p:cNvSpPr/>
          <p:nvPr/>
        </p:nvSpPr>
        <p:spPr>
          <a:xfrm>
            <a:off x="723130" y="1128522"/>
            <a:ext cx="6300000" cy="115043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734087" y="1144957"/>
            <a:ext cx="580696" cy="111756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144957"/>
            <a:ext cx="580696" cy="1117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안전경영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 계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3"/>
          </p:nvPr>
        </p:nvSpPr>
        <p:spPr>
          <a:xfrm>
            <a:off x="1358609" y="1166870"/>
            <a:ext cx="1390109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P 안전목표·전략·실행과제 수립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법적 정합성 제고(규정 현행화)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4"/>
          </p:nvPr>
        </p:nvSpPr>
        <p:spPr>
          <a:xfrm>
            <a:off x="2770630" y="1166870"/>
            <a:ext cx="1390109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D 안전조직 정렬(본사·본부·현장)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예산, 인프라 확대 / 훈련 강화</a:t>
            </a:r>
          </a:p>
        </p:txBody>
      </p:sp>
      <p:cxnSp>
        <p:nvCxnSpPr>
          <p:cNvPr id="19" name="Connector 12"/>
          <p:cNvCxnSpPr/>
          <p:nvPr/>
        </p:nvCxnSpPr>
        <p:spPr>
          <a:xfrm>
            <a:off x="2759674" y="1199739"/>
            <a:ext cx="0" cy="788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0" name="칸 본문"/>
          <p:cNvSpPr>
            <a:spLocks noGrp="1"/>
          </p:cNvSpPr>
          <p:nvPr>
            <p:ph type="body" sz="quarter" idx="25"/>
          </p:nvPr>
        </p:nvSpPr>
        <p:spPr>
          <a:xfrm>
            <a:off x="4182652" y="1166870"/>
            <a:ext cx="1390109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 내부평가 반영/인센티브 부여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안전의식 제고·문화 확산</a:t>
            </a:r>
          </a:p>
        </p:txBody>
      </p:sp>
      <p:cxnSp>
        <p:nvCxnSpPr>
          <p:cNvPr id="21" name="Connector 14"/>
          <p:cNvCxnSpPr/>
          <p:nvPr/>
        </p:nvCxnSpPr>
        <p:spPr>
          <a:xfrm>
            <a:off x="4171696" y="1199739"/>
            <a:ext cx="0" cy="788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2" name="칸 본문"/>
          <p:cNvSpPr>
            <a:spLocks noGrp="1"/>
          </p:cNvSpPr>
          <p:nvPr>
            <p:ph type="body" sz="quarter" idx="26"/>
          </p:nvPr>
        </p:nvSpPr>
        <p:spPr>
          <a:xfrm>
            <a:off x="5594674" y="1166870"/>
            <a:ext cx="1390109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 소통점검회의/내부심사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근로자 의견수렴/안전수준 조사</a:t>
            </a:r>
          </a:p>
        </p:txBody>
      </p:sp>
      <p:cxnSp>
        <p:nvCxnSpPr>
          <p:cNvPr id="23" name="Connector 16"/>
          <p:cNvCxnSpPr/>
          <p:nvPr/>
        </p:nvCxnSpPr>
        <p:spPr>
          <a:xfrm>
            <a:off x="5583717" y="1199739"/>
            <a:ext cx="0" cy="788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4" name="배너"/>
          <p:cNvSpPr/>
          <p:nvPr/>
        </p:nvSpPr>
        <p:spPr>
          <a:xfrm>
            <a:off x="1347652" y="2037913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5" name="배너"/>
          <p:cNvSpPr>
            <a:spLocks noGrp="1"/>
          </p:cNvSpPr>
          <p:nvPr>
            <p:ph type="body" sz="quarter" idx="27"/>
          </p:nvPr>
        </p:nvSpPr>
        <p:spPr>
          <a:xfrm>
            <a:off x="1347652" y="2037913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안전한 일터, 행복한 이웃 (근로자·협력업체·시민·지역사회)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65 서사 · 조직 강화·인력 확충 → 건설사업 수행체계 개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11" name="분야 박스"/>
          <p:cNvSpPr/>
          <p:nvPr/>
        </p:nvSpPr>
        <p:spPr>
          <a:xfrm>
            <a:off x="766390" y="799826"/>
            <a:ext cx="592466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분야 박스"/>
          <p:cNvSpPr>
            <a:spLocks noGrp="1"/>
          </p:cNvSpPr>
          <p:nvPr>
            <p:ph type="body" sz="quarter" idx="21"/>
          </p:nvPr>
        </p:nvSpPr>
        <p:spPr>
          <a:xfrm>
            <a:off x="766390" y="799826"/>
            <a:ext cx="59246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안전조직</a:t>
            </a:r>
          </a:p>
        </p:txBody>
      </p:sp>
      <p:sp>
        <p:nvSpPr>
          <p:cNvPr id="13" name="형광 밑줄"/>
          <p:cNvSpPr/>
          <p:nvPr/>
        </p:nvSpPr>
        <p:spPr>
          <a:xfrm>
            <a:off x="1424595" y="920348"/>
            <a:ext cx="3262282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소제목"/>
          <p:cNvSpPr>
            <a:spLocks noGrp="1"/>
          </p:cNvSpPr>
          <p:nvPr>
            <p:ph type="body" sz="quarter" idx="22"/>
          </p:nvPr>
        </p:nvSpPr>
        <p:spPr>
          <a:xfrm>
            <a:off x="1424595" y="766957"/>
            <a:ext cx="5412275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중대재해 중점 예방관리를 위한 건설공사 수행체계 개선</a:t>
            </a:r>
          </a:p>
        </p:txBody>
      </p:sp>
      <p:sp>
        <p:nvSpPr>
          <p:cNvPr id="15" name="태그칩"/>
          <p:cNvSpPr/>
          <p:nvPr/>
        </p:nvSpPr>
        <p:spPr>
          <a:xfrm>
            <a:off x="4785485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태그칩"/>
          <p:cNvSpPr>
            <a:spLocks noGrp="1"/>
          </p:cNvSpPr>
          <p:nvPr>
            <p:ph type="body" sz="quarter" idx="23"/>
          </p:nvPr>
        </p:nvSpPr>
        <p:spPr>
          <a:xfrm>
            <a:off x="4785485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7" name="표 외곽"/>
          <p:cNvSpPr/>
          <p:nvPr/>
        </p:nvSpPr>
        <p:spPr>
          <a:xfrm>
            <a:off x="536870" y="1051826"/>
            <a:ext cx="6300000" cy="205434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레일"/>
          <p:cNvSpPr/>
          <p:nvPr/>
        </p:nvSpPr>
        <p:spPr>
          <a:xfrm>
            <a:off x="547826" y="1068261"/>
            <a:ext cx="580696" cy="1144957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레일 태그"/>
          <p:cNvSpPr/>
          <p:nvPr/>
        </p:nvSpPr>
        <p:spPr>
          <a:xfrm>
            <a:off x="558376" y="1112087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0" name="레일 태그"/>
          <p:cNvSpPr>
            <a:spLocks noGrp="1"/>
          </p:cNvSpPr>
          <p:nvPr>
            <p:ph type="body" sz="quarter" idx="24"/>
          </p:nvPr>
        </p:nvSpPr>
        <p:spPr>
          <a:xfrm>
            <a:off x="558376" y="1112087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총괄기능</a:t>
            </a:r>
          </a:p>
        </p:txBody>
      </p:sp>
      <p:sp>
        <p:nvSpPr>
          <p:cNvPr id="21" name="레일 라벨"/>
          <p:cNvSpPr>
            <a:spLocks noGrp="1"/>
          </p:cNvSpPr>
          <p:nvPr>
            <p:ph type="body" sz="quarter" idx="25"/>
          </p:nvPr>
        </p:nvSpPr>
        <p:spPr>
          <a:xfrm>
            <a:off x="547826" y="1298348"/>
            <a:ext cx="580696" cy="892957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조직강화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인력확충</a:t>
            </a:r>
          </a:p>
        </p:txBody>
      </p:sp>
      <p:sp>
        <p:nvSpPr>
          <p:cNvPr id="22" name="머리칸"/>
          <p:cNvSpPr/>
          <p:nvPr/>
        </p:nvSpPr>
        <p:spPr>
          <a:xfrm>
            <a:off x="1161391" y="1090174"/>
            <a:ext cx="1185286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3" name="머리칸"/>
          <p:cNvSpPr>
            <a:spLocks noGrp="1"/>
          </p:cNvSpPr>
          <p:nvPr>
            <p:ph type="body" sz="quarter" idx="26"/>
          </p:nvPr>
        </p:nvSpPr>
        <p:spPr>
          <a:xfrm>
            <a:off x="1161391" y="1090174"/>
            <a:ext cx="118528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단일부서</a:t>
            </a:r>
          </a:p>
        </p:txBody>
      </p:sp>
      <p:sp>
        <p:nvSpPr>
          <p:cNvPr id="24" name="머리칸"/>
          <p:cNvSpPr/>
          <p:nvPr/>
        </p:nvSpPr>
        <p:spPr>
          <a:xfrm>
            <a:off x="2363112" y="1090174"/>
            <a:ext cx="2867695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5" name="머리칸"/>
          <p:cNvSpPr>
            <a:spLocks noGrp="1"/>
          </p:cNvSpPr>
          <p:nvPr>
            <p:ph type="body" sz="quarter" idx="27"/>
          </p:nvPr>
        </p:nvSpPr>
        <p:spPr>
          <a:xfrm>
            <a:off x="2363112" y="1090174"/>
            <a:ext cx="2867695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사항</a:t>
            </a:r>
          </a:p>
        </p:txBody>
      </p:sp>
      <p:sp>
        <p:nvSpPr>
          <p:cNvPr id="26" name="머리칸"/>
          <p:cNvSpPr/>
          <p:nvPr/>
        </p:nvSpPr>
        <p:spPr>
          <a:xfrm>
            <a:off x="5247241" y="1090174"/>
            <a:ext cx="154580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7" name="머리칸"/>
          <p:cNvSpPr>
            <a:spLocks noGrp="1"/>
          </p:cNvSpPr>
          <p:nvPr>
            <p:ph type="body" sz="quarter" idx="28"/>
          </p:nvPr>
        </p:nvSpPr>
        <p:spPr>
          <a:xfrm>
            <a:off x="5247241" y="1090174"/>
            <a:ext cx="154580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전문조직·인력 확대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9"/>
          </p:nvPr>
        </p:nvSpPr>
        <p:spPr>
          <a:xfrm>
            <a:off x="1172348" y="1331217"/>
            <a:ext cx="1179808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부사장(CSO)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안전혁신실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직할 5부  총 40명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0"/>
          </p:nvPr>
        </p:nvSpPr>
        <p:spPr>
          <a:xfrm>
            <a:off x="2374068" y="1331217"/>
            <a:ext cx="2862216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안전조직 위상 제고 본부장급으로 격상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건설안전관리 강화 部 → 부서로 격상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현장작동성 점검 안전기동반 신설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안전문화·의식 개선 안전문화부 신설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안전예산 증대 ’21년 6,217억원 ➡ ’25년 8,890억원</a:t>
            </a:r>
          </a:p>
        </p:txBody>
      </p:sp>
      <p:cxnSp>
        <p:nvCxnSpPr>
          <p:cNvPr id="30" name="Connector 20"/>
          <p:cNvCxnSpPr/>
          <p:nvPr/>
        </p:nvCxnSpPr>
        <p:spPr>
          <a:xfrm>
            <a:off x="2363112" y="1364087"/>
            <a:ext cx="0" cy="81078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칸 본문"/>
          <p:cNvSpPr>
            <a:spLocks noGrp="1"/>
          </p:cNvSpPr>
          <p:nvPr>
            <p:ph type="body" sz="quarter" idx="31"/>
          </p:nvPr>
        </p:nvSpPr>
        <p:spPr>
          <a:xfrm>
            <a:off x="5258198" y="1331217"/>
            <a:ext cx="1540324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부사장(CSO)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안전본부 · 건설안전처(3부)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직할 4부  총 48명(20%↑)</a:t>
            </a:r>
          </a:p>
        </p:txBody>
      </p:sp>
      <p:cxnSp>
        <p:nvCxnSpPr>
          <p:cNvPr id="32" name="Connector 22"/>
          <p:cNvCxnSpPr/>
          <p:nvPr/>
        </p:nvCxnSpPr>
        <p:spPr>
          <a:xfrm>
            <a:off x="5247241" y="1364087"/>
            <a:ext cx="0" cy="81078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레일"/>
          <p:cNvSpPr/>
          <p:nvPr/>
        </p:nvSpPr>
        <p:spPr>
          <a:xfrm>
            <a:off x="547826" y="2229652"/>
            <a:ext cx="580696" cy="8600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4" name="레일 태그"/>
          <p:cNvSpPr/>
          <p:nvPr/>
        </p:nvSpPr>
        <p:spPr>
          <a:xfrm>
            <a:off x="558376" y="2394000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5" name="레일 태그"/>
          <p:cNvSpPr>
            <a:spLocks noGrp="1"/>
          </p:cNvSpPr>
          <p:nvPr>
            <p:ph type="body" sz="quarter" idx="32"/>
          </p:nvPr>
        </p:nvSpPr>
        <p:spPr>
          <a:xfrm>
            <a:off x="558376" y="2394000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현장부서</a:t>
            </a:r>
          </a:p>
        </p:txBody>
      </p:sp>
      <p:sp>
        <p:nvSpPr>
          <p:cNvPr id="36" name="레일 라벨"/>
          <p:cNvSpPr>
            <a:spLocks noGrp="1"/>
          </p:cNvSpPr>
          <p:nvPr>
            <p:ph type="body" sz="quarter" idx="33"/>
          </p:nvPr>
        </p:nvSpPr>
        <p:spPr>
          <a:xfrm>
            <a:off x="547826" y="2580261"/>
            <a:ext cx="580696" cy="487565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건설사업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수행체계</a:t>
            </a:r>
          </a:p>
        </p:txBody>
      </p:sp>
      <p:sp>
        <p:nvSpPr>
          <p:cNvPr id="37" name="레일 삼각형"/>
          <p:cNvSpPr/>
          <p:nvPr/>
        </p:nvSpPr>
        <p:spPr>
          <a:xfrm>
            <a:off x="547826" y="2229652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8" name="단계"/>
          <p:cNvSpPr/>
          <p:nvPr/>
        </p:nvSpPr>
        <p:spPr>
          <a:xfrm>
            <a:off x="1161391" y="2251565"/>
            <a:ext cx="282404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9" name="단계"/>
          <p:cNvSpPr>
            <a:spLocks noGrp="1"/>
          </p:cNvSpPr>
          <p:nvPr>
            <p:ph type="body" sz="quarter" idx="34"/>
          </p:nvPr>
        </p:nvSpPr>
        <p:spPr>
          <a:xfrm>
            <a:off x="1161391" y="2251565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공사·운영업무 혼재</a:t>
            </a:r>
          </a:p>
        </p:txBody>
      </p:sp>
      <p:sp>
        <p:nvSpPr>
          <p:cNvPr id="40" name="단계"/>
          <p:cNvSpPr/>
          <p:nvPr/>
        </p:nvSpPr>
        <p:spPr>
          <a:xfrm>
            <a:off x="3985435" y="2251565"/>
            <a:ext cx="2824043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1" name="단계"/>
          <p:cNvSpPr>
            <a:spLocks noGrp="1"/>
          </p:cNvSpPr>
          <p:nvPr>
            <p:ph type="body" sz="quarter" idx="35"/>
          </p:nvPr>
        </p:nvSpPr>
        <p:spPr>
          <a:xfrm>
            <a:off x="3985435" y="2251565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공사 전담 시행체계로 전환(현장관리 집중)</a:t>
            </a:r>
          </a:p>
        </p:txBody>
      </p:sp>
      <p:sp>
        <p:nvSpPr>
          <p:cNvPr id="42" name="단계 삼각형"/>
          <p:cNvSpPr/>
          <p:nvPr/>
        </p:nvSpPr>
        <p:spPr>
          <a:xfrm>
            <a:off x="3985434" y="2251565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3" name="칸 본문"/>
          <p:cNvSpPr>
            <a:spLocks noGrp="1"/>
          </p:cNvSpPr>
          <p:nvPr>
            <p:ph type="body" sz="quarter" idx="36"/>
          </p:nvPr>
        </p:nvSpPr>
        <p:spPr>
          <a:xfrm>
            <a:off x="1172348" y="2503565"/>
            <a:ext cx="2802130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역량 분산, 업무 과다(효율성 저하)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수도지사 · 댐지사 아래 운영/공사 혼재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37"/>
          </p:nvPr>
        </p:nvSpPr>
        <p:spPr>
          <a:xfrm>
            <a:off x="3996391" y="2503565"/>
            <a:ext cx="2802130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건설공사 전담수행조직 전국적 확대(4 → 9개)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수도지사 / 사업단 / 댐지사 아래 운영·공사 분리</a:t>
            </a:r>
          </a:p>
        </p:txBody>
      </p:sp>
      <p:cxnSp>
        <p:nvCxnSpPr>
          <p:cNvPr id="45" name="Connector 32"/>
          <p:cNvCxnSpPr/>
          <p:nvPr/>
        </p:nvCxnSpPr>
        <p:spPr>
          <a:xfrm>
            <a:off x="3985435" y="2536435"/>
            <a:ext cx="0" cy="514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66 서사 · 추진배경 → CEO 중심 활동(정책·니즈 → 리더십 강화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10" name="분야 박스"/>
          <p:cNvSpPr/>
          <p:nvPr/>
        </p:nvSpPr>
        <p:spPr>
          <a:xfrm>
            <a:off x="952651" y="810783"/>
            <a:ext cx="639598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1" name="분야 박스"/>
          <p:cNvSpPr>
            <a:spLocks noGrp="1"/>
          </p:cNvSpPr>
          <p:nvPr>
            <p:ph type="body" sz="quarter" idx="21"/>
          </p:nvPr>
        </p:nvSpPr>
        <p:spPr>
          <a:xfrm>
            <a:off x="952651" y="810783"/>
            <a:ext cx="63959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소통/점검</a:t>
            </a:r>
          </a:p>
        </p:txBody>
      </p:sp>
      <p:sp>
        <p:nvSpPr>
          <p:cNvPr id="12" name="형광 밑줄"/>
          <p:cNvSpPr/>
          <p:nvPr/>
        </p:nvSpPr>
        <p:spPr>
          <a:xfrm>
            <a:off x="1657988" y="931304"/>
            <a:ext cx="2619894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3" name="소제목"/>
          <p:cNvSpPr>
            <a:spLocks noGrp="1"/>
          </p:cNvSpPr>
          <p:nvPr>
            <p:ph type="body" sz="quarter" idx="22"/>
          </p:nvPr>
        </p:nvSpPr>
        <p:spPr>
          <a:xfrm>
            <a:off x="1657988" y="777913"/>
            <a:ext cx="5365143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CEO 중심 안전보건 체계로 안전사령탑 강화</a:t>
            </a:r>
          </a:p>
        </p:txBody>
      </p:sp>
      <p:sp>
        <p:nvSpPr>
          <p:cNvPr id="14" name="태그칩"/>
          <p:cNvSpPr/>
          <p:nvPr/>
        </p:nvSpPr>
        <p:spPr>
          <a:xfrm>
            <a:off x="4376490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3"/>
          </p:nvPr>
        </p:nvSpPr>
        <p:spPr>
          <a:xfrm>
            <a:off x="4376490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태그칩"/>
          <p:cNvSpPr/>
          <p:nvPr/>
        </p:nvSpPr>
        <p:spPr>
          <a:xfrm>
            <a:off x="4927611" y="810783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칩"/>
          <p:cNvSpPr>
            <a:spLocks noGrp="1"/>
          </p:cNvSpPr>
          <p:nvPr>
            <p:ph type="body" sz="quarter" idx="24"/>
          </p:nvPr>
        </p:nvSpPr>
        <p:spPr>
          <a:xfrm>
            <a:off x="4927611" y="810783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8" name="표 외곽"/>
          <p:cNvSpPr/>
          <p:nvPr/>
        </p:nvSpPr>
        <p:spPr>
          <a:xfrm>
            <a:off x="723130" y="1062783"/>
            <a:ext cx="6300000" cy="1506522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레일"/>
          <p:cNvSpPr/>
          <p:nvPr/>
        </p:nvSpPr>
        <p:spPr>
          <a:xfrm>
            <a:off x="734087" y="1079217"/>
            <a:ext cx="580696" cy="498522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5"/>
          </p:nvPr>
        </p:nvSpPr>
        <p:spPr>
          <a:xfrm>
            <a:off x="734087" y="1079217"/>
            <a:ext cx="580696" cy="49852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6"/>
          </p:nvPr>
        </p:nvSpPr>
        <p:spPr>
          <a:xfrm>
            <a:off x="1358609" y="1101130"/>
            <a:ext cx="2802130" cy="471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실질적 작업위험 감소 위한 CSO 주관 「위험작업 점검회의(매월)」 운영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7"/>
          </p:nvPr>
        </p:nvSpPr>
        <p:spPr>
          <a:xfrm>
            <a:off x="4182652" y="1101130"/>
            <a:ext cx="2802130" cy="471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대내외 안전여건 변화, 경영진 의견 반영하여 운영방안 개선 검토</a:t>
            </a:r>
          </a:p>
        </p:txBody>
      </p:sp>
      <p:cxnSp>
        <p:nvCxnSpPr>
          <p:cNvPr id="23" name="Connector 13"/>
          <p:cNvCxnSpPr/>
          <p:nvPr/>
        </p:nvCxnSpPr>
        <p:spPr>
          <a:xfrm>
            <a:off x="4171696" y="1134000"/>
            <a:ext cx="0" cy="40539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4" name="레일"/>
          <p:cNvSpPr/>
          <p:nvPr/>
        </p:nvSpPr>
        <p:spPr>
          <a:xfrm>
            <a:off x="734087" y="1594174"/>
            <a:ext cx="580696" cy="958696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5" name="레일"/>
          <p:cNvSpPr>
            <a:spLocks noGrp="1"/>
          </p:cNvSpPr>
          <p:nvPr>
            <p:ph type="body" sz="quarter" idx="28"/>
          </p:nvPr>
        </p:nvSpPr>
        <p:spPr>
          <a:xfrm>
            <a:off x="734087" y="1594174"/>
            <a:ext cx="580696" cy="95869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CEO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중 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활 동</a:t>
            </a:r>
          </a:p>
        </p:txBody>
      </p:sp>
      <p:sp>
        <p:nvSpPr>
          <p:cNvPr id="26" name="레일 삼각형"/>
          <p:cNvSpPr/>
          <p:nvPr/>
        </p:nvSpPr>
        <p:spPr>
          <a:xfrm>
            <a:off x="734086" y="1594173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7" name="머리칸"/>
          <p:cNvSpPr/>
          <p:nvPr/>
        </p:nvSpPr>
        <p:spPr>
          <a:xfrm>
            <a:off x="1347652" y="1616087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8" name="머리칸"/>
          <p:cNvSpPr>
            <a:spLocks noGrp="1"/>
          </p:cNvSpPr>
          <p:nvPr>
            <p:ph type="body" sz="quarter" idx="29"/>
          </p:nvPr>
        </p:nvSpPr>
        <p:spPr>
          <a:xfrm>
            <a:off x="1347652" y="1616087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정책 정합성 및 니즈 확인</a:t>
            </a:r>
          </a:p>
        </p:txBody>
      </p:sp>
      <p:sp>
        <p:nvSpPr>
          <p:cNvPr id="29" name="머리칸"/>
          <p:cNvSpPr/>
          <p:nvPr/>
        </p:nvSpPr>
        <p:spPr>
          <a:xfrm>
            <a:off x="4171696" y="1616087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0" name="머리칸"/>
          <p:cNvSpPr>
            <a:spLocks noGrp="1"/>
          </p:cNvSpPr>
          <p:nvPr>
            <p:ph type="body" sz="quarter" idx="30"/>
          </p:nvPr>
        </p:nvSpPr>
        <p:spPr>
          <a:xfrm>
            <a:off x="4171696" y="1616087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안전보건 리더십 강화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1"/>
          </p:nvPr>
        </p:nvSpPr>
        <p:spPr>
          <a:xfrm>
            <a:off x="1358609" y="1857130"/>
            <a:ext cx="2802130" cy="690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정부정책 위험예측·예방 대비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내부의견 안전경영 CEO 의지 전파, 안전경각심 내실화 위해 강화 필요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2"/>
          </p:nvPr>
        </p:nvSpPr>
        <p:spPr>
          <a:xfrm>
            <a:off x="4182652" y="1857130"/>
            <a:ext cx="2802130" cy="690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CSO 중심 ‘위험작업 위주 공유’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CEO 주관 안전회의 확대(’24년 11회 → ’25년 14회)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산재현황, 예방활동, 안전의식개선 등 논의</a:t>
            </a:r>
          </a:p>
        </p:txBody>
      </p:sp>
      <p:cxnSp>
        <p:nvCxnSpPr>
          <p:cNvPr id="33" name="Connector 20"/>
          <p:cNvCxnSpPr/>
          <p:nvPr/>
        </p:nvCxnSpPr>
        <p:spPr>
          <a:xfrm>
            <a:off x="4171696" y="1890000"/>
            <a:ext cx="0" cy="624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67 서사 · 추진배경 → 정확한 수준진단(진단체계 신뢰성 · 참여 제약 해소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</a:t>
            </a:r>
          </a:p>
        </p:txBody>
      </p:sp>
      <p:sp>
        <p:nvSpPr>
          <p:cNvPr id="11" name="분야 박스"/>
          <p:cNvSpPr/>
          <p:nvPr/>
        </p:nvSpPr>
        <p:spPr>
          <a:xfrm>
            <a:off x="766390" y="799826"/>
            <a:ext cx="372929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분야 박스"/>
          <p:cNvSpPr>
            <a:spLocks noGrp="1"/>
          </p:cNvSpPr>
          <p:nvPr>
            <p:ph type="body" sz="quarter" idx="21"/>
          </p:nvPr>
        </p:nvSpPr>
        <p:spPr>
          <a:xfrm>
            <a:off x="766390" y="799826"/>
            <a:ext cx="37292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환류</a:t>
            </a:r>
          </a:p>
        </p:txBody>
      </p:sp>
      <p:sp>
        <p:nvSpPr>
          <p:cNvPr id="13" name="형광 밑줄"/>
          <p:cNvSpPr/>
          <p:nvPr/>
        </p:nvSpPr>
        <p:spPr>
          <a:xfrm>
            <a:off x="1205058" y="920348"/>
            <a:ext cx="3305297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소제목"/>
          <p:cNvSpPr>
            <a:spLocks noGrp="1"/>
          </p:cNvSpPr>
          <p:nvPr>
            <p:ph type="body" sz="quarter" idx="22"/>
          </p:nvPr>
        </p:nvSpPr>
        <p:spPr>
          <a:xfrm>
            <a:off x="1205058" y="766957"/>
            <a:ext cx="5631812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안전문화·의식 수준 진단체계 개선으로 환류 실효성 강화</a:t>
            </a:r>
          </a:p>
        </p:txBody>
      </p:sp>
      <p:sp>
        <p:nvSpPr>
          <p:cNvPr id="15" name="태그칩"/>
          <p:cNvSpPr/>
          <p:nvPr/>
        </p:nvSpPr>
        <p:spPr>
          <a:xfrm>
            <a:off x="4608963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태그칩"/>
          <p:cNvSpPr>
            <a:spLocks noGrp="1"/>
          </p:cNvSpPr>
          <p:nvPr>
            <p:ph type="body" sz="quarter" idx="23"/>
          </p:nvPr>
        </p:nvSpPr>
        <p:spPr>
          <a:xfrm>
            <a:off x="4608963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7" name="태그칩"/>
          <p:cNvSpPr/>
          <p:nvPr/>
        </p:nvSpPr>
        <p:spPr>
          <a:xfrm>
            <a:off x="5160084" y="799826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태그칩"/>
          <p:cNvSpPr>
            <a:spLocks noGrp="1"/>
          </p:cNvSpPr>
          <p:nvPr>
            <p:ph type="body" sz="quarter" idx="24"/>
          </p:nvPr>
        </p:nvSpPr>
        <p:spPr>
          <a:xfrm>
            <a:off x="5160084" y="799826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9" name="표 외곽"/>
          <p:cNvSpPr/>
          <p:nvPr/>
        </p:nvSpPr>
        <p:spPr>
          <a:xfrm>
            <a:off x="536870" y="1051826"/>
            <a:ext cx="6300000" cy="173128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0" name="레일"/>
          <p:cNvSpPr/>
          <p:nvPr/>
        </p:nvSpPr>
        <p:spPr>
          <a:xfrm>
            <a:off x="547826" y="1068261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5"/>
          </p:nvPr>
        </p:nvSpPr>
        <p:spPr>
          <a:xfrm>
            <a:off x="547826" y="1068261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6"/>
          </p:nvPr>
        </p:nvSpPr>
        <p:spPr>
          <a:xfrm>
            <a:off x="1172348" y="1090174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현황분석 자체 개발 진단체계 활용, 조사참여에 대한 심리적 부담 상승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7"/>
          </p:nvPr>
        </p:nvSpPr>
        <p:spPr>
          <a:xfrm>
            <a:off x="3996391" y="1090174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안전의식 수준진단 참여 저조, 진단결과 정확성 확보 위해 개선 필요</a:t>
            </a:r>
          </a:p>
        </p:txBody>
      </p:sp>
      <p:cxnSp>
        <p:nvCxnSpPr>
          <p:cNvPr id="24" name="Connector 16"/>
          <p:cNvCxnSpPr/>
          <p:nvPr/>
        </p:nvCxnSpPr>
        <p:spPr>
          <a:xfrm>
            <a:off x="3985435" y="1123043"/>
            <a:ext cx="0" cy="27125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5" name="레일"/>
          <p:cNvSpPr/>
          <p:nvPr/>
        </p:nvSpPr>
        <p:spPr>
          <a:xfrm>
            <a:off x="547826" y="1492904"/>
            <a:ext cx="580696" cy="1273774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6" name="레일 태그"/>
          <p:cNvSpPr/>
          <p:nvPr/>
        </p:nvSpPr>
        <p:spPr>
          <a:xfrm>
            <a:off x="433971" y="1657252"/>
            <a:ext cx="808405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7" name="레일 태그"/>
          <p:cNvSpPr>
            <a:spLocks noGrp="1"/>
          </p:cNvSpPr>
          <p:nvPr>
            <p:ph type="body" sz="quarter" idx="28"/>
          </p:nvPr>
        </p:nvSpPr>
        <p:spPr>
          <a:xfrm>
            <a:off x="433971" y="1657252"/>
            <a:ext cx="808405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환류체계 개선</a:t>
            </a:r>
          </a:p>
        </p:txBody>
      </p:sp>
      <p:sp>
        <p:nvSpPr>
          <p:cNvPr id="28" name="레일 라벨"/>
          <p:cNvSpPr>
            <a:spLocks noGrp="1"/>
          </p:cNvSpPr>
          <p:nvPr>
            <p:ph type="body" sz="quarter" idx="29"/>
          </p:nvPr>
        </p:nvSpPr>
        <p:spPr>
          <a:xfrm>
            <a:off x="547826" y="1843513"/>
            <a:ext cx="580696" cy="901252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정확한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수준진단</a:t>
            </a:r>
          </a:p>
        </p:txBody>
      </p:sp>
      <p:sp>
        <p:nvSpPr>
          <p:cNvPr id="29" name="레일 삼각형"/>
          <p:cNvSpPr/>
          <p:nvPr/>
        </p:nvSpPr>
        <p:spPr>
          <a:xfrm>
            <a:off x="547826" y="1492904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0" name="머리칸"/>
          <p:cNvSpPr/>
          <p:nvPr/>
        </p:nvSpPr>
        <p:spPr>
          <a:xfrm>
            <a:off x="1161391" y="1514817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1" name="머리칸"/>
          <p:cNvSpPr>
            <a:spLocks noGrp="1"/>
          </p:cNvSpPr>
          <p:nvPr>
            <p:ph type="body" sz="quarter" idx="30"/>
          </p:nvPr>
        </p:nvSpPr>
        <p:spPr>
          <a:xfrm>
            <a:off x="1161391" y="1514817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진단체계 신뢰성 확보 노력</a:t>
            </a:r>
          </a:p>
        </p:txBody>
      </p:sp>
      <p:sp>
        <p:nvSpPr>
          <p:cNvPr id="32" name="머리칸"/>
          <p:cNvSpPr/>
          <p:nvPr/>
        </p:nvSpPr>
        <p:spPr>
          <a:xfrm>
            <a:off x="3985435" y="1514817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3" name="머리칸"/>
          <p:cNvSpPr>
            <a:spLocks noGrp="1"/>
          </p:cNvSpPr>
          <p:nvPr>
            <p:ph type="body" sz="quarter" idx="31"/>
          </p:nvPr>
        </p:nvSpPr>
        <p:spPr>
          <a:xfrm>
            <a:off x="3985435" y="1514817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구성원 설문응답 참여 제약요인 해소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2"/>
          </p:nvPr>
        </p:nvSpPr>
        <p:spPr>
          <a:xfrm>
            <a:off x="1172348" y="1755861"/>
            <a:ext cx="2802130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안전보건공단 국가표준지표(KSCI) 도입활용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모집단 구성(부서·직급 등) 고려한 표본설계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3"/>
          </p:nvPr>
        </p:nvSpPr>
        <p:spPr>
          <a:xfrm>
            <a:off x="3996391" y="1755861"/>
            <a:ext cx="2802130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시간단축 설문 문항수 최적화(60 → 20개)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참여유도 조사기간 확대, 참여이벤트 등</a:t>
            </a:r>
          </a:p>
        </p:txBody>
      </p:sp>
      <p:cxnSp>
        <p:nvCxnSpPr>
          <p:cNvPr id="36" name="Connector 25"/>
          <p:cNvCxnSpPr/>
          <p:nvPr/>
        </p:nvCxnSpPr>
        <p:spPr>
          <a:xfrm>
            <a:off x="3985435" y="1788730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7" name="칸 본문"/>
          <p:cNvSpPr>
            <a:spLocks noGrp="1"/>
          </p:cNvSpPr>
          <p:nvPr>
            <p:ph type="body" sz="quarter" idx="34"/>
          </p:nvPr>
        </p:nvSpPr>
        <p:spPr>
          <a:xfrm>
            <a:off x="1172348" y="2188643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신뢰수준 95% 확보, 진단체계 대내외 객관성 향상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5"/>
          </p:nvPr>
        </p:nvSpPr>
        <p:spPr>
          <a:xfrm>
            <a:off x="3996391" y="2188643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참여율 향상으로 진단결과 대표성 확보(2,771명, 전년比 2.7배↑)</a:t>
            </a:r>
          </a:p>
        </p:txBody>
      </p:sp>
      <p:cxnSp>
        <p:nvCxnSpPr>
          <p:cNvPr id="39" name="Connector 28"/>
          <p:cNvCxnSpPr/>
          <p:nvPr/>
        </p:nvCxnSpPr>
        <p:spPr>
          <a:xfrm>
            <a:off x="3985435" y="2221513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0" name="배너"/>
          <p:cNvSpPr/>
          <p:nvPr/>
        </p:nvSpPr>
        <p:spPr>
          <a:xfrm>
            <a:off x="1161391" y="2542070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1" name="배너"/>
          <p:cNvSpPr>
            <a:spLocks noGrp="1"/>
          </p:cNvSpPr>
          <p:nvPr>
            <p:ph type="body" sz="quarter" idx="36"/>
          </p:nvPr>
        </p:nvSpPr>
        <p:spPr>
          <a:xfrm>
            <a:off x="1161391" y="2542070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진단결과 확인된 취약분야(안전훈련, 안전소통)는 익년도 중점 개선, 환류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68 서사 · 현장작동성 강화 추진배경(번호 띠 직후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현장작동성 강화를 위한 근로자 중심의 예방활동 추진</a:t>
            </a:r>
          </a:p>
        </p:txBody>
      </p:sp>
      <p:sp>
        <p:nvSpPr>
          <p:cNvPr id="14" name="표 외곽"/>
          <p:cNvSpPr/>
          <p:nvPr/>
        </p:nvSpPr>
        <p:spPr>
          <a:xfrm>
            <a:off x="723130" y="1128522"/>
            <a:ext cx="6300000" cy="58617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734087" y="1144957"/>
            <a:ext cx="580696" cy="553304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144957"/>
            <a:ext cx="580696" cy="553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3"/>
          </p:nvPr>
        </p:nvSpPr>
        <p:spPr>
          <a:xfrm>
            <a:off x="1358609" y="1166870"/>
            <a:ext cx="2802130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작업중지권의 근로자 중심 활용 여건 부족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안전제도, 서류관리, 현장점검 강화 등 감독원의 업무량 및 요구전문성 증대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4"/>
          </p:nvPr>
        </p:nvSpPr>
        <p:spPr>
          <a:xfrm>
            <a:off x="4182652" y="1166870"/>
            <a:ext cx="2802130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CEO 위험작업 중지에 강한 의지 표명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정부정책 예방 중심의 자율안전 활동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내부여건 업무증가 대비 현장인력 부족</a:t>
            </a:r>
          </a:p>
        </p:txBody>
      </p:sp>
      <p:cxnSp>
        <p:nvCxnSpPr>
          <p:cNvPr id="19" name="Connector 12"/>
          <p:cNvCxnSpPr/>
          <p:nvPr/>
        </p:nvCxnSpPr>
        <p:spPr>
          <a:xfrm>
            <a:off x="4171696" y="1199739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69 서사 · 제도 활성화(선제적 제도 보완 · 홍보·인식 제고 · 손실비용 보전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3733954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작업중지권은 ‘당연한 권리’, 근로자의 안전한 근무 환경 보장</a:t>
            </a:r>
          </a:p>
        </p:txBody>
      </p:sp>
      <p:sp>
        <p:nvSpPr>
          <p:cNvPr id="12" name="태그칩"/>
          <p:cNvSpPr/>
          <p:nvPr/>
        </p:nvSpPr>
        <p:spPr>
          <a:xfrm>
            <a:off x="4369432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369432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태그칩"/>
          <p:cNvSpPr/>
          <p:nvPr/>
        </p:nvSpPr>
        <p:spPr>
          <a:xfrm>
            <a:off x="4920553" y="799826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2"/>
          </p:nvPr>
        </p:nvSpPr>
        <p:spPr>
          <a:xfrm>
            <a:off x="4920553" y="799826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6" name="표 외곽"/>
          <p:cNvSpPr/>
          <p:nvPr/>
        </p:nvSpPr>
        <p:spPr>
          <a:xfrm>
            <a:off x="536870" y="1051826"/>
            <a:ext cx="6300000" cy="92034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547826" y="1068261"/>
            <a:ext cx="580696" cy="887478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3"/>
          </p:nvPr>
        </p:nvSpPr>
        <p:spPr>
          <a:xfrm>
            <a:off x="547826" y="1068261"/>
            <a:ext cx="580696" cy="88747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제 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활성화</a:t>
            </a:r>
          </a:p>
        </p:txBody>
      </p:sp>
      <p:sp>
        <p:nvSpPr>
          <p:cNvPr id="19" name="머리칸"/>
          <p:cNvSpPr/>
          <p:nvPr/>
        </p:nvSpPr>
        <p:spPr>
          <a:xfrm>
            <a:off x="1161391" y="1090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0" name="머리칸"/>
          <p:cNvSpPr>
            <a:spLocks noGrp="1"/>
          </p:cNvSpPr>
          <p:nvPr>
            <p:ph type="body" sz="quarter" idx="24"/>
          </p:nvPr>
        </p:nvSpPr>
        <p:spPr>
          <a:xfrm>
            <a:off x="1161391" y="1090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선제적 제도 보완</a:t>
            </a:r>
          </a:p>
        </p:txBody>
      </p:sp>
      <p:sp>
        <p:nvSpPr>
          <p:cNvPr id="21" name="머리칸"/>
          <p:cNvSpPr/>
          <p:nvPr/>
        </p:nvSpPr>
        <p:spPr>
          <a:xfrm>
            <a:off x="3044087" y="1090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2" name="머리칸"/>
          <p:cNvSpPr>
            <a:spLocks noGrp="1"/>
          </p:cNvSpPr>
          <p:nvPr>
            <p:ph type="body" sz="quarter" idx="25"/>
          </p:nvPr>
        </p:nvSpPr>
        <p:spPr>
          <a:xfrm>
            <a:off x="3044087" y="1090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홍보·인식 제고</a:t>
            </a:r>
          </a:p>
        </p:txBody>
      </p:sp>
      <p:sp>
        <p:nvSpPr>
          <p:cNvPr id="23" name="머리칸"/>
          <p:cNvSpPr/>
          <p:nvPr/>
        </p:nvSpPr>
        <p:spPr>
          <a:xfrm>
            <a:off x="4926783" y="1090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4" name="머리칸"/>
          <p:cNvSpPr>
            <a:spLocks noGrp="1"/>
          </p:cNvSpPr>
          <p:nvPr>
            <p:ph type="body" sz="quarter" idx="26"/>
          </p:nvPr>
        </p:nvSpPr>
        <p:spPr>
          <a:xfrm>
            <a:off x="4926783" y="1090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손실비용 보전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1172348" y="1331217"/>
            <a:ext cx="1860783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근로자가 쉽게 작업중지 가능토록 내부규정 개정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8"/>
          </p:nvPr>
        </p:nvSpPr>
        <p:spPr>
          <a:xfrm>
            <a:off x="3055043" y="1331217"/>
            <a:ext cx="1860783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안전모 QR 부착·신고 및 홍보물 제작·배포(6만개)</a:t>
            </a:r>
          </a:p>
        </p:txBody>
      </p:sp>
      <p:cxnSp>
        <p:nvCxnSpPr>
          <p:cNvPr id="27" name="Connector 17"/>
          <p:cNvCxnSpPr/>
          <p:nvPr/>
        </p:nvCxnSpPr>
        <p:spPr>
          <a:xfrm>
            <a:off x="3044087" y="1364087"/>
            <a:ext cx="0" cy="317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8" name="칸 본문"/>
          <p:cNvSpPr>
            <a:spLocks noGrp="1"/>
          </p:cNvSpPr>
          <p:nvPr>
            <p:ph type="body" sz="quarter" idx="29"/>
          </p:nvPr>
        </p:nvSpPr>
        <p:spPr>
          <a:xfrm>
            <a:off x="4937739" y="1331217"/>
            <a:ext cx="1860783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작업중지에 따른 공사비용 증가시 예산활용</a:t>
            </a:r>
          </a:p>
        </p:txBody>
      </p:sp>
      <p:cxnSp>
        <p:nvCxnSpPr>
          <p:cNvPr id="29" name="Connector 19"/>
          <p:cNvCxnSpPr/>
          <p:nvPr/>
        </p:nvCxnSpPr>
        <p:spPr>
          <a:xfrm>
            <a:off x="4926783" y="1364087"/>
            <a:ext cx="0" cy="317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0" name="칸 본문"/>
          <p:cNvSpPr>
            <a:spLocks noGrp="1"/>
          </p:cNvSpPr>
          <p:nvPr>
            <p:ph type="body" sz="quarter" idx="30"/>
          </p:nvPr>
        </p:nvSpPr>
        <p:spPr>
          <a:xfrm>
            <a:off x="1172348" y="1731130"/>
            <a:ext cx="1860783" cy="21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근로자에 불리한 처우 금지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1"/>
          </p:nvPr>
        </p:nvSpPr>
        <p:spPr>
          <a:xfrm>
            <a:off x="3055043" y="1731130"/>
            <a:ext cx="1860783" cy="21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간편 신고체계 구축·홍보</a:t>
            </a:r>
          </a:p>
        </p:txBody>
      </p:sp>
      <p:cxnSp>
        <p:nvCxnSpPr>
          <p:cNvPr id="32" name="Connector 22"/>
          <p:cNvCxnSpPr/>
          <p:nvPr/>
        </p:nvCxnSpPr>
        <p:spPr>
          <a:xfrm>
            <a:off x="3044087" y="1764000"/>
            <a:ext cx="0" cy="15339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칸 본문"/>
          <p:cNvSpPr>
            <a:spLocks noGrp="1"/>
          </p:cNvSpPr>
          <p:nvPr>
            <p:ph type="body" sz="quarter" idx="32"/>
          </p:nvPr>
        </p:nvSpPr>
        <p:spPr>
          <a:xfrm>
            <a:off x="4937739" y="1731130"/>
            <a:ext cx="1860783" cy="21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시공사, 근로자 부담 해소</a:t>
            </a:r>
          </a:p>
        </p:txBody>
      </p:sp>
      <p:cxnSp>
        <p:nvCxnSpPr>
          <p:cNvPr id="34" name="Connector 24"/>
          <p:cNvCxnSpPr/>
          <p:nvPr/>
        </p:nvCxnSpPr>
        <p:spPr>
          <a:xfrm>
            <a:off x="4926783" y="1764000"/>
            <a:ext cx="0" cy="15339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70 서사 · TBM 강화(절차 중심 형식 → 쉽게 이해되는 스마트 TBM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3735363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시각 중심의 TBM 소통을 통한 작업위험 예방의 실효성 제고</a:t>
            </a:r>
          </a:p>
        </p:txBody>
      </p:sp>
      <p:sp>
        <p:nvSpPr>
          <p:cNvPr id="11" name="태그칩"/>
          <p:cNvSpPr/>
          <p:nvPr/>
        </p:nvSpPr>
        <p:spPr>
          <a:xfrm>
            <a:off x="4557103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4557103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3" name="태그칩"/>
          <p:cNvSpPr/>
          <p:nvPr/>
        </p:nvSpPr>
        <p:spPr>
          <a:xfrm>
            <a:off x="5108224" y="810783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4" name="태그칩"/>
          <p:cNvSpPr>
            <a:spLocks noGrp="1"/>
          </p:cNvSpPr>
          <p:nvPr>
            <p:ph type="body" sz="quarter" idx="22"/>
          </p:nvPr>
        </p:nvSpPr>
        <p:spPr>
          <a:xfrm>
            <a:off x="5108224" y="810783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5" name="표 외곽"/>
          <p:cNvSpPr/>
          <p:nvPr/>
        </p:nvSpPr>
        <p:spPr>
          <a:xfrm>
            <a:off x="723130" y="1062783"/>
            <a:ext cx="6300000" cy="117782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레일"/>
          <p:cNvSpPr/>
          <p:nvPr/>
        </p:nvSpPr>
        <p:spPr>
          <a:xfrm>
            <a:off x="734087" y="1079217"/>
            <a:ext cx="580696" cy="1144957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레일"/>
          <p:cNvSpPr>
            <a:spLocks noGrp="1"/>
          </p:cNvSpPr>
          <p:nvPr>
            <p:ph type="body" sz="quarter" idx="23"/>
          </p:nvPr>
        </p:nvSpPr>
        <p:spPr>
          <a:xfrm>
            <a:off x="734087" y="1079217"/>
            <a:ext cx="580696" cy="1144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T B M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화</a:t>
            </a:r>
          </a:p>
        </p:txBody>
      </p:sp>
      <p:sp>
        <p:nvSpPr>
          <p:cNvPr id="18" name="머리칸"/>
          <p:cNvSpPr/>
          <p:nvPr/>
        </p:nvSpPr>
        <p:spPr>
          <a:xfrm>
            <a:off x="1347652" y="110113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9" name="머리칸"/>
          <p:cNvSpPr>
            <a:spLocks noGrp="1"/>
          </p:cNvSpPr>
          <p:nvPr>
            <p:ph type="body" sz="quarter" idx="24"/>
          </p:nvPr>
        </p:nvSpPr>
        <p:spPr>
          <a:xfrm>
            <a:off x="1347652" y="110113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절차 중심의 형식적 TBM</a:t>
            </a:r>
          </a:p>
        </p:txBody>
      </p:sp>
      <p:sp>
        <p:nvSpPr>
          <p:cNvPr id="20" name="머리칸"/>
          <p:cNvSpPr/>
          <p:nvPr/>
        </p:nvSpPr>
        <p:spPr>
          <a:xfrm>
            <a:off x="4171696" y="110113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1" name="머리칸"/>
          <p:cNvSpPr>
            <a:spLocks noGrp="1"/>
          </p:cNvSpPr>
          <p:nvPr>
            <p:ph type="body" sz="quarter" idx="25"/>
          </p:nvPr>
        </p:nvSpPr>
        <p:spPr>
          <a:xfrm>
            <a:off x="4171696" y="110113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쉽게 이해되고 안전한 스마트 TBM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6"/>
          </p:nvPr>
        </p:nvSpPr>
        <p:spPr>
          <a:xfrm>
            <a:off x="1358609" y="1342174"/>
            <a:ext cx="2802130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일방적 소통으로 교육효과 미비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근로자 인지 저조(현장인터뷰 결과)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현장근로자 건강위험 인지 및 대처능력 향상 한계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실질적 위험 예방기능 미작동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7"/>
          </p:nvPr>
        </p:nvSpPr>
        <p:spPr>
          <a:xfrm>
            <a:off x="4182652" y="1342174"/>
            <a:ext cx="2802130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영상 기반 시뮬레이션 TBM 개발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산재분석 ▶ 현장 맞춤형 영상(다국어)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사고 간접체험, 위험인식 → 안전의식 향상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스마트 건강상태 확인시스템 도입(키오스크)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작업 전 건강체크(혈압, 체온, 음주)로 사고 예방</a:t>
            </a:r>
          </a:p>
        </p:txBody>
      </p:sp>
      <p:cxnSp>
        <p:nvCxnSpPr>
          <p:cNvPr id="24" name="Connector 13"/>
          <p:cNvCxnSpPr/>
          <p:nvPr/>
        </p:nvCxnSpPr>
        <p:spPr>
          <a:xfrm>
            <a:off x="4171696" y="1375043"/>
            <a:ext cx="0" cy="81078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71 서사 · 위험성평가 표준모델(벤치마킹 → 대표공종 → 위험요인·저감대책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4280340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 안전활동은 ‘근로자’ 중심, 현장작동성 위한 위험성평가 표준모델 마련</a:t>
            </a:r>
          </a:p>
        </p:txBody>
      </p:sp>
      <p:sp>
        <p:nvSpPr>
          <p:cNvPr id="12" name="태그칩"/>
          <p:cNvSpPr/>
          <p:nvPr/>
        </p:nvSpPr>
        <p:spPr>
          <a:xfrm>
            <a:off x="4915818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915818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태그칩"/>
          <p:cNvSpPr/>
          <p:nvPr/>
        </p:nvSpPr>
        <p:spPr>
          <a:xfrm>
            <a:off x="5466939" y="799826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2"/>
          </p:nvPr>
        </p:nvSpPr>
        <p:spPr>
          <a:xfrm>
            <a:off x="5466939" y="799826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6" name="표 외곽"/>
          <p:cNvSpPr/>
          <p:nvPr/>
        </p:nvSpPr>
        <p:spPr>
          <a:xfrm>
            <a:off x="536870" y="1051826"/>
            <a:ext cx="6300000" cy="133121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547826" y="1068261"/>
            <a:ext cx="580696" cy="1298348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3"/>
          </p:nvPr>
        </p:nvSpPr>
        <p:spPr>
          <a:xfrm>
            <a:off x="547826" y="1068261"/>
            <a:ext cx="580696" cy="1298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위험성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평 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표준모델</a:t>
            </a:r>
          </a:p>
        </p:txBody>
      </p:sp>
      <p:sp>
        <p:nvSpPr>
          <p:cNvPr id="19" name="배너"/>
          <p:cNvSpPr/>
          <p:nvPr/>
        </p:nvSpPr>
        <p:spPr>
          <a:xfrm>
            <a:off x="1161391" y="1090174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0" name="배너"/>
          <p:cNvSpPr>
            <a:spLocks noGrp="1"/>
          </p:cNvSpPr>
          <p:nvPr>
            <p:ph type="body" sz="quarter" idx="24"/>
          </p:nvPr>
        </p:nvSpPr>
        <p:spPr>
          <a:xfrm>
            <a:off x="1161391" y="1090174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자율안전의 핵심 ‘공종별 위험성평가’의 내실화 : 업무효율 제고, 안전리스크 해소</a:t>
            </a:r>
          </a:p>
        </p:txBody>
      </p:sp>
      <p:sp>
        <p:nvSpPr>
          <p:cNvPr id="21" name="단계"/>
          <p:cNvSpPr/>
          <p:nvPr/>
        </p:nvSpPr>
        <p:spPr>
          <a:xfrm>
            <a:off x="1161391" y="1325739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2" name="단계"/>
          <p:cNvSpPr>
            <a:spLocks noGrp="1"/>
          </p:cNvSpPr>
          <p:nvPr>
            <p:ph type="body" sz="quarter" idx="25"/>
          </p:nvPr>
        </p:nvSpPr>
        <p:spPr>
          <a:xfrm>
            <a:off x="1161391" y="132573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벤치마킹·자료수집</a:t>
            </a:r>
          </a:p>
        </p:txBody>
      </p:sp>
      <p:sp>
        <p:nvSpPr>
          <p:cNvPr id="23" name="단계"/>
          <p:cNvSpPr/>
          <p:nvPr/>
        </p:nvSpPr>
        <p:spPr>
          <a:xfrm>
            <a:off x="3044087" y="1325739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4" name="단계"/>
          <p:cNvSpPr>
            <a:spLocks noGrp="1"/>
          </p:cNvSpPr>
          <p:nvPr>
            <p:ph type="body" sz="quarter" idx="26"/>
          </p:nvPr>
        </p:nvSpPr>
        <p:spPr>
          <a:xfrm>
            <a:off x="3044087" y="132573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대표공종 선정</a:t>
            </a:r>
          </a:p>
        </p:txBody>
      </p:sp>
      <p:sp>
        <p:nvSpPr>
          <p:cNvPr id="25" name="단계"/>
          <p:cNvSpPr/>
          <p:nvPr/>
        </p:nvSpPr>
        <p:spPr>
          <a:xfrm>
            <a:off x="4926783" y="1325739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6" name="단계"/>
          <p:cNvSpPr>
            <a:spLocks noGrp="1"/>
          </p:cNvSpPr>
          <p:nvPr>
            <p:ph type="body" sz="quarter" idx="27"/>
          </p:nvPr>
        </p:nvSpPr>
        <p:spPr>
          <a:xfrm>
            <a:off x="4926783" y="132573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위험요인·저감대책 선정</a:t>
            </a:r>
          </a:p>
        </p:txBody>
      </p:sp>
      <p:sp>
        <p:nvSpPr>
          <p:cNvPr id="27" name="단계 삼각형"/>
          <p:cNvSpPr/>
          <p:nvPr/>
        </p:nvSpPr>
        <p:spPr>
          <a:xfrm>
            <a:off x="3044086" y="1325739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단계 삼각형"/>
          <p:cNvSpPr/>
          <p:nvPr/>
        </p:nvSpPr>
        <p:spPr>
          <a:xfrm>
            <a:off x="4926782" y="1325739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칸 본문"/>
          <p:cNvSpPr>
            <a:spLocks noGrp="1"/>
          </p:cNvSpPr>
          <p:nvPr>
            <p:ph type="body" sz="quarter" idx="28"/>
          </p:nvPr>
        </p:nvSpPr>
        <p:spPr>
          <a:xfrm>
            <a:off x="1172348" y="1577739"/>
            <a:ext cx="1860783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타기관·시공업체 조사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사고사례 분석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위험성평가 환류 반영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29"/>
          </p:nvPr>
        </p:nvSpPr>
        <p:spPr>
          <a:xfrm>
            <a:off x="3055043" y="1577739"/>
            <a:ext cx="1860783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大 K-water 사업단위 5개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中 사업별 대표공종 22개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小 세부작업/설비 220개</a:t>
            </a:r>
          </a:p>
        </p:txBody>
      </p:sp>
      <p:cxnSp>
        <p:nvCxnSpPr>
          <p:cNvPr id="31" name="Connector 20"/>
          <p:cNvCxnSpPr/>
          <p:nvPr/>
        </p:nvCxnSpPr>
        <p:spPr>
          <a:xfrm>
            <a:off x="3044087" y="1610609"/>
            <a:ext cx="0" cy="482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2" name="칸 본문"/>
          <p:cNvSpPr>
            <a:spLocks noGrp="1"/>
          </p:cNvSpPr>
          <p:nvPr>
            <p:ph type="body" sz="quarter" idx="30"/>
          </p:nvPr>
        </p:nvSpPr>
        <p:spPr>
          <a:xfrm>
            <a:off x="4937739" y="1577739"/>
            <a:ext cx="1860783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공종별 인적·기계적요인 및 작업특성 고려, 대책 연계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외부용역 통해 검증(~’26)</a:t>
            </a:r>
          </a:p>
        </p:txBody>
      </p:sp>
      <p:cxnSp>
        <p:nvCxnSpPr>
          <p:cNvPr id="33" name="Connector 22"/>
          <p:cNvCxnSpPr/>
          <p:nvPr/>
        </p:nvCxnSpPr>
        <p:spPr>
          <a:xfrm>
            <a:off x="4926783" y="1610609"/>
            <a:ext cx="0" cy="482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4" name="배너"/>
          <p:cNvSpPr/>
          <p:nvPr/>
        </p:nvSpPr>
        <p:spPr>
          <a:xfrm>
            <a:off x="1161391" y="2142000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5" name="배너"/>
          <p:cNvSpPr>
            <a:spLocks noGrp="1"/>
          </p:cNvSpPr>
          <p:nvPr>
            <p:ph type="body" sz="quarter" idx="31"/>
          </p:nvPr>
        </p:nvSpPr>
        <p:spPr>
          <a:xfrm>
            <a:off x="1161391" y="2142000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위험성평가 표준모델 검증·확인을 통하여 ’26년 스마트안전시스템에 반영 예정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72 서사 · 감리 확대(문제 → 현실화 → 인력 확대) → 종합성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4029323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라. 건설현장관리 전문인력 적정 배치를 통한 안전사고 예방체계 강화</a:t>
            </a:r>
          </a:p>
        </p:txBody>
      </p:sp>
      <p:sp>
        <p:nvSpPr>
          <p:cNvPr id="11" name="태그칩"/>
          <p:cNvSpPr/>
          <p:nvPr/>
        </p:nvSpPr>
        <p:spPr>
          <a:xfrm>
            <a:off x="4851063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4851063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표 외곽"/>
          <p:cNvSpPr/>
          <p:nvPr/>
        </p:nvSpPr>
        <p:spPr>
          <a:xfrm>
            <a:off x="723130" y="1062783"/>
            <a:ext cx="6300000" cy="158869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레일"/>
          <p:cNvSpPr/>
          <p:nvPr/>
        </p:nvSpPr>
        <p:spPr>
          <a:xfrm>
            <a:off x="734087" y="1079217"/>
            <a:ext cx="580696" cy="155582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079217"/>
            <a:ext cx="580696" cy="1555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감 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 대</a:t>
            </a:r>
          </a:p>
        </p:txBody>
      </p:sp>
      <p:sp>
        <p:nvSpPr>
          <p:cNvPr id="16" name="단계"/>
          <p:cNvSpPr/>
          <p:nvPr/>
        </p:nvSpPr>
        <p:spPr>
          <a:xfrm>
            <a:off x="1347652" y="1101130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7" name="단계"/>
          <p:cNvSpPr>
            <a:spLocks noGrp="1"/>
          </p:cNvSpPr>
          <p:nvPr>
            <p:ph type="body" sz="quarter" idx="23"/>
          </p:nvPr>
        </p:nvSpPr>
        <p:spPr>
          <a:xfrm>
            <a:off x="1347652" y="110113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문제는 ‘인력(예산)’</a:t>
            </a:r>
          </a:p>
        </p:txBody>
      </p:sp>
      <p:sp>
        <p:nvSpPr>
          <p:cNvPr id="18" name="단계"/>
          <p:cNvSpPr/>
          <p:nvPr/>
        </p:nvSpPr>
        <p:spPr>
          <a:xfrm>
            <a:off x="3230348" y="1101130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9" name="단계"/>
          <p:cNvSpPr>
            <a:spLocks noGrp="1"/>
          </p:cNvSpPr>
          <p:nvPr>
            <p:ph type="body" sz="quarter" idx="24"/>
          </p:nvPr>
        </p:nvSpPr>
        <p:spPr>
          <a:xfrm>
            <a:off x="3230348" y="110113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현장관리 현실화(정책 반영)</a:t>
            </a:r>
          </a:p>
        </p:txBody>
      </p:sp>
      <p:sp>
        <p:nvSpPr>
          <p:cNvPr id="20" name="단계"/>
          <p:cNvSpPr/>
          <p:nvPr/>
        </p:nvSpPr>
        <p:spPr>
          <a:xfrm>
            <a:off x="5113043" y="1101130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1" name="단계"/>
          <p:cNvSpPr>
            <a:spLocks noGrp="1"/>
          </p:cNvSpPr>
          <p:nvPr>
            <p:ph type="body" sz="quarter" idx="25"/>
          </p:nvPr>
        </p:nvSpPr>
        <p:spPr>
          <a:xfrm>
            <a:off x="5113043" y="110113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현장관리 인력 확대</a:t>
            </a:r>
          </a:p>
        </p:txBody>
      </p:sp>
      <p:sp>
        <p:nvSpPr>
          <p:cNvPr id="22" name="단계 삼각형"/>
          <p:cNvSpPr/>
          <p:nvPr/>
        </p:nvSpPr>
        <p:spPr>
          <a:xfrm>
            <a:off x="3230347" y="1101130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3" name="단계 삼각형"/>
          <p:cNvSpPr/>
          <p:nvPr/>
        </p:nvSpPr>
        <p:spPr>
          <a:xfrm>
            <a:off x="5113043" y="1101130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6"/>
          </p:nvPr>
        </p:nvSpPr>
        <p:spPr>
          <a:xfrm>
            <a:off x="1358609" y="1353130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감독업무량 比 인력 부족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자체 감리예산 한계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(수도) 소요 대비 과소 반영 (댐) 감리 예산 미반영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3241304" y="1353130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자체 건설강화대책 수립(감리확대)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제도 ‘감리요율 상향’ 재경부 제안 → 승인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전 공공기관 건설공사에 동일 적용</a:t>
            </a:r>
          </a:p>
        </p:txBody>
      </p:sp>
      <p:cxnSp>
        <p:nvCxnSpPr>
          <p:cNvPr id="26" name="Connector 15"/>
          <p:cNvCxnSpPr/>
          <p:nvPr/>
        </p:nvCxnSpPr>
        <p:spPr>
          <a:xfrm>
            <a:off x="3230348" y="1386000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7" name="칸 본문"/>
          <p:cNvSpPr>
            <a:spLocks noGrp="1"/>
          </p:cNvSpPr>
          <p:nvPr>
            <p:ph type="body" sz="quarter" idx="28"/>
          </p:nvPr>
        </p:nvSpPr>
        <p:spPr>
          <a:xfrm>
            <a:off x="5124000" y="1353130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 공사 ‘감리’ 도입 의무화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 감리예산 현실화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K-water 예산 투입</a:t>
            </a:r>
          </a:p>
        </p:txBody>
      </p:sp>
      <p:cxnSp>
        <p:nvCxnSpPr>
          <p:cNvPr id="28" name="Connector 17"/>
          <p:cNvCxnSpPr/>
          <p:nvPr/>
        </p:nvCxnSpPr>
        <p:spPr>
          <a:xfrm>
            <a:off x="5113043" y="1386000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9" name="배너"/>
          <p:cNvSpPr/>
          <p:nvPr/>
        </p:nvSpPr>
        <p:spPr>
          <a:xfrm>
            <a:off x="1347652" y="2410435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0" name="배너"/>
          <p:cNvSpPr>
            <a:spLocks noGrp="1"/>
          </p:cNvSpPr>
          <p:nvPr>
            <p:ph type="body" sz="quarter" idx="29"/>
          </p:nvPr>
        </p:nvSpPr>
        <p:spPr>
          <a:xfrm>
            <a:off x="1347652" y="2410435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수도 감리예산 현실화율 76% → 96% 상향, 댐 ’25년 4개 댐 안전성 공사 감리 실시</a:t>
            </a:r>
          </a:p>
        </p:txBody>
      </p:sp>
      <p:sp>
        <p:nvSpPr>
          <p:cNvPr id="31" name="핵심성과 박스"/>
          <p:cNvSpPr/>
          <p:nvPr/>
        </p:nvSpPr>
        <p:spPr>
          <a:xfrm>
            <a:off x="723130" y="2739130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2" name="핵심성과 라벨"/>
          <p:cNvSpPr/>
          <p:nvPr/>
        </p:nvSpPr>
        <p:spPr>
          <a:xfrm>
            <a:off x="756000" y="2772000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3" name="핵심성과 라벨"/>
          <p:cNvSpPr>
            <a:spLocks noGrp="1"/>
          </p:cNvSpPr>
          <p:nvPr>
            <p:ph type="body" sz="quarter" idx="30"/>
          </p:nvPr>
        </p:nvSpPr>
        <p:spPr>
          <a:xfrm>
            <a:off x="756000" y="2772000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종합성과</a:t>
            </a:r>
          </a:p>
        </p:txBody>
      </p:sp>
      <p:sp>
        <p:nvSpPr>
          <p:cNvPr id="34" name="핵심성과 문구"/>
          <p:cNvSpPr>
            <a:spLocks noGrp="1"/>
          </p:cNvSpPr>
          <p:nvPr>
            <p:ph type="body" sz="quarter" idx="31"/>
          </p:nvPr>
        </p:nvSpPr>
        <p:spPr>
          <a:xfrm>
            <a:off x="1501043" y="2761043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작업중지권 사용 적극 보장을 통한 제도 정착(’24년 92건 → ’25년 132건, 43.5%↑)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감리비 현실화 정부정책 선도 및 안전·품질관리 전문인력 보강 배치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73 서사 · 현황진단 → 시사점 → AI·스마트 전환 → 현장작동 확립 → 기대효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스마트기술 기반 인프라 혁신으로 안전한 일터 조성</a:t>
            </a:r>
          </a:p>
        </p:txBody>
      </p:sp>
      <p:sp>
        <p:nvSpPr>
          <p:cNvPr id="15" name="번호 띠 칩"/>
          <p:cNvSpPr/>
          <p:nvPr/>
        </p:nvSpPr>
        <p:spPr>
          <a:xfrm>
            <a:off x="6265613" y="832696"/>
            <a:ext cx="505517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번호 띠 칩"/>
          <p:cNvSpPr>
            <a:spLocks noGrp="1"/>
          </p:cNvSpPr>
          <p:nvPr>
            <p:ph type="body" sz="quarter" idx="22"/>
          </p:nvPr>
        </p:nvSpPr>
        <p:spPr>
          <a:xfrm>
            <a:off x="6265613" y="832696"/>
            <a:ext cx="50551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7" name="번호 띠 칩"/>
          <p:cNvSpPr/>
          <p:nvPr/>
        </p:nvSpPr>
        <p:spPr>
          <a:xfrm>
            <a:off x="5473042" y="832696"/>
            <a:ext cx="74874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번호 띠 칩"/>
          <p:cNvSpPr>
            <a:spLocks noGrp="1"/>
          </p:cNvSpPr>
          <p:nvPr>
            <p:ph type="body" sz="quarter" idx="23"/>
          </p:nvPr>
        </p:nvSpPr>
        <p:spPr>
          <a:xfrm>
            <a:off x="5473042" y="832696"/>
            <a:ext cx="74874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9" name="번호 띠 칩"/>
          <p:cNvSpPr/>
          <p:nvPr/>
        </p:nvSpPr>
        <p:spPr>
          <a:xfrm>
            <a:off x="4900008" y="832696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번호 띠 칩"/>
          <p:cNvSpPr>
            <a:spLocks noGrp="1"/>
          </p:cNvSpPr>
          <p:nvPr>
            <p:ph type="body" sz="quarter" idx="24"/>
          </p:nvPr>
        </p:nvSpPr>
        <p:spPr>
          <a:xfrm>
            <a:off x="4900008" y="832696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21" name="표 외곽"/>
          <p:cNvSpPr/>
          <p:nvPr/>
        </p:nvSpPr>
        <p:spPr>
          <a:xfrm>
            <a:off x="536870" y="1117565"/>
            <a:ext cx="6300000" cy="1377861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2" name="레일"/>
          <p:cNvSpPr/>
          <p:nvPr/>
        </p:nvSpPr>
        <p:spPr>
          <a:xfrm>
            <a:off x="547826" y="1134000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3" name="레일"/>
          <p:cNvSpPr>
            <a:spLocks noGrp="1"/>
          </p:cNvSpPr>
          <p:nvPr>
            <p:ph type="body" sz="quarter" idx="25"/>
          </p:nvPr>
        </p:nvSpPr>
        <p:spPr>
          <a:xfrm>
            <a:off x="547826" y="1134000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6"/>
          </p:nvPr>
        </p:nvSpPr>
        <p:spPr>
          <a:xfrm>
            <a:off x="1172348" y="1155913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내부수준 양호한 안전기준·매뉴얼 유지, ‘아차사고’ 예방활동 현장이행 강화 필요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3996391" y="1155913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+ 정부정책 AI·스마트 안전 기술·장비 활용 확대</a:t>
            </a:r>
          </a:p>
        </p:txBody>
      </p:sp>
      <p:cxnSp>
        <p:nvCxnSpPr>
          <p:cNvPr id="26" name="Connector 18"/>
          <p:cNvCxnSpPr/>
          <p:nvPr/>
        </p:nvCxnSpPr>
        <p:spPr>
          <a:xfrm>
            <a:off x="3985435" y="1188783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7" name="레일"/>
          <p:cNvSpPr/>
          <p:nvPr/>
        </p:nvSpPr>
        <p:spPr>
          <a:xfrm>
            <a:off x="547826" y="1558643"/>
            <a:ext cx="580696" cy="920348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8" name="레일"/>
          <p:cNvSpPr>
            <a:spLocks noGrp="1"/>
          </p:cNvSpPr>
          <p:nvPr>
            <p:ph type="body" sz="quarter" idx="28"/>
          </p:nvPr>
        </p:nvSpPr>
        <p:spPr>
          <a:xfrm>
            <a:off x="547826" y="1558643"/>
            <a:ext cx="580696" cy="920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 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진 단</a:t>
            </a:r>
          </a:p>
        </p:txBody>
      </p:sp>
      <p:sp>
        <p:nvSpPr>
          <p:cNvPr id="29" name="레일 삼각형"/>
          <p:cNvSpPr/>
          <p:nvPr/>
        </p:nvSpPr>
        <p:spPr>
          <a:xfrm>
            <a:off x="547826" y="1558643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0" name="배너"/>
          <p:cNvSpPr/>
          <p:nvPr/>
        </p:nvSpPr>
        <p:spPr>
          <a:xfrm>
            <a:off x="1161391" y="1580557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1" name="배너"/>
          <p:cNvSpPr>
            <a:spLocks noGrp="1"/>
          </p:cNvSpPr>
          <p:nvPr>
            <p:ph type="body" sz="quarter" idx="29"/>
          </p:nvPr>
        </p:nvSpPr>
        <p:spPr>
          <a:xfrm>
            <a:off x="1161391" y="1580557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보이지 않는 위험을 ‘AI·스마트 기술’로 통합관리, K-water 안전체계 전환 요구</a:t>
            </a:r>
          </a:p>
        </p:txBody>
      </p:sp>
      <p:sp>
        <p:nvSpPr>
          <p:cNvPr id="32" name="머리칸"/>
          <p:cNvSpPr/>
          <p:nvPr/>
        </p:nvSpPr>
        <p:spPr>
          <a:xfrm>
            <a:off x="1161391" y="181612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3" name="머리칸"/>
          <p:cNvSpPr>
            <a:spLocks noGrp="1"/>
          </p:cNvSpPr>
          <p:nvPr>
            <p:ph type="body" sz="quarter" idx="30"/>
          </p:nvPr>
        </p:nvSpPr>
        <p:spPr>
          <a:xfrm>
            <a:off x="1161391" y="181612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취약 근로자·위험작업 노출</a:t>
            </a:r>
          </a:p>
        </p:txBody>
      </p:sp>
      <p:sp>
        <p:nvSpPr>
          <p:cNvPr id="34" name="머리칸"/>
          <p:cNvSpPr/>
          <p:nvPr/>
        </p:nvSpPr>
        <p:spPr>
          <a:xfrm>
            <a:off x="3044087" y="181612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5" name="머리칸"/>
          <p:cNvSpPr>
            <a:spLocks noGrp="1"/>
          </p:cNvSpPr>
          <p:nvPr>
            <p:ph type="body" sz="quarter" idx="31"/>
          </p:nvPr>
        </p:nvSpPr>
        <p:spPr>
          <a:xfrm>
            <a:off x="3044087" y="181612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안전업무 힘들고 어려워 기피</a:t>
            </a:r>
          </a:p>
        </p:txBody>
      </p:sp>
      <p:sp>
        <p:nvSpPr>
          <p:cNvPr id="36" name="머리칸"/>
          <p:cNvSpPr/>
          <p:nvPr/>
        </p:nvSpPr>
        <p:spPr>
          <a:xfrm>
            <a:off x="4926783" y="181612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7" name="머리칸"/>
          <p:cNvSpPr>
            <a:spLocks noGrp="1"/>
          </p:cNvSpPr>
          <p:nvPr>
            <p:ph type="body" sz="quarter" idx="32"/>
          </p:nvPr>
        </p:nvSpPr>
        <p:spPr>
          <a:xfrm>
            <a:off x="4926783" y="181612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다양한 작업 및 정보공유 어려움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3"/>
          </p:nvPr>
        </p:nvSpPr>
        <p:spPr>
          <a:xfrm>
            <a:off x="1172348" y="2057165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 유형별 고위험 공종 多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취약계층(고령자) 사고 증가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4"/>
          </p:nvPr>
        </p:nvSpPr>
        <p:spPr>
          <a:xfrm>
            <a:off x="3055043" y="2057165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원거리 현장, 불편한 서류작업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법령·규정 복잡, 현장적용 난해</a:t>
            </a:r>
          </a:p>
        </p:txBody>
      </p:sp>
      <p:cxnSp>
        <p:nvCxnSpPr>
          <p:cNvPr id="40" name="Connector 27"/>
          <p:cNvCxnSpPr/>
          <p:nvPr/>
        </p:nvCxnSpPr>
        <p:spPr>
          <a:xfrm>
            <a:off x="3044087" y="2090035"/>
            <a:ext cx="0" cy="35060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1" name="칸 본문"/>
          <p:cNvSpPr>
            <a:spLocks noGrp="1"/>
          </p:cNvSpPr>
          <p:nvPr>
            <p:ph type="body" sz="quarter" idx="35"/>
          </p:nvPr>
        </p:nvSpPr>
        <p:spPr>
          <a:xfrm>
            <a:off x="4937739" y="2057165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분산, 상황관리 복잡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현장별 위험 파악·대응 지연</a:t>
            </a:r>
          </a:p>
        </p:txBody>
      </p:sp>
      <p:cxnSp>
        <p:nvCxnSpPr>
          <p:cNvPr id="42" name="Connector 29"/>
          <p:cNvCxnSpPr/>
          <p:nvPr/>
        </p:nvCxnSpPr>
        <p:spPr>
          <a:xfrm>
            <a:off x="4926783" y="2090035"/>
            <a:ext cx="0" cy="35060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3" name="캡션 띠"/>
          <p:cNvSpPr/>
          <p:nvPr/>
        </p:nvSpPr>
        <p:spPr>
          <a:xfrm>
            <a:off x="536869" y="2517339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4" name="태그"/>
          <p:cNvSpPr/>
          <p:nvPr/>
        </p:nvSpPr>
        <p:spPr>
          <a:xfrm>
            <a:off x="865565" y="2561165"/>
            <a:ext cx="438871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5" name="태그"/>
          <p:cNvSpPr>
            <a:spLocks noGrp="1"/>
          </p:cNvSpPr>
          <p:nvPr>
            <p:ph type="body" sz="quarter" idx="36"/>
          </p:nvPr>
        </p:nvSpPr>
        <p:spPr>
          <a:xfrm>
            <a:off x="865565" y="2561165"/>
            <a:ext cx="438871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46" name="캡션"/>
          <p:cNvSpPr>
            <a:spLocks noGrp="1"/>
          </p:cNvSpPr>
          <p:nvPr>
            <p:ph type="body" sz="quarter" idx="37"/>
          </p:nvPr>
        </p:nvSpPr>
        <p:spPr>
          <a:xfrm>
            <a:off x="1359219" y="2517339"/>
            <a:ext cx="5258520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전국에 산재된 高난이도 안전관리 특성과 사고예방 강화를 위해 첨단 안전기술 확대 필요</a:t>
            </a:r>
          </a:p>
        </p:txBody>
      </p:sp>
      <p:sp>
        <p:nvSpPr>
          <p:cNvPr id="47" name="표 외곽"/>
          <p:cNvSpPr/>
          <p:nvPr/>
        </p:nvSpPr>
        <p:spPr>
          <a:xfrm>
            <a:off x="536870" y="2824122"/>
            <a:ext cx="6300000" cy="324735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8" name="레일"/>
          <p:cNvSpPr/>
          <p:nvPr/>
        </p:nvSpPr>
        <p:spPr>
          <a:xfrm>
            <a:off x="547826" y="2840557"/>
            <a:ext cx="580696" cy="804052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9" name="레일 태그"/>
          <p:cNvSpPr/>
          <p:nvPr/>
        </p:nvSpPr>
        <p:spPr>
          <a:xfrm>
            <a:off x="558376" y="2884383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50" name="레일 태그"/>
          <p:cNvSpPr>
            <a:spLocks noGrp="1"/>
          </p:cNvSpPr>
          <p:nvPr>
            <p:ph type="body" sz="quarter" idx="38"/>
          </p:nvPr>
        </p:nvSpPr>
        <p:spPr>
          <a:xfrm>
            <a:off x="558376" y="2884383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추진방향</a:t>
            </a:r>
          </a:p>
        </p:txBody>
      </p:sp>
      <p:sp>
        <p:nvSpPr>
          <p:cNvPr id="51" name="레일 라벨"/>
          <p:cNvSpPr>
            <a:spLocks noGrp="1"/>
          </p:cNvSpPr>
          <p:nvPr>
            <p:ph type="body" sz="quarter" idx="39"/>
          </p:nvPr>
        </p:nvSpPr>
        <p:spPr>
          <a:xfrm>
            <a:off x="547826" y="3070643"/>
            <a:ext cx="580696" cy="552052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AI·스마트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안전체계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 환</a:t>
            </a:r>
          </a:p>
        </p:txBody>
      </p:sp>
      <p:sp>
        <p:nvSpPr>
          <p:cNvPr id="52" name="배너"/>
          <p:cNvSpPr/>
          <p:nvPr/>
        </p:nvSpPr>
        <p:spPr>
          <a:xfrm>
            <a:off x="1161391" y="2862470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53" name="배너"/>
          <p:cNvSpPr>
            <a:spLocks noGrp="1"/>
          </p:cNvSpPr>
          <p:nvPr>
            <p:ph type="body" sz="quarter" idx="40"/>
          </p:nvPr>
        </p:nvSpPr>
        <p:spPr>
          <a:xfrm>
            <a:off x="1161391" y="2862470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‘예방·간소·통합’ 3대 핵심목표 달성을 위한 AI·스마트 안전으로의 大 전환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41"/>
          </p:nvPr>
        </p:nvSpPr>
        <p:spPr>
          <a:xfrm>
            <a:off x="1172348" y="3098035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예방 위험포착·사고예방: 스마트 장비 근로자 지원</a:t>
            </a:r>
          </a:p>
        </p:txBody>
      </p:sp>
      <p:sp>
        <p:nvSpPr>
          <p:cNvPr id="55" name="칸 본문"/>
          <p:cNvSpPr>
            <a:spLocks noGrp="1"/>
          </p:cNvSpPr>
          <p:nvPr>
            <p:ph type="body" sz="quarter" idx="42"/>
          </p:nvPr>
        </p:nvSpPr>
        <p:spPr>
          <a:xfrm>
            <a:off x="3055043" y="3098035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간소 업무경량·내용명확: 서류 간편화, 시간절약</a:t>
            </a:r>
          </a:p>
        </p:txBody>
      </p:sp>
      <p:cxnSp>
        <p:nvCxnSpPr>
          <p:cNvPr id="56" name="Connector 40"/>
          <p:cNvCxnSpPr/>
          <p:nvPr/>
        </p:nvCxnSpPr>
        <p:spPr>
          <a:xfrm>
            <a:off x="3044087" y="3130904"/>
            <a:ext cx="0" cy="27125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7" name="칸 본문"/>
          <p:cNvSpPr>
            <a:spLocks noGrp="1"/>
          </p:cNvSpPr>
          <p:nvPr>
            <p:ph type="body" sz="quarter" idx="43"/>
          </p:nvPr>
        </p:nvSpPr>
        <p:spPr>
          <a:xfrm>
            <a:off x="4937739" y="3098035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통합 작업공유·위기대응: 스마트 작업상황 관리</a:t>
            </a:r>
          </a:p>
        </p:txBody>
      </p:sp>
      <p:cxnSp>
        <p:nvCxnSpPr>
          <p:cNvPr id="58" name="Connector 42"/>
          <p:cNvCxnSpPr/>
          <p:nvPr/>
        </p:nvCxnSpPr>
        <p:spPr>
          <a:xfrm>
            <a:off x="4926783" y="3130904"/>
            <a:ext cx="0" cy="27125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9" name="레일"/>
          <p:cNvSpPr/>
          <p:nvPr/>
        </p:nvSpPr>
        <p:spPr>
          <a:xfrm>
            <a:off x="547826" y="3661043"/>
            <a:ext cx="580696" cy="2394000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0" name="레일"/>
          <p:cNvSpPr>
            <a:spLocks noGrp="1"/>
          </p:cNvSpPr>
          <p:nvPr>
            <p:ph type="body" sz="quarter" idx="44"/>
          </p:nvPr>
        </p:nvSpPr>
        <p:spPr>
          <a:xfrm>
            <a:off x="547826" y="3661043"/>
            <a:ext cx="580696" cy="239400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안전체계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현장작동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 립</a:t>
            </a:r>
          </a:p>
        </p:txBody>
      </p:sp>
      <p:sp>
        <p:nvSpPr>
          <p:cNvPr id="61" name="레일 삼각형"/>
          <p:cNvSpPr/>
          <p:nvPr/>
        </p:nvSpPr>
        <p:spPr>
          <a:xfrm>
            <a:off x="547826" y="3661043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2" name="머리칸"/>
          <p:cNvSpPr/>
          <p:nvPr/>
        </p:nvSpPr>
        <p:spPr>
          <a:xfrm>
            <a:off x="1161391" y="3682957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63" name="머리칸"/>
          <p:cNvSpPr>
            <a:spLocks noGrp="1"/>
          </p:cNvSpPr>
          <p:nvPr>
            <p:ph type="body" sz="quarter" idx="45"/>
          </p:nvPr>
        </p:nvSpPr>
        <p:spPr>
          <a:xfrm>
            <a:off x="1161391" y="3682957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AIoT 장비 전사 확대, 근로자 사고예방</a:t>
            </a:r>
          </a:p>
        </p:txBody>
      </p:sp>
      <p:sp>
        <p:nvSpPr>
          <p:cNvPr id="64" name="머리칸"/>
          <p:cNvSpPr/>
          <p:nvPr/>
        </p:nvSpPr>
        <p:spPr>
          <a:xfrm>
            <a:off x="3985435" y="3682957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65" name="머리칸"/>
          <p:cNvSpPr>
            <a:spLocks noGrp="1"/>
          </p:cNvSpPr>
          <p:nvPr>
            <p:ph type="body" sz="quarter" idx="46"/>
          </p:nvPr>
        </p:nvSpPr>
        <p:spPr>
          <a:xfrm>
            <a:off x="3985435" y="3682957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간단 명료한 P-D-C-A 안전활동</a:t>
            </a:r>
          </a:p>
        </p:txBody>
      </p:sp>
      <p:sp>
        <p:nvSpPr>
          <p:cNvPr id="66" name="칸 본문"/>
          <p:cNvSpPr>
            <a:spLocks noGrp="1"/>
          </p:cNvSpPr>
          <p:nvPr>
            <p:ph type="body" sz="quarter" idx="47"/>
          </p:nvPr>
        </p:nvSpPr>
        <p:spPr>
          <a:xfrm>
            <a:off x="1172348" y="3924000"/>
            <a:ext cx="2802130" cy="109565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근로자 실수·위험유해요인 탐지·제거·대체: 이동형 AI CCTV · 스마트 밴드 · 스마트 안전모 · 안전비상벨 · 유해가스 측정기 · 4족 보행 로봇 · 모바일 태블릿 · 수중드론(ROV)</a:t>
            </a:r>
          </a:p>
        </p:txBody>
      </p:sp>
      <p:sp>
        <p:nvSpPr>
          <p:cNvPr id="67" name="칸 본문"/>
          <p:cNvSpPr>
            <a:spLocks noGrp="1"/>
          </p:cNvSpPr>
          <p:nvPr>
            <p:ph type="body" sz="quarter" idx="48"/>
          </p:nvPr>
        </p:nvSpPr>
        <p:spPr>
          <a:xfrm>
            <a:off x="3996391" y="3924000"/>
            <a:ext cx="2802130" cy="109565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모바일·원격 현장안전업무 실행시스템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PDCA 현장 안전체계 확립 · 실시간 현장소통·위험통제 · 기록 신뢰성·행정 간소화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Plan 계획·허가 / 위험성평가 · Do AI TBM · Check 영상분석·작업중지 · Action 점검결과</a:t>
            </a:r>
          </a:p>
        </p:txBody>
      </p:sp>
      <p:cxnSp>
        <p:nvCxnSpPr>
          <p:cNvPr id="68" name="Connector 49"/>
          <p:cNvCxnSpPr/>
          <p:nvPr/>
        </p:nvCxnSpPr>
        <p:spPr>
          <a:xfrm>
            <a:off x="3985435" y="3956870"/>
            <a:ext cx="0" cy="102991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9" name="배너"/>
          <p:cNvSpPr/>
          <p:nvPr/>
        </p:nvSpPr>
        <p:spPr>
          <a:xfrm>
            <a:off x="1161391" y="5036087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70" name="배너"/>
          <p:cNvSpPr>
            <a:spLocks noGrp="1"/>
          </p:cNvSpPr>
          <p:nvPr>
            <p:ph type="body" sz="quarter" idx="49"/>
          </p:nvPr>
        </p:nvSpPr>
        <p:spPr>
          <a:xfrm>
            <a:off x="1161391" y="5036087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스마트 빅보드로 현장·본부·본사가 연결 : ‘안전 모니터링 및 위험관리·통제체계’ 가동</a:t>
            </a:r>
          </a:p>
        </p:txBody>
      </p:sp>
      <p:sp>
        <p:nvSpPr>
          <p:cNvPr id="71" name="단계"/>
          <p:cNvSpPr/>
          <p:nvPr/>
        </p:nvSpPr>
        <p:spPr>
          <a:xfrm>
            <a:off x="1161391" y="5271652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2" name="단계"/>
          <p:cNvSpPr>
            <a:spLocks noGrp="1"/>
          </p:cNvSpPr>
          <p:nvPr>
            <p:ph type="body" sz="quarter" idx="50"/>
          </p:nvPr>
        </p:nvSpPr>
        <p:spPr>
          <a:xfrm>
            <a:off x="1161391" y="5271652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현장 각 사업장 운영</a:t>
            </a:r>
          </a:p>
        </p:txBody>
      </p:sp>
      <p:sp>
        <p:nvSpPr>
          <p:cNvPr id="73" name="단계"/>
          <p:cNvSpPr/>
          <p:nvPr/>
        </p:nvSpPr>
        <p:spPr>
          <a:xfrm>
            <a:off x="3044087" y="5271652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4" name="단계"/>
          <p:cNvSpPr>
            <a:spLocks noGrp="1"/>
          </p:cNvSpPr>
          <p:nvPr>
            <p:ph type="body" sz="quarter" idx="51"/>
          </p:nvPr>
        </p:nvSpPr>
        <p:spPr>
          <a:xfrm>
            <a:off x="3044087" y="5271652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본부 산하 건설현장 연결</a:t>
            </a:r>
          </a:p>
        </p:txBody>
      </p:sp>
      <p:sp>
        <p:nvSpPr>
          <p:cNvPr id="75" name="단계"/>
          <p:cNvSpPr/>
          <p:nvPr/>
        </p:nvSpPr>
        <p:spPr>
          <a:xfrm>
            <a:off x="4926783" y="5271652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6" name="단계"/>
          <p:cNvSpPr>
            <a:spLocks noGrp="1"/>
          </p:cNvSpPr>
          <p:nvPr>
            <p:ph type="body" sz="quarter" idx="52"/>
          </p:nvPr>
        </p:nvSpPr>
        <p:spPr>
          <a:xfrm>
            <a:off x="4926783" y="5271652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본사 전현장 실시간 연결·통합</a:t>
            </a:r>
          </a:p>
        </p:txBody>
      </p:sp>
      <p:sp>
        <p:nvSpPr>
          <p:cNvPr id="77" name="단계 삼각형"/>
          <p:cNvSpPr/>
          <p:nvPr/>
        </p:nvSpPr>
        <p:spPr>
          <a:xfrm>
            <a:off x="3044086" y="5271652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8" name="단계 삼각형"/>
          <p:cNvSpPr/>
          <p:nvPr/>
        </p:nvSpPr>
        <p:spPr>
          <a:xfrm>
            <a:off x="4926782" y="5271652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9" name="칸 본문"/>
          <p:cNvSpPr>
            <a:spLocks noGrp="1"/>
          </p:cNvSpPr>
          <p:nvPr>
            <p:ph type="body" sz="quarter" idx="53"/>
          </p:nvPr>
        </p:nvSpPr>
        <p:spPr>
          <a:xfrm>
            <a:off x="1172348" y="5523652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근로자 모니터링 ➡ 떨어짐, 질식 등 위험통제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모바일 PDCA 활용 정착</a:t>
            </a:r>
          </a:p>
        </p:txBody>
      </p:sp>
      <p:sp>
        <p:nvSpPr>
          <p:cNvPr id="80" name="칸 본문"/>
          <p:cNvSpPr>
            <a:spLocks noGrp="1"/>
          </p:cNvSpPr>
          <p:nvPr>
            <p:ph type="body" sz="quarter" idx="54"/>
          </p:nvPr>
        </p:nvSpPr>
        <p:spPr>
          <a:xfrm>
            <a:off x="3055043" y="5523652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7개현장 CCTV(64대) 통합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위험인지로 아차사고 예방</a:t>
            </a:r>
          </a:p>
        </p:txBody>
      </p:sp>
      <p:cxnSp>
        <p:nvCxnSpPr>
          <p:cNvPr id="81" name="Connector 58"/>
          <p:cNvCxnSpPr/>
          <p:nvPr/>
        </p:nvCxnSpPr>
        <p:spPr>
          <a:xfrm>
            <a:off x="3044087" y="5556522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2" name="칸 본문"/>
          <p:cNvSpPr>
            <a:spLocks noGrp="1"/>
          </p:cNvSpPr>
          <p:nvPr>
            <p:ph type="body" sz="quarter" idx="55"/>
          </p:nvPr>
        </p:nvSpPr>
        <p:spPr>
          <a:xfrm>
            <a:off x="4937739" y="5523652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근로자 위험 포착·실시간 감지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위험상황 경보·조기대응 체계</a:t>
            </a:r>
          </a:p>
        </p:txBody>
      </p:sp>
      <p:cxnSp>
        <p:nvCxnSpPr>
          <p:cNvPr id="83" name="Connector 60"/>
          <p:cNvCxnSpPr/>
          <p:nvPr/>
        </p:nvCxnSpPr>
        <p:spPr>
          <a:xfrm>
            <a:off x="4926783" y="5556522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4" name="핵심성과 박스"/>
          <p:cNvSpPr/>
          <p:nvPr/>
        </p:nvSpPr>
        <p:spPr>
          <a:xfrm>
            <a:off x="536870" y="6159130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5" name="핵심성과 라벨"/>
          <p:cNvSpPr/>
          <p:nvPr/>
        </p:nvSpPr>
        <p:spPr>
          <a:xfrm>
            <a:off x="569739" y="6197478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86" name="핵심성과 라벨"/>
          <p:cNvSpPr>
            <a:spLocks noGrp="1"/>
          </p:cNvSpPr>
          <p:nvPr>
            <p:ph type="body" sz="quarter" idx="56"/>
          </p:nvPr>
        </p:nvSpPr>
        <p:spPr>
          <a:xfrm>
            <a:off x="569739" y="6197478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기대효과</a:t>
            </a:r>
          </a:p>
        </p:txBody>
      </p:sp>
      <p:sp>
        <p:nvSpPr>
          <p:cNvPr id="87" name="핵심성과 문구"/>
          <p:cNvSpPr>
            <a:spLocks noGrp="1"/>
          </p:cNvSpPr>
          <p:nvPr>
            <p:ph type="body" sz="quarter" idx="57"/>
          </p:nvPr>
        </p:nvSpPr>
        <p:spPr>
          <a:xfrm>
            <a:off x="1314783" y="6175565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실시간 모니터링(본사·본부·현장)으로 위험감지·개선체계(중지, 조치 → 재착수) 구축, 예방강화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74 서사 · 왜 문화인가 → 인식전환 → 문화 기틀 → 참여 · 지원 · 확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5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K-water에 「안전을 心다」 모두의 일상에 스며드는 안전</a:t>
            </a:r>
          </a:p>
        </p:txBody>
      </p:sp>
      <p:sp>
        <p:nvSpPr>
          <p:cNvPr id="14" name="형광 밑줄"/>
          <p:cNvSpPr/>
          <p:nvPr/>
        </p:nvSpPr>
        <p:spPr>
          <a:xfrm>
            <a:off x="723130" y="1358609"/>
            <a:ext cx="3563905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소제목"/>
          <p:cNvSpPr>
            <a:spLocks noGrp="1"/>
          </p:cNvSpPr>
          <p:nvPr>
            <p:ph type="body" sz="quarter" idx="22"/>
          </p:nvPr>
        </p:nvSpPr>
        <p:spPr>
          <a:xfrm>
            <a:off x="723130" y="120521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안전문화로 연결하고 실천으로 완성하는 안전작동 선순환</a:t>
            </a:r>
          </a:p>
        </p:txBody>
      </p:sp>
      <p:sp>
        <p:nvSpPr>
          <p:cNvPr id="16" name="태그칩"/>
          <p:cNvSpPr/>
          <p:nvPr/>
        </p:nvSpPr>
        <p:spPr>
          <a:xfrm>
            <a:off x="4385644" y="1238087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칩"/>
          <p:cNvSpPr>
            <a:spLocks noGrp="1"/>
          </p:cNvSpPr>
          <p:nvPr>
            <p:ph type="body" sz="quarter" idx="23"/>
          </p:nvPr>
        </p:nvSpPr>
        <p:spPr>
          <a:xfrm>
            <a:off x="4385644" y="1238087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8" name="태그칩"/>
          <p:cNvSpPr/>
          <p:nvPr/>
        </p:nvSpPr>
        <p:spPr>
          <a:xfrm>
            <a:off x="4936765" y="1238087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태그칩"/>
          <p:cNvSpPr>
            <a:spLocks noGrp="1"/>
          </p:cNvSpPr>
          <p:nvPr>
            <p:ph type="body" sz="quarter" idx="24"/>
          </p:nvPr>
        </p:nvSpPr>
        <p:spPr>
          <a:xfrm>
            <a:off x="4936765" y="1238087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20" name="표 외곽"/>
          <p:cNvSpPr/>
          <p:nvPr/>
        </p:nvSpPr>
        <p:spPr>
          <a:xfrm>
            <a:off x="723130" y="1490087"/>
            <a:ext cx="6300000" cy="717652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1" name="레일"/>
          <p:cNvSpPr/>
          <p:nvPr/>
        </p:nvSpPr>
        <p:spPr>
          <a:xfrm>
            <a:off x="734087" y="1506522"/>
            <a:ext cx="580696" cy="68478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레일"/>
          <p:cNvSpPr>
            <a:spLocks noGrp="1"/>
          </p:cNvSpPr>
          <p:nvPr>
            <p:ph type="body" sz="quarter" idx="25"/>
          </p:nvPr>
        </p:nvSpPr>
        <p:spPr>
          <a:xfrm>
            <a:off x="734087" y="1506522"/>
            <a:ext cx="580696" cy="684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문화인가?</a:t>
            </a:r>
          </a:p>
        </p:txBody>
      </p:sp>
      <p:sp>
        <p:nvSpPr>
          <p:cNvPr id="23" name="머리칸"/>
          <p:cNvSpPr/>
          <p:nvPr/>
        </p:nvSpPr>
        <p:spPr>
          <a:xfrm>
            <a:off x="1347652" y="1528435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4" name="머리칸"/>
          <p:cNvSpPr>
            <a:spLocks noGrp="1"/>
          </p:cNvSpPr>
          <p:nvPr>
            <p:ph type="body" sz="quarter" idx="26"/>
          </p:nvPr>
        </p:nvSpPr>
        <p:spPr>
          <a:xfrm>
            <a:off x="1347652" y="1528435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 인프라 지원 확대에도 사고 발생</a:t>
            </a:r>
          </a:p>
        </p:txBody>
      </p:sp>
      <p:sp>
        <p:nvSpPr>
          <p:cNvPr id="25" name="머리칸"/>
          <p:cNvSpPr/>
          <p:nvPr/>
        </p:nvSpPr>
        <p:spPr>
          <a:xfrm>
            <a:off x="4171696" y="1528435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6" name="머리칸"/>
          <p:cNvSpPr>
            <a:spLocks noGrp="1"/>
          </p:cNvSpPr>
          <p:nvPr>
            <p:ph type="body" sz="quarter" idx="27"/>
          </p:nvPr>
        </p:nvSpPr>
        <p:spPr>
          <a:xfrm>
            <a:off x="4171696" y="1528435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안전의 최종 작동점은 ‘사람의 선택’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28"/>
          </p:nvPr>
        </p:nvSpPr>
        <p:spPr>
          <a:xfrm>
            <a:off x="1358609" y="1769478"/>
            <a:ext cx="2802130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안전체계 강화로 ‘규정’은 정착되었으나 구성원 자발적 행동으로 연결 미흡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9"/>
          </p:nvPr>
        </p:nvSpPr>
        <p:spPr>
          <a:xfrm>
            <a:off x="4182652" y="1769478"/>
            <a:ext cx="2802130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구성원 인식 및 행동변화를 유도할 수 있는 안전문화 구축 필요성 증대</a:t>
            </a:r>
          </a:p>
        </p:txBody>
      </p:sp>
      <p:cxnSp>
        <p:nvCxnSpPr>
          <p:cNvPr id="29" name="Connector 18"/>
          <p:cNvCxnSpPr/>
          <p:nvPr/>
        </p:nvCxnSpPr>
        <p:spPr>
          <a:xfrm>
            <a:off x="4171696" y="1802348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0" name="캡션 띠"/>
          <p:cNvSpPr/>
          <p:nvPr/>
        </p:nvSpPr>
        <p:spPr>
          <a:xfrm>
            <a:off x="723130" y="2229652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1" name="태그"/>
          <p:cNvSpPr/>
          <p:nvPr/>
        </p:nvSpPr>
        <p:spPr>
          <a:xfrm>
            <a:off x="1051826" y="2273478"/>
            <a:ext cx="548640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2" name="태그"/>
          <p:cNvSpPr>
            <a:spLocks noGrp="1"/>
          </p:cNvSpPr>
          <p:nvPr>
            <p:ph type="body" sz="quarter" idx="30"/>
          </p:nvPr>
        </p:nvSpPr>
        <p:spPr>
          <a:xfrm>
            <a:off x="1051826" y="2273478"/>
            <a:ext cx="548640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인식전환</a:t>
            </a:r>
          </a:p>
        </p:txBody>
      </p:sp>
      <p:sp>
        <p:nvSpPr>
          <p:cNvPr id="33" name="캡션"/>
          <p:cNvSpPr>
            <a:spLocks noGrp="1"/>
          </p:cNvSpPr>
          <p:nvPr>
            <p:ph type="body" sz="quarter" idx="31"/>
          </p:nvPr>
        </p:nvSpPr>
        <p:spPr>
          <a:xfrm>
            <a:off x="1655249" y="2229652"/>
            <a:ext cx="5148751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‘제도중심’ 관리에서 ‘사람중심’ 문화로 안전의 패러다임 전환</a:t>
            </a:r>
          </a:p>
        </p:txBody>
      </p:sp>
      <p:sp>
        <p:nvSpPr>
          <p:cNvPr id="34" name="표 외곽"/>
          <p:cNvSpPr/>
          <p:nvPr/>
        </p:nvSpPr>
        <p:spPr>
          <a:xfrm>
            <a:off x="723130" y="2536435"/>
            <a:ext cx="6300000" cy="285417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5" name="레일"/>
          <p:cNvSpPr/>
          <p:nvPr/>
        </p:nvSpPr>
        <p:spPr>
          <a:xfrm>
            <a:off x="734087" y="2552870"/>
            <a:ext cx="580696" cy="68478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6" name="레일 태그"/>
          <p:cNvSpPr/>
          <p:nvPr/>
        </p:nvSpPr>
        <p:spPr>
          <a:xfrm>
            <a:off x="744637" y="2596696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7" name="레일 태그"/>
          <p:cNvSpPr>
            <a:spLocks noGrp="1"/>
          </p:cNvSpPr>
          <p:nvPr>
            <p:ph type="body" sz="quarter" idx="32"/>
          </p:nvPr>
        </p:nvSpPr>
        <p:spPr>
          <a:xfrm>
            <a:off x="744637" y="2596696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사람중심</a:t>
            </a:r>
          </a:p>
        </p:txBody>
      </p:sp>
      <p:sp>
        <p:nvSpPr>
          <p:cNvPr id="38" name="레일 라벨"/>
          <p:cNvSpPr>
            <a:spLocks noGrp="1"/>
          </p:cNvSpPr>
          <p:nvPr>
            <p:ph type="body" sz="quarter" idx="33"/>
          </p:nvPr>
        </p:nvSpPr>
        <p:spPr>
          <a:xfrm>
            <a:off x="734087" y="2782957"/>
            <a:ext cx="580696" cy="432783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문화확산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기틀마련</a:t>
            </a:r>
          </a:p>
        </p:txBody>
      </p:sp>
      <p:sp>
        <p:nvSpPr>
          <p:cNvPr id="39" name="머리칸"/>
          <p:cNvSpPr/>
          <p:nvPr/>
        </p:nvSpPr>
        <p:spPr>
          <a:xfrm>
            <a:off x="1347652" y="257478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0" name="머리칸"/>
          <p:cNvSpPr>
            <a:spLocks noGrp="1"/>
          </p:cNvSpPr>
          <p:nvPr>
            <p:ph type="body" sz="quarter" idx="34"/>
          </p:nvPr>
        </p:nvSpPr>
        <p:spPr>
          <a:xfrm>
            <a:off x="1347652" y="257478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조직 내 세대별 감수성 반영</a:t>
            </a:r>
          </a:p>
        </p:txBody>
      </p:sp>
      <p:sp>
        <p:nvSpPr>
          <p:cNvPr id="41" name="머리칸"/>
          <p:cNvSpPr/>
          <p:nvPr/>
        </p:nvSpPr>
        <p:spPr>
          <a:xfrm>
            <a:off x="4171696" y="257478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2" name="머리칸"/>
          <p:cNvSpPr>
            <a:spLocks noGrp="1"/>
          </p:cNvSpPr>
          <p:nvPr>
            <p:ph type="body" sz="quarter" idx="35"/>
          </p:nvPr>
        </p:nvSpPr>
        <p:spPr>
          <a:xfrm>
            <a:off x="4171696" y="257478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「안전을 心다」 안전브랜드 구축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36"/>
          </p:nvPr>
        </p:nvSpPr>
        <p:spPr>
          <a:xfrm>
            <a:off x="1358609" y="2815826"/>
            <a:ext cx="2802130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기성&amp;신세대 맞춤형 콘텐츠 제작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보상강화를 통한 적극적 참여유도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37"/>
          </p:nvPr>
        </p:nvSpPr>
        <p:spPr>
          <a:xfrm>
            <a:off x="4182652" y="2815826"/>
            <a:ext cx="2802130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전직원 공모, 안전가치 공감대 형성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BI 시각화를 통해 전달력 향상</a:t>
            </a:r>
          </a:p>
        </p:txBody>
      </p:sp>
      <p:cxnSp>
        <p:nvCxnSpPr>
          <p:cNvPr id="45" name="Connector 30"/>
          <p:cNvCxnSpPr/>
          <p:nvPr/>
        </p:nvCxnSpPr>
        <p:spPr>
          <a:xfrm>
            <a:off x="4171696" y="2848696"/>
            <a:ext cx="0" cy="35060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6" name="레일"/>
          <p:cNvSpPr/>
          <p:nvPr/>
        </p:nvSpPr>
        <p:spPr>
          <a:xfrm>
            <a:off x="734087" y="3254087"/>
            <a:ext cx="580696" cy="695739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7" name="레일"/>
          <p:cNvSpPr>
            <a:spLocks noGrp="1"/>
          </p:cNvSpPr>
          <p:nvPr>
            <p:ph type="body" sz="quarter" idx="38"/>
          </p:nvPr>
        </p:nvSpPr>
        <p:spPr>
          <a:xfrm>
            <a:off x="734087" y="3254087"/>
            <a:ext cx="580696" cy="695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함 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참여하고</a:t>
            </a:r>
          </a:p>
        </p:txBody>
      </p:sp>
      <p:sp>
        <p:nvSpPr>
          <p:cNvPr id="48" name="레일 삼각형"/>
          <p:cNvSpPr/>
          <p:nvPr/>
        </p:nvSpPr>
        <p:spPr>
          <a:xfrm>
            <a:off x="734086" y="3254086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9" name="단계"/>
          <p:cNvSpPr/>
          <p:nvPr/>
        </p:nvSpPr>
        <p:spPr>
          <a:xfrm>
            <a:off x="1347652" y="3276000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0" name="단계"/>
          <p:cNvSpPr>
            <a:spLocks noGrp="1"/>
          </p:cNvSpPr>
          <p:nvPr>
            <p:ph type="body" sz="quarter" idx="39"/>
          </p:nvPr>
        </p:nvSpPr>
        <p:spPr>
          <a:xfrm>
            <a:off x="1347652" y="327600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전사 공모 확대</a:t>
            </a:r>
          </a:p>
        </p:txBody>
      </p:sp>
      <p:sp>
        <p:nvSpPr>
          <p:cNvPr id="51" name="단계"/>
          <p:cNvSpPr/>
          <p:nvPr/>
        </p:nvSpPr>
        <p:spPr>
          <a:xfrm>
            <a:off x="3230348" y="3276000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2" name="단계"/>
          <p:cNvSpPr>
            <a:spLocks noGrp="1"/>
          </p:cNvSpPr>
          <p:nvPr>
            <p:ph type="body" sz="quarter" idx="40"/>
          </p:nvPr>
        </p:nvSpPr>
        <p:spPr>
          <a:xfrm>
            <a:off x="3230348" y="327600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브랜드 기반 홍보</a:t>
            </a:r>
          </a:p>
        </p:txBody>
      </p:sp>
      <p:sp>
        <p:nvSpPr>
          <p:cNvPr id="53" name="단계"/>
          <p:cNvSpPr/>
          <p:nvPr/>
        </p:nvSpPr>
        <p:spPr>
          <a:xfrm>
            <a:off x="5113043" y="3276000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4" name="단계"/>
          <p:cNvSpPr>
            <a:spLocks noGrp="1"/>
          </p:cNvSpPr>
          <p:nvPr>
            <p:ph type="body" sz="quarter" idx="41"/>
          </p:nvPr>
        </p:nvSpPr>
        <p:spPr>
          <a:xfrm>
            <a:off x="5113043" y="327600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직원참여 안전활동 향상</a:t>
            </a:r>
          </a:p>
        </p:txBody>
      </p:sp>
      <p:sp>
        <p:nvSpPr>
          <p:cNvPr id="55" name="단계 삼각형"/>
          <p:cNvSpPr/>
          <p:nvPr/>
        </p:nvSpPr>
        <p:spPr>
          <a:xfrm>
            <a:off x="3230347" y="3276000"/>
            <a:ext cx="109566" cy="230086"/>
          </a:xfrm>
          <a:custGeom>
            <a:avLst/>
            <a:gdLst/>
            <a:ahLst/>
            <a:cxnLst/>
            <a:rect l="l" t="t" r="r" b="b"/>
            <a:pathLst>
              <a:path w="109566" h="230086">
                <a:moveTo>
                  <a:pt x="0" y="0"/>
                </a:moveTo>
                <a:lnTo>
                  <a:pt x="109566" y="115043"/>
                </a:lnTo>
                <a:lnTo>
                  <a:pt x="0" y="23008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6" name="단계 삼각형"/>
          <p:cNvSpPr/>
          <p:nvPr/>
        </p:nvSpPr>
        <p:spPr>
          <a:xfrm>
            <a:off x="5113043" y="3276000"/>
            <a:ext cx="109565" cy="230086"/>
          </a:xfrm>
          <a:custGeom>
            <a:avLst/>
            <a:gdLst/>
            <a:ahLst/>
            <a:cxnLst/>
            <a:rect l="l" t="t" r="r" b="b"/>
            <a:pathLst>
              <a:path w="109565" h="230086">
                <a:moveTo>
                  <a:pt x="0" y="0"/>
                </a:moveTo>
                <a:lnTo>
                  <a:pt x="109565" y="115043"/>
                </a:lnTo>
                <a:lnTo>
                  <a:pt x="0" y="230086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7" name="칸 본문"/>
          <p:cNvSpPr>
            <a:spLocks noGrp="1"/>
          </p:cNvSpPr>
          <p:nvPr>
            <p:ph type="body" sz="quarter" idx="42"/>
          </p:nvPr>
        </p:nvSpPr>
        <p:spPr>
          <a:xfrm>
            <a:off x="1358609" y="3528000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아차사고, 안전제안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우수제안 사업화·사례 배포</a:t>
            </a:r>
          </a:p>
        </p:txBody>
      </p:sp>
      <p:sp>
        <p:nvSpPr>
          <p:cNvPr id="58" name="칸 본문"/>
          <p:cNvSpPr>
            <a:spLocks noGrp="1"/>
          </p:cNvSpPr>
          <p:nvPr>
            <p:ph type="body" sz="quarter" idx="43"/>
          </p:nvPr>
        </p:nvSpPr>
        <p:spPr>
          <a:xfrm>
            <a:off x="3241304" y="3528000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굿즈, PC 배경화면 등 배포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카드뉴스·숏폼 안전콘텐츠</a:t>
            </a:r>
          </a:p>
        </p:txBody>
      </p:sp>
      <p:cxnSp>
        <p:nvCxnSpPr>
          <p:cNvPr id="59" name="Connector 40"/>
          <p:cNvCxnSpPr/>
          <p:nvPr/>
        </p:nvCxnSpPr>
        <p:spPr>
          <a:xfrm>
            <a:off x="3230348" y="3560870"/>
            <a:ext cx="0" cy="35060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0" name="칸 본문"/>
          <p:cNvSpPr>
            <a:spLocks noGrp="1"/>
          </p:cNvSpPr>
          <p:nvPr>
            <p:ph type="body" sz="quarter" idx="44"/>
          </p:nvPr>
        </p:nvSpPr>
        <p:spPr>
          <a:xfrm>
            <a:off x="5124000" y="3528000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역대 최다 공모 참여(712건)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메일링(매월), 사례전파</a:t>
            </a:r>
          </a:p>
        </p:txBody>
      </p:sp>
      <p:cxnSp>
        <p:nvCxnSpPr>
          <p:cNvPr id="61" name="Connector 42"/>
          <p:cNvCxnSpPr/>
          <p:nvPr/>
        </p:nvCxnSpPr>
        <p:spPr>
          <a:xfrm>
            <a:off x="5113043" y="3560870"/>
            <a:ext cx="0" cy="35060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2" name="레일"/>
          <p:cNvSpPr/>
          <p:nvPr/>
        </p:nvSpPr>
        <p:spPr>
          <a:xfrm>
            <a:off x="734087" y="3966261"/>
            <a:ext cx="580696" cy="695739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3" name="레일"/>
          <p:cNvSpPr>
            <a:spLocks noGrp="1"/>
          </p:cNvSpPr>
          <p:nvPr>
            <p:ph type="body" sz="quarter" idx="45"/>
          </p:nvPr>
        </p:nvSpPr>
        <p:spPr>
          <a:xfrm>
            <a:off x="734087" y="3966261"/>
            <a:ext cx="580696" cy="695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지원은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강화하고</a:t>
            </a:r>
          </a:p>
        </p:txBody>
      </p:sp>
      <p:sp>
        <p:nvSpPr>
          <p:cNvPr id="64" name="단계"/>
          <p:cNvSpPr/>
          <p:nvPr/>
        </p:nvSpPr>
        <p:spPr>
          <a:xfrm>
            <a:off x="1347652" y="3988174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5" name="단계"/>
          <p:cNvSpPr>
            <a:spLocks noGrp="1"/>
          </p:cNvSpPr>
          <p:nvPr>
            <p:ph type="body" sz="quarter" idx="46"/>
          </p:nvPr>
        </p:nvSpPr>
        <p:spPr>
          <a:xfrm>
            <a:off x="1347652" y="398817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인센티브·역량 강화</a:t>
            </a:r>
          </a:p>
        </p:txBody>
      </p:sp>
      <p:sp>
        <p:nvSpPr>
          <p:cNvPr id="66" name="단계"/>
          <p:cNvSpPr/>
          <p:nvPr/>
        </p:nvSpPr>
        <p:spPr>
          <a:xfrm>
            <a:off x="3230348" y="3988174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7" name="단계"/>
          <p:cNvSpPr>
            <a:spLocks noGrp="1"/>
          </p:cNvSpPr>
          <p:nvPr>
            <p:ph type="body" sz="quarter" idx="47"/>
          </p:nvPr>
        </p:nvSpPr>
        <p:spPr>
          <a:xfrm>
            <a:off x="3230348" y="398817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안심케어센터 신설</a:t>
            </a:r>
          </a:p>
        </p:txBody>
      </p:sp>
      <p:sp>
        <p:nvSpPr>
          <p:cNvPr id="68" name="단계"/>
          <p:cNvSpPr/>
          <p:nvPr/>
        </p:nvSpPr>
        <p:spPr>
          <a:xfrm>
            <a:off x="5113043" y="3988174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9" name="단계"/>
          <p:cNvSpPr>
            <a:spLocks noGrp="1"/>
          </p:cNvSpPr>
          <p:nvPr>
            <p:ph type="body" sz="quarter" idx="48"/>
          </p:nvPr>
        </p:nvSpPr>
        <p:spPr>
          <a:xfrm>
            <a:off x="5113043" y="398817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안전관리 실행력 강화</a:t>
            </a:r>
          </a:p>
        </p:txBody>
      </p:sp>
      <p:sp>
        <p:nvSpPr>
          <p:cNvPr id="70" name="단계 삼각형"/>
          <p:cNvSpPr/>
          <p:nvPr/>
        </p:nvSpPr>
        <p:spPr>
          <a:xfrm>
            <a:off x="3230347" y="3988173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1" name="단계 삼각형"/>
          <p:cNvSpPr/>
          <p:nvPr/>
        </p:nvSpPr>
        <p:spPr>
          <a:xfrm>
            <a:off x="5113043" y="398817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2" name="칸 본문"/>
          <p:cNvSpPr>
            <a:spLocks noGrp="1"/>
          </p:cNvSpPr>
          <p:nvPr>
            <p:ph type="body" sz="quarter" idx="49"/>
          </p:nvPr>
        </p:nvSpPr>
        <p:spPr>
          <a:xfrm>
            <a:off x="1358609" y="4240174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자격포상 확대, 승진가점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위험공종·저연차 특화 교육</a:t>
            </a:r>
          </a:p>
        </p:txBody>
      </p:sp>
      <p:sp>
        <p:nvSpPr>
          <p:cNvPr id="73" name="칸 본문"/>
          <p:cNvSpPr>
            <a:spLocks noGrp="1"/>
          </p:cNvSpPr>
          <p:nvPr>
            <p:ph type="body" sz="quarter" idx="50"/>
          </p:nvPr>
        </p:nvSpPr>
        <p:spPr>
          <a:xfrm>
            <a:off x="3241304" y="4240174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단계별 밀착 법률지원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마음돌봄지원 확대</a:t>
            </a:r>
          </a:p>
        </p:txBody>
      </p:sp>
      <p:cxnSp>
        <p:nvCxnSpPr>
          <p:cNvPr id="74" name="Connector 51"/>
          <p:cNvCxnSpPr/>
          <p:nvPr/>
        </p:nvCxnSpPr>
        <p:spPr>
          <a:xfrm>
            <a:off x="3230348" y="4273043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5" name="칸 본문"/>
          <p:cNvSpPr>
            <a:spLocks noGrp="1"/>
          </p:cNvSpPr>
          <p:nvPr>
            <p:ph type="body" sz="quarter" idx="51"/>
          </p:nvPr>
        </p:nvSpPr>
        <p:spPr>
          <a:xfrm>
            <a:off x="5124000" y="4240174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안전자격 취득 4.3배 증가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안전지원 직원 체감도↑</a:t>
            </a:r>
          </a:p>
        </p:txBody>
      </p:sp>
      <p:cxnSp>
        <p:nvCxnSpPr>
          <p:cNvPr id="76" name="Connector 53"/>
          <p:cNvCxnSpPr/>
          <p:nvPr/>
        </p:nvCxnSpPr>
        <p:spPr>
          <a:xfrm>
            <a:off x="5113043" y="4273043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7" name="레일"/>
          <p:cNvSpPr/>
          <p:nvPr/>
        </p:nvSpPr>
        <p:spPr>
          <a:xfrm>
            <a:off x="734087" y="4678435"/>
            <a:ext cx="580696" cy="695739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8" name="레일"/>
          <p:cNvSpPr>
            <a:spLocks noGrp="1"/>
          </p:cNvSpPr>
          <p:nvPr>
            <p:ph type="body" sz="quarter" idx="52"/>
          </p:nvPr>
        </p:nvSpPr>
        <p:spPr>
          <a:xfrm>
            <a:off x="734087" y="4678435"/>
            <a:ext cx="580696" cy="695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모두에게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 산</a:t>
            </a:r>
          </a:p>
        </p:txBody>
      </p:sp>
      <p:sp>
        <p:nvSpPr>
          <p:cNvPr id="79" name="레일 삼각형"/>
          <p:cNvSpPr/>
          <p:nvPr/>
        </p:nvSpPr>
        <p:spPr>
          <a:xfrm>
            <a:off x="734086" y="4678434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80" name="단계"/>
          <p:cNvSpPr/>
          <p:nvPr/>
        </p:nvSpPr>
        <p:spPr>
          <a:xfrm>
            <a:off x="1347652" y="4700348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81" name="단계"/>
          <p:cNvSpPr>
            <a:spLocks noGrp="1"/>
          </p:cNvSpPr>
          <p:nvPr>
            <p:ph type="body" sz="quarter" idx="53"/>
          </p:nvPr>
        </p:nvSpPr>
        <p:spPr>
          <a:xfrm>
            <a:off x="1347652" y="470034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자회사·도급사 지원</a:t>
            </a:r>
          </a:p>
        </p:txBody>
      </p:sp>
      <p:sp>
        <p:nvSpPr>
          <p:cNvPr id="82" name="단계"/>
          <p:cNvSpPr/>
          <p:nvPr/>
        </p:nvSpPr>
        <p:spPr>
          <a:xfrm>
            <a:off x="3230348" y="4700348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83" name="단계"/>
          <p:cNvSpPr>
            <a:spLocks noGrp="1"/>
          </p:cNvSpPr>
          <p:nvPr>
            <p:ph type="body" sz="quarter" idx="54"/>
          </p:nvPr>
        </p:nvSpPr>
        <p:spPr>
          <a:xfrm>
            <a:off x="3230348" y="470034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안전문화 민·관 대외 협력</a:t>
            </a:r>
          </a:p>
        </p:txBody>
      </p:sp>
      <p:sp>
        <p:nvSpPr>
          <p:cNvPr id="84" name="단계"/>
          <p:cNvSpPr/>
          <p:nvPr/>
        </p:nvSpPr>
        <p:spPr>
          <a:xfrm>
            <a:off x="5113043" y="4700348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85" name="단계"/>
          <p:cNvSpPr>
            <a:spLocks noGrp="1"/>
          </p:cNvSpPr>
          <p:nvPr>
            <p:ph type="body" sz="quarter" idx="55"/>
          </p:nvPr>
        </p:nvSpPr>
        <p:spPr>
          <a:xfrm>
            <a:off x="5113043" y="470034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 파트너십 공고화</a:t>
            </a:r>
          </a:p>
        </p:txBody>
      </p:sp>
      <p:sp>
        <p:nvSpPr>
          <p:cNvPr id="86" name="단계 삼각형"/>
          <p:cNvSpPr/>
          <p:nvPr/>
        </p:nvSpPr>
        <p:spPr>
          <a:xfrm>
            <a:off x="3230347" y="4700347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87" name="단계 삼각형"/>
          <p:cNvSpPr/>
          <p:nvPr/>
        </p:nvSpPr>
        <p:spPr>
          <a:xfrm>
            <a:off x="5113043" y="4700347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88" name="칸 본문"/>
          <p:cNvSpPr>
            <a:spLocks noGrp="1"/>
          </p:cNvSpPr>
          <p:nvPr>
            <p:ph type="body" sz="quarter" idx="56"/>
          </p:nvPr>
        </p:nvSpPr>
        <p:spPr>
          <a:xfrm>
            <a:off x="1358609" y="4952348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재해경감체계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취약근로자 교육</a:t>
            </a:r>
          </a:p>
        </p:txBody>
      </p:sp>
      <p:sp>
        <p:nvSpPr>
          <p:cNvPr id="89" name="칸 본문"/>
          <p:cNvSpPr>
            <a:spLocks noGrp="1"/>
          </p:cNvSpPr>
          <p:nvPr>
            <p:ph type="body" sz="quarter" idx="57"/>
          </p:nvPr>
        </p:nvSpPr>
        <p:spPr>
          <a:xfrm>
            <a:off x="3241304" y="4952348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행안부 안전사회공헌 공동추진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안전보건공단 협업 교육·진단</a:t>
            </a:r>
          </a:p>
        </p:txBody>
      </p:sp>
      <p:cxnSp>
        <p:nvCxnSpPr>
          <p:cNvPr id="90" name="Connector 63"/>
          <p:cNvCxnSpPr/>
          <p:nvPr/>
        </p:nvCxnSpPr>
        <p:spPr>
          <a:xfrm>
            <a:off x="3230348" y="4985217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91" name="칸 본문"/>
          <p:cNvSpPr>
            <a:spLocks noGrp="1"/>
          </p:cNvSpPr>
          <p:nvPr>
            <p:ph type="body" sz="quarter" idx="58"/>
          </p:nvPr>
        </p:nvSpPr>
        <p:spPr>
          <a:xfrm>
            <a:off x="5124000" y="4952348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안전보건활동 우수상(고용노동부)</a:t>
            </a:r>
          </a:p>
        </p:txBody>
      </p:sp>
      <p:cxnSp>
        <p:nvCxnSpPr>
          <p:cNvPr id="92" name="Connector 65"/>
          <p:cNvCxnSpPr/>
          <p:nvPr/>
        </p:nvCxnSpPr>
        <p:spPr>
          <a:xfrm>
            <a:off x="5113043" y="4985217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75 서사 · 안전보건문화제 → Safety Super Week → 안전문화 축제의 장 → 종합성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4080002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Safety Super Week, 일상을 넘어 안전문화 축제의 장으로 확대</a:t>
            </a:r>
          </a:p>
        </p:txBody>
      </p:sp>
      <p:sp>
        <p:nvSpPr>
          <p:cNvPr id="12" name="태그칩"/>
          <p:cNvSpPr/>
          <p:nvPr/>
        </p:nvSpPr>
        <p:spPr>
          <a:xfrm>
            <a:off x="4715480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715480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표 외곽"/>
          <p:cNvSpPr/>
          <p:nvPr/>
        </p:nvSpPr>
        <p:spPr>
          <a:xfrm>
            <a:off x="536870" y="1051826"/>
            <a:ext cx="6300000" cy="193930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547826" y="1068261"/>
            <a:ext cx="580696" cy="750522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068261"/>
            <a:ext cx="580696" cy="75052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함 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참여하고</a:t>
            </a:r>
          </a:p>
        </p:txBody>
      </p:sp>
      <p:sp>
        <p:nvSpPr>
          <p:cNvPr id="17" name="단계"/>
          <p:cNvSpPr/>
          <p:nvPr/>
        </p:nvSpPr>
        <p:spPr>
          <a:xfrm>
            <a:off x="1161391" y="1090174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8" name="단계"/>
          <p:cNvSpPr>
            <a:spLocks noGrp="1"/>
          </p:cNvSpPr>
          <p:nvPr>
            <p:ph type="body" sz="quarter" idx="23"/>
          </p:nvPr>
        </p:nvSpPr>
        <p:spPr>
          <a:xfrm>
            <a:off x="1161391" y="109017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 안전보건문화제(2일)</a:t>
            </a:r>
          </a:p>
        </p:txBody>
      </p:sp>
      <p:sp>
        <p:nvSpPr>
          <p:cNvPr id="19" name="단계"/>
          <p:cNvSpPr/>
          <p:nvPr/>
        </p:nvSpPr>
        <p:spPr>
          <a:xfrm>
            <a:off x="3044087" y="1090174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0" name="단계"/>
          <p:cNvSpPr>
            <a:spLocks noGrp="1"/>
          </p:cNvSpPr>
          <p:nvPr>
            <p:ph type="body" sz="quarter" idx="24"/>
          </p:nvPr>
        </p:nvSpPr>
        <p:spPr>
          <a:xfrm>
            <a:off x="3044087" y="109017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 Safety Super Week</a:t>
            </a:r>
          </a:p>
        </p:txBody>
      </p:sp>
      <p:sp>
        <p:nvSpPr>
          <p:cNvPr id="21" name="단계"/>
          <p:cNvSpPr/>
          <p:nvPr/>
        </p:nvSpPr>
        <p:spPr>
          <a:xfrm>
            <a:off x="4926783" y="1090174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2" name="단계"/>
          <p:cNvSpPr>
            <a:spLocks noGrp="1"/>
          </p:cNvSpPr>
          <p:nvPr>
            <p:ph type="body" sz="quarter" idx="25"/>
          </p:nvPr>
        </p:nvSpPr>
        <p:spPr>
          <a:xfrm>
            <a:off x="4926783" y="109017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’26~ 안전문화 실천의날</a:t>
            </a:r>
          </a:p>
        </p:txBody>
      </p:sp>
      <p:sp>
        <p:nvSpPr>
          <p:cNvPr id="23" name="단계 삼각형"/>
          <p:cNvSpPr/>
          <p:nvPr/>
        </p:nvSpPr>
        <p:spPr>
          <a:xfrm>
            <a:off x="3044086" y="1090173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4" name="단계 삼각형"/>
          <p:cNvSpPr/>
          <p:nvPr/>
        </p:nvSpPr>
        <p:spPr>
          <a:xfrm>
            <a:off x="4926782" y="109017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6"/>
          </p:nvPr>
        </p:nvSpPr>
        <p:spPr>
          <a:xfrm>
            <a:off x="1172348" y="1342174"/>
            <a:ext cx="1860783" cy="471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체험형 안전·보건프로그램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임직원 중심 참여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7"/>
          </p:nvPr>
        </p:nvSpPr>
        <p:spPr>
          <a:xfrm>
            <a:off x="3055043" y="1342174"/>
            <a:ext cx="1860783" cy="471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콘텐츠 강화 및 온·오프 채널 활용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자회사·도급사 및 지역사회 확대</a:t>
            </a:r>
          </a:p>
        </p:txBody>
      </p:sp>
      <p:cxnSp>
        <p:nvCxnSpPr>
          <p:cNvPr id="27" name="Connector 18"/>
          <p:cNvCxnSpPr/>
          <p:nvPr/>
        </p:nvCxnSpPr>
        <p:spPr>
          <a:xfrm>
            <a:off x="3044087" y="1375043"/>
            <a:ext cx="0" cy="40539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8" name="칸 본문"/>
          <p:cNvSpPr>
            <a:spLocks noGrp="1"/>
          </p:cNvSpPr>
          <p:nvPr>
            <p:ph type="body" sz="quarter" idx="28"/>
          </p:nvPr>
        </p:nvSpPr>
        <p:spPr>
          <a:xfrm>
            <a:off x="4937739" y="1342174"/>
            <a:ext cx="1860783" cy="471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본사 → 유역본부 중심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지역사회 참여 확대</a:t>
            </a:r>
          </a:p>
        </p:txBody>
      </p:sp>
      <p:cxnSp>
        <p:nvCxnSpPr>
          <p:cNvPr id="29" name="Connector 20"/>
          <p:cNvCxnSpPr/>
          <p:nvPr/>
        </p:nvCxnSpPr>
        <p:spPr>
          <a:xfrm>
            <a:off x="4926783" y="1375043"/>
            <a:ext cx="0" cy="40539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0" name="레일"/>
          <p:cNvSpPr/>
          <p:nvPr/>
        </p:nvSpPr>
        <p:spPr>
          <a:xfrm>
            <a:off x="547826" y="1835217"/>
            <a:ext cx="580696" cy="1139478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1" name="레일"/>
          <p:cNvSpPr>
            <a:spLocks noGrp="1"/>
          </p:cNvSpPr>
          <p:nvPr>
            <p:ph type="body" sz="quarter" idx="29"/>
          </p:nvPr>
        </p:nvSpPr>
        <p:spPr>
          <a:xfrm>
            <a:off x="547826" y="1835217"/>
            <a:ext cx="580696" cy="113947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모두에게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 산</a:t>
            </a:r>
          </a:p>
        </p:txBody>
      </p:sp>
      <p:sp>
        <p:nvSpPr>
          <p:cNvPr id="32" name="레일 삼각형"/>
          <p:cNvSpPr/>
          <p:nvPr/>
        </p:nvSpPr>
        <p:spPr>
          <a:xfrm>
            <a:off x="547826" y="1835217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0"/>
          </p:nvPr>
        </p:nvSpPr>
        <p:spPr>
          <a:xfrm>
            <a:off x="1172348" y="1857130"/>
            <a:ext cx="2017674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콘텐츠 강화: 「안전을 心다」 요일별 테마, 완강기 등 안전체험 20종, 전사 심폐소생술 경진대회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채널 확대: 노사행사 연계 현장 참여 확대, 인스타·블로그 등 SNS 참여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1"/>
          </p:nvPr>
        </p:nvSpPr>
        <p:spPr>
          <a:xfrm>
            <a:off x="3211935" y="1857130"/>
            <a:ext cx="1547000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공공기관·지역·국민이 함께하는 안전문화 축제</a:t>
            </a:r>
          </a:p>
        </p:txBody>
      </p:sp>
      <p:cxnSp>
        <p:nvCxnSpPr>
          <p:cNvPr id="35" name="Connector 25"/>
          <p:cNvCxnSpPr/>
          <p:nvPr/>
        </p:nvCxnSpPr>
        <p:spPr>
          <a:xfrm>
            <a:off x="3200978" y="1890000"/>
            <a:ext cx="0" cy="81078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6" name="칸 본문"/>
          <p:cNvSpPr>
            <a:spLocks noGrp="1"/>
          </p:cNvSpPr>
          <p:nvPr>
            <p:ph type="body" sz="quarter" idx="32"/>
          </p:nvPr>
        </p:nvSpPr>
        <p:spPr>
          <a:xfrm>
            <a:off x="4780848" y="1857130"/>
            <a:ext cx="2017674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대내외 협력사: 안전 우수사례·제안 포상, 안전골든벨(내외부 7,855명)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지역사회: 유아·학생 등 국민 대상 교육, 기관 협업을 통한 문화 확산</a:t>
            </a:r>
          </a:p>
        </p:txBody>
      </p:sp>
      <p:cxnSp>
        <p:nvCxnSpPr>
          <p:cNvPr id="37" name="Connector 27"/>
          <p:cNvCxnSpPr/>
          <p:nvPr/>
        </p:nvCxnSpPr>
        <p:spPr>
          <a:xfrm>
            <a:off x="4769891" y="1890000"/>
            <a:ext cx="0" cy="81078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8" name="배너"/>
          <p:cNvSpPr/>
          <p:nvPr/>
        </p:nvSpPr>
        <p:spPr>
          <a:xfrm>
            <a:off x="1161391" y="2750087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9" name="배너"/>
          <p:cNvSpPr>
            <a:spLocks noGrp="1"/>
          </p:cNvSpPr>
          <p:nvPr>
            <p:ph type="body" sz="quarter" idx="33"/>
          </p:nvPr>
        </p:nvSpPr>
        <p:spPr>
          <a:xfrm>
            <a:off x="1161391" y="2750087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1만명 참여(오프라인 2천명, 온라인 8천명), 민-관 10개 기관 협업</a:t>
            </a:r>
          </a:p>
        </p:txBody>
      </p:sp>
      <p:sp>
        <p:nvSpPr>
          <p:cNvPr id="40" name="핵심성과 박스"/>
          <p:cNvSpPr/>
          <p:nvPr/>
        </p:nvSpPr>
        <p:spPr>
          <a:xfrm>
            <a:off x="536870" y="3078783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1" name="핵심성과 라벨"/>
          <p:cNvSpPr/>
          <p:nvPr/>
        </p:nvSpPr>
        <p:spPr>
          <a:xfrm>
            <a:off x="569739" y="3111652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2" name="핵심성과 라벨"/>
          <p:cNvSpPr>
            <a:spLocks noGrp="1"/>
          </p:cNvSpPr>
          <p:nvPr>
            <p:ph type="body" sz="quarter" idx="34"/>
          </p:nvPr>
        </p:nvSpPr>
        <p:spPr>
          <a:xfrm>
            <a:off x="569739" y="3111652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종합성과</a:t>
            </a:r>
          </a:p>
        </p:txBody>
      </p:sp>
      <p:sp>
        <p:nvSpPr>
          <p:cNvPr id="43" name="핵심성과 문구"/>
          <p:cNvSpPr>
            <a:spLocks noGrp="1"/>
          </p:cNvSpPr>
          <p:nvPr>
            <p:ph type="body" sz="quarter" idx="35"/>
          </p:nvPr>
        </p:nvSpPr>
        <p:spPr>
          <a:xfrm>
            <a:off x="1314783" y="3100696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K-water 안전문화·의식 수준 지속 개선(’23년 67.5점 → ’24년 77.6점 → ’25년 85.6점)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행정안전부 「안전문화 확산 유공」 최우수기관 선정으로 국무총리 표창 수상(’25년)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76 서사 · 재난대응체계(K-water 여건 → 환경분석 → 시사점 → 목표·과제 → 실행기반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국민안전 최우선 경영 기조 아래 빈틈없는 재난대응체계 구축</a:t>
            </a:r>
          </a:p>
        </p:txBody>
      </p:sp>
      <p:sp>
        <p:nvSpPr>
          <p:cNvPr id="14" name="표 외곽"/>
          <p:cNvSpPr/>
          <p:nvPr/>
        </p:nvSpPr>
        <p:spPr>
          <a:xfrm>
            <a:off x="723130" y="1128522"/>
            <a:ext cx="6300000" cy="117782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734087" y="1144957"/>
            <a:ext cx="580696" cy="68478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144957"/>
            <a:ext cx="580696" cy="684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K-water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여 건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3"/>
          </p:nvPr>
        </p:nvSpPr>
        <p:spPr>
          <a:xfrm>
            <a:off x="1358609" y="1166870"/>
            <a:ext cx="2802130" cy="657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사업·시설: 수자원 댐, 하굿둑, 보, 아라뱃길(76개) / 수도 광역·지방상수도, 산업용수(77개) / 도시조성 산업단지, 수변도시 등(6개) / 재생에너지 수력, 조력, 태양광 등(115개)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4"/>
          </p:nvPr>
        </p:nvSpPr>
        <p:spPr>
          <a:xfrm>
            <a:off x="4182652" y="1166870"/>
            <a:ext cx="2802130" cy="657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재난유형: 자연 재난 풍수해, 가뭄, 지진, 홍수, 조류 대발생(5개) / 사회 재난 댐 재난, 수도·먹는물 재난, 핵심기반 시설의 마비, 산불, 감염병 등(18개)</a:t>
            </a:r>
          </a:p>
        </p:txBody>
      </p:sp>
      <p:cxnSp>
        <p:nvCxnSpPr>
          <p:cNvPr id="19" name="Connector 12"/>
          <p:cNvCxnSpPr/>
          <p:nvPr/>
        </p:nvCxnSpPr>
        <p:spPr>
          <a:xfrm>
            <a:off x="4171696" y="1199739"/>
            <a:ext cx="0" cy="5916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0" name="레일"/>
          <p:cNvSpPr/>
          <p:nvPr/>
        </p:nvSpPr>
        <p:spPr>
          <a:xfrm>
            <a:off x="734087" y="1846174"/>
            <a:ext cx="580696" cy="443739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5"/>
          </p:nvPr>
        </p:nvSpPr>
        <p:spPr>
          <a:xfrm>
            <a:off x="734087" y="1846174"/>
            <a:ext cx="580696" cy="443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환경분석</a:t>
            </a:r>
          </a:p>
        </p:txBody>
      </p:sp>
      <p:sp>
        <p:nvSpPr>
          <p:cNvPr id="22" name="레일 삼각형"/>
          <p:cNvSpPr/>
          <p:nvPr/>
        </p:nvSpPr>
        <p:spPr>
          <a:xfrm>
            <a:off x="734086" y="1846173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3" name="태그"/>
          <p:cNvSpPr/>
          <p:nvPr/>
        </p:nvSpPr>
        <p:spPr>
          <a:xfrm>
            <a:off x="1347652" y="1890000"/>
            <a:ext cx="581509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4" name="태그"/>
          <p:cNvSpPr>
            <a:spLocks noGrp="1"/>
          </p:cNvSpPr>
          <p:nvPr>
            <p:ph type="body" sz="quarter" idx="26"/>
          </p:nvPr>
        </p:nvSpPr>
        <p:spPr>
          <a:xfrm>
            <a:off x="1347652" y="1890000"/>
            <a:ext cx="58150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기후위기</a:t>
            </a:r>
          </a:p>
        </p:txBody>
      </p:sp>
      <p:sp>
        <p:nvSpPr>
          <p:cNvPr id="25" name="태그 설명"/>
          <p:cNvSpPr>
            <a:spLocks noGrp="1"/>
          </p:cNvSpPr>
          <p:nvPr>
            <p:ph type="body" sz="quarter" idx="27"/>
          </p:nvPr>
        </p:nvSpPr>
        <p:spPr>
          <a:xfrm>
            <a:off x="1972988" y="1879043"/>
            <a:ext cx="502275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기후변화 심화로 기상 급변, 강도 증가 ➡ 재난의 복합·대형화 및 예측가능성↓</a:t>
            </a:r>
          </a:p>
        </p:txBody>
      </p:sp>
      <p:sp>
        <p:nvSpPr>
          <p:cNvPr id="26" name="태그"/>
          <p:cNvSpPr/>
          <p:nvPr/>
        </p:nvSpPr>
        <p:spPr>
          <a:xfrm>
            <a:off x="1347652" y="2087217"/>
            <a:ext cx="581509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7" name="태그"/>
          <p:cNvSpPr>
            <a:spLocks noGrp="1"/>
          </p:cNvSpPr>
          <p:nvPr>
            <p:ph type="body" sz="quarter" idx="28"/>
          </p:nvPr>
        </p:nvSpPr>
        <p:spPr>
          <a:xfrm>
            <a:off x="1347652" y="2087217"/>
            <a:ext cx="58150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사업특성</a:t>
            </a:r>
          </a:p>
        </p:txBody>
      </p:sp>
      <p:sp>
        <p:nvSpPr>
          <p:cNvPr id="28" name="태그 설명"/>
          <p:cNvSpPr>
            <a:spLocks noGrp="1"/>
          </p:cNvSpPr>
          <p:nvPr>
            <p:ph type="body" sz="quarter" idx="29"/>
          </p:nvPr>
        </p:nvSpPr>
        <p:spPr>
          <a:xfrm>
            <a:off x="1972988" y="2076261"/>
            <a:ext cx="502275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재난위험이 상이한 복합사업의 전국적 산재 ➡ 재난대응역량·인프라 분산</a:t>
            </a:r>
          </a:p>
        </p:txBody>
      </p:sp>
      <p:sp>
        <p:nvSpPr>
          <p:cNvPr id="29" name="캡션 띠"/>
          <p:cNvSpPr/>
          <p:nvPr/>
        </p:nvSpPr>
        <p:spPr>
          <a:xfrm>
            <a:off x="723130" y="2328260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0" name="태그"/>
          <p:cNvSpPr/>
          <p:nvPr/>
        </p:nvSpPr>
        <p:spPr>
          <a:xfrm>
            <a:off x="1051826" y="2372087"/>
            <a:ext cx="438871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1" name="태그"/>
          <p:cNvSpPr>
            <a:spLocks noGrp="1"/>
          </p:cNvSpPr>
          <p:nvPr>
            <p:ph type="body" sz="quarter" idx="30"/>
          </p:nvPr>
        </p:nvSpPr>
        <p:spPr>
          <a:xfrm>
            <a:off x="1051826" y="2372087"/>
            <a:ext cx="438871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32" name="캡션"/>
          <p:cNvSpPr>
            <a:spLocks noGrp="1"/>
          </p:cNvSpPr>
          <p:nvPr>
            <p:ph type="body" sz="quarter" idx="31"/>
          </p:nvPr>
        </p:nvSpPr>
        <p:spPr>
          <a:xfrm>
            <a:off x="1545480" y="2328261"/>
            <a:ext cx="5258520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대응체계 고도화 및 인프라의 효율적 활용으로 대응력 강화와 불확실성 극복 필요</a:t>
            </a:r>
          </a:p>
        </p:txBody>
      </p:sp>
      <p:sp>
        <p:nvSpPr>
          <p:cNvPr id="33" name="표 외곽"/>
          <p:cNvSpPr/>
          <p:nvPr/>
        </p:nvSpPr>
        <p:spPr>
          <a:xfrm>
            <a:off x="723130" y="2635043"/>
            <a:ext cx="6300000" cy="287201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4" name="레일"/>
          <p:cNvSpPr/>
          <p:nvPr/>
        </p:nvSpPr>
        <p:spPr>
          <a:xfrm>
            <a:off x="734087" y="2651478"/>
            <a:ext cx="580696" cy="2534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5" name="레일"/>
          <p:cNvSpPr>
            <a:spLocks noGrp="1"/>
          </p:cNvSpPr>
          <p:nvPr>
            <p:ph type="body" sz="quarter" idx="32"/>
          </p:nvPr>
        </p:nvSpPr>
        <p:spPr>
          <a:xfrm>
            <a:off x="734087" y="2651478"/>
            <a:ext cx="580696" cy="2534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추진목표</a:t>
            </a:r>
          </a:p>
        </p:txBody>
      </p:sp>
      <p:sp>
        <p:nvSpPr>
          <p:cNvPr id="36" name="배너"/>
          <p:cNvSpPr/>
          <p:nvPr/>
        </p:nvSpPr>
        <p:spPr>
          <a:xfrm>
            <a:off x="1347652" y="2673391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7" name="배너"/>
          <p:cNvSpPr>
            <a:spLocks noGrp="1"/>
          </p:cNvSpPr>
          <p:nvPr>
            <p:ph type="body" sz="quarter" idx="33"/>
          </p:nvPr>
        </p:nvSpPr>
        <p:spPr>
          <a:xfrm>
            <a:off x="1347652" y="2673391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모든 재난으로부터 국민의 생명과 재산을 보호하는 K-water 안전</a:t>
            </a:r>
          </a:p>
        </p:txBody>
      </p:sp>
      <p:sp>
        <p:nvSpPr>
          <p:cNvPr id="38" name="레일"/>
          <p:cNvSpPr/>
          <p:nvPr/>
        </p:nvSpPr>
        <p:spPr>
          <a:xfrm>
            <a:off x="734087" y="2921322"/>
            <a:ext cx="580696" cy="1320261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9" name="레일"/>
          <p:cNvSpPr>
            <a:spLocks noGrp="1"/>
          </p:cNvSpPr>
          <p:nvPr>
            <p:ph type="body" sz="quarter" idx="34"/>
          </p:nvPr>
        </p:nvSpPr>
        <p:spPr>
          <a:xfrm>
            <a:off x="734087" y="2921322"/>
            <a:ext cx="580696" cy="1320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 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 제</a:t>
            </a:r>
          </a:p>
        </p:txBody>
      </p:sp>
      <p:sp>
        <p:nvSpPr>
          <p:cNvPr id="40" name="레일 삼각형"/>
          <p:cNvSpPr/>
          <p:nvPr/>
        </p:nvSpPr>
        <p:spPr>
          <a:xfrm>
            <a:off x="734086" y="2921321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1" name="단계"/>
          <p:cNvSpPr/>
          <p:nvPr/>
        </p:nvSpPr>
        <p:spPr>
          <a:xfrm>
            <a:off x="1347652" y="2943235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2" name="단계"/>
          <p:cNvSpPr>
            <a:spLocks noGrp="1"/>
          </p:cNvSpPr>
          <p:nvPr>
            <p:ph type="body" sz="quarter" idx="35"/>
          </p:nvPr>
        </p:nvSpPr>
        <p:spPr>
          <a:xfrm>
            <a:off x="1347652" y="2943235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재난대응 역량 고도화</a:t>
            </a:r>
          </a:p>
        </p:txBody>
      </p:sp>
      <p:sp>
        <p:nvSpPr>
          <p:cNvPr id="43" name="단계"/>
          <p:cNvSpPr/>
          <p:nvPr/>
        </p:nvSpPr>
        <p:spPr>
          <a:xfrm>
            <a:off x="3230348" y="2943235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4" name="단계"/>
          <p:cNvSpPr>
            <a:spLocks noGrp="1"/>
          </p:cNvSpPr>
          <p:nvPr>
            <p:ph type="body" sz="quarter" idx="36"/>
          </p:nvPr>
        </p:nvSpPr>
        <p:spPr>
          <a:xfrm>
            <a:off x="3230348" y="2943235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선제적 예방체계 구축</a:t>
            </a:r>
          </a:p>
        </p:txBody>
      </p:sp>
      <p:sp>
        <p:nvSpPr>
          <p:cNvPr id="45" name="단계"/>
          <p:cNvSpPr/>
          <p:nvPr/>
        </p:nvSpPr>
        <p:spPr>
          <a:xfrm>
            <a:off x="5113043" y="2943235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6" name="단계"/>
          <p:cNvSpPr>
            <a:spLocks noGrp="1"/>
          </p:cNvSpPr>
          <p:nvPr>
            <p:ph type="body" sz="quarter" idx="37"/>
          </p:nvPr>
        </p:nvSpPr>
        <p:spPr>
          <a:xfrm>
            <a:off x="5113043" y="2943235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상시화된 위기 대응</a:t>
            </a:r>
          </a:p>
        </p:txBody>
      </p:sp>
      <p:sp>
        <p:nvSpPr>
          <p:cNvPr id="47" name="단계 삼각형"/>
          <p:cNvSpPr/>
          <p:nvPr/>
        </p:nvSpPr>
        <p:spPr>
          <a:xfrm>
            <a:off x="3230347" y="2943234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8" name="단계 삼각형"/>
          <p:cNvSpPr/>
          <p:nvPr/>
        </p:nvSpPr>
        <p:spPr>
          <a:xfrm>
            <a:off x="5113043" y="2943234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9" name="칸 본문"/>
          <p:cNvSpPr>
            <a:spLocks noGrp="1"/>
          </p:cNvSpPr>
          <p:nvPr>
            <p:ph type="body" sz="quarter" idx="38"/>
          </p:nvPr>
        </p:nvSpPr>
        <p:spPr>
          <a:xfrm>
            <a:off x="1358609" y="3195235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 조직·인력 지속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위기대응 매뉴얼 최적화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재난관리시스템 고도화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재난관리 인프라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위기대응 교육·훈련 내실화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39"/>
          </p:nvPr>
        </p:nvSpPr>
        <p:spPr>
          <a:xfrm>
            <a:off x="3241304" y="3195235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기후대응 첨단기술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AI활용 재난예측 정확도↑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스마트기술로 사각지대 해소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시설물 취약요인 중점 해소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시민참여 안전모니터링 강화</a:t>
            </a:r>
          </a:p>
        </p:txBody>
      </p:sp>
      <p:cxnSp>
        <p:nvCxnSpPr>
          <p:cNvPr id="51" name="Connector 34"/>
          <p:cNvCxnSpPr/>
          <p:nvPr/>
        </p:nvCxnSpPr>
        <p:spPr>
          <a:xfrm>
            <a:off x="3230348" y="3228104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2" name="칸 본문"/>
          <p:cNvSpPr>
            <a:spLocks noGrp="1"/>
          </p:cNvSpPr>
          <p:nvPr>
            <p:ph type="body" sz="quarter" idx="40"/>
          </p:nvPr>
        </p:nvSpPr>
        <p:spPr>
          <a:xfrm>
            <a:off x="5124000" y="3195235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 생명·안전 최우선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재해 맞춤 물이용 솔루션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비상대응 물적·인적 확충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피해국민 상생회복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관계기관 협업기반 구축</a:t>
            </a:r>
          </a:p>
        </p:txBody>
      </p:sp>
      <p:cxnSp>
        <p:nvCxnSpPr>
          <p:cNvPr id="53" name="Connector 36"/>
          <p:cNvCxnSpPr/>
          <p:nvPr/>
        </p:nvCxnSpPr>
        <p:spPr>
          <a:xfrm>
            <a:off x="5113043" y="3228104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4" name="레일"/>
          <p:cNvSpPr/>
          <p:nvPr/>
        </p:nvSpPr>
        <p:spPr>
          <a:xfrm>
            <a:off x="734087" y="4258017"/>
            <a:ext cx="580696" cy="1232609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5" name="레일"/>
          <p:cNvSpPr>
            <a:spLocks noGrp="1"/>
          </p:cNvSpPr>
          <p:nvPr>
            <p:ph type="body" sz="quarter" idx="41"/>
          </p:nvPr>
        </p:nvSpPr>
        <p:spPr>
          <a:xfrm>
            <a:off x="734087" y="4258017"/>
            <a:ext cx="580696" cy="1232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 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 반</a:t>
            </a:r>
          </a:p>
        </p:txBody>
      </p:sp>
      <p:sp>
        <p:nvSpPr>
          <p:cNvPr id="56" name="레일 삼각형"/>
          <p:cNvSpPr/>
          <p:nvPr/>
        </p:nvSpPr>
        <p:spPr>
          <a:xfrm>
            <a:off x="734086" y="4258017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7" name="태그"/>
          <p:cNvSpPr/>
          <p:nvPr/>
        </p:nvSpPr>
        <p:spPr>
          <a:xfrm>
            <a:off x="1347652" y="4301843"/>
            <a:ext cx="471741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8" name="태그"/>
          <p:cNvSpPr>
            <a:spLocks noGrp="1"/>
          </p:cNvSpPr>
          <p:nvPr>
            <p:ph type="body" sz="quarter" idx="42"/>
          </p:nvPr>
        </p:nvSpPr>
        <p:spPr>
          <a:xfrm>
            <a:off x="1347652" y="4301843"/>
            <a:ext cx="47174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규정</a:t>
            </a:r>
          </a:p>
        </p:txBody>
      </p:sp>
      <p:sp>
        <p:nvSpPr>
          <p:cNvPr id="59" name="태그 설명"/>
          <p:cNvSpPr>
            <a:spLocks noGrp="1"/>
          </p:cNvSpPr>
          <p:nvPr>
            <p:ph type="body" sz="quarter" idx="43"/>
          </p:nvPr>
        </p:nvSpPr>
        <p:spPr>
          <a:xfrm>
            <a:off x="1863219" y="4290887"/>
            <a:ext cx="5132520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리스크관리규정, 댐관리규정, 수도시설관리규정 등</a:t>
            </a:r>
          </a:p>
        </p:txBody>
      </p:sp>
      <p:sp>
        <p:nvSpPr>
          <p:cNvPr id="60" name="태그"/>
          <p:cNvSpPr/>
          <p:nvPr/>
        </p:nvSpPr>
        <p:spPr>
          <a:xfrm>
            <a:off x="1347652" y="4499061"/>
            <a:ext cx="471741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1" name="태그"/>
          <p:cNvSpPr>
            <a:spLocks noGrp="1"/>
          </p:cNvSpPr>
          <p:nvPr>
            <p:ph type="body" sz="quarter" idx="44"/>
          </p:nvPr>
        </p:nvSpPr>
        <p:spPr>
          <a:xfrm>
            <a:off x="1347652" y="4499061"/>
            <a:ext cx="47174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매뉴얼</a:t>
            </a:r>
          </a:p>
        </p:txBody>
      </p:sp>
      <p:sp>
        <p:nvSpPr>
          <p:cNvPr id="62" name="태그 설명"/>
          <p:cNvSpPr>
            <a:spLocks noGrp="1"/>
          </p:cNvSpPr>
          <p:nvPr>
            <p:ph type="body" sz="quarter" idx="45"/>
          </p:nvPr>
        </p:nvSpPr>
        <p:spPr>
          <a:xfrm>
            <a:off x="1863219" y="4488104"/>
            <a:ext cx="5132520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자연재난(5개 유형) + 사회재난(18개 유형)</a:t>
            </a:r>
          </a:p>
        </p:txBody>
      </p:sp>
      <p:sp>
        <p:nvSpPr>
          <p:cNvPr id="63" name="태그"/>
          <p:cNvSpPr/>
          <p:nvPr/>
        </p:nvSpPr>
        <p:spPr>
          <a:xfrm>
            <a:off x="1347652" y="4696278"/>
            <a:ext cx="471741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4" name="태그"/>
          <p:cNvSpPr>
            <a:spLocks noGrp="1"/>
          </p:cNvSpPr>
          <p:nvPr>
            <p:ph type="body" sz="quarter" idx="46"/>
          </p:nvPr>
        </p:nvSpPr>
        <p:spPr>
          <a:xfrm>
            <a:off x="1347652" y="4696278"/>
            <a:ext cx="47174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시스템</a:t>
            </a:r>
          </a:p>
        </p:txBody>
      </p:sp>
      <p:sp>
        <p:nvSpPr>
          <p:cNvPr id="65" name="태그 설명"/>
          <p:cNvSpPr>
            <a:spLocks noGrp="1"/>
          </p:cNvSpPr>
          <p:nvPr>
            <p:ph type="body" sz="quarter" idx="47"/>
          </p:nvPr>
        </p:nvSpPr>
        <p:spPr>
          <a:xfrm>
            <a:off x="1863219" y="4685322"/>
            <a:ext cx="5132520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전사적리스크관리시스템(KRM) 등</a:t>
            </a:r>
          </a:p>
        </p:txBody>
      </p:sp>
      <p:sp>
        <p:nvSpPr>
          <p:cNvPr id="66" name="태그"/>
          <p:cNvSpPr/>
          <p:nvPr/>
        </p:nvSpPr>
        <p:spPr>
          <a:xfrm>
            <a:off x="1347652" y="4893496"/>
            <a:ext cx="471741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7" name="태그"/>
          <p:cNvSpPr>
            <a:spLocks noGrp="1"/>
          </p:cNvSpPr>
          <p:nvPr>
            <p:ph type="body" sz="quarter" idx="48"/>
          </p:nvPr>
        </p:nvSpPr>
        <p:spPr>
          <a:xfrm>
            <a:off x="1347652" y="4893496"/>
            <a:ext cx="47174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훈련</a:t>
            </a:r>
          </a:p>
        </p:txBody>
      </p:sp>
      <p:sp>
        <p:nvSpPr>
          <p:cNvPr id="68" name="태그 설명"/>
          <p:cNvSpPr>
            <a:spLocks noGrp="1"/>
          </p:cNvSpPr>
          <p:nvPr>
            <p:ph type="body" sz="quarter" idx="49"/>
          </p:nvPr>
        </p:nvSpPr>
        <p:spPr>
          <a:xfrm>
            <a:off x="1863219" y="4882539"/>
            <a:ext cx="5132520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안전한국훈련, 전사모의훈련(반기), 지진훈련 등</a:t>
            </a:r>
          </a:p>
        </p:txBody>
      </p:sp>
      <p:sp>
        <p:nvSpPr>
          <p:cNvPr id="69" name="태그"/>
          <p:cNvSpPr/>
          <p:nvPr/>
        </p:nvSpPr>
        <p:spPr>
          <a:xfrm>
            <a:off x="1347652" y="5090713"/>
            <a:ext cx="471741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0" name="태그"/>
          <p:cNvSpPr>
            <a:spLocks noGrp="1"/>
          </p:cNvSpPr>
          <p:nvPr>
            <p:ph type="body" sz="quarter" idx="50"/>
          </p:nvPr>
        </p:nvSpPr>
        <p:spPr>
          <a:xfrm>
            <a:off x="1347652" y="5090713"/>
            <a:ext cx="47174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조직</a:t>
            </a:r>
          </a:p>
        </p:txBody>
      </p:sp>
      <p:sp>
        <p:nvSpPr>
          <p:cNvPr id="71" name="태그 설명"/>
          <p:cNvSpPr>
            <a:spLocks noGrp="1"/>
          </p:cNvSpPr>
          <p:nvPr>
            <p:ph type="body" sz="quarter" idx="51"/>
          </p:nvPr>
        </p:nvSpPr>
        <p:spPr>
          <a:xfrm>
            <a:off x="1863219" y="5079757"/>
            <a:ext cx="5132520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리스크관리위원회, 재난대응조직, 비상대책본부</a:t>
            </a:r>
          </a:p>
        </p:txBody>
      </p:sp>
      <p:sp>
        <p:nvSpPr>
          <p:cNvPr id="72" name="태그"/>
          <p:cNvSpPr/>
          <p:nvPr/>
        </p:nvSpPr>
        <p:spPr>
          <a:xfrm>
            <a:off x="1347652" y="5287930"/>
            <a:ext cx="471741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3" name="태그"/>
          <p:cNvSpPr>
            <a:spLocks noGrp="1"/>
          </p:cNvSpPr>
          <p:nvPr>
            <p:ph type="body" sz="quarter" idx="52"/>
          </p:nvPr>
        </p:nvSpPr>
        <p:spPr>
          <a:xfrm>
            <a:off x="1347652" y="5287930"/>
            <a:ext cx="47174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예산</a:t>
            </a:r>
          </a:p>
        </p:txBody>
      </p:sp>
      <p:sp>
        <p:nvSpPr>
          <p:cNvPr id="74" name="태그 설명"/>
          <p:cNvSpPr>
            <a:spLocks noGrp="1"/>
          </p:cNvSpPr>
          <p:nvPr>
            <p:ph type="body" sz="quarter" idx="53"/>
          </p:nvPr>
        </p:nvSpPr>
        <p:spPr>
          <a:xfrm>
            <a:off x="1863219" y="5276974"/>
            <a:ext cx="5132520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3,503억원 → ’25년 3,625억원(재해예방 SOC 구축)</a:t>
            </a:r>
          </a:p>
        </p:txBody>
      </p:sp>
      <p:sp>
        <p:nvSpPr>
          <p:cNvPr id="75" name="핵심성과 박스"/>
          <p:cNvSpPr/>
          <p:nvPr/>
        </p:nvSpPr>
        <p:spPr>
          <a:xfrm>
            <a:off x="723130" y="5594713"/>
            <a:ext cx="6300000" cy="950087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6" name="핵심성과 라벨"/>
          <p:cNvSpPr/>
          <p:nvPr/>
        </p:nvSpPr>
        <p:spPr>
          <a:xfrm>
            <a:off x="756000" y="5627583"/>
            <a:ext cx="657391" cy="884348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77" name="핵심성과 라벨"/>
          <p:cNvSpPr>
            <a:spLocks noGrp="1"/>
          </p:cNvSpPr>
          <p:nvPr>
            <p:ph type="body" sz="quarter" idx="54"/>
          </p:nvPr>
        </p:nvSpPr>
        <p:spPr>
          <a:xfrm>
            <a:off x="756000" y="5627583"/>
            <a:ext cx="657391" cy="88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78" name="핵심성과 문구"/>
          <p:cNvSpPr>
            <a:spLocks noGrp="1"/>
          </p:cNvSpPr>
          <p:nvPr>
            <p:ph type="body" sz="quarter" idx="55"/>
          </p:nvPr>
        </p:nvSpPr>
        <p:spPr>
          <a:xfrm>
            <a:off x="1501043" y="5616626"/>
            <a:ext cx="5456348" cy="906261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❶ 재난대응 안전한국훈련 ‘우수기관(최고점수)’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❷ 국가핵심기반 재난관리평가 ‘우수’(국무총리상)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❸ 경남지역 역대 최대 강우에도 ‘홍수피해 Zero’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❹ 중앙단위 긴급구조지원 ‘최우수기관’ 선정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77 서사 · 여건 → 매뉴얼 최적화 → 시스템 고도화 → 인프라 강화 → 교육훈련 내실화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신속·정확한 재난 대응을 위한 인프라 및 훈련 강화</a:t>
            </a:r>
          </a:p>
        </p:txBody>
      </p:sp>
      <p:sp>
        <p:nvSpPr>
          <p:cNvPr id="15" name="번호 띠 칩"/>
          <p:cNvSpPr/>
          <p:nvPr/>
        </p:nvSpPr>
        <p:spPr>
          <a:xfrm>
            <a:off x="6241922" y="832696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번호 띠 칩"/>
          <p:cNvSpPr>
            <a:spLocks noGrp="1"/>
          </p:cNvSpPr>
          <p:nvPr>
            <p:ph type="body" sz="quarter" idx="22"/>
          </p:nvPr>
        </p:nvSpPr>
        <p:spPr>
          <a:xfrm>
            <a:off x="6241922" y="832696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7" name="표 외곽"/>
          <p:cNvSpPr/>
          <p:nvPr/>
        </p:nvSpPr>
        <p:spPr>
          <a:xfrm>
            <a:off x="536870" y="1117565"/>
            <a:ext cx="6300000" cy="702313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레일"/>
          <p:cNvSpPr/>
          <p:nvPr/>
        </p:nvSpPr>
        <p:spPr>
          <a:xfrm>
            <a:off x="547826" y="1134000"/>
            <a:ext cx="580696" cy="542348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레일"/>
          <p:cNvSpPr>
            <a:spLocks noGrp="1"/>
          </p:cNvSpPr>
          <p:nvPr>
            <p:ph type="body" sz="quarter" idx="23"/>
          </p:nvPr>
        </p:nvSpPr>
        <p:spPr>
          <a:xfrm>
            <a:off x="547826" y="1134000"/>
            <a:ext cx="580696" cy="542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여 건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4"/>
          </p:nvPr>
        </p:nvSpPr>
        <p:spPr>
          <a:xfrm>
            <a:off x="1172348" y="1155913"/>
            <a:ext cx="2802130" cy="514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 재난 복합·대형화, 자연재난 빈도↑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5"/>
          </p:nvPr>
        </p:nvSpPr>
        <p:spPr>
          <a:xfrm>
            <a:off x="3996391" y="1155913"/>
            <a:ext cx="2802130" cy="514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 사업분야 다양, 시설물 전국 산재·지중화</a:t>
            </a:r>
          </a:p>
        </p:txBody>
      </p:sp>
      <p:cxnSp>
        <p:nvCxnSpPr>
          <p:cNvPr id="22" name="Connector 16"/>
          <p:cNvCxnSpPr/>
          <p:nvPr/>
        </p:nvCxnSpPr>
        <p:spPr>
          <a:xfrm>
            <a:off x="3985435" y="1188783"/>
            <a:ext cx="0" cy="44921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3" name="레일"/>
          <p:cNvSpPr/>
          <p:nvPr/>
        </p:nvSpPr>
        <p:spPr>
          <a:xfrm>
            <a:off x="547826" y="1692783"/>
            <a:ext cx="580696" cy="107921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4" name="레일"/>
          <p:cNvSpPr>
            <a:spLocks noGrp="1"/>
          </p:cNvSpPr>
          <p:nvPr>
            <p:ph type="body" sz="quarter" idx="26"/>
          </p:nvPr>
        </p:nvSpPr>
        <p:spPr>
          <a:xfrm>
            <a:off x="547826" y="1692783"/>
            <a:ext cx="580696" cy="107921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매뉴얼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최적화</a:t>
            </a:r>
          </a:p>
        </p:txBody>
      </p:sp>
      <p:sp>
        <p:nvSpPr>
          <p:cNvPr id="25" name="레일 삼각형"/>
          <p:cNvSpPr/>
          <p:nvPr/>
        </p:nvSpPr>
        <p:spPr>
          <a:xfrm>
            <a:off x="547826" y="1692782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6" name="단계"/>
          <p:cNvSpPr/>
          <p:nvPr/>
        </p:nvSpPr>
        <p:spPr>
          <a:xfrm>
            <a:off x="1161391" y="1714696"/>
            <a:ext cx="282404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7" name="단계"/>
          <p:cNvSpPr>
            <a:spLocks noGrp="1"/>
          </p:cNvSpPr>
          <p:nvPr>
            <p:ph type="body" sz="quarter" idx="27"/>
          </p:nvPr>
        </p:nvSpPr>
        <p:spPr>
          <a:xfrm>
            <a:off x="1161391" y="1714696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</a:t>
            </a:r>
          </a:p>
        </p:txBody>
      </p:sp>
      <p:sp>
        <p:nvSpPr>
          <p:cNvPr id="28" name="단계"/>
          <p:cNvSpPr/>
          <p:nvPr/>
        </p:nvSpPr>
        <p:spPr>
          <a:xfrm>
            <a:off x="3985435" y="1714696"/>
            <a:ext cx="2824043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9" name="단계"/>
          <p:cNvSpPr>
            <a:spLocks noGrp="1"/>
          </p:cNvSpPr>
          <p:nvPr>
            <p:ph type="body" sz="quarter" idx="28"/>
          </p:nvPr>
        </p:nvSpPr>
        <p:spPr>
          <a:xfrm>
            <a:off x="3985435" y="1714696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</a:t>
            </a:r>
          </a:p>
        </p:txBody>
      </p:sp>
      <p:sp>
        <p:nvSpPr>
          <p:cNvPr id="30" name="단계 삼각형"/>
          <p:cNvSpPr/>
          <p:nvPr/>
        </p:nvSpPr>
        <p:spPr>
          <a:xfrm>
            <a:off x="3985434" y="1714695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1" name="칸 본문"/>
          <p:cNvSpPr>
            <a:spLocks noGrp="1"/>
          </p:cNvSpPr>
          <p:nvPr>
            <p:ph type="body" sz="quarter" idx="29"/>
          </p:nvPr>
        </p:nvSpPr>
        <p:spPr>
          <a:xfrm>
            <a:off x="1172348" y="1966696"/>
            <a:ext cx="2802130" cy="799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체계 단독 부문장 안전총괄 대응체계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산불 산불대응 대책 및 대응매뉴얼 부재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보완 사고 초동보고 체계 불명확(시간, 대상)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0"/>
          </p:nvPr>
        </p:nvSpPr>
        <p:spPr>
          <a:xfrm>
            <a:off x="3996391" y="1966696"/>
            <a:ext cx="2802130" cy="799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전부문장(5인) 안전책임관리체계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산불대응 TF 운영 및 매뉴얼 신규 제정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초동대응 세부 보고절차 매뉴얼화</a:t>
            </a:r>
          </a:p>
        </p:txBody>
      </p:sp>
      <p:cxnSp>
        <p:nvCxnSpPr>
          <p:cNvPr id="33" name="Connector 24"/>
          <p:cNvCxnSpPr/>
          <p:nvPr/>
        </p:nvCxnSpPr>
        <p:spPr>
          <a:xfrm>
            <a:off x="3985435" y="1999565"/>
            <a:ext cx="0" cy="734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4" name="레일"/>
          <p:cNvSpPr/>
          <p:nvPr/>
        </p:nvSpPr>
        <p:spPr>
          <a:xfrm>
            <a:off x="547826" y="2788435"/>
            <a:ext cx="580696" cy="1303826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5" name="레일"/>
          <p:cNvSpPr>
            <a:spLocks noGrp="1"/>
          </p:cNvSpPr>
          <p:nvPr>
            <p:ph type="body" sz="quarter" idx="31"/>
          </p:nvPr>
        </p:nvSpPr>
        <p:spPr>
          <a:xfrm>
            <a:off x="547826" y="2788435"/>
            <a:ext cx="580696" cy="1303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시스템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고도화</a:t>
            </a:r>
          </a:p>
        </p:txBody>
      </p:sp>
      <p:sp>
        <p:nvSpPr>
          <p:cNvPr id="36" name="배너"/>
          <p:cNvSpPr/>
          <p:nvPr/>
        </p:nvSpPr>
        <p:spPr>
          <a:xfrm>
            <a:off x="1161391" y="2810348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7" name="배너"/>
          <p:cNvSpPr>
            <a:spLocks noGrp="1"/>
          </p:cNvSpPr>
          <p:nvPr>
            <p:ph type="body" sz="quarter" idx="32"/>
          </p:nvPr>
        </p:nvSpPr>
        <p:spPr>
          <a:xfrm>
            <a:off x="1161391" y="2810348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재난대응의 생명은 신속·정확! 시스템 고도화를 통한 위기대응 능력 제고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3"/>
          </p:nvPr>
        </p:nvSpPr>
        <p:spPr>
          <a:xfrm>
            <a:off x="1172348" y="3045913"/>
            <a:ext cx="1743114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사업특성을 반영한 고유의 통합위기대응체계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예방·대비·대응·복구 대처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언제, 어디서든 재난대응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전직원/실시간 상황전파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4"/>
          </p:nvPr>
        </p:nvSpPr>
        <p:spPr>
          <a:xfrm>
            <a:off x="2937375" y="3045913"/>
            <a:ext cx="3861147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사고시 최적 골든타임 확보: 정확 사고 위치정보 연동 + 통합 재난정보DB 연계 (GIS 기반 사고위치 관리, 기상·재해·CCTV데이터)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재난시 신속한 정보 전파: 신속 실시간 위기관리 강화 + 전파 모바일 위기등록·대응 (SMS → 카카오톡 기반 전파, 원클릭 모바일 전파체계)</a:t>
            </a:r>
          </a:p>
        </p:txBody>
      </p:sp>
      <p:cxnSp>
        <p:nvCxnSpPr>
          <p:cNvPr id="40" name="Connector 29"/>
          <p:cNvCxnSpPr/>
          <p:nvPr/>
        </p:nvCxnSpPr>
        <p:spPr>
          <a:xfrm>
            <a:off x="2926418" y="3078783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1" name="레일"/>
          <p:cNvSpPr/>
          <p:nvPr/>
        </p:nvSpPr>
        <p:spPr>
          <a:xfrm>
            <a:off x="547826" y="4108696"/>
            <a:ext cx="580696" cy="107921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2" name="레일"/>
          <p:cNvSpPr>
            <a:spLocks noGrp="1"/>
          </p:cNvSpPr>
          <p:nvPr>
            <p:ph type="body" sz="quarter" idx="35"/>
          </p:nvPr>
        </p:nvSpPr>
        <p:spPr>
          <a:xfrm>
            <a:off x="547826" y="4108696"/>
            <a:ext cx="580696" cy="107921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인프라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화</a:t>
            </a:r>
          </a:p>
        </p:txBody>
      </p:sp>
      <p:sp>
        <p:nvSpPr>
          <p:cNvPr id="43" name="레일 삼각형"/>
          <p:cNvSpPr/>
          <p:nvPr/>
        </p:nvSpPr>
        <p:spPr>
          <a:xfrm>
            <a:off x="547826" y="4108695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4" name="단계"/>
          <p:cNvSpPr/>
          <p:nvPr/>
        </p:nvSpPr>
        <p:spPr>
          <a:xfrm>
            <a:off x="1161391" y="4130609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5" name="단계"/>
          <p:cNvSpPr>
            <a:spLocks noGrp="1"/>
          </p:cNvSpPr>
          <p:nvPr>
            <p:ph type="body" sz="quarter" idx="36"/>
          </p:nvPr>
        </p:nvSpPr>
        <p:spPr>
          <a:xfrm>
            <a:off x="1161391" y="413060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상황관리 강화</a:t>
            </a:r>
          </a:p>
        </p:txBody>
      </p:sp>
      <p:sp>
        <p:nvSpPr>
          <p:cNvPr id="46" name="단계"/>
          <p:cNvSpPr/>
          <p:nvPr/>
        </p:nvSpPr>
        <p:spPr>
          <a:xfrm>
            <a:off x="3044087" y="4130609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7" name="단계"/>
          <p:cNvSpPr>
            <a:spLocks noGrp="1"/>
          </p:cNvSpPr>
          <p:nvPr>
            <p:ph type="body" sz="quarter" idx="37"/>
          </p:nvPr>
        </p:nvSpPr>
        <p:spPr>
          <a:xfrm>
            <a:off x="3044087" y="413060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복구자원 확충</a:t>
            </a:r>
          </a:p>
        </p:txBody>
      </p:sp>
      <p:sp>
        <p:nvSpPr>
          <p:cNvPr id="48" name="단계"/>
          <p:cNvSpPr/>
          <p:nvPr/>
        </p:nvSpPr>
        <p:spPr>
          <a:xfrm>
            <a:off x="4926783" y="4130609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9" name="단계"/>
          <p:cNvSpPr>
            <a:spLocks noGrp="1"/>
          </p:cNvSpPr>
          <p:nvPr>
            <p:ph type="body" sz="quarter" idx="38"/>
          </p:nvPr>
        </p:nvSpPr>
        <p:spPr>
          <a:xfrm>
            <a:off x="4926783" y="413060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재난주민 지원</a:t>
            </a:r>
          </a:p>
        </p:txBody>
      </p:sp>
      <p:sp>
        <p:nvSpPr>
          <p:cNvPr id="50" name="단계 삼각형"/>
          <p:cNvSpPr/>
          <p:nvPr/>
        </p:nvSpPr>
        <p:spPr>
          <a:xfrm>
            <a:off x="3044086" y="4130608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1" name="단계 삼각형"/>
          <p:cNvSpPr/>
          <p:nvPr/>
        </p:nvSpPr>
        <p:spPr>
          <a:xfrm>
            <a:off x="4926782" y="4130608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2" name="칸 본문"/>
          <p:cNvSpPr>
            <a:spLocks noGrp="1"/>
          </p:cNvSpPr>
          <p:nvPr>
            <p:ph type="body" sz="quarter" idx="39"/>
          </p:nvPr>
        </p:nvSpPr>
        <p:spPr>
          <a:xfrm>
            <a:off x="1172348" y="4382609"/>
            <a:ext cx="1860783" cy="799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재난통신망(PS-LTE) 확충(21 → 109대, 88대↑)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재난상황관리 차량 도입</a:t>
            </a:r>
          </a:p>
        </p:txBody>
      </p:sp>
      <p:sp>
        <p:nvSpPr>
          <p:cNvPr id="53" name="칸 본문"/>
          <p:cNvSpPr>
            <a:spLocks noGrp="1"/>
          </p:cNvSpPr>
          <p:nvPr>
            <p:ph type="body" sz="quarter" idx="40"/>
          </p:nvPr>
        </p:nvSpPr>
        <p:spPr>
          <a:xfrm>
            <a:off x="3055043" y="4382609"/>
            <a:ext cx="1860783" cy="799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스마트예비자재창고 확대(2 → 4개소)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활성탄 비축창고(2개소, 최초)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이동식발전기 확대(8 → 12대)</a:t>
            </a:r>
          </a:p>
        </p:txBody>
      </p:sp>
      <p:cxnSp>
        <p:nvCxnSpPr>
          <p:cNvPr id="54" name="Connector 39"/>
          <p:cNvCxnSpPr/>
          <p:nvPr/>
        </p:nvCxnSpPr>
        <p:spPr>
          <a:xfrm>
            <a:off x="3044087" y="4415478"/>
            <a:ext cx="0" cy="734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5" name="칸 본문"/>
          <p:cNvSpPr>
            <a:spLocks noGrp="1"/>
          </p:cNvSpPr>
          <p:nvPr>
            <p:ph type="body" sz="quarter" idx="41"/>
          </p:nvPr>
        </p:nvSpPr>
        <p:spPr>
          <a:xfrm>
            <a:off x="4937739" y="4382609"/>
            <a:ext cx="1860783" cy="799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이동식 세탁차 확대(3 → 4대)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모듈형 정수설비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주민지원 의료버스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이동형 음수대 운영(9대)</a:t>
            </a:r>
          </a:p>
        </p:txBody>
      </p:sp>
      <p:cxnSp>
        <p:nvCxnSpPr>
          <p:cNvPr id="56" name="Connector 41"/>
          <p:cNvCxnSpPr/>
          <p:nvPr/>
        </p:nvCxnSpPr>
        <p:spPr>
          <a:xfrm>
            <a:off x="4926783" y="4415478"/>
            <a:ext cx="0" cy="734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7" name="레일"/>
          <p:cNvSpPr/>
          <p:nvPr/>
        </p:nvSpPr>
        <p:spPr>
          <a:xfrm>
            <a:off x="547826" y="5204348"/>
            <a:ext cx="580696" cy="291991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8" name="레일"/>
          <p:cNvSpPr>
            <a:spLocks noGrp="1"/>
          </p:cNvSpPr>
          <p:nvPr>
            <p:ph type="body" sz="quarter" idx="42"/>
          </p:nvPr>
        </p:nvSpPr>
        <p:spPr>
          <a:xfrm>
            <a:off x="547826" y="5204348"/>
            <a:ext cx="580696" cy="29199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교육훈련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내 실 화</a:t>
            </a:r>
          </a:p>
        </p:txBody>
      </p:sp>
      <p:sp>
        <p:nvSpPr>
          <p:cNvPr id="59" name="단계"/>
          <p:cNvSpPr/>
          <p:nvPr/>
        </p:nvSpPr>
        <p:spPr>
          <a:xfrm>
            <a:off x="1161391" y="5226261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0" name="단계"/>
          <p:cNvSpPr>
            <a:spLocks noGrp="1"/>
          </p:cNvSpPr>
          <p:nvPr>
            <p:ph type="body" sz="quarter" idx="43"/>
          </p:nvPr>
        </p:nvSpPr>
        <p:spPr>
          <a:xfrm>
            <a:off x="1161391" y="5226261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복합·신규 재난 훈련↑</a:t>
            </a:r>
          </a:p>
        </p:txBody>
      </p:sp>
      <p:sp>
        <p:nvSpPr>
          <p:cNvPr id="61" name="단계"/>
          <p:cNvSpPr/>
          <p:nvPr/>
        </p:nvSpPr>
        <p:spPr>
          <a:xfrm>
            <a:off x="3044087" y="5226261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2" name="단계"/>
          <p:cNvSpPr>
            <a:spLocks noGrp="1"/>
          </p:cNvSpPr>
          <p:nvPr>
            <p:ph type="body" sz="quarter" idx="44"/>
          </p:nvPr>
        </p:nvSpPr>
        <p:spPr>
          <a:xfrm>
            <a:off x="3044087" y="5226261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실전 대응력 제고</a:t>
            </a:r>
          </a:p>
        </p:txBody>
      </p:sp>
      <p:sp>
        <p:nvSpPr>
          <p:cNvPr id="63" name="단계"/>
          <p:cNvSpPr/>
          <p:nvPr/>
        </p:nvSpPr>
        <p:spPr>
          <a:xfrm>
            <a:off x="4926783" y="5226261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4" name="단계"/>
          <p:cNvSpPr>
            <a:spLocks noGrp="1"/>
          </p:cNvSpPr>
          <p:nvPr>
            <p:ph type="body" sz="quarter" idx="45"/>
          </p:nvPr>
        </p:nvSpPr>
        <p:spPr>
          <a:xfrm>
            <a:off x="4926783" y="5226261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훈련결과 환류 강화</a:t>
            </a:r>
          </a:p>
        </p:txBody>
      </p:sp>
      <p:sp>
        <p:nvSpPr>
          <p:cNvPr id="65" name="단계 삼각형"/>
          <p:cNvSpPr/>
          <p:nvPr/>
        </p:nvSpPr>
        <p:spPr>
          <a:xfrm>
            <a:off x="3044086" y="5226260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6" name="단계 삼각형"/>
          <p:cNvSpPr/>
          <p:nvPr/>
        </p:nvSpPr>
        <p:spPr>
          <a:xfrm>
            <a:off x="4926782" y="5226260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7" name="칸 본문"/>
          <p:cNvSpPr>
            <a:spLocks noGrp="1"/>
          </p:cNvSpPr>
          <p:nvPr>
            <p:ph type="body" sz="quarter" idx="46"/>
          </p:nvPr>
        </p:nvSpPr>
        <p:spPr>
          <a:xfrm>
            <a:off x="1172348" y="5478261"/>
            <a:ext cx="1860783" cy="9860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유사재난 훈련 반복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연쇄·복합재난훈련(지진 → 붕괴+화재+댐사고)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산불 대응 훈련 실시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사이버 공격 대응 훈련</a:t>
            </a:r>
          </a:p>
        </p:txBody>
      </p:sp>
      <p:sp>
        <p:nvSpPr>
          <p:cNvPr id="68" name="칸 본문"/>
          <p:cNvSpPr>
            <a:spLocks noGrp="1"/>
          </p:cNvSpPr>
          <p:nvPr>
            <p:ph type="body" sz="quarter" idx="47"/>
          </p:nvPr>
        </p:nvSpPr>
        <p:spPr>
          <a:xfrm>
            <a:off x="3055043" y="5478261"/>
            <a:ext cx="1860783" cy="9860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자체훈련·담당자 중심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유관기관 합동 종합훈련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재난통신망 활용 전파훈련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지진훈련 대상자 확대</a:t>
            </a:r>
          </a:p>
        </p:txBody>
      </p:sp>
      <p:cxnSp>
        <p:nvCxnSpPr>
          <p:cNvPr id="69" name="Connector 50"/>
          <p:cNvCxnSpPr/>
          <p:nvPr/>
        </p:nvCxnSpPr>
        <p:spPr>
          <a:xfrm>
            <a:off x="3044087" y="5511130"/>
            <a:ext cx="0" cy="92034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0" name="칸 본문"/>
          <p:cNvSpPr>
            <a:spLocks noGrp="1"/>
          </p:cNvSpPr>
          <p:nvPr>
            <p:ph type="body" sz="quarter" idx="48"/>
          </p:nvPr>
        </p:nvSpPr>
        <p:spPr>
          <a:xfrm>
            <a:off x="4937739" y="5478261"/>
            <a:ext cx="1860783" cy="9860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과거 훈련체계 답습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정부·유관기관 전파사항 관리토록 KRM 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모바일 기반 훈련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우수 시나리오 전파·확산</a:t>
            </a:r>
          </a:p>
        </p:txBody>
      </p:sp>
      <p:cxnSp>
        <p:nvCxnSpPr>
          <p:cNvPr id="71" name="Connector 52"/>
          <p:cNvCxnSpPr/>
          <p:nvPr/>
        </p:nvCxnSpPr>
        <p:spPr>
          <a:xfrm>
            <a:off x="4926783" y="5511130"/>
            <a:ext cx="0" cy="92034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2" name="칸 본문"/>
          <p:cNvSpPr>
            <a:spLocks noGrp="1"/>
          </p:cNvSpPr>
          <p:nvPr>
            <p:ph type="body" sz="quarter" idx="49"/>
          </p:nvPr>
        </p:nvSpPr>
        <p:spPr>
          <a:xfrm>
            <a:off x="1172348" y="6480783"/>
            <a:ext cx="1743114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업무담당자 중심 교육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매뉴얼 담당자 중심 교육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KRM 중심 교육 시행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PS-LTE 활용교육 부재</a:t>
            </a:r>
          </a:p>
        </p:txBody>
      </p:sp>
      <p:sp>
        <p:nvSpPr>
          <p:cNvPr id="73" name="칸 본문"/>
          <p:cNvSpPr>
            <a:spLocks noGrp="1"/>
          </p:cNvSpPr>
          <p:nvPr>
            <p:ph type="body" sz="quarter" idx="50"/>
          </p:nvPr>
        </p:nvSpPr>
        <p:spPr>
          <a:xfrm>
            <a:off x="2937375" y="6480783"/>
            <a:ext cx="3861147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역량 강화를 위한 교육 체계 마련·확대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전직원 매뉴얼 활용 교육 확대·강화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KRM+국가재난시스템 활용 교육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전부서 대상 PS-LTE 교육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전사 훈련 강화: 505회 → 525회(4% 증가)</a:t>
            </a:r>
          </a:p>
        </p:txBody>
      </p:sp>
      <p:cxnSp>
        <p:nvCxnSpPr>
          <p:cNvPr id="74" name="Connector 55"/>
          <p:cNvCxnSpPr/>
          <p:nvPr/>
        </p:nvCxnSpPr>
        <p:spPr>
          <a:xfrm>
            <a:off x="2926418" y="6513652"/>
            <a:ext cx="0" cy="81078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5" name="단계"/>
          <p:cNvSpPr/>
          <p:nvPr/>
        </p:nvSpPr>
        <p:spPr>
          <a:xfrm>
            <a:off x="1161391" y="7373739"/>
            <a:ext cx="141202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6" name="단계"/>
          <p:cNvSpPr>
            <a:spLocks noGrp="1"/>
          </p:cNvSpPr>
          <p:nvPr>
            <p:ph type="body" sz="quarter" idx="51"/>
          </p:nvPr>
        </p:nvSpPr>
        <p:spPr>
          <a:xfrm>
            <a:off x="1161391" y="7373739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복합재난 가정</a:t>
            </a:r>
          </a:p>
        </p:txBody>
      </p:sp>
      <p:sp>
        <p:nvSpPr>
          <p:cNvPr id="77" name="단계"/>
          <p:cNvSpPr/>
          <p:nvPr/>
        </p:nvSpPr>
        <p:spPr>
          <a:xfrm>
            <a:off x="2573413" y="7373739"/>
            <a:ext cx="1412022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8" name="단계"/>
          <p:cNvSpPr>
            <a:spLocks noGrp="1"/>
          </p:cNvSpPr>
          <p:nvPr>
            <p:ph type="body" sz="quarter" idx="52"/>
          </p:nvPr>
        </p:nvSpPr>
        <p:spPr>
          <a:xfrm>
            <a:off x="2573413" y="7373739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참여기관 확대</a:t>
            </a:r>
          </a:p>
        </p:txBody>
      </p:sp>
      <p:sp>
        <p:nvSpPr>
          <p:cNvPr id="79" name="단계"/>
          <p:cNvSpPr/>
          <p:nvPr/>
        </p:nvSpPr>
        <p:spPr>
          <a:xfrm>
            <a:off x="3985435" y="7373739"/>
            <a:ext cx="1412022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80" name="단계"/>
          <p:cNvSpPr>
            <a:spLocks noGrp="1"/>
          </p:cNvSpPr>
          <p:nvPr>
            <p:ph type="body" sz="quarter" idx="53"/>
          </p:nvPr>
        </p:nvSpPr>
        <p:spPr>
          <a:xfrm>
            <a:off x="3985435" y="7373739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스마트기술로 댐 시설물 점검</a:t>
            </a:r>
          </a:p>
        </p:txBody>
      </p:sp>
      <p:sp>
        <p:nvSpPr>
          <p:cNvPr id="81" name="단계"/>
          <p:cNvSpPr/>
          <p:nvPr/>
        </p:nvSpPr>
        <p:spPr>
          <a:xfrm>
            <a:off x="5397457" y="7373739"/>
            <a:ext cx="1412022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82" name="단계"/>
          <p:cNvSpPr>
            <a:spLocks noGrp="1"/>
          </p:cNvSpPr>
          <p:nvPr>
            <p:ph type="body" sz="quarter" idx="54"/>
          </p:nvPr>
        </p:nvSpPr>
        <p:spPr>
          <a:xfrm>
            <a:off x="5397457" y="7373739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안전한국훈련 공공기관 최고점수 획득</a:t>
            </a:r>
          </a:p>
        </p:txBody>
      </p:sp>
      <p:sp>
        <p:nvSpPr>
          <p:cNvPr id="83" name="단계 삼각형"/>
          <p:cNvSpPr/>
          <p:nvPr/>
        </p:nvSpPr>
        <p:spPr>
          <a:xfrm>
            <a:off x="2573413" y="7373739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84" name="단계 삼각형"/>
          <p:cNvSpPr/>
          <p:nvPr/>
        </p:nvSpPr>
        <p:spPr>
          <a:xfrm>
            <a:off x="3985434" y="7373739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85" name="단계 삼각형"/>
          <p:cNvSpPr/>
          <p:nvPr/>
        </p:nvSpPr>
        <p:spPr>
          <a:xfrm>
            <a:off x="5397456" y="7373739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86" name="칸 본문"/>
          <p:cNvSpPr txBox="1"/>
          <p:nvPr/>
        </p:nvSpPr>
        <p:spPr>
          <a:xfrm>
            <a:off x="1172348" y="7625739"/>
            <a:ext cx="1390109" cy="49304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sp>
        <p:nvSpPr>
          <p:cNvPr id="87" name="칸 본문"/>
          <p:cNvSpPr txBox="1"/>
          <p:nvPr/>
        </p:nvSpPr>
        <p:spPr>
          <a:xfrm>
            <a:off x="2584370" y="7625739"/>
            <a:ext cx="1390109" cy="49304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88" name="Connector 65"/>
          <p:cNvCxnSpPr/>
          <p:nvPr/>
        </p:nvCxnSpPr>
        <p:spPr>
          <a:xfrm>
            <a:off x="2573413" y="7658609"/>
            <a:ext cx="0" cy="42730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9" name="칸 본문"/>
          <p:cNvSpPr txBox="1"/>
          <p:nvPr/>
        </p:nvSpPr>
        <p:spPr>
          <a:xfrm>
            <a:off x="3996391" y="7625739"/>
            <a:ext cx="1390109" cy="49304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90" name="Connector 67"/>
          <p:cNvCxnSpPr/>
          <p:nvPr/>
        </p:nvCxnSpPr>
        <p:spPr>
          <a:xfrm>
            <a:off x="3985435" y="7658609"/>
            <a:ext cx="0" cy="42730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91" name="칸 본문"/>
          <p:cNvSpPr txBox="1"/>
          <p:nvPr/>
        </p:nvSpPr>
        <p:spPr>
          <a:xfrm>
            <a:off x="5408413" y="7625739"/>
            <a:ext cx="1390109" cy="49304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92" name="Connector 69"/>
          <p:cNvCxnSpPr/>
          <p:nvPr/>
        </p:nvCxnSpPr>
        <p:spPr>
          <a:xfrm>
            <a:off x="5397457" y="7658609"/>
            <a:ext cx="0" cy="42730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93" name="핵심성과 박스"/>
          <p:cNvSpPr/>
          <p:nvPr/>
        </p:nvSpPr>
        <p:spPr>
          <a:xfrm>
            <a:off x="536870" y="8228348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4" name="핵심성과 라벨"/>
          <p:cNvSpPr/>
          <p:nvPr/>
        </p:nvSpPr>
        <p:spPr>
          <a:xfrm>
            <a:off x="569739" y="8266696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95" name="핵심성과 라벨"/>
          <p:cNvSpPr>
            <a:spLocks noGrp="1"/>
          </p:cNvSpPr>
          <p:nvPr>
            <p:ph type="body" sz="quarter" idx="55"/>
          </p:nvPr>
        </p:nvSpPr>
        <p:spPr>
          <a:xfrm>
            <a:off x="569739" y="8266696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96" name="핵심성과 문구"/>
          <p:cNvSpPr>
            <a:spLocks noGrp="1"/>
          </p:cNvSpPr>
          <p:nvPr>
            <p:ph type="body" sz="quarter" idx="56"/>
          </p:nvPr>
        </p:nvSpPr>
        <p:spPr>
          <a:xfrm>
            <a:off x="1314783" y="8244783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전국가기관(336개) 참여 안전한국훈련에서 재난대응력 입증으로 ‘우수’ 등급 달성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78 서사 · 관리여건 → 과학적 댐 운영 → 스마트 댐 안전 → 수도시설 안전강화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국민 안전 최우선! K-water만의 선제적 재난·재해 예방체계 구축</a:t>
            </a:r>
          </a:p>
        </p:txBody>
      </p:sp>
      <p:sp>
        <p:nvSpPr>
          <p:cNvPr id="14" name="번호"/>
          <p:cNvSpPr>
            <a:spLocks noGrp="1"/>
          </p:cNvSpPr>
          <p:nvPr>
            <p:ph type="body" sz="quarter" idx="22"/>
          </p:nvPr>
        </p:nvSpPr>
        <p:spPr>
          <a:xfrm>
            <a:off x="723130" y="1205217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15" name="분야 박스"/>
          <p:cNvSpPr/>
          <p:nvPr/>
        </p:nvSpPr>
        <p:spPr>
          <a:xfrm>
            <a:off x="952651" y="1238087"/>
            <a:ext cx="518543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분야 박스"/>
          <p:cNvSpPr>
            <a:spLocks noGrp="1"/>
          </p:cNvSpPr>
          <p:nvPr>
            <p:ph type="body" sz="quarter" idx="23"/>
          </p:nvPr>
        </p:nvSpPr>
        <p:spPr>
          <a:xfrm>
            <a:off x="952651" y="1238087"/>
            <a:ext cx="518543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댐·수도</a:t>
            </a:r>
          </a:p>
        </p:txBody>
      </p:sp>
      <p:sp>
        <p:nvSpPr>
          <p:cNvPr id="17" name="형광 밑줄"/>
          <p:cNvSpPr/>
          <p:nvPr/>
        </p:nvSpPr>
        <p:spPr>
          <a:xfrm>
            <a:off x="1536933" y="1358609"/>
            <a:ext cx="3385669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소제목"/>
          <p:cNvSpPr>
            <a:spLocks noGrp="1"/>
          </p:cNvSpPr>
          <p:nvPr>
            <p:ph type="body" sz="quarter" idx="24"/>
          </p:nvPr>
        </p:nvSpPr>
        <p:spPr>
          <a:xfrm>
            <a:off x="1536933" y="1205217"/>
            <a:ext cx="5486197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과학적인 국가 인프라 운영관리 강화로 ‘물재해’ 예방·대비</a:t>
            </a:r>
          </a:p>
        </p:txBody>
      </p:sp>
      <p:sp>
        <p:nvSpPr>
          <p:cNvPr id="19" name="태그칩"/>
          <p:cNvSpPr/>
          <p:nvPr/>
        </p:nvSpPr>
        <p:spPr>
          <a:xfrm>
            <a:off x="5021211" y="1238087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태그칩"/>
          <p:cNvSpPr>
            <a:spLocks noGrp="1"/>
          </p:cNvSpPr>
          <p:nvPr>
            <p:ph type="body" sz="quarter" idx="25"/>
          </p:nvPr>
        </p:nvSpPr>
        <p:spPr>
          <a:xfrm>
            <a:off x="5021211" y="1238087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21" name="태그칩"/>
          <p:cNvSpPr/>
          <p:nvPr/>
        </p:nvSpPr>
        <p:spPr>
          <a:xfrm>
            <a:off x="5572332" y="1238087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태그칩"/>
          <p:cNvSpPr>
            <a:spLocks noGrp="1"/>
          </p:cNvSpPr>
          <p:nvPr>
            <p:ph type="body" sz="quarter" idx="26"/>
          </p:nvPr>
        </p:nvSpPr>
        <p:spPr>
          <a:xfrm>
            <a:off x="5572332" y="1238087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23" name="표 외곽"/>
          <p:cNvSpPr/>
          <p:nvPr/>
        </p:nvSpPr>
        <p:spPr>
          <a:xfrm>
            <a:off x="723130" y="1490087"/>
            <a:ext cx="6300000" cy="412794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4" name="레일"/>
          <p:cNvSpPr/>
          <p:nvPr/>
        </p:nvSpPr>
        <p:spPr>
          <a:xfrm>
            <a:off x="734087" y="1506522"/>
            <a:ext cx="580696" cy="44373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5" name="레일"/>
          <p:cNvSpPr>
            <a:spLocks noGrp="1"/>
          </p:cNvSpPr>
          <p:nvPr>
            <p:ph type="body" sz="quarter" idx="27"/>
          </p:nvPr>
        </p:nvSpPr>
        <p:spPr>
          <a:xfrm>
            <a:off x="734087" y="1506522"/>
            <a:ext cx="580696" cy="443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관리여건</a:t>
            </a:r>
          </a:p>
        </p:txBody>
      </p:sp>
      <p:sp>
        <p:nvSpPr>
          <p:cNvPr id="26" name="태그"/>
          <p:cNvSpPr/>
          <p:nvPr/>
        </p:nvSpPr>
        <p:spPr>
          <a:xfrm>
            <a:off x="1347652" y="1550348"/>
            <a:ext cx="471741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7" name="태그"/>
          <p:cNvSpPr>
            <a:spLocks noGrp="1"/>
          </p:cNvSpPr>
          <p:nvPr>
            <p:ph type="body" sz="quarter" idx="28"/>
          </p:nvPr>
        </p:nvSpPr>
        <p:spPr>
          <a:xfrm>
            <a:off x="1347652" y="1550348"/>
            <a:ext cx="47174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물재해</a:t>
            </a:r>
          </a:p>
        </p:txBody>
      </p:sp>
      <p:sp>
        <p:nvSpPr>
          <p:cNvPr id="28" name="태그 설명"/>
          <p:cNvSpPr>
            <a:spLocks noGrp="1"/>
          </p:cNvSpPr>
          <p:nvPr>
            <p:ph type="body" sz="quarter" idx="29"/>
          </p:nvPr>
        </p:nvSpPr>
        <p:spPr>
          <a:xfrm>
            <a:off x="1863219" y="1539391"/>
            <a:ext cx="5132520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기후재난 일상화 → 극한강우 빈번, 발생지역 양극화로 기존 대응방식 어려움 증가</a:t>
            </a:r>
          </a:p>
        </p:txBody>
      </p:sp>
      <p:sp>
        <p:nvSpPr>
          <p:cNvPr id="29" name="태그"/>
          <p:cNvSpPr/>
          <p:nvPr/>
        </p:nvSpPr>
        <p:spPr>
          <a:xfrm>
            <a:off x="1347652" y="1747565"/>
            <a:ext cx="471741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0" name="태그"/>
          <p:cNvSpPr>
            <a:spLocks noGrp="1"/>
          </p:cNvSpPr>
          <p:nvPr>
            <p:ph type="body" sz="quarter" idx="30"/>
          </p:nvPr>
        </p:nvSpPr>
        <p:spPr>
          <a:xfrm>
            <a:off x="1347652" y="1747565"/>
            <a:ext cx="47174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시설물</a:t>
            </a:r>
          </a:p>
        </p:txBody>
      </p:sp>
      <p:sp>
        <p:nvSpPr>
          <p:cNvPr id="31" name="태그 설명"/>
          <p:cNvSpPr>
            <a:spLocks noGrp="1"/>
          </p:cNvSpPr>
          <p:nvPr>
            <p:ph type="body" sz="quarter" idx="31"/>
          </p:nvPr>
        </p:nvSpPr>
        <p:spPr>
          <a:xfrm>
            <a:off x="1863219" y="1736609"/>
            <a:ext cx="5132520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사용연수 증가로 관리 난이도↑, 시설안전에 대한 국민 눈높이 상승</a:t>
            </a:r>
          </a:p>
        </p:txBody>
      </p:sp>
      <p:sp>
        <p:nvSpPr>
          <p:cNvPr id="32" name="레일"/>
          <p:cNvSpPr/>
          <p:nvPr/>
        </p:nvSpPr>
        <p:spPr>
          <a:xfrm>
            <a:off x="734087" y="1966696"/>
            <a:ext cx="580696" cy="1394296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3" name="레일 태그"/>
          <p:cNvSpPr/>
          <p:nvPr/>
        </p:nvSpPr>
        <p:spPr>
          <a:xfrm>
            <a:off x="909290" y="2131043"/>
            <a:ext cx="230290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4" name="레일 태그"/>
          <p:cNvSpPr>
            <a:spLocks noGrp="1"/>
          </p:cNvSpPr>
          <p:nvPr>
            <p:ph type="body" sz="quarter" idx="32"/>
          </p:nvPr>
        </p:nvSpPr>
        <p:spPr>
          <a:xfrm>
            <a:off x="909290" y="2131043"/>
            <a:ext cx="230290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댐</a:t>
            </a:r>
          </a:p>
        </p:txBody>
      </p:sp>
      <p:sp>
        <p:nvSpPr>
          <p:cNvPr id="35" name="레일 라벨"/>
          <p:cNvSpPr>
            <a:spLocks noGrp="1"/>
          </p:cNvSpPr>
          <p:nvPr>
            <p:ph type="body" sz="quarter" idx="33"/>
          </p:nvPr>
        </p:nvSpPr>
        <p:spPr>
          <a:xfrm>
            <a:off x="734087" y="2317304"/>
            <a:ext cx="580696" cy="1021774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과학적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댐 운영</a:t>
            </a:r>
          </a:p>
        </p:txBody>
      </p:sp>
      <p:sp>
        <p:nvSpPr>
          <p:cNvPr id="36" name="레일 삼각형"/>
          <p:cNvSpPr/>
          <p:nvPr/>
        </p:nvSpPr>
        <p:spPr>
          <a:xfrm>
            <a:off x="734086" y="1966695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7" name="배너"/>
          <p:cNvSpPr/>
          <p:nvPr/>
        </p:nvSpPr>
        <p:spPr>
          <a:xfrm>
            <a:off x="1347652" y="1988609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8" name="배너"/>
          <p:cNvSpPr>
            <a:spLocks noGrp="1"/>
          </p:cNvSpPr>
          <p:nvPr>
            <p:ph type="body" sz="quarter" idx="34"/>
          </p:nvPr>
        </p:nvSpPr>
        <p:spPr>
          <a:xfrm>
            <a:off x="1347652" y="1988609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‘AI 위험기상 예측’을 통한 선제적 대응 + ‘디지털트윈(DT)’ 기술기반 댐 운영 고도화</a:t>
            </a:r>
          </a:p>
        </p:txBody>
      </p:sp>
      <p:sp>
        <p:nvSpPr>
          <p:cNvPr id="39" name="단계"/>
          <p:cNvSpPr/>
          <p:nvPr/>
        </p:nvSpPr>
        <p:spPr>
          <a:xfrm>
            <a:off x="1347652" y="2224174"/>
            <a:ext cx="282404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0" name="단계"/>
          <p:cNvSpPr>
            <a:spLocks noGrp="1"/>
          </p:cNvSpPr>
          <p:nvPr>
            <p:ph type="body" sz="quarter" idx="35"/>
          </p:nvPr>
        </p:nvSpPr>
        <p:spPr>
          <a:xfrm>
            <a:off x="1347652" y="2224174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홍수대응 의사결정 골든타임 확보</a:t>
            </a:r>
          </a:p>
        </p:txBody>
      </p:sp>
      <p:sp>
        <p:nvSpPr>
          <p:cNvPr id="41" name="단계"/>
          <p:cNvSpPr/>
          <p:nvPr/>
        </p:nvSpPr>
        <p:spPr>
          <a:xfrm>
            <a:off x="4171696" y="2224174"/>
            <a:ext cx="2824043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2" name="단계"/>
          <p:cNvSpPr>
            <a:spLocks noGrp="1"/>
          </p:cNvSpPr>
          <p:nvPr>
            <p:ph type="body" sz="quarter" idx="36"/>
          </p:nvPr>
        </p:nvSpPr>
        <p:spPr>
          <a:xfrm>
            <a:off x="4171696" y="2224174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하천상황 고려한 홍수조절(댐방류) 결정</a:t>
            </a:r>
          </a:p>
        </p:txBody>
      </p:sp>
      <p:sp>
        <p:nvSpPr>
          <p:cNvPr id="43" name="단계 삼각형"/>
          <p:cNvSpPr/>
          <p:nvPr/>
        </p:nvSpPr>
        <p:spPr>
          <a:xfrm>
            <a:off x="4171695" y="222417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4" name="칸 본문"/>
          <p:cNvSpPr>
            <a:spLocks noGrp="1"/>
          </p:cNvSpPr>
          <p:nvPr>
            <p:ph type="body" sz="quarter" idx="37"/>
          </p:nvPr>
        </p:nvSpPr>
        <p:spPr>
          <a:xfrm>
            <a:off x="1358609" y="2476174"/>
            <a:ext cx="2802130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기상예측 AI 활용 예측 정확도 향상(90%↑)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홍수분석 댐운영 모의분석 확대·강화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38"/>
          </p:nvPr>
        </p:nvSpPr>
        <p:spPr>
          <a:xfrm>
            <a:off x="4182652" y="2476174"/>
            <a:ext cx="2802130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디지털트윈 댐 상·하류 하천정보 최신화 탑재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관제강화 국가하천 CCTV 추가 연계·확대</a:t>
            </a:r>
          </a:p>
        </p:txBody>
      </p:sp>
      <p:cxnSp>
        <p:nvCxnSpPr>
          <p:cNvPr id="46" name="Connector 30"/>
          <p:cNvCxnSpPr/>
          <p:nvPr/>
        </p:nvCxnSpPr>
        <p:spPr>
          <a:xfrm>
            <a:off x="4171696" y="2509043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7" name="칸 본문"/>
          <p:cNvSpPr>
            <a:spLocks noGrp="1"/>
          </p:cNvSpPr>
          <p:nvPr>
            <p:ph type="body" sz="quarter" idx="39"/>
          </p:nvPr>
        </p:nvSpPr>
        <p:spPr>
          <a:xfrm>
            <a:off x="1358609" y="3018522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남강댐 역대 최대 홍수(7.17~19) 대응: 3일간 518㎜ 최대 강우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40"/>
          </p:nvPr>
        </p:nvSpPr>
        <p:spPr>
          <a:xfrm>
            <a:off x="4182652" y="3018522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합천댐 하루 무방류 대응(7.16~20): 4일간 댐 하루 500㎜ 폭우</a:t>
            </a:r>
          </a:p>
        </p:txBody>
      </p:sp>
      <p:cxnSp>
        <p:nvCxnSpPr>
          <p:cNvPr id="49" name="Connector 33"/>
          <p:cNvCxnSpPr/>
          <p:nvPr/>
        </p:nvCxnSpPr>
        <p:spPr>
          <a:xfrm>
            <a:off x="4171696" y="3051391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0" name="레일"/>
          <p:cNvSpPr/>
          <p:nvPr/>
        </p:nvSpPr>
        <p:spPr>
          <a:xfrm>
            <a:off x="734087" y="3377426"/>
            <a:ext cx="580696" cy="1227130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1" name="레일"/>
          <p:cNvSpPr>
            <a:spLocks noGrp="1"/>
          </p:cNvSpPr>
          <p:nvPr>
            <p:ph type="body" sz="quarter" idx="41"/>
          </p:nvPr>
        </p:nvSpPr>
        <p:spPr>
          <a:xfrm>
            <a:off x="734087" y="3377426"/>
            <a:ext cx="580696" cy="1227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스마트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댐 안전</a:t>
            </a:r>
          </a:p>
        </p:txBody>
      </p:sp>
      <p:sp>
        <p:nvSpPr>
          <p:cNvPr id="52" name="배너"/>
          <p:cNvSpPr/>
          <p:nvPr/>
        </p:nvSpPr>
        <p:spPr>
          <a:xfrm>
            <a:off x="1347652" y="3399339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53" name="배너"/>
          <p:cNvSpPr>
            <a:spLocks noGrp="1"/>
          </p:cNvSpPr>
          <p:nvPr>
            <p:ph type="body" sz="quarter" idx="42"/>
          </p:nvPr>
        </p:nvSpPr>
        <p:spPr>
          <a:xfrm>
            <a:off x="1347652" y="3399339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AI, DT 등 ‘스마트 기술’ 활용, ‘실시간 시설물 위험분석’으로 선제적 위험관리</a:t>
            </a:r>
          </a:p>
        </p:txBody>
      </p:sp>
      <p:sp>
        <p:nvSpPr>
          <p:cNvPr id="54" name="단계"/>
          <p:cNvSpPr/>
          <p:nvPr/>
        </p:nvSpPr>
        <p:spPr>
          <a:xfrm>
            <a:off x="1347652" y="3634904"/>
            <a:ext cx="282404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5" name="단계"/>
          <p:cNvSpPr>
            <a:spLocks noGrp="1"/>
          </p:cNvSpPr>
          <p:nvPr>
            <p:ph type="body" sz="quarter" idx="43"/>
          </p:nvPr>
        </p:nvSpPr>
        <p:spPr>
          <a:xfrm>
            <a:off x="1347652" y="3634904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전댐(37개) 스마트 안전관리 체계 도입</a:t>
            </a:r>
          </a:p>
        </p:txBody>
      </p:sp>
      <p:sp>
        <p:nvSpPr>
          <p:cNvPr id="56" name="단계"/>
          <p:cNvSpPr/>
          <p:nvPr/>
        </p:nvSpPr>
        <p:spPr>
          <a:xfrm>
            <a:off x="4171696" y="3634904"/>
            <a:ext cx="2824043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7" name="단계"/>
          <p:cNvSpPr>
            <a:spLocks noGrp="1"/>
          </p:cNvSpPr>
          <p:nvPr>
            <p:ph type="body" sz="quarter" idx="44"/>
          </p:nvPr>
        </p:nvSpPr>
        <p:spPr>
          <a:xfrm>
            <a:off x="4171696" y="3634904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스마트 댐 안전관리 플랫폼 구축</a:t>
            </a:r>
          </a:p>
        </p:txBody>
      </p:sp>
      <p:sp>
        <p:nvSpPr>
          <p:cNvPr id="58" name="단계 삼각형"/>
          <p:cNvSpPr/>
          <p:nvPr/>
        </p:nvSpPr>
        <p:spPr>
          <a:xfrm>
            <a:off x="4171695" y="3634904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9" name="칸 본문"/>
          <p:cNvSpPr>
            <a:spLocks noGrp="1"/>
          </p:cNvSpPr>
          <p:nvPr>
            <p:ph type="body" sz="quarter" idx="45"/>
          </p:nvPr>
        </p:nvSpPr>
        <p:spPr>
          <a:xfrm>
            <a:off x="1358609" y="3886904"/>
            <a:ext cx="2802130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실시간 모니터링 + 드론 기반 점검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누수 열화상 감시 / 변위 GPS 기반 계측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점검 주기(간헐 → 실시간) 단축 및 사각지대 해소</a:t>
            </a:r>
          </a:p>
        </p:txBody>
      </p:sp>
      <p:sp>
        <p:nvSpPr>
          <p:cNvPr id="60" name="칸 본문"/>
          <p:cNvSpPr>
            <a:spLocks noGrp="1"/>
          </p:cNvSpPr>
          <p:nvPr>
            <p:ph type="body" sz="quarter" idx="46"/>
          </p:nvPr>
        </p:nvSpPr>
        <p:spPr>
          <a:xfrm>
            <a:off x="4182652" y="3886904"/>
            <a:ext cx="2802130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진단·DT 활용 시설 데이터 분석·활용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3D 시스템에 진단·점검 정보 실시간 표출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기반 댐 시설물 결함 및 손상 분석</a:t>
            </a:r>
          </a:p>
        </p:txBody>
      </p:sp>
      <p:cxnSp>
        <p:nvCxnSpPr>
          <p:cNvPr id="61" name="Connector 41"/>
          <p:cNvCxnSpPr/>
          <p:nvPr/>
        </p:nvCxnSpPr>
        <p:spPr>
          <a:xfrm>
            <a:off x="4171696" y="3919774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2" name="레일"/>
          <p:cNvSpPr/>
          <p:nvPr/>
        </p:nvSpPr>
        <p:spPr>
          <a:xfrm>
            <a:off x="734087" y="4620991"/>
            <a:ext cx="580696" cy="980609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3" name="레일 태그"/>
          <p:cNvSpPr/>
          <p:nvPr/>
        </p:nvSpPr>
        <p:spPr>
          <a:xfrm>
            <a:off x="854405" y="4785339"/>
            <a:ext cx="340059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64" name="레일 태그"/>
          <p:cNvSpPr>
            <a:spLocks noGrp="1"/>
          </p:cNvSpPr>
          <p:nvPr>
            <p:ph type="body" sz="quarter" idx="47"/>
          </p:nvPr>
        </p:nvSpPr>
        <p:spPr>
          <a:xfrm>
            <a:off x="854405" y="4785339"/>
            <a:ext cx="340059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수도</a:t>
            </a:r>
          </a:p>
        </p:txBody>
      </p:sp>
      <p:sp>
        <p:nvSpPr>
          <p:cNvPr id="65" name="레일 라벨"/>
          <p:cNvSpPr>
            <a:spLocks noGrp="1"/>
          </p:cNvSpPr>
          <p:nvPr>
            <p:ph type="body" sz="quarter" idx="48"/>
          </p:nvPr>
        </p:nvSpPr>
        <p:spPr>
          <a:xfrm>
            <a:off x="734087" y="4971600"/>
            <a:ext cx="580696" cy="608087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시설물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안전강화</a:t>
            </a:r>
          </a:p>
        </p:txBody>
      </p:sp>
      <p:sp>
        <p:nvSpPr>
          <p:cNvPr id="66" name="레일 삼각형"/>
          <p:cNvSpPr/>
          <p:nvPr/>
        </p:nvSpPr>
        <p:spPr>
          <a:xfrm>
            <a:off x="734086" y="4620991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7" name="머리칸"/>
          <p:cNvSpPr/>
          <p:nvPr/>
        </p:nvSpPr>
        <p:spPr>
          <a:xfrm>
            <a:off x="1347652" y="464290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68" name="머리칸"/>
          <p:cNvSpPr>
            <a:spLocks noGrp="1"/>
          </p:cNvSpPr>
          <p:nvPr>
            <p:ph type="body" sz="quarter" idx="49"/>
          </p:nvPr>
        </p:nvSpPr>
        <p:spPr>
          <a:xfrm>
            <a:off x="1347652" y="464290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수도시설 ‘취약요인’ 중점 해소</a:t>
            </a:r>
          </a:p>
        </p:txBody>
      </p:sp>
      <p:sp>
        <p:nvSpPr>
          <p:cNvPr id="69" name="머리칸"/>
          <p:cNvSpPr/>
          <p:nvPr/>
        </p:nvSpPr>
        <p:spPr>
          <a:xfrm>
            <a:off x="4171696" y="464290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0" name="머리칸"/>
          <p:cNvSpPr>
            <a:spLocks noGrp="1"/>
          </p:cNvSpPr>
          <p:nvPr>
            <p:ph type="body" sz="quarter" idx="50"/>
          </p:nvPr>
        </p:nvSpPr>
        <p:spPr>
          <a:xfrm>
            <a:off x="4171696" y="464290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‘스마트 기술’ 활용한 선제적 재해 예방</a:t>
            </a:r>
          </a:p>
        </p:txBody>
      </p:sp>
      <p:sp>
        <p:nvSpPr>
          <p:cNvPr id="71" name="칸 본문"/>
          <p:cNvSpPr>
            <a:spLocks noGrp="1"/>
          </p:cNvSpPr>
          <p:nvPr>
            <p:ph type="body" sz="quarter" idx="51"/>
          </p:nvPr>
        </p:nvSpPr>
        <p:spPr>
          <a:xfrm>
            <a:off x="1358609" y="4883948"/>
            <a:ext cx="2802130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수도밸브 전수조사·노후밸브 교체(729개)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복선화 역대 최장구간 이중화(27.5㎞)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하천구간 전수조사, 세굴 등 관리체계 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취약관로 밸브연결, 분기관로 중심 개선</a:t>
            </a:r>
          </a:p>
        </p:txBody>
      </p:sp>
      <p:sp>
        <p:nvSpPr>
          <p:cNvPr id="72" name="칸 본문"/>
          <p:cNvSpPr>
            <a:spLocks noGrp="1"/>
          </p:cNvSpPr>
          <p:nvPr>
            <p:ph type="body" sz="quarter" idx="52"/>
          </p:nvPr>
        </p:nvSpPr>
        <p:spPr>
          <a:xfrm>
            <a:off x="4182652" y="4883948"/>
            <a:ext cx="2802130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점검로봇 인력점검 한계 및 사각지대 극복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 내부, 약품투입동 등 단계적 도입 44대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누수예측 20년간 운영데이터를 AI로 표준화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지반침하 AI기반 싱크홀 예측기술 개발</a:t>
            </a:r>
          </a:p>
        </p:txBody>
      </p:sp>
      <p:cxnSp>
        <p:nvCxnSpPr>
          <p:cNvPr id="73" name="Connector 50"/>
          <p:cNvCxnSpPr/>
          <p:nvPr/>
        </p:nvCxnSpPr>
        <p:spPr>
          <a:xfrm>
            <a:off x="4171696" y="4916817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79 서사 · 관리여건 → 국민 안전서비스(시설개선 · 시민 참여 · 방류 경보) → 종합성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11" name="분야 박스"/>
          <p:cNvSpPr/>
          <p:nvPr/>
        </p:nvSpPr>
        <p:spPr>
          <a:xfrm>
            <a:off x="766390" y="799826"/>
            <a:ext cx="812003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분야 박스"/>
          <p:cNvSpPr>
            <a:spLocks noGrp="1"/>
          </p:cNvSpPr>
          <p:nvPr>
            <p:ph type="body" sz="quarter" idx="21"/>
          </p:nvPr>
        </p:nvSpPr>
        <p:spPr>
          <a:xfrm>
            <a:off x="766390" y="799826"/>
            <a:ext cx="812003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국민이용시설</a:t>
            </a:r>
          </a:p>
        </p:txBody>
      </p:sp>
      <p:sp>
        <p:nvSpPr>
          <p:cNvPr id="13" name="형광 밑줄"/>
          <p:cNvSpPr/>
          <p:nvPr/>
        </p:nvSpPr>
        <p:spPr>
          <a:xfrm>
            <a:off x="1644132" y="920348"/>
            <a:ext cx="2998837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소제목"/>
          <p:cNvSpPr>
            <a:spLocks noGrp="1"/>
          </p:cNvSpPr>
          <p:nvPr>
            <p:ph type="body" sz="quarter" idx="22"/>
          </p:nvPr>
        </p:nvSpPr>
        <p:spPr>
          <a:xfrm>
            <a:off x="1644132" y="766957"/>
            <a:ext cx="5192737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국민들이 안전한 일상을 누리도록 시설물 최적 관리</a:t>
            </a:r>
          </a:p>
        </p:txBody>
      </p:sp>
      <p:sp>
        <p:nvSpPr>
          <p:cNvPr id="15" name="태그칩"/>
          <p:cNvSpPr/>
          <p:nvPr/>
        </p:nvSpPr>
        <p:spPr>
          <a:xfrm>
            <a:off x="4741578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태그칩"/>
          <p:cNvSpPr>
            <a:spLocks noGrp="1"/>
          </p:cNvSpPr>
          <p:nvPr>
            <p:ph type="body" sz="quarter" idx="23"/>
          </p:nvPr>
        </p:nvSpPr>
        <p:spPr>
          <a:xfrm>
            <a:off x="4741578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7" name="태그칩"/>
          <p:cNvSpPr/>
          <p:nvPr/>
        </p:nvSpPr>
        <p:spPr>
          <a:xfrm>
            <a:off x="5292699" y="799826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태그칩"/>
          <p:cNvSpPr>
            <a:spLocks noGrp="1"/>
          </p:cNvSpPr>
          <p:nvPr>
            <p:ph type="body" sz="quarter" idx="24"/>
          </p:nvPr>
        </p:nvSpPr>
        <p:spPr>
          <a:xfrm>
            <a:off x="5292699" y="799826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9" name="표 외곽"/>
          <p:cNvSpPr/>
          <p:nvPr/>
        </p:nvSpPr>
        <p:spPr>
          <a:xfrm>
            <a:off x="536870" y="1051826"/>
            <a:ext cx="6300000" cy="151747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0" name="레일"/>
          <p:cNvSpPr/>
          <p:nvPr/>
        </p:nvSpPr>
        <p:spPr>
          <a:xfrm>
            <a:off x="547826" y="1068261"/>
            <a:ext cx="580696" cy="48756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5"/>
          </p:nvPr>
        </p:nvSpPr>
        <p:spPr>
          <a:xfrm>
            <a:off x="547826" y="1068261"/>
            <a:ext cx="580696" cy="487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관리여건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6"/>
          </p:nvPr>
        </p:nvSpPr>
        <p:spPr>
          <a:xfrm>
            <a:off x="1172348" y="1090174"/>
            <a:ext cx="2802130" cy="460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시설 댐문화관, 자전거길 등(168개소)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여건 시설 전국 산재, 레저인구 증가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7"/>
          </p:nvPr>
        </p:nvSpPr>
        <p:spPr>
          <a:xfrm>
            <a:off x="3996391" y="1090174"/>
            <a:ext cx="2802130" cy="460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시설개방·체험프로그램 확대로 방문객 증가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시설파손 등으로 국민안전사고 발생위험성↑</a:t>
            </a:r>
          </a:p>
        </p:txBody>
      </p:sp>
      <p:cxnSp>
        <p:nvCxnSpPr>
          <p:cNvPr id="24" name="Connector 16"/>
          <p:cNvCxnSpPr/>
          <p:nvPr/>
        </p:nvCxnSpPr>
        <p:spPr>
          <a:xfrm>
            <a:off x="3985435" y="1123043"/>
            <a:ext cx="0" cy="394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5" name="레일"/>
          <p:cNvSpPr/>
          <p:nvPr/>
        </p:nvSpPr>
        <p:spPr>
          <a:xfrm>
            <a:off x="547826" y="1572261"/>
            <a:ext cx="580696" cy="980609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6" name="레일"/>
          <p:cNvSpPr>
            <a:spLocks noGrp="1"/>
          </p:cNvSpPr>
          <p:nvPr>
            <p:ph type="body" sz="quarter" idx="28"/>
          </p:nvPr>
        </p:nvSpPr>
        <p:spPr>
          <a:xfrm>
            <a:off x="547826" y="1572261"/>
            <a:ext cx="580696" cy="980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국민안전</a:t>
            </a:r>
          </a:p>
        </p:txBody>
      </p:sp>
      <p:sp>
        <p:nvSpPr>
          <p:cNvPr id="27" name="레일 삼각형"/>
          <p:cNvSpPr/>
          <p:nvPr/>
        </p:nvSpPr>
        <p:spPr>
          <a:xfrm>
            <a:off x="547826" y="1572260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머리칸"/>
          <p:cNvSpPr/>
          <p:nvPr/>
        </p:nvSpPr>
        <p:spPr>
          <a:xfrm>
            <a:off x="1161391" y="1594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9" name="머리칸"/>
          <p:cNvSpPr>
            <a:spLocks noGrp="1"/>
          </p:cNvSpPr>
          <p:nvPr>
            <p:ph type="body" sz="quarter" idx="29"/>
          </p:nvPr>
        </p:nvSpPr>
        <p:spPr>
          <a:xfrm>
            <a:off x="1161391" y="1594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시설개선·스마트 감시</a:t>
            </a:r>
          </a:p>
        </p:txBody>
      </p:sp>
      <p:sp>
        <p:nvSpPr>
          <p:cNvPr id="30" name="머리칸"/>
          <p:cNvSpPr/>
          <p:nvPr/>
        </p:nvSpPr>
        <p:spPr>
          <a:xfrm>
            <a:off x="3044087" y="1594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1" name="머리칸"/>
          <p:cNvSpPr>
            <a:spLocks noGrp="1"/>
          </p:cNvSpPr>
          <p:nvPr>
            <p:ph type="body" sz="quarter" idx="30"/>
          </p:nvPr>
        </p:nvSpPr>
        <p:spPr>
          <a:xfrm>
            <a:off x="3044087" y="1594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시민 참여 안전 모니터링</a:t>
            </a:r>
          </a:p>
        </p:txBody>
      </p:sp>
      <p:sp>
        <p:nvSpPr>
          <p:cNvPr id="32" name="머리칸"/>
          <p:cNvSpPr/>
          <p:nvPr/>
        </p:nvSpPr>
        <p:spPr>
          <a:xfrm>
            <a:off x="4926783" y="1594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3" name="머리칸"/>
          <p:cNvSpPr>
            <a:spLocks noGrp="1"/>
          </p:cNvSpPr>
          <p:nvPr>
            <p:ph type="body" sz="quarter" idx="31"/>
          </p:nvPr>
        </p:nvSpPr>
        <p:spPr>
          <a:xfrm>
            <a:off x="4926783" y="1594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 안전서비스 제공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2"/>
          </p:nvPr>
        </p:nvSpPr>
        <p:spPr>
          <a:xfrm>
            <a:off x="1172348" y="1835217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CCTV 확대, 내방객 위험(쓰러짐 등) 자동감지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37개 전댐 확대(222 → 476대)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3"/>
          </p:nvPr>
        </p:nvSpPr>
        <p:spPr>
          <a:xfrm>
            <a:off x="3055043" y="1835217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모바일(QR)로 누구나 언제든 위험신고 가능체계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참여 포상금(1만원/건), SNS홍보</a:t>
            </a:r>
          </a:p>
        </p:txBody>
      </p:sp>
      <p:cxnSp>
        <p:nvCxnSpPr>
          <p:cNvPr id="36" name="Connector 24"/>
          <p:cNvCxnSpPr/>
          <p:nvPr/>
        </p:nvCxnSpPr>
        <p:spPr>
          <a:xfrm>
            <a:off x="3044087" y="1868087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7" name="칸 본문"/>
          <p:cNvSpPr>
            <a:spLocks noGrp="1"/>
          </p:cNvSpPr>
          <p:nvPr>
            <p:ph type="body" sz="quarter" idx="34"/>
          </p:nvPr>
        </p:nvSpPr>
        <p:spPr>
          <a:xfrm>
            <a:off x="4937739" y="1835217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방류 예·경보시스템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방류 위험정보 LED 전광판 및 바닥 안내조명(댐 8개소)</a:t>
            </a:r>
          </a:p>
        </p:txBody>
      </p:sp>
      <p:cxnSp>
        <p:nvCxnSpPr>
          <p:cNvPr id="38" name="Connector 26"/>
          <p:cNvCxnSpPr/>
          <p:nvPr/>
        </p:nvCxnSpPr>
        <p:spPr>
          <a:xfrm>
            <a:off x="4926783" y="1868087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9" name="핵심성과 박스"/>
          <p:cNvSpPr/>
          <p:nvPr/>
        </p:nvSpPr>
        <p:spPr>
          <a:xfrm>
            <a:off x="536870" y="2656957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0" name="핵심성과 라벨"/>
          <p:cNvSpPr/>
          <p:nvPr/>
        </p:nvSpPr>
        <p:spPr>
          <a:xfrm>
            <a:off x="569739" y="2689826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1" name="핵심성과 라벨"/>
          <p:cNvSpPr>
            <a:spLocks noGrp="1"/>
          </p:cNvSpPr>
          <p:nvPr>
            <p:ph type="body" sz="quarter" idx="35"/>
          </p:nvPr>
        </p:nvSpPr>
        <p:spPr>
          <a:xfrm>
            <a:off x="569739" y="2689826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종합성과</a:t>
            </a:r>
          </a:p>
        </p:txBody>
      </p:sp>
      <p:sp>
        <p:nvSpPr>
          <p:cNvPr id="42" name="핵심성과 문구"/>
          <p:cNvSpPr>
            <a:spLocks noGrp="1"/>
          </p:cNvSpPr>
          <p:nvPr>
            <p:ph type="body" sz="quarter" idx="36"/>
          </p:nvPr>
        </p:nvSpPr>
        <p:spPr>
          <a:xfrm>
            <a:off x="1314783" y="2678870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행정안전부 주관, 국가핵심기반 재난관리평가 ‘우수기관(국무총리 표창)’ 선정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K-water 소관 시설물 시민재해 발생 32% 감소(’24년 25명 → ’25년 17명)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80 서사 · 선제적 용수지원 → 중단없는 수도공급 → 일상 회복지원(위기·대응·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처음 겪는 ‘초대형 산불’, 준비된 역량으로 국민의 안전 사수</a:t>
            </a:r>
          </a:p>
        </p:txBody>
      </p:sp>
      <p:sp>
        <p:nvSpPr>
          <p:cNvPr id="14" name="형광 밑줄"/>
          <p:cNvSpPr/>
          <p:nvPr/>
        </p:nvSpPr>
        <p:spPr>
          <a:xfrm>
            <a:off x="723130" y="1358609"/>
            <a:ext cx="3948277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소제목"/>
          <p:cNvSpPr>
            <a:spLocks noGrp="1"/>
          </p:cNvSpPr>
          <p:nvPr>
            <p:ph type="body" sz="quarter" idx="22"/>
          </p:nvPr>
        </p:nvSpPr>
        <p:spPr>
          <a:xfrm>
            <a:off x="723130" y="120521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‘세계문화유산’과 ‘지역 주민’ 보호를 위한 K-water 총동원령 발동!</a:t>
            </a:r>
          </a:p>
        </p:txBody>
      </p:sp>
      <p:sp>
        <p:nvSpPr>
          <p:cNvPr id="16" name="태그칩"/>
          <p:cNvSpPr/>
          <p:nvPr/>
        </p:nvSpPr>
        <p:spPr>
          <a:xfrm>
            <a:off x="4770016" y="1238087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칩"/>
          <p:cNvSpPr>
            <a:spLocks noGrp="1"/>
          </p:cNvSpPr>
          <p:nvPr>
            <p:ph type="body" sz="quarter" idx="23"/>
          </p:nvPr>
        </p:nvSpPr>
        <p:spPr>
          <a:xfrm>
            <a:off x="4770016" y="1238087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8" name="태그칩"/>
          <p:cNvSpPr/>
          <p:nvPr/>
        </p:nvSpPr>
        <p:spPr>
          <a:xfrm>
            <a:off x="5321137" y="1238087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태그칩"/>
          <p:cNvSpPr>
            <a:spLocks noGrp="1"/>
          </p:cNvSpPr>
          <p:nvPr>
            <p:ph type="body" sz="quarter" idx="24"/>
          </p:nvPr>
        </p:nvSpPr>
        <p:spPr>
          <a:xfrm>
            <a:off x="5321137" y="1238087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20" name="표 외곽"/>
          <p:cNvSpPr/>
          <p:nvPr/>
        </p:nvSpPr>
        <p:spPr>
          <a:xfrm>
            <a:off x="723130" y="1490087"/>
            <a:ext cx="6300000" cy="436069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1" name="레일"/>
          <p:cNvSpPr/>
          <p:nvPr/>
        </p:nvSpPr>
        <p:spPr>
          <a:xfrm>
            <a:off x="734087" y="1506522"/>
            <a:ext cx="580696" cy="155582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레일"/>
          <p:cNvSpPr>
            <a:spLocks noGrp="1"/>
          </p:cNvSpPr>
          <p:nvPr>
            <p:ph type="body" sz="quarter" idx="25"/>
          </p:nvPr>
        </p:nvSpPr>
        <p:spPr>
          <a:xfrm>
            <a:off x="734087" y="1506522"/>
            <a:ext cx="580696" cy="1555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선제적인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용수지원</a:t>
            </a:r>
          </a:p>
        </p:txBody>
      </p:sp>
      <p:sp>
        <p:nvSpPr>
          <p:cNvPr id="23" name="배너"/>
          <p:cNvSpPr/>
          <p:nvPr/>
        </p:nvSpPr>
        <p:spPr>
          <a:xfrm>
            <a:off x="1347652" y="1528435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4" name="배너"/>
          <p:cNvSpPr>
            <a:spLocks noGrp="1"/>
          </p:cNvSpPr>
          <p:nvPr>
            <p:ph type="body" sz="quarter" idx="26"/>
          </p:nvPr>
        </p:nvSpPr>
        <p:spPr>
          <a:xfrm>
            <a:off x="1347652" y="1528435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빠르게 북상하던 위기의 찰나, ‘하천 방화선 구축’으로 최후 저지선 확보</a:t>
            </a:r>
          </a:p>
        </p:txBody>
      </p:sp>
      <p:sp>
        <p:nvSpPr>
          <p:cNvPr id="25" name="단계"/>
          <p:cNvSpPr/>
          <p:nvPr/>
        </p:nvSpPr>
        <p:spPr>
          <a:xfrm>
            <a:off x="1347652" y="1764000"/>
            <a:ext cx="2017174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6" name="단계"/>
          <p:cNvSpPr>
            <a:spLocks noGrp="1"/>
          </p:cNvSpPr>
          <p:nvPr>
            <p:ph type="body" sz="quarter" idx="27"/>
          </p:nvPr>
        </p:nvSpPr>
        <p:spPr>
          <a:xfrm>
            <a:off x="1347652" y="1764000"/>
            <a:ext cx="2017174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위기 상황</a:t>
            </a:r>
          </a:p>
        </p:txBody>
      </p:sp>
      <p:sp>
        <p:nvSpPr>
          <p:cNvPr id="27" name="단계"/>
          <p:cNvSpPr/>
          <p:nvPr/>
        </p:nvSpPr>
        <p:spPr>
          <a:xfrm>
            <a:off x="3364826" y="1764000"/>
            <a:ext cx="3630913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8" name="단계"/>
          <p:cNvSpPr>
            <a:spLocks noGrp="1"/>
          </p:cNvSpPr>
          <p:nvPr>
            <p:ph type="body" sz="quarter" idx="28"/>
          </p:nvPr>
        </p:nvSpPr>
        <p:spPr>
          <a:xfrm>
            <a:off x="3364826" y="1764000"/>
            <a:ext cx="363091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댐 운영 이래 소방水 최초 공급</a:t>
            </a:r>
          </a:p>
        </p:txBody>
      </p:sp>
      <p:sp>
        <p:nvSpPr>
          <p:cNvPr id="29" name="단계 삼각형"/>
          <p:cNvSpPr/>
          <p:nvPr/>
        </p:nvSpPr>
        <p:spPr>
          <a:xfrm>
            <a:off x="3364826" y="1764000"/>
            <a:ext cx="109565" cy="230086"/>
          </a:xfrm>
          <a:custGeom>
            <a:avLst/>
            <a:gdLst/>
            <a:ahLst/>
            <a:cxnLst/>
            <a:rect l="l" t="t" r="r" b="b"/>
            <a:pathLst>
              <a:path w="109565" h="230086">
                <a:moveTo>
                  <a:pt x="0" y="0"/>
                </a:moveTo>
                <a:lnTo>
                  <a:pt x="109565" y="115043"/>
                </a:lnTo>
                <a:lnTo>
                  <a:pt x="0" y="230086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0" name="칸 본문"/>
          <p:cNvSpPr>
            <a:spLocks noGrp="1"/>
          </p:cNvSpPr>
          <p:nvPr>
            <p:ph type="body" sz="quarter" idx="29"/>
          </p:nvPr>
        </p:nvSpPr>
        <p:spPr>
          <a:xfrm>
            <a:off x="1358609" y="2016000"/>
            <a:ext cx="1995261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가뭄 가뭄 상습 안동댐 저수율 58%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강풍 초속 27m 태풍급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소방헬기 댐 하류 하천 취수 불가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3375783" y="2016000"/>
            <a:ext cx="360900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의사결정 「인지-협의-통보(SMS)-방류」 ‘90분’만에 결정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통상 7시간 이상 소요, K-water 先제안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긴급방류 5일간 26백만㎥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하천 수위↑ → 방화선 구축(하회마을 보호)</a:t>
            </a:r>
          </a:p>
        </p:txBody>
      </p:sp>
      <p:cxnSp>
        <p:nvCxnSpPr>
          <p:cNvPr id="32" name="Connector 20"/>
          <p:cNvCxnSpPr/>
          <p:nvPr/>
        </p:nvCxnSpPr>
        <p:spPr>
          <a:xfrm>
            <a:off x="3364826" y="2048870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레일"/>
          <p:cNvSpPr/>
          <p:nvPr/>
        </p:nvSpPr>
        <p:spPr>
          <a:xfrm>
            <a:off x="734087" y="3078783"/>
            <a:ext cx="580696" cy="1555826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4" name="레일"/>
          <p:cNvSpPr>
            <a:spLocks noGrp="1"/>
          </p:cNvSpPr>
          <p:nvPr>
            <p:ph type="body" sz="quarter" idx="31"/>
          </p:nvPr>
        </p:nvSpPr>
        <p:spPr>
          <a:xfrm>
            <a:off x="734087" y="3078783"/>
            <a:ext cx="580696" cy="1555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중단없는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수도공급</a:t>
            </a:r>
          </a:p>
        </p:txBody>
      </p:sp>
      <p:sp>
        <p:nvSpPr>
          <p:cNvPr id="35" name="레일 삼각형"/>
          <p:cNvSpPr/>
          <p:nvPr/>
        </p:nvSpPr>
        <p:spPr>
          <a:xfrm>
            <a:off x="734086" y="3078782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6" name="배너"/>
          <p:cNvSpPr/>
          <p:nvPr/>
        </p:nvSpPr>
        <p:spPr>
          <a:xfrm>
            <a:off x="1347652" y="3100696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7" name="배너"/>
          <p:cNvSpPr>
            <a:spLocks noGrp="1"/>
          </p:cNvSpPr>
          <p:nvPr>
            <p:ph type="body" sz="quarter" idx="32"/>
          </p:nvPr>
        </p:nvSpPr>
        <p:spPr>
          <a:xfrm>
            <a:off x="1347652" y="3100696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전력공급 중단에도 최후까지 목숨을 건 K-water 직원의 수돗물 공급 노력</a:t>
            </a:r>
          </a:p>
        </p:txBody>
      </p:sp>
      <p:sp>
        <p:nvSpPr>
          <p:cNvPr id="38" name="단계"/>
          <p:cNvSpPr/>
          <p:nvPr/>
        </p:nvSpPr>
        <p:spPr>
          <a:xfrm>
            <a:off x="1347652" y="3336261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9" name="단계"/>
          <p:cNvSpPr>
            <a:spLocks noGrp="1"/>
          </p:cNvSpPr>
          <p:nvPr>
            <p:ph type="body" sz="quarter" idx="33"/>
          </p:nvPr>
        </p:nvSpPr>
        <p:spPr>
          <a:xfrm>
            <a:off x="1347652" y="3336261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위기 상황</a:t>
            </a:r>
          </a:p>
        </p:txBody>
      </p:sp>
      <p:sp>
        <p:nvSpPr>
          <p:cNvPr id="40" name="단계"/>
          <p:cNvSpPr/>
          <p:nvPr/>
        </p:nvSpPr>
        <p:spPr>
          <a:xfrm>
            <a:off x="3230348" y="3336261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1" name="단계"/>
          <p:cNvSpPr>
            <a:spLocks noGrp="1"/>
          </p:cNvSpPr>
          <p:nvPr>
            <p:ph type="body" sz="quarter" idx="34"/>
          </p:nvPr>
        </p:nvSpPr>
        <p:spPr>
          <a:xfrm>
            <a:off x="3230348" y="3336261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비상대응 물적·인적자원 총가동</a:t>
            </a:r>
          </a:p>
        </p:txBody>
      </p:sp>
      <p:sp>
        <p:nvSpPr>
          <p:cNvPr id="42" name="단계"/>
          <p:cNvSpPr/>
          <p:nvPr/>
        </p:nvSpPr>
        <p:spPr>
          <a:xfrm>
            <a:off x="5113043" y="3336261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3" name="단계"/>
          <p:cNvSpPr>
            <a:spLocks noGrp="1"/>
          </p:cNvSpPr>
          <p:nvPr>
            <p:ph type="body" sz="quarter" idx="35"/>
          </p:nvPr>
        </p:nvSpPr>
        <p:spPr>
          <a:xfrm>
            <a:off x="5113043" y="3336261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대응 성과</a:t>
            </a:r>
          </a:p>
        </p:txBody>
      </p:sp>
      <p:sp>
        <p:nvSpPr>
          <p:cNvPr id="44" name="단계 삼각형"/>
          <p:cNvSpPr/>
          <p:nvPr/>
        </p:nvSpPr>
        <p:spPr>
          <a:xfrm>
            <a:off x="3230347" y="3336260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5" name="단계 삼각형"/>
          <p:cNvSpPr/>
          <p:nvPr/>
        </p:nvSpPr>
        <p:spPr>
          <a:xfrm>
            <a:off x="5113043" y="3336260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6" name="칸 본문"/>
          <p:cNvSpPr>
            <a:spLocks noGrp="1"/>
          </p:cNvSpPr>
          <p:nvPr>
            <p:ph type="body" sz="quarter" idx="36"/>
          </p:nvPr>
        </p:nvSpPr>
        <p:spPr>
          <a:xfrm>
            <a:off x="1358609" y="3588261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전력 한전계통 단전 발생(청송군 전체)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상수도 단전으로 청송정수장 공급중단 위기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37"/>
          </p:nvPr>
        </p:nvSpPr>
        <p:spPr>
          <a:xfrm>
            <a:off x="3241304" y="3588261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물적 비상발전기 정상가동 사수 ➡ 공급물량 확대(200 → 270㎥/hr)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인적 수도시설 파손·단수(4천가구) ➡ 긴급 시설복구반 투입(132명)</a:t>
            </a:r>
          </a:p>
        </p:txBody>
      </p:sp>
      <p:cxnSp>
        <p:nvCxnSpPr>
          <p:cNvPr id="48" name="Connector 31"/>
          <p:cNvCxnSpPr/>
          <p:nvPr/>
        </p:nvCxnSpPr>
        <p:spPr>
          <a:xfrm>
            <a:off x="3230348" y="3621130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9" name="칸 본문"/>
          <p:cNvSpPr>
            <a:spLocks noGrp="1"/>
          </p:cNvSpPr>
          <p:nvPr>
            <p:ph type="body" sz="quarter" idx="38"/>
          </p:nvPr>
        </p:nvSpPr>
        <p:spPr>
          <a:xfrm>
            <a:off x="5124000" y="3588261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‘6일’만에 전시설 조기 정상화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상시 보유 인프라·전문가, 즉각적 재난대응·지원능력 입증</a:t>
            </a:r>
          </a:p>
        </p:txBody>
      </p:sp>
      <p:cxnSp>
        <p:nvCxnSpPr>
          <p:cNvPr id="50" name="Connector 33"/>
          <p:cNvCxnSpPr/>
          <p:nvPr/>
        </p:nvCxnSpPr>
        <p:spPr>
          <a:xfrm>
            <a:off x="5113043" y="3621130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1" name="레일"/>
          <p:cNvSpPr/>
          <p:nvPr/>
        </p:nvSpPr>
        <p:spPr>
          <a:xfrm>
            <a:off x="734087" y="4651043"/>
            <a:ext cx="580696" cy="1183304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2" name="레일"/>
          <p:cNvSpPr>
            <a:spLocks noGrp="1"/>
          </p:cNvSpPr>
          <p:nvPr>
            <p:ph type="body" sz="quarter" idx="39"/>
          </p:nvPr>
        </p:nvSpPr>
        <p:spPr>
          <a:xfrm>
            <a:off x="734087" y="4651043"/>
            <a:ext cx="580696" cy="1183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일상으로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회복지원</a:t>
            </a:r>
          </a:p>
        </p:txBody>
      </p:sp>
      <p:sp>
        <p:nvSpPr>
          <p:cNvPr id="53" name="레일 삼각형"/>
          <p:cNvSpPr/>
          <p:nvPr/>
        </p:nvSpPr>
        <p:spPr>
          <a:xfrm>
            <a:off x="734086" y="4651043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4" name="배너"/>
          <p:cNvSpPr/>
          <p:nvPr/>
        </p:nvSpPr>
        <p:spPr>
          <a:xfrm>
            <a:off x="1347652" y="4672957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55" name="배너"/>
          <p:cNvSpPr>
            <a:spLocks noGrp="1"/>
          </p:cNvSpPr>
          <p:nvPr>
            <p:ph type="body" sz="quarter" idx="40"/>
          </p:nvPr>
        </p:nvSpPr>
        <p:spPr>
          <a:xfrm>
            <a:off x="1347652" y="4672957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화마(火魔)가 휩쓴 자리를 보듬는 K-water의 따뜻한 나눔 경영 실천</a:t>
            </a:r>
          </a:p>
        </p:txBody>
      </p:sp>
      <p:sp>
        <p:nvSpPr>
          <p:cNvPr id="56" name="머리칸"/>
          <p:cNvSpPr/>
          <p:nvPr/>
        </p:nvSpPr>
        <p:spPr>
          <a:xfrm>
            <a:off x="1347652" y="490852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7" name="머리칸"/>
          <p:cNvSpPr>
            <a:spLocks noGrp="1"/>
          </p:cNvSpPr>
          <p:nvPr>
            <p:ph type="body" sz="quarter" idx="41"/>
          </p:nvPr>
        </p:nvSpPr>
        <p:spPr>
          <a:xfrm>
            <a:off x="1347652" y="490852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이재민 구호물품 지원</a:t>
            </a:r>
          </a:p>
        </p:txBody>
      </p:sp>
      <p:sp>
        <p:nvSpPr>
          <p:cNvPr id="58" name="머리칸"/>
          <p:cNvSpPr/>
          <p:nvPr/>
        </p:nvSpPr>
        <p:spPr>
          <a:xfrm>
            <a:off x="3230348" y="490852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9" name="머리칸"/>
          <p:cNvSpPr>
            <a:spLocks noGrp="1"/>
          </p:cNvSpPr>
          <p:nvPr>
            <p:ph type="body" sz="quarter" idx="42"/>
          </p:nvPr>
        </p:nvSpPr>
        <p:spPr>
          <a:xfrm>
            <a:off x="3230348" y="490852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물안전 먹는물 수질 확보</a:t>
            </a:r>
          </a:p>
        </p:txBody>
      </p:sp>
      <p:sp>
        <p:nvSpPr>
          <p:cNvPr id="60" name="머리칸"/>
          <p:cNvSpPr/>
          <p:nvPr/>
        </p:nvSpPr>
        <p:spPr>
          <a:xfrm>
            <a:off x="5113043" y="490852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61" name="머리칸"/>
          <p:cNvSpPr>
            <a:spLocks noGrp="1"/>
          </p:cNvSpPr>
          <p:nvPr>
            <p:ph type="body" sz="quarter" idx="43"/>
          </p:nvPr>
        </p:nvSpPr>
        <p:spPr>
          <a:xfrm>
            <a:off x="5113043" y="490852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생활안정 경제 지원</a:t>
            </a:r>
          </a:p>
        </p:txBody>
      </p:sp>
      <p:sp>
        <p:nvSpPr>
          <p:cNvPr id="62" name="칸 본문"/>
          <p:cNvSpPr>
            <a:spLocks noGrp="1"/>
          </p:cNvSpPr>
          <p:nvPr>
            <p:ph type="body" sz="quarter" idx="44"/>
          </p:nvPr>
        </p:nvSpPr>
        <p:spPr>
          <a:xfrm>
            <a:off x="1358609" y="5149565"/>
            <a:ext cx="1860783" cy="679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이동식 세탁차 지원(17일)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찾아가는 의료버스 운영</a:t>
            </a:r>
          </a:p>
        </p:txBody>
      </p:sp>
      <p:sp>
        <p:nvSpPr>
          <p:cNvPr id="63" name="칸 본문"/>
          <p:cNvSpPr>
            <a:spLocks noGrp="1"/>
          </p:cNvSpPr>
          <p:nvPr>
            <p:ph type="body" sz="quarter" idx="45"/>
          </p:nvPr>
        </p:nvSpPr>
        <p:spPr>
          <a:xfrm>
            <a:off x="3241304" y="5149565"/>
            <a:ext cx="1860783" cy="679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산불 수질검사(5개 지자체, 20만명)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가정배관 세척 지원(630건)</a:t>
            </a:r>
          </a:p>
        </p:txBody>
      </p:sp>
      <p:cxnSp>
        <p:nvCxnSpPr>
          <p:cNvPr id="64" name="Connector 42"/>
          <p:cNvCxnSpPr/>
          <p:nvPr/>
        </p:nvCxnSpPr>
        <p:spPr>
          <a:xfrm>
            <a:off x="3230348" y="5182435"/>
            <a:ext cx="0" cy="613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5" name="칸 본문"/>
          <p:cNvSpPr>
            <a:spLocks noGrp="1"/>
          </p:cNvSpPr>
          <p:nvPr>
            <p:ph type="body" sz="quarter" idx="46"/>
          </p:nvPr>
        </p:nvSpPr>
        <p:spPr>
          <a:xfrm>
            <a:off x="5124000" y="5149565"/>
            <a:ext cx="1860783" cy="679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수돗물 병물 10만병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피해지역 성금 기부(1억원)</a:t>
            </a:r>
          </a:p>
        </p:txBody>
      </p:sp>
      <p:cxnSp>
        <p:nvCxnSpPr>
          <p:cNvPr id="66" name="Connector 44"/>
          <p:cNvCxnSpPr/>
          <p:nvPr/>
        </p:nvCxnSpPr>
        <p:spPr>
          <a:xfrm>
            <a:off x="5113043" y="5182435"/>
            <a:ext cx="0" cy="613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81 서사 · 협력 거버넌스(소방용수 지원강화 · 산불정보 공유) → 종합성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3902364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전례없는 산불 발생에 「재난 대응 ONE-TEAM」 공조체계 작동</a:t>
            </a:r>
          </a:p>
        </p:txBody>
      </p:sp>
      <p:sp>
        <p:nvSpPr>
          <p:cNvPr id="12" name="태그칩"/>
          <p:cNvSpPr/>
          <p:nvPr/>
        </p:nvSpPr>
        <p:spPr>
          <a:xfrm>
            <a:off x="4537842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537842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4" name="태그칩"/>
          <p:cNvSpPr/>
          <p:nvPr/>
        </p:nvSpPr>
        <p:spPr>
          <a:xfrm>
            <a:off x="5088963" y="799826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2"/>
          </p:nvPr>
        </p:nvSpPr>
        <p:spPr>
          <a:xfrm>
            <a:off x="5088963" y="799826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6" name="표 외곽"/>
          <p:cNvSpPr/>
          <p:nvPr/>
        </p:nvSpPr>
        <p:spPr>
          <a:xfrm>
            <a:off x="536870" y="1051826"/>
            <a:ext cx="6300000" cy="2192713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547826" y="1068261"/>
            <a:ext cx="580696" cy="2534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3"/>
          </p:nvPr>
        </p:nvSpPr>
        <p:spPr>
          <a:xfrm>
            <a:off x="547826" y="1068261"/>
            <a:ext cx="580696" cy="2534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추진방향</a:t>
            </a:r>
          </a:p>
        </p:txBody>
      </p:sp>
      <p:sp>
        <p:nvSpPr>
          <p:cNvPr id="19" name="배너"/>
          <p:cNvSpPr/>
          <p:nvPr/>
        </p:nvSpPr>
        <p:spPr>
          <a:xfrm>
            <a:off x="1161391" y="1090174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0" name="배너"/>
          <p:cNvSpPr>
            <a:spLocks noGrp="1"/>
          </p:cNvSpPr>
          <p:nvPr>
            <p:ph type="body" sz="quarter" idx="24"/>
          </p:nvPr>
        </p:nvSpPr>
        <p:spPr>
          <a:xfrm>
            <a:off x="1161391" y="1090174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기관 경계를 허무는 ‘산림청-소방청-K-water’ 협력 거버넌스 기반 대응체계 고도화</a:t>
            </a:r>
          </a:p>
        </p:txBody>
      </p:sp>
      <p:sp>
        <p:nvSpPr>
          <p:cNvPr id="21" name="레일"/>
          <p:cNvSpPr/>
          <p:nvPr/>
        </p:nvSpPr>
        <p:spPr>
          <a:xfrm>
            <a:off x="547826" y="1338104"/>
            <a:ext cx="580696" cy="99156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2" name="레일 태그"/>
          <p:cNvSpPr/>
          <p:nvPr/>
        </p:nvSpPr>
        <p:spPr>
          <a:xfrm>
            <a:off x="613260" y="1502452"/>
            <a:ext cx="449828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3" name="레일 태그"/>
          <p:cNvSpPr>
            <a:spLocks noGrp="1"/>
          </p:cNvSpPr>
          <p:nvPr>
            <p:ph type="body" sz="quarter" idx="25"/>
          </p:nvPr>
        </p:nvSpPr>
        <p:spPr>
          <a:xfrm>
            <a:off x="613260" y="1502452"/>
            <a:ext cx="449828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소방청</a:t>
            </a:r>
          </a:p>
        </p:txBody>
      </p:sp>
      <p:sp>
        <p:nvSpPr>
          <p:cNvPr id="24" name="레일 라벨"/>
          <p:cNvSpPr>
            <a:spLocks noGrp="1"/>
          </p:cNvSpPr>
          <p:nvPr>
            <p:ph type="body" sz="quarter" idx="26"/>
          </p:nvPr>
        </p:nvSpPr>
        <p:spPr>
          <a:xfrm>
            <a:off x="547826" y="1688713"/>
            <a:ext cx="580696" cy="619043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소방용수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지원강화</a:t>
            </a:r>
          </a:p>
        </p:txBody>
      </p:sp>
      <p:sp>
        <p:nvSpPr>
          <p:cNvPr id="25" name="레일 삼각형"/>
          <p:cNvSpPr/>
          <p:nvPr/>
        </p:nvSpPr>
        <p:spPr>
          <a:xfrm>
            <a:off x="547826" y="1338104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6" name="단계"/>
          <p:cNvSpPr/>
          <p:nvPr/>
        </p:nvSpPr>
        <p:spPr>
          <a:xfrm>
            <a:off x="1161391" y="1360017"/>
            <a:ext cx="176502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7" name="단계"/>
          <p:cNvSpPr>
            <a:spLocks noGrp="1"/>
          </p:cNvSpPr>
          <p:nvPr>
            <p:ph type="body" sz="quarter" idx="27"/>
          </p:nvPr>
        </p:nvSpPr>
        <p:spPr>
          <a:xfrm>
            <a:off x="1161391" y="1360017"/>
            <a:ext cx="176502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용수·정보 부족</a:t>
            </a:r>
          </a:p>
        </p:txBody>
      </p:sp>
      <p:sp>
        <p:nvSpPr>
          <p:cNvPr id="28" name="단계"/>
          <p:cNvSpPr/>
          <p:nvPr/>
        </p:nvSpPr>
        <p:spPr>
          <a:xfrm>
            <a:off x="2926418" y="1360017"/>
            <a:ext cx="3883060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9" name="단계"/>
          <p:cNvSpPr>
            <a:spLocks noGrp="1"/>
          </p:cNvSpPr>
          <p:nvPr>
            <p:ph type="body" sz="quarter" idx="28"/>
          </p:nvPr>
        </p:nvSpPr>
        <p:spPr>
          <a:xfrm>
            <a:off x="2926418" y="1360017"/>
            <a:ext cx="3883060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상수도 데이터 기반, 대형 화재·산불 대응지원 서비스 론칭</a:t>
            </a:r>
          </a:p>
        </p:txBody>
      </p:sp>
      <p:sp>
        <p:nvSpPr>
          <p:cNvPr id="30" name="단계 삼각형"/>
          <p:cNvSpPr/>
          <p:nvPr/>
        </p:nvSpPr>
        <p:spPr>
          <a:xfrm>
            <a:off x="2926418" y="1360017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1" name="칸 본문"/>
          <p:cNvSpPr>
            <a:spLocks noGrp="1"/>
          </p:cNvSpPr>
          <p:nvPr>
            <p:ph type="body" sz="quarter" idx="29"/>
          </p:nvPr>
        </p:nvSpPr>
        <p:spPr>
          <a:xfrm>
            <a:off x="1172348" y="1612017"/>
            <a:ext cx="1743114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대형화재 진압시 소방용수 부족 반복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소방청 수도정보 직접 확인 어려움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0"/>
          </p:nvPr>
        </p:nvSpPr>
        <p:spPr>
          <a:xfrm>
            <a:off x="2937375" y="1612017"/>
            <a:ext cx="3861147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데이터 국가 상수도 GIS 정보 제공(관로위치 등)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AI분석 최적 소화전 위치 확인 및 가능량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교육 주관 전국 소방청 담당자 직접 교육(81명)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충수시설 제공(136개)</a:t>
            </a:r>
          </a:p>
        </p:txBody>
      </p:sp>
      <p:cxnSp>
        <p:nvCxnSpPr>
          <p:cNvPr id="33" name="Connector 22"/>
          <p:cNvCxnSpPr/>
          <p:nvPr/>
        </p:nvCxnSpPr>
        <p:spPr>
          <a:xfrm>
            <a:off x="2926418" y="1644887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4" name="레일"/>
          <p:cNvSpPr/>
          <p:nvPr/>
        </p:nvSpPr>
        <p:spPr>
          <a:xfrm>
            <a:off x="547826" y="2346104"/>
            <a:ext cx="580696" cy="882000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5" name="레일 태그"/>
          <p:cNvSpPr/>
          <p:nvPr/>
        </p:nvSpPr>
        <p:spPr>
          <a:xfrm>
            <a:off x="613260" y="2510452"/>
            <a:ext cx="449828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6" name="레일 태그"/>
          <p:cNvSpPr>
            <a:spLocks noGrp="1"/>
          </p:cNvSpPr>
          <p:nvPr>
            <p:ph type="body" sz="quarter" idx="31"/>
          </p:nvPr>
        </p:nvSpPr>
        <p:spPr>
          <a:xfrm>
            <a:off x="613260" y="2510452"/>
            <a:ext cx="449828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산림청</a:t>
            </a:r>
          </a:p>
        </p:txBody>
      </p:sp>
      <p:sp>
        <p:nvSpPr>
          <p:cNvPr id="37" name="레일 라벨"/>
          <p:cNvSpPr>
            <a:spLocks noGrp="1"/>
          </p:cNvSpPr>
          <p:nvPr>
            <p:ph type="body" sz="quarter" idx="32"/>
          </p:nvPr>
        </p:nvSpPr>
        <p:spPr>
          <a:xfrm>
            <a:off x="547826" y="2696713"/>
            <a:ext cx="580696" cy="509478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산불정보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공 유</a:t>
            </a:r>
          </a:p>
        </p:txBody>
      </p:sp>
      <p:sp>
        <p:nvSpPr>
          <p:cNvPr id="38" name="레일 삼각형"/>
          <p:cNvSpPr/>
          <p:nvPr/>
        </p:nvSpPr>
        <p:spPr>
          <a:xfrm>
            <a:off x="547826" y="2346104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9" name="단계"/>
          <p:cNvSpPr/>
          <p:nvPr/>
        </p:nvSpPr>
        <p:spPr>
          <a:xfrm>
            <a:off x="1161391" y="2368017"/>
            <a:ext cx="176502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0" name="단계"/>
          <p:cNvSpPr>
            <a:spLocks noGrp="1"/>
          </p:cNvSpPr>
          <p:nvPr>
            <p:ph type="body" sz="quarter" idx="33"/>
          </p:nvPr>
        </p:nvSpPr>
        <p:spPr>
          <a:xfrm>
            <a:off x="1161391" y="2368017"/>
            <a:ext cx="176502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데이터 공유 미흡</a:t>
            </a:r>
          </a:p>
        </p:txBody>
      </p:sp>
      <p:sp>
        <p:nvSpPr>
          <p:cNvPr id="41" name="단계"/>
          <p:cNvSpPr/>
          <p:nvPr/>
        </p:nvSpPr>
        <p:spPr>
          <a:xfrm>
            <a:off x="2926418" y="2368017"/>
            <a:ext cx="3883060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2" name="단계"/>
          <p:cNvSpPr>
            <a:spLocks noGrp="1"/>
          </p:cNvSpPr>
          <p:nvPr>
            <p:ph type="body" sz="quarter" idx="34"/>
          </p:nvPr>
        </p:nvSpPr>
        <p:spPr>
          <a:xfrm>
            <a:off x="2926418" y="2368017"/>
            <a:ext cx="3883060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실시간 산불정보 연계 및 입체적 감시망 구축</a:t>
            </a:r>
          </a:p>
        </p:txBody>
      </p:sp>
      <p:sp>
        <p:nvSpPr>
          <p:cNvPr id="43" name="단계 삼각형"/>
          <p:cNvSpPr/>
          <p:nvPr/>
        </p:nvSpPr>
        <p:spPr>
          <a:xfrm>
            <a:off x="2926418" y="2368017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4" name="칸 본문"/>
          <p:cNvSpPr>
            <a:spLocks noGrp="1"/>
          </p:cNvSpPr>
          <p:nvPr>
            <p:ph type="body" sz="quarter" idx="35"/>
          </p:nvPr>
        </p:nvSpPr>
        <p:spPr>
          <a:xfrm>
            <a:off x="1172348" y="2620017"/>
            <a:ext cx="1743114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산불정보 상호 미공유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시설 산불위험 미인지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실시간 영상정보 부족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36"/>
          </p:nvPr>
        </p:nvSpPr>
        <p:spPr>
          <a:xfrm>
            <a:off x="2937375" y="2620017"/>
            <a:ext cx="3861147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산불정보 실시간 산불정보 내부시스템 연계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위기알림 위험지역(3㎞) 인접시 담당자 알림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영상공유 자체 보유 CCTV 영상 산림청 제공</a:t>
            </a:r>
          </a:p>
        </p:txBody>
      </p:sp>
      <p:cxnSp>
        <p:nvCxnSpPr>
          <p:cNvPr id="46" name="Connector 32"/>
          <p:cNvCxnSpPr/>
          <p:nvPr/>
        </p:nvCxnSpPr>
        <p:spPr>
          <a:xfrm>
            <a:off x="2926418" y="2652887"/>
            <a:ext cx="0" cy="536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7" name="핵심성과 박스"/>
          <p:cNvSpPr/>
          <p:nvPr/>
        </p:nvSpPr>
        <p:spPr>
          <a:xfrm>
            <a:off x="536870" y="3332191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8" name="핵심성과 라벨"/>
          <p:cNvSpPr/>
          <p:nvPr/>
        </p:nvSpPr>
        <p:spPr>
          <a:xfrm>
            <a:off x="569739" y="3365061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9" name="핵심성과 라벨"/>
          <p:cNvSpPr>
            <a:spLocks noGrp="1"/>
          </p:cNvSpPr>
          <p:nvPr>
            <p:ph type="body" sz="quarter" idx="37"/>
          </p:nvPr>
        </p:nvSpPr>
        <p:spPr>
          <a:xfrm>
            <a:off x="569739" y="3365061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종합성과</a:t>
            </a:r>
          </a:p>
        </p:txBody>
      </p:sp>
      <p:sp>
        <p:nvSpPr>
          <p:cNvPr id="50" name="핵심성과 문구"/>
          <p:cNvSpPr>
            <a:spLocks noGrp="1"/>
          </p:cNvSpPr>
          <p:nvPr>
            <p:ph type="body" sz="quarter" idx="38"/>
          </p:nvPr>
        </p:nvSpPr>
        <p:spPr>
          <a:xfrm>
            <a:off x="1314783" y="3354104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K-water 인프라 활용, 초유의 국가적 산불재난 대응 및 협력체계 우수모델 제시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소방청 주관, 중앙단위 긴급구조지원기관 평가 ‘최우수기관’ 선정(2년 연속 1등)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82 서사 · 환경변화 → 기본책무 → 역할확장 → 3대 방향 · 실행과제 · 실행기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기후위기 대응을 위한 글로벌 물·에너지 선도와 친환경 생태계 전환</a:t>
            </a:r>
          </a:p>
        </p:txBody>
      </p:sp>
      <p:sp>
        <p:nvSpPr>
          <p:cNvPr id="14" name="번호 띠 칩"/>
          <p:cNvSpPr/>
          <p:nvPr/>
        </p:nvSpPr>
        <p:spPr>
          <a:xfrm>
            <a:off x="6428183" y="843652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번호 띠 칩"/>
          <p:cNvSpPr>
            <a:spLocks noGrp="1"/>
          </p:cNvSpPr>
          <p:nvPr>
            <p:ph type="body" sz="quarter" idx="22"/>
          </p:nvPr>
        </p:nvSpPr>
        <p:spPr>
          <a:xfrm>
            <a:off x="6428183" y="843652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표 외곽"/>
          <p:cNvSpPr/>
          <p:nvPr/>
        </p:nvSpPr>
        <p:spPr>
          <a:xfrm>
            <a:off x="723130" y="1128522"/>
            <a:ext cx="6300000" cy="292429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734087" y="1144957"/>
            <a:ext cx="580696" cy="1490087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3"/>
          </p:nvPr>
        </p:nvSpPr>
        <p:spPr>
          <a:xfrm>
            <a:off x="734087" y="1144957"/>
            <a:ext cx="580696" cy="149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변 화</a:t>
            </a:r>
          </a:p>
        </p:txBody>
      </p:sp>
      <p:sp>
        <p:nvSpPr>
          <p:cNvPr id="19" name="배너"/>
          <p:cNvSpPr/>
          <p:nvPr/>
        </p:nvSpPr>
        <p:spPr>
          <a:xfrm>
            <a:off x="1347652" y="1166870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0" name="배너"/>
          <p:cNvSpPr>
            <a:spLocks noGrp="1"/>
          </p:cNvSpPr>
          <p:nvPr>
            <p:ph type="body" sz="quarter" idx="24"/>
          </p:nvPr>
        </p:nvSpPr>
        <p:spPr>
          <a:xfrm>
            <a:off x="1347652" y="1166870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범국가적 기후위기 대응과 친환경·탄소중립 추진 속도 재점화</a:t>
            </a:r>
          </a:p>
        </p:txBody>
      </p:sp>
      <p:sp>
        <p:nvSpPr>
          <p:cNvPr id="21" name="머리칸"/>
          <p:cNvSpPr/>
          <p:nvPr/>
        </p:nvSpPr>
        <p:spPr>
          <a:xfrm>
            <a:off x="1347652" y="140243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2" name="머리칸"/>
          <p:cNvSpPr>
            <a:spLocks noGrp="1"/>
          </p:cNvSpPr>
          <p:nvPr>
            <p:ph type="body" sz="quarter" idx="25"/>
          </p:nvPr>
        </p:nvSpPr>
        <p:spPr>
          <a:xfrm>
            <a:off x="1347652" y="140243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新정부 출범</a:t>
            </a:r>
          </a:p>
        </p:txBody>
      </p:sp>
      <p:sp>
        <p:nvSpPr>
          <p:cNvPr id="23" name="머리칸"/>
          <p:cNvSpPr/>
          <p:nvPr/>
        </p:nvSpPr>
        <p:spPr>
          <a:xfrm>
            <a:off x="3230348" y="140243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4" name="머리칸"/>
          <p:cNvSpPr>
            <a:spLocks noGrp="1"/>
          </p:cNvSpPr>
          <p:nvPr>
            <p:ph type="body" sz="quarter" idx="26"/>
          </p:nvPr>
        </p:nvSpPr>
        <p:spPr>
          <a:xfrm>
            <a:off x="3230348" y="140243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국가 NDC 목표 강화</a:t>
            </a:r>
          </a:p>
        </p:txBody>
      </p:sp>
      <p:sp>
        <p:nvSpPr>
          <p:cNvPr id="25" name="머리칸"/>
          <p:cNvSpPr/>
          <p:nvPr/>
        </p:nvSpPr>
        <p:spPr>
          <a:xfrm>
            <a:off x="5113043" y="140243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6" name="머리칸"/>
          <p:cNvSpPr>
            <a:spLocks noGrp="1"/>
          </p:cNvSpPr>
          <p:nvPr>
            <p:ph type="body" sz="quarter" idx="27"/>
          </p:nvPr>
        </p:nvSpPr>
        <p:spPr>
          <a:xfrm>
            <a:off x="5113043" y="140243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 ESG 중요성 증대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28"/>
          </p:nvPr>
        </p:nvSpPr>
        <p:spPr>
          <a:xfrm>
            <a:off x="1358609" y="1643478"/>
            <a:ext cx="1860783" cy="9860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탄소중립과 ESG 가치 중심의 국정방향 전환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‘기후위기 대응과 에너지 전환’ 단독 국정과제 채택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9"/>
          </p:nvPr>
        </p:nvSpPr>
        <p:spPr>
          <a:xfrm>
            <a:off x="3241304" y="1643478"/>
            <a:ext cx="1860783" cy="9860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NDC 목표 달성을 위한 구체적 실행방안 절실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당초 40% → 53~61%로 감축목표 상향</a:t>
            </a:r>
          </a:p>
        </p:txBody>
      </p:sp>
      <p:cxnSp>
        <p:nvCxnSpPr>
          <p:cNvPr id="29" name="Connector 17"/>
          <p:cNvCxnSpPr/>
          <p:nvPr/>
        </p:nvCxnSpPr>
        <p:spPr>
          <a:xfrm>
            <a:off x="3230348" y="1676348"/>
            <a:ext cx="0" cy="92034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0" name="칸 본문"/>
          <p:cNvSpPr>
            <a:spLocks noGrp="1"/>
          </p:cNvSpPr>
          <p:nvPr>
            <p:ph type="body" sz="quarter" idx="30"/>
          </p:nvPr>
        </p:nvSpPr>
        <p:spPr>
          <a:xfrm>
            <a:off x="5124000" y="1643478"/>
            <a:ext cx="1860783" cy="9860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ESG 공시 강화 등 기업 경영여건 변화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 지속성 가치와 투자 판단 핵심 지표로써 ESG 강화</a:t>
            </a:r>
          </a:p>
        </p:txBody>
      </p:sp>
      <p:cxnSp>
        <p:nvCxnSpPr>
          <p:cNvPr id="31" name="Connector 19"/>
          <p:cNvCxnSpPr/>
          <p:nvPr/>
        </p:nvCxnSpPr>
        <p:spPr>
          <a:xfrm>
            <a:off x="5113043" y="1676348"/>
            <a:ext cx="0" cy="92034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2" name="레일"/>
          <p:cNvSpPr/>
          <p:nvPr/>
        </p:nvSpPr>
        <p:spPr>
          <a:xfrm>
            <a:off x="734087" y="2651478"/>
            <a:ext cx="580696" cy="1384904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3" name="레일"/>
          <p:cNvSpPr>
            <a:spLocks noGrp="1"/>
          </p:cNvSpPr>
          <p:nvPr>
            <p:ph type="body" sz="quarter" idx="31"/>
          </p:nvPr>
        </p:nvSpPr>
        <p:spPr>
          <a:xfrm>
            <a:off x="734087" y="2651478"/>
            <a:ext cx="580696" cy="13849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기본책무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역할확장</a:t>
            </a:r>
          </a:p>
        </p:txBody>
      </p:sp>
      <p:sp>
        <p:nvSpPr>
          <p:cNvPr id="34" name="레일 삼각형"/>
          <p:cNvSpPr/>
          <p:nvPr/>
        </p:nvSpPr>
        <p:spPr>
          <a:xfrm>
            <a:off x="734086" y="2651478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5" name="배너"/>
          <p:cNvSpPr/>
          <p:nvPr/>
        </p:nvSpPr>
        <p:spPr>
          <a:xfrm>
            <a:off x="1347652" y="2673391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6" name="배너"/>
          <p:cNvSpPr>
            <a:spLocks noGrp="1"/>
          </p:cNvSpPr>
          <p:nvPr>
            <p:ph type="body" sz="quarter" idx="32"/>
          </p:nvPr>
        </p:nvSpPr>
        <p:spPr>
          <a:xfrm>
            <a:off x="1347652" y="2673391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고유 업역내 축적된 역량과 자원을 활용, 친환경·탄소중립 실현의 주도적 역할 수행중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3"/>
          </p:nvPr>
        </p:nvSpPr>
        <p:spPr>
          <a:xfrm>
            <a:off x="1358609" y="2908957"/>
            <a:ext cx="1390109" cy="11219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국가 물관리 책임기관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수자원의 확보와 안정적 이용 보장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❶ 수질·수량 복원 기반 가용수량 확대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4"/>
          </p:nvPr>
        </p:nvSpPr>
        <p:spPr>
          <a:xfrm>
            <a:off x="2770630" y="2908957"/>
            <a:ext cx="1390109" cy="11219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수변환경 공간 관리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유역내 수질오염원 차단 및 정화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❷ 생물 다양성 거점 구축 공간가치 극대화</a:t>
            </a:r>
          </a:p>
        </p:txBody>
      </p:sp>
      <p:cxnSp>
        <p:nvCxnSpPr>
          <p:cNvPr id="39" name="Connector 25"/>
          <p:cNvCxnSpPr/>
          <p:nvPr/>
        </p:nvCxnSpPr>
        <p:spPr>
          <a:xfrm>
            <a:off x="2759674" y="2941826"/>
            <a:ext cx="0" cy="10562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0" name="칸 본문"/>
          <p:cNvSpPr>
            <a:spLocks noGrp="1"/>
          </p:cNvSpPr>
          <p:nvPr>
            <p:ph type="body" sz="quarter" idx="35"/>
          </p:nvPr>
        </p:nvSpPr>
        <p:spPr>
          <a:xfrm>
            <a:off x="4182652" y="2908957"/>
            <a:ext cx="1390109" cy="11219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물-에너지 융합 기후테크 선도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국내 최대 재생e 보유 신규 에너지 발굴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❸ 국가 탄소중립 실현과 기업 RE100 지원</a:t>
            </a:r>
          </a:p>
        </p:txBody>
      </p:sp>
      <p:cxnSp>
        <p:nvCxnSpPr>
          <p:cNvPr id="41" name="Connector 27"/>
          <p:cNvCxnSpPr/>
          <p:nvPr/>
        </p:nvCxnSpPr>
        <p:spPr>
          <a:xfrm>
            <a:off x="4171696" y="2941826"/>
            <a:ext cx="0" cy="10562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2" name="칸 본문"/>
          <p:cNvSpPr>
            <a:spLocks noGrp="1"/>
          </p:cNvSpPr>
          <p:nvPr>
            <p:ph type="body" sz="quarter" idx="36"/>
          </p:nvPr>
        </p:nvSpPr>
        <p:spPr>
          <a:xfrm>
            <a:off x="5594674" y="2908957"/>
            <a:ext cx="1390109" cy="11219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친환경 경영체계 확립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환경법규 준수 등 사회적 책임 이행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❹ ESG 관점의 경영체질 개선</a:t>
            </a:r>
          </a:p>
        </p:txBody>
      </p:sp>
      <p:cxnSp>
        <p:nvCxnSpPr>
          <p:cNvPr id="43" name="Connector 29"/>
          <p:cNvCxnSpPr/>
          <p:nvPr/>
        </p:nvCxnSpPr>
        <p:spPr>
          <a:xfrm>
            <a:off x="5583717" y="2941826"/>
            <a:ext cx="0" cy="10562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4" name="캡션 띠"/>
          <p:cNvSpPr/>
          <p:nvPr/>
        </p:nvSpPr>
        <p:spPr>
          <a:xfrm>
            <a:off x="723130" y="4074730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5" name="캡션"/>
          <p:cNvSpPr>
            <a:spLocks noGrp="1"/>
          </p:cNvSpPr>
          <p:nvPr>
            <p:ph type="body" sz="quarter" idx="37"/>
          </p:nvPr>
        </p:nvSpPr>
        <p:spPr>
          <a:xfrm>
            <a:off x="942261" y="4074730"/>
            <a:ext cx="5861739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【 확장된 역할을 기반으로 전사 역량을 집중할 친환경·탄소중립 추진 3대 방향성 설정 】</a:t>
            </a:r>
          </a:p>
        </p:txBody>
      </p:sp>
      <p:sp>
        <p:nvSpPr>
          <p:cNvPr id="46" name="표 외곽"/>
          <p:cNvSpPr/>
          <p:nvPr/>
        </p:nvSpPr>
        <p:spPr>
          <a:xfrm>
            <a:off x="723130" y="4381513"/>
            <a:ext cx="6300000" cy="382930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7" name="레일"/>
          <p:cNvSpPr/>
          <p:nvPr/>
        </p:nvSpPr>
        <p:spPr>
          <a:xfrm>
            <a:off x="734087" y="4397948"/>
            <a:ext cx="580696" cy="88200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8" name="레일"/>
          <p:cNvSpPr>
            <a:spLocks noGrp="1"/>
          </p:cNvSpPr>
          <p:nvPr>
            <p:ph type="body" sz="quarter" idx="38"/>
          </p:nvPr>
        </p:nvSpPr>
        <p:spPr>
          <a:xfrm>
            <a:off x="734087" y="4397948"/>
            <a:ext cx="580696" cy="88200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 향</a:t>
            </a:r>
          </a:p>
        </p:txBody>
      </p:sp>
      <p:sp>
        <p:nvSpPr>
          <p:cNvPr id="49" name="단계"/>
          <p:cNvSpPr/>
          <p:nvPr/>
        </p:nvSpPr>
        <p:spPr>
          <a:xfrm>
            <a:off x="1347652" y="4419861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0" name="단계"/>
          <p:cNvSpPr>
            <a:spLocks noGrp="1"/>
          </p:cNvSpPr>
          <p:nvPr>
            <p:ph type="body" sz="quarter" idx="39"/>
          </p:nvPr>
        </p:nvSpPr>
        <p:spPr>
          <a:xfrm>
            <a:off x="1347652" y="4419861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자연 회복력 중심의 생태가치 증진 역할 확대</a:t>
            </a:r>
          </a:p>
        </p:txBody>
      </p:sp>
      <p:sp>
        <p:nvSpPr>
          <p:cNvPr id="51" name="단계"/>
          <p:cNvSpPr/>
          <p:nvPr/>
        </p:nvSpPr>
        <p:spPr>
          <a:xfrm>
            <a:off x="3230348" y="4419861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2" name="단계"/>
          <p:cNvSpPr>
            <a:spLocks noGrp="1"/>
          </p:cNvSpPr>
          <p:nvPr>
            <p:ph type="body" sz="quarter" idx="40"/>
          </p:nvPr>
        </p:nvSpPr>
        <p:spPr>
          <a:xfrm>
            <a:off x="3230348" y="4419861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물-에너지 기반의 탄소중립 이행력 강화</a:t>
            </a:r>
          </a:p>
        </p:txBody>
      </p:sp>
      <p:sp>
        <p:nvSpPr>
          <p:cNvPr id="53" name="단계"/>
          <p:cNvSpPr/>
          <p:nvPr/>
        </p:nvSpPr>
        <p:spPr>
          <a:xfrm>
            <a:off x="5113043" y="4419861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4" name="단계"/>
          <p:cNvSpPr>
            <a:spLocks noGrp="1"/>
          </p:cNvSpPr>
          <p:nvPr>
            <p:ph type="body" sz="quarter" idx="41"/>
          </p:nvPr>
        </p:nvSpPr>
        <p:spPr>
          <a:xfrm>
            <a:off x="5113043" y="4419861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 리스크 관리 지속가능경영 고도화</a:t>
            </a:r>
          </a:p>
        </p:txBody>
      </p:sp>
      <p:sp>
        <p:nvSpPr>
          <p:cNvPr id="55" name="단계 삼각형"/>
          <p:cNvSpPr/>
          <p:nvPr/>
        </p:nvSpPr>
        <p:spPr>
          <a:xfrm>
            <a:off x="3230347" y="4419860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6" name="단계 삼각형"/>
          <p:cNvSpPr/>
          <p:nvPr/>
        </p:nvSpPr>
        <p:spPr>
          <a:xfrm>
            <a:off x="5113043" y="4419860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7" name="칸 본문"/>
          <p:cNvSpPr txBox="1"/>
          <p:nvPr/>
        </p:nvSpPr>
        <p:spPr>
          <a:xfrm>
            <a:off x="1358609" y="4671861"/>
            <a:ext cx="1860783" cy="602609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sp>
        <p:nvSpPr>
          <p:cNvPr id="58" name="칸 본문"/>
          <p:cNvSpPr txBox="1"/>
          <p:nvPr/>
        </p:nvSpPr>
        <p:spPr>
          <a:xfrm>
            <a:off x="3241304" y="4671861"/>
            <a:ext cx="1860783" cy="602609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59" name="Connector 41"/>
          <p:cNvCxnSpPr/>
          <p:nvPr/>
        </p:nvCxnSpPr>
        <p:spPr>
          <a:xfrm>
            <a:off x="3230348" y="4704730"/>
            <a:ext cx="0" cy="536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0" name="칸 본문"/>
          <p:cNvSpPr txBox="1"/>
          <p:nvPr/>
        </p:nvSpPr>
        <p:spPr>
          <a:xfrm>
            <a:off x="5124000" y="4671861"/>
            <a:ext cx="1860783" cy="602609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61" name="Connector 43"/>
          <p:cNvCxnSpPr/>
          <p:nvPr/>
        </p:nvCxnSpPr>
        <p:spPr>
          <a:xfrm>
            <a:off x="5113043" y="4704730"/>
            <a:ext cx="0" cy="536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2" name="레일"/>
          <p:cNvSpPr/>
          <p:nvPr/>
        </p:nvSpPr>
        <p:spPr>
          <a:xfrm>
            <a:off x="734087" y="5296383"/>
            <a:ext cx="580696" cy="1068261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3" name="레일"/>
          <p:cNvSpPr>
            <a:spLocks noGrp="1"/>
          </p:cNvSpPr>
          <p:nvPr>
            <p:ph type="body" sz="quarter" idx="42"/>
          </p:nvPr>
        </p:nvSpPr>
        <p:spPr>
          <a:xfrm>
            <a:off x="734087" y="5296383"/>
            <a:ext cx="580696" cy="1068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 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 제</a:t>
            </a:r>
          </a:p>
        </p:txBody>
      </p:sp>
      <p:sp>
        <p:nvSpPr>
          <p:cNvPr id="64" name="레일 삼각형"/>
          <p:cNvSpPr/>
          <p:nvPr/>
        </p:nvSpPr>
        <p:spPr>
          <a:xfrm>
            <a:off x="734086" y="5296382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5" name="칸 본문"/>
          <p:cNvSpPr>
            <a:spLocks noGrp="1"/>
          </p:cNvSpPr>
          <p:nvPr>
            <p:ph type="body" sz="quarter" idx="43"/>
          </p:nvPr>
        </p:nvSpPr>
        <p:spPr>
          <a:xfrm>
            <a:off x="1358609" y="5318296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지속가능 물이용의 해법, Water Positive 주도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비상한 대책으로 오염토양 완벽 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상류 자연성 회복으로 생태가치 강화</a:t>
            </a:r>
          </a:p>
        </p:txBody>
      </p:sp>
      <p:sp>
        <p:nvSpPr>
          <p:cNvPr id="66" name="칸 본문"/>
          <p:cNvSpPr>
            <a:spLocks noGrp="1"/>
          </p:cNvSpPr>
          <p:nvPr>
            <p:ph type="body" sz="quarter" idx="44"/>
          </p:nvPr>
        </p:nvSpPr>
        <p:spPr>
          <a:xfrm>
            <a:off x="3241304" y="5318296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환경변화를 반영한 물e Re:boot 로드맵 수립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물로 만든 청정에너지로 상생 경제 구현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수력을 활용한 기업 RE100 달성 지원</a:t>
            </a:r>
          </a:p>
        </p:txBody>
      </p:sp>
      <p:cxnSp>
        <p:nvCxnSpPr>
          <p:cNvPr id="67" name="Connector 48"/>
          <p:cNvCxnSpPr/>
          <p:nvPr/>
        </p:nvCxnSpPr>
        <p:spPr>
          <a:xfrm>
            <a:off x="3230348" y="5351165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8" name="칸 본문"/>
          <p:cNvSpPr>
            <a:spLocks noGrp="1"/>
          </p:cNvSpPr>
          <p:nvPr>
            <p:ph type="body" sz="quarter" idx="45"/>
          </p:nvPr>
        </p:nvSpPr>
        <p:spPr>
          <a:xfrm>
            <a:off x="5124000" y="5318296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환경경영 취약지점 중심의 철저한 관리체계 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단계별 직무 전문인력 육성체계 완성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 관점의 신뢰성있는 정보공개 확대</a:t>
            </a:r>
          </a:p>
        </p:txBody>
      </p:sp>
      <p:cxnSp>
        <p:nvCxnSpPr>
          <p:cNvPr id="69" name="Connector 50"/>
          <p:cNvCxnSpPr/>
          <p:nvPr/>
        </p:nvCxnSpPr>
        <p:spPr>
          <a:xfrm>
            <a:off x="5113043" y="5351165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0" name="레일"/>
          <p:cNvSpPr/>
          <p:nvPr/>
        </p:nvSpPr>
        <p:spPr>
          <a:xfrm>
            <a:off x="734087" y="6381078"/>
            <a:ext cx="580696" cy="761478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1" name="레일"/>
          <p:cNvSpPr>
            <a:spLocks noGrp="1"/>
          </p:cNvSpPr>
          <p:nvPr>
            <p:ph type="body" sz="quarter" idx="46"/>
          </p:nvPr>
        </p:nvSpPr>
        <p:spPr>
          <a:xfrm>
            <a:off x="734087" y="6381078"/>
            <a:ext cx="580696" cy="76147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성과지표</a:t>
            </a:r>
          </a:p>
        </p:txBody>
      </p:sp>
      <p:sp>
        <p:nvSpPr>
          <p:cNvPr id="72" name="칸 본문"/>
          <p:cNvSpPr>
            <a:spLocks noGrp="1"/>
          </p:cNvSpPr>
          <p:nvPr>
            <p:ph type="body" sz="quarter" idx="47"/>
          </p:nvPr>
        </p:nvSpPr>
        <p:spPr>
          <a:xfrm>
            <a:off x="1358609" y="6402991"/>
            <a:ext cx="1860783" cy="7340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 복원량(4천명 이상)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자연공존지역 등재(3개 이상)</a:t>
            </a:r>
          </a:p>
        </p:txBody>
      </p:sp>
      <p:sp>
        <p:nvSpPr>
          <p:cNvPr id="73" name="칸 본문"/>
          <p:cNvSpPr>
            <a:spLocks noGrp="1"/>
          </p:cNvSpPr>
          <p:nvPr>
            <p:ph type="body" sz="quarter" idx="48"/>
          </p:nvPr>
        </p:nvSpPr>
        <p:spPr>
          <a:xfrm>
            <a:off x="3241304" y="6402991"/>
            <a:ext cx="1860783" cy="7340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국외 감축사업 발굴(1개 이상)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제로에너지빌딩 인증(1건 이상)</a:t>
            </a:r>
          </a:p>
        </p:txBody>
      </p:sp>
      <p:cxnSp>
        <p:nvCxnSpPr>
          <p:cNvPr id="74" name="Connector 54"/>
          <p:cNvCxnSpPr/>
          <p:nvPr/>
        </p:nvCxnSpPr>
        <p:spPr>
          <a:xfrm>
            <a:off x="3230348" y="6435861"/>
            <a:ext cx="0" cy="66834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5" name="칸 본문"/>
          <p:cNvSpPr>
            <a:spLocks noGrp="1"/>
          </p:cNvSpPr>
          <p:nvPr>
            <p:ph type="body" sz="quarter" idx="49"/>
          </p:nvPr>
        </p:nvSpPr>
        <p:spPr>
          <a:xfrm>
            <a:off x="5124000" y="6402991"/>
            <a:ext cx="1860783" cy="7340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직무·글로벌 전문가(40명 이상)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 배치자 교육(100% 이수)</a:t>
            </a:r>
          </a:p>
        </p:txBody>
      </p:sp>
      <p:cxnSp>
        <p:nvCxnSpPr>
          <p:cNvPr id="76" name="Connector 56"/>
          <p:cNvCxnSpPr/>
          <p:nvPr/>
        </p:nvCxnSpPr>
        <p:spPr>
          <a:xfrm>
            <a:off x="5113043" y="6435861"/>
            <a:ext cx="0" cy="66834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7" name="레일"/>
          <p:cNvSpPr/>
          <p:nvPr/>
        </p:nvSpPr>
        <p:spPr>
          <a:xfrm>
            <a:off x="734087" y="7158991"/>
            <a:ext cx="580696" cy="1035391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8" name="레일"/>
          <p:cNvSpPr>
            <a:spLocks noGrp="1"/>
          </p:cNvSpPr>
          <p:nvPr>
            <p:ph type="body" sz="quarter" idx="50"/>
          </p:nvPr>
        </p:nvSpPr>
        <p:spPr>
          <a:xfrm>
            <a:off x="734087" y="7158991"/>
            <a:ext cx="580696" cy="103539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 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 반</a:t>
            </a:r>
          </a:p>
        </p:txBody>
      </p:sp>
      <p:sp>
        <p:nvSpPr>
          <p:cNvPr id="79" name="레일 삼각형"/>
          <p:cNvSpPr/>
          <p:nvPr/>
        </p:nvSpPr>
        <p:spPr>
          <a:xfrm>
            <a:off x="734086" y="7158991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80" name="태그"/>
          <p:cNvSpPr/>
          <p:nvPr/>
        </p:nvSpPr>
        <p:spPr>
          <a:xfrm>
            <a:off x="1347652" y="7202817"/>
            <a:ext cx="581509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81" name="태그"/>
          <p:cNvSpPr>
            <a:spLocks noGrp="1"/>
          </p:cNvSpPr>
          <p:nvPr>
            <p:ph type="body" sz="quarter" idx="51"/>
          </p:nvPr>
        </p:nvSpPr>
        <p:spPr>
          <a:xfrm>
            <a:off x="1347652" y="7202817"/>
            <a:ext cx="58150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조직체계</a:t>
            </a:r>
          </a:p>
        </p:txBody>
      </p:sp>
      <p:sp>
        <p:nvSpPr>
          <p:cNvPr id="82" name="태그 설명"/>
          <p:cNvSpPr>
            <a:spLocks noGrp="1"/>
          </p:cNvSpPr>
          <p:nvPr>
            <p:ph type="body" sz="quarter" idx="52"/>
          </p:nvPr>
        </p:nvSpPr>
        <p:spPr>
          <a:xfrm>
            <a:off x="1972988" y="7191861"/>
            <a:ext cx="502275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【총괄】 경영혁신실 【실행】 재생에너지본부·환경본부·도시본부 【자문】 ESG자문위·미래혁신자문위</a:t>
            </a:r>
          </a:p>
        </p:txBody>
      </p:sp>
      <p:sp>
        <p:nvSpPr>
          <p:cNvPr id="83" name="태그"/>
          <p:cNvSpPr/>
          <p:nvPr/>
        </p:nvSpPr>
        <p:spPr>
          <a:xfrm>
            <a:off x="1347652" y="7400035"/>
            <a:ext cx="581509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84" name="태그"/>
          <p:cNvSpPr>
            <a:spLocks noGrp="1"/>
          </p:cNvSpPr>
          <p:nvPr>
            <p:ph type="body" sz="quarter" idx="53"/>
          </p:nvPr>
        </p:nvSpPr>
        <p:spPr>
          <a:xfrm>
            <a:off x="1347652" y="7400035"/>
            <a:ext cx="58150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예산투자</a:t>
            </a:r>
          </a:p>
        </p:txBody>
      </p:sp>
      <p:sp>
        <p:nvSpPr>
          <p:cNvPr id="85" name="태그 설명"/>
          <p:cNvSpPr>
            <a:spLocks noGrp="1"/>
          </p:cNvSpPr>
          <p:nvPr>
            <p:ph type="body" sz="quarter" idx="54"/>
          </p:nvPr>
        </p:nvSpPr>
        <p:spPr>
          <a:xfrm>
            <a:off x="1972988" y="7389078"/>
            <a:ext cx="502275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2,629억원 → ’25년 2,719억원</a:t>
            </a:r>
          </a:p>
        </p:txBody>
      </p:sp>
      <p:sp>
        <p:nvSpPr>
          <p:cNvPr id="86" name="태그"/>
          <p:cNvSpPr/>
          <p:nvPr/>
        </p:nvSpPr>
        <p:spPr>
          <a:xfrm>
            <a:off x="1347652" y="7597252"/>
            <a:ext cx="581509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87" name="태그"/>
          <p:cNvSpPr>
            <a:spLocks noGrp="1"/>
          </p:cNvSpPr>
          <p:nvPr>
            <p:ph type="body" sz="quarter" idx="55"/>
          </p:nvPr>
        </p:nvSpPr>
        <p:spPr>
          <a:xfrm>
            <a:off x="1347652" y="7597252"/>
            <a:ext cx="58150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전담인력</a:t>
            </a:r>
          </a:p>
        </p:txBody>
      </p:sp>
      <p:sp>
        <p:nvSpPr>
          <p:cNvPr id="88" name="태그 설명"/>
          <p:cNvSpPr>
            <a:spLocks noGrp="1"/>
          </p:cNvSpPr>
          <p:nvPr>
            <p:ph type="body" sz="quarter" idx="56"/>
          </p:nvPr>
        </p:nvSpPr>
        <p:spPr>
          <a:xfrm>
            <a:off x="1972988" y="7586296"/>
            <a:ext cx="502275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128명 → ’25년 140명(환경·에너지본부)</a:t>
            </a:r>
          </a:p>
        </p:txBody>
      </p:sp>
      <p:sp>
        <p:nvSpPr>
          <p:cNvPr id="89" name="태그"/>
          <p:cNvSpPr/>
          <p:nvPr/>
        </p:nvSpPr>
        <p:spPr>
          <a:xfrm>
            <a:off x="1347652" y="7794470"/>
            <a:ext cx="581509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90" name="태그"/>
          <p:cNvSpPr>
            <a:spLocks noGrp="1"/>
          </p:cNvSpPr>
          <p:nvPr>
            <p:ph type="body" sz="quarter" idx="57"/>
          </p:nvPr>
        </p:nvSpPr>
        <p:spPr>
          <a:xfrm>
            <a:off x="1347652" y="7794470"/>
            <a:ext cx="58150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성과관리</a:t>
            </a:r>
          </a:p>
        </p:txBody>
      </p:sp>
      <p:sp>
        <p:nvSpPr>
          <p:cNvPr id="91" name="태그 설명"/>
          <p:cNvSpPr>
            <a:spLocks noGrp="1"/>
          </p:cNvSpPr>
          <p:nvPr>
            <p:ph type="body" sz="quarter" idx="58"/>
          </p:nvPr>
        </p:nvSpPr>
        <p:spPr>
          <a:xfrm>
            <a:off x="1972988" y="7783513"/>
            <a:ext cx="502275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전사경영회의체, 내부성과평가</a:t>
            </a:r>
          </a:p>
        </p:txBody>
      </p:sp>
      <p:sp>
        <p:nvSpPr>
          <p:cNvPr id="92" name="태그"/>
          <p:cNvSpPr/>
          <p:nvPr/>
        </p:nvSpPr>
        <p:spPr>
          <a:xfrm>
            <a:off x="1347652" y="7991687"/>
            <a:ext cx="581509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93" name="태그"/>
          <p:cNvSpPr>
            <a:spLocks noGrp="1"/>
          </p:cNvSpPr>
          <p:nvPr>
            <p:ph type="body" sz="quarter" idx="59"/>
          </p:nvPr>
        </p:nvSpPr>
        <p:spPr>
          <a:xfrm>
            <a:off x="1347652" y="7991687"/>
            <a:ext cx="58150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모니터링</a:t>
            </a:r>
          </a:p>
        </p:txBody>
      </p:sp>
      <p:sp>
        <p:nvSpPr>
          <p:cNvPr id="94" name="태그 설명"/>
          <p:cNvSpPr>
            <a:spLocks noGrp="1"/>
          </p:cNvSpPr>
          <p:nvPr>
            <p:ph type="body" sz="quarter" idx="60"/>
          </p:nvPr>
        </p:nvSpPr>
        <p:spPr>
          <a:xfrm>
            <a:off x="1972988" y="7980730"/>
            <a:ext cx="502275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환경성과평가시스템, 온실가스종합시스템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83 서사 · 추진배경 → 확산 제약 → 국내도입 주도 → 최초 성공사례 → 추진성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물은 채우고, 땅을 살리는 자연 회복력 중심의 생태 가치 전환</a:t>
            </a:r>
          </a:p>
        </p:txBody>
      </p:sp>
      <p:sp>
        <p:nvSpPr>
          <p:cNvPr id="15" name="형광 밑줄"/>
          <p:cNvSpPr/>
          <p:nvPr/>
        </p:nvSpPr>
        <p:spPr>
          <a:xfrm>
            <a:off x="536870" y="1347652"/>
            <a:ext cx="3155864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소제목"/>
          <p:cNvSpPr>
            <a:spLocks noGrp="1"/>
          </p:cNvSpPr>
          <p:nvPr>
            <p:ph type="body" sz="quarter" idx="22"/>
          </p:nvPr>
        </p:nvSpPr>
        <p:spPr>
          <a:xfrm>
            <a:off x="536870" y="1194261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지속가능한 물이용의 해법, Water Positive 주도</a:t>
            </a:r>
          </a:p>
        </p:txBody>
      </p:sp>
      <p:sp>
        <p:nvSpPr>
          <p:cNvPr id="17" name="태그칩"/>
          <p:cNvSpPr/>
          <p:nvPr/>
        </p:nvSpPr>
        <p:spPr>
          <a:xfrm>
            <a:off x="3791342" y="1227130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태그칩"/>
          <p:cNvSpPr>
            <a:spLocks noGrp="1"/>
          </p:cNvSpPr>
          <p:nvPr>
            <p:ph type="body" sz="quarter" idx="23"/>
          </p:nvPr>
        </p:nvSpPr>
        <p:spPr>
          <a:xfrm>
            <a:off x="3791342" y="1227130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9" name="태그칩"/>
          <p:cNvSpPr/>
          <p:nvPr/>
        </p:nvSpPr>
        <p:spPr>
          <a:xfrm>
            <a:off x="4342463" y="1227130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태그칩"/>
          <p:cNvSpPr>
            <a:spLocks noGrp="1"/>
          </p:cNvSpPr>
          <p:nvPr>
            <p:ph type="body" sz="quarter" idx="24"/>
          </p:nvPr>
        </p:nvSpPr>
        <p:spPr>
          <a:xfrm>
            <a:off x="4342463" y="1227130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21" name="태그칩"/>
          <p:cNvSpPr/>
          <p:nvPr/>
        </p:nvSpPr>
        <p:spPr>
          <a:xfrm>
            <a:off x="5113122" y="1227130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태그칩"/>
          <p:cNvSpPr>
            <a:spLocks noGrp="1"/>
          </p:cNvSpPr>
          <p:nvPr>
            <p:ph type="body" sz="quarter" idx="25"/>
          </p:nvPr>
        </p:nvSpPr>
        <p:spPr>
          <a:xfrm>
            <a:off x="5113122" y="1227130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23" name="표 외곽"/>
          <p:cNvSpPr/>
          <p:nvPr/>
        </p:nvSpPr>
        <p:spPr>
          <a:xfrm>
            <a:off x="536870" y="1479130"/>
            <a:ext cx="6300000" cy="218034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4" name="레일"/>
          <p:cNvSpPr/>
          <p:nvPr/>
        </p:nvSpPr>
        <p:spPr>
          <a:xfrm>
            <a:off x="547826" y="1495565"/>
            <a:ext cx="580696" cy="111756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5" name="레일"/>
          <p:cNvSpPr>
            <a:spLocks noGrp="1"/>
          </p:cNvSpPr>
          <p:nvPr>
            <p:ph type="body" sz="quarter" idx="26"/>
          </p:nvPr>
        </p:nvSpPr>
        <p:spPr>
          <a:xfrm>
            <a:off x="547826" y="1495565"/>
            <a:ext cx="580696" cy="1117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7"/>
          </p:nvPr>
        </p:nvSpPr>
        <p:spPr>
          <a:xfrm>
            <a:off x="1172348" y="1517478"/>
            <a:ext cx="2802130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ESG 확산 속 기후위기 대응을 위한 기업의 물 복원 책임을 강조하는 ‘워터포지티브’ 확산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글로벌 ESG 공시 등에서는 ‘물복원 성과’ 요구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28"/>
          </p:nvPr>
        </p:nvSpPr>
        <p:spPr>
          <a:xfrm>
            <a:off x="3996391" y="1517478"/>
            <a:ext cx="2802130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 분야 글로벌 이니셔티브 국내 도입·확산에 K-water의 주도적 역할 요구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국내 기업 경쟁력 + 물 현안 동시 해소의 해법</a:t>
            </a:r>
          </a:p>
        </p:txBody>
      </p:sp>
      <p:cxnSp>
        <p:nvCxnSpPr>
          <p:cNvPr id="28" name="Connector 20"/>
          <p:cNvCxnSpPr/>
          <p:nvPr/>
        </p:nvCxnSpPr>
        <p:spPr>
          <a:xfrm>
            <a:off x="3985435" y="1550348"/>
            <a:ext cx="0" cy="788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9" name="태그"/>
          <p:cNvSpPr/>
          <p:nvPr/>
        </p:nvSpPr>
        <p:spPr>
          <a:xfrm>
            <a:off x="1161391" y="2410435"/>
            <a:ext cx="898660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0" name="태그"/>
          <p:cNvSpPr>
            <a:spLocks noGrp="1"/>
          </p:cNvSpPr>
          <p:nvPr>
            <p:ph type="body" sz="quarter" idx="29"/>
          </p:nvPr>
        </p:nvSpPr>
        <p:spPr>
          <a:xfrm>
            <a:off x="1161391" y="2410435"/>
            <a:ext cx="898660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워터 포지티브?</a:t>
            </a:r>
          </a:p>
        </p:txBody>
      </p:sp>
      <p:sp>
        <p:nvSpPr>
          <p:cNvPr id="31" name="태그 설명"/>
          <p:cNvSpPr>
            <a:spLocks noGrp="1"/>
          </p:cNvSpPr>
          <p:nvPr>
            <p:ph type="body" sz="quarter" idx="30"/>
          </p:nvPr>
        </p:nvSpPr>
        <p:spPr>
          <a:xfrm>
            <a:off x="2103878" y="2399478"/>
            <a:ext cx="470560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사용한 물 이상을 자연으로 반환(=물복원), 구글·코카콜라 등 글로벌 기업 중심 확산중</a:t>
            </a:r>
          </a:p>
        </p:txBody>
      </p:sp>
      <p:sp>
        <p:nvSpPr>
          <p:cNvPr id="32" name="레일"/>
          <p:cNvSpPr/>
          <p:nvPr/>
        </p:nvSpPr>
        <p:spPr>
          <a:xfrm>
            <a:off x="547826" y="2629565"/>
            <a:ext cx="580696" cy="1013478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3" name="레일"/>
          <p:cNvSpPr>
            <a:spLocks noGrp="1"/>
          </p:cNvSpPr>
          <p:nvPr>
            <p:ph type="body" sz="quarter" idx="31"/>
          </p:nvPr>
        </p:nvSpPr>
        <p:spPr>
          <a:xfrm>
            <a:off x="547826" y="2629565"/>
            <a:ext cx="580696" cy="101347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 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제 약</a:t>
            </a:r>
          </a:p>
        </p:txBody>
      </p:sp>
      <p:sp>
        <p:nvSpPr>
          <p:cNvPr id="34" name="레일 삼각형"/>
          <p:cNvSpPr/>
          <p:nvPr/>
        </p:nvSpPr>
        <p:spPr>
          <a:xfrm>
            <a:off x="547826" y="2629565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5" name="머리칸"/>
          <p:cNvSpPr/>
          <p:nvPr/>
        </p:nvSpPr>
        <p:spPr>
          <a:xfrm>
            <a:off x="1161391" y="2651478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6" name="머리칸"/>
          <p:cNvSpPr>
            <a:spLocks noGrp="1"/>
          </p:cNvSpPr>
          <p:nvPr>
            <p:ph type="body" sz="quarter" idx="32"/>
          </p:nvPr>
        </p:nvSpPr>
        <p:spPr>
          <a:xfrm>
            <a:off x="1161391" y="2651478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제도·정책적 기반 미비</a:t>
            </a:r>
          </a:p>
        </p:txBody>
      </p:sp>
      <p:sp>
        <p:nvSpPr>
          <p:cNvPr id="37" name="머리칸"/>
          <p:cNvSpPr/>
          <p:nvPr/>
        </p:nvSpPr>
        <p:spPr>
          <a:xfrm>
            <a:off x="3044087" y="2651478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8" name="머리칸"/>
          <p:cNvSpPr>
            <a:spLocks noGrp="1"/>
          </p:cNvSpPr>
          <p:nvPr>
            <p:ph type="body" sz="quarter" idx="33"/>
          </p:nvPr>
        </p:nvSpPr>
        <p:spPr>
          <a:xfrm>
            <a:off x="3044087" y="2651478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여전히 낮은 국내 인식</a:t>
            </a:r>
          </a:p>
        </p:txBody>
      </p:sp>
      <p:sp>
        <p:nvSpPr>
          <p:cNvPr id="39" name="머리칸"/>
          <p:cNvSpPr/>
          <p:nvPr/>
        </p:nvSpPr>
        <p:spPr>
          <a:xfrm>
            <a:off x="4926783" y="2651478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0" name="머리칸"/>
          <p:cNvSpPr>
            <a:spLocks noGrp="1"/>
          </p:cNvSpPr>
          <p:nvPr>
            <p:ph type="body" sz="quarter" idx="34"/>
          </p:nvPr>
        </p:nvSpPr>
        <p:spPr>
          <a:xfrm>
            <a:off x="4926783" y="2651478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 분야 진입장벽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35"/>
          </p:nvPr>
        </p:nvSpPr>
        <p:spPr>
          <a:xfrm>
            <a:off x="1172348" y="2892522"/>
            <a:ext cx="1860783" cy="745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 논의 절차, 물복원량 산정·인증 기준 등 전무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36"/>
          </p:nvPr>
        </p:nvSpPr>
        <p:spPr>
          <a:xfrm>
            <a:off x="3055043" y="2892522"/>
            <a:ext cx="1860783" cy="745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트렌드 대비 국내 인식과 활성화 상대적 미흡</a:t>
            </a:r>
          </a:p>
        </p:txBody>
      </p:sp>
      <p:cxnSp>
        <p:nvCxnSpPr>
          <p:cNvPr id="43" name="Connector 30"/>
          <p:cNvCxnSpPr/>
          <p:nvPr/>
        </p:nvCxnSpPr>
        <p:spPr>
          <a:xfrm>
            <a:off x="3044087" y="2925391"/>
            <a:ext cx="0" cy="67930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4" name="칸 본문"/>
          <p:cNvSpPr>
            <a:spLocks noGrp="1"/>
          </p:cNvSpPr>
          <p:nvPr>
            <p:ph type="body" sz="quarter" idx="37"/>
          </p:nvPr>
        </p:nvSpPr>
        <p:spPr>
          <a:xfrm>
            <a:off x="4937739" y="2892522"/>
            <a:ext cx="1860783" cy="745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공공 성격의 물관리 부문, 민간의 참여 범위 제한</a:t>
            </a:r>
          </a:p>
        </p:txBody>
      </p:sp>
      <p:cxnSp>
        <p:nvCxnSpPr>
          <p:cNvPr id="45" name="Connector 32"/>
          <p:cNvCxnSpPr/>
          <p:nvPr/>
        </p:nvCxnSpPr>
        <p:spPr>
          <a:xfrm>
            <a:off x="4926783" y="2925391"/>
            <a:ext cx="0" cy="67930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6" name="캡션 띠"/>
          <p:cNvSpPr/>
          <p:nvPr/>
        </p:nvSpPr>
        <p:spPr>
          <a:xfrm>
            <a:off x="536869" y="3681391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7" name="태그"/>
          <p:cNvSpPr/>
          <p:nvPr/>
        </p:nvSpPr>
        <p:spPr>
          <a:xfrm>
            <a:off x="865565" y="3725217"/>
            <a:ext cx="588826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8" name="태그"/>
          <p:cNvSpPr>
            <a:spLocks noGrp="1"/>
          </p:cNvSpPr>
          <p:nvPr>
            <p:ph type="body" sz="quarter" idx="38"/>
          </p:nvPr>
        </p:nvSpPr>
        <p:spPr>
          <a:xfrm>
            <a:off x="865565" y="3725217"/>
            <a:ext cx="588826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</a:t>
            </a:r>
          </a:p>
        </p:txBody>
      </p:sp>
      <p:sp>
        <p:nvSpPr>
          <p:cNvPr id="49" name="캡션"/>
          <p:cNvSpPr>
            <a:spLocks noGrp="1"/>
          </p:cNvSpPr>
          <p:nvPr>
            <p:ph type="body" sz="quarter" idx="39"/>
          </p:nvPr>
        </p:nvSpPr>
        <p:spPr>
          <a:xfrm>
            <a:off x="1509174" y="3681391"/>
            <a:ext cx="5108565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워터 포지티브 정착을 위한 기반과 인식 전환을 주도, 이를 바탕으로 성공사례까지 창출</a:t>
            </a:r>
          </a:p>
        </p:txBody>
      </p:sp>
      <p:sp>
        <p:nvSpPr>
          <p:cNvPr id="50" name="표 외곽"/>
          <p:cNvSpPr/>
          <p:nvPr/>
        </p:nvSpPr>
        <p:spPr>
          <a:xfrm>
            <a:off x="536870" y="3988174"/>
            <a:ext cx="6300000" cy="2618609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1" name="레일"/>
          <p:cNvSpPr/>
          <p:nvPr/>
        </p:nvSpPr>
        <p:spPr>
          <a:xfrm>
            <a:off x="547826" y="4004609"/>
            <a:ext cx="580696" cy="1320261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2" name="레일"/>
          <p:cNvSpPr>
            <a:spLocks noGrp="1"/>
          </p:cNvSpPr>
          <p:nvPr>
            <p:ph type="body" sz="quarter" idx="40"/>
          </p:nvPr>
        </p:nvSpPr>
        <p:spPr>
          <a:xfrm>
            <a:off x="547826" y="4004609"/>
            <a:ext cx="580696" cy="1320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국내도입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주 도</a:t>
            </a:r>
          </a:p>
        </p:txBody>
      </p:sp>
      <p:sp>
        <p:nvSpPr>
          <p:cNvPr id="53" name="단계"/>
          <p:cNvSpPr/>
          <p:nvPr/>
        </p:nvSpPr>
        <p:spPr>
          <a:xfrm>
            <a:off x="1161391" y="4026522"/>
            <a:ext cx="282404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4" name="단계"/>
          <p:cNvSpPr>
            <a:spLocks noGrp="1"/>
          </p:cNvSpPr>
          <p:nvPr>
            <p:ph type="body" sz="quarter" idx="41"/>
          </p:nvPr>
        </p:nvSpPr>
        <p:spPr>
          <a:xfrm>
            <a:off x="1161391" y="4026522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워터 포지티브의 제도적 기반 조성</a:t>
            </a:r>
          </a:p>
        </p:txBody>
      </p:sp>
      <p:sp>
        <p:nvSpPr>
          <p:cNvPr id="55" name="단계"/>
          <p:cNvSpPr/>
          <p:nvPr/>
        </p:nvSpPr>
        <p:spPr>
          <a:xfrm>
            <a:off x="3985435" y="4026522"/>
            <a:ext cx="2824043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6" name="단계"/>
          <p:cNvSpPr>
            <a:spLocks noGrp="1"/>
          </p:cNvSpPr>
          <p:nvPr>
            <p:ph type="body" sz="quarter" idx="42"/>
          </p:nvPr>
        </p:nvSpPr>
        <p:spPr>
          <a:xfrm>
            <a:off x="3985435" y="4026522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국내 기업의 인식 변화와 확산 주도</a:t>
            </a:r>
          </a:p>
        </p:txBody>
      </p:sp>
      <p:sp>
        <p:nvSpPr>
          <p:cNvPr id="57" name="단계 삼각형"/>
          <p:cNvSpPr/>
          <p:nvPr/>
        </p:nvSpPr>
        <p:spPr>
          <a:xfrm>
            <a:off x="3985434" y="4026521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8" name="칸 본문"/>
          <p:cNvSpPr>
            <a:spLocks noGrp="1"/>
          </p:cNvSpPr>
          <p:nvPr>
            <p:ph type="body" sz="quarter" idx="43"/>
          </p:nvPr>
        </p:nvSpPr>
        <p:spPr>
          <a:xfrm>
            <a:off x="1172348" y="4278522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기업간(삼성전자 등 8개社) 거버넌스 결성(’24~)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워터 포지티브 공식 기구 인정(’25.8, 기후부)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국내 특화된 복원량 산정·인증체계 도출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복원량 산정의 14개 유형, 16개 원칙 제시</a:t>
            </a:r>
          </a:p>
        </p:txBody>
      </p:sp>
      <p:sp>
        <p:nvSpPr>
          <p:cNvPr id="59" name="칸 본문"/>
          <p:cNvSpPr>
            <a:spLocks noGrp="1"/>
          </p:cNvSpPr>
          <p:nvPr>
            <p:ph type="body" sz="quarter" idx="44"/>
          </p:nvPr>
        </p:nvSpPr>
        <p:spPr>
          <a:xfrm>
            <a:off x="3996391" y="4278522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리더(개념 창시자 등) 초청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국제 포럼 개최 등 국내 논의 활성화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Microsoft(본사)의 참여 희망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MS社와 국내 물 복원 사업 공동추진 MOU(’25.8)</a:t>
            </a:r>
          </a:p>
        </p:txBody>
      </p:sp>
      <p:cxnSp>
        <p:nvCxnSpPr>
          <p:cNvPr id="60" name="Connector 43"/>
          <p:cNvCxnSpPr/>
          <p:nvPr/>
        </p:nvCxnSpPr>
        <p:spPr>
          <a:xfrm>
            <a:off x="3985435" y="4311391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1" name="레일"/>
          <p:cNvSpPr/>
          <p:nvPr/>
        </p:nvSpPr>
        <p:spPr>
          <a:xfrm>
            <a:off x="547826" y="5341304"/>
            <a:ext cx="580696" cy="124904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2" name="레일"/>
          <p:cNvSpPr>
            <a:spLocks noGrp="1"/>
          </p:cNvSpPr>
          <p:nvPr>
            <p:ph type="body" sz="quarter" idx="45"/>
          </p:nvPr>
        </p:nvSpPr>
        <p:spPr>
          <a:xfrm>
            <a:off x="547826" y="5341304"/>
            <a:ext cx="580696" cy="124904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최 초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성공사례</a:t>
            </a:r>
          </a:p>
        </p:txBody>
      </p:sp>
      <p:sp>
        <p:nvSpPr>
          <p:cNvPr id="63" name="레일 삼각형"/>
          <p:cNvSpPr/>
          <p:nvPr/>
        </p:nvSpPr>
        <p:spPr>
          <a:xfrm>
            <a:off x="547826" y="5341304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4" name="배너"/>
          <p:cNvSpPr/>
          <p:nvPr/>
        </p:nvSpPr>
        <p:spPr>
          <a:xfrm>
            <a:off x="1161391" y="5363217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65" name="배너"/>
          <p:cNvSpPr>
            <a:spLocks noGrp="1"/>
          </p:cNvSpPr>
          <p:nvPr>
            <p:ph type="body" sz="quarter" idx="46"/>
          </p:nvPr>
        </p:nvSpPr>
        <p:spPr>
          <a:xfrm>
            <a:off x="1161391" y="5363217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❸ 제도적 기반 + 인식 확산의 성과를 토대로 ➡ 국내외 워터 포지티브 성공사례 창출</a:t>
            </a:r>
          </a:p>
        </p:txBody>
      </p:sp>
      <p:sp>
        <p:nvSpPr>
          <p:cNvPr id="66" name="칸 본문"/>
          <p:cNvSpPr>
            <a:spLocks noGrp="1"/>
          </p:cNvSpPr>
          <p:nvPr>
            <p:ph type="body" sz="quarter" idx="47"/>
          </p:nvPr>
        </p:nvSpPr>
        <p:spPr>
          <a:xfrm>
            <a:off x="1172348" y="5598783"/>
            <a:ext cx="1591826" cy="9860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현안 오염원 저감 + 생태계 복원 등 / 민간 수요 개선사업 참여 + 물 복원 성과 확보</a:t>
            </a:r>
          </a:p>
        </p:txBody>
      </p:sp>
      <p:sp>
        <p:nvSpPr>
          <p:cNvPr id="67" name="칸 본문"/>
          <p:cNvSpPr>
            <a:spLocks noGrp="1"/>
          </p:cNvSpPr>
          <p:nvPr>
            <p:ph type="body" sz="quarter" idx="48"/>
          </p:nvPr>
        </p:nvSpPr>
        <p:spPr>
          <a:xfrm>
            <a:off x="2786087" y="5598783"/>
            <a:ext cx="1322870" cy="9860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삼성전자(’24~’25) 국내기업 최초, 장흥댐 상류 노후 인공습지 개선 ➡ 2천명/연 물사용분 복원</a:t>
            </a:r>
          </a:p>
        </p:txBody>
      </p:sp>
      <p:cxnSp>
        <p:nvCxnSpPr>
          <p:cNvPr id="68" name="Connector 49"/>
          <p:cNvCxnSpPr/>
          <p:nvPr/>
        </p:nvCxnSpPr>
        <p:spPr>
          <a:xfrm>
            <a:off x="2775130" y="5631652"/>
            <a:ext cx="0" cy="92034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9" name="칸 본문"/>
          <p:cNvSpPr>
            <a:spLocks noGrp="1"/>
          </p:cNvSpPr>
          <p:nvPr>
            <p:ph type="body" sz="quarter" idx="49"/>
          </p:nvPr>
        </p:nvSpPr>
        <p:spPr>
          <a:xfrm>
            <a:off x="4130870" y="5598783"/>
            <a:ext cx="1322870" cy="9860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Microsoft(’25~) 소양강댐 상류 인공습지 조성, 비점오염 저감 ➡ 2천명/연 물사용분 복원</a:t>
            </a:r>
          </a:p>
        </p:txBody>
      </p:sp>
      <p:cxnSp>
        <p:nvCxnSpPr>
          <p:cNvPr id="70" name="Connector 51"/>
          <p:cNvCxnSpPr/>
          <p:nvPr/>
        </p:nvCxnSpPr>
        <p:spPr>
          <a:xfrm>
            <a:off x="4119913" y="5631652"/>
            <a:ext cx="0" cy="92034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1" name="칸 본문"/>
          <p:cNvSpPr>
            <a:spLocks noGrp="1"/>
          </p:cNvSpPr>
          <p:nvPr>
            <p:ph type="body" sz="quarter" idx="50"/>
          </p:nvPr>
        </p:nvSpPr>
        <p:spPr>
          <a:xfrm>
            <a:off x="5475652" y="5598783"/>
            <a:ext cx="1322870" cy="9860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삼성전자(’26~) 물소외 지역(강원) 식수원 확보를 위한 모래샘 조성 ➡ 군장병 700명/일 물사용분 복원</a:t>
            </a:r>
          </a:p>
        </p:txBody>
      </p:sp>
      <p:cxnSp>
        <p:nvCxnSpPr>
          <p:cNvPr id="72" name="Connector 53"/>
          <p:cNvCxnSpPr/>
          <p:nvPr/>
        </p:nvCxnSpPr>
        <p:spPr>
          <a:xfrm>
            <a:off x="5464696" y="5631652"/>
            <a:ext cx="0" cy="92034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3" name="핵심성과 박스"/>
          <p:cNvSpPr/>
          <p:nvPr/>
        </p:nvSpPr>
        <p:spPr>
          <a:xfrm>
            <a:off x="536870" y="6694435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4" name="핵심성과 라벨"/>
          <p:cNvSpPr/>
          <p:nvPr/>
        </p:nvSpPr>
        <p:spPr>
          <a:xfrm>
            <a:off x="569739" y="6727304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75" name="핵심성과 라벨"/>
          <p:cNvSpPr>
            <a:spLocks noGrp="1"/>
          </p:cNvSpPr>
          <p:nvPr>
            <p:ph type="body" sz="quarter" idx="51"/>
          </p:nvPr>
        </p:nvSpPr>
        <p:spPr>
          <a:xfrm>
            <a:off x="569739" y="6727304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76" name="핵심성과 문구"/>
          <p:cNvSpPr>
            <a:spLocks noGrp="1"/>
          </p:cNvSpPr>
          <p:nvPr>
            <p:ph type="body" sz="quarter" idx="52"/>
          </p:nvPr>
        </p:nvSpPr>
        <p:spPr>
          <a:xfrm>
            <a:off x="1314783" y="6716348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성공사례 지속 확산 ➡ 누적 물 복원 4,000명분(수질오염 정화 포함)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新정부 국정과제 ‘기업의 물복원 활동 활성화’ 목표 반영 및 완벽 이행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84 서사 · 추진배경 → 추진내용 3단(공동 역량 · 정화 인프라 · 최고 정화기준) → 추진성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4642462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토양 오염으로 주민 생활터전 비상 발생, ‘비상(非常)’한 대책으로 완벽 정화</a:t>
            </a:r>
          </a:p>
        </p:txBody>
      </p:sp>
      <p:sp>
        <p:nvSpPr>
          <p:cNvPr id="11" name="태그칩"/>
          <p:cNvSpPr/>
          <p:nvPr/>
        </p:nvSpPr>
        <p:spPr>
          <a:xfrm>
            <a:off x="5464202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5464202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3" name="표 외곽"/>
          <p:cNvSpPr/>
          <p:nvPr/>
        </p:nvSpPr>
        <p:spPr>
          <a:xfrm>
            <a:off x="723130" y="1062783"/>
            <a:ext cx="6300000" cy="177777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레일"/>
          <p:cNvSpPr/>
          <p:nvPr/>
        </p:nvSpPr>
        <p:spPr>
          <a:xfrm>
            <a:off x="734087" y="1079217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079217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3"/>
          </p:nvPr>
        </p:nvSpPr>
        <p:spPr>
          <a:xfrm>
            <a:off x="1358609" y="1101130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부산 EDC 일부 지역 오염토양 확인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과거 토마토 재배지, 재활용시설 운영부지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4"/>
          </p:nvPr>
        </p:nvSpPr>
        <p:spPr>
          <a:xfrm>
            <a:off x="4182652" y="1101130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해당 지역은 계획인구 약 7.6만명 생활터전, 법적 기준을 넘어선 적극적 정화 필요</a:t>
            </a:r>
          </a:p>
        </p:txBody>
      </p:sp>
      <p:cxnSp>
        <p:nvCxnSpPr>
          <p:cNvPr id="18" name="Connector 10"/>
          <p:cNvCxnSpPr/>
          <p:nvPr/>
        </p:nvCxnSpPr>
        <p:spPr>
          <a:xfrm>
            <a:off x="4171696" y="1134000"/>
            <a:ext cx="0" cy="284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9" name="레일"/>
          <p:cNvSpPr/>
          <p:nvPr/>
        </p:nvSpPr>
        <p:spPr>
          <a:xfrm>
            <a:off x="734087" y="1503861"/>
            <a:ext cx="580696" cy="1320261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5"/>
          </p:nvPr>
        </p:nvSpPr>
        <p:spPr>
          <a:xfrm>
            <a:off x="734087" y="1503861"/>
            <a:ext cx="580696" cy="1320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내 용</a:t>
            </a:r>
          </a:p>
        </p:txBody>
      </p:sp>
      <p:sp>
        <p:nvSpPr>
          <p:cNvPr id="21" name="레일 삼각형"/>
          <p:cNvSpPr/>
          <p:nvPr/>
        </p:nvSpPr>
        <p:spPr>
          <a:xfrm>
            <a:off x="734086" y="1503860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2" name="단계"/>
          <p:cNvSpPr/>
          <p:nvPr/>
        </p:nvSpPr>
        <p:spPr>
          <a:xfrm>
            <a:off x="1347652" y="1525774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3" name="단계"/>
          <p:cNvSpPr>
            <a:spLocks noGrp="1"/>
          </p:cNvSpPr>
          <p:nvPr>
            <p:ph type="body" sz="quarter" idx="26"/>
          </p:nvPr>
        </p:nvSpPr>
        <p:spPr>
          <a:xfrm>
            <a:off x="1347652" y="152577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민·관 공동 역량 결집</a:t>
            </a:r>
          </a:p>
        </p:txBody>
      </p:sp>
      <p:sp>
        <p:nvSpPr>
          <p:cNvPr id="24" name="단계"/>
          <p:cNvSpPr/>
          <p:nvPr/>
        </p:nvSpPr>
        <p:spPr>
          <a:xfrm>
            <a:off x="3230348" y="1525774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5" name="단계"/>
          <p:cNvSpPr>
            <a:spLocks noGrp="1"/>
          </p:cNvSpPr>
          <p:nvPr>
            <p:ph type="body" sz="quarter" idx="27"/>
          </p:nvPr>
        </p:nvSpPr>
        <p:spPr>
          <a:xfrm>
            <a:off x="3230348" y="152577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정화 인프라 구축</a:t>
            </a:r>
          </a:p>
        </p:txBody>
      </p:sp>
      <p:sp>
        <p:nvSpPr>
          <p:cNvPr id="26" name="단계"/>
          <p:cNvSpPr/>
          <p:nvPr/>
        </p:nvSpPr>
        <p:spPr>
          <a:xfrm>
            <a:off x="5113043" y="1525774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7" name="단계"/>
          <p:cNvSpPr>
            <a:spLocks noGrp="1"/>
          </p:cNvSpPr>
          <p:nvPr>
            <p:ph type="body" sz="quarter" idx="28"/>
          </p:nvPr>
        </p:nvSpPr>
        <p:spPr>
          <a:xfrm>
            <a:off x="5113043" y="152577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‘최고’ 수준 정화기준 적용</a:t>
            </a:r>
          </a:p>
        </p:txBody>
      </p:sp>
      <p:sp>
        <p:nvSpPr>
          <p:cNvPr id="28" name="단계 삼각형"/>
          <p:cNvSpPr/>
          <p:nvPr/>
        </p:nvSpPr>
        <p:spPr>
          <a:xfrm>
            <a:off x="3230347" y="1525773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단계 삼각형"/>
          <p:cNvSpPr/>
          <p:nvPr/>
        </p:nvSpPr>
        <p:spPr>
          <a:xfrm>
            <a:off x="5113043" y="152577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0" name="칸 본문"/>
          <p:cNvSpPr>
            <a:spLocks noGrp="1"/>
          </p:cNvSpPr>
          <p:nvPr>
            <p:ph type="body" sz="quarter" idx="29"/>
          </p:nvPr>
        </p:nvSpPr>
        <p:spPr>
          <a:xfrm>
            <a:off x="1358609" y="1777774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11인 구성: 지자체 · 전문가 · 환경단체 ➡ 투명성·공정성 확보(27회)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3241304" y="1777774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에어돔, 특수포대 등 활용 철저한 현장 오염물질 관리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오염물질 외부 유출 완벽 차단</a:t>
            </a:r>
          </a:p>
        </p:txBody>
      </p:sp>
      <p:cxnSp>
        <p:nvCxnSpPr>
          <p:cNvPr id="32" name="Connector 20"/>
          <p:cNvCxnSpPr/>
          <p:nvPr/>
        </p:nvCxnSpPr>
        <p:spPr>
          <a:xfrm>
            <a:off x="3230348" y="1810643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칸 본문"/>
          <p:cNvSpPr>
            <a:spLocks noGrp="1"/>
          </p:cNvSpPr>
          <p:nvPr>
            <p:ph type="body" sz="quarter" idx="31"/>
          </p:nvPr>
        </p:nvSpPr>
        <p:spPr>
          <a:xfrm>
            <a:off x="5124000" y="1777774"/>
            <a:ext cx="1860783" cy="1876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공장·물류지역 ‘주택’ 기준 적용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2"/>
          </p:nvPr>
        </p:nvSpPr>
        <p:spPr>
          <a:xfrm>
            <a:off x="5124000" y="2622835"/>
            <a:ext cx="1860783" cy="1958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법적 기준 이하로 완벽 정화</a:t>
            </a:r>
          </a:p>
        </p:txBody>
      </p:sp>
      <p:cxnSp>
        <p:nvCxnSpPr>
          <p:cNvPr id="35" name="Connector 24"/>
          <p:cNvCxnSpPr/>
          <p:nvPr/>
        </p:nvCxnSpPr>
        <p:spPr>
          <a:xfrm>
            <a:off x="5113043" y="1810643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6" name="핵심성과 박스"/>
          <p:cNvSpPr/>
          <p:nvPr/>
        </p:nvSpPr>
        <p:spPr>
          <a:xfrm>
            <a:off x="723130" y="2928209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7" name="핵심성과 라벨"/>
          <p:cNvSpPr/>
          <p:nvPr/>
        </p:nvSpPr>
        <p:spPr>
          <a:xfrm>
            <a:off x="756000" y="2966557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38" name="핵심성과 라벨"/>
          <p:cNvSpPr>
            <a:spLocks noGrp="1"/>
          </p:cNvSpPr>
          <p:nvPr>
            <p:ph type="body" sz="quarter" idx="33"/>
          </p:nvPr>
        </p:nvSpPr>
        <p:spPr>
          <a:xfrm>
            <a:off x="756000" y="2966557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9" name="핵심성과 문구"/>
          <p:cNvSpPr>
            <a:spLocks noGrp="1"/>
          </p:cNvSpPr>
          <p:nvPr>
            <p:ph type="body" sz="quarter" idx="34"/>
          </p:nvPr>
        </p:nvSpPr>
        <p:spPr>
          <a:xfrm>
            <a:off x="1501043" y="2944643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기준을 넘어선 토양오염 완벽 해소로 주민 생활터전 보전 및 환경적 책임 완수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85 서사 · 댐 홍수터 OECM(추진배경 → 시사점 → 목표 → 추진내용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3970679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 댐 홍수터 OECM 등재로 ‘자연성 회복’ 터전으로의 댐 가치 전환</a:t>
            </a:r>
          </a:p>
        </p:txBody>
      </p:sp>
      <p:sp>
        <p:nvSpPr>
          <p:cNvPr id="12" name="태그칩"/>
          <p:cNvSpPr/>
          <p:nvPr/>
        </p:nvSpPr>
        <p:spPr>
          <a:xfrm>
            <a:off x="4606157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606157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4" name="표 외곽"/>
          <p:cNvSpPr/>
          <p:nvPr/>
        </p:nvSpPr>
        <p:spPr>
          <a:xfrm>
            <a:off x="536870" y="1051826"/>
            <a:ext cx="6300000" cy="55753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547826" y="1068261"/>
            <a:ext cx="580696" cy="524661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068261"/>
            <a:ext cx="580696" cy="5246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3"/>
          </p:nvPr>
        </p:nvSpPr>
        <p:spPr>
          <a:xfrm>
            <a:off x="1172348" y="1090174"/>
            <a:ext cx="2802130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 ‘보호지역’ 중심 생물다양성 정책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’30년까지 전국토의 30%를 보호지역 등으로 관리 목표(5차 생물다양성 전략)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4"/>
          </p:nvPr>
        </p:nvSpPr>
        <p:spPr>
          <a:xfrm>
            <a:off x="3996391" y="1090174"/>
            <a:ext cx="2802130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댐 유역 ‘홍수터’ 관리의 난맥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‘치수’ 보조적 수단으로 인식, 낮은 관리 우선순위로 무단경작, 불법점유 빈번</a:t>
            </a:r>
          </a:p>
        </p:txBody>
      </p:sp>
      <p:cxnSp>
        <p:nvCxnSpPr>
          <p:cNvPr id="19" name="Connector 13"/>
          <p:cNvCxnSpPr/>
          <p:nvPr/>
        </p:nvCxnSpPr>
        <p:spPr>
          <a:xfrm>
            <a:off x="3985435" y="1123043"/>
            <a:ext cx="0" cy="4315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0" name="캡션 띠"/>
          <p:cNvSpPr/>
          <p:nvPr/>
        </p:nvSpPr>
        <p:spPr>
          <a:xfrm>
            <a:off x="536869" y="1631269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1" name="캡션"/>
          <p:cNvSpPr>
            <a:spLocks noGrp="1"/>
          </p:cNvSpPr>
          <p:nvPr>
            <p:ph type="body" sz="quarter" idx="25"/>
          </p:nvPr>
        </p:nvSpPr>
        <p:spPr>
          <a:xfrm>
            <a:off x="756000" y="1631270"/>
            <a:ext cx="5861739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【 육상·수상 생태계가 공존하는 댐 홍수터, ‘정책 이행’ + ‘관리 효율화’를 동시 겨냥한 대안 필요 】</a:t>
            </a:r>
          </a:p>
        </p:txBody>
      </p:sp>
      <p:sp>
        <p:nvSpPr>
          <p:cNvPr id="22" name="표 외곽"/>
          <p:cNvSpPr/>
          <p:nvPr/>
        </p:nvSpPr>
        <p:spPr>
          <a:xfrm>
            <a:off x="536870" y="1938052"/>
            <a:ext cx="6300000" cy="248587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3" name="레일"/>
          <p:cNvSpPr/>
          <p:nvPr/>
        </p:nvSpPr>
        <p:spPr>
          <a:xfrm>
            <a:off x="547826" y="1954487"/>
            <a:ext cx="580696" cy="69573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4" name="레일"/>
          <p:cNvSpPr>
            <a:spLocks noGrp="1"/>
          </p:cNvSpPr>
          <p:nvPr>
            <p:ph type="body" sz="quarter" idx="26"/>
          </p:nvPr>
        </p:nvSpPr>
        <p:spPr>
          <a:xfrm>
            <a:off x="547826" y="1954487"/>
            <a:ext cx="580696" cy="695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목 표</a:t>
            </a:r>
          </a:p>
        </p:txBody>
      </p:sp>
      <p:sp>
        <p:nvSpPr>
          <p:cNvPr id="25" name="배너"/>
          <p:cNvSpPr/>
          <p:nvPr/>
        </p:nvSpPr>
        <p:spPr>
          <a:xfrm>
            <a:off x="1161391" y="1976400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6" name="배너"/>
          <p:cNvSpPr>
            <a:spLocks noGrp="1"/>
          </p:cNvSpPr>
          <p:nvPr>
            <p:ph type="body" sz="quarter" idx="27"/>
          </p:nvPr>
        </p:nvSpPr>
        <p:spPr>
          <a:xfrm>
            <a:off x="1161391" y="1976400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댐 홍수터의 자연공존지역(OECM) 등재로 생태 가치 중심의 관리 패러다임으로 전환</a:t>
            </a:r>
          </a:p>
        </p:txBody>
      </p:sp>
      <p:sp>
        <p:nvSpPr>
          <p:cNvPr id="27" name="태그"/>
          <p:cNvSpPr/>
          <p:nvPr/>
        </p:nvSpPr>
        <p:spPr>
          <a:xfrm>
            <a:off x="1161391" y="2233878"/>
            <a:ext cx="585230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8" name="태그"/>
          <p:cNvSpPr>
            <a:spLocks noGrp="1"/>
          </p:cNvSpPr>
          <p:nvPr>
            <p:ph type="body" sz="quarter" idx="28"/>
          </p:nvPr>
        </p:nvSpPr>
        <p:spPr>
          <a:xfrm>
            <a:off x="1161391" y="2233878"/>
            <a:ext cx="585230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OECM?</a:t>
            </a:r>
          </a:p>
        </p:txBody>
      </p:sp>
      <p:sp>
        <p:nvSpPr>
          <p:cNvPr id="29" name="태그 설명"/>
          <p:cNvSpPr>
            <a:spLocks noGrp="1"/>
          </p:cNvSpPr>
          <p:nvPr>
            <p:ph type="body" sz="quarter" idx="29"/>
          </p:nvPr>
        </p:nvSpPr>
        <p:spPr>
          <a:xfrm>
            <a:off x="1790448" y="2222922"/>
            <a:ext cx="501903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법정 보호구역은 아니지만 생물다양성 보전 기여 지역(글로벌 생물다양성 협약, GBF)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0"/>
          </p:nvPr>
        </p:nvSpPr>
        <p:spPr>
          <a:xfrm>
            <a:off x="1172348" y="2447530"/>
            <a:ext cx="5626174" cy="19721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정부는 보호구역 지정의 현실적 한계에 대한 대안으로 OECM 확대 추진</a:t>
            </a:r>
          </a:p>
        </p:txBody>
      </p:sp>
      <p:sp>
        <p:nvSpPr>
          <p:cNvPr id="31" name="레일"/>
          <p:cNvSpPr/>
          <p:nvPr/>
        </p:nvSpPr>
        <p:spPr>
          <a:xfrm>
            <a:off x="547826" y="2666661"/>
            <a:ext cx="580696" cy="1740835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2" name="레일"/>
          <p:cNvSpPr>
            <a:spLocks noGrp="1"/>
          </p:cNvSpPr>
          <p:nvPr>
            <p:ph type="body" sz="quarter" idx="31"/>
          </p:nvPr>
        </p:nvSpPr>
        <p:spPr>
          <a:xfrm>
            <a:off x="547826" y="2666661"/>
            <a:ext cx="580696" cy="17408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내 용</a:t>
            </a:r>
          </a:p>
        </p:txBody>
      </p:sp>
      <p:sp>
        <p:nvSpPr>
          <p:cNvPr id="33" name="레일 삼각형"/>
          <p:cNvSpPr/>
          <p:nvPr/>
        </p:nvSpPr>
        <p:spPr>
          <a:xfrm>
            <a:off x="547826" y="2666660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4" name="단계"/>
          <p:cNvSpPr/>
          <p:nvPr/>
        </p:nvSpPr>
        <p:spPr>
          <a:xfrm>
            <a:off x="1161391" y="2688574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5" name="단계"/>
          <p:cNvSpPr>
            <a:spLocks noGrp="1"/>
          </p:cNvSpPr>
          <p:nvPr>
            <p:ph type="body" sz="quarter" idx="32"/>
          </p:nvPr>
        </p:nvSpPr>
        <p:spPr>
          <a:xfrm>
            <a:off x="1161391" y="268857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전국 댐 홍수터 분석</a:t>
            </a:r>
          </a:p>
        </p:txBody>
      </p:sp>
      <p:sp>
        <p:nvSpPr>
          <p:cNvPr id="36" name="단계"/>
          <p:cNvSpPr/>
          <p:nvPr/>
        </p:nvSpPr>
        <p:spPr>
          <a:xfrm>
            <a:off x="3044087" y="2688574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7" name="단계"/>
          <p:cNvSpPr>
            <a:spLocks noGrp="1"/>
          </p:cNvSpPr>
          <p:nvPr>
            <p:ph type="body" sz="quarter" idx="33"/>
          </p:nvPr>
        </p:nvSpPr>
        <p:spPr>
          <a:xfrm>
            <a:off x="3044087" y="268857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등재 신청 최적지 선정</a:t>
            </a:r>
          </a:p>
        </p:txBody>
      </p:sp>
      <p:sp>
        <p:nvSpPr>
          <p:cNvPr id="38" name="단계"/>
          <p:cNvSpPr/>
          <p:nvPr/>
        </p:nvSpPr>
        <p:spPr>
          <a:xfrm>
            <a:off x="4926783" y="2688574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9" name="단계"/>
          <p:cNvSpPr>
            <a:spLocks noGrp="1"/>
          </p:cNvSpPr>
          <p:nvPr>
            <p:ph type="body" sz="quarter" idx="34"/>
          </p:nvPr>
        </p:nvSpPr>
        <p:spPr>
          <a:xfrm>
            <a:off x="4926783" y="268857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OECM 등재 실사</a:t>
            </a:r>
          </a:p>
        </p:txBody>
      </p:sp>
      <p:sp>
        <p:nvSpPr>
          <p:cNvPr id="40" name="단계 삼각형"/>
          <p:cNvSpPr/>
          <p:nvPr/>
        </p:nvSpPr>
        <p:spPr>
          <a:xfrm>
            <a:off x="3044086" y="2688573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1" name="단계 삼각형"/>
          <p:cNvSpPr/>
          <p:nvPr/>
        </p:nvSpPr>
        <p:spPr>
          <a:xfrm>
            <a:off x="4926782" y="268857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2" name="칸 본문"/>
          <p:cNvSpPr>
            <a:spLocks noGrp="1"/>
          </p:cNvSpPr>
          <p:nvPr>
            <p:ph type="body" sz="quarter" idx="35"/>
          </p:nvPr>
        </p:nvSpPr>
        <p:spPr>
          <a:xfrm>
            <a:off x="1172348" y="2940574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OECM 지침에 부합하는 댐 전역 후보지역 검토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보호지역 여부, 생태적 가치 관리·제도 수단 등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36"/>
          </p:nvPr>
        </p:nvSpPr>
        <p:spPr>
          <a:xfrm>
            <a:off x="3055043" y="2940574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검토 결과, 3개 댐 홍수터를 최적지로 선정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임하·충주·보령댐 홍수터 총 0.326㎢ 후보지로 결정</a:t>
            </a:r>
          </a:p>
        </p:txBody>
      </p:sp>
      <p:cxnSp>
        <p:nvCxnSpPr>
          <p:cNvPr id="44" name="Connector 31"/>
          <p:cNvCxnSpPr/>
          <p:nvPr/>
        </p:nvCxnSpPr>
        <p:spPr>
          <a:xfrm>
            <a:off x="3044087" y="2973443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5" name="칸 본문"/>
          <p:cNvSpPr>
            <a:spLocks noGrp="1"/>
          </p:cNvSpPr>
          <p:nvPr>
            <p:ph type="body" sz="quarter" idx="37"/>
          </p:nvPr>
        </p:nvSpPr>
        <p:spPr>
          <a:xfrm>
            <a:off x="4937739" y="2940574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대상지 심층진단 및 등재 종합평가 실시(기후부 주관)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생물다양성 등 중요 가치, 장기적 보전 가능성 등 평가</a:t>
            </a:r>
          </a:p>
        </p:txBody>
      </p:sp>
      <p:cxnSp>
        <p:nvCxnSpPr>
          <p:cNvPr id="46" name="Connector 33"/>
          <p:cNvCxnSpPr/>
          <p:nvPr/>
        </p:nvCxnSpPr>
        <p:spPr>
          <a:xfrm>
            <a:off x="4926783" y="2973443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7" name="배너"/>
          <p:cNvSpPr/>
          <p:nvPr/>
        </p:nvSpPr>
        <p:spPr>
          <a:xfrm>
            <a:off x="1161391" y="3669183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8" name="배너"/>
          <p:cNvSpPr>
            <a:spLocks noGrp="1"/>
          </p:cNvSpPr>
          <p:nvPr>
            <p:ph type="body" sz="quarter" idx="38"/>
          </p:nvPr>
        </p:nvSpPr>
        <p:spPr>
          <a:xfrm>
            <a:off x="1161391" y="3669183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생물다양성 정책 퍼스트무버로서 3개 댐 OECM 등재 확정(0.287㎢, 축구장 약 40개 면적)</a:t>
            </a:r>
          </a:p>
        </p:txBody>
      </p:sp>
      <p:sp>
        <p:nvSpPr>
          <p:cNvPr id="49" name="칸 본문"/>
          <p:cNvSpPr>
            <a:spLocks noGrp="1"/>
          </p:cNvSpPr>
          <p:nvPr>
            <p:ph type="body" sz="quarter" idx="39"/>
          </p:nvPr>
        </p:nvSpPr>
        <p:spPr>
          <a:xfrm>
            <a:off x="1172348" y="3904748"/>
            <a:ext cx="2802130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효과❶ 자연성 회복 투자 확대의 토대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홍수터의 생태가치 공식 인정으로 생태복원, 탄소흡수원 조성 등 활성화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40"/>
          </p:nvPr>
        </p:nvSpPr>
        <p:spPr>
          <a:xfrm>
            <a:off x="3996391" y="3904748"/>
            <a:ext cx="2802130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효과❷ 생태자원 연계, 지역 활성화 계기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유역 자연자원과 연계한 생태관광 등 상생 모델 개발로 지역가치 상승</a:t>
            </a:r>
          </a:p>
        </p:txBody>
      </p:sp>
      <p:cxnSp>
        <p:nvCxnSpPr>
          <p:cNvPr id="51" name="Connector 37"/>
          <p:cNvCxnSpPr/>
          <p:nvPr/>
        </p:nvCxnSpPr>
        <p:spPr>
          <a:xfrm>
            <a:off x="3985435" y="3937617"/>
            <a:ext cx="0" cy="4315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2" name="핵심성과 박스"/>
          <p:cNvSpPr/>
          <p:nvPr/>
        </p:nvSpPr>
        <p:spPr>
          <a:xfrm>
            <a:off x="536870" y="4511583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3" name="핵심성과 라벨"/>
          <p:cNvSpPr/>
          <p:nvPr/>
        </p:nvSpPr>
        <p:spPr>
          <a:xfrm>
            <a:off x="569739" y="4549930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54" name="핵심성과 라벨"/>
          <p:cNvSpPr>
            <a:spLocks noGrp="1"/>
          </p:cNvSpPr>
          <p:nvPr>
            <p:ph type="body" sz="quarter" idx="41"/>
          </p:nvPr>
        </p:nvSpPr>
        <p:spPr>
          <a:xfrm>
            <a:off x="569739" y="4549930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5" name="핵심성과 문구"/>
          <p:cNvSpPr>
            <a:spLocks noGrp="1"/>
          </p:cNvSpPr>
          <p:nvPr>
            <p:ph type="body" sz="quarter" idx="42"/>
          </p:nvPr>
        </p:nvSpPr>
        <p:spPr>
          <a:xfrm>
            <a:off x="1314783" y="4528017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국가 OECM 홍수터 유형 신설, 신규 지정 9개 중 3개를 책임지며 정책목표 달성 기여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86 서사 · 꿀벌 식당(추진배경 → 협업체계 → 상생모델 구현 3단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4179947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라. 주민 협업으로 댐 생태자원을 상생 모델로 탄생시킨 ‘윙윙 꿀벌 식당’</a:t>
            </a:r>
          </a:p>
        </p:txBody>
      </p:sp>
      <p:sp>
        <p:nvSpPr>
          <p:cNvPr id="11" name="태그칩"/>
          <p:cNvSpPr/>
          <p:nvPr/>
        </p:nvSpPr>
        <p:spPr>
          <a:xfrm>
            <a:off x="5001686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5001686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3" name="표 외곽"/>
          <p:cNvSpPr/>
          <p:nvPr/>
        </p:nvSpPr>
        <p:spPr>
          <a:xfrm>
            <a:off x="723130" y="1062783"/>
            <a:ext cx="6300000" cy="2802209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레일"/>
          <p:cNvSpPr/>
          <p:nvPr/>
        </p:nvSpPr>
        <p:spPr>
          <a:xfrm>
            <a:off x="734087" y="1079217"/>
            <a:ext cx="580696" cy="36438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079217"/>
            <a:ext cx="580696" cy="3643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3"/>
          </p:nvPr>
        </p:nvSpPr>
        <p:spPr>
          <a:xfrm>
            <a:off x="1358609" y="1101130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기후변화로 꽃밭이 급감하며 꿀벌도 덩달아 실종, 생태계 수정 기능 마비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4"/>
          </p:nvPr>
        </p:nvSpPr>
        <p:spPr>
          <a:xfrm>
            <a:off x="4182652" y="1101130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주변 유휴지 활용 꿀벌 생태계 복원과 동시에 자연과 사람의 공존모델 구상</a:t>
            </a:r>
          </a:p>
        </p:txBody>
      </p:sp>
      <p:cxnSp>
        <p:nvCxnSpPr>
          <p:cNvPr id="18" name="Connector 10"/>
          <p:cNvCxnSpPr/>
          <p:nvPr/>
        </p:nvCxnSpPr>
        <p:spPr>
          <a:xfrm>
            <a:off x="4171696" y="1134000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9" name="레일"/>
          <p:cNvSpPr/>
          <p:nvPr/>
        </p:nvSpPr>
        <p:spPr>
          <a:xfrm>
            <a:off x="734087" y="1460035"/>
            <a:ext cx="580696" cy="597130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5"/>
          </p:nvPr>
        </p:nvSpPr>
        <p:spPr>
          <a:xfrm>
            <a:off x="734087" y="1460035"/>
            <a:ext cx="580696" cy="597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협업체계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구 성</a:t>
            </a:r>
          </a:p>
        </p:txBody>
      </p:sp>
      <p:sp>
        <p:nvSpPr>
          <p:cNvPr id="21" name="레일 삼각형"/>
          <p:cNvSpPr/>
          <p:nvPr/>
        </p:nvSpPr>
        <p:spPr>
          <a:xfrm>
            <a:off x="734086" y="1460034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2" name="머리칸"/>
          <p:cNvSpPr/>
          <p:nvPr/>
        </p:nvSpPr>
        <p:spPr>
          <a:xfrm>
            <a:off x="1347652" y="1481948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3" name="머리칸"/>
          <p:cNvSpPr>
            <a:spLocks noGrp="1"/>
          </p:cNvSpPr>
          <p:nvPr>
            <p:ph type="body" sz="quarter" idx="26"/>
          </p:nvPr>
        </p:nvSpPr>
        <p:spPr>
          <a:xfrm>
            <a:off x="1347652" y="1481948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</a:t>
            </a:r>
          </a:p>
        </p:txBody>
      </p:sp>
      <p:sp>
        <p:nvSpPr>
          <p:cNvPr id="24" name="머리칸"/>
          <p:cNvSpPr/>
          <p:nvPr/>
        </p:nvSpPr>
        <p:spPr>
          <a:xfrm>
            <a:off x="3230348" y="1481948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5" name="머리칸"/>
          <p:cNvSpPr>
            <a:spLocks noGrp="1"/>
          </p:cNvSpPr>
          <p:nvPr>
            <p:ph type="body" sz="quarter" idx="27"/>
          </p:nvPr>
        </p:nvSpPr>
        <p:spPr>
          <a:xfrm>
            <a:off x="3230348" y="1481948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사회적 협동조합</a:t>
            </a:r>
          </a:p>
        </p:txBody>
      </p:sp>
      <p:sp>
        <p:nvSpPr>
          <p:cNvPr id="26" name="머리칸"/>
          <p:cNvSpPr/>
          <p:nvPr/>
        </p:nvSpPr>
        <p:spPr>
          <a:xfrm>
            <a:off x="5113043" y="1481948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7" name="머리칸"/>
          <p:cNvSpPr>
            <a:spLocks noGrp="1"/>
          </p:cNvSpPr>
          <p:nvPr>
            <p:ph type="body" sz="quarter" idx="28"/>
          </p:nvPr>
        </p:nvSpPr>
        <p:spPr>
          <a:xfrm>
            <a:off x="5113043" y="1481948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지역주민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9"/>
          </p:nvPr>
        </p:nvSpPr>
        <p:spPr>
          <a:xfrm>
            <a:off x="1358609" y="1722991"/>
            <a:ext cx="1860783" cy="328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사업기획·개발, 홍보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0"/>
          </p:nvPr>
        </p:nvSpPr>
        <p:spPr>
          <a:xfrm>
            <a:off x="3241304" y="1722991"/>
            <a:ext cx="1860783" cy="328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사업관리, 주민모집·교육</a:t>
            </a:r>
          </a:p>
        </p:txBody>
      </p:sp>
      <p:cxnSp>
        <p:nvCxnSpPr>
          <p:cNvPr id="30" name="Connector 18"/>
          <p:cNvCxnSpPr/>
          <p:nvPr/>
        </p:nvCxnSpPr>
        <p:spPr>
          <a:xfrm>
            <a:off x="3230348" y="1755861"/>
            <a:ext cx="0" cy="262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칸 본문"/>
          <p:cNvSpPr>
            <a:spLocks noGrp="1"/>
          </p:cNvSpPr>
          <p:nvPr>
            <p:ph type="body" sz="quarter" idx="31"/>
          </p:nvPr>
        </p:nvSpPr>
        <p:spPr>
          <a:xfrm>
            <a:off x="5124000" y="1722991"/>
            <a:ext cx="1860783" cy="328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들깨밭 관리·생산 참여</a:t>
            </a:r>
          </a:p>
        </p:txBody>
      </p:sp>
      <p:cxnSp>
        <p:nvCxnSpPr>
          <p:cNvPr id="32" name="Connector 20"/>
          <p:cNvCxnSpPr/>
          <p:nvPr/>
        </p:nvCxnSpPr>
        <p:spPr>
          <a:xfrm>
            <a:off x="5113043" y="1755861"/>
            <a:ext cx="0" cy="262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레일"/>
          <p:cNvSpPr/>
          <p:nvPr/>
        </p:nvSpPr>
        <p:spPr>
          <a:xfrm>
            <a:off x="734087" y="2073600"/>
            <a:ext cx="580696" cy="177495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4" name="레일"/>
          <p:cNvSpPr>
            <a:spLocks noGrp="1"/>
          </p:cNvSpPr>
          <p:nvPr>
            <p:ph type="body" sz="quarter" idx="32"/>
          </p:nvPr>
        </p:nvSpPr>
        <p:spPr>
          <a:xfrm>
            <a:off x="734087" y="2073600"/>
            <a:ext cx="580696" cy="1774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상생모델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구 현</a:t>
            </a:r>
          </a:p>
        </p:txBody>
      </p:sp>
      <p:sp>
        <p:nvSpPr>
          <p:cNvPr id="35" name="레일 삼각형"/>
          <p:cNvSpPr/>
          <p:nvPr/>
        </p:nvSpPr>
        <p:spPr>
          <a:xfrm>
            <a:off x="734086" y="2073600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6" name="단계"/>
          <p:cNvSpPr/>
          <p:nvPr/>
        </p:nvSpPr>
        <p:spPr>
          <a:xfrm>
            <a:off x="1347652" y="2095513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7" name="단계"/>
          <p:cNvSpPr>
            <a:spLocks noGrp="1"/>
          </p:cNvSpPr>
          <p:nvPr>
            <p:ph type="body" sz="quarter" idx="33"/>
          </p:nvPr>
        </p:nvSpPr>
        <p:spPr>
          <a:xfrm>
            <a:off x="1347652" y="209551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안심 농법 기술을 활용</a:t>
            </a:r>
          </a:p>
        </p:txBody>
      </p:sp>
      <p:sp>
        <p:nvSpPr>
          <p:cNvPr id="38" name="단계"/>
          <p:cNvSpPr/>
          <p:nvPr/>
        </p:nvSpPr>
        <p:spPr>
          <a:xfrm>
            <a:off x="3230348" y="2095513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9" name="단계"/>
          <p:cNvSpPr>
            <a:spLocks noGrp="1"/>
          </p:cNvSpPr>
          <p:nvPr>
            <p:ph type="body" sz="quarter" idx="34"/>
          </p:nvPr>
        </p:nvSpPr>
        <p:spPr>
          <a:xfrm>
            <a:off x="3230348" y="209551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댐 유휴지에 들깨밭을 조성</a:t>
            </a:r>
          </a:p>
        </p:txBody>
      </p:sp>
      <p:sp>
        <p:nvSpPr>
          <p:cNvPr id="40" name="단계"/>
          <p:cNvSpPr/>
          <p:nvPr/>
        </p:nvSpPr>
        <p:spPr>
          <a:xfrm>
            <a:off x="5113043" y="2095513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1" name="단계"/>
          <p:cNvSpPr>
            <a:spLocks noGrp="1"/>
          </p:cNvSpPr>
          <p:nvPr>
            <p:ph type="body" sz="quarter" idx="35"/>
          </p:nvPr>
        </p:nvSpPr>
        <p:spPr>
          <a:xfrm>
            <a:off x="5113043" y="209551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수확된 들깨를 판매</a:t>
            </a:r>
          </a:p>
        </p:txBody>
      </p:sp>
      <p:sp>
        <p:nvSpPr>
          <p:cNvPr id="42" name="단계 삼각형"/>
          <p:cNvSpPr/>
          <p:nvPr/>
        </p:nvSpPr>
        <p:spPr>
          <a:xfrm>
            <a:off x="3230347" y="2095513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3" name="단계 삼각형"/>
          <p:cNvSpPr/>
          <p:nvPr/>
        </p:nvSpPr>
        <p:spPr>
          <a:xfrm>
            <a:off x="5113043" y="209551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4" name="칸 본문"/>
          <p:cNvSpPr>
            <a:spLocks noGrp="1"/>
          </p:cNvSpPr>
          <p:nvPr>
            <p:ph type="body" sz="quarter" idx="36"/>
          </p:nvPr>
        </p:nvSpPr>
        <p:spPr>
          <a:xfrm>
            <a:off x="1358609" y="2347513"/>
            <a:ext cx="1860783" cy="821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수질·생태계를 보호하며 친환경 경작기법 활용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화학 농약·비료 원천차단, ‘안심농법’ 주민 교육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37"/>
          </p:nvPr>
        </p:nvSpPr>
        <p:spPr>
          <a:xfrm>
            <a:off x="3241304" y="2347513"/>
            <a:ext cx="1860783" cy="821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꿀벌의 밀원지를 확보하고 윙윙 꿀벌 식당 조성(들깨밭)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들깨밭 조성으로 생태계 핵심종 꿀벌 서식지 제공</a:t>
            </a:r>
          </a:p>
        </p:txBody>
      </p:sp>
      <p:cxnSp>
        <p:nvCxnSpPr>
          <p:cNvPr id="46" name="Connector 30"/>
          <p:cNvCxnSpPr/>
          <p:nvPr/>
        </p:nvCxnSpPr>
        <p:spPr>
          <a:xfrm>
            <a:off x="3230348" y="2380383"/>
            <a:ext cx="0" cy="75600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7" name="칸 본문"/>
          <p:cNvSpPr>
            <a:spLocks noGrp="1"/>
          </p:cNvSpPr>
          <p:nvPr>
            <p:ph type="body" sz="quarter" idx="38"/>
          </p:nvPr>
        </p:nvSpPr>
        <p:spPr>
          <a:xfrm>
            <a:off x="5124000" y="2347513"/>
            <a:ext cx="1860783" cy="821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지역경제 활성화에 보탬 자연·주민의 공존모델 성공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수확된 들깨·꿀의 가공/판매로 지역 소득창출</a:t>
            </a:r>
          </a:p>
        </p:txBody>
      </p:sp>
      <p:cxnSp>
        <p:nvCxnSpPr>
          <p:cNvPr id="48" name="Connector 32"/>
          <p:cNvCxnSpPr/>
          <p:nvPr/>
        </p:nvCxnSpPr>
        <p:spPr>
          <a:xfrm>
            <a:off x="5113043" y="2380383"/>
            <a:ext cx="0" cy="75600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9" name="칸 본문"/>
          <p:cNvSpPr>
            <a:spLocks noGrp="1"/>
          </p:cNvSpPr>
          <p:nvPr>
            <p:ph type="body" sz="quarter" idx="39"/>
          </p:nvPr>
        </p:nvSpPr>
        <p:spPr>
          <a:xfrm>
            <a:off x="1358609" y="3185687"/>
            <a:ext cx="4514087" cy="657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사진 3칸: 주민 교육 · 들깨밭 · 판매 상품</a:t>
            </a:r>
          </a:p>
        </p:txBody>
      </p:sp>
      <p:sp>
        <p:nvSpPr>
          <p:cNvPr id="50" name="사진 칸"/>
          <p:cNvSpPr/>
          <p:nvPr/>
        </p:nvSpPr>
        <p:spPr>
          <a:xfrm>
            <a:off x="5916522" y="3191165"/>
            <a:ext cx="1079217" cy="646435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51" name="사진 칸"/>
          <p:cNvSpPr>
            <a:spLocks noGrp="1"/>
          </p:cNvSpPr>
          <p:nvPr>
            <p:ph type="body" sz="quarter" idx="40"/>
          </p:nvPr>
        </p:nvSpPr>
        <p:spPr>
          <a:xfrm>
            <a:off x="5916522" y="3191165"/>
            <a:ext cx="1079217" cy="646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52" name="핵심성과 박스"/>
          <p:cNvSpPr/>
          <p:nvPr/>
        </p:nvSpPr>
        <p:spPr>
          <a:xfrm>
            <a:off x="723130" y="3952643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3" name="핵심성과 라벨"/>
          <p:cNvSpPr/>
          <p:nvPr/>
        </p:nvSpPr>
        <p:spPr>
          <a:xfrm>
            <a:off x="756000" y="3985513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54" name="핵심성과 라벨"/>
          <p:cNvSpPr>
            <a:spLocks noGrp="1"/>
          </p:cNvSpPr>
          <p:nvPr>
            <p:ph type="body" sz="quarter" idx="41"/>
          </p:nvPr>
        </p:nvSpPr>
        <p:spPr>
          <a:xfrm>
            <a:off x="756000" y="3985513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5" name="핵심성과 문구"/>
          <p:cNvSpPr>
            <a:spLocks noGrp="1"/>
          </p:cNvSpPr>
          <p:nvPr>
            <p:ph type="body" sz="quarter" idx="42"/>
          </p:nvPr>
        </p:nvSpPr>
        <p:spPr>
          <a:xfrm>
            <a:off x="1501043" y="3974557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꿀벌(약 2만마리) 생태환경 조성과 주민 일자리(19개), 소득(37백만원) 동시 창출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이해관계자간 협력 기반 성공적 상생 모델 구현으로 중기부 ‘윈윈 아너스’ 사례 선정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87 서사 · 신정부 에너지 정책 → 공존가치 실현(Re:boot 로드맵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기술 개선 및 국민 편익을 증대하는 물에너지 개발로 국가 탄소중립 선도</a:t>
            </a:r>
          </a:p>
        </p:txBody>
      </p:sp>
      <p:sp>
        <p:nvSpPr>
          <p:cNvPr id="15" name="형광 밑줄"/>
          <p:cNvSpPr/>
          <p:nvPr/>
        </p:nvSpPr>
        <p:spPr>
          <a:xfrm>
            <a:off x="536870" y="1347652"/>
            <a:ext cx="4404099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소제목"/>
          <p:cNvSpPr>
            <a:spLocks noGrp="1"/>
          </p:cNvSpPr>
          <p:nvPr>
            <p:ph type="body" sz="quarter" idx="22"/>
          </p:nvPr>
        </p:nvSpPr>
        <p:spPr>
          <a:xfrm>
            <a:off x="536870" y="1194261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신정부 에너지 정책에 발맞춘 K-water 물에너지 Re:boot 로드맵 마련</a:t>
            </a:r>
          </a:p>
        </p:txBody>
      </p:sp>
      <p:sp>
        <p:nvSpPr>
          <p:cNvPr id="17" name="태그칩"/>
          <p:cNvSpPr/>
          <p:nvPr/>
        </p:nvSpPr>
        <p:spPr>
          <a:xfrm>
            <a:off x="5039577" y="1227130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태그칩"/>
          <p:cNvSpPr>
            <a:spLocks noGrp="1"/>
          </p:cNvSpPr>
          <p:nvPr>
            <p:ph type="body" sz="quarter" idx="23"/>
          </p:nvPr>
        </p:nvSpPr>
        <p:spPr>
          <a:xfrm>
            <a:off x="5039577" y="1227130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9" name="표 외곽"/>
          <p:cNvSpPr/>
          <p:nvPr/>
        </p:nvSpPr>
        <p:spPr>
          <a:xfrm>
            <a:off x="536870" y="1479130"/>
            <a:ext cx="6300000" cy="214200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0" name="레일"/>
          <p:cNvSpPr/>
          <p:nvPr/>
        </p:nvSpPr>
        <p:spPr>
          <a:xfrm>
            <a:off x="547826" y="1495565"/>
            <a:ext cx="580696" cy="876522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4"/>
          </p:nvPr>
        </p:nvSpPr>
        <p:spPr>
          <a:xfrm>
            <a:off x="547826" y="1495565"/>
            <a:ext cx="580696" cy="87652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물에너지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Re:boot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 략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5"/>
          </p:nvPr>
        </p:nvSpPr>
        <p:spPr>
          <a:xfrm>
            <a:off x="1172348" y="1517478"/>
            <a:ext cx="2802130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 기후위기 대응과 재생에너지 대전환, 온실가스 감축 가속화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6"/>
          </p:nvPr>
        </p:nvSpPr>
        <p:spPr>
          <a:xfrm>
            <a:off x="3996391" y="1517478"/>
            <a:ext cx="2802130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‘국가 탄소중립 실현과 기업 RE100 달성’ 국정과제 이행 선도적 역할 수행</a:t>
            </a:r>
          </a:p>
        </p:txBody>
      </p:sp>
      <p:cxnSp>
        <p:nvCxnSpPr>
          <p:cNvPr id="24" name="Connector 18"/>
          <p:cNvCxnSpPr/>
          <p:nvPr/>
        </p:nvCxnSpPr>
        <p:spPr>
          <a:xfrm>
            <a:off x="3985435" y="1550348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5" name="태그"/>
          <p:cNvSpPr/>
          <p:nvPr/>
        </p:nvSpPr>
        <p:spPr>
          <a:xfrm>
            <a:off x="1161391" y="1972174"/>
            <a:ext cx="361972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6" name="태그"/>
          <p:cNvSpPr>
            <a:spLocks noGrp="1"/>
          </p:cNvSpPr>
          <p:nvPr>
            <p:ph type="body" sz="quarter" idx="27"/>
          </p:nvPr>
        </p:nvSpPr>
        <p:spPr>
          <a:xfrm>
            <a:off x="1161391" y="1972174"/>
            <a:ext cx="36197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목표</a:t>
            </a:r>
          </a:p>
        </p:txBody>
      </p:sp>
      <p:sp>
        <p:nvSpPr>
          <p:cNvPr id="27" name="태그 설명"/>
          <p:cNvSpPr>
            <a:spLocks noGrp="1"/>
          </p:cNvSpPr>
          <p:nvPr>
            <p:ph type="body" sz="quarter" idx="28"/>
          </p:nvPr>
        </p:nvSpPr>
        <p:spPr>
          <a:xfrm>
            <a:off x="1567189" y="1961217"/>
            <a:ext cx="5242289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2030년까지 재생에너지 8.5GW 개발 추진(누적 10GW) [국가목표의 10%]</a:t>
            </a:r>
          </a:p>
        </p:txBody>
      </p:sp>
      <p:sp>
        <p:nvSpPr>
          <p:cNvPr id="28" name="태그"/>
          <p:cNvSpPr/>
          <p:nvPr/>
        </p:nvSpPr>
        <p:spPr>
          <a:xfrm>
            <a:off x="1161391" y="2169391"/>
            <a:ext cx="361972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9" name="태그"/>
          <p:cNvSpPr>
            <a:spLocks noGrp="1"/>
          </p:cNvSpPr>
          <p:nvPr>
            <p:ph type="body" sz="quarter" idx="29"/>
          </p:nvPr>
        </p:nvSpPr>
        <p:spPr>
          <a:xfrm>
            <a:off x="1161391" y="2169391"/>
            <a:ext cx="36197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세부</a:t>
            </a:r>
          </a:p>
        </p:txBody>
      </p:sp>
      <p:sp>
        <p:nvSpPr>
          <p:cNvPr id="30" name="태그 설명"/>
          <p:cNvSpPr>
            <a:spLocks noGrp="1"/>
          </p:cNvSpPr>
          <p:nvPr>
            <p:ph type="body" sz="quarter" idx="30"/>
          </p:nvPr>
        </p:nvSpPr>
        <p:spPr>
          <a:xfrm>
            <a:off x="1567189" y="2158435"/>
            <a:ext cx="5242289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수상태양광 6.5GW, 육상태양광 0.6GW, 수력 977MW 등 추가 개발</a:t>
            </a:r>
          </a:p>
        </p:txBody>
      </p:sp>
      <p:sp>
        <p:nvSpPr>
          <p:cNvPr id="31" name="레일"/>
          <p:cNvSpPr/>
          <p:nvPr/>
        </p:nvSpPr>
        <p:spPr>
          <a:xfrm>
            <a:off x="547826" y="2388522"/>
            <a:ext cx="580696" cy="1216174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2" name="레일"/>
          <p:cNvSpPr>
            <a:spLocks noGrp="1"/>
          </p:cNvSpPr>
          <p:nvPr>
            <p:ph type="body" sz="quarter" idx="31"/>
          </p:nvPr>
        </p:nvSpPr>
        <p:spPr>
          <a:xfrm>
            <a:off x="547826" y="2388522"/>
            <a:ext cx="580696" cy="1216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공 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가 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 현</a:t>
            </a:r>
          </a:p>
        </p:txBody>
      </p:sp>
      <p:sp>
        <p:nvSpPr>
          <p:cNvPr id="33" name="레일 삼각형"/>
          <p:cNvSpPr/>
          <p:nvPr/>
        </p:nvSpPr>
        <p:spPr>
          <a:xfrm>
            <a:off x="547826" y="2388521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4" name="배너"/>
          <p:cNvSpPr/>
          <p:nvPr/>
        </p:nvSpPr>
        <p:spPr>
          <a:xfrm>
            <a:off x="1161391" y="2410435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5" name="배너"/>
          <p:cNvSpPr>
            <a:spLocks noGrp="1"/>
          </p:cNvSpPr>
          <p:nvPr>
            <p:ph type="body" sz="quarter" idx="32"/>
          </p:nvPr>
        </p:nvSpPr>
        <p:spPr>
          <a:xfrm>
            <a:off x="1161391" y="2410435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물에너지를 통한 주민·국가·기업 상생 경제 구현</a:t>
            </a:r>
          </a:p>
        </p:txBody>
      </p:sp>
      <p:sp>
        <p:nvSpPr>
          <p:cNvPr id="36" name="머리칸"/>
          <p:cNvSpPr/>
          <p:nvPr/>
        </p:nvSpPr>
        <p:spPr>
          <a:xfrm>
            <a:off x="1161391" y="264600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7" name="머리칸"/>
          <p:cNvSpPr>
            <a:spLocks noGrp="1"/>
          </p:cNvSpPr>
          <p:nvPr>
            <p:ph type="body" sz="quarter" idx="33"/>
          </p:nvPr>
        </p:nvSpPr>
        <p:spPr>
          <a:xfrm>
            <a:off x="1161391" y="264600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주민 이익공유 모델</a:t>
            </a:r>
          </a:p>
        </p:txBody>
      </p:sp>
      <p:sp>
        <p:nvSpPr>
          <p:cNvPr id="38" name="머리칸"/>
          <p:cNvSpPr/>
          <p:nvPr/>
        </p:nvSpPr>
        <p:spPr>
          <a:xfrm>
            <a:off x="3044087" y="264600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9" name="머리칸"/>
          <p:cNvSpPr>
            <a:spLocks noGrp="1"/>
          </p:cNvSpPr>
          <p:nvPr>
            <p:ph type="body" sz="quarter" idx="34"/>
          </p:nvPr>
        </p:nvSpPr>
        <p:spPr>
          <a:xfrm>
            <a:off x="3044087" y="264600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국가 온실가스 국제 감축</a:t>
            </a:r>
          </a:p>
        </p:txBody>
      </p:sp>
      <p:sp>
        <p:nvSpPr>
          <p:cNvPr id="40" name="머리칸"/>
          <p:cNvSpPr/>
          <p:nvPr/>
        </p:nvSpPr>
        <p:spPr>
          <a:xfrm>
            <a:off x="4926783" y="264600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1" name="머리칸"/>
          <p:cNvSpPr>
            <a:spLocks noGrp="1"/>
          </p:cNvSpPr>
          <p:nvPr>
            <p:ph type="body" sz="quarter" idx="35"/>
          </p:nvPr>
        </p:nvSpPr>
        <p:spPr>
          <a:xfrm>
            <a:off x="4926783" y="264600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 RE100 달성지원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36"/>
          </p:nvPr>
        </p:nvSpPr>
        <p:spPr>
          <a:xfrm>
            <a:off x="1172348" y="2887043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물에너지 연계 주거비 절감, 소득증대모델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(목표) 주민상생사업 32개소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37"/>
          </p:nvPr>
        </p:nvSpPr>
        <p:spPr>
          <a:xfrm>
            <a:off x="3055043" y="2887043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앞선 기술력을 바탕으로 글로벌 탄소중립 시장 선도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(목표) 8개국 17개 신규사업 추진</a:t>
            </a:r>
          </a:p>
        </p:txBody>
      </p:sp>
      <p:cxnSp>
        <p:nvCxnSpPr>
          <p:cNvPr id="44" name="Connector 31"/>
          <p:cNvCxnSpPr/>
          <p:nvPr/>
        </p:nvCxnSpPr>
        <p:spPr>
          <a:xfrm>
            <a:off x="3044087" y="2919913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5" name="칸 본문"/>
          <p:cNvSpPr>
            <a:spLocks noGrp="1"/>
          </p:cNvSpPr>
          <p:nvPr>
            <p:ph type="body" sz="quarter" idx="38"/>
          </p:nvPr>
        </p:nvSpPr>
        <p:spPr>
          <a:xfrm>
            <a:off x="4937739" y="2887043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재생에너지를 활용 직접PPA 다각화, 계약 확대 추진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(목표) 직접PPA 26건(누적) 체결</a:t>
            </a:r>
          </a:p>
        </p:txBody>
      </p:sp>
      <p:cxnSp>
        <p:nvCxnSpPr>
          <p:cNvPr id="46" name="Connector 33"/>
          <p:cNvCxnSpPr/>
          <p:nvPr/>
        </p:nvCxnSpPr>
        <p:spPr>
          <a:xfrm>
            <a:off x="4926783" y="2919913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88 서사 · 수열 · 수상태양광 · 그린수소 · 국제감축(분야별 단계 전개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4572585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공동주택 수열도입, 주민 수익 창출, 그린수소 상업판매 개시로 실행력 입증</a:t>
            </a:r>
          </a:p>
        </p:txBody>
      </p:sp>
      <p:sp>
        <p:nvSpPr>
          <p:cNvPr id="11" name="태그칩"/>
          <p:cNvSpPr/>
          <p:nvPr/>
        </p:nvSpPr>
        <p:spPr>
          <a:xfrm>
            <a:off x="5394324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5394324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표 외곽"/>
          <p:cNvSpPr/>
          <p:nvPr/>
        </p:nvSpPr>
        <p:spPr>
          <a:xfrm>
            <a:off x="723130" y="1062783"/>
            <a:ext cx="6300000" cy="493043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레일"/>
          <p:cNvSpPr/>
          <p:nvPr/>
        </p:nvSpPr>
        <p:spPr>
          <a:xfrm>
            <a:off x="734087" y="1079217"/>
            <a:ext cx="580696" cy="115591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 태그"/>
          <p:cNvSpPr/>
          <p:nvPr/>
        </p:nvSpPr>
        <p:spPr>
          <a:xfrm>
            <a:off x="744637" y="1123043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16" name="레일 태그"/>
          <p:cNvSpPr>
            <a:spLocks noGrp="1"/>
          </p:cNvSpPr>
          <p:nvPr>
            <p:ph type="body" sz="quarter" idx="22"/>
          </p:nvPr>
        </p:nvSpPr>
        <p:spPr>
          <a:xfrm>
            <a:off x="744637" y="1123043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국민편익</a:t>
            </a:r>
          </a:p>
        </p:txBody>
      </p:sp>
      <p:sp>
        <p:nvSpPr>
          <p:cNvPr id="17" name="레일 라벨"/>
          <p:cNvSpPr>
            <a:spLocks noGrp="1"/>
          </p:cNvSpPr>
          <p:nvPr>
            <p:ph type="body" sz="quarter" idx="23"/>
          </p:nvPr>
        </p:nvSpPr>
        <p:spPr>
          <a:xfrm>
            <a:off x="734087" y="1309304"/>
            <a:ext cx="580696" cy="903913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 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에너지</a:t>
            </a:r>
          </a:p>
        </p:txBody>
      </p:sp>
      <p:sp>
        <p:nvSpPr>
          <p:cNvPr id="18" name="단계"/>
          <p:cNvSpPr/>
          <p:nvPr/>
        </p:nvSpPr>
        <p:spPr>
          <a:xfrm>
            <a:off x="1347652" y="1101130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9" name="단계"/>
          <p:cNvSpPr>
            <a:spLocks noGrp="1"/>
          </p:cNvSpPr>
          <p:nvPr>
            <p:ph type="body" sz="quarter" idx="24"/>
          </p:nvPr>
        </p:nvSpPr>
        <p:spPr>
          <a:xfrm>
            <a:off x="1347652" y="110113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간헐적·비정기적 수요</a:t>
            </a:r>
          </a:p>
        </p:txBody>
      </p:sp>
      <p:sp>
        <p:nvSpPr>
          <p:cNvPr id="20" name="단계"/>
          <p:cNvSpPr/>
          <p:nvPr/>
        </p:nvSpPr>
        <p:spPr>
          <a:xfrm>
            <a:off x="3230348" y="1101130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1" name="단계"/>
          <p:cNvSpPr>
            <a:spLocks noGrp="1"/>
          </p:cNvSpPr>
          <p:nvPr>
            <p:ph type="body" sz="quarter" idx="25"/>
          </p:nvPr>
        </p:nvSpPr>
        <p:spPr>
          <a:xfrm>
            <a:off x="3230348" y="110113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국민 주거공간으로 확장</a:t>
            </a:r>
          </a:p>
        </p:txBody>
      </p:sp>
      <p:sp>
        <p:nvSpPr>
          <p:cNvPr id="22" name="단계"/>
          <p:cNvSpPr/>
          <p:nvPr/>
        </p:nvSpPr>
        <p:spPr>
          <a:xfrm>
            <a:off x="5113043" y="1101130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3" name="단계"/>
          <p:cNvSpPr>
            <a:spLocks noGrp="1"/>
          </p:cNvSpPr>
          <p:nvPr>
            <p:ph type="body" sz="quarter" idx="26"/>
          </p:nvPr>
        </p:nvSpPr>
        <p:spPr>
          <a:xfrm>
            <a:off x="5113043" y="110113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 국민편익까지 실현</a:t>
            </a:r>
          </a:p>
        </p:txBody>
      </p:sp>
      <p:sp>
        <p:nvSpPr>
          <p:cNvPr id="24" name="단계 삼각형"/>
          <p:cNvSpPr/>
          <p:nvPr/>
        </p:nvSpPr>
        <p:spPr>
          <a:xfrm>
            <a:off x="3230347" y="1101130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5" name="단계 삼각형"/>
          <p:cNvSpPr/>
          <p:nvPr/>
        </p:nvSpPr>
        <p:spPr>
          <a:xfrm>
            <a:off x="5113043" y="1101130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7"/>
          </p:nvPr>
        </p:nvSpPr>
        <p:spPr>
          <a:xfrm>
            <a:off x="1358609" y="1353130"/>
            <a:ext cx="1860783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롯데타워, 스마트팜 등 대형복합시설 중심 공급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안정적인 수열사업 확대를 위한 수요처 다변화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28"/>
          </p:nvPr>
        </p:nvSpPr>
        <p:spPr>
          <a:xfrm>
            <a:off x="3241304" y="1353130"/>
            <a:ext cx="1860783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국내최초 공공주택(604세대) 수열도입 시범추진(경기도)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신도시 등 수요처 추가발굴 실외기 없는 친환경 주거 확대</a:t>
            </a:r>
          </a:p>
        </p:txBody>
      </p:sp>
      <p:cxnSp>
        <p:nvCxnSpPr>
          <p:cNvPr id="28" name="Connector 17"/>
          <p:cNvCxnSpPr/>
          <p:nvPr/>
        </p:nvCxnSpPr>
        <p:spPr>
          <a:xfrm>
            <a:off x="3230348" y="1386000"/>
            <a:ext cx="0" cy="81078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5124000" y="1353130"/>
            <a:ext cx="1860783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냉·난방비 최대 66% 절감 기대로 국민주거복지 실현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에너지 Zero 아파트 구현으로 건축 부문 탄소중립 기여</a:t>
            </a:r>
          </a:p>
        </p:txBody>
      </p:sp>
      <p:cxnSp>
        <p:nvCxnSpPr>
          <p:cNvPr id="30" name="Connector 19"/>
          <p:cNvCxnSpPr/>
          <p:nvPr/>
        </p:nvCxnSpPr>
        <p:spPr>
          <a:xfrm>
            <a:off x="5113043" y="1386000"/>
            <a:ext cx="0" cy="81078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레일"/>
          <p:cNvSpPr/>
          <p:nvPr/>
        </p:nvSpPr>
        <p:spPr>
          <a:xfrm>
            <a:off x="734087" y="2251565"/>
            <a:ext cx="580696" cy="115591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2" name="레일 태그"/>
          <p:cNvSpPr/>
          <p:nvPr/>
        </p:nvSpPr>
        <p:spPr>
          <a:xfrm>
            <a:off x="744637" y="2415913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3" name="레일 태그"/>
          <p:cNvSpPr>
            <a:spLocks noGrp="1"/>
          </p:cNvSpPr>
          <p:nvPr>
            <p:ph type="body" sz="quarter" idx="30"/>
          </p:nvPr>
        </p:nvSpPr>
        <p:spPr>
          <a:xfrm>
            <a:off x="744637" y="2415913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이익공유</a:t>
            </a:r>
          </a:p>
        </p:txBody>
      </p:sp>
      <p:sp>
        <p:nvSpPr>
          <p:cNvPr id="34" name="레일 라벨"/>
          <p:cNvSpPr>
            <a:spLocks noGrp="1"/>
          </p:cNvSpPr>
          <p:nvPr>
            <p:ph type="body" sz="quarter" idx="31"/>
          </p:nvPr>
        </p:nvSpPr>
        <p:spPr>
          <a:xfrm>
            <a:off x="734087" y="2602174"/>
            <a:ext cx="580696" cy="783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 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태양광</a:t>
            </a:r>
          </a:p>
        </p:txBody>
      </p:sp>
      <p:sp>
        <p:nvSpPr>
          <p:cNvPr id="35" name="레일 삼각형"/>
          <p:cNvSpPr/>
          <p:nvPr/>
        </p:nvSpPr>
        <p:spPr>
          <a:xfrm>
            <a:off x="734086" y="2251565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6" name="단계"/>
          <p:cNvSpPr/>
          <p:nvPr/>
        </p:nvSpPr>
        <p:spPr>
          <a:xfrm>
            <a:off x="1347652" y="2273478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7" name="단계"/>
          <p:cNvSpPr>
            <a:spLocks noGrp="1"/>
          </p:cNvSpPr>
          <p:nvPr>
            <p:ph type="body" sz="quarter" idx="32"/>
          </p:nvPr>
        </p:nvSpPr>
        <p:spPr>
          <a:xfrm>
            <a:off x="1347652" y="227347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주민참여 사업모델 정립</a:t>
            </a:r>
          </a:p>
        </p:txBody>
      </p:sp>
      <p:sp>
        <p:nvSpPr>
          <p:cNvPr id="38" name="단계"/>
          <p:cNvSpPr/>
          <p:nvPr/>
        </p:nvSpPr>
        <p:spPr>
          <a:xfrm>
            <a:off x="3230348" y="2273478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9" name="단계"/>
          <p:cNvSpPr>
            <a:spLocks noGrp="1"/>
          </p:cNvSpPr>
          <p:nvPr>
            <p:ph type="body" sz="quarter" idx="33"/>
          </p:nvPr>
        </p:nvSpPr>
        <p:spPr>
          <a:xfrm>
            <a:off x="3230348" y="227347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임하 수상태양광 준공</a:t>
            </a:r>
          </a:p>
        </p:txBody>
      </p:sp>
      <p:sp>
        <p:nvSpPr>
          <p:cNvPr id="40" name="단계"/>
          <p:cNvSpPr/>
          <p:nvPr/>
        </p:nvSpPr>
        <p:spPr>
          <a:xfrm>
            <a:off x="5113043" y="2273478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1" name="단계"/>
          <p:cNvSpPr>
            <a:spLocks noGrp="1"/>
          </p:cNvSpPr>
          <p:nvPr>
            <p:ph type="body" sz="quarter" idx="34"/>
          </p:nvPr>
        </p:nvSpPr>
        <p:spPr>
          <a:xfrm>
            <a:off x="5113043" y="227347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’25년~ 성공 사업모델 확산</a:t>
            </a:r>
          </a:p>
        </p:txBody>
      </p:sp>
      <p:sp>
        <p:nvSpPr>
          <p:cNvPr id="42" name="단계 삼각형"/>
          <p:cNvSpPr/>
          <p:nvPr/>
        </p:nvSpPr>
        <p:spPr>
          <a:xfrm>
            <a:off x="3230347" y="2273478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3" name="단계 삼각형"/>
          <p:cNvSpPr/>
          <p:nvPr/>
        </p:nvSpPr>
        <p:spPr>
          <a:xfrm>
            <a:off x="5113043" y="2273478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4" name="칸 본문"/>
          <p:cNvSpPr>
            <a:spLocks noGrp="1"/>
          </p:cNvSpPr>
          <p:nvPr>
            <p:ph type="body" sz="quarter" idx="35"/>
          </p:nvPr>
        </p:nvSpPr>
        <p:spPr>
          <a:xfrm>
            <a:off x="1358609" y="2525478"/>
            <a:ext cx="1860783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지역특화모델, 일자리 창출, 주민 수익 공유(10%)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주민소득형 상생 기반 마련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36"/>
          </p:nvPr>
        </p:nvSpPr>
        <p:spPr>
          <a:xfrm>
            <a:off x="3241304" y="2525478"/>
            <a:ext cx="1860783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33개 마을·2,600가구 참여 국내 최대규모 상업운전 개시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수익 창출 시작(10억원/연)</a:t>
            </a:r>
          </a:p>
        </p:txBody>
      </p:sp>
      <p:cxnSp>
        <p:nvCxnSpPr>
          <p:cNvPr id="46" name="Connector 31"/>
          <p:cNvCxnSpPr/>
          <p:nvPr/>
        </p:nvCxnSpPr>
        <p:spPr>
          <a:xfrm>
            <a:off x="3230348" y="2558348"/>
            <a:ext cx="0" cy="81078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7" name="칸 본문"/>
          <p:cNvSpPr>
            <a:spLocks noGrp="1"/>
          </p:cNvSpPr>
          <p:nvPr>
            <p:ph type="body" sz="quarter" idx="37"/>
          </p:nvPr>
        </p:nvSpPr>
        <p:spPr>
          <a:xfrm>
            <a:off x="5124000" y="2525478"/>
            <a:ext cx="1860783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선진지 견학 및 노하우 전파, 성공사례 공유·소통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합천댐 등 3개소 사업 추진</a:t>
            </a:r>
          </a:p>
        </p:txBody>
      </p:sp>
      <p:cxnSp>
        <p:nvCxnSpPr>
          <p:cNvPr id="48" name="Connector 33"/>
          <p:cNvCxnSpPr/>
          <p:nvPr/>
        </p:nvCxnSpPr>
        <p:spPr>
          <a:xfrm>
            <a:off x="5113043" y="2558348"/>
            <a:ext cx="0" cy="81078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9" name="레일"/>
          <p:cNvSpPr/>
          <p:nvPr/>
        </p:nvSpPr>
        <p:spPr>
          <a:xfrm>
            <a:off x="734087" y="3423913"/>
            <a:ext cx="580696" cy="114495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0" name="레일 태그"/>
          <p:cNvSpPr/>
          <p:nvPr/>
        </p:nvSpPr>
        <p:spPr>
          <a:xfrm>
            <a:off x="675117" y="3467739"/>
            <a:ext cx="69863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51" name="레일 태그"/>
          <p:cNvSpPr>
            <a:spLocks noGrp="1"/>
          </p:cNvSpPr>
          <p:nvPr>
            <p:ph type="body" sz="quarter" idx="38"/>
          </p:nvPr>
        </p:nvSpPr>
        <p:spPr>
          <a:xfrm>
            <a:off x="675117" y="3467739"/>
            <a:ext cx="69863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기술력 향상</a:t>
            </a:r>
          </a:p>
        </p:txBody>
      </p:sp>
      <p:sp>
        <p:nvSpPr>
          <p:cNvPr id="52" name="레일 라벨"/>
          <p:cNvSpPr>
            <a:spLocks noGrp="1"/>
          </p:cNvSpPr>
          <p:nvPr>
            <p:ph type="body" sz="quarter" idx="39"/>
          </p:nvPr>
        </p:nvSpPr>
        <p:spPr>
          <a:xfrm>
            <a:off x="734087" y="3654000"/>
            <a:ext cx="580696" cy="892957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그린수소</a:t>
            </a:r>
          </a:p>
        </p:txBody>
      </p:sp>
      <p:sp>
        <p:nvSpPr>
          <p:cNvPr id="53" name="머리칸"/>
          <p:cNvSpPr/>
          <p:nvPr/>
        </p:nvSpPr>
        <p:spPr>
          <a:xfrm>
            <a:off x="1347652" y="344582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4" name="머리칸"/>
          <p:cNvSpPr>
            <a:spLocks noGrp="1"/>
          </p:cNvSpPr>
          <p:nvPr>
            <p:ph type="body" sz="quarter" idx="40"/>
          </p:nvPr>
        </p:nvSpPr>
        <p:spPr>
          <a:xfrm>
            <a:off x="1347652" y="344582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혁신 생산인프라 지속 개발</a:t>
            </a:r>
          </a:p>
        </p:txBody>
      </p:sp>
      <p:sp>
        <p:nvSpPr>
          <p:cNvPr id="55" name="머리칸"/>
          <p:cNvSpPr/>
          <p:nvPr/>
        </p:nvSpPr>
        <p:spPr>
          <a:xfrm>
            <a:off x="3230348" y="344582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6" name="머리칸"/>
          <p:cNvSpPr>
            <a:spLocks noGrp="1"/>
          </p:cNvSpPr>
          <p:nvPr>
            <p:ph type="body" sz="quarter" idx="41"/>
          </p:nvPr>
        </p:nvSpPr>
        <p:spPr>
          <a:xfrm>
            <a:off x="3230348" y="344582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도약 수소에너지 상용화</a:t>
            </a:r>
          </a:p>
        </p:txBody>
      </p:sp>
      <p:sp>
        <p:nvSpPr>
          <p:cNvPr id="57" name="머리칸"/>
          <p:cNvSpPr/>
          <p:nvPr/>
        </p:nvSpPr>
        <p:spPr>
          <a:xfrm>
            <a:off x="5113043" y="344582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8" name="머리칸"/>
          <p:cNvSpPr>
            <a:spLocks noGrp="1"/>
          </p:cNvSpPr>
          <p:nvPr>
            <p:ph type="body" sz="quarter" idx="42"/>
          </p:nvPr>
        </p:nvSpPr>
        <p:spPr>
          <a:xfrm>
            <a:off x="5113043" y="344582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확산 지역상생형 공급망구축</a:t>
            </a:r>
          </a:p>
        </p:txBody>
      </p:sp>
      <p:sp>
        <p:nvSpPr>
          <p:cNvPr id="59" name="칸 본문"/>
          <p:cNvSpPr>
            <a:spLocks noGrp="1"/>
          </p:cNvSpPr>
          <p:nvPr>
            <p:ph type="body" sz="quarter" idx="43"/>
          </p:nvPr>
        </p:nvSpPr>
        <p:spPr>
          <a:xfrm>
            <a:off x="1358609" y="3686870"/>
            <a:ext cx="1860783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태양광 활용 그린수소 생산 모델 연구개발 시도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태양광 직접연계 On-Site 생산시스템 실증설비 구축</a:t>
            </a:r>
          </a:p>
        </p:txBody>
      </p:sp>
      <p:sp>
        <p:nvSpPr>
          <p:cNvPr id="60" name="칸 본문"/>
          <p:cNvSpPr>
            <a:spLocks noGrp="1"/>
          </p:cNvSpPr>
          <p:nvPr>
            <p:ph type="body" sz="quarter" idx="44"/>
          </p:nvPr>
        </p:nvSpPr>
        <p:spPr>
          <a:xfrm>
            <a:off x="3241304" y="3686870"/>
            <a:ext cx="1860783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수력발전 기반 그린수소 상업 판매 개시(’25.7)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연 30톤(수소차 5천대 충전량) 생산 확보</a:t>
            </a:r>
          </a:p>
        </p:txBody>
      </p:sp>
      <p:cxnSp>
        <p:nvCxnSpPr>
          <p:cNvPr id="61" name="Connector 42"/>
          <p:cNvCxnSpPr/>
          <p:nvPr/>
        </p:nvCxnSpPr>
        <p:spPr>
          <a:xfrm>
            <a:off x="3230348" y="3719739"/>
            <a:ext cx="0" cy="81078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2" name="칸 본문"/>
          <p:cNvSpPr>
            <a:spLocks noGrp="1"/>
          </p:cNvSpPr>
          <p:nvPr>
            <p:ph type="body" sz="quarter" idx="45"/>
          </p:nvPr>
        </p:nvSpPr>
        <p:spPr>
          <a:xfrm>
            <a:off x="5124000" y="3686870"/>
            <a:ext cx="1860783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국내 최초 대체수자원(하수) 활용 생산 상용화(제주도 협약)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물 분야 그린수소 기술력 확보 및 산업 선점</a:t>
            </a:r>
          </a:p>
        </p:txBody>
      </p:sp>
      <p:cxnSp>
        <p:nvCxnSpPr>
          <p:cNvPr id="63" name="Connector 44"/>
          <p:cNvCxnSpPr/>
          <p:nvPr/>
        </p:nvCxnSpPr>
        <p:spPr>
          <a:xfrm>
            <a:off x="5113043" y="3719739"/>
            <a:ext cx="0" cy="81078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4" name="레일"/>
          <p:cNvSpPr/>
          <p:nvPr/>
        </p:nvSpPr>
        <p:spPr>
          <a:xfrm>
            <a:off x="734087" y="4585304"/>
            <a:ext cx="580696" cy="1391478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5" name="레일 태그"/>
          <p:cNvSpPr/>
          <p:nvPr/>
        </p:nvSpPr>
        <p:spPr>
          <a:xfrm>
            <a:off x="744637" y="4749652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66" name="레일 태그"/>
          <p:cNvSpPr>
            <a:spLocks noGrp="1"/>
          </p:cNvSpPr>
          <p:nvPr>
            <p:ph type="body" sz="quarter" idx="46"/>
          </p:nvPr>
        </p:nvSpPr>
        <p:spPr>
          <a:xfrm>
            <a:off x="744637" y="4749652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탄소중립</a:t>
            </a:r>
          </a:p>
        </p:txBody>
      </p:sp>
      <p:sp>
        <p:nvSpPr>
          <p:cNvPr id="67" name="레일 라벨"/>
          <p:cNvSpPr>
            <a:spLocks noGrp="1"/>
          </p:cNvSpPr>
          <p:nvPr>
            <p:ph type="body" sz="quarter" idx="47"/>
          </p:nvPr>
        </p:nvSpPr>
        <p:spPr>
          <a:xfrm>
            <a:off x="734087" y="4935913"/>
            <a:ext cx="580696" cy="1018957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온실가스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국 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감축사업</a:t>
            </a:r>
          </a:p>
        </p:txBody>
      </p:sp>
      <p:sp>
        <p:nvSpPr>
          <p:cNvPr id="68" name="레일 삼각형"/>
          <p:cNvSpPr/>
          <p:nvPr/>
        </p:nvSpPr>
        <p:spPr>
          <a:xfrm>
            <a:off x="734086" y="4585304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9" name="배너"/>
          <p:cNvSpPr/>
          <p:nvPr/>
        </p:nvSpPr>
        <p:spPr>
          <a:xfrm>
            <a:off x="1347652" y="4607217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70" name="배너"/>
          <p:cNvSpPr>
            <a:spLocks noGrp="1"/>
          </p:cNvSpPr>
          <p:nvPr>
            <p:ph type="body" sz="quarter" idx="48"/>
          </p:nvPr>
        </p:nvSpPr>
        <p:spPr>
          <a:xfrm>
            <a:off x="1347652" y="4607217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온실가스 국제감축사업 국가 전담기관(’23~)으로, 글로벌 탄소중립 기술 확산 주도</a:t>
            </a:r>
          </a:p>
        </p:txBody>
      </p:sp>
      <p:sp>
        <p:nvSpPr>
          <p:cNvPr id="71" name="단계"/>
          <p:cNvSpPr/>
          <p:nvPr/>
        </p:nvSpPr>
        <p:spPr>
          <a:xfrm>
            <a:off x="1347652" y="4842783"/>
            <a:ext cx="282404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2" name="단계"/>
          <p:cNvSpPr>
            <a:spLocks noGrp="1"/>
          </p:cNvSpPr>
          <p:nvPr>
            <p:ph type="body" sz="quarter" idx="49"/>
          </p:nvPr>
        </p:nvSpPr>
        <p:spPr>
          <a:xfrm>
            <a:off x="1347652" y="4842783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기존 사업의 틀을 넘어</a:t>
            </a:r>
          </a:p>
        </p:txBody>
      </p:sp>
      <p:sp>
        <p:nvSpPr>
          <p:cNvPr id="73" name="단계"/>
          <p:cNvSpPr/>
          <p:nvPr/>
        </p:nvSpPr>
        <p:spPr>
          <a:xfrm>
            <a:off x="4171696" y="4842783"/>
            <a:ext cx="2824043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4" name="단계"/>
          <p:cNvSpPr>
            <a:spLocks noGrp="1"/>
          </p:cNvSpPr>
          <p:nvPr>
            <p:ph type="body" sz="quarter" idx="50"/>
          </p:nvPr>
        </p:nvSpPr>
        <p:spPr>
          <a:xfrm>
            <a:off x="4171696" y="4842783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온실가스 감축 K-water 특화모델 적용</a:t>
            </a:r>
          </a:p>
        </p:txBody>
      </p:sp>
      <p:sp>
        <p:nvSpPr>
          <p:cNvPr id="75" name="단계 삼각형"/>
          <p:cNvSpPr/>
          <p:nvPr/>
        </p:nvSpPr>
        <p:spPr>
          <a:xfrm>
            <a:off x="4171695" y="4842782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6" name="칸 본문"/>
          <p:cNvSpPr>
            <a:spLocks noGrp="1"/>
          </p:cNvSpPr>
          <p:nvPr>
            <p:ph type="body" sz="quarter" idx="51"/>
          </p:nvPr>
        </p:nvSpPr>
        <p:spPr>
          <a:xfrm>
            <a:off x="1358609" y="5094783"/>
            <a:ext cx="2802130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사업분야 개도국 재생에너지 사업 중심 ➡ 소수력·태양광, 재생에너지 MP 수립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진출국가 아시아 3개국 9개 사업 진행 ➡ 동남아시아 2개국, 중앙아시아 1개국</a:t>
            </a:r>
          </a:p>
        </p:txBody>
      </p:sp>
      <p:sp>
        <p:nvSpPr>
          <p:cNvPr id="77" name="칸 본문"/>
          <p:cNvSpPr>
            <a:spLocks noGrp="1"/>
          </p:cNvSpPr>
          <p:nvPr>
            <p:ph type="body" sz="quarter" idx="52"/>
          </p:nvPr>
        </p:nvSpPr>
        <p:spPr>
          <a:xfrm>
            <a:off x="4182652" y="5094783"/>
            <a:ext cx="2802130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국내 최초 ‘유수율 제고’ 기술의 감축모델화 ➡ 누수 저감량의 탄소 감축 실적인정 방법론 개발·제안(’26.2)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중앙아시아 지역 대상으로 집중적 확대 ➡ ’25년 중앙아시아 사업 대상국 2개 신규 발굴(1 → 3개국)</a:t>
            </a:r>
          </a:p>
        </p:txBody>
      </p:sp>
      <p:cxnSp>
        <p:nvCxnSpPr>
          <p:cNvPr id="78" name="Connector 55"/>
          <p:cNvCxnSpPr/>
          <p:nvPr/>
        </p:nvCxnSpPr>
        <p:spPr>
          <a:xfrm>
            <a:off x="4171696" y="5127652"/>
            <a:ext cx="0" cy="81078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89 서사 · 수력 RE100 인증기준(추진배경 → 용어 → 추진내용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4454999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 수력의 글로벌 RE100 인증기준 마련으로 수출기업 RE100 경쟁력 확대</a:t>
            </a:r>
          </a:p>
        </p:txBody>
      </p:sp>
      <p:sp>
        <p:nvSpPr>
          <p:cNvPr id="12" name="태그칩"/>
          <p:cNvSpPr/>
          <p:nvPr/>
        </p:nvSpPr>
        <p:spPr>
          <a:xfrm>
            <a:off x="5090477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5090477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표 외곽"/>
          <p:cNvSpPr/>
          <p:nvPr/>
        </p:nvSpPr>
        <p:spPr>
          <a:xfrm>
            <a:off x="536870" y="1051826"/>
            <a:ext cx="6300000" cy="199956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547826" y="1068261"/>
            <a:ext cx="580696" cy="72313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068261"/>
            <a:ext cx="580696" cy="723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3"/>
          </p:nvPr>
        </p:nvSpPr>
        <p:spPr>
          <a:xfrm>
            <a:off x="1172348" y="1090174"/>
            <a:ext cx="5626174" cy="460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 수출을 위한 RE100 달성 필요에도 국내 재생e 공급은 12%에 불과(’24)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재생e 1위 기업 K-water의 물에너지(수력)를 활용한 직접 PPA 확대 필요</a:t>
            </a:r>
          </a:p>
        </p:txBody>
      </p:sp>
      <p:sp>
        <p:nvSpPr>
          <p:cNvPr id="18" name="태그"/>
          <p:cNvSpPr/>
          <p:nvPr/>
        </p:nvSpPr>
        <p:spPr>
          <a:xfrm>
            <a:off x="1161391" y="1588696"/>
            <a:ext cx="1358634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태그"/>
          <p:cNvSpPr>
            <a:spLocks noGrp="1"/>
          </p:cNvSpPr>
          <p:nvPr>
            <p:ph type="body" sz="quarter" idx="24"/>
          </p:nvPr>
        </p:nvSpPr>
        <p:spPr>
          <a:xfrm>
            <a:off x="1161391" y="1588696"/>
            <a:ext cx="135863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직접전력거래(직접PPA)</a:t>
            </a:r>
          </a:p>
        </p:txBody>
      </p:sp>
      <p:sp>
        <p:nvSpPr>
          <p:cNvPr id="20" name="태그 설명"/>
          <p:cNvSpPr>
            <a:spLocks noGrp="1"/>
          </p:cNvSpPr>
          <p:nvPr>
            <p:ph type="body" sz="quarter" idx="25"/>
          </p:nvPr>
        </p:nvSpPr>
        <p:spPr>
          <a:xfrm>
            <a:off x="2563851" y="1577739"/>
            <a:ext cx="4245627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기업간 직접 1:1로 재생e 전력을 사고파는 계약으로, RE100 이행수단</a:t>
            </a:r>
          </a:p>
        </p:txBody>
      </p:sp>
      <p:sp>
        <p:nvSpPr>
          <p:cNvPr id="21" name="레일"/>
          <p:cNvSpPr/>
          <p:nvPr/>
        </p:nvSpPr>
        <p:spPr>
          <a:xfrm>
            <a:off x="547826" y="1807826"/>
            <a:ext cx="580696" cy="1227130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레일"/>
          <p:cNvSpPr>
            <a:spLocks noGrp="1"/>
          </p:cNvSpPr>
          <p:nvPr>
            <p:ph type="body" sz="quarter" idx="26"/>
          </p:nvPr>
        </p:nvSpPr>
        <p:spPr>
          <a:xfrm>
            <a:off x="547826" y="1807826"/>
            <a:ext cx="580696" cy="1227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추진내용</a:t>
            </a:r>
          </a:p>
        </p:txBody>
      </p:sp>
      <p:sp>
        <p:nvSpPr>
          <p:cNvPr id="23" name="레일 삼각형"/>
          <p:cNvSpPr/>
          <p:nvPr/>
        </p:nvSpPr>
        <p:spPr>
          <a:xfrm>
            <a:off x="547826" y="1807826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4" name="배너"/>
          <p:cNvSpPr/>
          <p:nvPr/>
        </p:nvSpPr>
        <p:spPr>
          <a:xfrm>
            <a:off x="1161391" y="1829739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5" name="배너"/>
          <p:cNvSpPr>
            <a:spLocks noGrp="1"/>
          </p:cNvSpPr>
          <p:nvPr>
            <p:ph type="body" sz="quarter" idx="27"/>
          </p:nvPr>
        </p:nvSpPr>
        <p:spPr>
          <a:xfrm>
            <a:off x="1161391" y="1829739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글로벌 RE100 기술기준 개정으로 국내 수력 PPA 자원 확보</a:t>
            </a:r>
          </a:p>
        </p:txBody>
      </p:sp>
      <p:sp>
        <p:nvSpPr>
          <p:cNvPr id="26" name="단계"/>
          <p:cNvSpPr/>
          <p:nvPr/>
        </p:nvSpPr>
        <p:spPr>
          <a:xfrm>
            <a:off x="1161391" y="2065304"/>
            <a:ext cx="282404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7" name="단계"/>
          <p:cNvSpPr>
            <a:spLocks noGrp="1"/>
          </p:cNvSpPr>
          <p:nvPr>
            <p:ph type="body" sz="quarter" idx="28"/>
          </p:nvPr>
        </p:nvSpPr>
        <p:spPr>
          <a:xfrm>
            <a:off x="1161391" y="2065304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문제점 수력 직접 PPA 활용 불가</a:t>
            </a:r>
          </a:p>
        </p:txBody>
      </p:sp>
      <p:sp>
        <p:nvSpPr>
          <p:cNvPr id="28" name="단계"/>
          <p:cNvSpPr/>
          <p:nvPr/>
        </p:nvSpPr>
        <p:spPr>
          <a:xfrm>
            <a:off x="3985435" y="2065304"/>
            <a:ext cx="2824043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9" name="단계"/>
          <p:cNvSpPr>
            <a:spLocks noGrp="1"/>
          </p:cNvSpPr>
          <p:nvPr>
            <p:ph type="body" sz="quarter" idx="29"/>
          </p:nvPr>
        </p:nvSpPr>
        <p:spPr>
          <a:xfrm>
            <a:off x="3985435" y="2065304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극복 K-인증수단 발굴로 글로벌 기준 획득</a:t>
            </a:r>
          </a:p>
        </p:txBody>
      </p:sp>
      <p:sp>
        <p:nvSpPr>
          <p:cNvPr id="30" name="단계 삼각형"/>
          <p:cNvSpPr/>
          <p:nvPr/>
        </p:nvSpPr>
        <p:spPr>
          <a:xfrm>
            <a:off x="3985434" y="2065304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1172348" y="2317304"/>
            <a:ext cx="2802130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RE100의 검증 강화로 수력 ‘지속가능성(친환경성)’ 인증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수력도 통용될 수 있는 인증기준 발굴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1"/>
          </p:nvPr>
        </p:nvSpPr>
        <p:spPr>
          <a:xfrm>
            <a:off x="3996391" y="2317304"/>
            <a:ext cx="2802130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WCD(세계댐위원회)의 지속가능성 기준을 글로벌 RE100 기준으로 제안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글로벌 RE100 기술기준에 WCD 기준 추가(’25.3)</a:t>
            </a:r>
          </a:p>
        </p:txBody>
      </p:sp>
      <p:cxnSp>
        <p:nvCxnSpPr>
          <p:cNvPr id="33" name="Connector 22"/>
          <p:cNvCxnSpPr/>
          <p:nvPr/>
        </p:nvCxnSpPr>
        <p:spPr>
          <a:xfrm>
            <a:off x="3985435" y="2350174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4" name="핵심성과 박스"/>
          <p:cNvSpPr/>
          <p:nvPr/>
        </p:nvSpPr>
        <p:spPr>
          <a:xfrm>
            <a:off x="536870" y="3139043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5" name="핵심성과 라벨"/>
          <p:cNvSpPr/>
          <p:nvPr/>
        </p:nvSpPr>
        <p:spPr>
          <a:xfrm>
            <a:off x="569739" y="3177391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36" name="핵심성과 라벨"/>
          <p:cNvSpPr>
            <a:spLocks noGrp="1"/>
          </p:cNvSpPr>
          <p:nvPr>
            <p:ph type="body" sz="quarter" idx="32"/>
          </p:nvPr>
        </p:nvSpPr>
        <p:spPr>
          <a:xfrm>
            <a:off x="569739" y="3177391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7" name="핵심성과 문구"/>
          <p:cNvSpPr>
            <a:spLocks noGrp="1"/>
          </p:cNvSpPr>
          <p:nvPr>
            <p:ph type="body" sz="quarter" idx="33"/>
          </p:nvPr>
        </p:nvSpPr>
        <p:spPr>
          <a:xfrm>
            <a:off x="1314783" y="3155478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수력 활용 PPA 확대 기반 마련으로 수출기업 RE100 이행률 2.3%p 상향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90 서사 · 환경경영 취약지점(환경법규 → 인재양성 → 녹색건축물 → 정보공개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전사적 환경리스크 관리 및 지속가능경영 고도화</a:t>
            </a:r>
          </a:p>
        </p:txBody>
      </p:sp>
      <p:sp>
        <p:nvSpPr>
          <p:cNvPr id="14" name="형광 밑줄"/>
          <p:cNvSpPr/>
          <p:nvPr/>
        </p:nvSpPr>
        <p:spPr>
          <a:xfrm>
            <a:off x="723130" y="1358609"/>
            <a:ext cx="3343475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소제목"/>
          <p:cNvSpPr>
            <a:spLocks noGrp="1"/>
          </p:cNvSpPr>
          <p:nvPr>
            <p:ph type="body" sz="quarter" idx="22"/>
          </p:nvPr>
        </p:nvSpPr>
        <p:spPr>
          <a:xfrm>
            <a:off x="723130" y="120521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환경경영 취약지점 중심의 철저한 이행·관리체계 마련</a:t>
            </a:r>
          </a:p>
        </p:txBody>
      </p:sp>
      <p:sp>
        <p:nvSpPr>
          <p:cNvPr id="16" name="태그칩"/>
          <p:cNvSpPr/>
          <p:nvPr/>
        </p:nvSpPr>
        <p:spPr>
          <a:xfrm>
            <a:off x="4165215" y="1238087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칩"/>
          <p:cNvSpPr>
            <a:spLocks noGrp="1"/>
          </p:cNvSpPr>
          <p:nvPr>
            <p:ph type="body" sz="quarter" idx="23"/>
          </p:nvPr>
        </p:nvSpPr>
        <p:spPr>
          <a:xfrm>
            <a:off x="4165215" y="1238087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8" name="태그칩"/>
          <p:cNvSpPr/>
          <p:nvPr/>
        </p:nvSpPr>
        <p:spPr>
          <a:xfrm>
            <a:off x="4716336" y="1238087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태그칩"/>
          <p:cNvSpPr>
            <a:spLocks noGrp="1"/>
          </p:cNvSpPr>
          <p:nvPr>
            <p:ph type="body" sz="quarter" idx="24"/>
          </p:nvPr>
        </p:nvSpPr>
        <p:spPr>
          <a:xfrm>
            <a:off x="4716336" y="1238087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20" name="표 외곽"/>
          <p:cNvSpPr/>
          <p:nvPr/>
        </p:nvSpPr>
        <p:spPr>
          <a:xfrm>
            <a:off x="723130" y="1490087"/>
            <a:ext cx="6300000" cy="5412522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1" name="레일"/>
          <p:cNvSpPr/>
          <p:nvPr/>
        </p:nvSpPr>
        <p:spPr>
          <a:xfrm>
            <a:off x="734087" y="1506522"/>
            <a:ext cx="580696" cy="608087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레일"/>
          <p:cNvSpPr>
            <a:spLocks noGrp="1"/>
          </p:cNvSpPr>
          <p:nvPr>
            <p:ph type="body" sz="quarter" idx="25"/>
          </p:nvPr>
        </p:nvSpPr>
        <p:spPr>
          <a:xfrm>
            <a:off x="734087" y="1506522"/>
            <a:ext cx="580696" cy="608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6"/>
          </p:nvPr>
        </p:nvSpPr>
        <p:spPr>
          <a:xfrm>
            <a:off x="1358609" y="1528435"/>
            <a:ext cx="2802130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내부여건 환경법규 준수사항은 복잡화되나, 잦은 보직 이동으로 누수 우려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7"/>
          </p:nvPr>
        </p:nvSpPr>
        <p:spPr>
          <a:xfrm>
            <a:off x="4182652" y="1528435"/>
            <a:ext cx="2802130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전문인력 적극 양성을 위한 교육체계 개편, 정확하고 투명한 정보제공</a:t>
            </a:r>
          </a:p>
        </p:txBody>
      </p:sp>
      <p:cxnSp>
        <p:nvCxnSpPr>
          <p:cNvPr id="25" name="Connector 16"/>
          <p:cNvCxnSpPr/>
          <p:nvPr/>
        </p:nvCxnSpPr>
        <p:spPr>
          <a:xfrm>
            <a:off x="4171696" y="1561304"/>
            <a:ext cx="0" cy="51495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6" name="레일"/>
          <p:cNvSpPr/>
          <p:nvPr/>
        </p:nvSpPr>
        <p:spPr>
          <a:xfrm>
            <a:off x="734087" y="2131043"/>
            <a:ext cx="580696" cy="1139478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7" name="레일"/>
          <p:cNvSpPr>
            <a:spLocks noGrp="1"/>
          </p:cNvSpPr>
          <p:nvPr>
            <p:ph type="body" sz="quarter" idx="28"/>
          </p:nvPr>
        </p:nvSpPr>
        <p:spPr>
          <a:xfrm>
            <a:off x="734087" y="2131043"/>
            <a:ext cx="580696" cy="113947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환경법규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취약지점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해 소</a:t>
            </a:r>
          </a:p>
        </p:txBody>
      </p:sp>
      <p:sp>
        <p:nvSpPr>
          <p:cNvPr id="28" name="레일 삼각형"/>
          <p:cNvSpPr/>
          <p:nvPr/>
        </p:nvSpPr>
        <p:spPr>
          <a:xfrm>
            <a:off x="734086" y="2131043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배너"/>
          <p:cNvSpPr/>
          <p:nvPr/>
        </p:nvSpPr>
        <p:spPr>
          <a:xfrm>
            <a:off x="1347652" y="2152957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0" name="배너"/>
          <p:cNvSpPr>
            <a:spLocks noGrp="1"/>
          </p:cNvSpPr>
          <p:nvPr>
            <p:ph type="body" sz="quarter" idx="29"/>
          </p:nvPr>
        </p:nvSpPr>
        <p:spPr>
          <a:xfrm>
            <a:off x="1347652" y="2152957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중점 취약요인에 대한 맞춤형 처방으로 환경법규 위반 가능성 차단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1358609" y="2388522"/>
            <a:ext cx="1860783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취약❶ 복잡·다양한 환경법규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법규 유형별 표준 정립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관련법규 및 의무사항 체계화(9개 법, 70개 의무)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누구나 쉽게 실무 활용 가능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1"/>
          </p:nvPr>
        </p:nvSpPr>
        <p:spPr>
          <a:xfrm>
            <a:off x="3241304" y="2388522"/>
            <a:ext cx="1860783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취약❷ 인적 오류 가능성 상존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시스템적 관리체계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법령·절차적 준수사항의 기한 도래시 자동 메일링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법규 준수사항 누락 방지</a:t>
            </a:r>
          </a:p>
        </p:txBody>
      </p:sp>
      <p:cxnSp>
        <p:nvCxnSpPr>
          <p:cNvPr id="33" name="Connector 22"/>
          <p:cNvCxnSpPr/>
          <p:nvPr/>
        </p:nvCxnSpPr>
        <p:spPr>
          <a:xfrm>
            <a:off x="3230348" y="2421391"/>
            <a:ext cx="0" cy="81078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4" name="칸 본문"/>
          <p:cNvSpPr>
            <a:spLocks noGrp="1"/>
          </p:cNvSpPr>
          <p:nvPr>
            <p:ph type="body" sz="quarter" idx="32"/>
          </p:nvPr>
        </p:nvSpPr>
        <p:spPr>
          <a:xfrm>
            <a:off x="5124000" y="2388522"/>
            <a:ext cx="1860783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취약❸ 잦은 담당자 변경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 배치자 맞춤형 교육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사업장별 특성에 최적화된 환경·안전교육 개설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교육대상자 100% 수료 완료</a:t>
            </a:r>
          </a:p>
        </p:txBody>
      </p:sp>
      <p:cxnSp>
        <p:nvCxnSpPr>
          <p:cNvPr id="35" name="Connector 24"/>
          <p:cNvCxnSpPr/>
          <p:nvPr/>
        </p:nvCxnSpPr>
        <p:spPr>
          <a:xfrm>
            <a:off x="5113043" y="2421391"/>
            <a:ext cx="0" cy="81078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6" name="레일"/>
          <p:cNvSpPr/>
          <p:nvPr/>
        </p:nvSpPr>
        <p:spPr>
          <a:xfrm>
            <a:off x="734087" y="3286957"/>
            <a:ext cx="580696" cy="106278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7" name="레일"/>
          <p:cNvSpPr>
            <a:spLocks noGrp="1"/>
          </p:cNvSpPr>
          <p:nvPr>
            <p:ph type="body" sz="quarter" idx="33"/>
          </p:nvPr>
        </p:nvSpPr>
        <p:spPr>
          <a:xfrm>
            <a:off x="734087" y="3286957"/>
            <a:ext cx="580696" cy="1062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단계별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인재양성</a:t>
            </a:r>
          </a:p>
        </p:txBody>
      </p:sp>
      <p:sp>
        <p:nvSpPr>
          <p:cNvPr id="38" name="배너"/>
          <p:cNvSpPr/>
          <p:nvPr/>
        </p:nvSpPr>
        <p:spPr>
          <a:xfrm>
            <a:off x="1347652" y="3308870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9" name="배너"/>
          <p:cNvSpPr>
            <a:spLocks noGrp="1"/>
          </p:cNvSpPr>
          <p:nvPr>
            <p:ph type="body" sz="quarter" idx="34"/>
          </p:nvPr>
        </p:nvSpPr>
        <p:spPr>
          <a:xfrm>
            <a:off x="1347652" y="3308870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전직원 인식조사 및 니즈분석 기반 단계별 전문인력 육성체계 완성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35"/>
          </p:nvPr>
        </p:nvSpPr>
        <p:spPr>
          <a:xfrm>
            <a:off x="1358609" y="3544435"/>
            <a:ext cx="1860783" cy="799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전사 공통 교육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‘친환경·탄소중립’ 필수 교육화, 내부인식 제고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전사 6,429명 수료 완료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36"/>
          </p:nvPr>
        </p:nvSpPr>
        <p:spPr>
          <a:xfrm>
            <a:off x="3241304" y="3544435"/>
            <a:ext cx="1860783" cy="799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 전문가 양성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탄소중립 융합 전문가 및 정수시설운영관리사 과정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사내 전문가 83명 배출</a:t>
            </a:r>
          </a:p>
        </p:txBody>
      </p:sp>
      <p:cxnSp>
        <p:nvCxnSpPr>
          <p:cNvPr id="42" name="Connector 29"/>
          <p:cNvCxnSpPr/>
          <p:nvPr/>
        </p:nvCxnSpPr>
        <p:spPr>
          <a:xfrm>
            <a:off x="3230348" y="3577304"/>
            <a:ext cx="0" cy="734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3" name="칸 본문"/>
          <p:cNvSpPr>
            <a:spLocks noGrp="1"/>
          </p:cNvSpPr>
          <p:nvPr>
            <p:ph type="body" sz="quarter" idx="37"/>
          </p:nvPr>
        </p:nvSpPr>
        <p:spPr>
          <a:xfrm>
            <a:off x="5124000" y="3544435"/>
            <a:ext cx="1860783" cy="799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리더 육성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차세대 리더, 환경경영 국제심사원(ISO14001) 양성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국제수준 심사원 7명 양성</a:t>
            </a:r>
          </a:p>
        </p:txBody>
      </p:sp>
      <p:cxnSp>
        <p:nvCxnSpPr>
          <p:cNvPr id="44" name="Connector 31"/>
          <p:cNvCxnSpPr/>
          <p:nvPr/>
        </p:nvCxnSpPr>
        <p:spPr>
          <a:xfrm>
            <a:off x="5113043" y="3577304"/>
            <a:ext cx="0" cy="734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5" name="레일"/>
          <p:cNvSpPr/>
          <p:nvPr/>
        </p:nvSpPr>
        <p:spPr>
          <a:xfrm>
            <a:off x="734087" y="4366174"/>
            <a:ext cx="580696" cy="144078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6" name="레일"/>
          <p:cNvSpPr>
            <a:spLocks noGrp="1"/>
          </p:cNvSpPr>
          <p:nvPr>
            <p:ph type="body" sz="quarter" idx="38"/>
          </p:nvPr>
        </p:nvSpPr>
        <p:spPr>
          <a:xfrm>
            <a:off x="734087" y="4366174"/>
            <a:ext cx="580696" cy="1440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녹 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건축물</a:t>
            </a:r>
          </a:p>
        </p:txBody>
      </p:sp>
      <p:sp>
        <p:nvSpPr>
          <p:cNvPr id="47" name="레일 삼각형"/>
          <p:cNvSpPr/>
          <p:nvPr/>
        </p:nvSpPr>
        <p:spPr>
          <a:xfrm>
            <a:off x="734086" y="4366173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8" name="배너"/>
          <p:cNvSpPr/>
          <p:nvPr/>
        </p:nvSpPr>
        <p:spPr>
          <a:xfrm>
            <a:off x="1347652" y="4388087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9" name="배너"/>
          <p:cNvSpPr>
            <a:spLocks noGrp="1"/>
          </p:cNvSpPr>
          <p:nvPr>
            <p:ph type="body" sz="quarter" idx="39"/>
          </p:nvPr>
        </p:nvSpPr>
        <p:spPr>
          <a:xfrm>
            <a:off x="1347652" y="4388087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전사 에너지 다소비 건축물의 녹색건축물 전환으로 에너지·탄소 절감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40"/>
          </p:nvPr>
        </p:nvSpPr>
        <p:spPr>
          <a:xfrm>
            <a:off x="1358609" y="4623652"/>
            <a:ext cx="2802130" cy="690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 제로에너지빌딩 인증(청송, 수자원위성센터)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에너지효율등급 1++이상, 에너지자립률 20% 이상</a:t>
            </a:r>
          </a:p>
        </p:txBody>
      </p:sp>
      <p:sp>
        <p:nvSpPr>
          <p:cNvPr id="51" name="칸 본문"/>
          <p:cNvSpPr>
            <a:spLocks noGrp="1"/>
          </p:cNvSpPr>
          <p:nvPr>
            <p:ph type="body" sz="quarter" idx="41"/>
          </p:nvPr>
        </p:nvSpPr>
        <p:spPr>
          <a:xfrm>
            <a:off x="4182652" y="4623652"/>
            <a:ext cx="2802130" cy="690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그린리모델링(한강본부사옥, 대청댐 물문화관)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단열 보강, 조명 및 일사개선, 건물일체형 태양광 설치 등</a:t>
            </a:r>
          </a:p>
        </p:txBody>
      </p:sp>
      <p:cxnSp>
        <p:nvCxnSpPr>
          <p:cNvPr id="52" name="Connector 37"/>
          <p:cNvCxnSpPr/>
          <p:nvPr/>
        </p:nvCxnSpPr>
        <p:spPr>
          <a:xfrm>
            <a:off x="4171696" y="4656522"/>
            <a:ext cx="0" cy="62452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3" name="칸 본문"/>
          <p:cNvSpPr>
            <a:spLocks noGrp="1"/>
          </p:cNvSpPr>
          <p:nvPr>
            <p:ph type="body" sz="quarter" idx="42"/>
          </p:nvPr>
        </p:nvSpPr>
        <p:spPr>
          <a:xfrm>
            <a:off x="1358609" y="5330348"/>
            <a:ext cx="5626174" cy="471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제로에너지빌딩 인증 2건, 온실가스 145tCO₂eq 저감(소나무 25천 그루 식재 효과)</a:t>
            </a:r>
          </a:p>
        </p:txBody>
      </p:sp>
      <p:sp>
        <p:nvSpPr>
          <p:cNvPr id="54" name="레일"/>
          <p:cNvSpPr/>
          <p:nvPr/>
        </p:nvSpPr>
        <p:spPr>
          <a:xfrm>
            <a:off x="734087" y="5823391"/>
            <a:ext cx="580696" cy="106278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5" name="레일"/>
          <p:cNvSpPr>
            <a:spLocks noGrp="1"/>
          </p:cNvSpPr>
          <p:nvPr>
            <p:ph type="body" sz="quarter" idx="43"/>
          </p:nvPr>
        </p:nvSpPr>
        <p:spPr>
          <a:xfrm>
            <a:off x="734087" y="5823391"/>
            <a:ext cx="580696" cy="1062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환경경영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공 개</a:t>
            </a:r>
          </a:p>
        </p:txBody>
      </p:sp>
      <p:sp>
        <p:nvSpPr>
          <p:cNvPr id="56" name="배너"/>
          <p:cNvSpPr/>
          <p:nvPr/>
        </p:nvSpPr>
        <p:spPr>
          <a:xfrm>
            <a:off x="1347652" y="5845304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57" name="배너"/>
          <p:cNvSpPr>
            <a:spLocks noGrp="1"/>
          </p:cNvSpPr>
          <p:nvPr>
            <p:ph type="body" sz="quarter" idx="44"/>
          </p:nvPr>
        </p:nvSpPr>
        <p:spPr>
          <a:xfrm>
            <a:off x="1347652" y="5845304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 관점의 신뢰성 있는 환경정보 제공을 위해 ‘정확성’과 ‘접근성’을 대폭 향상</a:t>
            </a:r>
          </a:p>
        </p:txBody>
      </p:sp>
      <p:sp>
        <p:nvSpPr>
          <p:cNvPr id="58" name="칸 본문"/>
          <p:cNvSpPr>
            <a:spLocks noGrp="1"/>
          </p:cNvSpPr>
          <p:nvPr>
            <p:ph type="body" sz="quarter" idx="45"/>
          </p:nvPr>
        </p:nvSpPr>
        <p:spPr>
          <a:xfrm>
            <a:off x="1358609" y="6080870"/>
            <a:ext cx="2802130" cy="799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환경이슈에 대한 ‘정확한’ 정보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녹조 등 환경이슈에 대한 팩트 기반 정보 전달을 위한 현안별 TF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보도 표준안 마련, 선제적 정보 제공(14회)</a:t>
            </a:r>
          </a:p>
        </p:txBody>
      </p:sp>
      <p:sp>
        <p:nvSpPr>
          <p:cNvPr id="59" name="칸 본문"/>
          <p:cNvSpPr>
            <a:spLocks noGrp="1"/>
          </p:cNvSpPr>
          <p:nvPr>
            <p:ph type="body" sz="quarter" idx="46"/>
          </p:nvPr>
        </p:nvSpPr>
        <p:spPr>
          <a:xfrm>
            <a:off x="4182652" y="6080870"/>
            <a:ext cx="2802130" cy="799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 누구나 ‘쉽고 빠르게’ 정보를 확보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가장 쉽고 빠르게 수도 정보를 전달하는 생성형 AI ‘워터365’ 서비스 개시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수도행정, 시설, 수질 등 시각화된 정보 제공</a:t>
            </a:r>
          </a:p>
        </p:txBody>
      </p:sp>
      <p:cxnSp>
        <p:nvCxnSpPr>
          <p:cNvPr id="60" name="Connector 43"/>
          <p:cNvCxnSpPr/>
          <p:nvPr/>
        </p:nvCxnSpPr>
        <p:spPr>
          <a:xfrm>
            <a:off x="4171696" y="6113739"/>
            <a:ext cx="0" cy="734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91 서사 · 해외진출 로드맵(추진배경 → 환경분석 → 시사점 → 목표 · 로드맵 · 실행과제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중장기 로드맵 기반, 체계적인 물·기후테크 기업 해외진출 지원</a:t>
            </a:r>
          </a:p>
        </p:txBody>
      </p:sp>
      <p:sp>
        <p:nvSpPr>
          <p:cNvPr id="15" name="번호 띠 칩"/>
          <p:cNvSpPr/>
          <p:nvPr/>
        </p:nvSpPr>
        <p:spPr>
          <a:xfrm>
            <a:off x="6241922" y="832696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번호 띠 칩"/>
          <p:cNvSpPr>
            <a:spLocks noGrp="1"/>
          </p:cNvSpPr>
          <p:nvPr>
            <p:ph type="body" sz="quarter" idx="22"/>
          </p:nvPr>
        </p:nvSpPr>
        <p:spPr>
          <a:xfrm>
            <a:off x="6241922" y="832696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7" name="표 외곽"/>
          <p:cNvSpPr/>
          <p:nvPr/>
        </p:nvSpPr>
        <p:spPr>
          <a:xfrm>
            <a:off x="536870" y="1117565"/>
            <a:ext cx="6300000" cy="1473652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레일"/>
          <p:cNvSpPr/>
          <p:nvPr/>
        </p:nvSpPr>
        <p:spPr>
          <a:xfrm>
            <a:off x="547826" y="1134000"/>
            <a:ext cx="580696" cy="44373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레일"/>
          <p:cNvSpPr>
            <a:spLocks noGrp="1"/>
          </p:cNvSpPr>
          <p:nvPr>
            <p:ph type="body" sz="quarter" idx="23"/>
          </p:nvPr>
        </p:nvSpPr>
        <p:spPr>
          <a:xfrm>
            <a:off x="547826" y="1134000"/>
            <a:ext cx="580696" cy="443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4"/>
          </p:nvPr>
        </p:nvSpPr>
        <p:spPr>
          <a:xfrm>
            <a:off x="1172348" y="1155913"/>
            <a:ext cx="2802130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그간의 노력 전담조직을 통한 전주기 맞춤형 지원으로 민간기업 수출액 지속 성장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5"/>
          </p:nvPr>
        </p:nvSpPr>
        <p:spPr>
          <a:xfrm>
            <a:off x="3996391" y="1155913"/>
            <a:ext cx="2802130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여전한 고민 핵심기술 보유기업 참여 저조 및 수출성과 일부 기업 편중 등 문제 상존</a:t>
            </a:r>
          </a:p>
        </p:txBody>
      </p:sp>
      <p:cxnSp>
        <p:nvCxnSpPr>
          <p:cNvPr id="22" name="Connector 16"/>
          <p:cNvCxnSpPr/>
          <p:nvPr/>
        </p:nvCxnSpPr>
        <p:spPr>
          <a:xfrm>
            <a:off x="3985435" y="1188783"/>
            <a:ext cx="0" cy="35060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3" name="레일"/>
          <p:cNvSpPr/>
          <p:nvPr/>
        </p:nvSpPr>
        <p:spPr>
          <a:xfrm>
            <a:off x="547826" y="1594174"/>
            <a:ext cx="580696" cy="980609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4" name="레일"/>
          <p:cNvSpPr>
            <a:spLocks noGrp="1"/>
          </p:cNvSpPr>
          <p:nvPr>
            <p:ph type="body" sz="quarter" idx="26"/>
          </p:nvPr>
        </p:nvSpPr>
        <p:spPr>
          <a:xfrm>
            <a:off x="547826" y="1594174"/>
            <a:ext cx="580696" cy="980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분 석</a:t>
            </a:r>
          </a:p>
        </p:txBody>
      </p:sp>
      <p:sp>
        <p:nvSpPr>
          <p:cNvPr id="25" name="레일 삼각형"/>
          <p:cNvSpPr/>
          <p:nvPr/>
        </p:nvSpPr>
        <p:spPr>
          <a:xfrm>
            <a:off x="547826" y="1594173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6" name="머리칸"/>
          <p:cNvSpPr/>
          <p:nvPr/>
        </p:nvSpPr>
        <p:spPr>
          <a:xfrm>
            <a:off x="1161391" y="1616087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7" name="머리칸"/>
          <p:cNvSpPr>
            <a:spLocks noGrp="1"/>
          </p:cNvSpPr>
          <p:nvPr>
            <p:ph type="body" sz="quarter" idx="27"/>
          </p:nvPr>
        </p:nvSpPr>
        <p:spPr>
          <a:xfrm>
            <a:off x="1161391" y="1616087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물산업 변화</a:t>
            </a:r>
          </a:p>
        </p:txBody>
      </p:sp>
      <p:sp>
        <p:nvSpPr>
          <p:cNvPr id="28" name="머리칸"/>
          <p:cNvSpPr/>
          <p:nvPr/>
        </p:nvSpPr>
        <p:spPr>
          <a:xfrm>
            <a:off x="3044087" y="1616087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9" name="머리칸"/>
          <p:cNvSpPr>
            <a:spLocks noGrp="1"/>
          </p:cNvSpPr>
          <p:nvPr>
            <p:ph type="body" sz="quarter" idx="28"/>
          </p:nvPr>
        </p:nvSpPr>
        <p:spPr>
          <a:xfrm>
            <a:off x="3044087" y="1616087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정부정책</a:t>
            </a:r>
          </a:p>
        </p:txBody>
      </p:sp>
      <p:sp>
        <p:nvSpPr>
          <p:cNvPr id="30" name="머리칸"/>
          <p:cNvSpPr/>
          <p:nvPr/>
        </p:nvSpPr>
        <p:spPr>
          <a:xfrm>
            <a:off x="4926783" y="1616087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1" name="머리칸"/>
          <p:cNvSpPr>
            <a:spLocks noGrp="1"/>
          </p:cNvSpPr>
          <p:nvPr>
            <p:ph type="body" sz="quarter" idx="29"/>
          </p:nvPr>
        </p:nvSpPr>
        <p:spPr>
          <a:xfrm>
            <a:off x="4926783" y="1616087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 중장기전략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0"/>
          </p:nvPr>
        </p:nvSpPr>
        <p:spPr>
          <a:xfrm>
            <a:off x="1172348" y="1857130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기후대응·수처리 기술 혁신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글로벌 기후테크가 물분야로 확장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물문제 해결을 위한 AI 활용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1"/>
          </p:nvPr>
        </p:nvSpPr>
        <p:spPr>
          <a:xfrm>
            <a:off x="3055043" y="1857130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해외진출·수주지원 협업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민간-공공 협력 강화방안(’22.9)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기후테크 등 신성장동력 육성</a:t>
            </a:r>
          </a:p>
        </p:txBody>
      </p:sp>
      <p:cxnSp>
        <p:nvCxnSpPr>
          <p:cNvPr id="34" name="Connector 24"/>
          <p:cNvCxnSpPr/>
          <p:nvPr/>
        </p:nvCxnSpPr>
        <p:spPr>
          <a:xfrm>
            <a:off x="3044087" y="1890000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5" name="칸 본문"/>
          <p:cNvSpPr>
            <a:spLocks noGrp="1"/>
          </p:cNvSpPr>
          <p:nvPr>
            <p:ph type="body" sz="quarter" idx="32"/>
          </p:nvPr>
        </p:nvSpPr>
        <p:spPr>
          <a:xfrm>
            <a:off x="4937739" y="1857130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초격차·선도기술 기업육성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AI, 디지털트윈 등 기술기업 타겟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K-water型 수출지원 모델정립</a:t>
            </a:r>
          </a:p>
        </p:txBody>
      </p:sp>
      <p:cxnSp>
        <p:nvCxnSpPr>
          <p:cNvPr id="36" name="Connector 26"/>
          <p:cNvCxnSpPr/>
          <p:nvPr/>
        </p:nvCxnSpPr>
        <p:spPr>
          <a:xfrm>
            <a:off x="4926783" y="1890000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7" name="캡션 띠"/>
          <p:cNvSpPr/>
          <p:nvPr/>
        </p:nvSpPr>
        <p:spPr>
          <a:xfrm>
            <a:off x="536869" y="2613130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8" name="태그"/>
          <p:cNvSpPr/>
          <p:nvPr/>
        </p:nvSpPr>
        <p:spPr>
          <a:xfrm>
            <a:off x="865565" y="2656957"/>
            <a:ext cx="438871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9" name="태그"/>
          <p:cNvSpPr>
            <a:spLocks noGrp="1"/>
          </p:cNvSpPr>
          <p:nvPr>
            <p:ph type="body" sz="quarter" idx="33"/>
          </p:nvPr>
        </p:nvSpPr>
        <p:spPr>
          <a:xfrm>
            <a:off x="865565" y="2656957"/>
            <a:ext cx="438871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40" name="캡션"/>
          <p:cNvSpPr>
            <a:spLocks noGrp="1"/>
          </p:cNvSpPr>
          <p:nvPr>
            <p:ph type="body" sz="quarter" idx="34"/>
          </p:nvPr>
        </p:nvSpPr>
        <p:spPr>
          <a:xfrm>
            <a:off x="1359219" y="2613130"/>
            <a:ext cx="5258520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글로벌 기후테크 분야 신성장 동력 확보를 위한 민간 물기업 해외진출 지원 필요</a:t>
            </a:r>
          </a:p>
        </p:txBody>
      </p:sp>
      <p:sp>
        <p:nvSpPr>
          <p:cNvPr id="41" name="표 외곽"/>
          <p:cNvSpPr/>
          <p:nvPr/>
        </p:nvSpPr>
        <p:spPr>
          <a:xfrm>
            <a:off x="536870" y="2919913"/>
            <a:ext cx="6300000" cy="185728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2" name="레일"/>
          <p:cNvSpPr/>
          <p:nvPr/>
        </p:nvSpPr>
        <p:spPr>
          <a:xfrm>
            <a:off x="547826" y="2936348"/>
            <a:ext cx="580696" cy="2534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3" name="레일"/>
          <p:cNvSpPr>
            <a:spLocks noGrp="1"/>
          </p:cNvSpPr>
          <p:nvPr>
            <p:ph type="body" sz="quarter" idx="35"/>
          </p:nvPr>
        </p:nvSpPr>
        <p:spPr>
          <a:xfrm>
            <a:off x="547826" y="2936348"/>
            <a:ext cx="580696" cy="2534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목 표</a:t>
            </a:r>
          </a:p>
        </p:txBody>
      </p:sp>
      <p:sp>
        <p:nvSpPr>
          <p:cNvPr id="44" name="배너"/>
          <p:cNvSpPr/>
          <p:nvPr/>
        </p:nvSpPr>
        <p:spPr>
          <a:xfrm>
            <a:off x="1161391" y="2958261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5" name="배너"/>
          <p:cNvSpPr>
            <a:spLocks noGrp="1"/>
          </p:cNvSpPr>
          <p:nvPr>
            <p:ph type="body" sz="quarter" idx="36"/>
          </p:nvPr>
        </p:nvSpPr>
        <p:spPr>
          <a:xfrm>
            <a:off x="1161391" y="2958261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물·기후테크 기업의 해외시장 진출 강화(’29년 민간해외수출 3,600억원 달성)</a:t>
            </a:r>
          </a:p>
        </p:txBody>
      </p:sp>
      <p:sp>
        <p:nvSpPr>
          <p:cNvPr id="46" name="레일"/>
          <p:cNvSpPr/>
          <p:nvPr/>
        </p:nvSpPr>
        <p:spPr>
          <a:xfrm>
            <a:off x="547826" y="3206191"/>
            <a:ext cx="580696" cy="776661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7" name="레일"/>
          <p:cNvSpPr>
            <a:spLocks noGrp="1"/>
          </p:cNvSpPr>
          <p:nvPr>
            <p:ph type="body" sz="quarter" idx="37"/>
          </p:nvPr>
        </p:nvSpPr>
        <p:spPr>
          <a:xfrm>
            <a:off x="547826" y="3206191"/>
            <a:ext cx="580696" cy="7766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중장기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로 드 맵</a:t>
            </a:r>
          </a:p>
        </p:txBody>
      </p:sp>
      <p:sp>
        <p:nvSpPr>
          <p:cNvPr id="48" name="레일 삼각형"/>
          <p:cNvSpPr/>
          <p:nvPr/>
        </p:nvSpPr>
        <p:spPr>
          <a:xfrm>
            <a:off x="547826" y="3206191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9" name="단계"/>
          <p:cNvSpPr/>
          <p:nvPr/>
        </p:nvSpPr>
        <p:spPr>
          <a:xfrm>
            <a:off x="1161391" y="3228104"/>
            <a:ext cx="141202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0" name="단계"/>
          <p:cNvSpPr>
            <a:spLocks noGrp="1"/>
          </p:cNvSpPr>
          <p:nvPr>
            <p:ph type="body" sz="quarter" idx="38"/>
          </p:nvPr>
        </p:nvSpPr>
        <p:spPr>
          <a:xfrm>
            <a:off x="1161391" y="3228104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~’22년 도입·정착기</a:t>
            </a:r>
          </a:p>
        </p:txBody>
      </p:sp>
      <p:sp>
        <p:nvSpPr>
          <p:cNvPr id="51" name="단계"/>
          <p:cNvSpPr/>
          <p:nvPr/>
        </p:nvSpPr>
        <p:spPr>
          <a:xfrm>
            <a:off x="2573413" y="3228104"/>
            <a:ext cx="1412022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2" name="단계"/>
          <p:cNvSpPr>
            <a:spLocks noGrp="1"/>
          </p:cNvSpPr>
          <p:nvPr>
            <p:ph type="body" sz="quarter" idx="39"/>
          </p:nvPr>
        </p:nvSpPr>
        <p:spPr>
          <a:xfrm>
            <a:off x="2573413" y="3228104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’23~’24년 성장기</a:t>
            </a:r>
          </a:p>
        </p:txBody>
      </p:sp>
      <p:sp>
        <p:nvSpPr>
          <p:cNvPr id="53" name="단계"/>
          <p:cNvSpPr/>
          <p:nvPr/>
        </p:nvSpPr>
        <p:spPr>
          <a:xfrm>
            <a:off x="3985435" y="3228104"/>
            <a:ext cx="1412022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4" name="단계"/>
          <p:cNvSpPr>
            <a:spLocks noGrp="1"/>
          </p:cNvSpPr>
          <p:nvPr>
            <p:ph type="body" sz="quarter" idx="40"/>
          </p:nvPr>
        </p:nvSpPr>
        <p:spPr>
          <a:xfrm>
            <a:off x="3985435" y="3228104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’25~’26년 확산기</a:t>
            </a:r>
          </a:p>
        </p:txBody>
      </p:sp>
      <p:sp>
        <p:nvSpPr>
          <p:cNvPr id="55" name="단계"/>
          <p:cNvSpPr/>
          <p:nvPr/>
        </p:nvSpPr>
        <p:spPr>
          <a:xfrm>
            <a:off x="5397457" y="3228104"/>
            <a:ext cx="1412022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6" name="단계"/>
          <p:cNvSpPr>
            <a:spLocks noGrp="1"/>
          </p:cNvSpPr>
          <p:nvPr>
            <p:ph type="body" sz="quarter" idx="41"/>
          </p:nvPr>
        </p:nvSpPr>
        <p:spPr>
          <a:xfrm>
            <a:off x="5397457" y="3228104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’27년~ 자립기</a:t>
            </a:r>
          </a:p>
        </p:txBody>
      </p:sp>
      <p:sp>
        <p:nvSpPr>
          <p:cNvPr id="57" name="단계 삼각형"/>
          <p:cNvSpPr/>
          <p:nvPr/>
        </p:nvSpPr>
        <p:spPr>
          <a:xfrm>
            <a:off x="2573413" y="3228104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8" name="단계 삼각형"/>
          <p:cNvSpPr/>
          <p:nvPr/>
        </p:nvSpPr>
        <p:spPr>
          <a:xfrm>
            <a:off x="3985434" y="3228104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9" name="단계 삼각형"/>
          <p:cNvSpPr/>
          <p:nvPr/>
        </p:nvSpPr>
        <p:spPr>
          <a:xfrm>
            <a:off x="5397456" y="3228104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0" name="칸 본문"/>
          <p:cNvSpPr>
            <a:spLocks noGrp="1"/>
          </p:cNvSpPr>
          <p:nvPr>
            <p:ph type="body" sz="quarter" idx="42"/>
          </p:nvPr>
        </p:nvSpPr>
        <p:spPr>
          <a:xfrm>
            <a:off x="1172348" y="3480104"/>
            <a:ext cx="1390109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전담조직 신설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전주기 지원 확립</a:t>
            </a:r>
          </a:p>
        </p:txBody>
      </p:sp>
      <p:sp>
        <p:nvSpPr>
          <p:cNvPr id="61" name="칸 본문"/>
          <p:cNvSpPr>
            <a:spLocks noGrp="1"/>
          </p:cNvSpPr>
          <p:nvPr>
            <p:ph type="body" sz="quarter" idx="43"/>
          </p:nvPr>
        </p:nvSpPr>
        <p:spPr>
          <a:xfrm>
            <a:off x="2584370" y="3480104"/>
            <a:ext cx="1390109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맞춤형 지원체계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지원대상 확대</a:t>
            </a:r>
          </a:p>
        </p:txBody>
      </p:sp>
      <p:cxnSp>
        <p:nvCxnSpPr>
          <p:cNvPr id="62" name="Connector 44"/>
          <p:cNvCxnSpPr/>
          <p:nvPr/>
        </p:nvCxnSpPr>
        <p:spPr>
          <a:xfrm>
            <a:off x="2573413" y="3512974"/>
            <a:ext cx="0" cy="4315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3" name="칸 본문"/>
          <p:cNvSpPr>
            <a:spLocks noGrp="1"/>
          </p:cNvSpPr>
          <p:nvPr>
            <p:ph type="body" sz="quarter" idx="44"/>
          </p:nvPr>
        </p:nvSpPr>
        <p:spPr>
          <a:xfrm>
            <a:off x="3996391" y="3480104"/>
            <a:ext cx="1390109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해외협력 지원플랫폼 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실증 및 동반진출 확대</a:t>
            </a:r>
          </a:p>
        </p:txBody>
      </p:sp>
      <p:cxnSp>
        <p:nvCxnSpPr>
          <p:cNvPr id="64" name="Connector 46"/>
          <p:cNvCxnSpPr/>
          <p:nvPr/>
        </p:nvCxnSpPr>
        <p:spPr>
          <a:xfrm>
            <a:off x="3985435" y="3512974"/>
            <a:ext cx="0" cy="4315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5" name="칸 본문"/>
          <p:cNvSpPr>
            <a:spLocks noGrp="1"/>
          </p:cNvSpPr>
          <p:nvPr>
            <p:ph type="body" sz="quarter" idx="45"/>
          </p:nvPr>
        </p:nvSpPr>
        <p:spPr>
          <a:xfrm>
            <a:off x="5408413" y="3480104"/>
            <a:ext cx="1390109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초격차기술 동반진출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수출자립기업 육성</a:t>
            </a:r>
          </a:p>
        </p:txBody>
      </p:sp>
      <p:cxnSp>
        <p:nvCxnSpPr>
          <p:cNvPr id="66" name="Connector 48"/>
          <p:cNvCxnSpPr/>
          <p:nvPr/>
        </p:nvCxnSpPr>
        <p:spPr>
          <a:xfrm>
            <a:off x="5397457" y="3512974"/>
            <a:ext cx="0" cy="4315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7" name="레일"/>
          <p:cNvSpPr/>
          <p:nvPr/>
        </p:nvSpPr>
        <p:spPr>
          <a:xfrm>
            <a:off x="547826" y="3999287"/>
            <a:ext cx="580696" cy="761478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8" name="레일"/>
          <p:cNvSpPr>
            <a:spLocks noGrp="1"/>
          </p:cNvSpPr>
          <p:nvPr>
            <p:ph type="body" sz="quarter" idx="46"/>
          </p:nvPr>
        </p:nvSpPr>
        <p:spPr>
          <a:xfrm>
            <a:off x="547826" y="3999287"/>
            <a:ext cx="580696" cy="76147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’25년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실행과제</a:t>
            </a:r>
          </a:p>
        </p:txBody>
      </p:sp>
      <p:sp>
        <p:nvSpPr>
          <p:cNvPr id="69" name="레일 삼각형"/>
          <p:cNvSpPr/>
          <p:nvPr/>
        </p:nvSpPr>
        <p:spPr>
          <a:xfrm>
            <a:off x="547826" y="3999286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0" name="머리칸"/>
          <p:cNvSpPr/>
          <p:nvPr/>
        </p:nvSpPr>
        <p:spPr>
          <a:xfrm>
            <a:off x="1161391" y="402120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1" name="머리칸"/>
          <p:cNvSpPr>
            <a:spLocks noGrp="1"/>
          </p:cNvSpPr>
          <p:nvPr>
            <p:ph type="body" sz="quarter" idx="47"/>
          </p:nvPr>
        </p:nvSpPr>
        <p:spPr>
          <a:xfrm>
            <a:off x="1161391" y="402120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민간기업 해외진출 확대</a:t>
            </a:r>
          </a:p>
        </p:txBody>
      </p:sp>
      <p:sp>
        <p:nvSpPr>
          <p:cNvPr id="72" name="머리칸"/>
          <p:cNvSpPr/>
          <p:nvPr/>
        </p:nvSpPr>
        <p:spPr>
          <a:xfrm>
            <a:off x="3044087" y="402120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3" name="머리칸"/>
          <p:cNvSpPr>
            <a:spLocks noGrp="1"/>
          </p:cNvSpPr>
          <p:nvPr>
            <p:ph type="body" sz="quarter" idx="48"/>
          </p:nvPr>
        </p:nvSpPr>
        <p:spPr>
          <a:xfrm>
            <a:off x="3044087" y="402120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해외시장개척단 내실화</a:t>
            </a:r>
          </a:p>
        </p:txBody>
      </p:sp>
      <p:sp>
        <p:nvSpPr>
          <p:cNvPr id="74" name="머리칸"/>
          <p:cNvSpPr/>
          <p:nvPr/>
        </p:nvSpPr>
        <p:spPr>
          <a:xfrm>
            <a:off x="4926783" y="402120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5" name="머리칸"/>
          <p:cNvSpPr>
            <a:spLocks noGrp="1"/>
          </p:cNvSpPr>
          <p:nvPr>
            <p:ph type="body" sz="quarter" idx="49"/>
          </p:nvPr>
        </p:nvSpPr>
        <p:spPr>
          <a:xfrm>
            <a:off x="4926783" y="402120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민간기업과 함께 도약</a:t>
            </a:r>
          </a:p>
        </p:txBody>
      </p:sp>
      <p:sp>
        <p:nvSpPr>
          <p:cNvPr id="76" name="칸 본문"/>
          <p:cNvSpPr>
            <a:spLocks noGrp="1"/>
          </p:cNvSpPr>
          <p:nvPr>
            <p:ph type="body" sz="quarter" idx="50"/>
          </p:nvPr>
        </p:nvSpPr>
        <p:spPr>
          <a:xfrm>
            <a:off x="1172348" y="4262243"/>
            <a:ext cx="1860783" cy="493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빈틈없는 수출금융지원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전방위적 해외마케팅 강화</a:t>
            </a:r>
          </a:p>
        </p:txBody>
      </p:sp>
      <p:sp>
        <p:nvSpPr>
          <p:cNvPr id="77" name="칸 본문"/>
          <p:cNvSpPr>
            <a:spLocks noGrp="1"/>
          </p:cNvSpPr>
          <p:nvPr>
            <p:ph type="body" sz="quarter" idx="51"/>
          </p:nvPr>
        </p:nvSpPr>
        <p:spPr>
          <a:xfrm>
            <a:off x="3055043" y="4262243"/>
            <a:ext cx="1860783" cy="493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전략적 선발 및 성과관리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 맞춤형 지원 고도화</a:t>
            </a:r>
          </a:p>
        </p:txBody>
      </p:sp>
      <p:cxnSp>
        <p:nvCxnSpPr>
          <p:cNvPr id="78" name="Connector 56"/>
          <p:cNvCxnSpPr/>
          <p:nvPr/>
        </p:nvCxnSpPr>
        <p:spPr>
          <a:xfrm>
            <a:off x="3044087" y="4295113"/>
            <a:ext cx="0" cy="42730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9" name="칸 본문"/>
          <p:cNvSpPr>
            <a:spLocks noGrp="1"/>
          </p:cNvSpPr>
          <p:nvPr>
            <p:ph type="body" sz="quarter" idx="52"/>
          </p:nvPr>
        </p:nvSpPr>
        <p:spPr>
          <a:xfrm>
            <a:off x="4937739" y="4262243"/>
            <a:ext cx="1860783" cy="493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실증사업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핵심기술 동반진출 확대</a:t>
            </a:r>
          </a:p>
        </p:txBody>
      </p:sp>
      <p:cxnSp>
        <p:nvCxnSpPr>
          <p:cNvPr id="80" name="Connector 58"/>
          <p:cNvCxnSpPr/>
          <p:nvPr/>
        </p:nvCxnSpPr>
        <p:spPr>
          <a:xfrm>
            <a:off x="4926783" y="4295113"/>
            <a:ext cx="0" cy="42730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92 서사 · 수출금융지원(지역혁신펀드 · 프로젝트 지원자금 · 녹색인프라 · PIS 펀드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창업을 돕고, 금융을 지원하고, 마케팅까지 함께하는 기업 희망</a:t>
            </a:r>
          </a:p>
        </p:txBody>
      </p:sp>
      <p:sp>
        <p:nvSpPr>
          <p:cNvPr id="14" name="형광 밑줄"/>
          <p:cNvSpPr/>
          <p:nvPr/>
        </p:nvSpPr>
        <p:spPr>
          <a:xfrm>
            <a:off x="723130" y="1358609"/>
            <a:ext cx="4343673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소제목"/>
          <p:cNvSpPr>
            <a:spLocks noGrp="1"/>
          </p:cNvSpPr>
          <p:nvPr>
            <p:ph type="body" sz="quarter" idx="22"/>
          </p:nvPr>
        </p:nvSpPr>
        <p:spPr>
          <a:xfrm>
            <a:off x="723130" y="120521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물산업 육성부터 대규모 물인프라까지 대·중·소 빈틈없는 수출금융지원</a:t>
            </a:r>
          </a:p>
        </p:txBody>
      </p:sp>
      <p:sp>
        <p:nvSpPr>
          <p:cNvPr id="16" name="태그칩"/>
          <p:cNvSpPr/>
          <p:nvPr/>
        </p:nvSpPr>
        <p:spPr>
          <a:xfrm>
            <a:off x="5165412" y="1238087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칩"/>
          <p:cNvSpPr>
            <a:spLocks noGrp="1"/>
          </p:cNvSpPr>
          <p:nvPr>
            <p:ph type="body" sz="quarter" idx="23"/>
          </p:nvPr>
        </p:nvSpPr>
        <p:spPr>
          <a:xfrm>
            <a:off x="5165412" y="1238087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8" name="아이콘 칸"/>
          <p:cNvSpPr/>
          <p:nvPr/>
        </p:nvSpPr>
        <p:spPr>
          <a:xfrm>
            <a:off x="723130" y="1544870"/>
            <a:ext cx="175304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3600" rIns="3600" tIns="0" bIns="0" wrap="square"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/>
            </a:r>
          </a:p>
        </p:txBody>
      </p:sp>
      <p:sp>
        <p:nvSpPr>
          <p:cNvPr id="19" name="태그"/>
          <p:cNvSpPr/>
          <p:nvPr/>
        </p:nvSpPr>
        <p:spPr>
          <a:xfrm>
            <a:off x="942261" y="1544870"/>
            <a:ext cx="329103" cy="175304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0" name="태그"/>
          <p:cNvSpPr>
            <a:spLocks noGrp="1"/>
          </p:cNvSpPr>
          <p:nvPr>
            <p:ph type="body" sz="quarter" idx="24"/>
          </p:nvPr>
        </p:nvSpPr>
        <p:spPr>
          <a:xfrm>
            <a:off x="942261" y="1544870"/>
            <a:ext cx="329103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펀드</a:t>
            </a:r>
          </a:p>
        </p:txBody>
      </p:sp>
      <p:sp>
        <p:nvSpPr>
          <p:cNvPr id="21" name="그룹 제목"/>
          <p:cNvSpPr>
            <a:spLocks noGrp="1"/>
          </p:cNvSpPr>
          <p:nvPr>
            <p:ph type="body" sz="quarter" idx="25"/>
          </p:nvPr>
        </p:nvSpPr>
        <p:spPr>
          <a:xfrm>
            <a:off x="1315189" y="1522957"/>
            <a:ext cx="5686028" cy="21913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4개 펀드로 수출금융 체계 구축</a:t>
            </a:r>
          </a:p>
        </p:txBody>
      </p:sp>
      <p:sp>
        <p:nvSpPr>
          <p:cNvPr id="22" name="그룹 틀"/>
          <p:cNvSpPr/>
          <p:nvPr/>
        </p:nvSpPr>
        <p:spPr>
          <a:xfrm>
            <a:off x="723130" y="1764000"/>
            <a:ext cx="6300000" cy="2268000"/>
          </a:xfrm>
          <a:prstGeom prst="rect">
            <a:avLst/>
          </a:prstGeom>
          <a:solidFill>
            <a:srgbClr val="FFFFFF"/>
          </a:solidFill>
          <a:ln w="1587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3" name="카드 머리"/>
          <p:cNvSpPr/>
          <p:nvPr/>
        </p:nvSpPr>
        <p:spPr>
          <a:xfrm>
            <a:off x="756000" y="1785913"/>
            <a:ext cx="3095217" cy="208174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4" name="태그"/>
          <p:cNvSpPr/>
          <p:nvPr/>
        </p:nvSpPr>
        <p:spPr>
          <a:xfrm>
            <a:off x="799826" y="1807826"/>
            <a:ext cx="768177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5" name="태그"/>
          <p:cNvSpPr>
            <a:spLocks noGrp="1"/>
          </p:cNvSpPr>
          <p:nvPr>
            <p:ph type="body" sz="quarter" idx="26"/>
          </p:nvPr>
        </p:nvSpPr>
        <p:spPr>
          <a:xfrm>
            <a:off x="799826" y="1807826"/>
            <a:ext cx="768177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지역혁신펀드</a:t>
            </a:r>
          </a:p>
        </p:txBody>
      </p:sp>
      <p:sp>
        <p:nvSpPr>
          <p:cNvPr id="26" name="카드 제목"/>
          <p:cNvSpPr>
            <a:spLocks noGrp="1"/>
          </p:cNvSpPr>
          <p:nvPr>
            <p:ph type="body" sz="quarter" idx="27"/>
          </p:nvPr>
        </p:nvSpPr>
        <p:spPr>
          <a:xfrm>
            <a:off x="1600873" y="1785913"/>
            <a:ext cx="2228432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총 5,254억원 조성완</a:t>
            </a:r>
          </a:p>
        </p:txBody>
      </p:sp>
      <p:sp>
        <p:nvSpPr>
          <p:cNvPr id="27" name="카드 본문"/>
          <p:cNvSpPr>
            <a:spLocks noGrp="1"/>
          </p:cNvSpPr>
          <p:nvPr>
            <p:ph type="body" sz="quarter" idx="28"/>
          </p:nvPr>
        </p:nvSpPr>
        <p:spPr>
          <a:xfrm>
            <a:off x="756000" y="2005043"/>
            <a:ext cx="3073304" cy="843652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중기부·지자체·K-water 참여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물산업 혁신성장 지원을 위해 999억원 출자완료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물산업 분야 142개社, 1,606억원(누계) 투자</a:t>
            </a:r>
          </a:p>
        </p:txBody>
      </p:sp>
      <p:cxnSp>
        <p:nvCxnSpPr>
          <p:cNvPr id="28" name="Connector 19"/>
          <p:cNvCxnSpPr/>
          <p:nvPr/>
        </p:nvCxnSpPr>
        <p:spPr>
          <a:xfrm>
            <a:off x="3862174" y="1818783"/>
            <a:ext cx="0" cy="1018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9" name="카드 머리"/>
          <p:cNvSpPr/>
          <p:nvPr/>
        </p:nvSpPr>
        <p:spPr>
          <a:xfrm>
            <a:off x="3873130" y="1785913"/>
            <a:ext cx="3095217" cy="208174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0" name="태그"/>
          <p:cNvSpPr/>
          <p:nvPr/>
        </p:nvSpPr>
        <p:spPr>
          <a:xfrm>
            <a:off x="3916957" y="1807826"/>
            <a:ext cx="1016986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1" name="태그"/>
          <p:cNvSpPr>
            <a:spLocks noGrp="1"/>
          </p:cNvSpPr>
          <p:nvPr>
            <p:ph type="body" sz="quarter" idx="29"/>
          </p:nvPr>
        </p:nvSpPr>
        <p:spPr>
          <a:xfrm>
            <a:off x="3916957" y="1807826"/>
            <a:ext cx="1016986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프로젝트 지원자금</a:t>
            </a:r>
          </a:p>
        </p:txBody>
      </p:sp>
      <p:sp>
        <p:nvSpPr>
          <p:cNvPr id="32" name="카드 제목"/>
          <p:cNvSpPr>
            <a:spLocks noGrp="1"/>
          </p:cNvSpPr>
          <p:nvPr>
            <p:ph type="body" sz="quarter" idx="30"/>
          </p:nvPr>
        </p:nvSpPr>
        <p:spPr>
          <a:xfrm>
            <a:off x="4966812" y="1785913"/>
            <a:ext cx="1979623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총 30억원 조성완</a:t>
            </a:r>
          </a:p>
        </p:txBody>
      </p:sp>
      <p:sp>
        <p:nvSpPr>
          <p:cNvPr id="33" name="카드 본문"/>
          <p:cNvSpPr>
            <a:spLocks noGrp="1"/>
          </p:cNvSpPr>
          <p:nvPr>
            <p:ph type="body" sz="quarter" idx="31"/>
          </p:nvPr>
        </p:nvSpPr>
        <p:spPr>
          <a:xfrm>
            <a:off x="3873130" y="2005043"/>
            <a:ext cx="3073304" cy="843652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기후부·K-water 등 5개 기관 참여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물관련 해외사업 지원을 위해 10억원 출자완료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인도네시아·미국 등 7개 프로젝트, 총 26억원 지원</a:t>
            </a:r>
          </a:p>
        </p:txBody>
      </p:sp>
      <p:sp>
        <p:nvSpPr>
          <p:cNvPr id="34" name="카드 머리"/>
          <p:cNvSpPr/>
          <p:nvPr/>
        </p:nvSpPr>
        <p:spPr>
          <a:xfrm>
            <a:off x="756000" y="2881565"/>
            <a:ext cx="3095217" cy="208174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5" name="태그"/>
          <p:cNvSpPr/>
          <p:nvPr/>
        </p:nvSpPr>
        <p:spPr>
          <a:xfrm>
            <a:off x="799826" y="2903478"/>
            <a:ext cx="1595100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6" name="태그"/>
          <p:cNvSpPr>
            <a:spLocks noGrp="1"/>
          </p:cNvSpPr>
          <p:nvPr>
            <p:ph type="body" sz="quarter" idx="32"/>
          </p:nvPr>
        </p:nvSpPr>
        <p:spPr>
          <a:xfrm>
            <a:off x="799826" y="2903478"/>
            <a:ext cx="1595100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녹색인프라 해외수출 지원펀드</a:t>
            </a:r>
          </a:p>
        </p:txBody>
      </p:sp>
      <p:sp>
        <p:nvSpPr>
          <p:cNvPr id="37" name="카드 제목"/>
          <p:cNvSpPr>
            <a:spLocks noGrp="1"/>
          </p:cNvSpPr>
          <p:nvPr>
            <p:ph type="body" sz="quarter" idx="33"/>
          </p:nvPr>
        </p:nvSpPr>
        <p:spPr>
          <a:xfrm>
            <a:off x="2427796" y="2881565"/>
            <a:ext cx="1401508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총 5,000억원 조성 계획</a:t>
            </a:r>
          </a:p>
        </p:txBody>
      </p:sp>
      <p:sp>
        <p:nvSpPr>
          <p:cNvPr id="38" name="카드 본문"/>
          <p:cNvSpPr>
            <a:spLocks noGrp="1"/>
          </p:cNvSpPr>
          <p:nvPr>
            <p:ph type="body" sz="quarter" idx="34"/>
          </p:nvPr>
        </p:nvSpPr>
        <p:spPr>
          <a:xfrm>
            <a:off x="756000" y="3100696"/>
            <a:ext cx="3073304" cy="843652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기후부·K-water 등 참여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녹색산업 지원을 위해 총 400억원 출자예정(~’28)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45억원 출자, 총 1,462억원 투자 승인 완료</a:t>
            </a:r>
          </a:p>
        </p:txBody>
      </p:sp>
      <p:cxnSp>
        <p:nvCxnSpPr>
          <p:cNvPr id="39" name="Connector 28"/>
          <p:cNvCxnSpPr/>
          <p:nvPr/>
        </p:nvCxnSpPr>
        <p:spPr>
          <a:xfrm>
            <a:off x="3862174" y="2914435"/>
            <a:ext cx="0" cy="1018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0" name="카드 머리"/>
          <p:cNvSpPr/>
          <p:nvPr/>
        </p:nvSpPr>
        <p:spPr>
          <a:xfrm>
            <a:off x="3873130" y="2881565"/>
            <a:ext cx="3095217" cy="208174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1" name="태그"/>
          <p:cNvSpPr/>
          <p:nvPr/>
        </p:nvSpPr>
        <p:spPr>
          <a:xfrm>
            <a:off x="3916957" y="2903478"/>
            <a:ext cx="877573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2" name="태그"/>
          <p:cNvSpPr>
            <a:spLocks noGrp="1"/>
          </p:cNvSpPr>
          <p:nvPr>
            <p:ph type="body" sz="quarter" idx="35"/>
          </p:nvPr>
        </p:nvSpPr>
        <p:spPr>
          <a:xfrm>
            <a:off x="3916957" y="2903478"/>
            <a:ext cx="877573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PIS 2단계 펀드</a:t>
            </a:r>
          </a:p>
        </p:txBody>
      </p:sp>
      <p:sp>
        <p:nvSpPr>
          <p:cNvPr id="43" name="카드 제목"/>
          <p:cNvSpPr>
            <a:spLocks noGrp="1"/>
          </p:cNvSpPr>
          <p:nvPr>
            <p:ph type="body" sz="quarter" idx="36"/>
          </p:nvPr>
        </p:nvSpPr>
        <p:spPr>
          <a:xfrm>
            <a:off x="4827399" y="2881565"/>
            <a:ext cx="2119036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총 11,000억원 조성 계획</a:t>
            </a:r>
          </a:p>
        </p:txBody>
      </p:sp>
      <p:sp>
        <p:nvSpPr>
          <p:cNvPr id="44" name="카드 본문"/>
          <p:cNvSpPr>
            <a:spLocks noGrp="1"/>
          </p:cNvSpPr>
          <p:nvPr>
            <p:ph type="body" sz="quarter" idx="37"/>
          </p:nvPr>
        </p:nvSpPr>
        <p:spPr>
          <a:xfrm>
            <a:off x="3873130" y="3100696"/>
            <a:ext cx="3073304" cy="843652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국토부·K-water 등 참여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인프라 투자 지원을 위해 총 200억원 출자예정(~’29)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40억원 출자, 총 2,076억원 투자 승인 완료</a:t>
            </a:r>
          </a:p>
        </p:txBody>
      </p:sp>
      <p:sp>
        <p:nvSpPr>
          <p:cNvPr id="45" name="핵심성과 박스"/>
          <p:cNvSpPr/>
          <p:nvPr/>
        </p:nvSpPr>
        <p:spPr>
          <a:xfrm>
            <a:off x="723130" y="4119652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6" name="핵심성과 라벨"/>
          <p:cNvSpPr/>
          <p:nvPr/>
        </p:nvSpPr>
        <p:spPr>
          <a:xfrm>
            <a:off x="756000" y="4158000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47" name="핵심성과 라벨"/>
          <p:cNvSpPr>
            <a:spLocks noGrp="1"/>
          </p:cNvSpPr>
          <p:nvPr>
            <p:ph type="body" sz="quarter" idx="38"/>
          </p:nvPr>
        </p:nvSpPr>
        <p:spPr>
          <a:xfrm>
            <a:off x="756000" y="4158000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8" name="핵심성과 문구"/>
          <p:cNvSpPr>
            <a:spLocks noGrp="1"/>
          </p:cNvSpPr>
          <p:nvPr>
            <p:ph type="body" sz="quarter" idx="39"/>
          </p:nvPr>
        </p:nvSpPr>
        <p:spPr>
          <a:xfrm>
            <a:off x="1501043" y="4136087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수출투자재원 확대 및 신규 펀드(PIS) 확보로 수출 성장 생태계 구축(5,170억원, 전년 比 331%)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93 서사 · 해외진출 컨설팅 · 글로벌 마케팅 · 판로확대 → 추진성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4168935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해외진출 컨설팅부터 온·오프라인 판로확대까지 밀착형 마케팅 지원</a:t>
            </a:r>
          </a:p>
        </p:txBody>
      </p:sp>
      <p:sp>
        <p:nvSpPr>
          <p:cNvPr id="12" name="태그칩"/>
          <p:cNvSpPr/>
          <p:nvPr/>
        </p:nvSpPr>
        <p:spPr>
          <a:xfrm>
            <a:off x="4804414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804414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태그칩"/>
          <p:cNvSpPr/>
          <p:nvPr/>
        </p:nvSpPr>
        <p:spPr>
          <a:xfrm>
            <a:off x="5355535" y="799826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2"/>
          </p:nvPr>
        </p:nvSpPr>
        <p:spPr>
          <a:xfrm>
            <a:off x="5355535" y="799826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6" name="표 외곽"/>
          <p:cNvSpPr/>
          <p:nvPr/>
        </p:nvSpPr>
        <p:spPr>
          <a:xfrm>
            <a:off x="536870" y="1051826"/>
            <a:ext cx="6300000" cy="3013043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547826" y="1068261"/>
            <a:ext cx="580696" cy="1194261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레일 태그"/>
          <p:cNvSpPr/>
          <p:nvPr/>
        </p:nvSpPr>
        <p:spPr>
          <a:xfrm>
            <a:off x="379087" y="1112087"/>
            <a:ext cx="918174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19" name="레일 태그"/>
          <p:cNvSpPr>
            <a:spLocks noGrp="1"/>
          </p:cNvSpPr>
          <p:nvPr>
            <p:ph type="body" sz="quarter" idx="23"/>
          </p:nvPr>
        </p:nvSpPr>
        <p:spPr>
          <a:xfrm>
            <a:off x="379087" y="1112087"/>
            <a:ext cx="918174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해외진출 컨설팅</a:t>
            </a:r>
          </a:p>
        </p:txBody>
      </p:sp>
      <p:sp>
        <p:nvSpPr>
          <p:cNvPr id="20" name="레일 라벨"/>
          <p:cNvSpPr>
            <a:spLocks noGrp="1"/>
          </p:cNvSpPr>
          <p:nvPr>
            <p:ph type="body" sz="quarter" idx="24"/>
          </p:nvPr>
        </p:nvSpPr>
        <p:spPr>
          <a:xfrm>
            <a:off x="547826" y="1298348"/>
            <a:ext cx="580696" cy="94226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온보딩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프로그램</a:t>
            </a:r>
          </a:p>
        </p:txBody>
      </p:sp>
      <p:sp>
        <p:nvSpPr>
          <p:cNvPr id="21" name="태그"/>
          <p:cNvSpPr/>
          <p:nvPr/>
        </p:nvSpPr>
        <p:spPr>
          <a:xfrm>
            <a:off x="1161391" y="1112087"/>
            <a:ext cx="940087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태그"/>
          <p:cNvSpPr>
            <a:spLocks noGrp="1"/>
          </p:cNvSpPr>
          <p:nvPr>
            <p:ph type="body" sz="quarter" idx="25"/>
          </p:nvPr>
        </p:nvSpPr>
        <p:spPr>
          <a:xfrm>
            <a:off x="1161391" y="1112087"/>
            <a:ext cx="94008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온보딩 프로그램</a:t>
            </a:r>
          </a:p>
        </p:txBody>
      </p:sp>
      <p:sp>
        <p:nvSpPr>
          <p:cNvPr id="23" name="태그 설명"/>
          <p:cNvSpPr>
            <a:spLocks noGrp="1"/>
          </p:cNvSpPr>
          <p:nvPr>
            <p:ph type="body" sz="quarter" idx="26"/>
          </p:nvPr>
        </p:nvSpPr>
        <p:spPr>
          <a:xfrm>
            <a:off x="2145304" y="1101130"/>
            <a:ext cx="4664174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해외진출을 희망하는 창업 초기기업의 성공적 해외시장 진출을 지원</a:t>
            </a:r>
          </a:p>
        </p:txBody>
      </p:sp>
      <p:sp>
        <p:nvSpPr>
          <p:cNvPr id="24" name="머리칸"/>
          <p:cNvSpPr/>
          <p:nvPr/>
        </p:nvSpPr>
        <p:spPr>
          <a:xfrm>
            <a:off x="1161391" y="1325739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5" name="머리칸"/>
          <p:cNvSpPr>
            <a:spLocks noGrp="1"/>
          </p:cNvSpPr>
          <p:nvPr>
            <p:ph type="body" sz="quarter" idx="27"/>
          </p:nvPr>
        </p:nvSpPr>
        <p:spPr>
          <a:xfrm>
            <a:off x="1161391" y="1325739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해외시장 리서치 및 바이어 발굴(7社)</a:t>
            </a:r>
          </a:p>
        </p:txBody>
      </p:sp>
      <p:sp>
        <p:nvSpPr>
          <p:cNvPr id="26" name="머리칸"/>
          <p:cNvSpPr/>
          <p:nvPr/>
        </p:nvSpPr>
        <p:spPr>
          <a:xfrm>
            <a:off x="3985435" y="1325739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7" name="머리칸"/>
          <p:cNvSpPr>
            <a:spLocks noGrp="1"/>
          </p:cNvSpPr>
          <p:nvPr>
            <p:ph type="body" sz="quarter" idx="28"/>
          </p:nvPr>
        </p:nvSpPr>
        <p:spPr>
          <a:xfrm>
            <a:off x="3985435" y="1325739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 맞춤형 IR 피치덱(투자유치전략서) 제작(5社)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9"/>
          </p:nvPr>
        </p:nvSpPr>
        <p:spPr>
          <a:xfrm>
            <a:off x="1172348" y="1566783"/>
            <a:ext cx="2802130" cy="690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리서치 수요·경쟁동향, 품질인증제도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바이어 유망 바이어 롱·숏리스트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발굴 바이어 비대면 미팅(화상, 이메일) 주선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0"/>
          </p:nvPr>
        </p:nvSpPr>
        <p:spPr>
          <a:xfrm>
            <a:off x="3996391" y="1566783"/>
            <a:ext cx="2802130" cy="690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글로벌(영문) 현지 투자자 중심의 메시지 최적화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맞춤형(현지) 타겟국가별 맞춤형 언어 번역본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원본 제공 → 지원 이후에도 직접 수정·편집 가능</a:t>
            </a:r>
          </a:p>
        </p:txBody>
      </p:sp>
      <p:cxnSp>
        <p:nvCxnSpPr>
          <p:cNvPr id="30" name="Connector 20"/>
          <p:cNvCxnSpPr/>
          <p:nvPr/>
        </p:nvCxnSpPr>
        <p:spPr>
          <a:xfrm>
            <a:off x="3985435" y="1599652"/>
            <a:ext cx="0" cy="624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레일"/>
          <p:cNvSpPr/>
          <p:nvPr/>
        </p:nvSpPr>
        <p:spPr>
          <a:xfrm>
            <a:off x="547826" y="2278957"/>
            <a:ext cx="580696" cy="1035391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2" name="레일"/>
          <p:cNvSpPr>
            <a:spLocks noGrp="1"/>
          </p:cNvSpPr>
          <p:nvPr>
            <p:ph type="body" sz="quarter" idx="31"/>
          </p:nvPr>
        </p:nvSpPr>
        <p:spPr>
          <a:xfrm>
            <a:off x="547826" y="2278957"/>
            <a:ext cx="580696" cy="103539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글로벌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마케팅</a:t>
            </a:r>
          </a:p>
        </p:txBody>
      </p:sp>
      <p:sp>
        <p:nvSpPr>
          <p:cNvPr id="33" name="레일 삼각형"/>
          <p:cNvSpPr/>
          <p:nvPr/>
        </p:nvSpPr>
        <p:spPr>
          <a:xfrm>
            <a:off x="547826" y="2278956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4" name="머리칸"/>
          <p:cNvSpPr/>
          <p:nvPr/>
        </p:nvSpPr>
        <p:spPr>
          <a:xfrm>
            <a:off x="1161391" y="230087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5" name="머리칸"/>
          <p:cNvSpPr>
            <a:spLocks noGrp="1"/>
          </p:cNvSpPr>
          <p:nvPr>
            <p:ph type="body" sz="quarter" idx="32"/>
          </p:nvPr>
        </p:nvSpPr>
        <p:spPr>
          <a:xfrm>
            <a:off x="1161391" y="230087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해외전시회</a:t>
            </a:r>
          </a:p>
        </p:txBody>
      </p:sp>
      <p:sp>
        <p:nvSpPr>
          <p:cNvPr id="36" name="머리칸"/>
          <p:cNvSpPr/>
          <p:nvPr/>
        </p:nvSpPr>
        <p:spPr>
          <a:xfrm>
            <a:off x="3044087" y="230087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7" name="머리칸"/>
          <p:cNvSpPr>
            <a:spLocks noGrp="1"/>
          </p:cNvSpPr>
          <p:nvPr>
            <p:ph type="body" sz="quarter" idx="33"/>
          </p:nvPr>
        </p:nvSpPr>
        <p:spPr>
          <a:xfrm>
            <a:off x="3044087" y="230087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무역사절단</a:t>
            </a:r>
          </a:p>
        </p:txBody>
      </p:sp>
      <p:sp>
        <p:nvSpPr>
          <p:cNvPr id="38" name="머리칸"/>
          <p:cNvSpPr/>
          <p:nvPr/>
        </p:nvSpPr>
        <p:spPr>
          <a:xfrm>
            <a:off x="4926783" y="230087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9" name="머리칸"/>
          <p:cNvSpPr>
            <a:spLocks noGrp="1"/>
          </p:cNvSpPr>
          <p:nvPr>
            <p:ph type="body" sz="quarter" idx="34"/>
          </p:nvPr>
        </p:nvSpPr>
        <p:spPr>
          <a:xfrm>
            <a:off x="4926783" y="230087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기술로드쇼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35"/>
          </p:nvPr>
        </p:nvSpPr>
        <p:spPr>
          <a:xfrm>
            <a:off x="1172348" y="2541913"/>
            <a:ext cx="1860783" cy="766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CES 등 동반참여로 물산업 바이어 매칭 및 홍보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2개국 4건, 53개 기업 참여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36"/>
          </p:nvPr>
        </p:nvSpPr>
        <p:spPr>
          <a:xfrm>
            <a:off x="3055043" y="2541913"/>
            <a:ext cx="1860783" cy="766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KOTRA, 외교부 협업으로 관심 바이어 초청 및 매칭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6개국 6건, 54개 기업 참여</a:t>
            </a:r>
          </a:p>
        </p:txBody>
      </p:sp>
      <p:cxnSp>
        <p:nvCxnSpPr>
          <p:cNvPr id="42" name="Connector 28"/>
          <p:cNvCxnSpPr/>
          <p:nvPr/>
        </p:nvCxnSpPr>
        <p:spPr>
          <a:xfrm>
            <a:off x="3044087" y="2574783"/>
            <a:ext cx="0" cy="70121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3" name="칸 본문"/>
          <p:cNvSpPr>
            <a:spLocks noGrp="1"/>
          </p:cNvSpPr>
          <p:nvPr>
            <p:ph type="body" sz="quarter" idx="37"/>
          </p:nvPr>
        </p:nvSpPr>
        <p:spPr>
          <a:xfrm>
            <a:off x="4937739" y="2541913"/>
            <a:ext cx="1860783" cy="766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인프라(AWC, 한-메콩센터 등) 연계로 잠재 바이어 발굴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8개국 10건, 48개 기업 참여</a:t>
            </a:r>
          </a:p>
        </p:txBody>
      </p:sp>
      <p:cxnSp>
        <p:nvCxnSpPr>
          <p:cNvPr id="44" name="Connector 30"/>
          <p:cNvCxnSpPr/>
          <p:nvPr/>
        </p:nvCxnSpPr>
        <p:spPr>
          <a:xfrm>
            <a:off x="4926783" y="2574783"/>
            <a:ext cx="0" cy="70121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5" name="레일"/>
          <p:cNvSpPr/>
          <p:nvPr/>
        </p:nvSpPr>
        <p:spPr>
          <a:xfrm>
            <a:off x="547826" y="3330783"/>
            <a:ext cx="580696" cy="717652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6" name="레일"/>
          <p:cNvSpPr>
            <a:spLocks noGrp="1"/>
          </p:cNvSpPr>
          <p:nvPr>
            <p:ph type="body" sz="quarter" idx="38"/>
          </p:nvPr>
        </p:nvSpPr>
        <p:spPr>
          <a:xfrm>
            <a:off x="547826" y="3330783"/>
            <a:ext cx="580696" cy="71765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판로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확대</a:t>
            </a:r>
          </a:p>
        </p:txBody>
      </p:sp>
      <p:sp>
        <p:nvSpPr>
          <p:cNvPr id="47" name="레일 삼각형"/>
          <p:cNvSpPr/>
          <p:nvPr/>
        </p:nvSpPr>
        <p:spPr>
          <a:xfrm>
            <a:off x="547826" y="3330782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8" name="칸 본문"/>
          <p:cNvSpPr>
            <a:spLocks noGrp="1"/>
          </p:cNvSpPr>
          <p:nvPr>
            <p:ph type="body" sz="quarter" idx="39"/>
          </p:nvPr>
        </p:nvSpPr>
        <p:spPr>
          <a:xfrm>
            <a:off x="1172348" y="3352696"/>
            <a:ext cx="2802130" cy="690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온라인 AWS 마켓플레이스 등록 컨설팅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디지털 물기업 글로벌 판로확보 지원(2개社)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클라우드 SW 상거래 플랫폼, 월 30만명 이상 이용</a:t>
            </a:r>
          </a:p>
        </p:txBody>
      </p:sp>
      <p:sp>
        <p:nvSpPr>
          <p:cNvPr id="49" name="칸 본문"/>
          <p:cNvSpPr>
            <a:spLocks noGrp="1"/>
          </p:cNvSpPr>
          <p:nvPr>
            <p:ph type="body" sz="quarter" idx="40"/>
          </p:nvPr>
        </p:nvSpPr>
        <p:spPr>
          <a:xfrm>
            <a:off x="3996391" y="3352696"/>
            <a:ext cx="2802130" cy="690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오프라인 해외사업 마중물센터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현지 바이어 대상 기술실증·홍보거점 활용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K-water 사업진출국(필리핀·베트남·인니) ’25년 최초 개소</a:t>
            </a:r>
          </a:p>
        </p:txBody>
      </p:sp>
      <p:cxnSp>
        <p:nvCxnSpPr>
          <p:cNvPr id="50" name="Connector 35"/>
          <p:cNvCxnSpPr/>
          <p:nvPr/>
        </p:nvCxnSpPr>
        <p:spPr>
          <a:xfrm>
            <a:off x="3985435" y="3385565"/>
            <a:ext cx="0" cy="624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1" name="핵심성과 박스"/>
          <p:cNvSpPr/>
          <p:nvPr/>
        </p:nvSpPr>
        <p:spPr>
          <a:xfrm>
            <a:off x="536870" y="4152522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2" name="핵심성과 라벨"/>
          <p:cNvSpPr/>
          <p:nvPr/>
        </p:nvSpPr>
        <p:spPr>
          <a:xfrm>
            <a:off x="569739" y="4190870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53" name="핵심성과 라벨"/>
          <p:cNvSpPr>
            <a:spLocks noGrp="1"/>
          </p:cNvSpPr>
          <p:nvPr>
            <p:ph type="body" sz="quarter" idx="41"/>
          </p:nvPr>
        </p:nvSpPr>
        <p:spPr>
          <a:xfrm>
            <a:off x="569739" y="4190870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4" name="핵심성과 문구"/>
          <p:cNvSpPr>
            <a:spLocks noGrp="1"/>
          </p:cNvSpPr>
          <p:nvPr>
            <p:ph type="body" sz="quarter" idx="42"/>
          </p:nvPr>
        </p:nvSpPr>
        <p:spPr>
          <a:xfrm>
            <a:off x="1314783" y="4168957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맞춤형 컨설팅 및 글로벌 마케팅 지원으로 역대 최고 수출액 1,166억원 달성(전년 比 131%)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94 서사 · 해외시장개척단 내실화(성과분석 → 개선방향 → 선발·성과관리 → 맞춤형 지원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잘하면 더 잘하게, 취약하면 지원하며 ‘해외시장개척단’ 내실화</a:t>
            </a:r>
          </a:p>
        </p:txBody>
      </p:sp>
      <p:sp>
        <p:nvSpPr>
          <p:cNvPr id="14" name="번호 띠 칩"/>
          <p:cNvSpPr/>
          <p:nvPr/>
        </p:nvSpPr>
        <p:spPr>
          <a:xfrm>
            <a:off x="6428183" y="843652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번호 띠 칩"/>
          <p:cNvSpPr>
            <a:spLocks noGrp="1"/>
          </p:cNvSpPr>
          <p:nvPr>
            <p:ph type="body" sz="quarter" idx="22"/>
          </p:nvPr>
        </p:nvSpPr>
        <p:spPr>
          <a:xfrm>
            <a:off x="6428183" y="843652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표 외곽"/>
          <p:cNvSpPr/>
          <p:nvPr/>
        </p:nvSpPr>
        <p:spPr>
          <a:xfrm>
            <a:off x="723130" y="1128522"/>
            <a:ext cx="6300000" cy="876522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734087" y="1144957"/>
            <a:ext cx="580696" cy="843652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3"/>
          </p:nvPr>
        </p:nvSpPr>
        <p:spPr>
          <a:xfrm>
            <a:off x="734087" y="1144957"/>
            <a:ext cx="580696" cy="84365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 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분 석</a:t>
            </a:r>
          </a:p>
        </p:txBody>
      </p:sp>
      <p:sp>
        <p:nvSpPr>
          <p:cNvPr id="19" name="태그"/>
          <p:cNvSpPr/>
          <p:nvPr/>
        </p:nvSpPr>
        <p:spPr>
          <a:xfrm>
            <a:off x="1347652" y="1188783"/>
            <a:ext cx="910815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태그"/>
          <p:cNvSpPr>
            <a:spLocks noGrp="1"/>
          </p:cNvSpPr>
          <p:nvPr>
            <p:ph type="body" sz="quarter" idx="24"/>
          </p:nvPr>
        </p:nvSpPr>
        <p:spPr>
          <a:xfrm>
            <a:off x="1347652" y="1188783"/>
            <a:ext cx="91081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해외시장개척단</a:t>
            </a:r>
          </a:p>
        </p:txBody>
      </p:sp>
      <p:sp>
        <p:nvSpPr>
          <p:cNvPr id="21" name="태그 설명"/>
          <p:cNvSpPr>
            <a:spLocks noGrp="1"/>
          </p:cNvSpPr>
          <p:nvPr>
            <p:ph type="body" sz="quarter" idx="25"/>
          </p:nvPr>
        </p:nvSpPr>
        <p:spPr>
          <a:xfrm>
            <a:off x="2302294" y="1177826"/>
            <a:ext cx="4693446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물산업 우수기업을 맞춤형으로 지원하는 ‘K-water 해외협력 지원플랫폼’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6"/>
          </p:nvPr>
        </p:nvSpPr>
        <p:spPr>
          <a:xfrm>
            <a:off x="1358609" y="1402435"/>
            <a:ext cx="2802130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 ’18년 도입 이후 양적성장(33 → 62개社)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사업발굴부터 판로까지 전주기 지원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7"/>
          </p:nvPr>
        </p:nvSpPr>
        <p:spPr>
          <a:xfrm>
            <a:off x="4182652" y="1402435"/>
            <a:ext cx="2802130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한계 K-water 핵심기술 보유기업 참여 저조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단기 성과 위주관리로 지속성장 한계 봉착</a:t>
            </a:r>
          </a:p>
        </p:txBody>
      </p:sp>
      <p:cxnSp>
        <p:nvCxnSpPr>
          <p:cNvPr id="24" name="Connector 15"/>
          <p:cNvCxnSpPr/>
          <p:nvPr/>
        </p:nvCxnSpPr>
        <p:spPr>
          <a:xfrm>
            <a:off x="4171696" y="1435304"/>
            <a:ext cx="0" cy="51495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5" name="캡션 띠"/>
          <p:cNvSpPr/>
          <p:nvPr/>
        </p:nvSpPr>
        <p:spPr>
          <a:xfrm>
            <a:off x="723130" y="2026956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6" name="태그"/>
          <p:cNvSpPr/>
          <p:nvPr/>
        </p:nvSpPr>
        <p:spPr>
          <a:xfrm>
            <a:off x="1051826" y="2070783"/>
            <a:ext cx="548640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7" name="태그"/>
          <p:cNvSpPr>
            <a:spLocks noGrp="1"/>
          </p:cNvSpPr>
          <p:nvPr>
            <p:ph type="body" sz="quarter" idx="28"/>
          </p:nvPr>
        </p:nvSpPr>
        <p:spPr>
          <a:xfrm>
            <a:off x="1051826" y="2070783"/>
            <a:ext cx="548640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개선방향</a:t>
            </a:r>
          </a:p>
        </p:txBody>
      </p:sp>
      <p:sp>
        <p:nvSpPr>
          <p:cNvPr id="28" name="캡션"/>
          <p:cNvSpPr>
            <a:spLocks noGrp="1"/>
          </p:cNvSpPr>
          <p:nvPr>
            <p:ph type="body" sz="quarter" idx="29"/>
          </p:nvPr>
        </p:nvSpPr>
        <p:spPr>
          <a:xfrm>
            <a:off x="1655249" y="2026957"/>
            <a:ext cx="5148751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핵심기술 수출확대를 위한 선순환(선발 ↔ 성과관리 ↔ 판로지원) 구축</a:t>
            </a:r>
          </a:p>
        </p:txBody>
      </p:sp>
      <p:sp>
        <p:nvSpPr>
          <p:cNvPr id="29" name="표 외곽"/>
          <p:cNvSpPr/>
          <p:nvPr/>
        </p:nvSpPr>
        <p:spPr>
          <a:xfrm>
            <a:off x="723130" y="2333739"/>
            <a:ext cx="6300000" cy="255834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0" name="레일"/>
          <p:cNvSpPr/>
          <p:nvPr/>
        </p:nvSpPr>
        <p:spPr>
          <a:xfrm>
            <a:off x="734087" y="2350174"/>
            <a:ext cx="580696" cy="1254522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1" name="레일"/>
          <p:cNvSpPr>
            <a:spLocks noGrp="1"/>
          </p:cNvSpPr>
          <p:nvPr>
            <p:ph type="body" sz="quarter" idx="30"/>
          </p:nvPr>
        </p:nvSpPr>
        <p:spPr>
          <a:xfrm>
            <a:off x="734087" y="2350174"/>
            <a:ext cx="580696" cy="125452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선발·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성과관리</a:t>
            </a:r>
          </a:p>
        </p:txBody>
      </p:sp>
      <p:sp>
        <p:nvSpPr>
          <p:cNvPr id="32" name="머리칸"/>
          <p:cNvSpPr/>
          <p:nvPr/>
        </p:nvSpPr>
        <p:spPr>
          <a:xfrm>
            <a:off x="1347652" y="2372087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3" name="머리칸"/>
          <p:cNvSpPr>
            <a:spLocks noGrp="1"/>
          </p:cNvSpPr>
          <p:nvPr>
            <p:ph type="body" sz="quarter" idx="31"/>
          </p:nvPr>
        </p:nvSpPr>
        <p:spPr>
          <a:xfrm>
            <a:off x="1347652" y="2372087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 핵심기술 연계 강화</a:t>
            </a:r>
          </a:p>
        </p:txBody>
      </p:sp>
      <p:sp>
        <p:nvSpPr>
          <p:cNvPr id="34" name="머리칸"/>
          <p:cNvSpPr/>
          <p:nvPr/>
        </p:nvSpPr>
        <p:spPr>
          <a:xfrm>
            <a:off x="4171696" y="2372087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5" name="머리칸"/>
          <p:cNvSpPr>
            <a:spLocks noGrp="1"/>
          </p:cNvSpPr>
          <p:nvPr>
            <p:ph type="body" sz="quarter" idx="32"/>
          </p:nvPr>
        </p:nvSpPr>
        <p:spPr>
          <a:xfrm>
            <a:off x="4171696" y="2372087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 성과관리 체계 구축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3"/>
          </p:nvPr>
        </p:nvSpPr>
        <p:spPr>
          <a:xfrm>
            <a:off x="1358609" y="2613130"/>
            <a:ext cx="2802130" cy="9860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개척단 내 초격차 기술기업 부족으로 핵심기술 해외 동반진출 및 실증사업 한계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기업선발에 핵심기술 추천트랙 신설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신규 6개社 중 추천트랙으로 3개社(AI정수장) 선발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4"/>
          </p:nvPr>
        </p:nvSpPr>
        <p:spPr>
          <a:xfrm>
            <a:off x="4182652" y="2613130"/>
            <a:ext cx="2802130" cy="9860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수출성과가 일부 기업에 편중, 성과가 미미한(1억원↓) 기업(19%)은 참여율 저조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수출성과(정량), 노력도(정성) 등 평가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우수기업 인센티브 등으로 선순환 체계 마련</a:t>
            </a:r>
          </a:p>
        </p:txBody>
      </p:sp>
      <p:cxnSp>
        <p:nvCxnSpPr>
          <p:cNvPr id="38" name="Connector 25"/>
          <p:cNvCxnSpPr/>
          <p:nvPr/>
        </p:nvCxnSpPr>
        <p:spPr>
          <a:xfrm>
            <a:off x="4171696" y="2646000"/>
            <a:ext cx="0" cy="92034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9" name="레일"/>
          <p:cNvSpPr/>
          <p:nvPr/>
        </p:nvSpPr>
        <p:spPr>
          <a:xfrm>
            <a:off x="734087" y="3621130"/>
            <a:ext cx="580696" cy="1254522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0" name="레일"/>
          <p:cNvSpPr>
            <a:spLocks noGrp="1"/>
          </p:cNvSpPr>
          <p:nvPr>
            <p:ph type="body" sz="quarter" idx="35"/>
          </p:nvPr>
        </p:nvSpPr>
        <p:spPr>
          <a:xfrm>
            <a:off x="734087" y="3621130"/>
            <a:ext cx="580696" cy="125452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맞춤형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 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고도화</a:t>
            </a:r>
          </a:p>
        </p:txBody>
      </p:sp>
      <p:sp>
        <p:nvSpPr>
          <p:cNvPr id="41" name="레일 삼각형"/>
          <p:cNvSpPr/>
          <p:nvPr/>
        </p:nvSpPr>
        <p:spPr>
          <a:xfrm>
            <a:off x="734086" y="3621130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2" name="머리칸"/>
          <p:cNvSpPr/>
          <p:nvPr/>
        </p:nvSpPr>
        <p:spPr>
          <a:xfrm>
            <a:off x="1347652" y="364304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3" name="머리칸"/>
          <p:cNvSpPr>
            <a:spLocks noGrp="1"/>
          </p:cNvSpPr>
          <p:nvPr>
            <p:ph type="body" sz="quarter" idx="36"/>
          </p:nvPr>
        </p:nvSpPr>
        <p:spPr>
          <a:xfrm>
            <a:off x="1347652" y="364304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 수출역량 분석·보강</a:t>
            </a:r>
          </a:p>
        </p:txBody>
      </p:sp>
      <p:sp>
        <p:nvSpPr>
          <p:cNvPr id="44" name="머리칸"/>
          <p:cNvSpPr/>
          <p:nvPr/>
        </p:nvSpPr>
        <p:spPr>
          <a:xfrm>
            <a:off x="4171696" y="364304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5" name="머리칸"/>
          <p:cNvSpPr>
            <a:spLocks noGrp="1"/>
          </p:cNvSpPr>
          <p:nvPr>
            <p:ph type="body" sz="quarter" idx="37"/>
          </p:nvPr>
        </p:nvSpPr>
        <p:spPr>
          <a:xfrm>
            <a:off x="4171696" y="364304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맞춤형 해외진출 지원 고도화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38"/>
          </p:nvPr>
        </p:nvSpPr>
        <p:spPr>
          <a:xfrm>
            <a:off x="1358609" y="3884087"/>
            <a:ext cx="2802130" cy="9860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전시회·상담회 등 해외마케팅 지속 지원에도 직접적인 후속성과 창출 미흡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기업별 특장점 강화 및 취약점 보강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(사례) ‘W’社 태국진출 시범사업 컨설팅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39"/>
          </p:nvPr>
        </p:nvSpPr>
        <p:spPr>
          <a:xfrm>
            <a:off x="4182652" y="3884087"/>
            <a:ext cx="2802130" cy="9860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대륙·국가별 분석 및 세부 진출전략 미흡, 아시아 지역 위주로 마케팅 지원 집중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K-water 글로벌 네트워크 활용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(亞)기존사업 연계, (美)실증 중심 초기진출 기회</a:t>
            </a:r>
          </a:p>
        </p:txBody>
      </p:sp>
      <p:cxnSp>
        <p:nvCxnSpPr>
          <p:cNvPr id="48" name="Connector 32"/>
          <p:cNvCxnSpPr/>
          <p:nvPr/>
        </p:nvCxnSpPr>
        <p:spPr>
          <a:xfrm>
            <a:off x="4171696" y="3916957"/>
            <a:ext cx="0" cy="92034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9" name="핵심성과 박스"/>
          <p:cNvSpPr/>
          <p:nvPr/>
        </p:nvSpPr>
        <p:spPr>
          <a:xfrm>
            <a:off x="723130" y="4979739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0" name="핵심성과 라벨"/>
          <p:cNvSpPr/>
          <p:nvPr/>
        </p:nvSpPr>
        <p:spPr>
          <a:xfrm>
            <a:off x="756000" y="5018087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51" name="핵심성과 라벨"/>
          <p:cNvSpPr>
            <a:spLocks noGrp="1"/>
          </p:cNvSpPr>
          <p:nvPr>
            <p:ph type="body" sz="quarter" idx="40"/>
          </p:nvPr>
        </p:nvSpPr>
        <p:spPr>
          <a:xfrm>
            <a:off x="756000" y="5018087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2" name="핵심성과 문구"/>
          <p:cNvSpPr>
            <a:spLocks noGrp="1"/>
          </p:cNvSpPr>
          <p:nvPr>
            <p:ph type="body" sz="quarter" idx="41"/>
          </p:nvPr>
        </p:nvSpPr>
        <p:spPr>
          <a:xfrm>
            <a:off x="1501043" y="4996174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해외시장개척단 지원기업 확대(62 → 68개社) 및 본 사업 수주 전 맞춤형 시범사업 지원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95 서사 · 해외실증 동반진출(추진배경 → 방향 → 정부지원 → 글로벌 테스트베드 → 초격차 기술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해외실증부터 동반진출까지, 민간과 함께 도약하는 K-water</a:t>
            </a:r>
          </a:p>
        </p:txBody>
      </p:sp>
      <p:sp>
        <p:nvSpPr>
          <p:cNvPr id="15" name="표 외곽"/>
          <p:cNvSpPr/>
          <p:nvPr/>
        </p:nvSpPr>
        <p:spPr>
          <a:xfrm>
            <a:off x="536870" y="1117565"/>
            <a:ext cx="6300000" cy="1035391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레일"/>
          <p:cNvSpPr/>
          <p:nvPr/>
        </p:nvSpPr>
        <p:spPr>
          <a:xfrm>
            <a:off x="547826" y="1134000"/>
            <a:ext cx="580696" cy="44373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134000"/>
            <a:ext cx="580696" cy="443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8" name="태그"/>
          <p:cNvSpPr/>
          <p:nvPr/>
        </p:nvSpPr>
        <p:spPr>
          <a:xfrm>
            <a:off x="1161391" y="1177826"/>
            <a:ext cx="621696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태그"/>
          <p:cNvSpPr>
            <a:spLocks noGrp="1"/>
          </p:cNvSpPr>
          <p:nvPr>
            <p:ph type="body" sz="quarter" idx="23"/>
          </p:nvPr>
        </p:nvSpPr>
        <p:spPr>
          <a:xfrm>
            <a:off x="1161391" y="1177826"/>
            <a:ext cx="62169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기업현실</a:t>
            </a:r>
          </a:p>
        </p:txBody>
      </p:sp>
      <p:sp>
        <p:nvSpPr>
          <p:cNvPr id="20" name="태그 설명"/>
          <p:cNvSpPr>
            <a:spLocks noGrp="1"/>
          </p:cNvSpPr>
          <p:nvPr>
            <p:ph type="body" sz="quarter" idx="24"/>
          </p:nvPr>
        </p:nvSpPr>
        <p:spPr>
          <a:xfrm>
            <a:off x="1826913" y="1166870"/>
            <a:ext cx="4982565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해외진출시 해당국 실적확보 필요하나, 현지 수요처 확보 및 예산 부족 등 난관</a:t>
            </a:r>
          </a:p>
        </p:txBody>
      </p:sp>
      <p:sp>
        <p:nvSpPr>
          <p:cNvPr id="21" name="태그"/>
          <p:cNvSpPr/>
          <p:nvPr/>
        </p:nvSpPr>
        <p:spPr>
          <a:xfrm>
            <a:off x="1161391" y="1375043"/>
            <a:ext cx="621696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태그"/>
          <p:cNvSpPr>
            <a:spLocks noGrp="1"/>
          </p:cNvSpPr>
          <p:nvPr>
            <p:ph type="body" sz="quarter" idx="25"/>
          </p:nvPr>
        </p:nvSpPr>
        <p:spPr>
          <a:xfrm>
            <a:off x="1161391" y="1375043"/>
            <a:ext cx="62169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</a:t>
            </a:r>
          </a:p>
        </p:txBody>
      </p:sp>
      <p:sp>
        <p:nvSpPr>
          <p:cNvPr id="23" name="태그 설명"/>
          <p:cNvSpPr>
            <a:spLocks noGrp="1"/>
          </p:cNvSpPr>
          <p:nvPr>
            <p:ph type="body" sz="quarter" idx="26"/>
          </p:nvPr>
        </p:nvSpPr>
        <p:spPr>
          <a:xfrm>
            <a:off x="1826913" y="1364087"/>
            <a:ext cx="4982565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공기업의 공신력과 해외투자사업·ODA 등 수행으로 글로벌 역량 및 네트워크 보유</a:t>
            </a:r>
          </a:p>
        </p:txBody>
      </p:sp>
      <p:sp>
        <p:nvSpPr>
          <p:cNvPr id="24" name="레일"/>
          <p:cNvSpPr/>
          <p:nvPr/>
        </p:nvSpPr>
        <p:spPr>
          <a:xfrm>
            <a:off x="547826" y="1594174"/>
            <a:ext cx="580696" cy="542348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5" name="레일"/>
          <p:cNvSpPr>
            <a:spLocks noGrp="1"/>
          </p:cNvSpPr>
          <p:nvPr>
            <p:ph type="body" sz="quarter" idx="27"/>
          </p:nvPr>
        </p:nvSpPr>
        <p:spPr>
          <a:xfrm>
            <a:off x="547826" y="1594174"/>
            <a:ext cx="580696" cy="542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추진방향</a:t>
            </a:r>
          </a:p>
        </p:txBody>
      </p:sp>
      <p:sp>
        <p:nvSpPr>
          <p:cNvPr id="26" name="레일 삼각형"/>
          <p:cNvSpPr/>
          <p:nvPr/>
        </p:nvSpPr>
        <p:spPr>
          <a:xfrm>
            <a:off x="547826" y="1594173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7" name="칸 본문"/>
          <p:cNvSpPr>
            <a:spLocks noGrp="1"/>
          </p:cNvSpPr>
          <p:nvPr>
            <p:ph type="body" sz="quarter" idx="28"/>
          </p:nvPr>
        </p:nvSpPr>
        <p:spPr>
          <a:xfrm>
            <a:off x="1172348" y="1616087"/>
            <a:ext cx="2802130" cy="514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역량 활용 ‘글로벌 실증사업’ 지원: 정부지원 + 글로벌TB + 초격차기술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9"/>
          </p:nvPr>
        </p:nvSpPr>
        <p:spPr>
          <a:xfrm>
            <a:off x="3996391" y="1616087"/>
            <a:ext cx="2802130" cy="514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K-water가 앞장서는 ‘물기업 동반진출’ 확대: 투자사업 + 수주사업 + ODA사업</a:t>
            </a:r>
          </a:p>
        </p:txBody>
      </p:sp>
      <p:cxnSp>
        <p:nvCxnSpPr>
          <p:cNvPr id="29" name="Connector 21"/>
          <p:cNvCxnSpPr/>
          <p:nvPr/>
        </p:nvCxnSpPr>
        <p:spPr>
          <a:xfrm>
            <a:off x="3985435" y="1648957"/>
            <a:ext cx="0" cy="44921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0" name="형광 밑줄"/>
          <p:cNvSpPr/>
          <p:nvPr/>
        </p:nvSpPr>
        <p:spPr>
          <a:xfrm>
            <a:off x="536870" y="2426870"/>
            <a:ext cx="3984746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1" name="소제목"/>
          <p:cNvSpPr>
            <a:spLocks noGrp="1"/>
          </p:cNvSpPr>
          <p:nvPr>
            <p:ph type="body" sz="quarter" idx="30"/>
          </p:nvPr>
        </p:nvSpPr>
        <p:spPr>
          <a:xfrm>
            <a:off x="536870" y="2273478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물기업 해외 진출의 스프링보드, K-water 글로벌 실증사업 지원</a:t>
            </a:r>
          </a:p>
        </p:txBody>
      </p:sp>
      <p:sp>
        <p:nvSpPr>
          <p:cNvPr id="32" name="태그칩"/>
          <p:cNvSpPr/>
          <p:nvPr/>
        </p:nvSpPr>
        <p:spPr>
          <a:xfrm>
            <a:off x="4620224" y="2306348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3" name="태그칩"/>
          <p:cNvSpPr>
            <a:spLocks noGrp="1"/>
          </p:cNvSpPr>
          <p:nvPr>
            <p:ph type="body" sz="quarter" idx="31"/>
          </p:nvPr>
        </p:nvSpPr>
        <p:spPr>
          <a:xfrm>
            <a:off x="4620224" y="2306348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34" name="표 외곽"/>
          <p:cNvSpPr/>
          <p:nvPr/>
        </p:nvSpPr>
        <p:spPr>
          <a:xfrm>
            <a:off x="536870" y="2558348"/>
            <a:ext cx="6300000" cy="386217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5" name="레일"/>
          <p:cNvSpPr/>
          <p:nvPr/>
        </p:nvSpPr>
        <p:spPr>
          <a:xfrm>
            <a:off x="547826" y="2574783"/>
            <a:ext cx="580696" cy="90391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6" name="레일"/>
          <p:cNvSpPr>
            <a:spLocks noGrp="1"/>
          </p:cNvSpPr>
          <p:nvPr>
            <p:ph type="body" sz="quarter" idx="32"/>
          </p:nvPr>
        </p:nvSpPr>
        <p:spPr>
          <a:xfrm>
            <a:off x="547826" y="2574783"/>
            <a:ext cx="580696" cy="9039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 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 원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3"/>
          </p:nvPr>
        </p:nvSpPr>
        <p:spPr>
          <a:xfrm>
            <a:off x="1172348" y="2596696"/>
            <a:ext cx="2545399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지속 중기부·외교부·기후부 등 정책사업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중기부 동반진출지원사업 2개국(2건), 5개社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외교부 포용적비즈니스(IBS) 2개국, 2개社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기후부 민관협력지원사업 6개국(7건), 7개社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4"/>
          </p:nvPr>
        </p:nvSpPr>
        <p:spPr>
          <a:xfrm>
            <a:off x="3739660" y="2596696"/>
            <a:ext cx="3058862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 수출선도형 시범구매 전담기관 참여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조달청 협업 제안을 통해 기존 시범구매사업 내 ‘물·기후테크’ 분야 신설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조달청 시범구매·제도운영 / 물기업 조달 및 실증운영 / K-water 수요처 발굴·지원</a:t>
            </a:r>
          </a:p>
        </p:txBody>
      </p:sp>
      <p:cxnSp>
        <p:nvCxnSpPr>
          <p:cNvPr id="39" name="Connector 29"/>
          <p:cNvCxnSpPr/>
          <p:nvPr/>
        </p:nvCxnSpPr>
        <p:spPr>
          <a:xfrm>
            <a:off x="3728704" y="2629565"/>
            <a:ext cx="0" cy="81078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0" name="레일"/>
          <p:cNvSpPr/>
          <p:nvPr/>
        </p:nvSpPr>
        <p:spPr>
          <a:xfrm>
            <a:off x="547826" y="3495130"/>
            <a:ext cx="580696" cy="1846174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1" name="레일"/>
          <p:cNvSpPr>
            <a:spLocks noGrp="1"/>
          </p:cNvSpPr>
          <p:nvPr>
            <p:ph type="body" sz="quarter" idx="35"/>
          </p:nvPr>
        </p:nvSpPr>
        <p:spPr>
          <a:xfrm>
            <a:off x="547826" y="3495130"/>
            <a:ext cx="580696" cy="1846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글로벌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테스트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베 드</a:t>
            </a:r>
          </a:p>
        </p:txBody>
      </p:sp>
      <p:sp>
        <p:nvSpPr>
          <p:cNvPr id="42" name="레일 삼각형"/>
          <p:cNvSpPr/>
          <p:nvPr/>
        </p:nvSpPr>
        <p:spPr>
          <a:xfrm>
            <a:off x="547826" y="3495130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3" name="배너"/>
          <p:cNvSpPr/>
          <p:nvPr/>
        </p:nvSpPr>
        <p:spPr>
          <a:xfrm>
            <a:off x="1161391" y="3517043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4" name="배너"/>
          <p:cNvSpPr>
            <a:spLocks noGrp="1"/>
          </p:cNvSpPr>
          <p:nvPr>
            <p:ph type="body" sz="quarter" idx="36"/>
          </p:nvPr>
        </p:nvSpPr>
        <p:spPr>
          <a:xfrm>
            <a:off x="1161391" y="3517043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최초 K-water 네트워크 활용, 美 CWA와 글로벌 테스트베드 제1호 협약(’25.9)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37"/>
          </p:nvPr>
        </p:nvSpPr>
        <p:spPr>
          <a:xfrm>
            <a:off x="1172348" y="3752609"/>
            <a:ext cx="3964972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CWA란? 미국 Lake Erie 유역 물 클러스터로 21개 이상 유틸리티와 협업 및 다양한 파일럿 프로젝트 수행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협력내용 테스트베드 제공, 실증기업 컨설팅(관세, 법률, 인증 등), 미국 현지 물산업 수요기술 주기적 정보공유 및 기술홍보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현지 수질오염 이슈로 수질계측기(다항목) 기업 테스트베드 진행 중(~’26)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38"/>
          </p:nvPr>
        </p:nvSpPr>
        <p:spPr>
          <a:xfrm>
            <a:off x="5159233" y="3752609"/>
            <a:ext cx="1639289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사진: 협약식(MOU Signing Ceremony)</a:t>
            </a:r>
          </a:p>
        </p:txBody>
      </p:sp>
      <p:cxnSp>
        <p:nvCxnSpPr>
          <p:cNvPr id="47" name="Connector 35"/>
          <p:cNvCxnSpPr/>
          <p:nvPr/>
        </p:nvCxnSpPr>
        <p:spPr>
          <a:xfrm>
            <a:off x="5148276" y="3785478"/>
            <a:ext cx="0" cy="865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8" name="단계"/>
          <p:cNvSpPr/>
          <p:nvPr/>
        </p:nvSpPr>
        <p:spPr>
          <a:xfrm>
            <a:off x="1161391" y="4700348"/>
            <a:ext cx="282404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9" name="단계"/>
          <p:cNvSpPr>
            <a:spLocks noGrp="1"/>
          </p:cNvSpPr>
          <p:nvPr>
            <p:ph type="body" sz="quarter" idx="39"/>
          </p:nvPr>
        </p:nvSpPr>
        <p:spPr>
          <a:xfrm>
            <a:off x="1161391" y="4700348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일회성 검증에 그쳐, 후속성과 연계 미흡</a:t>
            </a:r>
          </a:p>
        </p:txBody>
      </p:sp>
      <p:sp>
        <p:nvSpPr>
          <p:cNvPr id="50" name="단계"/>
          <p:cNvSpPr/>
          <p:nvPr/>
        </p:nvSpPr>
        <p:spPr>
          <a:xfrm>
            <a:off x="3985435" y="4700348"/>
            <a:ext cx="2824043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1" name="단계"/>
          <p:cNvSpPr>
            <a:spLocks noGrp="1"/>
          </p:cNvSpPr>
          <p:nvPr>
            <p:ph type="body" sz="quarter" idx="40"/>
          </p:nvPr>
        </p:nvSpPr>
        <p:spPr>
          <a:xfrm>
            <a:off x="3985435" y="4700348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협업기반 지속 실증을 통한 검증 및 상용화 추진</a:t>
            </a:r>
          </a:p>
        </p:txBody>
      </p:sp>
      <p:sp>
        <p:nvSpPr>
          <p:cNvPr id="52" name="단계 삼각형"/>
          <p:cNvSpPr/>
          <p:nvPr/>
        </p:nvSpPr>
        <p:spPr>
          <a:xfrm>
            <a:off x="3985434" y="4700347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3" name="칸 본문"/>
          <p:cNvSpPr txBox="1"/>
          <p:nvPr/>
        </p:nvSpPr>
        <p:spPr>
          <a:xfrm>
            <a:off x="1172348" y="4952348"/>
            <a:ext cx="2802130" cy="383478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sp>
        <p:nvSpPr>
          <p:cNvPr id="54" name="칸 본문"/>
          <p:cNvSpPr txBox="1"/>
          <p:nvPr/>
        </p:nvSpPr>
        <p:spPr>
          <a:xfrm>
            <a:off x="3996391" y="4952348"/>
            <a:ext cx="2802130" cy="383478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55" name="Connector 41"/>
          <p:cNvCxnSpPr/>
          <p:nvPr/>
        </p:nvCxnSpPr>
        <p:spPr>
          <a:xfrm>
            <a:off x="3985435" y="4985217"/>
            <a:ext cx="0" cy="31774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6" name="레일"/>
          <p:cNvSpPr/>
          <p:nvPr/>
        </p:nvSpPr>
        <p:spPr>
          <a:xfrm>
            <a:off x="547826" y="5357739"/>
            <a:ext cx="580696" cy="1046348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7" name="레일"/>
          <p:cNvSpPr>
            <a:spLocks noGrp="1"/>
          </p:cNvSpPr>
          <p:nvPr>
            <p:ph type="body" sz="quarter" idx="41"/>
          </p:nvPr>
        </p:nvSpPr>
        <p:spPr>
          <a:xfrm>
            <a:off x="547826" y="5357739"/>
            <a:ext cx="580696" cy="1046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초격차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 술</a:t>
            </a:r>
          </a:p>
        </p:txBody>
      </p:sp>
      <p:sp>
        <p:nvSpPr>
          <p:cNvPr id="58" name="레일 삼각형"/>
          <p:cNvSpPr/>
          <p:nvPr/>
        </p:nvSpPr>
        <p:spPr>
          <a:xfrm>
            <a:off x="547826" y="5357739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9" name="단계"/>
          <p:cNvSpPr/>
          <p:nvPr/>
        </p:nvSpPr>
        <p:spPr>
          <a:xfrm>
            <a:off x="1161391" y="5379652"/>
            <a:ext cx="355620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0" name="단계"/>
          <p:cNvSpPr>
            <a:spLocks noGrp="1"/>
          </p:cNvSpPr>
          <p:nvPr>
            <p:ph type="body" sz="quarter" idx="42"/>
          </p:nvPr>
        </p:nvSpPr>
        <p:spPr>
          <a:xfrm>
            <a:off x="1161391" y="5379652"/>
            <a:ext cx="355620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AI정수장 기술보유 기업 해외 실증사업 최초 수행</a:t>
            </a:r>
          </a:p>
        </p:txBody>
      </p:sp>
      <p:sp>
        <p:nvSpPr>
          <p:cNvPr id="61" name="단계"/>
          <p:cNvSpPr/>
          <p:nvPr/>
        </p:nvSpPr>
        <p:spPr>
          <a:xfrm>
            <a:off x="4717594" y="5379652"/>
            <a:ext cx="2091884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2" name="단계"/>
          <p:cNvSpPr>
            <a:spLocks noGrp="1"/>
          </p:cNvSpPr>
          <p:nvPr>
            <p:ph type="body" sz="quarter" idx="43"/>
          </p:nvPr>
        </p:nvSpPr>
        <p:spPr>
          <a:xfrm>
            <a:off x="4717594" y="5379652"/>
            <a:ext cx="2091884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우수사례</a:t>
            </a:r>
          </a:p>
        </p:txBody>
      </p:sp>
      <p:sp>
        <p:nvSpPr>
          <p:cNvPr id="63" name="단계 삼각형"/>
          <p:cNvSpPr/>
          <p:nvPr/>
        </p:nvSpPr>
        <p:spPr>
          <a:xfrm>
            <a:off x="4717594" y="5379652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4" name="칸 본문"/>
          <p:cNvSpPr>
            <a:spLocks noGrp="1"/>
          </p:cNvSpPr>
          <p:nvPr>
            <p:ph type="body" sz="quarter" idx="44"/>
          </p:nvPr>
        </p:nvSpPr>
        <p:spPr>
          <a:xfrm>
            <a:off x="1172348" y="5631652"/>
            <a:ext cx="3534290" cy="766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‘국제특허’ 취득한 AI정수장 기술 최초 해외 실증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초격차 기술의 표준화·세계화를 통한 기업성장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AI정수장 구축 → 국제특허 → 해외실증</a:t>
            </a:r>
          </a:p>
        </p:txBody>
      </p:sp>
      <p:sp>
        <p:nvSpPr>
          <p:cNvPr id="65" name="칸 본문"/>
          <p:cNvSpPr>
            <a:spLocks noGrp="1"/>
          </p:cNvSpPr>
          <p:nvPr>
            <p:ph type="body" sz="quarter" idx="45"/>
          </p:nvPr>
        </p:nvSpPr>
        <p:spPr>
          <a:xfrm>
            <a:off x="4728551" y="5631652"/>
            <a:ext cx="2069971" cy="766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‘A’社 베트남 롱안성 정수장 약품공정 AI제어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AI정수장 해외실증 레퍼런스 최초 확보로 초격차 기술력 입증</a:t>
            </a:r>
          </a:p>
        </p:txBody>
      </p:sp>
      <p:cxnSp>
        <p:nvCxnSpPr>
          <p:cNvPr id="66" name="Connector 49"/>
          <p:cNvCxnSpPr/>
          <p:nvPr/>
        </p:nvCxnSpPr>
        <p:spPr>
          <a:xfrm>
            <a:off x="4717594" y="5664522"/>
            <a:ext cx="0" cy="70121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7" name="핵심성과 박스"/>
          <p:cNvSpPr/>
          <p:nvPr/>
        </p:nvSpPr>
        <p:spPr>
          <a:xfrm>
            <a:off x="536870" y="6508174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8" name="핵심성과 라벨"/>
          <p:cNvSpPr/>
          <p:nvPr/>
        </p:nvSpPr>
        <p:spPr>
          <a:xfrm>
            <a:off x="569739" y="6546522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69" name="핵심성과 라벨"/>
          <p:cNvSpPr>
            <a:spLocks noGrp="1"/>
          </p:cNvSpPr>
          <p:nvPr>
            <p:ph type="body" sz="quarter" idx="46"/>
          </p:nvPr>
        </p:nvSpPr>
        <p:spPr>
          <a:xfrm>
            <a:off x="569739" y="6546522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70" name="핵심성과 문구"/>
          <p:cNvSpPr>
            <a:spLocks noGrp="1"/>
          </p:cNvSpPr>
          <p:nvPr>
            <p:ph type="body" sz="quarter" idx="47"/>
          </p:nvPr>
        </p:nvSpPr>
        <p:spPr>
          <a:xfrm>
            <a:off x="1314783" y="6524609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18개 기업에 9개국 15건의 현지 실증사업 제공으로 민간기업 해외시장 교두보 확보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96 서사 · 동반진출(투자사업 · 수주사업 · ODA사업 3갈래) → 추진성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3778976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K-water 핵심기술 동반진출로 국산기술 및 기자재 판로확대</a:t>
            </a:r>
          </a:p>
        </p:txBody>
      </p:sp>
      <p:sp>
        <p:nvSpPr>
          <p:cNvPr id="11" name="태그칩"/>
          <p:cNvSpPr/>
          <p:nvPr/>
        </p:nvSpPr>
        <p:spPr>
          <a:xfrm>
            <a:off x="4600716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4600716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태그칩"/>
          <p:cNvSpPr/>
          <p:nvPr/>
        </p:nvSpPr>
        <p:spPr>
          <a:xfrm>
            <a:off x="5151837" y="810783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4" name="태그칩"/>
          <p:cNvSpPr>
            <a:spLocks noGrp="1"/>
          </p:cNvSpPr>
          <p:nvPr>
            <p:ph type="body" sz="quarter" idx="22"/>
          </p:nvPr>
        </p:nvSpPr>
        <p:spPr>
          <a:xfrm>
            <a:off x="5151837" y="810783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5" name="표 외곽"/>
          <p:cNvSpPr/>
          <p:nvPr/>
        </p:nvSpPr>
        <p:spPr>
          <a:xfrm>
            <a:off x="723130" y="1062783"/>
            <a:ext cx="6300000" cy="183521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레일"/>
          <p:cNvSpPr/>
          <p:nvPr/>
        </p:nvSpPr>
        <p:spPr>
          <a:xfrm>
            <a:off x="734087" y="1079217"/>
            <a:ext cx="580696" cy="1802348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레일"/>
          <p:cNvSpPr>
            <a:spLocks noGrp="1"/>
          </p:cNvSpPr>
          <p:nvPr>
            <p:ph type="body" sz="quarter" idx="23"/>
          </p:nvPr>
        </p:nvSpPr>
        <p:spPr>
          <a:xfrm>
            <a:off x="734087" y="1079217"/>
            <a:ext cx="580696" cy="1802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동반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진출</a:t>
            </a:r>
          </a:p>
        </p:txBody>
      </p:sp>
      <p:sp>
        <p:nvSpPr>
          <p:cNvPr id="18" name="머리칸"/>
          <p:cNvSpPr/>
          <p:nvPr/>
        </p:nvSpPr>
        <p:spPr>
          <a:xfrm>
            <a:off x="1347652" y="110113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9" name="머리칸"/>
          <p:cNvSpPr>
            <a:spLocks noGrp="1"/>
          </p:cNvSpPr>
          <p:nvPr>
            <p:ph type="body" sz="quarter" idx="24"/>
          </p:nvPr>
        </p:nvSpPr>
        <p:spPr>
          <a:xfrm>
            <a:off x="1347652" y="110113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투자사업</a:t>
            </a:r>
          </a:p>
        </p:txBody>
      </p:sp>
      <p:sp>
        <p:nvSpPr>
          <p:cNvPr id="20" name="머리칸"/>
          <p:cNvSpPr/>
          <p:nvPr/>
        </p:nvSpPr>
        <p:spPr>
          <a:xfrm>
            <a:off x="3230348" y="110113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1" name="머리칸"/>
          <p:cNvSpPr>
            <a:spLocks noGrp="1"/>
          </p:cNvSpPr>
          <p:nvPr>
            <p:ph type="body" sz="quarter" idx="25"/>
          </p:nvPr>
        </p:nvSpPr>
        <p:spPr>
          <a:xfrm>
            <a:off x="3230348" y="110113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수주사업</a:t>
            </a:r>
          </a:p>
        </p:txBody>
      </p:sp>
      <p:sp>
        <p:nvSpPr>
          <p:cNvPr id="22" name="머리칸"/>
          <p:cNvSpPr/>
          <p:nvPr/>
        </p:nvSpPr>
        <p:spPr>
          <a:xfrm>
            <a:off x="5113043" y="110113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3" name="머리칸"/>
          <p:cNvSpPr>
            <a:spLocks noGrp="1"/>
          </p:cNvSpPr>
          <p:nvPr>
            <p:ph type="body" sz="quarter" idx="26"/>
          </p:nvPr>
        </p:nvSpPr>
        <p:spPr>
          <a:xfrm>
            <a:off x="5113043" y="110113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ODA사업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7"/>
          </p:nvPr>
        </p:nvSpPr>
        <p:spPr>
          <a:xfrm>
            <a:off x="1358609" y="1342174"/>
            <a:ext cx="1860783" cy="1533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필리핀 Angat댐 수력 등 6개국 7건 투자사업 수행 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&lt;자금조달 등 사업비 직접 투자&gt;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베트남 첫 진출, 솔로몬 수력댐 건설 중(’24.11 착공) ➡ ‘H’社 건설기성액 등(96억원)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8"/>
          </p:nvPr>
        </p:nvSpPr>
        <p:spPr>
          <a:xfrm>
            <a:off x="3241304" y="1342174"/>
            <a:ext cx="1860783" cy="1533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인니 Hasang 수력발전소 운영·유지사업 등 3개국 3건 수행 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&lt;외국정부·기업 등 발주사업 수주&gt;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보츠와나 통합물관리 시스템 재정사업 수주(’25.7 착공) ➡ ‘D’社 설계용역 등(73억원)</a:t>
            </a:r>
          </a:p>
        </p:txBody>
      </p:sp>
      <p:cxnSp>
        <p:nvCxnSpPr>
          <p:cNvPr id="26" name="Connector 14"/>
          <p:cNvCxnSpPr/>
          <p:nvPr/>
        </p:nvCxnSpPr>
        <p:spPr>
          <a:xfrm>
            <a:off x="3230348" y="1375043"/>
            <a:ext cx="0" cy="1468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7" name="칸 본문"/>
          <p:cNvSpPr>
            <a:spLocks noGrp="1"/>
          </p:cNvSpPr>
          <p:nvPr>
            <p:ph type="body" sz="quarter" idx="29"/>
          </p:nvPr>
        </p:nvSpPr>
        <p:spPr>
          <a:xfrm>
            <a:off x="5124000" y="1342174"/>
            <a:ext cx="1860783" cy="1533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필리핀 AI기반 홍수예경보시스템 등 8개국 12건 수행 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&lt;정부의 ODA 등 정책자금 활용&gt;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전략적 협상으로 장기현안 사업 발주 및 기업 매출 증대 기여 ➡ ‘D’社 시스템 기자재 등(128억원)</a:t>
            </a:r>
          </a:p>
        </p:txBody>
      </p:sp>
      <p:cxnSp>
        <p:nvCxnSpPr>
          <p:cNvPr id="28" name="Connector 16"/>
          <p:cNvCxnSpPr/>
          <p:nvPr/>
        </p:nvCxnSpPr>
        <p:spPr>
          <a:xfrm>
            <a:off x="5113043" y="1375043"/>
            <a:ext cx="0" cy="1468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9" name="핵심성과 박스"/>
          <p:cNvSpPr/>
          <p:nvPr/>
        </p:nvSpPr>
        <p:spPr>
          <a:xfrm>
            <a:off x="723130" y="2985652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0" name="핵심성과 라벨"/>
          <p:cNvSpPr/>
          <p:nvPr/>
        </p:nvSpPr>
        <p:spPr>
          <a:xfrm>
            <a:off x="756000" y="3024000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31" name="핵심성과 라벨"/>
          <p:cNvSpPr>
            <a:spLocks noGrp="1"/>
          </p:cNvSpPr>
          <p:nvPr>
            <p:ph type="body" sz="quarter" idx="30"/>
          </p:nvPr>
        </p:nvSpPr>
        <p:spPr>
          <a:xfrm>
            <a:off x="756000" y="3024000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2" name="핵심성과 문구"/>
          <p:cNvSpPr>
            <a:spLocks noGrp="1"/>
          </p:cNvSpPr>
          <p:nvPr>
            <p:ph type="body" sz="quarter" idx="31"/>
          </p:nvPr>
        </p:nvSpPr>
        <p:spPr>
          <a:xfrm>
            <a:off x="1501043" y="3002087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해외사업 동반진출로 민간 건설사, 중소 기자재 기업 등 ’25년 297억원 해외매출 확보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97 서사 · 수요 중심 데이터 개방 → 데이터 정비 → 활용도 편의성 개선 → 추진성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표 외곽"/>
          <p:cNvSpPr/>
          <p:nvPr/>
        </p:nvSpPr>
        <p:spPr>
          <a:xfrm>
            <a:off x="536870" y="766957"/>
            <a:ext cx="6300000" cy="476609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레일"/>
          <p:cNvSpPr/>
          <p:nvPr/>
        </p:nvSpPr>
        <p:spPr>
          <a:xfrm>
            <a:off x="547826" y="783391"/>
            <a:ext cx="580696" cy="44373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레일"/>
          <p:cNvSpPr>
            <a:spLocks noGrp="1"/>
          </p:cNvSpPr>
          <p:nvPr>
            <p:ph type="body" sz="quarter" idx="20"/>
          </p:nvPr>
        </p:nvSpPr>
        <p:spPr>
          <a:xfrm>
            <a:off x="547826" y="783391"/>
            <a:ext cx="580696" cy="443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3" name="태그"/>
          <p:cNvSpPr/>
          <p:nvPr/>
        </p:nvSpPr>
        <p:spPr>
          <a:xfrm>
            <a:off x="1161391" y="827217"/>
            <a:ext cx="471741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4" name="태그"/>
          <p:cNvSpPr>
            <a:spLocks noGrp="1"/>
          </p:cNvSpPr>
          <p:nvPr>
            <p:ph type="body" sz="quarter" idx="21"/>
          </p:nvPr>
        </p:nvSpPr>
        <p:spPr>
          <a:xfrm>
            <a:off x="1161391" y="827217"/>
            <a:ext cx="47174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정책</a:t>
            </a:r>
          </a:p>
        </p:txBody>
      </p:sp>
      <p:sp>
        <p:nvSpPr>
          <p:cNvPr id="15" name="태그 설명"/>
          <p:cNvSpPr>
            <a:spLocks noGrp="1"/>
          </p:cNvSpPr>
          <p:nvPr>
            <p:ph type="body" sz="quarter" idx="22"/>
          </p:nvPr>
        </p:nvSpPr>
        <p:spPr>
          <a:xfrm>
            <a:off x="1676958" y="816261"/>
            <a:ext cx="5132520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공공데이터 활용한 민간성장 지원</a:t>
            </a:r>
          </a:p>
        </p:txBody>
      </p:sp>
      <p:sp>
        <p:nvSpPr>
          <p:cNvPr id="16" name="태그"/>
          <p:cNvSpPr/>
          <p:nvPr/>
        </p:nvSpPr>
        <p:spPr>
          <a:xfrm>
            <a:off x="1161391" y="1024435"/>
            <a:ext cx="471741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"/>
          <p:cNvSpPr>
            <a:spLocks noGrp="1"/>
          </p:cNvSpPr>
          <p:nvPr>
            <p:ph type="body" sz="quarter" idx="23"/>
          </p:nvPr>
        </p:nvSpPr>
        <p:spPr>
          <a:xfrm>
            <a:off x="1161391" y="1024435"/>
            <a:ext cx="47174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평가단</a:t>
            </a:r>
          </a:p>
        </p:txBody>
      </p:sp>
      <p:sp>
        <p:nvSpPr>
          <p:cNvPr id="18" name="태그 설명"/>
          <p:cNvSpPr>
            <a:spLocks noGrp="1"/>
          </p:cNvSpPr>
          <p:nvPr>
            <p:ph type="body" sz="quarter" idx="24"/>
          </p:nvPr>
        </p:nvSpPr>
        <p:spPr>
          <a:xfrm>
            <a:off x="1676958" y="1013478"/>
            <a:ext cx="5132520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데이터 활용도 제고 및 수요자 협업 필요</a:t>
            </a:r>
          </a:p>
        </p:txBody>
      </p:sp>
      <p:sp>
        <p:nvSpPr>
          <p:cNvPr id="19" name="번호 띠"/>
          <p:cNvSpPr/>
          <p:nvPr/>
        </p:nvSpPr>
        <p:spPr>
          <a:xfrm>
            <a:off x="536870" y="1386000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0" name="번호 탭"/>
          <p:cNvSpPr/>
          <p:nvPr/>
        </p:nvSpPr>
        <p:spPr>
          <a:xfrm>
            <a:off x="558782" y="1407913"/>
            <a:ext cx="471131" cy="262956"/>
          </a:xfrm>
          <a:custGeom>
            <a:avLst/>
            <a:gdLst/>
            <a:ahLst/>
            <a:cxnLst/>
            <a:rect l="l" t="t" r="r" b="b"/>
            <a:pathLst>
              <a:path w="471131" h="262956">
                <a:moveTo>
                  <a:pt x="0" y="0"/>
                </a:moveTo>
                <a:lnTo>
                  <a:pt x="394435" y="0"/>
                </a:lnTo>
                <a:lnTo>
                  <a:pt x="471131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1" name="번호 탭 빗면"/>
          <p:cNvSpPr/>
          <p:nvPr/>
        </p:nvSpPr>
        <p:spPr>
          <a:xfrm>
            <a:off x="953217" y="1407913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6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2" name="번호"/>
          <p:cNvSpPr>
            <a:spLocks noGrp="1"/>
          </p:cNvSpPr>
          <p:nvPr>
            <p:ph type="body" sz="quarter" idx="25"/>
          </p:nvPr>
        </p:nvSpPr>
        <p:spPr>
          <a:xfrm>
            <a:off x="558783" y="1386000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23" name="번호 띠 제목"/>
          <p:cNvSpPr>
            <a:spLocks noGrp="1"/>
          </p:cNvSpPr>
          <p:nvPr>
            <p:ph type="body" sz="quarter" idx="26"/>
          </p:nvPr>
        </p:nvSpPr>
        <p:spPr>
          <a:xfrm>
            <a:off x="1183304" y="1407913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수요를 반영한 고품질 데이터 개방 및 활용도 제고</a:t>
            </a:r>
          </a:p>
        </p:txBody>
      </p:sp>
      <p:sp>
        <p:nvSpPr>
          <p:cNvPr id="24" name="번호 띠 칩"/>
          <p:cNvSpPr/>
          <p:nvPr/>
        </p:nvSpPr>
        <p:spPr>
          <a:xfrm>
            <a:off x="6022385" y="1451739"/>
            <a:ext cx="74874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5" name="번호 띠 칩"/>
          <p:cNvSpPr>
            <a:spLocks noGrp="1"/>
          </p:cNvSpPr>
          <p:nvPr>
            <p:ph type="body" sz="quarter" idx="27"/>
          </p:nvPr>
        </p:nvSpPr>
        <p:spPr>
          <a:xfrm>
            <a:off x="6022385" y="1451739"/>
            <a:ext cx="74874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26" name="번호 띠 칩"/>
          <p:cNvSpPr/>
          <p:nvPr/>
        </p:nvSpPr>
        <p:spPr>
          <a:xfrm>
            <a:off x="5449351" y="1451739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7" name="번호 띠 칩"/>
          <p:cNvSpPr>
            <a:spLocks noGrp="1"/>
          </p:cNvSpPr>
          <p:nvPr>
            <p:ph type="body" sz="quarter" idx="28"/>
          </p:nvPr>
        </p:nvSpPr>
        <p:spPr>
          <a:xfrm>
            <a:off x="5449351" y="1451739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28" name="표 외곽"/>
          <p:cNvSpPr/>
          <p:nvPr/>
        </p:nvSpPr>
        <p:spPr>
          <a:xfrm>
            <a:off x="536870" y="1736609"/>
            <a:ext cx="6300000" cy="3582783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9" name="레일"/>
          <p:cNvSpPr/>
          <p:nvPr/>
        </p:nvSpPr>
        <p:spPr>
          <a:xfrm>
            <a:off x="547826" y="1753043"/>
            <a:ext cx="580696" cy="110113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0" name="레일 태그"/>
          <p:cNvSpPr/>
          <p:nvPr/>
        </p:nvSpPr>
        <p:spPr>
          <a:xfrm>
            <a:off x="543740" y="1796870"/>
            <a:ext cx="588868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1" name="레일 태그"/>
          <p:cNvSpPr>
            <a:spLocks noGrp="1"/>
          </p:cNvSpPr>
          <p:nvPr>
            <p:ph type="body" sz="quarter" idx="29"/>
          </p:nvPr>
        </p:nvSpPr>
        <p:spPr>
          <a:xfrm>
            <a:off x="543740" y="1796870"/>
            <a:ext cx="588868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수요 중심</a:t>
            </a:r>
          </a:p>
        </p:txBody>
      </p:sp>
      <p:sp>
        <p:nvSpPr>
          <p:cNvPr id="32" name="레일 라벨"/>
          <p:cNvSpPr>
            <a:spLocks noGrp="1"/>
          </p:cNvSpPr>
          <p:nvPr>
            <p:ph type="body" sz="quarter" idx="30"/>
          </p:nvPr>
        </p:nvSpPr>
        <p:spPr>
          <a:xfrm>
            <a:off x="547826" y="1983130"/>
            <a:ext cx="580696" cy="84913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데이터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 방</a:t>
            </a:r>
          </a:p>
        </p:txBody>
      </p:sp>
      <p:sp>
        <p:nvSpPr>
          <p:cNvPr id="33" name="단계"/>
          <p:cNvSpPr/>
          <p:nvPr/>
        </p:nvSpPr>
        <p:spPr>
          <a:xfrm>
            <a:off x="1161391" y="1774957"/>
            <a:ext cx="376539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4" name="단계"/>
          <p:cNvSpPr>
            <a:spLocks noGrp="1"/>
          </p:cNvSpPr>
          <p:nvPr>
            <p:ph type="body" sz="quarter" idx="31"/>
          </p:nvPr>
        </p:nvSpPr>
        <p:spPr>
          <a:xfrm>
            <a:off x="1161391" y="1774957"/>
            <a:ext cx="376539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수요자가 원하는 공공데이터 발굴</a:t>
            </a:r>
          </a:p>
        </p:txBody>
      </p:sp>
      <p:sp>
        <p:nvSpPr>
          <p:cNvPr id="35" name="단계"/>
          <p:cNvSpPr/>
          <p:nvPr/>
        </p:nvSpPr>
        <p:spPr>
          <a:xfrm>
            <a:off x="4926783" y="1774957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6" name="단계"/>
          <p:cNvSpPr>
            <a:spLocks noGrp="1"/>
          </p:cNvSpPr>
          <p:nvPr>
            <p:ph type="body" sz="quarter" idx="32"/>
          </p:nvPr>
        </p:nvSpPr>
        <p:spPr>
          <a:xfrm>
            <a:off x="4926783" y="1774957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개방 확대</a:t>
            </a:r>
          </a:p>
        </p:txBody>
      </p:sp>
      <p:sp>
        <p:nvSpPr>
          <p:cNvPr id="37" name="단계 삼각형"/>
          <p:cNvSpPr/>
          <p:nvPr/>
        </p:nvSpPr>
        <p:spPr>
          <a:xfrm>
            <a:off x="4926782" y="1774956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3"/>
          </p:nvPr>
        </p:nvSpPr>
        <p:spPr>
          <a:xfrm>
            <a:off x="1172348" y="2026957"/>
            <a:ext cx="3743478" cy="821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설문조사 일반국민(993명) 및 기업(31개社) 수요발굴(’25.7~8)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민원분석 분기별 민원(VOC) 분석을 통한 데이터 수요 확인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공모전 데이터 수요·활용 합동 공모전 실시(’24년 21건 → ’25년 341건)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4"/>
          </p:nvPr>
        </p:nvSpPr>
        <p:spPr>
          <a:xfrm>
            <a:off x="4937739" y="2026957"/>
            <a:ext cx="1860783" cy="821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데이터 및 합성데이터 등 수요맞춤형 개방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’24년 397종 → ’25년 410종(누적)</a:t>
            </a:r>
          </a:p>
        </p:txBody>
      </p:sp>
      <p:cxnSp>
        <p:nvCxnSpPr>
          <p:cNvPr id="40" name="Connector 28"/>
          <p:cNvCxnSpPr/>
          <p:nvPr/>
        </p:nvCxnSpPr>
        <p:spPr>
          <a:xfrm>
            <a:off x="4926783" y="2059826"/>
            <a:ext cx="0" cy="75600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1" name="레일"/>
          <p:cNvSpPr/>
          <p:nvPr/>
        </p:nvSpPr>
        <p:spPr>
          <a:xfrm>
            <a:off x="547826" y="2870609"/>
            <a:ext cx="580696" cy="980609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2" name="레일 태그"/>
          <p:cNvSpPr/>
          <p:nvPr/>
        </p:nvSpPr>
        <p:spPr>
          <a:xfrm>
            <a:off x="613260" y="3034957"/>
            <a:ext cx="449828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3" name="레일 태그"/>
          <p:cNvSpPr>
            <a:spLocks noGrp="1"/>
          </p:cNvSpPr>
          <p:nvPr>
            <p:ph type="body" sz="quarter" idx="35"/>
          </p:nvPr>
        </p:nvSpPr>
        <p:spPr>
          <a:xfrm>
            <a:off x="613260" y="3034957"/>
            <a:ext cx="449828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고품질</a:t>
            </a:r>
          </a:p>
        </p:txBody>
      </p:sp>
      <p:sp>
        <p:nvSpPr>
          <p:cNvPr id="44" name="레일 라벨"/>
          <p:cNvSpPr>
            <a:spLocks noGrp="1"/>
          </p:cNvSpPr>
          <p:nvPr>
            <p:ph type="body" sz="quarter" idx="36"/>
          </p:nvPr>
        </p:nvSpPr>
        <p:spPr>
          <a:xfrm>
            <a:off x="547826" y="3221217"/>
            <a:ext cx="580696" cy="608087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데이터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 비</a:t>
            </a:r>
          </a:p>
        </p:txBody>
      </p:sp>
      <p:sp>
        <p:nvSpPr>
          <p:cNvPr id="45" name="레일 삼각형"/>
          <p:cNvSpPr/>
          <p:nvPr/>
        </p:nvSpPr>
        <p:spPr>
          <a:xfrm>
            <a:off x="547826" y="2870608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6" name="머리칸"/>
          <p:cNvSpPr/>
          <p:nvPr/>
        </p:nvSpPr>
        <p:spPr>
          <a:xfrm>
            <a:off x="1161391" y="2892522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7" name="머리칸"/>
          <p:cNvSpPr>
            <a:spLocks noGrp="1"/>
          </p:cNvSpPr>
          <p:nvPr>
            <p:ph type="body" sz="quarter" idx="37"/>
          </p:nvPr>
        </p:nvSpPr>
        <p:spPr>
          <a:xfrm>
            <a:off x="1161391" y="2892522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저활용 데이터 식별·정비</a:t>
            </a:r>
          </a:p>
        </p:txBody>
      </p:sp>
      <p:sp>
        <p:nvSpPr>
          <p:cNvPr id="48" name="머리칸"/>
          <p:cNvSpPr/>
          <p:nvPr/>
        </p:nvSpPr>
        <p:spPr>
          <a:xfrm>
            <a:off x="3985435" y="2892522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9" name="머리칸"/>
          <p:cNvSpPr>
            <a:spLocks noGrp="1"/>
          </p:cNvSpPr>
          <p:nvPr>
            <p:ph type="body" sz="quarter" idx="38"/>
          </p:nvPr>
        </p:nvSpPr>
        <p:spPr>
          <a:xfrm>
            <a:off x="3985435" y="2892522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오류 데이터 점검·보완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39"/>
          </p:nvPr>
        </p:nvSpPr>
        <p:spPr>
          <a:xfrm>
            <a:off x="1172348" y="3133565"/>
            <a:ext cx="2802130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활용도 낮은 데이터에 대한 원인분석 및 개선방안 이행으로 데이터 품질 제고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총 85건 정비(다운로드 200회↓, 활용 하위 20%↓)</a:t>
            </a:r>
          </a:p>
        </p:txBody>
      </p:sp>
      <p:sp>
        <p:nvSpPr>
          <p:cNvPr id="51" name="칸 본문"/>
          <p:cNvSpPr>
            <a:spLocks noGrp="1"/>
          </p:cNvSpPr>
          <p:nvPr>
            <p:ph type="body" sz="quarter" idx="40"/>
          </p:nvPr>
        </p:nvSpPr>
        <p:spPr>
          <a:xfrm>
            <a:off x="3996391" y="3133565"/>
            <a:ext cx="2802130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개방 중 데이터 전체에 대한 오류 데이터 여부 점검 후, 키워드 등 보완 완료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총 410종, 741개 파일 진단과 5,646개 데이터 정비</a:t>
            </a:r>
          </a:p>
        </p:txBody>
      </p:sp>
      <p:cxnSp>
        <p:nvCxnSpPr>
          <p:cNvPr id="52" name="Connector 37"/>
          <p:cNvCxnSpPr/>
          <p:nvPr/>
        </p:nvCxnSpPr>
        <p:spPr>
          <a:xfrm>
            <a:off x="3985435" y="3166435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3" name="레일"/>
          <p:cNvSpPr/>
          <p:nvPr/>
        </p:nvSpPr>
        <p:spPr>
          <a:xfrm>
            <a:off x="547826" y="3867652"/>
            <a:ext cx="580696" cy="1435304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4" name="레일 태그"/>
          <p:cNvSpPr/>
          <p:nvPr/>
        </p:nvSpPr>
        <p:spPr>
          <a:xfrm>
            <a:off x="613260" y="4032000"/>
            <a:ext cx="449828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55" name="레일 태그"/>
          <p:cNvSpPr>
            <a:spLocks noGrp="1"/>
          </p:cNvSpPr>
          <p:nvPr>
            <p:ph type="body" sz="quarter" idx="41"/>
          </p:nvPr>
        </p:nvSpPr>
        <p:spPr>
          <a:xfrm>
            <a:off x="613260" y="4032000"/>
            <a:ext cx="449828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활용도</a:t>
            </a:r>
          </a:p>
        </p:txBody>
      </p:sp>
      <p:sp>
        <p:nvSpPr>
          <p:cNvPr id="56" name="레일 라벨"/>
          <p:cNvSpPr>
            <a:spLocks noGrp="1"/>
          </p:cNvSpPr>
          <p:nvPr>
            <p:ph type="body" sz="quarter" idx="42"/>
          </p:nvPr>
        </p:nvSpPr>
        <p:spPr>
          <a:xfrm>
            <a:off x="547826" y="4218261"/>
            <a:ext cx="580696" cy="1062783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편의성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 선</a:t>
            </a:r>
          </a:p>
        </p:txBody>
      </p:sp>
      <p:sp>
        <p:nvSpPr>
          <p:cNvPr id="57" name="레일 삼각형"/>
          <p:cNvSpPr/>
          <p:nvPr/>
        </p:nvSpPr>
        <p:spPr>
          <a:xfrm>
            <a:off x="547826" y="3867652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8" name="머리칸"/>
          <p:cNvSpPr/>
          <p:nvPr/>
        </p:nvSpPr>
        <p:spPr>
          <a:xfrm>
            <a:off x="1161391" y="3889565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9" name="머리칸"/>
          <p:cNvSpPr>
            <a:spLocks noGrp="1"/>
          </p:cNvSpPr>
          <p:nvPr>
            <p:ph type="body" sz="quarter" idx="43"/>
          </p:nvPr>
        </p:nvSpPr>
        <p:spPr>
          <a:xfrm>
            <a:off x="1161391" y="3889565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API 호출 프로그램 개발·제공</a:t>
            </a:r>
          </a:p>
        </p:txBody>
      </p:sp>
      <p:sp>
        <p:nvSpPr>
          <p:cNvPr id="60" name="머리칸"/>
          <p:cNvSpPr/>
          <p:nvPr/>
        </p:nvSpPr>
        <p:spPr>
          <a:xfrm>
            <a:off x="3985435" y="3889565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61" name="머리칸"/>
          <p:cNvSpPr>
            <a:spLocks noGrp="1"/>
          </p:cNvSpPr>
          <p:nvPr>
            <p:ph type="body" sz="quarter" idx="44"/>
          </p:nvPr>
        </p:nvSpPr>
        <p:spPr>
          <a:xfrm>
            <a:off x="3985435" y="3889565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 개방데이터 데이터맵 제공</a:t>
            </a:r>
          </a:p>
        </p:txBody>
      </p:sp>
      <p:sp>
        <p:nvSpPr>
          <p:cNvPr id="62" name="칸 본문"/>
          <p:cNvSpPr>
            <a:spLocks noGrp="1"/>
          </p:cNvSpPr>
          <p:nvPr>
            <p:ph type="body" sz="quarter" idx="45"/>
          </p:nvPr>
        </p:nvSpPr>
        <p:spPr>
          <a:xfrm>
            <a:off x="1172348" y="4130609"/>
            <a:ext cx="2802130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일반 사용자는 API 활용방법 및 조회 등에 어려움이 있어 활용도 저조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직관적 정보제공 및 접근성 향상을 위해 ‘오픈 API 호출’ 전용 프로그램 제공</a:t>
            </a:r>
          </a:p>
        </p:txBody>
      </p:sp>
      <p:sp>
        <p:nvSpPr>
          <p:cNvPr id="63" name="칸 본문"/>
          <p:cNvSpPr>
            <a:spLocks noGrp="1"/>
          </p:cNvSpPr>
          <p:nvPr>
            <p:ph type="body" sz="quarter" idx="46"/>
          </p:nvPr>
        </p:nvSpPr>
        <p:spPr>
          <a:xfrm>
            <a:off x="3996391" y="4130609"/>
            <a:ext cx="2802130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공급자 중심의 데이터 목록 분류로, 사용자의 데이터 식별·연관관계 파악 어려움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수요자의 직관적 검색을 위해 주제별 연계성 등을 반영, ‘관계도맵’으로 시각화</a:t>
            </a:r>
          </a:p>
        </p:txBody>
      </p:sp>
      <p:cxnSp>
        <p:nvCxnSpPr>
          <p:cNvPr id="64" name="Connector 46"/>
          <p:cNvCxnSpPr/>
          <p:nvPr/>
        </p:nvCxnSpPr>
        <p:spPr>
          <a:xfrm>
            <a:off x="3985435" y="4163478"/>
            <a:ext cx="0" cy="865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5" name="태그"/>
          <p:cNvSpPr/>
          <p:nvPr/>
        </p:nvSpPr>
        <p:spPr>
          <a:xfrm>
            <a:off x="1161391" y="5100261"/>
            <a:ext cx="940087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6" name="태그"/>
          <p:cNvSpPr>
            <a:spLocks noGrp="1"/>
          </p:cNvSpPr>
          <p:nvPr>
            <p:ph type="body" sz="quarter" idx="47"/>
          </p:nvPr>
        </p:nvSpPr>
        <p:spPr>
          <a:xfrm>
            <a:off x="1161391" y="5100261"/>
            <a:ext cx="94008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데이터 안심구역</a:t>
            </a:r>
          </a:p>
        </p:txBody>
      </p:sp>
      <p:sp>
        <p:nvSpPr>
          <p:cNvPr id="67" name="태그 설명"/>
          <p:cNvSpPr>
            <a:spLocks noGrp="1"/>
          </p:cNvSpPr>
          <p:nvPr>
            <p:ph type="body" sz="quarter" idx="48"/>
          </p:nvPr>
        </p:nvSpPr>
        <p:spPr>
          <a:xfrm>
            <a:off x="2145304" y="5089304"/>
            <a:ext cx="4664174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미공개 데이터를 활용할 수 있는 인프라 및 하드웨어 기반 마련(’25.12)</a:t>
            </a:r>
          </a:p>
        </p:txBody>
      </p:sp>
      <p:sp>
        <p:nvSpPr>
          <p:cNvPr id="68" name="핵심성과 박스"/>
          <p:cNvSpPr/>
          <p:nvPr/>
        </p:nvSpPr>
        <p:spPr>
          <a:xfrm>
            <a:off x="536870" y="5407043"/>
            <a:ext cx="6300000" cy="70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9" name="핵심성과 라벨"/>
          <p:cNvSpPr/>
          <p:nvPr/>
        </p:nvSpPr>
        <p:spPr>
          <a:xfrm>
            <a:off x="569739" y="5439913"/>
            <a:ext cx="657391" cy="63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70" name="핵심성과 라벨"/>
          <p:cNvSpPr>
            <a:spLocks noGrp="1"/>
          </p:cNvSpPr>
          <p:nvPr>
            <p:ph type="body" sz="quarter" idx="49"/>
          </p:nvPr>
        </p:nvSpPr>
        <p:spPr>
          <a:xfrm>
            <a:off x="569739" y="5439913"/>
            <a:ext cx="657391" cy="63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71" name="핵심성과 문구"/>
          <p:cNvSpPr>
            <a:spLocks noGrp="1"/>
          </p:cNvSpPr>
          <p:nvPr>
            <p:ph type="body" sz="quarter" idx="50"/>
          </p:nvPr>
        </p:nvSpPr>
        <p:spPr>
          <a:xfrm>
            <a:off x="1314783" y="5428957"/>
            <a:ext cx="5456348" cy="66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개방 대국민 요청 데이터 2년 연속 100% 제공 및 ’25년 개방목표(목표 72건, 개방 84건) 초과(116%) 달성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품질 ’25년 행정안전부 공공데이터 품질인증 ‘최우수’ 등급 2년 연속 획득(’25.12)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98 서사 · 데이터 활용 공공·민간 협업(4개 협업과제 카드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데이터 활용 공공·민간 협업으로 대국민 편익 개선(2 → 4건)</a:t>
            </a:r>
          </a:p>
        </p:txBody>
      </p:sp>
      <p:sp>
        <p:nvSpPr>
          <p:cNvPr id="14" name="번호 띠 칩"/>
          <p:cNvSpPr/>
          <p:nvPr/>
        </p:nvSpPr>
        <p:spPr>
          <a:xfrm>
            <a:off x="6208646" y="843652"/>
            <a:ext cx="74874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번호 띠 칩"/>
          <p:cNvSpPr>
            <a:spLocks noGrp="1"/>
          </p:cNvSpPr>
          <p:nvPr>
            <p:ph type="body" sz="quarter" idx="22"/>
          </p:nvPr>
        </p:nvSpPr>
        <p:spPr>
          <a:xfrm>
            <a:off x="6208646" y="843652"/>
            <a:ext cx="74874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6" name="번호 띠 칩"/>
          <p:cNvSpPr/>
          <p:nvPr/>
        </p:nvSpPr>
        <p:spPr>
          <a:xfrm>
            <a:off x="5635612" y="843652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번호 띠 칩"/>
          <p:cNvSpPr>
            <a:spLocks noGrp="1"/>
          </p:cNvSpPr>
          <p:nvPr>
            <p:ph type="body" sz="quarter" idx="23"/>
          </p:nvPr>
        </p:nvSpPr>
        <p:spPr>
          <a:xfrm>
            <a:off x="5635612" y="843652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8" name="아이콘 칸"/>
          <p:cNvSpPr/>
          <p:nvPr/>
        </p:nvSpPr>
        <p:spPr>
          <a:xfrm>
            <a:off x="723130" y="1183304"/>
            <a:ext cx="175304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3600" rIns="3600" tIns="0" bIns="0" wrap="square"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/>
            </a:r>
          </a:p>
        </p:txBody>
      </p:sp>
      <p:sp>
        <p:nvSpPr>
          <p:cNvPr id="19" name="태그"/>
          <p:cNvSpPr/>
          <p:nvPr/>
        </p:nvSpPr>
        <p:spPr>
          <a:xfrm>
            <a:off x="942261" y="1183304"/>
            <a:ext cx="329103" cy="175304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0" name="태그"/>
          <p:cNvSpPr>
            <a:spLocks noGrp="1"/>
          </p:cNvSpPr>
          <p:nvPr>
            <p:ph type="body" sz="quarter" idx="24"/>
          </p:nvPr>
        </p:nvSpPr>
        <p:spPr>
          <a:xfrm>
            <a:off x="942261" y="1183304"/>
            <a:ext cx="329103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협업</a:t>
            </a:r>
          </a:p>
        </p:txBody>
      </p:sp>
      <p:sp>
        <p:nvSpPr>
          <p:cNvPr id="21" name="그룹 제목"/>
          <p:cNvSpPr>
            <a:spLocks noGrp="1"/>
          </p:cNvSpPr>
          <p:nvPr>
            <p:ph type="body" sz="quarter" idx="25"/>
          </p:nvPr>
        </p:nvSpPr>
        <p:spPr>
          <a:xfrm>
            <a:off x="1315189" y="1161391"/>
            <a:ext cx="5686028" cy="21913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공공·민간 협업과제 4건</a:t>
            </a:r>
          </a:p>
        </p:txBody>
      </p:sp>
      <p:sp>
        <p:nvSpPr>
          <p:cNvPr id="22" name="그룹 틀"/>
          <p:cNvSpPr/>
          <p:nvPr/>
        </p:nvSpPr>
        <p:spPr>
          <a:xfrm>
            <a:off x="723130" y="1402435"/>
            <a:ext cx="6300000" cy="2268000"/>
          </a:xfrm>
          <a:prstGeom prst="rect">
            <a:avLst/>
          </a:prstGeom>
          <a:solidFill>
            <a:srgbClr val="FFFFFF"/>
          </a:solidFill>
          <a:ln w="1587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3" name="카드 머리"/>
          <p:cNvSpPr/>
          <p:nvPr/>
        </p:nvSpPr>
        <p:spPr>
          <a:xfrm>
            <a:off x="756000" y="1424348"/>
            <a:ext cx="3095217" cy="208174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4" name="태그"/>
          <p:cNvSpPr/>
          <p:nvPr/>
        </p:nvSpPr>
        <p:spPr>
          <a:xfrm>
            <a:off x="799826" y="1446261"/>
            <a:ext cx="907217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5" name="태그"/>
          <p:cNvSpPr>
            <a:spLocks noGrp="1"/>
          </p:cNvSpPr>
          <p:nvPr>
            <p:ph type="body" sz="quarter" idx="26"/>
          </p:nvPr>
        </p:nvSpPr>
        <p:spPr>
          <a:xfrm>
            <a:off x="799826" y="1446261"/>
            <a:ext cx="907217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데이터 협력과제</a:t>
            </a:r>
          </a:p>
        </p:txBody>
      </p:sp>
      <p:sp>
        <p:nvSpPr>
          <p:cNvPr id="26" name="카드 제목"/>
          <p:cNvSpPr>
            <a:spLocks noGrp="1"/>
          </p:cNvSpPr>
          <p:nvPr>
            <p:ph type="body" sz="quarter" idx="27"/>
          </p:nvPr>
        </p:nvSpPr>
        <p:spPr>
          <a:xfrm>
            <a:off x="1739913" y="1424348"/>
            <a:ext cx="2089392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중소기업 탄소중립 · 신용보증기금</a:t>
            </a:r>
          </a:p>
        </p:txBody>
      </p:sp>
      <p:sp>
        <p:nvSpPr>
          <p:cNvPr id="27" name="카드 본문"/>
          <p:cNvSpPr>
            <a:spLocks noGrp="1"/>
          </p:cNvSpPr>
          <p:nvPr>
            <p:ph type="body" sz="quarter" idx="28"/>
          </p:nvPr>
        </p:nvSpPr>
        <p:spPr>
          <a:xfrm>
            <a:off x="756000" y="1643478"/>
            <a:ext cx="3073304" cy="843652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수도·전력 사용량 데이터와 기업데이터를 결합·분석하여 중소기업 탄소배출 정보를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 Data + 기업 Data + 전력 Data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중소기업 탄소중립 정보제공 서비스 출시</a:t>
            </a:r>
          </a:p>
        </p:txBody>
      </p:sp>
      <p:cxnSp>
        <p:nvCxnSpPr>
          <p:cNvPr id="28" name="Connector 18"/>
          <p:cNvCxnSpPr/>
          <p:nvPr/>
        </p:nvCxnSpPr>
        <p:spPr>
          <a:xfrm>
            <a:off x="3862174" y="1457217"/>
            <a:ext cx="0" cy="101895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9" name="카드 머리"/>
          <p:cNvSpPr/>
          <p:nvPr/>
        </p:nvSpPr>
        <p:spPr>
          <a:xfrm>
            <a:off x="3873130" y="1424348"/>
            <a:ext cx="3095217" cy="208174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0" name="태그"/>
          <p:cNvSpPr/>
          <p:nvPr/>
        </p:nvSpPr>
        <p:spPr>
          <a:xfrm>
            <a:off x="3916957" y="1446261"/>
            <a:ext cx="548640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1" name="태그"/>
          <p:cNvSpPr>
            <a:spLocks noGrp="1"/>
          </p:cNvSpPr>
          <p:nvPr>
            <p:ph type="body" sz="quarter" idx="29"/>
          </p:nvPr>
        </p:nvSpPr>
        <p:spPr>
          <a:xfrm>
            <a:off x="3916957" y="1446261"/>
            <a:ext cx="548640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민간활용</a:t>
            </a:r>
          </a:p>
        </p:txBody>
      </p:sp>
      <p:sp>
        <p:nvSpPr>
          <p:cNvPr id="32" name="카드 제목"/>
          <p:cNvSpPr>
            <a:spLocks noGrp="1"/>
          </p:cNvSpPr>
          <p:nvPr>
            <p:ph type="body" sz="quarter" idx="30"/>
          </p:nvPr>
        </p:nvSpPr>
        <p:spPr>
          <a:xfrm>
            <a:off x="4498466" y="1424348"/>
            <a:ext cx="2447969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LG · 식기세척기 소금사용량 최적화</a:t>
            </a:r>
          </a:p>
        </p:txBody>
      </p:sp>
      <p:sp>
        <p:nvSpPr>
          <p:cNvPr id="33" name="카드 본문"/>
          <p:cNvSpPr>
            <a:spLocks noGrp="1"/>
          </p:cNvSpPr>
          <p:nvPr>
            <p:ph type="body" sz="quarter" idx="31"/>
          </p:nvPr>
        </p:nvSpPr>
        <p:spPr>
          <a:xfrm>
            <a:off x="3873130" y="1643478"/>
            <a:ext cx="3073304" cy="843652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지역별 수질정보 기반 맞춤형 식기세척기 최적화 서비스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지역별 정수장 및 상수도 수질정보 ➡ LG전자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민원 감소(31%), 수질센서 재료비 절감(44.8백만원)</a:t>
            </a:r>
          </a:p>
        </p:txBody>
      </p:sp>
      <p:sp>
        <p:nvSpPr>
          <p:cNvPr id="34" name="카드 머리"/>
          <p:cNvSpPr/>
          <p:nvPr/>
        </p:nvSpPr>
        <p:spPr>
          <a:xfrm>
            <a:off x="756000" y="2520000"/>
            <a:ext cx="3095217" cy="208174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5" name="태그"/>
          <p:cNvSpPr/>
          <p:nvPr/>
        </p:nvSpPr>
        <p:spPr>
          <a:xfrm>
            <a:off x="799826" y="2541913"/>
            <a:ext cx="548640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6" name="태그"/>
          <p:cNvSpPr>
            <a:spLocks noGrp="1"/>
          </p:cNvSpPr>
          <p:nvPr>
            <p:ph type="body" sz="quarter" idx="32"/>
          </p:nvPr>
        </p:nvSpPr>
        <p:spPr>
          <a:xfrm>
            <a:off x="799826" y="2541913"/>
            <a:ext cx="548640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공공협업</a:t>
            </a:r>
          </a:p>
        </p:txBody>
      </p:sp>
      <p:sp>
        <p:nvSpPr>
          <p:cNvPr id="37" name="카드 제목"/>
          <p:cNvSpPr>
            <a:spLocks noGrp="1"/>
          </p:cNvSpPr>
          <p:nvPr>
            <p:ph type="body" sz="quarter" idx="33"/>
          </p:nvPr>
        </p:nvSpPr>
        <p:spPr>
          <a:xfrm>
            <a:off x="1381335" y="2520000"/>
            <a:ext cx="2447969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연금 수급권자 관리 개선 · 국민연금공단</a:t>
            </a:r>
          </a:p>
        </p:txBody>
      </p:sp>
      <p:sp>
        <p:nvSpPr>
          <p:cNvPr id="38" name="카드 본문"/>
          <p:cNvSpPr>
            <a:spLocks noGrp="1"/>
          </p:cNvSpPr>
          <p:nvPr>
            <p:ph type="body" sz="quarter" idx="34"/>
          </p:nvPr>
        </p:nvSpPr>
        <p:spPr>
          <a:xfrm>
            <a:off x="756000" y="2739130"/>
            <a:ext cx="3073304" cy="843652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물사용 데이터를 활용, 사용량 급감 또는 장기 사용이 없는 경우, 즉시 수급권자 안부 조사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 사용량 + 수급권자 현황 ➡ 이상 감지시 조사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국민연금 부정수급 예방</a:t>
            </a:r>
          </a:p>
        </p:txBody>
      </p:sp>
      <p:cxnSp>
        <p:nvCxnSpPr>
          <p:cNvPr id="39" name="Connector 27"/>
          <p:cNvCxnSpPr/>
          <p:nvPr/>
        </p:nvCxnSpPr>
        <p:spPr>
          <a:xfrm>
            <a:off x="3862174" y="2552870"/>
            <a:ext cx="0" cy="1018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0" name="카드 머리"/>
          <p:cNvSpPr/>
          <p:nvPr/>
        </p:nvSpPr>
        <p:spPr>
          <a:xfrm>
            <a:off x="3873130" y="2520000"/>
            <a:ext cx="3095217" cy="208174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1" name="태그"/>
          <p:cNvSpPr/>
          <p:nvPr/>
        </p:nvSpPr>
        <p:spPr>
          <a:xfrm>
            <a:off x="3916957" y="2541913"/>
            <a:ext cx="741386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2" name="태그"/>
          <p:cNvSpPr>
            <a:spLocks noGrp="1"/>
          </p:cNvSpPr>
          <p:nvPr>
            <p:ph type="body" sz="quarter" idx="35"/>
          </p:nvPr>
        </p:nvSpPr>
        <p:spPr>
          <a:xfrm>
            <a:off x="3916957" y="2541913"/>
            <a:ext cx="741386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공공+지자체</a:t>
            </a:r>
          </a:p>
        </p:txBody>
      </p:sp>
      <p:sp>
        <p:nvSpPr>
          <p:cNvPr id="43" name="카드 제목"/>
          <p:cNvSpPr>
            <a:spLocks noGrp="1"/>
          </p:cNvSpPr>
          <p:nvPr>
            <p:ph type="body" sz="quarter" idx="36"/>
          </p:nvPr>
        </p:nvSpPr>
        <p:spPr>
          <a:xfrm>
            <a:off x="4691212" y="2520000"/>
            <a:ext cx="2255222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철도공사·영주시 · 지역 여행상품 개발</a:t>
            </a:r>
          </a:p>
        </p:txBody>
      </p:sp>
      <p:sp>
        <p:nvSpPr>
          <p:cNvPr id="44" name="카드 본문"/>
          <p:cNvSpPr>
            <a:spLocks noGrp="1"/>
          </p:cNvSpPr>
          <p:nvPr>
            <p:ph type="body" sz="quarter" idx="37"/>
          </p:nvPr>
        </p:nvSpPr>
        <p:spPr>
          <a:xfrm>
            <a:off x="3873130" y="2739130"/>
            <a:ext cx="3073304" cy="843652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등 친수공간 정보와 철도여객 정보를 활용, 지자체와 협업하여 지역활성화 여행상품 출시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친수 Data + 여객 Data + 영주시 운영협력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인구감소지역(영주시) 지역활성화 기여(16백만원)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99 서사 · AI 기술마켓(환경분석 → 시사점 → 추진과제 → 추진체계 → 3단 지원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표 외곽"/>
          <p:cNvSpPr/>
          <p:nvPr/>
        </p:nvSpPr>
        <p:spPr>
          <a:xfrm>
            <a:off x="536870" y="766957"/>
            <a:ext cx="6300000" cy="82721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레일"/>
          <p:cNvSpPr/>
          <p:nvPr/>
        </p:nvSpPr>
        <p:spPr>
          <a:xfrm>
            <a:off x="547826" y="783391"/>
            <a:ext cx="580696" cy="794348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레일"/>
          <p:cNvSpPr>
            <a:spLocks noGrp="1"/>
          </p:cNvSpPr>
          <p:nvPr>
            <p:ph type="body" sz="quarter" idx="20"/>
          </p:nvPr>
        </p:nvSpPr>
        <p:spPr>
          <a:xfrm>
            <a:off x="547826" y="783391"/>
            <a:ext cx="580696" cy="79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분 석</a:t>
            </a:r>
          </a:p>
        </p:txBody>
      </p:sp>
      <p:sp>
        <p:nvSpPr>
          <p:cNvPr id="13" name="머리칸"/>
          <p:cNvSpPr/>
          <p:nvPr/>
        </p:nvSpPr>
        <p:spPr>
          <a:xfrm>
            <a:off x="1161391" y="80530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4" name="머리칸"/>
          <p:cNvSpPr>
            <a:spLocks noGrp="1"/>
          </p:cNvSpPr>
          <p:nvPr>
            <p:ph type="body" sz="quarter" idx="21"/>
          </p:nvPr>
        </p:nvSpPr>
        <p:spPr>
          <a:xfrm>
            <a:off x="1161391" y="80530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정부정책</a:t>
            </a:r>
          </a:p>
        </p:txBody>
      </p:sp>
      <p:sp>
        <p:nvSpPr>
          <p:cNvPr id="15" name="머리칸"/>
          <p:cNvSpPr/>
          <p:nvPr/>
        </p:nvSpPr>
        <p:spPr>
          <a:xfrm>
            <a:off x="3044087" y="80530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6" name="머리칸"/>
          <p:cNvSpPr>
            <a:spLocks noGrp="1"/>
          </p:cNvSpPr>
          <p:nvPr>
            <p:ph type="body" sz="quarter" idx="22"/>
          </p:nvPr>
        </p:nvSpPr>
        <p:spPr>
          <a:xfrm>
            <a:off x="3044087" y="80530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 중장기전략</a:t>
            </a:r>
          </a:p>
        </p:txBody>
      </p:sp>
      <p:sp>
        <p:nvSpPr>
          <p:cNvPr id="17" name="머리칸"/>
          <p:cNvSpPr/>
          <p:nvPr/>
        </p:nvSpPr>
        <p:spPr>
          <a:xfrm>
            <a:off x="4926783" y="80530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8" name="머리칸"/>
          <p:cNvSpPr>
            <a:spLocks noGrp="1"/>
          </p:cNvSpPr>
          <p:nvPr>
            <p:ph type="body" sz="quarter" idx="23"/>
          </p:nvPr>
        </p:nvSpPr>
        <p:spPr>
          <a:xfrm>
            <a:off x="4926783" y="80530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 목소리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4"/>
          </p:nvPr>
        </p:nvSpPr>
        <p:spPr>
          <a:xfrm>
            <a:off x="1172348" y="1046348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중소기업 AX 대전환(기술마켓 AI전용관 도입)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공공조달시장 확대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5"/>
          </p:nvPr>
        </p:nvSpPr>
        <p:spPr>
          <a:xfrm>
            <a:off x="3055043" y="1046348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혁신기술 판로·성장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AI기술 개발·실증 지원으로 물산업 AI서비스 생태계 확장</a:t>
            </a:r>
          </a:p>
        </p:txBody>
      </p:sp>
      <p:cxnSp>
        <p:nvCxnSpPr>
          <p:cNvPr id="21" name="Connector 13"/>
          <p:cNvCxnSpPr/>
          <p:nvPr/>
        </p:nvCxnSpPr>
        <p:spPr>
          <a:xfrm>
            <a:off x="3044087" y="1079217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2" name="칸 본문"/>
          <p:cNvSpPr>
            <a:spLocks noGrp="1"/>
          </p:cNvSpPr>
          <p:nvPr>
            <p:ph type="body" sz="quarter" idx="26"/>
          </p:nvPr>
        </p:nvSpPr>
        <p:spPr>
          <a:xfrm>
            <a:off x="4937739" y="1046348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개발시 고가의 인프라 구축 부담 및 기술 실·검증에 한계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판로확대 지원강화 요구</a:t>
            </a:r>
          </a:p>
        </p:txBody>
      </p:sp>
      <p:cxnSp>
        <p:nvCxnSpPr>
          <p:cNvPr id="23" name="Connector 15"/>
          <p:cNvCxnSpPr/>
          <p:nvPr/>
        </p:nvCxnSpPr>
        <p:spPr>
          <a:xfrm>
            <a:off x="4926783" y="1079217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4" name="캡션 띠"/>
          <p:cNvSpPr/>
          <p:nvPr/>
        </p:nvSpPr>
        <p:spPr>
          <a:xfrm>
            <a:off x="536869" y="1616086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5" name="태그"/>
          <p:cNvSpPr/>
          <p:nvPr/>
        </p:nvSpPr>
        <p:spPr>
          <a:xfrm>
            <a:off x="865565" y="1659913"/>
            <a:ext cx="438871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6" name="태그"/>
          <p:cNvSpPr>
            <a:spLocks noGrp="1"/>
          </p:cNvSpPr>
          <p:nvPr>
            <p:ph type="body" sz="quarter" idx="27"/>
          </p:nvPr>
        </p:nvSpPr>
        <p:spPr>
          <a:xfrm>
            <a:off x="865565" y="1659913"/>
            <a:ext cx="438871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27" name="캡션"/>
          <p:cNvSpPr>
            <a:spLocks noGrp="1"/>
          </p:cNvSpPr>
          <p:nvPr>
            <p:ph type="body" sz="quarter" idx="28"/>
          </p:nvPr>
        </p:nvSpPr>
        <p:spPr>
          <a:xfrm>
            <a:off x="1359219" y="1616087"/>
            <a:ext cx="5258520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기술마켓 제2의 도약을 위해, AI 기반 新시장 창출과 기업체감형 지원 강화 필요</a:t>
            </a:r>
          </a:p>
        </p:txBody>
      </p:sp>
      <p:sp>
        <p:nvSpPr>
          <p:cNvPr id="28" name="표 외곽"/>
          <p:cNvSpPr/>
          <p:nvPr/>
        </p:nvSpPr>
        <p:spPr>
          <a:xfrm>
            <a:off x="536870" y="1922870"/>
            <a:ext cx="6300000" cy="476609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9" name="레일"/>
          <p:cNvSpPr/>
          <p:nvPr/>
        </p:nvSpPr>
        <p:spPr>
          <a:xfrm>
            <a:off x="547826" y="1939304"/>
            <a:ext cx="580696" cy="44373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0" name="레일"/>
          <p:cNvSpPr>
            <a:spLocks noGrp="1"/>
          </p:cNvSpPr>
          <p:nvPr>
            <p:ph type="body" sz="quarter" idx="29"/>
          </p:nvPr>
        </p:nvSpPr>
        <p:spPr>
          <a:xfrm>
            <a:off x="547826" y="1939304"/>
            <a:ext cx="580696" cy="443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 제</a:t>
            </a:r>
          </a:p>
        </p:txBody>
      </p:sp>
      <p:sp>
        <p:nvSpPr>
          <p:cNvPr id="31" name="태그"/>
          <p:cNvSpPr/>
          <p:nvPr/>
        </p:nvSpPr>
        <p:spPr>
          <a:xfrm>
            <a:off x="1161391" y="1983130"/>
            <a:ext cx="361972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2" name="태그"/>
          <p:cNvSpPr>
            <a:spLocks noGrp="1"/>
          </p:cNvSpPr>
          <p:nvPr>
            <p:ph type="body" sz="quarter" idx="30"/>
          </p:nvPr>
        </p:nvSpPr>
        <p:spPr>
          <a:xfrm>
            <a:off x="1161391" y="1983130"/>
            <a:ext cx="36197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신규</a:t>
            </a:r>
          </a:p>
        </p:txBody>
      </p:sp>
      <p:sp>
        <p:nvSpPr>
          <p:cNvPr id="33" name="태그 설명"/>
          <p:cNvSpPr>
            <a:spLocks noGrp="1"/>
          </p:cNvSpPr>
          <p:nvPr>
            <p:ph type="body" sz="quarter" idx="31"/>
          </p:nvPr>
        </p:nvSpPr>
        <p:spPr>
          <a:xfrm>
            <a:off x="1567189" y="1972174"/>
            <a:ext cx="5242289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오픈이노베이션 활용, 기후테크 기업 AI기술 육성 및 기술마켓 진출</a:t>
            </a:r>
          </a:p>
        </p:txBody>
      </p:sp>
      <p:sp>
        <p:nvSpPr>
          <p:cNvPr id="34" name="태그"/>
          <p:cNvSpPr/>
          <p:nvPr/>
        </p:nvSpPr>
        <p:spPr>
          <a:xfrm>
            <a:off x="1161391" y="2180348"/>
            <a:ext cx="361972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5" name="태그"/>
          <p:cNvSpPr>
            <a:spLocks noGrp="1"/>
          </p:cNvSpPr>
          <p:nvPr>
            <p:ph type="body" sz="quarter" idx="32"/>
          </p:nvPr>
        </p:nvSpPr>
        <p:spPr>
          <a:xfrm>
            <a:off x="1161391" y="2180348"/>
            <a:ext cx="36197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</a:t>
            </a:r>
          </a:p>
        </p:txBody>
      </p:sp>
      <p:sp>
        <p:nvSpPr>
          <p:cNvPr id="36" name="태그 설명"/>
          <p:cNvSpPr>
            <a:spLocks noGrp="1"/>
          </p:cNvSpPr>
          <p:nvPr>
            <p:ph type="body" sz="quarter" idx="33"/>
          </p:nvPr>
        </p:nvSpPr>
        <p:spPr>
          <a:xfrm>
            <a:off x="1567189" y="2169391"/>
            <a:ext cx="5242289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기술마켓 전담조직 고도화, 기업체감형 기술개발지원 및 금융·판로지원 확대</a:t>
            </a:r>
          </a:p>
        </p:txBody>
      </p:sp>
      <p:sp>
        <p:nvSpPr>
          <p:cNvPr id="37" name="번호 띠"/>
          <p:cNvSpPr/>
          <p:nvPr/>
        </p:nvSpPr>
        <p:spPr>
          <a:xfrm>
            <a:off x="536870" y="2541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8" name="번호 탭"/>
          <p:cNvSpPr/>
          <p:nvPr/>
        </p:nvSpPr>
        <p:spPr>
          <a:xfrm>
            <a:off x="558782" y="2563826"/>
            <a:ext cx="471131" cy="262956"/>
          </a:xfrm>
          <a:custGeom>
            <a:avLst/>
            <a:gdLst/>
            <a:ahLst/>
            <a:cxnLst/>
            <a:rect l="l" t="t" r="r" b="b"/>
            <a:pathLst>
              <a:path w="471131" h="262956">
                <a:moveTo>
                  <a:pt x="0" y="0"/>
                </a:moveTo>
                <a:lnTo>
                  <a:pt x="394435" y="0"/>
                </a:lnTo>
                <a:lnTo>
                  <a:pt x="471131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9" name="번호 탭 빗면"/>
          <p:cNvSpPr/>
          <p:nvPr/>
        </p:nvSpPr>
        <p:spPr>
          <a:xfrm>
            <a:off x="953217" y="2563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6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0" name="번호"/>
          <p:cNvSpPr>
            <a:spLocks noGrp="1"/>
          </p:cNvSpPr>
          <p:nvPr>
            <p:ph type="body" sz="quarter" idx="34"/>
          </p:nvPr>
        </p:nvSpPr>
        <p:spPr>
          <a:xfrm>
            <a:off x="558783" y="2541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41" name="번호 띠 제목"/>
          <p:cNvSpPr>
            <a:spLocks noGrp="1"/>
          </p:cNvSpPr>
          <p:nvPr>
            <p:ph type="body" sz="quarter" idx="35"/>
          </p:nvPr>
        </p:nvSpPr>
        <p:spPr>
          <a:xfrm>
            <a:off x="1183304" y="2563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물기업 AI기술 육성 및 기술마켓 신속 진출 기반 마련</a:t>
            </a:r>
          </a:p>
        </p:txBody>
      </p:sp>
      <p:sp>
        <p:nvSpPr>
          <p:cNvPr id="42" name="번호 띠 칩"/>
          <p:cNvSpPr/>
          <p:nvPr/>
        </p:nvSpPr>
        <p:spPr>
          <a:xfrm>
            <a:off x="6265613" y="2607652"/>
            <a:ext cx="505517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3" name="번호 띠 칩"/>
          <p:cNvSpPr>
            <a:spLocks noGrp="1"/>
          </p:cNvSpPr>
          <p:nvPr>
            <p:ph type="body" sz="quarter" idx="36"/>
          </p:nvPr>
        </p:nvSpPr>
        <p:spPr>
          <a:xfrm>
            <a:off x="6265613" y="2607652"/>
            <a:ext cx="50551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44" name="번호 띠 칩"/>
          <p:cNvSpPr/>
          <p:nvPr/>
        </p:nvSpPr>
        <p:spPr>
          <a:xfrm>
            <a:off x="5692579" y="2607652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5" name="번호 띠 칩"/>
          <p:cNvSpPr>
            <a:spLocks noGrp="1"/>
          </p:cNvSpPr>
          <p:nvPr>
            <p:ph type="body" sz="quarter" idx="37"/>
          </p:nvPr>
        </p:nvSpPr>
        <p:spPr>
          <a:xfrm>
            <a:off x="5692579" y="2607652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46" name="표 외곽"/>
          <p:cNvSpPr/>
          <p:nvPr/>
        </p:nvSpPr>
        <p:spPr>
          <a:xfrm>
            <a:off x="536870" y="2892522"/>
            <a:ext cx="6300000" cy="3681391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7" name="레일"/>
          <p:cNvSpPr/>
          <p:nvPr/>
        </p:nvSpPr>
        <p:spPr>
          <a:xfrm>
            <a:off x="547826" y="2908957"/>
            <a:ext cx="580696" cy="624522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8" name="레일"/>
          <p:cNvSpPr>
            <a:spLocks noGrp="1"/>
          </p:cNvSpPr>
          <p:nvPr>
            <p:ph type="body" sz="quarter" idx="38"/>
          </p:nvPr>
        </p:nvSpPr>
        <p:spPr>
          <a:xfrm>
            <a:off x="547826" y="2908957"/>
            <a:ext cx="580696" cy="62452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 계</a:t>
            </a:r>
          </a:p>
        </p:txBody>
      </p:sp>
      <p:sp>
        <p:nvSpPr>
          <p:cNvPr id="49" name="배너"/>
          <p:cNvSpPr/>
          <p:nvPr/>
        </p:nvSpPr>
        <p:spPr>
          <a:xfrm>
            <a:off x="1161391" y="2930870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50" name="배너"/>
          <p:cNvSpPr>
            <a:spLocks noGrp="1"/>
          </p:cNvSpPr>
          <p:nvPr>
            <p:ph type="body" sz="quarter" idx="39"/>
          </p:nvPr>
        </p:nvSpPr>
        <p:spPr>
          <a:xfrm>
            <a:off x="1161391" y="2930870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추진목표 AI 기술개발부터 판로까지 One-Stop 디지털 생태계 구축</a:t>
            </a:r>
          </a:p>
        </p:txBody>
      </p:sp>
      <p:sp>
        <p:nvSpPr>
          <p:cNvPr id="51" name="단계"/>
          <p:cNvSpPr/>
          <p:nvPr/>
        </p:nvSpPr>
        <p:spPr>
          <a:xfrm>
            <a:off x="1161391" y="3166435"/>
            <a:ext cx="141202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2" name="단계"/>
          <p:cNvSpPr>
            <a:spLocks noGrp="1"/>
          </p:cNvSpPr>
          <p:nvPr>
            <p:ph type="body" sz="quarter" idx="40"/>
          </p:nvPr>
        </p:nvSpPr>
        <p:spPr>
          <a:xfrm>
            <a:off x="1161391" y="3166435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 아이디어 공모</a:t>
            </a:r>
          </a:p>
        </p:txBody>
      </p:sp>
      <p:sp>
        <p:nvSpPr>
          <p:cNvPr id="53" name="단계"/>
          <p:cNvSpPr/>
          <p:nvPr/>
        </p:nvSpPr>
        <p:spPr>
          <a:xfrm>
            <a:off x="2573413" y="3166435"/>
            <a:ext cx="1412022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4" name="단계"/>
          <p:cNvSpPr>
            <a:spLocks noGrp="1"/>
          </p:cNvSpPr>
          <p:nvPr>
            <p:ph type="body" sz="quarter" idx="41"/>
          </p:nvPr>
        </p:nvSpPr>
        <p:spPr>
          <a:xfrm>
            <a:off x="2573413" y="3166435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AI·데이터 인프라 제공</a:t>
            </a:r>
          </a:p>
        </p:txBody>
      </p:sp>
      <p:sp>
        <p:nvSpPr>
          <p:cNvPr id="55" name="단계"/>
          <p:cNvSpPr/>
          <p:nvPr/>
        </p:nvSpPr>
        <p:spPr>
          <a:xfrm>
            <a:off x="3985435" y="3166435"/>
            <a:ext cx="1412022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6" name="단계"/>
          <p:cNvSpPr>
            <a:spLocks noGrp="1"/>
          </p:cNvSpPr>
          <p:nvPr>
            <p:ph type="body" sz="quarter" idx="42"/>
          </p:nvPr>
        </p:nvSpPr>
        <p:spPr>
          <a:xfrm>
            <a:off x="3985435" y="3166435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 현장 검증</a:t>
            </a:r>
          </a:p>
        </p:txBody>
      </p:sp>
      <p:sp>
        <p:nvSpPr>
          <p:cNvPr id="57" name="단계"/>
          <p:cNvSpPr/>
          <p:nvPr/>
        </p:nvSpPr>
        <p:spPr>
          <a:xfrm>
            <a:off x="5397457" y="3166435"/>
            <a:ext cx="1412022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8" name="단계"/>
          <p:cNvSpPr>
            <a:spLocks noGrp="1"/>
          </p:cNvSpPr>
          <p:nvPr>
            <p:ph type="body" sz="quarter" idx="43"/>
          </p:nvPr>
        </p:nvSpPr>
        <p:spPr>
          <a:xfrm>
            <a:off x="5397457" y="3166435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검증기술 마켓등록</a:t>
            </a:r>
          </a:p>
        </p:txBody>
      </p:sp>
      <p:sp>
        <p:nvSpPr>
          <p:cNvPr id="59" name="단계 삼각형"/>
          <p:cNvSpPr/>
          <p:nvPr/>
        </p:nvSpPr>
        <p:spPr>
          <a:xfrm>
            <a:off x="2573413" y="3166434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0" name="단계 삼각형"/>
          <p:cNvSpPr/>
          <p:nvPr/>
        </p:nvSpPr>
        <p:spPr>
          <a:xfrm>
            <a:off x="3985434" y="3166434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1" name="단계 삼각형"/>
          <p:cNvSpPr/>
          <p:nvPr/>
        </p:nvSpPr>
        <p:spPr>
          <a:xfrm>
            <a:off x="5397456" y="3166434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2" name="칸 본문"/>
          <p:cNvSpPr txBox="1"/>
          <p:nvPr/>
        </p:nvSpPr>
        <p:spPr>
          <a:xfrm>
            <a:off x="1172348" y="3418435"/>
            <a:ext cx="1390109" cy="109565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sp>
        <p:nvSpPr>
          <p:cNvPr id="63" name="칸 본문"/>
          <p:cNvSpPr txBox="1"/>
          <p:nvPr/>
        </p:nvSpPr>
        <p:spPr>
          <a:xfrm>
            <a:off x="2584370" y="3418435"/>
            <a:ext cx="1390109" cy="109565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64" name="Connector 44"/>
          <p:cNvCxnSpPr/>
          <p:nvPr/>
        </p:nvCxnSpPr>
        <p:spPr>
          <a:xfrm>
            <a:off x="2573413" y="3451304"/>
            <a:ext cx="0" cy="4382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5" name="칸 본문"/>
          <p:cNvSpPr txBox="1"/>
          <p:nvPr/>
        </p:nvSpPr>
        <p:spPr>
          <a:xfrm>
            <a:off x="3996391" y="3418435"/>
            <a:ext cx="1390109" cy="109565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66" name="Connector 46"/>
          <p:cNvCxnSpPr/>
          <p:nvPr/>
        </p:nvCxnSpPr>
        <p:spPr>
          <a:xfrm>
            <a:off x="3985435" y="3451304"/>
            <a:ext cx="0" cy="4382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7" name="칸 본문"/>
          <p:cNvSpPr txBox="1"/>
          <p:nvPr/>
        </p:nvSpPr>
        <p:spPr>
          <a:xfrm>
            <a:off x="5408413" y="3418435"/>
            <a:ext cx="1390109" cy="109565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68" name="Connector 48"/>
          <p:cNvCxnSpPr/>
          <p:nvPr/>
        </p:nvCxnSpPr>
        <p:spPr>
          <a:xfrm>
            <a:off x="5397457" y="3451304"/>
            <a:ext cx="0" cy="4382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9" name="레일"/>
          <p:cNvSpPr/>
          <p:nvPr/>
        </p:nvSpPr>
        <p:spPr>
          <a:xfrm>
            <a:off x="547826" y="3549913"/>
            <a:ext cx="580696" cy="99156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0" name="레일 태그"/>
          <p:cNvSpPr/>
          <p:nvPr/>
        </p:nvSpPr>
        <p:spPr>
          <a:xfrm>
            <a:off x="503491" y="3714261"/>
            <a:ext cx="669365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71" name="레일 태그"/>
          <p:cNvSpPr>
            <a:spLocks noGrp="1"/>
          </p:cNvSpPr>
          <p:nvPr>
            <p:ph type="body" sz="quarter" idx="44"/>
          </p:nvPr>
        </p:nvSpPr>
        <p:spPr>
          <a:xfrm>
            <a:off x="503491" y="3714261"/>
            <a:ext cx="669365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희망기업에</a:t>
            </a:r>
          </a:p>
        </p:txBody>
      </p:sp>
      <p:sp>
        <p:nvSpPr>
          <p:cNvPr id="72" name="레일 라벨"/>
          <p:cNvSpPr>
            <a:spLocks noGrp="1"/>
          </p:cNvSpPr>
          <p:nvPr>
            <p:ph type="body" sz="quarter" idx="45"/>
          </p:nvPr>
        </p:nvSpPr>
        <p:spPr>
          <a:xfrm>
            <a:off x="547826" y="3900522"/>
            <a:ext cx="580696" cy="619043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AI인프라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지원하고</a:t>
            </a:r>
          </a:p>
        </p:txBody>
      </p:sp>
      <p:sp>
        <p:nvSpPr>
          <p:cNvPr id="73" name="레일 삼각형"/>
          <p:cNvSpPr/>
          <p:nvPr/>
        </p:nvSpPr>
        <p:spPr>
          <a:xfrm>
            <a:off x="547826" y="3549913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4" name="단계"/>
          <p:cNvSpPr/>
          <p:nvPr/>
        </p:nvSpPr>
        <p:spPr>
          <a:xfrm>
            <a:off x="1161391" y="3571826"/>
            <a:ext cx="3883060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5" name="단계"/>
          <p:cNvSpPr>
            <a:spLocks noGrp="1"/>
          </p:cNvSpPr>
          <p:nvPr>
            <p:ph type="body" sz="quarter" idx="46"/>
          </p:nvPr>
        </p:nvSpPr>
        <p:spPr>
          <a:xfrm>
            <a:off x="1161391" y="3571826"/>
            <a:ext cx="3883060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공공기관 최초 디지털 실증인프라 지원</a:t>
            </a:r>
          </a:p>
        </p:txBody>
      </p:sp>
      <p:sp>
        <p:nvSpPr>
          <p:cNvPr id="76" name="단계"/>
          <p:cNvSpPr/>
          <p:nvPr/>
        </p:nvSpPr>
        <p:spPr>
          <a:xfrm>
            <a:off x="5044451" y="3571826"/>
            <a:ext cx="1765027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7" name="단계"/>
          <p:cNvSpPr>
            <a:spLocks noGrp="1"/>
          </p:cNvSpPr>
          <p:nvPr>
            <p:ph type="body" sz="quarter" idx="47"/>
          </p:nvPr>
        </p:nvSpPr>
        <p:spPr>
          <a:xfrm>
            <a:off x="5044451" y="3571826"/>
            <a:ext cx="176502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‘A’社 AI 솔루션 개발</a:t>
            </a:r>
          </a:p>
        </p:txBody>
      </p:sp>
      <p:sp>
        <p:nvSpPr>
          <p:cNvPr id="78" name="단계 삼각형"/>
          <p:cNvSpPr/>
          <p:nvPr/>
        </p:nvSpPr>
        <p:spPr>
          <a:xfrm>
            <a:off x="5044451" y="3571826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9" name="칸 본문"/>
          <p:cNvSpPr>
            <a:spLocks noGrp="1"/>
          </p:cNvSpPr>
          <p:nvPr>
            <p:ph type="body" sz="quarter" idx="48"/>
          </p:nvPr>
        </p:nvSpPr>
        <p:spPr>
          <a:xfrm>
            <a:off x="1172348" y="3823826"/>
            <a:ext cx="3861147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실증랩 GPU 지원(글로벌 ‘N’社 GPU A100·H100 등 20장 보유)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클라우드 네이버 클라우드+아마존 웹서비스(AWS) 무상지원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GPU·클라우드 제공 → 기술지원(교육·컨설팅) → 우수 AI 기술 개발</a:t>
            </a:r>
          </a:p>
        </p:txBody>
      </p:sp>
      <p:sp>
        <p:nvSpPr>
          <p:cNvPr id="80" name="칸 본문"/>
          <p:cNvSpPr>
            <a:spLocks noGrp="1"/>
          </p:cNvSpPr>
          <p:nvPr>
            <p:ph type="body" sz="quarter" idx="49"/>
          </p:nvPr>
        </p:nvSpPr>
        <p:spPr>
          <a:xfrm>
            <a:off x="5055408" y="3823826"/>
            <a:ext cx="1743114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이미지 활용 가상·증강현실 시뮬레이션 솔루션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제조기업 현장 판매(매출 1.1억원 창출)</a:t>
            </a:r>
          </a:p>
        </p:txBody>
      </p:sp>
      <p:cxnSp>
        <p:nvCxnSpPr>
          <p:cNvPr id="81" name="Connector 58"/>
          <p:cNvCxnSpPr/>
          <p:nvPr/>
        </p:nvCxnSpPr>
        <p:spPr>
          <a:xfrm>
            <a:off x="5044451" y="3856696"/>
            <a:ext cx="0" cy="64643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2" name="레일"/>
          <p:cNvSpPr/>
          <p:nvPr/>
        </p:nvSpPr>
        <p:spPr>
          <a:xfrm>
            <a:off x="547826" y="4557913"/>
            <a:ext cx="580696" cy="99156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3" name="레일 태그"/>
          <p:cNvSpPr/>
          <p:nvPr/>
        </p:nvSpPr>
        <p:spPr>
          <a:xfrm>
            <a:off x="488856" y="4601739"/>
            <a:ext cx="69863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84" name="레일 태그"/>
          <p:cNvSpPr>
            <a:spLocks noGrp="1"/>
          </p:cNvSpPr>
          <p:nvPr>
            <p:ph type="body" sz="quarter" idx="50"/>
          </p:nvPr>
        </p:nvSpPr>
        <p:spPr>
          <a:xfrm>
            <a:off x="488856" y="4601739"/>
            <a:ext cx="69863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개발 기술은</a:t>
            </a:r>
          </a:p>
        </p:txBody>
      </p:sp>
      <p:sp>
        <p:nvSpPr>
          <p:cNvPr id="85" name="레일 라벨"/>
          <p:cNvSpPr>
            <a:spLocks noGrp="1"/>
          </p:cNvSpPr>
          <p:nvPr>
            <p:ph type="body" sz="quarter" idx="51"/>
          </p:nvPr>
        </p:nvSpPr>
        <p:spPr>
          <a:xfrm>
            <a:off x="547826" y="4788000"/>
            <a:ext cx="580696" cy="739565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현장에서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검증하여</a:t>
            </a:r>
          </a:p>
        </p:txBody>
      </p:sp>
      <p:sp>
        <p:nvSpPr>
          <p:cNvPr id="86" name="단계"/>
          <p:cNvSpPr/>
          <p:nvPr/>
        </p:nvSpPr>
        <p:spPr>
          <a:xfrm>
            <a:off x="1161391" y="4579826"/>
            <a:ext cx="3883060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87" name="단계"/>
          <p:cNvSpPr>
            <a:spLocks noGrp="1"/>
          </p:cNvSpPr>
          <p:nvPr>
            <p:ph type="body" sz="quarter" idx="52"/>
          </p:nvPr>
        </p:nvSpPr>
        <p:spPr>
          <a:xfrm>
            <a:off x="1161391" y="4579826"/>
            <a:ext cx="3883060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현장 참여형 기술 성능검증 및 피드백</a:t>
            </a:r>
          </a:p>
        </p:txBody>
      </p:sp>
      <p:sp>
        <p:nvSpPr>
          <p:cNvPr id="88" name="단계"/>
          <p:cNvSpPr/>
          <p:nvPr/>
        </p:nvSpPr>
        <p:spPr>
          <a:xfrm>
            <a:off x="5044451" y="4579826"/>
            <a:ext cx="1765027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89" name="단계"/>
          <p:cNvSpPr>
            <a:spLocks noGrp="1"/>
          </p:cNvSpPr>
          <p:nvPr>
            <p:ph type="body" sz="quarter" idx="53"/>
          </p:nvPr>
        </p:nvSpPr>
        <p:spPr>
          <a:xfrm>
            <a:off x="5044451" y="4579826"/>
            <a:ext cx="176502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‘S’社 우수성 대외 인정</a:t>
            </a:r>
          </a:p>
        </p:txBody>
      </p:sp>
      <p:sp>
        <p:nvSpPr>
          <p:cNvPr id="90" name="단계 삼각형"/>
          <p:cNvSpPr/>
          <p:nvPr/>
        </p:nvSpPr>
        <p:spPr>
          <a:xfrm>
            <a:off x="5044451" y="4579826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91" name="칸 본문"/>
          <p:cNvSpPr>
            <a:spLocks noGrp="1"/>
          </p:cNvSpPr>
          <p:nvPr>
            <p:ph type="body" sz="quarter" idx="54"/>
          </p:nvPr>
        </p:nvSpPr>
        <p:spPr>
          <a:xfrm>
            <a:off x="1172348" y="4831826"/>
            <a:ext cx="3861147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애로 기술검증 실적 부재에 따른 낮은 신뢰도 상용화 한계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해소 K-water 사업 현장에서 개발기술 적용 및 검증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현장부서 직접 사용 → 품질개선 피드백 → 성능검증 완료</a:t>
            </a:r>
          </a:p>
        </p:txBody>
      </p:sp>
      <p:sp>
        <p:nvSpPr>
          <p:cNvPr id="92" name="칸 본문"/>
          <p:cNvSpPr>
            <a:spLocks noGrp="1"/>
          </p:cNvSpPr>
          <p:nvPr>
            <p:ph type="body" sz="quarter" idx="55"/>
          </p:nvPr>
        </p:nvSpPr>
        <p:spPr>
          <a:xfrm>
            <a:off x="5055408" y="4831826"/>
            <a:ext cx="1743114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현장실증으로 CCTV 기반 안전관리 솔루션 개발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NIA 디지털 서비스 등재로 신뢰성 입증</a:t>
            </a:r>
          </a:p>
        </p:txBody>
      </p:sp>
      <p:cxnSp>
        <p:nvCxnSpPr>
          <p:cNvPr id="93" name="Connector 67"/>
          <p:cNvCxnSpPr/>
          <p:nvPr/>
        </p:nvCxnSpPr>
        <p:spPr>
          <a:xfrm>
            <a:off x="5044451" y="4864696"/>
            <a:ext cx="0" cy="64643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94" name="레일"/>
          <p:cNvSpPr/>
          <p:nvPr/>
        </p:nvSpPr>
        <p:spPr>
          <a:xfrm>
            <a:off x="547826" y="5565913"/>
            <a:ext cx="580696" cy="991565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5" name="레일 태그"/>
          <p:cNvSpPr/>
          <p:nvPr/>
        </p:nvSpPr>
        <p:spPr>
          <a:xfrm>
            <a:off x="488856" y="5730261"/>
            <a:ext cx="69863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96" name="레일 태그"/>
          <p:cNvSpPr>
            <a:spLocks noGrp="1"/>
          </p:cNvSpPr>
          <p:nvPr>
            <p:ph type="body" sz="quarter" idx="56"/>
          </p:nvPr>
        </p:nvSpPr>
        <p:spPr>
          <a:xfrm>
            <a:off x="488856" y="5730261"/>
            <a:ext cx="69863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검증된 기술</a:t>
            </a:r>
          </a:p>
        </p:txBody>
      </p:sp>
      <p:sp>
        <p:nvSpPr>
          <p:cNvPr id="97" name="레일 라벨"/>
          <p:cNvSpPr>
            <a:spLocks noGrp="1"/>
          </p:cNvSpPr>
          <p:nvPr>
            <p:ph type="body" sz="quarter" idx="57"/>
          </p:nvPr>
        </p:nvSpPr>
        <p:spPr>
          <a:xfrm>
            <a:off x="547826" y="5916522"/>
            <a:ext cx="580696" cy="619043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신속하게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마켓등록</a:t>
            </a:r>
          </a:p>
        </p:txBody>
      </p:sp>
      <p:sp>
        <p:nvSpPr>
          <p:cNvPr id="98" name="레일 삼각형"/>
          <p:cNvSpPr/>
          <p:nvPr/>
        </p:nvSpPr>
        <p:spPr>
          <a:xfrm>
            <a:off x="547826" y="5565913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99" name="단계"/>
          <p:cNvSpPr/>
          <p:nvPr/>
        </p:nvSpPr>
        <p:spPr>
          <a:xfrm>
            <a:off x="1161391" y="5587826"/>
            <a:ext cx="3883060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00" name="단계"/>
          <p:cNvSpPr>
            <a:spLocks noGrp="1"/>
          </p:cNvSpPr>
          <p:nvPr>
            <p:ph type="body" sz="quarter" idx="58"/>
          </p:nvPr>
        </p:nvSpPr>
        <p:spPr>
          <a:xfrm>
            <a:off x="1161391" y="5587826"/>
            <a:ext cx="3883060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wateRound와 연계한 기술마켓 등록 패스트트랙 신설</a:t>
            </a:r>
          </a:p>
        </p:txBody>
      </p:sp>
      <p:sp>
        <p:nvSpPr>
          <p:cNvPr id="101" name="단계"/>
          <p:cNvSpPr/>
          <p:nvPr/>
        </p:nvSpPr>
        <p:spPr>
          <a:xfrm>
            <a:off x="5044451" y="5587826"/>
            <a:ext cx="1765027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02" name="단계"/>
          <p:cNvSpPr>
            <a:spLocks noGrp="1"/>
          </p:cNvSpPr>
          <p:nvPr>
            <p:ph type="body" sz="quarter" idx="59"/>
          </p:nvPr>
        </p:nvSpPr>
        <p:spPr>
          <a:xfrm>
            <a:off x="5044451" y="5587826"/>
            <a:ext cx="176502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기술마켓 등록기간 단축</a:t>
            </a:r>
          </a:p>
        </p:txBody>
      </p:sp>
      <p:sp>
        <p:nvSpPr>
          <p:cNvPr id="103" name="단계 삼각형"/>
          <p:cNvSpPr/>
          <p:nvPr/>
        </p:nvSpPr>
        <p:spPr>
          <a:xfrm>
            <a:off x="5044451" y="5587826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04" name="칸 본문"/>
          <p:cNvSpPr>
            <a:spLocks noGrp="1"/>
          </p:cNvSpPr>
          <p:nvPr>
            <p:ph type="body" sz="quarter" idx="60"/>
          </p:nvPr>
        </p:nvSpPr>
        <p:spPr>
          <a:xfrm>
            <a:off x="1172348" y="5839826"/>
            <a:ext cx="3861147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등록신청 → 서류검토(30일) → 사전검토(30일) → 기술심의 → 기술마켓 등록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등록신청 → 생략(K-water 현장 성능검증 평가시 병행) → 기술심의 → 기술마켓 등록</a:t>
            </a:r>
          </a:p>
        </p:txBody>
      </p:sp>
      <p:sp>
        <p:nvSpPr>
          <p:cNvPr id="105" name="칸 본문"/>
          <p:cNvSpPr>
            <a:spLocks noGrp="1"/>
          </p:cNvSpPr>
          <p:nvPr>
            <p:ph type="body" sz="quarter" idx="61"/>
          </p:nvPr>
        </p:nvSpPr>
        <p:spPr>
          <a:xfrm>
            <a:off x="5055408" y="5839826"/>
            <a:ext cx="1743114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검증 완료시, 사전 검토단계 생략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기존 소요기간 대비 최소 2개월 단축</a:t>
            </a:r>
          </a:p>
        </p:txBody>
      </p:sp>
      <p:cxnSp>
        <p:nvCxnSpPr>
          <p:cNvPr id="106" name="Connector 77"/>
          <p:cNvCxnSpPr/>
          <p:nvPr/>
        </p:nvCxnSpPr>
        <p:spPr>
          <a:xfrm>
            <a:off x="5044451" y="5872696"/>
            <a:ext cx="0" cy="64643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07" name="핵심성과 박스"/>
          <p:cNvSpPr/>
          <p:nvPr/>
        </p:nvSpPr>
        <p:spPr>
          <a:xfrm>
            <a:off x="536870" y="6661565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8" name="핵심성과 라벨"/>
          <p:cNvSpPr/>
          <p:nvPr/>
        </p:nvSpPr>
        <p:spPr>
          <a:xfrm>
            <a:off x="569739" y="6699913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109" name="핵심성과 라벨"/>
          <p:cNvSpPr>
            <a:spLocks noGrp="1"/>
          </p:cNvSpPr>
          <p:nvPr>
            <p:ph type="body" sz="quarter" idx="62"/>
          </p:nvPr>
        </p:nvSpPr>
        <p:spPr>
          <a:xfrm>
            <a:off x="569739" y="6699913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110" name="핵심성과 문구"/>
          <p:cNvSpPr>
            <a:spLocks noGrp="1"/>
          </p:cNvSpPr>
          <p:nvPr>
            <p:ph type="body" sz="quarter" idx="63"/>
          </p:nvPr>
        </p:nvSpPr>
        <p:spPr>
          <a:xfrm>
            <a:off x="1314783" y="6678000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우수 AI 솔루션 3건 기술마켓 신규 등록 및 기후테크 AI 기술 공공시장 진입기반 마련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00 서사 · 전담조직 확대(추진배경 → 추진내용) · 기술개발 · 사업기반 지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전담조직 확대 및 기업 밀착 지원으로 기술마켓 등록·구매 확대</a:t>
            </a:r>
          </a:p>
        </p:txBody>
      </p:sp>
      <p:sp>
        <p:nvSpPr>
          <p:cNvPr id="14" name="번호 띠 칩"/>
          <p:cNvSpPr/>
          <p:nvPr/>
        </p:nvSpPr>
        <p:spPr>
          <a:xfrm>
            <a:off x="6451874" y="843652"/>
            <a:ext cx="505517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번호 띠 칩"/>
          <p:cNvSpPr>
            <a:spLocks noGrp="1"/>
          </p:cNvSpPr>
          <p:nvPr>
            <p:ph type="body" sz="quarter" idx="22"/>
          </p:nvPr>
        </p:nvSpPr>
        <p:spPr>
          <a:xfrm>
            <a:off x="6451874" y="843652"/>
            <a:ext cx="50551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6" name="번호"/>
          <p:cNvSpPr>
            <a:spLocks noGrp="1"/>
          </p:cNvSpPr>
          <p:nvPr>
            <p:ph type="body" sz="quarter" idx="23"/>
          </p:nvPr>
        </p:nvSpPr>
        <p:spPr>
          <a:xfrm>
            <a:off x="723130" y="1205217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17" name="분야 박스"/>
          <p:cNvSpPr/>
          <p:nvPr/>
        </p:nvSpPr>
        <p:spPr>
          <a:xfrm>
            <a:off x="952651" y="1238087"/>
            <a:ext cx="847849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분야 박스"/>
          <p:cNvSpPr>
            <a:spLocks noGrp="1"/>
          </p:cNvSpPr>
          <p:nvPr>
            <p:ph type="body" sz="quarter" idx="24"/>
          </p:nvPr>
        </p:nvSpPr>
        <p:spPr>
          <a:xfrm>
            <a:off x="952651" y="1238087"/>
            <a:ext cx="84784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전담조직·인력</a:t>
            </a:r>
          </a:p>
        </p:txBody>
      </p:sp>
      <p:sp>
        <p:nvSpPr>
          <p:cNvPr id="19" name="형광 밑줄"/>
          <p:cNvSpPr/>
          <p:nvPr/>
        </p:nvSpPr>
        <p:spPr>
          <a:xfrm>
            <a:off x="1866239" y="1358609"/>
            <a:ext cx="3560852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0" name="소제목"/>
          <p:cNvSpPr>
            <a:spLocks noGrp="1"/>
          </p:cNvSpPr>
          <p:nvPr>
            <p:ph type="body" sz="quarter" idx="25"/>
          </p:nvPr>
        </p:nvSpPr>
        <p:spPr>
          <a:xfrm>
            <a:off x="1866239" y="1205217"/>
            <a:ext cx="5156891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부서 단위 조직 완비로 기술개발부터 판로까지 빈틈없이 지원</a:t>
            </a:r>
          </a:p>
        </p:txBody>
      </p:sp>
      <p:sp>
        <p:nvSpPr>
          <p:cNvPr id="21" name="태그칩"/>
          <p:cNvSpPr/>
          <p:nvPr/>
        </p:nvSpPr>
        <p:spPr>
          <a:xfrm>
            <a:off x="5525700" y="1238087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태그칩"/>
          <p:cNvSpPr>
            <a:spLocks noGrp="1"/>
          </p:cNvSpPr>
          <p:nvPr>
            <p:ph type="body" sz="quarter" idx="26"/>
          </p:nvPr>
        </p:nvSpPr>
        <p:spPr>
          <a:xfrm>
            <a:off x="5525700" y="1238087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23" name="표 외곽"/>
          <p:cNvSpPr/>
          <p:nvPr/>
        </p:nvSpPr>
        <p:spPr>
          <a:xfrm>
            <a:off x="723130" y="1490087"/>
            <a:ext cx="6300000" cy="193930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4" name="레일"/>
          <p:cNvSpPr/>
          <p:nvPr/>
        </p:nvSpPr>
        <p:spPr>
          <a:xfrm>
            <a:off x="734087" y="1506522"/>
            <a:ext cx="580696" cy="498522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5" name="레일"/>
          <p:cNvSpPr>
            <a:spLocks noGrp="1"/>
          </p:cNvSpPr>
          <p:nvPr>
            <p:ph type="body" sz="quarter" idx="27"/>
          </p:nvPr>
        </p:nvSpPr>
        <p:spPr>
          <a:xfrm>
            <a:off x="734087" y="1506522"/>
            <a:ext cx="580696" cy="49852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8"/>
          </p:nvPr>
        </p:nvSpPr>
        <p:spPr>
          <a:xfrm>
            <a:off x="1358609" y="1528435"/>
            <a:ext cx="2802130" cy="471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운영·홍보 등 3개 파트 총 8명 전담인력 운영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29"/>
          </p:nvPr>
        </p:nvSpPr>
        <p:spPr>
          <a:xfrm>
            <a:off x="4182652" y="1528435"/>
            <a:ext cx="2802130" cy="471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기술마켓 AI 전용관 신설과 기업 지원 강화를 위한 전담조직 확대 필요</a:t>
            </a:r>
          </a:p>
        </p:txBody>
      </p:sp>
      <p:cxnSp>
        <p:nvCxnSpPr>
          <p:cNvPr id="28" name="Connector 18"/>
          <p:cNvCxnSpPr/>
          <p:nvPr/>
        </p:nvCxnSpPr>
        <p:spPr>
          <a:xfrm>
            <a:off x="4171696" y="1561304"/>
            <a:ext cx="0" cy="40539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9" name="레일"/>
          <p:cNvSpPr/>
          <p:nvPr/>
        </p:nvSpPr>
        <p:spPr>
          <a:xfrm>
            <a:off x="734087" y="2021478"/>
            <a:ext cx="580696" cy="1391478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0" name="레일"/>
          <p:cNvSpPr>
            <a:spLocks noGrp="1"/>
          </p:cNvSpPr>
          <p:nvPr>
            <p:ph type="body" sz="quarter" idx="30"/>
          </p:nvPr>
        </p:nvSpPr>
        <p:spPr>
          <a:xfrm>
            <a:off x="734087" y="2021478"/>
            <a:ext cx="580696" cy="139147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내 용</a:t>
            </a:r>
          </a:p>
        </p:txBody>
      </p:sp>
      <p:sp>
        <p:nvSpPr>
          <p:cNvPr id="31" name="레일 삼각형"/>
          <p:cNvSpPr/>
          <p:nvPr/>
        </p:nvSpPr>
        <p:spPr>
          <a:xfrm>
            <a:off x="734086" y="2021478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2" name="단계"/>
          <p:cNvSpPr/>
          <p:nvPr/>
        </p:nvSpPr>
        <p:spPr>
          <a:xfrm>
            <a:off x="1347652" y="2043391"/>
            <a:ext cx="338885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3" name="단계"/>
          <p:cNvSpPr>
            <a:spLocks noGrp="1"/>
          </p:cNvSpPr>
          <p:nvPr>
            <p:ph type="body" sz="quarter" idx="31"/>
          </p:nvPr>
        </p:nvSpPr>
        <p:spPr>
          <a:xfrm>
            <a:off x="1347652" y="2043391"/>
            <a:ext cx="338885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 중심의 제도별 전담인력 증원</a:t>
            </a:r>
          </a:p>
        </p:txBody>
      </p:sp>
      <p:sp>
        <p:nvSpPr>
          <p:cNvPr id="34" name="단계"/>
          <p:cNvSpPr/>
          <p:nvPr/>
        </p:nvSpPr>
        <p:spPr>
          <a:xfrm>
            <a:off x="4736504" y="2043391"/>
            <a:ext cx="2259235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5" name="단계"/>
          <p:cNvSpPr>
            <a:spLocks noGrp="1"/>
          </p:cNvSpPr>
          <p:nvPr>
            <p:ph type="body" sz="quarter" idx="32"/>
          </p:nvPr>
        </p:nvSpPr>
        <p:spPr>
          <a:xfrm>
            <a:off x="4736504" y="2043391"/>
            <a:ext cx="2259235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 친화적 실행조직 완비</a:t>
            </a:r>
          </a:p>
        </p:txBody>
      </p:sp>
      <p:sp>
        <p:nvSpPr>
          <p:cNvPr id="36" name="단계 삼각형"/>
          <p:cNvSpPr/>
          <p:nvPr/>
        </p:nvSpPr>
        <p:spPr>
          <a:xfrm>
            <a:off x="4736504" y="2043391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3"/>
          </p:nvPr>
        </p:nvSpPr>
        <p:spPr>
          <a:xfrm>
            <a:off x="1358609" y="2295391"/>
            <a:ext cx="3366939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지원 wateRound와 연계한 기업 AI 지원·등록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조정기능 다양한 기업 니즈 충족을 위한 분야별 협업 제고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기술개발 성장 중심 R&amp;D 지원을 위한 인원 보강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업역확대 현장 실증지원 및 금융·홍보·판로지원 강화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4"/>
          </p:nvPr>
        </p:nvSpPr>
        <p:spPr>
          <a:xfrm>
            <a:off x="4747461" y="2295391"/>
            <a:ext cx="2237322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기술마켓 활성화 전담반(총 21명)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총괄 전담운영(조정기능 확대, 3명)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기술개발(증원 3~4명) / 테스트베드 wateRound(증원 2~8명) / 금융·홍보·판로지원(증원 3~6명)</a:t>
            </a:r>
          </a:p>
        </p:txBody>
      </p:sp>
      <p:cxnSp>
        <p:nvCxnSpPr>
          <p:cNvPr id="39" name="Connector 26"/>
          <p:cNvCxnSpPr/>
          <p:nvPr/>
        </p:nvCxnSpPr>
        <p:spPr>
          <a:xfrm>
            <a:off x="4736504" y="2328261"/>
            <a:ext cx="0" cy="81078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0" name="배너"/>
          <p:cNvSpPr/>
          <p:nvPr/>
        </p:nvSpPr>
        <p:spPr>
          <a:xfrm>
            <a:off x="1347652" y="3188348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1" name="배너"/>
          <p:cNvSpPr>
            <a:spLocks noGrp="1"/>
          </p:cNvSpPr>
          <p:nvPr>
            <p:ph type="body" sz="quarter" idx="35"/>
          </p:nvPr>
        </p:nvSpPr>
        <p:spPr>
          <a:xfrm>
            <a:off x="1347652" y="3188348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전담조직 신설(wateRound 연계)과 인력 확충(8 → 21명, 전년比 13명↑)으로 기업지원 실행력 강화</a:t>
            </a:r>
          </a:p>
        </p:txBody>
      </p:sp>
      <p:sp>
        <p:nvSpPr>
          <p:cNvPr id="42" name="번호"/>
          <p:cNvSpPr>
            <a:spLocks noGrp="1"/>
          </p:cNvSpPr>
          <p:nvPr>
            <p:ph type="body" sz="quarter" idx="36"/>
          </p:nvPr>
        </p:nvSpPr>
        <p:spPr>
          <a:xfrm>
            <a:off x="723130" y="3549913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43" name="분야 박스"/>
          <p:cNvSpPr/>
          <p:nvPr/>
        </p:nvSpPr>
        <p:spPr>
          <a:xfrm>
            <a:off x="952651" y="3582783"/>
            <a:ext cx="592466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4" name="분야 박스"/>
          <p:cNvSpPr>
            <a:spLocks noGrp="1"/>
          </p:cNvSpPr>
          <p:nvPr>
            <p:ph type="body" sz="quarter" idx="37"/>
          </p:nvPr>
        </p:nvSpPr>
        <p:spPr>
          <a:xfrm>
            <a:off x="952651" y="3582783"/>
            <a:ext cx="59246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기술개발</a:t>
            </a:r>
          </a:p>
        </p:txBody>
      </p:sp>
      <p:sp>
        <p:nvSpPr>
          <p:cNvPr id="45" name="형광 밑줄"/>
          <p:cNvSpPr/>
          <p:nvPr/>
        </p:nvSpPr>
        <p:spPr>
          <a:xfrm>
            <a:off x="1610856" y="3703304"/>
            <a:ext cx="3265704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6" name="소제목"/>
          <p:cNvSpPr>
            <a:spLocks noGrp="1"/>
          </p:cNvSpPr>
          <p:nvPr>
            <p:ph type="body" sz="quarter" idx="38"/>
          </p:nvPr>
        </p:nvSpPr>
        <p:spPr>
          <a:xfrm>
            <a:off x="1610856" y="3549913"/>
            <a:ext cx="5412275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R&amp;D 지원부터 혁신제품 지정까지 전주기 기술지원체계</a:t>
            </a:r>
          </a:p>
        </p:txBody>
      </p:sp>
      <p:sp>
        <p:nvSpPr>
          <p:cNvPr id="47" name="태그칩"/>
          <p:cNvSpPr/>
          <p:nvPr/>
        </p:nvSpPr>
        <p:spPr>
          <a:xfrm>
            <a:off x="4975168" y="3582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8" name="태그칩"/>
          <p:cNvSpPr>
            <a:spLocks noGrp="1"/>
          </p:cNvSpPr>
          <p:nvPr>
            <p:ph type="body" sz="quarter" idx="39"/>
          </p:nvPr>
        </p:nvSpPr>
        <p:spPr>
          <a:xfrm>
            <a:off x="4975168" y="3582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49" name="태그칩"/>
          <p:cNvSpPr/>
          <p:nvPr/>
        </p:nvSpPr>
        <p:spPr>
          <a:xfrm>
            <a:off x="5526289" y="3582783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0" name="태그칩"/>
          <p:cNvSpPr>
            <a:spLocks noGrp="1"/>
          </p:cNvSpPr>
          <p:nvPr>
            <p:ph type="body" sz="quarter" idx="40"/>
          </p:nvPr>
        </p:nvSpPr>
        <p:spPr>
          <a:xfrm>
            <a:off x="5526289" y="3582783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51" name="표 외곽"/>
          <p:cNvSpPr/>
          <p:nvPr/>
        </p:nvSpPr>
        <p:spPr>
          <a:xfrm>
            <a:off x="723130" y="3834783"/>
            <a:ext cx="6300000" cy="2207739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2" name="레일"/>
          <p:cNvSpPr/>
          <p:nvPr/>
        </p:nvSpPr>
        <p:spPr>
          <a:xfrm>
            <a:off x="734087" y="3851217"/>
            <a:ext cx="580696" cy="44373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3" name="레일"/>
          <p:cNvSpPr>
            <a:spLocks noGrp="1"/>
          </p:cNvSpPr>
          <p:nvPr>
            <p:ph type="body" sz="quarter" idx="41"/>
          </p:nvPr>
        </p:nvSpPr>
        <p:spPr>
          <a:xfrm>
            <a:off x="734087" y="3851217"/>
            <a:ext cx="580696" cy="443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R &amp; D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 원</a:t>
            </a:r>
          </a:p>
        </p:txBody>
      </p:sp>
      <p:sp>
        <p:nvSpPr>
          <p:cNvPr id="54" name="태그"/>
          <p:cNvSpPr/>
          <p:nvPr/>
        </p:nvSpPr>
        <p:spPr>
          <a:xfrm>
            <a:off x="1347652" y="3895043"/>
            <a:ext cx="581509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5" name="태그"/>
          <p:cNvSpPr>
            <a:spLocks noGrp="1"/>
          </p:cNvSpPr>
          <p:nvPr>
            <p:ph type="body" sz="quarter" idx="42"/>
          </p:nvPr>
        </p:nvSpPr>
        <p:spPr>
          <a:xfrm>
            <a:off x="1347652" y="3895043"/>
            <a:ext cx="58150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수요발굴</a:t>
            </a:r>
          </a:p>
        </p:txBody>
      </p:sp>
      <p:sp>
        <p:nvSpPr>
          <p:cNvPr id="56" name="태그 설명"/>
          <p:cNvSpPr>
            <a:spLocks noGrp="1"/>
          </p:cNvSpPr>
          <p:nvPr>
            <p:ph type="body" sz="quarter" idx="43"/>
          </p:nvPr>
        </p:nvSpPr>
        <p:spPr>
          <a:xfrm>
            <a:off x="1972988" y="3884087"/>
            <a:ext cx="502275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필요기술 맞춤형 수요조사 등을 통해 수요기반 기업 R&amp;D 지원</a:t>
            </a:r>
          </a:p>
        </p:txBody>
      </p:sp>
      <p:sp>
        <p:nvSpPr>
          <p:cNvPr id="57" name="태그"/>
          <p:cNvSpPr/>
          <p:nvPr/>
        </p:nvSpPr>
        <p:spPr>
          <a:xfrm>
            <a:off x="1347652" y="4092261"/>
            <a:ext cx="581509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8" name="태그"/>
          <p:cNvSpPr>
            <a:spLocks noGrp="1"/>
          </p:cNvSpPr>
          <p:nvPr>
            <p:ph type="body" sz="quarter" idx="44"/>
          </p:nvPr>
        </p:nvSpPr>
        <p:spPr>
          <a:xfrm>
            <a:off x="1347652" y="4092261"/>
            <a:ext cx="58150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자금지원</a:t>
            </a:r>
          </a:p>
        </p:txBody>
      </p:sp>
      <p:sp>
        <p:nvSpPr>
          <p:cNvPr id="59" name="태그 설명"/>
          <p:cNvSpPr>
            <a:spLocks noGrp="1"/>
          </p:cNvSpPr>
          <p:nvPr>
            <p:ph type="body" sz="quarter" idx="45"/>
          </p:nvPr>
        </p:nvSpPr>
        <p:spPr>
          <a:xfrm>
            <a:off x="1972988" y="4081304"/>
            <a:ext cx="502275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상생협력기금 출연을 통한 기술개발비용 지원 확대(17.7억원, 전년比 140%)</a:t>
            </a:r>
          </a:p>
        </p:txBody>
      </p:sp>
      <p:sp>
        <p:nvSpPr>
          <p:cNvPr id="60" name="레일"/>
          <p:cNvSpPr/>
          <p:nvPr/>
        </p:nvSpPr>
        <p:spPr>
          <a:xfrm>
            <a:off x="734087" y="4311391"/>
            <a:ext cx="580696" cy="849130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1" name="레일"/>
          <p:cNvSpPr>
            <a:spLocks noGrp="1"/>
          </p:cNvSpPr>
          <p:nvPr>
            <p:ph type="body" sz="quarter" idx="46"/>
          </p:nvPr>
        </p:nvSpPr>
        <p:spPr>
          <a:xfrm>
            <a:off x="734087" y="4311391"/>
            <a:ext cx="580696" cy="849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기술실증·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사후관리</a:t>
            </a:r>
          </a:p>
        </p:txBody>
      </p:sp>
      <p:sp>
        <p:nvSpPr>
          <p:cNvPr id="62" name="레일 삼각형"/>
          <p:cNvSpPr/>
          <p:nvPr/>
        </p:nvSpPr>
        <p:spPr>
          <a:xfrm>
            <a:off x="734086" y="4311391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3" name="머리칸"/>
          <p:cNvSpPr/>
          <p:nvPr/>
        </p:nvSpPr>
        <p:spPr>
          <a:xfrm>
            <a:off x="1347652" y="433330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64" name="머리칸"/>
          <p:cNvSpPr>
            <a:spLocks noGrp="1"/>
          </p:cNvSpPr>
          <p:nvPr>
            <p:ph type="body" sz="quarter" idx="47"/>
          </p:nvPr>
        </p:nvSpPr>
        <p:spPr>
          <a:xfrm>
            <a:off x="1347652" y="433330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기술실증 인프라 확충</a:t>
            </a:r>
          </a:p>
        </p:txBody>
      </p:sp>
      <p:sp>
        <p:nvSpPr>
          <p:cNvPr id="65" name="머리칸"/>
          <p:cNvSpPr/>
          <p:nvPr/>
        </p:nvSpPr>
        <p:spPr>
          <a:xfrm>
            <a:off x="4171696" y="433330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66" name="머리칸"/>
          <p:cNvSpPr>
            <a:spLocks noGrp="1"/>
          </p:cNvSpPr>
          <p:nvPr>
            <p:ph type="body" sz="quarter" idx="48"/>
          </p:nvPr>
        </p:nvSpPr>
        <p:spPr>
          <a:xfrm>
            <a:off x="4171696" y="433330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등록기술 사후관리 내실화</a:t>
            </a:r>
          </a:p>
        </p:txBody>
      </p:sp>
      <p:sp>
        <p:nvSpPr>
          <p:cNvPr id="67" name="칸 본문"/>
          <p:cNvSpPr>
            <a:spLocks noGrp="1"/>
          </p:cNvSpPr>
          <p:nvPr>
            <p:ph type="body" sz="quarter" idx="49"/>
          </p:nvPr>
        </p:nvSpPr>
        <p:spPr>
          <a:xfrm>
            <a:off x="1358609" y="4574348"/>
            <a:ext cx="2802130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K-테스트베드 실증인프라 보강(1,274 → 1,473개)으로 기업의 기술실증 저변 확대</a:t>
            </a:r>
          </a:p>
        </p:txBody>
      </p:sp>
      <p:sp>
        <p:nvSpPr>
          <p:cNvPr id="68" name="칸 본문"/>
          <p:cNvSpPr>
            <a:spLocks noGrp="1"/>
          </p:cNvSpPr>
          <p:nvPr>
            <p:ph type="body" sz="quarter" idx="50"/>
          </p:nvPr>
        </p:nvSpPr>
        <p:spPr>
          <a:xfrm>
            <a:off x="4182652" y="4574348"/>
            <a:ext cx="2802130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구매비중 높은 등록기술 현장 점검 및 사후평가 강화(평가 계량화, 평가자 격상)</a:t>
            </a:r>
          </a:p>
        </p:txBody>
      </p:sp>
      <p:cxnSp>
        <p:nvCxnSpPr>
          <p:cNvPr id="69" name="Connector 46"/>
          <p:cNvCxnSpPr/>
          <p:nvPr/>
        </p:nvCxnSpPr>
        <p:spPr>
          <a:xfrm>
            <a:off x="4171696" y="4607217"/>
            <a:ext cx="0" cy="51495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0" name="레일"/>
          <p:cNvSpPr/>
          <p:nvPr/>
        </p:nvSpPr>
        <p:spPr>
          <a:xfrm>
            <a:off x="734087" y="5176957"/>
            <a:ext cx="580696" cy="849130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1" name="레일"/>
          <p:cNvSpPr>
            <a:spLocks noGrp="1"/>
          </p:cNvSpPr>
          <p:nvPr>
            <p:ph type="body" sz="quarter" idx="51"/>
          </p:nvPr>
        </p:nvSpPr>
        <p:spPr>
          <a:xfrm>
            <a:off x="734087" y="5176957"/>
            <a:ext cx="580696" cy="849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혁신제품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지정지원</a:t>
            </a:r>
          </a:p>
        </p:txBody>
      </p:sp>
      <p:sp>
        <p:nvSpPr>
          <p:cNvPr id="72" name="레일 삼각형"/>
          <p:cNvSpPr/>
          <p:nvPr/>
        </p:nvSpPr>
        <p:spPr>
          <a:xfrm>
            <a:off x="734086" y="5176956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3" name="머리칸"/>
          <p:cNvSpPr/>
          <p:nvPr/>
        </p:nvSpPr>
        <p:spPr>
          <a:xfrm>
            <a:off x="1347652" y="519887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4" name="머리칸"/>
          <p:cNvSpPr>
            <a:spLocks noGrp="1"/>
          </p:cNvSpPr>
          <p:nvPr>
            <p:ph type="body" sz="quarter" idx="52"/>
          </p:nvPr>
        </p:nvSpPr>
        <p:spPr>
          <a:xfrm>
            <a:off x="1347652" y="519887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컨설팅 강화</a:t>
            </a:r>
          </a:p>
        </p:txBody>
      </p:sp>
      <p:sp>
        <p:nvSpPr>
          <p:cNvPr id="75" name="머리칸"/>
          <p:cNvSpPr/>
          <p:nvPr/>
        </p:nvSpPr>
        <p:spPr>
          <a:xfrm>
            <a:off x="3230348" y="519887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6" name="머리칸"/>
          <p:cNvSpPr>
            <a:spLocks noGrp="1"/>
          </p:cNvSpPr>
          <p:nvPr>
            <p:ph type="body" sz="quarter" idx="53"/>
          </p:nvPr>
        </p:nvSpPr>
        <p:spPr>
          <a:xfrm>
            <a:off x="3230348" y="519887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추천 확대</a:t>
            </a:r>
          </a:p>
        </p:txBody>
      </p:sp>
      <p:sp>
        <p:nvSpPr>
          <p:cNvPr id="77" name="머리칸"/>
          <p:cNvSpPr/>
          <p:nvPr/>
        </p:nvSpPr>
        <p:spPr>
          <a:xfrm>
            <a:off x="5113043" y="519887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8" name="머리칸"/>
          <p:cNvSpPr>
            <a:spLocks noGrp="1"/>
          </p:cNvSpPr>
          <p:nvPr>
            <p:ph type="body" sz="quarter" idx="54"/>
          </p:nvPr>
        </p:nvSpPr>
        <p:spPr>
          <a:xfrm>
            <a:off x="5113043" y="519887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홍보 강화</a:t>
            </a:r>
          </a:p>
        </p:txBody>
      </p:sp>
      <p:sp>
        <p:nvSpPr>
          <p:cNvPr id="79" name="칸 본문"/>
          <p:cNvSpPr>
            <a:spLocks noGrp="1"/>
          </p:cNvSpPr>
          <p:nvPr>
            <p:ph type="body" sz="quarter" idx="55"/>
          </p:nvPr>
        </p:nvSpPr>
        <p:spPr>
          <a:xfrm>
            <a:off x="1358609" y="5439913"/>
            <a:ext cx="1860783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 조달硏 협업, 공공성 평가 대비 컨설팅 신설(3회)</a:t>
            </a:r>
          </a:p>
        </p:txBody>
      </p:sp>
      <p:sp>
        <p:nvSpPr>
          <p:cNvPr id="80" name="칸 본문"/>
          <p:cNvSpPr>
            <a:spLocks noGrp="1"/>
          </p:cNvSpPr>
          <p:nvPr>
            <p:ph type="body" sz="quarter" idx="56"/>
          </p:nvPr>
        </p:nvSpPr>
        <p:spPr>
          <a:xfrm>
            <a:off x="3241304" y="5439913"/>
            <a:ext cx="1860783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혁신제품 추천심의위 확대(연 2 → 4회)로 참여기회↑</a:t>
            </a:r>
          </a:p>
        </p:txBody>
      </p:sp>
      <p:cxnSp>
        <p:nvCxnSpPr>
          <p:cNvPr id="81" name="Connector 54"/>
          <p:cNvCxnSpPr/>
          <p:nvPr/>
        </p:nvCxnSpPr>
        <p:spPr>
          <a:xfrm>
            <a:off x="3230348" y="5472783"/>
            <a:ext cx="0" cy="514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2" name="칸 본문"/>
          <p:cNvSpPr>
            <a:spLocks noGrp="1"/>
          </p:cNvSpPr>
          <p:nvPr>
            <p:ph type="body" sz="quarter" idx="57"/>
          </p:nvPr>
        </p:nvSpPr>
        <p:spPr>
          <a:xfrm>
            <a:off x="5124000" y="5439913"/>
            <a:ext cx="1860783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온라인공고문 게시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문자·메일 추가안내</a:t>
            </a:r>
          </a:p>
        </p:txBody>
      </p:sp>
      <p:cxnSp>
        <p:nvCxnSpPr>
          <p:cNvPr id="83" name="Connector 56"/>
          <p:cNvCxnSpPr/>
          <p:nvPr/>
        </p:nvCxnSpPr>
        <p:spPr>
          <a:xfrm>
            <a:off x="5113043" y="5472783"/>
            <a:ext cx="0" cy="514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4" name="번호"/>
          <p:cNvSpPr>
            <a:spLocks noGrp="1"/>
          </p:cNvSpPr>
          <p:nvPr>
            <p:ph type="body" sz="quarter" idx="58"/>
          </p:nvPr>
        </p:nvSpPr>
        <p:spPr>
          <a:xfrm>
            <a:off x="723130" y="6163043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</a:t>
            </a:r>
          </a:p>
        </p:txBody>
      </p:sp>
      <p:sp>
        <p:nvSpPr>
          <p:cNvPr id="85" name="분야 박스"/>
          <p:cNvSpPr/>
          <p:nvPr/>
        </p:nvSpPr>
        <p:spPr>
          <a:xfrm>
            <a:off x="952651" y="6195913"/>
            <a:ext cx="592466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86" name="분야 박스"/>
          <p:cNvSpPr>
            <a:spLocks noGrp="1"/>
          </p:cNvSpPr>
          <p:nvPr>
            <p:ph type="body" sz="quarter" idx="59"/>
          </p:nvPr>
        </p:nvSpPr>
        <p:spPr>
          <a:xfrm>
            <a:off x="952651" y="6195913"/>
            <a:ext cx="59246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사업기반</a:t>
            </a:r>
          </a:p>
        </p:txBody>
      </p:sp>
      <p:sp>
        <p:nvSpPr>
          <p:cNvPr id="87" name="형광 밑줄"/>
          <p:cNvSpPr/>
          <p:nvPr/>
        </p:nvSpPr>
        <p:spPr>
          <a:xfrm>
            <a:off x="1610856" y="6316435"/>
            <a:ext cx="3726509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8" name="소제목"/>
          <p:cNvSpPr>
            <a:spLocks noGrp="1"/>
          </p:cNvSpPr>
          <p:nvPr>
            <p:ph type="body" sz="quarter" idx="60"/>
          </p:nvPr>
        </p:nvSpPr>
        <p:spPr>
          <a:xfrm>
            <a:off x="1610856" y="6163043"/>
            <a:ext cx="5412275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기업이 사업활동에만 몰두할 수 있도록 금융부터 ESG까지 지원</a:t>
            </a:r>
          </a:p>
        </p:txBody>
      </p:sp>
      <p:sp>
        <p:nvSpPr>
          <p:cNvPr id="89" name="태그칩"/>
          <p:cNvSpPr/>
          <p:nvPr/>
        </p:nvSpPr>
        <p:spPr>
          <a:xfrm>
            <a:off x="5435974" y="619591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90" name="태그칩"/>
          <p:cNvSpPr>
            <a:spLocks noGrp="1"/>
          </p:cNvSpPr>
          <p:nvPr>
            <p:ph type="body" sz="quarter" idx="61"/>
          </p:nvPr>
        </p:nvSpPr>
        <p:spPr>
          <a:xfrm>
            <a:off x="5435974" y="619591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91" name="표 외곽"/>
          <p:cNvSpPr/>
          <p:nvPr/>
        </p:nvSpPr>
        <p:spPr>
          <a:xfrm>
            <a:off x="723130" y="6447913"/>
            <a:ext cx="6300000" cy="174756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2" name="레일"/>
          <p:cNvSpPr/>
          <p:nvPr/>
        </p:nvSpPr>
        <p:spPr>
          <a:xfrm>
            <a:off x="734087" y="6464348"/>
            <a:ext cx="580696" cy="84913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93" name="레일"/>
          <p:cNvSpPr>
            <a:spLocks noGrp="1"/>
          </p:cNvSpPr>
          <p:nvPr>
            <p:ph type="body" sz="quarter" idx="62"/>
          </p:nvPr>
        </p:nvSpPr>
        <p:spPr>
          <a:xfrm>
            <a:off x="734087" y="6464348"/>
            <a:ext cx="580696" cy="849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금융·복지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 원</a:t>
            </a:r>
          </a:p>
        </p:txBody>
      </p:sp>
      <p:sp>
        <p:nvSpPr>
          <p:cNvPr id="94" name="머리칸"/>
          <p:cNvSpPr/>
          <p:nvPr/>
        </p:nvSpPr>
        <p:spPr>
          <a:xfrm>
            <a:off x="1347652" y="648626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95" name="머리칸"/>
          <p:cNvSpPr>
            <a:spLocks noGrp="1"/>
          </p:cNvSpPr>
          <p:nvPr>
            <p:ph type="body" sz="quarter" idx="63"/>
          </p:nvPr>
        </p:nvSpPr>
        <p:spPr>
          <a:xfrm>
            <a:off x="1347652" y="648626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물기업 투자재원 마련</a:t>
            </a:r>
          </a:p>
        </p:txBody>
      </p:sp>
      <p:sp>
        <p:nvSpPr>
          <p:cNvPr id="96" name="머리칸"/>
          <p:cNvSpPr/>
          <p:nvPr/>
        </p:nvSpPr>
        <p:spPr>
          <a:xfrm>
            <a:off x="3230348" y="648626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97" name="머리칸"/>
          <p:cNvSpPr>
            <a:spLocks noGrp="1"/>
          </p:cNvSpPr>
          <p:nvPr>
            <p:ph type="body" sz="quarter" idx="64"/>
          </p:nvPr>
        </p:nvSpPr>
        <p:spPr>
          <a:xfrm>
            <a:off x="3230348" y="648626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대출이자 감면</a:t>
            </a:r>
          </a:p>
        </p:txBody>
      </p:sp>
      <p:sp>
        <p:nvSpPr>
          <p:cNvPr id="98" name="머리칸"/>
          <p:cNvSpPr/>
          <p:nvPr/>
        </p:nvSpPr>
        <p:spPr>
          <a:xfrm>
            <a:off x="5113043" y="648626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99" name="머리칸"/>
          <p:cNvSpPr>
            <a:spLocks noGrp="1"/>
          </p:cNvSpPr>
          <p:nvPr>
            <p:ph type="body" sz="quarter" idx="65"/>
          </p:nvPr>
        </p:nvSpPr>
        <p:spPr>
          <a:xfrm>
            <a:off x="5113043" y="648626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신규 기업복지 지원</a:t>
            </a:r>
          </a:p>
        </p:txBody>
      </p:sp>
      <p:sp>
        <p:nvSpPr>
          <p:cNvPr id="100" name="칸 본문"/>
          <p:cNvSpPr>
            <a:spLocks noGrp="1"/>
          </p:cNvSpPr>
          <p:nvPr>
            <p:ph type="body" sz="quarter" idx="66"/>
          </p:nvPr>
        </p:nvSpPr>
        <p:spPr>
          <a:xfrm>
            <a:off x="1358609" y="6727304"/>
            <a:ext cx="1860783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물산업펀드 목표 초과 결성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누적 5,254억원(목표比 113%)</a:t>
            </a:r>
          </a:p>
        </p:txBody>
      </p:sp>
      <p:sp>
        <p:nvSpPr>
          <p:cNvPr id="101" name="칸 본문"/>
          <p:cNvSpPr>
            <a:spLocks noGrp="1"/>
          </p:cNvSpPr>
          <p:nvPr>
            <p:ph type="body" sz="quarter" idx="67"/>
          </p:nvPr>
        </p:nvSpPr>
        <p:spPr>
          <a:xfrm>
            <a:off x="3241304" y="6727304"/>
            <a:ext cx="1860783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등록기업 최대 2.8%p 감면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상생협력예금 400억원 활용</a:t>
            </a:r>
          </a:p>
        </p:txBody>
      </p:sp>
      <p:cxnSp>
        <p:nvCxnSpPr>
          <p:cNvPr id="102" name="Connector 69"/>
          <p:cNvCxnSpPr/>
          <p:nvPr/>
        </p:nvCxnSpPr>
        <p:spPr>
          <a:xfrm>
            <a:off x="3230348" y="6760174"/>
            <a:ext cx="0" cy="514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03" name="칸 본문"/>
          <p:cNvSpPr>
            <a:spLocks noGrp="1"/>
          </p:cNvSpPr>
          <p:nvPr>
            <p:ph type="body" sz="quarter" idx="68"/>
          </p:nvPr>
        </p:nvSpPr>
        <p:spPr>
          <a:xfrm>
            <a:off x="5124000" y="6727304"/>
            <a:ext cx="1860783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지원사업 선정시 등록기업 우대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복지몰포인트, 장기근속자 포상</a:t>
            </a:r>
          </a:p>
        </p:txBody>
      </p:sp>
      <p:cxnSp>
        <p:nvCxnSpPr>
          <p:cNvPr id="104" name="Connector 71"/>
          <p:cNvCxnSpPr/>
          <p:nvPr/>
        </p:nvCxnSpPr>
        <p:spPr>
          <a:xfrm>
            <a:off x="5113043" y="6760174"/>
            <a:ext cx="0" cy="514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05" name="레일"/>
          <p:cNvSpPr/>
          <p:nvPr/>
        </p:nvSpPr>
        <p:spPr>
          <a:xfrm>
            <a:off x="734087" y="7329913"/>
            <a:ext cx="580696" cy="849130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06" name="레일"/>
          <p:cNvSpPr>
            <a:spLocks noGrp="1"/>
          </p:cNvSpPr>
          <p:nvPr>
            <p:ph type="body" sz="quarter" idx="69"/>
          </p:nvPr>
        </p:nvSpPr>
        <p:spPr>
          <a:xfrm>
            <a:off x="734087" y="7329913"/>
            <a:ext cx="580696" cy="849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판로·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ESG지원</a:t>
            </a:r>
          </a:p>
        </p:txBody>
      </p:sp>
      <p:sp>
        <p:nvSpPr>
          <p:cNvPr id="107" name="레일 삼각형"/>
          <p:cNvSpPr/>
          <p:nvPr/>
        </p:nvSpPr>
        <p:spPr>
          <a:xfrm>
            <a:off x="734086" y="7329913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08" name="머리칸"/>
          <p:cNvSpPr/>
          <p:nvPr/>
        </p:nvSpPr>
        <p:spPr>
          <a:xfrm>
            <a:off x="1347652" y="7351826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09" name="머리칸"/>
          <p:cNvSpPr>
            <a:spLocks noGrp="1"/>
          </p:cNvSpPr>
          <p:nvPr>
            <p:ph type="body" sz="quarter" idx="70"/>
          </p:nvPr>
        </p:nvSpPr>
        <p:spPr>
          <a:xfrm>
            <a:off x="1347652" y="7351826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국내·외 판로지원</a:t>
            </a:r>
          </a:p>
        </p:txBody>
      </p:sp>
      <p:sp>
        <p:nvSpPr>
          <p:cNvPr id="110" name="머리칸"/>
          <p:cNvSpPr/>
          <p:nvPr/>
        </p:nvSpPr>
        <p:spPr>
          <a:xfrm>
            <a:off x="4171696" y="7351826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11" name="머리칸"/>
          <p:cNvSpPr>
            <a:spLocks noGrp="1"/>
          </p:cNvSpPr>
          <p:nvPr>
            <p:ph type="body" sz="quarter" idx="71"/>
          </p:nvPr>
        </p:nvSpPr>
        <p:spPr>
          <a:xfrm>
            <a:off x="4171696" y="7351826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ESG 경영지원</a:t>
            </a:r>
          </a:p>
        </p:txBody>
      </p:sp>
      <p:sp>
        <p:nvSpPr>
          <p:cNvPr id="112" name="칸 본문"/>
          <p:cNvSpPr>
            <a:spLocks noGrp="1"/>
          </p:cNvSpPr>
          <p:nvPr>
            <p:ph type="body" sz="quarter" idx="72"/>
          </p:nvPr>
        </p:nvSpPr>
        <p:spPr>
          <a:xfrm>
            <a:off x="1358609" y="7592870"/>
            <a:ext cx="2802130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국내 전사 통합 구매상담회 개최(161건 상담)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 ‘해외시장개척단’ 선발시 등록기업 우대</a:t>
            </a:r>
          </a:p>
        </p:txBody>
      </p:sp>
      <p:sp>
        <p:nvSpPr>
          <p:cNvPr id="113" name="칸 본문"/>
          <p:cNvSpPr>
            <a:spLocks noGrp="1"/>
          </p:cNvSpPr>
          <p:nvPr>
            <p:ph type="body" sz="quarter" idx="73"/>
          </p:nvPr>
        </p:nvSpPr>
        <p:spPr>
          <a:xfrm>
            <a:off x="4182652" y="7592870"/>
            <a:ext cx="2802130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맞춤형 ESG 지원으로 우수 기업 확인서 발급(마켓 등록기업 4개社, 동반성장위)</a:t>
            </a:r>
          </a:p>
        </p:txBody>
      </p:sp>
      <p:cxnSp>
        <p:nvCxnSpPr>
          <p:cNvPr id="114" name="Connector 78"/>
          <p:cNvCxnSpPr/>
          <p:nvPr/>
        </p:nvCxnSpPr>
        <p:spPr>
          <a:xfrm>
            <a:off x="4171696" y="7625739"/>
            <a:ext cx="0" cy="51495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15" name="주요성과 박스"/>
          <p:cNvSpPr/>
          <p:nvPr/>
        </p:nvSpPr>
        <p:spPr>
          <a:xfrm>
            <a:off x="723130" y="8272174"/>
            <a:ext cx="6300000" cy="524348"/>
          </a:xfrm>
          <a:prstGeom prst="rect">
            <a:avLst/>
          </a:prstGeom>
          <a:solidFill>
            <a:srgbClr val="EFF9FF"/>
          </a:solidFill>
          <a:ln w="12700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6" name="주요성과 라벨"/>
          <p:cNvSpPr/>
          <p:nvPr/>
        </p:nvSpPr>
        <p:spPr>
          <a:xfrm>
            <a:off x="756000" y="8305043"/>
            <a:ext cx="657391" cy="458609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117" name="주요성과 라벨"/>
          <p:cNvSpPr>
            <a:spLocks noGrp="1"/>
          </p:cNvSpPr>
          <p:nvPr>
            <p:ph type="body" sz="quarter" idx="74"/>
          </p:nvPr>
        </p:nvSpPr>
        <p:spPr>
          <a:xfrm>
            <a:off x="756000" y="8305043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종합성과</a:t>
            </a:r>
          </a:p>
        </p:txBody>
      </p:sp>
      <p:sp>
        <p:nvSpPr>
          <p:cNvPr id="118" name="주요성과 문구"/>
          <p:cNvSpPr>
            <a:spLocks noGrp="1"/>
          </p:cNvSpPr>
          <p:nvPr>
            <p:ph type="body" sz="quarter" idx="75"/>
          </p:nvPr>
        </p:nvSpPr>
        <p:spPr>
          <a:xfrm>
            <a:off x="1501043" y="8288609"/>
            <a:ext cx="5456348" cy="49147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개발제품 등록건수 220건(누적, 전년比 34건↑), 구매실적 791억원(전년比 115%) 달성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기술개발 및 혁신제품 심의 지원으로 9건 신규 지정, 전체 혁신제품 구매금액 62.7억원 달성</a:t>
            </a:r>
          </a:p>
        </p:txBody>
      </p:sp>
      <p:sp>
        <p:nvSpPr>
          <p:cNvPr id="119" name="주요성과 박스"/>
          <p:cNvSpPr/>
          <p:nvPr/>
        </p:nvSpPr>
        <p:spPr>
          <a:xfrm>
            <a:off x="723130" y="8873217"/>
            <a:ext cx="6300000" cy="704348"/>
          </a:xfrm>
          <a:prstGeom prst="rect">
            <a:avLst/>
          </a:prstGeom>
          <a:solidFill>
            <a:srgbClr val="EFF9FF"/>
          </a:solidFill>
          <a:ln w="12700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20" name="주요성과 라벨"/>
          <p:cNvSpPr/>
          <p:nvPr/>
        </p:nvSpPr>
        <p:spPr>
          <a:xfrm>
            <a:off x="756000" y="8906087"/>
            <a:ext cx="657391" cy="638609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121" name="주요성과 라벨"/>
          <p:cNvSpPr>
            <a:spLocks noGrp="1"/>
          </p:cNvSpPr>
          <p:nvPr>
            <p:ph type="body" sz="quarter" idx="76"/>
          </p:nvPr>
        </p:nvSpPr>
        <p:spPr>
          <a:xfrm>
            <a:off x="756000" y="8906087"/>
            <a:ext cx="657391" cy="63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우수사례</a:t>
            </a:r>
          </a:p>
        </p:txBody>
      </p:sp>
      <p:sp>
        <p:nvSpPr>
          <p:cNvPr id="122" name="주요성과 문구"/>
          <p:cNvSpPr>
            <a:spLocks noGrp="1"/>
          </p:cNvSpPr>
          <p:nvPr>
            <p:ph type="body" sz="quarter" idx="77"/>
          </p:nvPr>
        </p:nvSpPr>
        <p:spPr>
          <a:xfrm>
            <a:off x="1501043" y="8889652"/>
            <a:ext cx="5456348" cy="67147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‘D’社 ‘R&amp;D → 마켓등록 → 혁신제품 → 해외판로’ 전주기 지원으로 매출 235억원, 수출 4.8억원 달성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➡ 제1회 중소기업기술마켓 우수기술 경진대회 ‘우수상’ 수상(’25.9)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01 서사 · 보유기술 민간이전(관리체계 → 수요발굴 → 기술이전 → 기술지도 → IP Bridge → 우수사례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K-water, 혁신기술 민간이전 장벽 완화를 넘어 든든한 조력자로</a:t>
            </a:r>
          </a:p>
        </p:txBody>
      </p:sp>
      <p:sp>
        <p:nvSpPr>
          <p:cNvPr id="15" name="번호 띠 칩"/>
          <p:cNvSpPr/>
          <p:nvPr/>
        </p:nvSpPr>
        <p:spPr>
          <a:xfrm>
            <a:off x="6241922" y="832696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번호 띠 칩"/>
          <p:cNvSpPr>
            <a:spLocks noGrp="1"/>
          </p:cNvSpPr>
          <p:nvPr>
            <p:ph type="body" sz="quarter" idx="22"/>
          </p:nvPr>
        </p:nvSpPr>
        <p:spPr>
          <a:xfrm>
            <a:off x="6241922" y="832696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7" name="표 외곽"/>
          <p:cNvSpPr/>
          <p:nvPr/>
        </p:nvSpPr>
        <p:spPr>
          <a:xfrm>
            <a:off x="536870" y="1117565"/>
            <a:ext cx="6300000" cy="99156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레일"/>
          <p:cNvSpPr/>
          <p:nvPr/>
        </p:nvSpPr>
        <p:spPr>
          <a:xfrm>
            <a:off x="547826" y="1134000"/>
            <a:ext cx="580696" cy="95869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레일"/>
          <p:cNvSpPr>
            <a:spLocks noGrp="1"/>
          </p:cNvSpPr>
          <p:nvPr>
            <p:ph type="body" sz="quarter" idx="23"/>
          </p:nvPr>
        </p:nvSpPr>
        <p:spPr>
          <a:xfrm>
            <a:off x="547826" y="1134000"/>
            <a:ext cx="580696" cy="95869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보유기술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관리체계</a:t>
            </a:r>
          </a:p>
        </p:txBody>
      </p:sp>
      <p:sp>
        <p:nvSpPr>
          <p:cNvPr id="20" name="단계"/>
          <p:cNvSpPr/>
          <p:nvPr/>
        </p:nvSpPr>
        <p:spPr>
          <a:xfrm>
            <a:off x="1161391" y="1155913"/>
            <a:ext cx="141202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1" name="단계"/>
          <p:cNvSpPr>
            <a:spLocks noGrp="1"/>
          </p:cNvSpPr>
          <p:nvPr>
            <p:ph type="body" sz="quarter" idx="24"/>
          </p:nvPr>
        </p:nvSpPr>
        <p:spPr>
          <a:xfrm>
            <a:off x="1161391" y="1155913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기술창출</a:t>
            </a:r>
          </a:p>
        </p:txBody>
      </p:sp>
      <p:sp>
        <p:nvSpPr>
          <p:cNvPr id="22" name="단계"/>
          <p:cNvSpPr/>
          <p:nvPr/>
        </p:nvSpPr>
        <p:spPr>
          <a:xfrm>
            <a:off x="2573413" y="1155913"/>
            <a:ext cx="1412022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3" name="단계"/>
          <p:cNvSpPr>
            <a:spLocks noGrp="1"/>
          </p:cNvSpPr>
          <p:nvPr>
            <p:ph type="body" sz="quarter" idx="25"/>
          </p:nvPr>
        </p:nvSpPr>
        <p:spPr>
          <a:xfrm>
            <a:off x="2573413" y="1155913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기술수요 발굴</a:t>
            </a:r>
          </a:p>
        </p:txBody>
      </p:sp>
      <p:sp>
        <p:nvSpPr>
          <p:cNvPr id="24" name="단계"/>
          <p:cNvSpPr/>
          <p:nvPr/>
        </p:nvSpPr>
        <p:spPr>
          <a:xfrm>
            <a:off x="3985435" y="1155913"/>
            <a:ext cx="1412022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5" name="단계"/>
          <p:cNvSpPr>
            <a:spLocks noGrp="1"/>
          </p:cNvSpPr>
          <p:nvPr>
            <p:ph type="body" sz="quarter" idx="26"/>
          </p:nvPr>
        </p:nvSpPr>
        <p:spPr>
          <a:xfrm>
            <a:off x="3985435" y="1155913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기술이전</a:t>
            </a:r>
          </a:p>
        </p:txBody>
      </p:sp>
      <p:sp>
        <p:nvSpPr>
          <p:cNvPr id="26" name="단계"/>
          <p:cNvSpPr/>
          <p:nvPr/>
        </p:nvSpPr>
        <p:spPr>
          <a:xfrm>
            <a:off x="5397457" y="1155913"/>
            <a:ext cx="1412022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7" name="단계"/>
          <p:cNvSpPr>
            <a:spLocks noGrp="1"/>
          </p:cNvSpPr>
          <p:nvPr>
            <p:ph type="body" sz="quarter" idx="27"/>
          </p:nvPr>
        </p:nvSpPr>
        <p:spPr>
          <a:xfrm>
            <a:off x="5397457" y="1155913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기술지도·사업화</a:t>
            </a:r>
          </a:p>
        </p:txBody>
      </p:sp>
      <p:sp>
        <p:nvSpPr>
          <p:cNvPr id="28" name="단계 삼각형"/>
          <p:cNvSpPr/>
          <p:nvPr/>
        </p:nvSpPr>
        <p:spPr>
          <a:xfrm>
            <a:off x="2573413" y="115591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단계 삼각형"/>
          <p:cNvSpPr/>
          <p:nvPr/>
        </p:nvSpPr>
        <p:spPr>
          <a:xfrm>
            <a:off x="3985434" y="1155913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0" name="단계 삼각형"/>
          <p:cNvSpPr/>
          <p:nvPr/>
        </p:nvSpPr>
        <p:spPr>
          <a:xfrm>
            <a:off x="5397456" y="115591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1" name="칸 본문"/>
          <p:cNvSpPr>
            <a:spLocks noGrp="1"/>
          </p:cNvSpPr>
          <p:nvPr>
            <p:ph type="body" sz="quarter" idx="28"/>
          </p:nvPr>
        </p:nvSpPr>
        <p:spPr>
          <a:xfrm>
            <a:off x="1172348" y="1407913"/>
            <a:ext cx="1390109" cy="679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AI정수장 등 혁신기술 보유(특허 등 1,156건)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29"/>
          </p:nvPr>
        </p:nvSpPr>
        <p:spPr>
          <a:xfrm>
            <a:off x="2584370" y="1407913"/>
            <a:ext cx="1390109" cy="679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기관협업 및 온라인 공유 플랫폼 확대</a:t>
            </a:r>
          </a:p>
        </p:txBody>
      </p:sp>
      <p:cxnSp>
        <p:nvCxnSpPr>
          <p:cNvPr id="33" name="Connector 23"/>
          <p:cNvCxnSpPr/>
          <p:nvPr/>
        </p:nvCxnSpPr>
        <p:spPr>
          <a:xfrm>
            <a:off x="2573413" y="1440783"/>
            <a:ext cx="0" cy="613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4" name="칸 본문"/>
          <p:cNvSpPr>
            <a:spLocks noGrp="1"/>
          </p:cNvSpPr>
          <p:nvPr>
            <p:ph type="body" sz="quarter" idx="30"/>
          </p:nvPr>
        </p:nvSpPr>
        <p:spPr>
          <a:xfrm>
            <a:off x="3996391" y="1407913"/>
            <a:ext cx="1390109" cy="679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미활용특허 무료나눔, 경상기술 확대</a:t>
            </a:r>
          </a:p>
        </p:txBody>
      </p:sp>
      <p:cxnSp>
        <p:nvCxnSpPr>
          <p:cNvPr id="35" name="Connector 25"/>
          <p:cNvCxnSpPr/>
          <p:nvPr/>
        </p:nvCxnSpPr>
        <p:spPr>
          <a:xfrm>
            <a:off x="3985435" y="1440783"/>
            <a:ext cx="0" cy="613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6" name="칸 본문"/>
          <p:cNvSpPr>
            <a:spLocks noGrp="1"/>
          </p:cNvSpPr>
          <p:nvPr>
            <p:ph type="body" sz="quarter" idx="31"/>
          </p:nvPr>
        </p:nvSpPr>
        <p:spPr>
          <a:xfrm>
            <a:off x="5408413" y="1407913"/>
            <a:ext cx="1390109" cy="679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기술이해도 향상 및 시제품 제작 지원</a:t>
            </a:r>
          </a:p>
        </p:txBody>
      </p:sp>
      <p:cxnSp>
        <p:nvCxnSpPr>
          <p:cNvPr id="37" name="Connector 27"/>
          <p:cNvCxnSpPr/>
          <p:nvPr/>
        </p:nvCxnSpPr>
        <p:spPr>
          <a:xfrm>
            <a:off x="5397457" y="1440783"/>
            <a:ext cx="0" cy="613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8" name="캡션 띠"/>
          <p:cNvSpPr/>
          <p:nvPr/>
        </p:nvSpPr>
        <p:spPr>
          <a:xfrm>
            <a:off x="536869" y="2131043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9" name="태그"/>
          <p:cNvSpPr/>
          <p:nvPr/>
        </p:nvSpPr>
        <p:spPr>
          <a:xfrm>
            <a:off x="865565" y="2174870"/>
            <a:ext cx="548640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0" name="태그"/>
          <p:cNvSpPr>
            <a:spLocks noGrp="1"/>
          </p:cNvSpPr>
          <p:nvPr>
            <p:ph type="body" sz="quarter" idx="32"/>
          </p:nvPr>
        </p:nvSpPr>
        <p:spPr>
          <a:xfrm>
            <a:off x="865565" y="2174870"/>
            <a:ext cx="548640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추진방향</a:t>
            </a:r>
          </a:p>
        </p:txBody>
      </p:sp>
      <p:sp>
        <p:nvSpPr>
          <p:cNvPr id="41" name="캡션"/>
          <p:cNvSpPr>
            <a:spLocks noGrp="1"/>
          </p:cNvSpPr>
          <p:nvPr>
            <p:ph type="body" sz="quarter" idx="33"/>
          </p:nvPr>
        </p:nvSpPr>
        <p:spPr>
          <a:xfrm>
            <a:off x="1468988" y="2131043"/>
            <a:ext cx="5148751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K-water 혁신기술의 공유·이전 확대 및 기술사용 부담경감과 사업화 적극 지원</a:t>
            </a:r>
          </a:p>
        </p:txBody>
      </p:sp>
      <p:sp>
        <p:nvSpPr>
          <p:cNvPr id="42" name="표 외곽"/>
          <p:cNvSpPr/>
          <p:nvPr/>
        </p:nvSpPr>
        <p:spPr>
          <a:xfrm>
            <a:off x="536870" y="2437826"/>
            <a:ext cx="6300000" cy="4525043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3" name="레일"/>
          <p:cNvSpPr/>
          <p:nvPr/>
        </p:nvSpPr>
        <p:spPr>
          <a:xfrm>
            <a:off x="547826" y="2454261"/>
            <a:ext cx="580696" cy="1068261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4" name="레일"/>
          <p:cNvSpPr>
            <a:spLocks noGrp="1"/>
          </p:cNvSpPr>
          <p:nvPr>
            <p:ph type="body" sz="quarter" idx="34"/>
          </p:nvPr>
        </p:nvSpPr>
        <p:spPr>
          <a:xfrm>
            <a:off x="547826" y="2454261"/>
            <a:ext cx="580696" cy="1068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보유기술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수요발굴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35"/>
          </p:nvPr>
        </p:nvSpPr>
        <p:spPr>
          <a:xfrm>
            <a:off x="1172348" y="2476174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오프라인 협업기반 기술이전 협의체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 기후테크·AI 등 혁신기술 수요발굴 위해, 기후부·과기부 등 정부 협업체계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‘기후테크’ 협의체: 기술설명회(기업 99명), 1:1 대면상담(4개社) / ‘AI·디지털’ 협의체: 유관기관·사업부서 협업, AI정수장 기술이전 35건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36"/>
          </p:nvPr>
        </p:nvSpPr>
        <p:spPr>
          <a:xfrm>
            <a:off x="3996391" y="2476174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온라인 기술거래 플랫폼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기술이전 협의체 협업체계를 활용하여 온라인 기술거래 플랫폼 연계 확대(4 → 6개)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K-물산업지원포털 · IP-Market · NTIS · SMART TECH-BRIDGE + KONETIC · NTB</a:t>
            </a:r>
          </a:p>
        </p:txBody>
      </p:sp>
      <p:cxnSp>
        <p:nvCxnSpPr>
          <p:cNvPr id="47" name="Connector 35"/>
          <p:cNvCxnSpPr/>
          <p:nvPr/>
        </p:nvCxnSpPr>
        <p:spPr>
          <a:xfrm>
            <a:off x="3985435" y="2509043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8" name="레일"/>
          <p:cNvSpPr/>
          <p:nvPr/>
        </p:nvSpPr>
        <p:spPr>
          <a:xfrm>
            <a:off x="547826" y="3538957"/>
            <a:ext cx="580696" cy="1194261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9" name="레일"/>
          <p:cNvSpPr>
            <a:spLocks noGrp="1"/>
          </p:cNvSpPr>
          <p:nvPr>
            <p:ph type="body" sz="quarter" idx="37"/>
          </p:nvPr>
        </p:nvSpPr>
        <p:spPr>
          <a:xfrm>
            <a:off x="547826" y="3538957"/>
            <a:ext cx="580696" cy="1194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기술이전</a:t>
            </a:r>
          </a:p>
        </p:txBody>
      </p:sp>
      <p:sp>
        <p:nvSpPr>
          <p:cNvPr id="50" name="레일 삼각형"/>
          <p:cNvSpPr/>
          <p:nvPr/>
        </p:nvSpPr>
        <p:spPr>
          <a:xfrm>
            <a:off x="547826" y="3538956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1" name="배너"/>
          <p:cNvSpPr/>
          <p:nvPr/>
        </p:nvSpPr>
        <p:spPr>
          <a:xfrm>
            <a:off x="1161391" y="3560870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52" name="배너"/>
          <p:cNvSpPr>
            <a:spLocks noGrp="1"/>
          </p:cNvSpPr>
          <p:nvPr>
            <p:ph type="body" sz="quarter" idx="38"/>
          </p:nvPr>
        </p:nvSpPr>
        <p:spPr>
          <a:xfrm>
            <a:off x="1161391" y="3560870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기술이전 온·오프라인 多채널 수요발굴 노력으로 기술이전 65건(전년比 108%) 달성</a:t>
            </a:r>
          </a:p>
        </p:txBody>
      </p:sp>
      <p:sp>
        <p:nvSpPr>
          <p:cNvPr id="53" name="칸 본문"/>
          <p:cNvSpPr>
            <a:spLocks noGrp="1"/>
          </p:cNvSpPr>
          <p:nvPr>
            <p:ph type="body" sz="quarter" idx="39"/>
          </p:nvPr>
        </p:nvSpPr>
        <p:spPr>
          <a:xfrm>
            <a:off x="1172348" y="3796435"/>
            <a:ext cx="2802130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무료나눔 미활용 지식재산권 선별·공유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사내·외 전문가로 구성된 심의위원회에서 미활용 특허 선별, 무료나눔 대상 확정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정부 주관 기술나눔사업 참여, 5건 무상이전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40"/>
          </p:nvPr>
        </p:nvSpPr>
        <p:spPr>
          <a:xfrm>
            <a:off x="3996391" y="3796435"/>
            <a:ext cx="2802130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기술료 기업이 원하는 경상기술료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선급기술료(정액납부)가 아닌 매출 발생시에만 납부하는 경상기술료 협약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유상이전 100% 경상기술료 체결(60건)</a:t>
            </a:r>
          </a:p>
        </p:txBody>
      </p:sp>
      <p:cxnSp>
        <p:nvCxnSpPr>
          <p:cNvPr id="55" name="Connector 41"/>
          <p:cNvCxnSpPr/>
          <p:nvPr/>
        </p:nvCxnSpPr>
        <p:spPr>
          <a:xfrm>
            <a:off x="3985435" y="3829304"/>
            <a:ext cx="0" cy="86556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6" name="레일"/>
          <p:cNvSpPr/>
          <p:nvPr/>
        </p:nvSpPr>
        <p:spPr>
          <a:xfrm>
            <a:off x="547826" y="4749652"/>
            <a:ext cx="580696" cy="77243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7" name="레일"/>
          <p:cNvSpPr>
            <a:spLocks noGrp="1"/>
          </p:cNvSpPr>
          <p:nvPr>
            <p:ph type="body" sz="quarter" idx="41"/>
          </p:nvPr>
        </p:nvSpPr>
        <p:spPr>
          <a:xfrm>
            <a:off x="547826" y="4749652"/>
            <a:ext cx="580696" cy="772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기술지도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및 사업화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 원</a:t>
            </a:r>
          </a:p>
        </p:txBody>
      </p:sp>
      <p:sp>
        <p:nvSpPr>
          <p:cNvPr id="58" name="칸 본문"/>
          <p:cNvSpPr>
            <a:spLocks noGrp="1"/>
          </p:cNvSpPr>
          <p:nvPr>
            <p:ph type="body" sz="quarter" idx="42"/>
          </p:nvPr>
        </p:nvSpPr>
        <p:spPr>
          <a:xfrm>
            <a:off x="1172348" y="4771565"/>
            <a:ext cx="2802130" cy="745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희망기업 위주 ‘수동적’ 지도(1개社)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희망기업에 한해 K-water 발명자가 기술지도 및 신제품 개발지원</a:t>
            </a:r>
          </a:p>
        </p:txBody>
      </p:sp>
      <p:sp>
        <p:nvSpPr>
          <p:cNvPr id="59" name="칸 본문"/>
          <p:cNvSpPr>
            <a:spLocks noGrp="1"/>
          </p:cNvSpPr>
          <p:nvPr>
            <p:ph type="body" sz="quarter" idx="43"/>
          </p:nvPr>
        </p:nvSpPr>
        <p:spPr>
          <a:xfrm>
            <a:off x="3996391" y="4771565"/>
            <a:ext cx="2802130" cy="745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사업화 판로까지 ‘능동적’ 지도(8개社)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관련부서 협업으로 기술설명부터 사업화 역량, 판로지원까지 全방위 컨설팅</a:t>
            </a:r>
          </a:p>
        </p:txBody>
      </p:sp>
      <p:cxnSp>
        <p:nvCxnSpPr>
          <p:cNvPr id="60" name="Connector 45"/>
          <p:cNvCxnSpPr/>
          <p:nvPr/>
        </p:nvCxnSpPr>
        <p:spPr>
          <a:xfrm>
            <a:off x="3985435" y="4804435"/>
            <a:ext cx="0" cy="67930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1" name="레일"/>
          <p:cNvSpPr/>
          <p:nvPr/>
        </p:nvSpPr>
        <p:spPr>
          <a:xfrm>
            <a:off x="547826" y="5538522"/>
            <a:ext cx="580696" cy="140791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2" name="레일 태그"/>
          <p:cNvSpPr/>
          <p:nvPr/>
        </p:nvSpPr>
        <p:spPr>
          <a:xfrm>
            <a:off x="668144" y="5702870"/>
            <a:ext cx="340059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63" name="레일 태그"/>
          <p:cNvSpPr>
            <a:spLocks noGrp="1"/>
          </p:cNvSpPr>
          <p:nvPr>
            <p:ph type="body" sz="quarter" idx="44"/>
          </p:nvPr>
        </p:nvSpPr>
        <p:spPr>
          <a:xfrm>
            <a:off x="668144" y="5702870"/>
            <a:ext cx="340059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신규</a:t>
            </a:r>
          </a:p>
        </p:txBody>
      </p:sp>
      <p:sp>
        <p:nvSpPr>
          <p:cNvPr id="64" name="레일 라벨"/>
          <p:cNvSpPr>
            <a:spLocks noGrp="1"/>
          </p:cNvSpPr>
          <p:nvPr>
            <p:ph type="body" sz="quarter" idx="45"/>
          </p:nvPr>
        </p:nvSpPr>
        <p:spPr>
          <a:xfrm>
            <a:off x="547826" y="5889130"/>
            <a:ext cx="580696" cy="1035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IP Bridge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도 입</a:t>
            </a:r>
          </a:p>
        </p:txBody>
      </p:sp>
      <p:sp>
        <p:nvSpPr>
          <p:cNvPr id="65" name="레일 삼각형"/>
          <p:cNvSpPr/>
          <p:nvPr/>
        </p:nvSpPr>
        <p:spPr>
          <a:xfrm>
            <a:off x="547826" y="5538521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6" name="태그"/>
          <p:cNvSpPr/>
          <p:nvPr/>
        </p:nvSpPr>
        <p:spPr>
          <a:xfrm>
            <a:off x="1161391" y="5582348"/>
            <a:ext cx="853511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7" name="태그"/>
          <p:cNvSpPr>
            <a:spLocks noGrp="1"/>
          </p:cNvSpPr>
          <p:nvPr>
            <p:ph type="body" sz="quarter" idx="46"/>
          </p:nvPr>
        </p:nvSpPr>
        <p:spPr>
          <a:xfrm>
            <a:off x="1161391" y="5582348"/>
            <a:ext cx="85351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IP Bridge란?</a:t>
            </a:r>
          </a:p>
        </p:txBody>
      </p:sp>
      <p:sp>
        <p:nvSpPr>
          <p:cNvPr id="68" name="태그 설명"/>
          <p:cNvSpPr>
            <a:spLocks noGrp="1"/>
          </p:cNvSpPr>
          <p:nvPr>
            <p:ph type="body" sz="quarter" idx="47"/>
          </p:nvPr>
        </p:nvSpPr>
        <p:spPr>
          <a:xfrm>
            <a:off x="2058728" y="5571391"/>
            <a:ext cx="4750750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우수 아이디어를 특허출원부터 기술이전, 사업화까지 One-Stop 지원</a:t>
            </a:r>
          </a:p>
        </p:txBody>
      </p:sp>
      <p:sp>
        <p:nvSpPr>
          <p:cNvPr id="69" name="단계"/>
          <p:cNvSpPr/>
          <p:nvPr/>
        </p:nvSpPr>
        <p:spPr>
          <a:xfrm>
            <a:off x="1161391" y="5796000"/>
            <a:ext cx="112961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0" name="단계"/>
          <p:cNvSpPr>
            <a:spLocks noGrp="1"/>
          </p:cNvSpPr>
          <p:nvPr>
            <p:ph type="body" sz="quarter" idx="48"/>
          </p:nvPr>
        </p:nvSpPr>
        <p:spPr>
          <a:xfrm>
            <a:off x="1161391" y="5796000"/>
            <a:ext cx="112961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발명 아이디어</a:t>
            </a:r>
          </a:p>
        </p:txBody>
      </p:sp>
      <p:sp>
        <p:nvSpPr>
          <p:cNvPr id="71" name="단계"/>
          <p:cNvSpPr/>
          <p:nvPr/>
        </p:nvSpPr>
        <p:spPr>
          <a:xfrm>
            <a:off x="2291009" y="5796000"/>
            <a:ext cx="1129617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2" name="단계"/>
          <p:cNvSpPr>
            <a:spLocks noGrp="1"/>
          </p:cNvSpPr>
          <p:nvPr>
            <p:ph type="body" sz="quarter" idx="49"/>
          </p:nvPr>
        </p:nvSpPr>
        <p:spPr>
          <a:xfrm>
            <a:off x="2291009" y="5796000"/>
            <a:ext cx="112961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특허 컨설팅(전담 변리사 매칭)</a:t>
            </a:r>
          </a:p>
        </p:txBody>
      </p:sp>
      <p:sp>
        <p:nvSpPr>
          <p:cNvPr id="73" name="단계"/>
          <p:cNvSpPr/>
          <p:nvPr/>
        </p:nvSpPr>
        <p:spPr>
          <a:xfrm>
            <a:off x="3420626" y="5796000"/>
            <a:ext cx="1129617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4" name="단계"/>
          <p:cNvSpPr>
            <a:spLocks noGrp="1"/>
          </p:cNvSpPr>
          <p:nvPr>
            <p:ph type="body" sz="quarter" idx="50"/>
          </p:nvPr>
        </p:nvSpPr>
        <p:spPr>
          <a:xfrm>
            <a:off x="3420626" y="5796000"/>
            <a:ext cx="112961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심의 및 출원</a:t>
            </a:r>
          </a:p>
        </p:txBody>
      </p:sp>
      <p:sp>
        <p:nvSpPr>
          <p:cNvPr id="75" name="단계"/>
          <p:cNvSpPr/>
          <p:nvPr/>
        </p:nvSpPr>
        <p:spPr>
          <a:xfrm>
            <a:off x="4550243" y="5796000"/>
            <a:ext cx="1129617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6" name="단계"/>
          <p:cNvSpPr>
            <a:spLocks noGrp="1"/>
          </p:cNvSpPr>
          <p:nvPr>
            <p:ph type="body" sz="quarter" idx="51"/>
          </p:nvPr>
        </p:nvSpPr>
        <p:spPr>
          <a:xfrm>
            <a:off x="4550243" y="5796000"/>
            <a:ext cx="112961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기술이전</a:t>
            </a:r>
          </a:p>
        </p:txBody>
      </p:sp>
      <p:sp>
        <p:nvSpPr>
          <p:cNvPr id="77" name="단계"/>
          <p:cNvSpPr/>
          <p:nvPr/>
        </p:nvSpPr>
        <p:spPr>
          <a:xfrm>
            <a:off x="5679861" y="5796000"/>
            <a:ext cx="1129617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8" name="단계"/>
          <p:cNvSpPr>
            <a:spLocks noGrp="1"/>
          </p:cNvSpPr>
          <p:nvPr>
            <p:ph type="body" sz="quarter" idx="52"/>
          </p:nvPr>
        </p:nvSpPr>
        <p:spPr>
          <a:xfrm>
            <a:off x="5679861" y="5796000"/>
            <a:ext cx="112961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시제품 제작 지원</a:t>
            </a:r>
          </a:p>
        </p:txBody>
      </p:sp>
      <p:sp>
        <p:nvSpPr>
          <p:cNvPr id="79" name="단계 삼각형"/>
          <p:cNvSpPr/>
          <p:nvPr/>
        </p:nvSpPr>
        <p:spPr>
          <a:xfrm>
            <a:off x="2291008" y="5796000"/>
            <a:ext cx="109565" cy="230086"/>
          </a:xfrm>
          <a:custGeom>
            <a:avLst/>
            <a:gdLst/>
            <a:ahLst/>
            <a:cxnLst/>
            <a:rect l="l" t="t" r="r" b="b"/>
            <a:pathLst>
              <a:path w="109565" h="230086">
                <a:moveTo>
                  <a:pt x="0" y="0"/>
                </a:moveTo>
                <a:lnTo>
                  <a:pt x="109565" y="115043"/>
                </a:lnTo>
                <a:lnTo>
                  <a:pt x="0" y="230086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80" name="단계 삼각형"/>
          <p:cNvSpPr/>
          <p:nvPr/>
        </p:nvSpPr>
        <p:spPr>
          <a:xfrm>
            <a:off x="3420626" y="5796000"/>
            <a:ext cx="109565" cy="230086"/>
          </a:xfrm>
          <a:custGeom>
            <a:avLst/>
            <a:gdLst/>
            <a:ahLst/>
            <a:cxnLst/>
            <a:rect l="l" t="t" r="r" b="b"/>
            <a:pathLst>
              <a:path w="109565" h="230086">
                <a:moveTo>
                  <a:pt x="0" y="0"/>
                </a:moveTo>
                <a:lnTo>
                  <a:pt x="109565" y="115043"/>
                </a:lnTo>
                <a:lnTo>
                  <a:pt x="0" y="23008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81" name="단계 삼각형"/>
          <p:cNvSpPr/>
          <p:nvPr/>
        </p:nvSpPr>
        <p:spPr>
          <a:xfrm>
            <a:off x="4550243" y="5796000"/>
            <a:ext cx="109565" cy="230086"/>
          </a:xfrm>
          <a:custGeom>
            <a:avLst/>
            <a:gdLst/>
            <a:ahLst/>
            <a:cxnLst/>
            <a:rect l="l" t="t" r="r" b="b"/>
            <a:pathLst>
              <a:path w="109565" h="230086">
                <a:moveTo>
                  <a:pt x="0" y="0"/>
                </a:moveTo>
                <a:lnTo>
                  <a:pt x="109565" y="115043"/>
                </a:lnTo>
                <a:lnTo>
                  <a:pt x="0" y="230086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82" name="단계 삼각형"/>
          <p:cNvSpPr/>
          <p:nvPr/>
        </p:nvSpPr>
        <p:spPr>
          <a:xfrm>
            <a:off x="5679860" y="5796000"/>
            <a:ext cx="109566" cy="230086"/>
          </a:xfrm>
          <a:custGeom>
            <a:avLst/>
            <a:gdLst/>
            <a:ahLst/>
            <a:cxnLst/>
            <a:rect l="l" t="t" r="r" b="b"/>
            <a:pathLst>
              <a:path w="109566" h="230086">
                <a:moveTo>
                  <a:pt x="0" y="0"/>
                </a:moveTo>
                <a:lnTo>
                  <a:pt x="109566" y="115043"/>
                </a:lnTo>
                <a:lnTo>
                  <a:pt x="0" y="230086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83" name="칸 본문"/>
          <p:cNvSpPr txBox="1"/>
          <p:nvPr/>
        </p:nvSpPr>
        <p:spPr>
          <a:xfrm>
            <a:off x="1172348" y="6048000"/>
            <a:ext cx="1107704" cy="657391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sp>
        <p:nvSpPr>
          <p:cNvPr id="84" name="칸 본문"/>
          <p:cNvSpPr>
            <a:spLocks noGrp="1"/>
          </p:cNvSpPr>
          <p:nvPr>
            <p:ph type="body" sz="quarter" idx="53"/>
          </p:nvPr>
        </p:nvSpPr>
        <p:spPr>
          <a:xfrm>
            <a:off x="2301965" y="6048000"/>
            <a:ext cx="1107704" cy="657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신규성, 진보성, 산업적 이용가능성↑</a:t>
            </a:r>
          </a:p>
        </p:txBody>
      </p:sp>
      <p:cxnSp>
        <p:nvCxnSpPr>
          <p:cNvPr id="85" name="Connector 63"/>
          <p:cNvCxnSpPr/>
          <p:nvPr/>
        </p:nvCxnSpPr>
        <p:spPr>
          <a:xfrm>
            <a:off x="2291009" y="6080870"/>
            <a:ext cx="0" cy="5916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6" name="칸 본문"/>
          <p:cNvSpPr txBox="1"/>
          <p:nvPr/>
        </p:nvSpPr>
        <p:spPr>
          <a:xfrm>
            <a:off x="3431583" y="6048000"/>
            <a:ext cx="1107704" cy="657391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87" name="Connector 65"/>
          <p:cNvCxnSpPr/>
          <p:nvPr/>
        </p:nvCxnSpPr>
        <p:spPr>
          <a:xfrm>
            <a:off x="3420626" y="6080870"/>
            <a:ext cx="0" cy="5916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8" name="칸 본문"/>
          <p:cNvSpPr txBox="1"/>
          <p:nvPr/>
        </p:nvSpPr>
        <p:spPr>
          <a:xfrm>
            <a:off x="4561200" y="6048000"/>
            <a:ext cx="1107704" cy="657391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89" name="Connector 67"/>
          <p:cNvCxnSpPr/>
          <p:nvPr/>
        </p:nvCxnSpPr>
        <p:spPr>
          <a:xfrm>
            <a:off x="4550243" y="6080870"/>
            <a:ext cx="0" cy="5916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90" name="칸 본문"/>
          <p:cNvSpPr>
            <a:spLocks noGrp="1"/>
          </p:cNvSpPr>
          <p:nvPr>
            <p:ph type="body" sz="quarter" idx="54"/>
          </p:nvPr>
        </p:nvSpPr>
        <p:spPr>
          <a:xfrm>
            <a:off x="5690817" y="6048000"/>
            <a:ext cx="1107704" cy="657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시장성↑ 사업성↑</a:t>
            </a:r>
          </a:p>
        </p:txBody>
      </p:sp>
      <p:cxnSp>
        <p:nvCxnSpPr>
          <p:cNvPr id="91" name="Connector 69"/>
          <p:cNvCxnSpPr/>
          <p:nvPr/>
        </p:nvCxnSpPr>
        <p:spPr>
          <a:xfrm>
            <a:off x="5679861" y="6080870"/>
            <a:ext cx="0" cy="5916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92" name="배너"/>
          <p:cNvSpPr/>
          <p:nvPr/>
        </p:nvSpPr>
        <p:spPr>
          <a:xfrm>
            <a:off x="1161391" y="6721826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93" name="배너"/>
          <p:cNvSpPr>
            <a:spLocks noGrp="1"/>
          </p:cNvSpPr>
          <p:nvPr>
            <p:ph type="body" sz="quarter" idx="55"/>
          </p:nvPr>
        </p:nvSpPr>
        <p:spPr>
          <a:xfrm>
            <a:off x="1161391" y="6721826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기술 공동개발 3개社 출원비용 및 시제품 제작비 지원</a:t>
            </a:r>
          </a:p>
        </p:txBody>
      </p:sp>
      <p:sp>
        <p:nvSpPr>
          <p:cNvPr id="94" name="표 외곽"/>
          <p:cNvSpPr/>
          <p:nvPr/>
        </p:nvSpPr>
        <p:spPr>
          <a:xfrm>
            <a:off x="536870" y="7006696"/>
            <a:ext cx="6300000" cy="99156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5" name="레일"/>
          <p:cNvSpPr/>
          <p:nvPr/>
        </p:nvSpPr>
        <p:spPr>
          <a:xfrm>
            <a:off x="547826" y="7023130"/>
            <a:ext cx="580696" cy="95869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96" name="레일"/>
          <p:cNvSpPr>
            <a:spLocks noGrp="1"/>
          </p:cNvSpPr>
          <p:nvPr>
            <p:ph type="body" sz="quarter" idx="56"/>
          </p:nvPr>
        </p:nvSpPr>
        <p:spPr>
          <a:xfrm>
            <a:off x="547826" y="7023130"/>
            <a:ext cx="580696" cy="95869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우 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 례</a:t>
            </a:r>
          </a:p>
        </p:txBody>
      </p:sp>
      <p:sp>
        <p:nvSpPr>
          <p:cNvPr id="97" name="칸 본문"/>
          <p:cNvSpPr>
            <a:spLocks noGrp="1"/>
          </p:cNvSpPr>
          <p:nvPr>
            <p:ph type="body" sz="quarter" idx="57"/>
          </p:nvPr>
        </p:nvSpPr>
        <p:spPr>
          <a:xfrm>
            <a:off x="1172348" y="7045043"/>
            <a:ext cx="1860783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기업 ‘A’社 혁신기술 인정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혁신기술 AI정수장 기술협력으로 혁신성 인정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서울국제발명전시회 금상(’25.12)</a:t>
            </a:r>
          </a:p>
        </p:txBody>
      </p:sp>
      <p:sp>
        <p:nvSpPr>
          <p:cNvPr id="98" name="칸 본문"/>
          <p:cNvSpPr>
            <a:spLocks noGrp="1"/>
          </p:cNvSpPr>
          <p:nvPr>
            <p:ph type="body" sz="quarter" idx="58"/>
          </p:nvPr>
        </p:nvSpPr>
        <p:spPr>
          <a:xfrm>
            <a:off x="3055043" y="7045043"/>
            <a:ext cx="1860783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ICT 기업 ‘B’社 매출 성장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공동 기술개발(구매연계형)로 판로지원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제품매출 332백만원(전년比 159%)</a:t>
            </a:r>
          </a:p>
        </p:txBody>
      </p:sp>
      <p:cxnSp>
        <p:nvCxnSpPr>
          <p:cNvPr id="99" name="Connector 75"/>
          <p:cNvCxnSpPr/>
          <p:nvPr/>
        </p:nvCxnSpPr>
        <p:spPr>
          <a:xfrm>
            <a:off x="3044087" y="7077913"/>
            <a:ext cx="0" cy="865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00" name="칸 본문"/>
          <p:cNvSpPr>
            <a:spLocks noGrp="1"/>
          </p:cNvSpPr>
          <p:nvPr>
            <p:ph type="body" sz="quarter" idx="59"/>
          </p:nvPr>
        </p:nvSpPr>
        <p:spPr>
          <a:xfrm>
            <a:off x="4937739" y="7045043"/>
            <a:ext cx="1860783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수처리 기업 ‘C’社 기술 고도화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이전 기술 고도화 및 품질 제고로 개량 특허 창출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개량특허 출원(’25.2)</a:t>
            </a:r>
          </a:p>
        </p:txBody>
      </p:sp>
      <p:cxnSp>
        <p:nvCxnSpPr>
          <p:cNvPr id="101" name="Connector 77"/>
          <p:cNvCxnSpPr/>
          <p:nvPr/>
        </p:nvCxnSpPr>
        <p:spPr>
          <a:xfrm>
            <a:off x="4926783" y="7077913"/>
            <a:ext cx="0" cy="865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02" name="핵심성과 박스"/>
          <p:cNvSpPr/>
          <p:nvPr/>
        </p:nvSpPr>
        <p:spPr>
          <a:xfrm>
            <a:off x="536870" y="8085913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3" name="핵심성과 라벨"/>
          <p:cNvSpPr/>
          <p:nvPr/>
        </p:nvSpPr>
        <p:spPr>
          <a:xfrm>
            <a:off x="569739" y="8118783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104" name="핵심성과 라벨"/>
          <p:cNvSpPr>
            <a:spLocks noGrp="1"/>
          </p:cNvSpPr>
          <p:nvPr>
            <p:ph type="body" sz="quarter" idx="60"/>
          </p:nvPr>
        </p:nvSpPr>
        <p:spPr>
          <a:xfrm>
            <a:off x="569739" y="8118783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105" name="핵심성과 문구"/>
          <p:cNvSpPr>
            <a:spLocks noGrp="1"/>
          </p:cNvSpPr>
          <p:nvPr>
            <p:ph type="body" sz="quarter" idx="61"/>
          </p:nvPr>
        </p:nvSpPr>
        <p:spPr>
          <a:xfrm>
            <a:off x="1314783" y="8107826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기술이전 확대 및 사업화 지원으로 이전 기업 매출 5,893억원 달성(누적, 336억원↑)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대외인정 지식재산의 민간기업 이전 및 사업화 지원 유공 산업부 장관 표창 수상(’25.12)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02 서사 · 2024년 지적사항 조치실적(지적사항 | 조치 및 개선실적 | 개선효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경영평가단 지적사항</a:t>
            </a:r>
          </a:p>
        </p:txBody>
      </p:sp>
      <p:sp>
        <p:nvSpPr>
          <p:cNvPr id="14" name="표 외곽"/>
          <p:cNvSpPr/>
          <p:nvPr/>
        </p:nvSpPr>
        <p:spPr>
          <a:xfrm>
            <a:off x="723130" y="1128522"/>
            <a:ext cx="6300000" cy="328147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734087" y="1144957"/>
            <a:ext cx="580696" cy="9806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144957"/>
            <a:ext cx="580696" cy="980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7" name="머리칸"/>
          <p:cNvSpPr/>
          <p:nvPr/>
        </p:nvSpPr>
        <p:spPr>
          <a:xfrm>
            <a:off x="1347652" y="1166870"/>
            <a:ext cx="1597304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8" name="머리칸"/>
          <p:cNvSpPr>
            <a:spLocks noGrp="1"/>
          </p:cNvSpPr>
          <p:nvPr>
            <p:ph type="body" sz="quarter" idx="23"/>
          </p:nvPr>
        </p:nvSpPr>
        <p:spPr>
          <a:xfrm>
            <a:off x="1347652" y="1166870"/>
            <a:ext cx="1597304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지적사항</a:t>
            </a:r>
          </a:p>
        </p:txBody>
      </p:sp>
      <p:sp>
        <p:nvSpPr>
          <p:cNvPr id="19" name="머리칸"/>
          <p:cNvSpPr/>
          <p:nvPr/>
        </p:nvSpPr>
        <p:spPr>
          <a:xfrm>
            <a:off x="2961391" y="1166870"/>
            <a:ext cx="2404174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0" name="머리칸"/>
          <p:cNvSpPr>
            <a:spLocks noGrp="1"/>
          </p:cNvSpPr>
          <p:nvPr>
            <p:ph type="body" sz="quarter" idx="24"/>
          </p:nvPr>
        </p:nvSpPr>
        <p:spPr>
          <a:xfrm>
            <a:off x="2961391" y="1166870"/>
            <a:ext cx="2404174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조치 및 개선실적</a:t>
            </a:r>
          </a:p>
        </p:txBody>
      </p:sp>
      <p:sp>
        <p:nvSpPr>
          <p:cNvPr id="21" name="머리칸"/>
          <p:cNvSpPr/>
          <p:nvPr/>
        </p:nvSpPr>
        <p:spPr>
          <a:xfrm>
            <a:off x="5382000" y="1166870"/>
            <a:ext cx="1597304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2" name="머리칸"/>
          <p:cNvSpPr>
            <a:spLocks noGrp="1"/>
          </p:cNvSpPr>
          <p:nvPr>
            <p:ph type="body" sz="quarter" idx="25"/>
          </p:nvPr>
        </p:nvSpPr>
        <p:spPr>
          <a:xfrm>
            <a:off x="5382000" y="1166870"/>
            <a:ext cx="1597304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개선효과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6"/>
          </p:nvPr>
        </p:nvSpPr>
        <p:spPr>
          <a:xfrm>
            <a:off x="1358609" y="1407913"/>
            <a:ext cx="1591826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상생결제 협력사 편의 제고 및 지속 성과 확대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7"/>
          </p:nvPr>
        </p:nvSpPr>
        <p:spPr>
          <a:xfrm>
            <a:off x="2972348" y="1407913"/>
            <a:ext cx="2398696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거래은행 확대로 편의성 제고(기존 1개 → 2개)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시설 운영관리 분야 상생결제 의무화 ▶ p.64</a:t>
            </a:r>
          </a:p>
        </p:txBody>
      </p:sp>
      <p:cxnSp>
        <p:nvCxnSpPr>
          <p:cNvPr id="25" name="Connector 15"/>
          <p:cNvCxnSpPr/>
          <p:nvPr/>
        </p:nvCxnSpPr>
        <p:spPr>
          <a:xfrm>
            <a:off x="2961391" y="1440783"/>
            <a:ext cx="0" cy="64643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6" name="칸 본문"/>
          <p:cNvSpPr>
            <a:spLocks noGrp="1"/>
          </p:cNvSpPr>
          <p:nvPr>
            <p:ph type="body" sz="quarter" idx="28"/>
          </p:nvPr>
        </p:nvSpPr>
        <p:spPr>
          <a:xfrm>
            <a:off x="5392957" y="1407913"/>
            <a:ext cx="1591826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상생결제액 전년 比 4배↑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(’24년 141억원 → ’25년 566억원)</a:t>
            </a:r>
          </a:p>
        </p:txBody>
      </p:sp>
      <p:cxnSp>
        <p:nvCxnSpPr>
          <p:cNvPr id="27" name="Connector 17"/>
          <p:cNvCxnSpPr/>
          <p:nvPr/>
        </p:nvCxnSpPr>
        <p:spPr>
          <a:xfrm>
            <a:off x="5382000" y="1440783"/>
            <a:ext cx="0" cy="64643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8" name="레일"/>
          <p:cNvSpPr/>
          <p:nvPr/>
        </p:nvSpPr>
        <p:spPr>
          <a:xfrm>
            <a:off x="734087" y="2142000"/>
            <a:ext cx="580696" cy="73956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9" name="레일"/>
          <p:cNvSpPr>
            <a:spLocks noGrp="1"/>
          </p:cNvSpPr>
          <p:nvPr>
            <p:ph type="body" sz="quarter" idx="29"/>
          </p:nvPr>
        </p:nvSpPr>
        <p:spPr>
          <a:xfrm>
            <a:off x="734087" y="2142000"/>
            <a:ext cx="580696" cy="739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30" name="레일 삼각형"/>
          <p:cNvSpPr/>
          <p:nvPr/>
        </p:nvSpPr>
        <p:spPr>
          <a:xfrm>
            <a:off x="734086" y="2142000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1358609" y="2163913"/>
            <a:ext cx="1591826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동반성장평가 항목별 성과요인, 개선요인 분석 및 환류 노력 필요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1"/>
          </p:nvPr>
        </p:nvSpPr>
        <p:spPr>
          <a:xfrm>
            <a:off x="2972348" y="2163913"/>
            <a:ext cx="2398696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동반성장 실적 취약 지표(상생 결제 편의성, 납품대금 연동제 이해도) 중점 관리 ▶ p.64</a:t>
            </a:r>
          </a:p>
        </p:txBody>
      </p:sp>
      <p:cxnSp>
        <p:nvCxnSpPr>
          <p:cNvPr id="33" name="Connector 22"/>
          <p:cNvCxnSpPr/>
          <p:nvPr/>
        </p:nvCxnSpPr>
        <p:spPr>
          <a:xfrm>
            <a:off x="2961391" y="2196783"/>
            <a:ext cx="0" cy="64643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4" name="칸 본문"/>
          <p:cNvSpPr>
            <a:spLocks noGrp="1"/>
          </p:cNvSpPr>
          <p:nvPr>
            <p:ph type="body" sz="quarter" idx="32"/>
          </p:nvPr>
        </p:nvSpPr>
        <p:spPr>
          <a:xfrm>
            <a:off x="5392957" y="2163913"/>
            <a:ext cx="1591826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동반성장대상(’25.12, 동반委), 유공 장관 표창(’25.11, 중기부)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납품대금 연동제 7.5배↑</a:t>
            </a:r>
          </a:p>
        </p:txBody>
      </p:sp>
      <p:cxnSp>
        <p:nvCxnSpPr>
          <p:cNvPr id="35" name="Connector 24"/>
          <p:cNvCxnSpPr/>
          <p:nvPr/>
        </p:nvCxnSpPr>
        <p:spPr>
          <a:xfrm>
            <a:off x="5382000" y="2196783"/>
            <a:ext cx="0" cy="64643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6" name="레일"/>
          <p:cNvSpPr/>
          <p:nvPr/>
        </p:nvSpPr>
        <p:spPr>
          <a:xfrm>
            <a:off x="734087" y="2898000"/>
            <a:ext cx="580696" cy="73956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7" name="레일"/>
          <p:cNvSpPr>
            <a:spLocks noGrp="1"/>
          </p:cNvSpPr>
          <p:nvPr>
            <p:ph type="body" sz="quarter" idx="33"/>
          </p:nvPr>
        </p:nvSpPr>
        <p:spPr>
          <a:xfrm>
            <a:off x="734087" y="2898000"/>
            <a:ext cx="580696" cy="739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4"/>
          </p:nvPr>
        </p:nvSpPr>
        <p:spPr>
          <a:xfrm>
            <a:off x="1358609" y="2919913"/>
            <a:ext cx="1591826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‘댐잇 프로젝트’ 성과 확산 및 지역협력사업 고유 브랜드 형성 모색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5"/>
          </p:nvPr>
        </p:nvSpPr>
        <p:spPr>
          <a:xfrm>
            <a:off x="2972348" y="2919913"/>
            <a:ext cx="2398696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‘댐잇’ 유통망 고도화(SNS+오프라인 팝업스토어) 및 他지역(부여) 확산 ▶ p.65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지역협력사업 브랜드 rootit 런칭, ‘터전·소득·사람’ 3대 실행과제 정립 ▶ p.66</a:t>
            </a:r>
          </a:p>
        </p:txBody>
      </p:sp>
      <p:cxnSp>
        <p:nvCxnSpPr>
          <p:cNvPr id="40" name="Connector 28"/>
          <p:cNvCxnSpPr/>
          <p:nvPr/>
        </p:nvCxnSpPr>
        <p:spPr>
          <a:xfrm>
            <a:off x="2961391" y="2952783"/>
            <a:ext cx="0" cy="64643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1" name="칸 본문"/>
          <p:cNvSpPr>
            <a:spLocks noGrp="1"/>
          </p:cNvSpPr>
          <p:nvPr>
            <p:ph type="body" sz="quarter" idx="36"/>
          </p:nvPr>
        </p:nvSpPr>
        <p:spPr>
          <a:xfrm>
            <a:off x="5392957" y="2919913"/>
            <a:ext cx="1591826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부여 新사업 4,294명 방문 창출, 참여 만족도 99%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빈집 재생 만족도 97%, 외국인재 정착지원 250명</a:t>
            </a:r>
          </a:p>
        </p:txBody>
      </p:sp>
      <p:cxnSp>
        <p:nvCxnSpPr>
          <p:cNvPr id="42" name="Connector 30"/>
          <p:cNvCxnSpPr/>
          <p:nvPr/>
        </p:nvCxnSpPr>
        <p:spPr>
          <a:xfrm>
            <a:off x="5382000" y="2952783"/>
            <a:ext cx="0" cy="64643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3" name="레일"/>
          <p:cNvSpPr/>
          <p:nvPr/>
        </p:nvSpPr>
        <p:spPr>
          <a:xfrm>
            <a:off x="734087" y="3654000"/>
            <a:ext cx="580696" cy="739565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4" name="레일"/>
          <p:cNvSpPr>
            <a:spLocks noGrp="1"/>
          </p:cNvSpPr>
          <p:nvPr>
            <p:ph type="body" sz="quarter" idx="37"/>
          </p:nvPr>
        </p:nvSpPr>
        <p:spPr>
          <a:xfrm>
            <a:off x="734087" y="3654000"/>
            <a:ext cx="580696" cy="739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45" name="레일 삼각형"/>
          <p:cNvSpPr/>
          <p:nvPr/>
        </p:nvSpPr>
        <p:spPr>
          <a:xfrm>
            <a:off x="734086" y="3654000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6" name="칸 본문"/>
          <p:cNvSpPr>
            <a:spLocks noGrp="1"/>
          </p:cNvSpPr>
          <p:nvPr>
            <p:ph type="body" sz="quarter" idx="38"/>
          </p:nvPr>
        </p:nvSpPr>
        <p:spPr>
          <a:xfrm>
            <a:off x="1358609" y="3675913"/>
            <a:ext cx="1591826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개방가능시설 분석, 제약요인 해소하여 확대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39"/>
          </p:nvPr>
        </p:nvSpPr>
        <p:spPr>
          <a:xfrm>
            <a:off x="2972348" y="3675913"/>
            <a:ext cx="2398696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산안공 인증 안전체험교육관 대국민 전면 개방, 화재진압, VR 등 체험 운영체계 내실화 ▶ p.68</a:t>
            </a:r>
          </a:p>
        </p:txBody>
      </p:sp>
      <p:cxnSp>
        <p:nvCxnSpPr>
          <p:cNvPr id="48" name="Connector 35"/>
          <p:cNvCxnSpPr/>
          <p:nvPr/>
        </p:nvCxnSpPr>
        <p:spPr>
          <a:xfrm>
            <a:off x="2961391" y="3708783"/>
            <a:ext cx="0" cy="64643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9" name="칸 본문"/>
          <p:cNvSpPr>
            <a:spLocks noGrp="1"/>
          </p:cNvSpPr>
          <p:nvPr>
            <p:ph type="body" sz="quarter" idx="40"/>
          </p:nvPr>
        </p:nvSpPr>
        <p:spPr>
          <a:xfrm>
            <a:off x="5392957" y="3675913"/>
            <a:ext cx="1591826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외부인 방문 전년 比 5배↑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(’24년 131명 → ’25년 664명)</a:t>
            </a:r>
          </a:p>
        </p:txBody>
      </p:sp>
      <p:cxnSp>
        <p:nvCxnSpPr>
          <p:cNvPr id="50" name="Connector 37"/>
          <p:cNvCxnSpPr/>
          <p:nvPr/>
        </p:nvCxnSpPr>
        <p:spPr>
          <a:xfrm>
            <a:off x="5382000" y="3708783"/>
            <a:ext cx="0" cy="64643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03 서사 · 맞춤형 성장 지원과 상생 성공모델 확산(’24년까지 실적 → ’25년 추진실적 → 개선효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맞춤형 성장 지원과 상생 성공모델 확산으로 동반성장 최우수 기관 인증</a:t>
            </a:r>
          </a:p>
        </p:txBody>
      </p:sp>
      <p:sp>
        <p:nvSpPr>
          <p:cNvPr id="15" name="표 외곽"/>
          <p:cNvSpPr/>
          <p:nvPr/>
        </p:nvSpPr>
        <p:spPr>
          <a:xfrm>
            <a:off x="536870" y="1117565"/>
            <a:ext cx="6300000" cy="79309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레일"/>
          <p:cNvSpPr/>
          <p:nvPr/>
        </p:nvSpPr>
        <p:spPr>
          <a:xfrm>
            <a:off x="547826" y="1134000"/>
            <a:ext cx="580696" cy="76022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134000"/>
            <a:ext cx="580696" cy="7602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8" name="머리칸"/>
          <p:cNvSpPr/>
          <p:nvPr/>
        </p:nvSpPr>
        <p:spPr>
          <a:xfrm>
            <a:off x="1161391" y="1155913"/>
            <a:ext cx="1597304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9" name="머리칸"/>
          <p:cNvSpPr>
            <a:spLocks noGrp="1"/>
          </p:cNvSpPr>
          <p:nvPr>
            <p:ph type="body" sz="quarter" idx="23"/>
          </p:nvPr>
        </p:nvSpPr>
        <p:spPr>
          <a:xfrm>
            <a:off x="1161391" y="1155913"/>
            <a:ext cx="1597304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’24년까지 주요 실적</a:t>
            </a:r>
          </a:p>
        </p:txBody>
      </p:sp>
      <p:sp>
        <p:nvSpPr>
          <p:cNvPr id="20" name="머리칸"/>
          <p:cNvSpPr/>
          <p:nvPr/>
        </p:nvSpPr>
        <p:spPr>
          <a:xfrm>
            <a:off x="2775130" y="1155913"/>
            <a:ext cx="2404174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1" name="머리칸"/>
          <p:cNvSpPr>
            <a:spLocks noGrp="1"/>
          </p:cNvSpPr>
          <p:nvPr>
            <p:ph type="body" sz="quarter" idx="24"/>
          </p:nvPr>
        </p:nvSpPr>
        <p:spPr>
          <a:xfrm>
            <a:off x="2775130" y="1155913"/>
            <a:ext cx="2404174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주요 추진실적</a:t>
            </a:r>
          </a:p>
        </p:txBody>
      </p:sp>
      <p:sp>
        <p:nvSpPr>
          <p:cNvPr id="22" name="머리칸"/>
          <p:cNvSpPr/>
          <p:nvPr/>
        </p:nvSpPr>
        <p:spPr>
          <a:xfrm>
            <a:off x="5195739" y="1155913"/>
            <a:ext cx="1597304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3" name="머리칸"/>
          <p:cNvSpPr>
            <a:spLocks noGrp="1"/>
          </p:cNvSpPr>
          <p:nvPr>
            <p:ph type="body" sz="quarter" idx="25"/>
          </p:nvPr>
        </p:nvSpPr>
        <p:spPr>
          <a:xfrm>
            <a:off x="5195739" y="1155913"/>
            <a:ext cx="1597304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개선효과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6"/>
          </p:nvPr>
        </p:nvSpPr>
        <p:spPr>
          <a:xfrm>
            <a:off x="1172348" y="1396957"/>
            <a:ext cx="1591826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협력기업의 ESG 강화를 위한 표준모델 구축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2786087" y="1396957"/>
            <a:ext cx="2398696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중소기업 대상 수준별 3단계 맞춤형 ESG 역량강화 지원 프로그램 개편 ▶ p.63</a:t>
            </a:r>
          </a:p>
        </p:txBody>
      </p:sp>
      <p:cxnSp>
        <p:nvCxnSpPr>
          <p:cNvPr id="26" name="Connector 18"/>
          <p:cNvCxnSpPr/>
          <p:nvPr/>
        </p:nvCxnSpPr>
        <p:spPr>
          <a:xfrm>
            <a:off x="2775130" y="1429826"/>
            <a:ext cx="0" cy="4260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7" name="칸 본문"/>
          <p:cNvSpPr>
            <a:spLocks noGrp="1"/>
          </p:cNvSpPr>
          <p:nvPr>
            <p:ph type="body" sz="quarter" idx="28"/>
          </p:nvPr>
        </p:nvSpPr>
        <p:spPr>
          <a:xfrm>
            <a:off x="5206696" y="1396957"/>
            <a:ext cx="1591826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40개社 지원(누적 82개社), ESG 인증 취득률 97%</a:t>
            </a:r>
          </a:p>
        </p:txBody>
      </p:sp>
      <p:cxnSp>
        <p:nvCxnSpPr>
          <p:cNvPr id="28" name="Connector 20"/>
          <p:cNvCxnSpPr/>
          <p:nvPr/>
        </p:nvCxnSpPr>
        <p:spPr>
          <a:xfrm>
            <a:off x="5195739" y="1429826"/>
            <a:ext cx="0" cy="4260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04 서사 · 전년도 성과 환류 → 패러다임 전환 → Pain Point · Solu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표 외곽"/>
          <p:cNvSpPr/>
          <p:nvPr/>
        </p:nvSpPr>
        <p:spPr>
          <a:xfrm>
            <a:off x="723130" y="777913"/>
            <a:ext cx="6300000" cy="102443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레일"/>
          <p:cNvSpPr/>
          <p:nvPr/>
        </p:nvSpPr>
        <p:spPr>
          <a:xfrm>
            <a:off x="734087" y="794348"/>
            <a:ext cx="580696" cy="99156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1" name="레일"/>
          <p:cNvSpPr>
            <a:spLocks noGrp="1"/>
          </p:cNvSpPr>
          <p:nvPr>
            <p:ph type="body" sz="quarter" idx="20"/>
          </p:nvPr>
        </p:nvSpPr>
        <p:spPr>
          <a:xfrm>
            <a:off x="734087" y="794348"/>
            <a:ext cx="580696" cy="991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 환류</a:t>
            </a:r>
          </a:p>
        </p:txBody>
      </p:sp>
      <p:sp>
        <p:nvSpPr>
          <p:cNvPr id="12" name="단계"/>
          <p:cNvSpPr/>
          <p:nvPr/>
        </p:nvSpPr>
        <p:spPr>
          <a:xfrm>
            <a:off x="1347652" y="816261"/>
            <a:ext cx="282404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3" name="단계"/>
          <p:cNvSpPr>
            <a:spLocks noGrp="1"/>
          </p:cNvSpPr>
          <p:nvPr>
            <p:ph type="body" sz="quarter" idx="21"/>
          </p:nvPr>
        </p:nvSpPr>
        <p:spPr>
          <a:xfrm>
            <a:off x="1347652" y="816261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전년도 실적 성과 환류</a:t>
            </a:r>
          </a:p>
        </p:txBody>
      </p:sp>
      <p:sp>
        <p:nvSpPr>
          <p:cNvPr id="14" name="단계"/>
          <p:cNvSpPr/>
          <p:nvPr/>
        </p:nvSpPr>
        <p:spPr>
          <a:xfrm>
            <a:off x="4171696" y="816261"/>
            <a:ext cx="2824043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5" name="단계"/>
          <p:cNvSpPr>
            <a:spLocks noGrp="1"/>
          </p:cNvSpPr>
          <p:nvPr>
            <p:ph type="body" sz="quarter" idx="22"/>
          </p:nvPr>
        </p:nvSpPr>
        <p:spPr>
          <a:xfrm>
            <a:off x="4171696" y="816261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패러다임 전환 K-water의 다음 스텝</a:t>
            </a:r>
          </a:p>
        </p:txBody>
      </p:sp>
      <p:sp>
        <p:nvSpPr>
          <p:cNvPr id="16" name="단계 삼각형"/>
          <p:cNvSpPr/>
          <p:nvPr/>
        </p:nvSpPr>
        <p:spPr>
          <a:xfrm>
            <a:off x="4171695" y="816260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3"/>
          </p:nvPr>
        </p:nvSpPr>
        <p:spPr>
          <a:xfrm>
            <a:off x="1358609" y="1068261"/>
            <a:ext cx="2802130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주요성과 중소기업 협업 기반 초순수 기술 국산화, 사회적경제 협업모델 ‘댐잇’ 프로젝트 성공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전주기 협업과 보편적 지원으로 동반성장 생태계 확장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4"/>
          </p:nvPr>
        </p:nvSpPr>
        <p:spPr>
          <a:xfrm>
            <a:off x="4182652" y="1068261"/>
            <a:ext cx="2802130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인사이트 기업별 역량 격차를 분석하여 성장 단계에 맞춘 ‘포용적 상생 솔루션’이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최적화된 지원체계 제공으로 상생 퀄리티를 극대화</a:t>
            </a:r>
          </a:p>
        </p:txBody>
      </p:sp>
      <p:cxnSp>
        <p:nvCxnSpPr>
          <p:cNvPr id="19" name="Connector 10"/>
          <p:cNvCxnSpPr/>
          <p:nvPr/>
        </p:nvCxnSpPr>
        <p:spPr>
          <a:xfrm>
            <a:off x="4171696" y="1101130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0" name="캡션 띠"/>
          <p:cNvSpPr/>
          <p:nvPr/>
        </p:nvSpPr>
        <p:spPr>
          <a:xfrm>
            <a:off x="723130" y="1824260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1" name="태그"/>
          <p:cNvSpPr/>
          <p:nvPr/>
        </p:nvSpPr>
        <p:spPr>
          <a:xfrm>
            <a:off x="1051826" y="1868087"/>
            <a:ext cx="485382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2" name="태그"/>
          <p:cNvSpPr>
            <a:spLocks noGrp="1"/>
          </p:cNvSpPr>
          <p:nvPr>
            <p:ph type="body" sz="quarter" idx="25"/>
          </p:nvPr>
        </p:nvSpPr>
        <p:spPr>
          <a:xfrm>
            <a:off x="1051826" y="1868087"/>
            <a:ext cx="485382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23" name="캡션"/>
          <p:cNvSpPr>
            <a:spLocks noGrp="1"/>
          </p:cNvSpPr>
          <p:nvPr>
            <p:ph type="body" sz="quarter" idx="26"/>
          </p:nvPr>
        </p:nvSpPr>
        <p:spPr>
          <a:xfrm>
            <a:off x="1591991" y="1824261"/>
            <a:ext cx="5212009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‘협업 성공사례 확산’과 ‘기업유형별 Pain Point 대응’으로 실효적 성장 견인</a:t>
            </a:r>
          </a:p>
        </p:txBody>
      </p:sp>
      <p:sp>
        <p:nvSpPr>
          <p:cNvPr id="24" name="표 외곽"/>
          <p:cNvSpPr/>
          <p:nvPr/>
        </p:nvSpPr>
        <p:spPr>
          <a:xfrm>
            <a:off x="723130" y="2131043"/>
            <a:ext cx="6300000" cy="143530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5" name="레일"/>
          <p:cNvSpPr/>
          <p:nvPr/>
        </p:nvSpPr>
        <p:spPr>
          <a:xfrm>
            <a:off x="734087" y="2147478"/>
            <a:ext cx="580696" cy="73956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6" name="레일"/>
          <p:cNvSpPr>
            <a:spLocks noGrp="1"/>
          </p:cNvSpPr>
          <p:nvPr>
            <p:ph type="body" sz="quarter" idx="27"/>
          </p:nvPr>
        </p:nvSpPr>
        <p:spPr>
          <a:xfrm>
            <a:off x="734087" y="2147478"/>
            <a:ext cx="580696" cy="739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Pain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Point</a:t>
            </a:r>
          </a:p>
        </p:txBody>
      </p:sp>
      <p:sp>
        <p:nvSpPr>
          <p:cNvPr id="27" name="머리칸"/>
          <p:cNvSpPr/>
          <p:nvPr/>
        </p:nvSpPr>
        <p:spPr>
          <a:xfrm>
            <a:off x="1347652" y="2169391"/>
            <a:ext cx="139558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8" name="머리칸"/>
          <p:cNvSpPr>
            <a:spLocks noGrp="1"/>
          </p:cNvSpPr>
          <p:nvPr>
            <p:ph type="body" sz="quarter" idx="28"/>
          </p:nvPr>
        </p:nvSpPr>
        <p:spPr>
          <a:xfrm>
            <a:off x="1347652" y="2169391"/>
            <a:ext cx="13955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중소기업 ESG역량</a:t>
            </a:r>
          </a:p>
        </p:txBody>
      </p:sp>
      <p:sp>
        <p:nvSpPr>
          <p:cNvPr id="29" name="머리칸"/>
          <p:cNvSpPr/>
          <p:nvPr/>
        </p:nvSpPr>
        <p:spPr>
          <a:xfrm>
            <a:off x="2759674" y="2169391"/>
            <a:ext cx="139558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0" name="머리칸"/>
          <p:cNvSpPr>
            <a:spLocks noGrp="1"/>
          </p:cNvSpPr>
          <p:nvPr>
            <p:ph type="body" sz="quarter" idx="29"/>
          </p:nvPr>
        </p:nvSpPr>
        <p:spPr>
          <a:xfrm>
            <a:off x="2759674" y="2169391"/>
            <a:ext cx="13955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기후테크기업 육성</a:t>
            </a:r>
          </a:p>
        </p:txBody>
      </p:sp>
      <p:sp>
        <p:nvSpPr>
          <p:cNvPr id="31" name="머리칸"/>
          <p:cNvSpPr/>
          <p:nvPr/>
        </p:nvSpPr>
        <p:spPr>
          <a:xfrm>
            <a:off x="4171696" y="2169391"/>
            <a:ext cx="139558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2" name="머리칸"/>
          <p:cNvSpPr>
            <a:spLocks noGrp="1"/>
          </p:cNvSpPr>
          <p:nvPr>
            <p:ph type="body" sz="quarter" idx="30"/>
          </p:nvPr>
        </p:nvSpPr>
        <p:spPr>
          <a:xfrm>
            <a:off x="4171696" y="2169391"/>
            <a:ext cx="13955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사회적경제 협업</a:t>
            </a:r>
          </a:p>
        </p:txBody>
      </p:sp>
      <p:sp>
        <p:nvSpPr>
          <p:cNvPr id="33" name="머리칸"/>
          <p:cNvSpPr/>
          <p:nvPr/>
        </p:nvSpPr>
        <p:spPr>
          <a:xfrm>
            <a:off x="5583717" y="2169391"/>
            <a:ext cx="139558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4" name="머리칸"/>
          <p:cNvSpPr>
            <a:spLocks noGrp="1"/>
          </p:cNvSpPr>
          <p:nvPr>
            <p:ph type="body" sz="quarter" idx="31"/>
          </p:nvPr>
        </p:nvSpPr>
        <p:spPr>
          <a:xfrm>
            <a:off x="5583717" y="2169391"/>
            <a:ext cx="13955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청년기업 연착륙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2"/>
          </p:nvPr>
        </p:nvSpPr>
        <p:spPr>
          <a:xfrm>
            <a:off x="1358609" y="2410435"/>
            <a:ext cx="1390109" cy="471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기업별 ESG 인식과 이행수준 격차 존재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3"/>
          </p:nvPr>
        </p:nvSpPr>
        <p:spPr>
          <a:xfrm>
            <a:off x="2770630" y="2410435"/>
            <a:ext cx="1390109" cy="471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극초기 스타트업의 높은 진입장벽</a:t>
            </a:r>
          </a:p>
        </p:txBody>
      </p:sp>
      <p:cxnSp>
        <p:nvCxnSpPr>
          <p:cNvPr id="37" name="Connector 22"/>
          <p:cNvCxnSpPr/>
          <p:nvPr/>
        </p:nvCxnSpPr>
        <p:spPr>
          <a:xfrm>
            <a:off x="2759674" y="2443304"/>
            <a:ext cx="0" cy="40539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8" name="칸 본문"/>
          <p:cNvSpPr>
            <a:spLocks noGrp="1"/>
          </p:cNvSpPr>
          <p:nvPr>
            <p:ph type="body" sz="quarter" idx="34"/>
          </p:nvPr>
        </p:nvSpPr>
        <p:spPr>
          <a:xfrm>
            <a:off x="4182652" y="2410435"/>
            <a:ext cx="1390109" cy="471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특색을 반영한 전국 확산 필요</a:t>
            </a:r>
          </a:p>
        </p:txBody>
      </p:sp>
      <p:cxnSp>
        <p:nvCxnSpPr>
          <p:cNvPr id="39" name="Connector 24"/>
          <p:cNvCxnSpPr/>
          <p:nvPr/>
        </p:nvCxnSpPr>
        <p:spPr>
          <a:xfrm>
            <a:off x="4171696" y="2443304"/>
            <a:ext cx="0" cy="40539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0" name="칸 본문"/>
          <p:cNvSpPr>
            <a:spLocks noGrp="1"/>
          </p:cNvSpPr>
          <p:nvPr>
            <p:ph type="body" sz="quarter" idx="35"/>
          </p:nvPr>
        </p:nvSpPr>
        <p:spPr>
          <a:xfrm>
            <a:off x="5594674" y="2410435"/>
            <a:ext cx="1390109" cy="471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창업 이후의 실전 경영 노하우 부족</a:t>
            </a:r>
          </a:p>
        </p:txBody>
      </p:sp>
      <p:cxnSp>
        <p:nvCxnSpPr>
          <p:cNvPr id="41" name="Connector 26"/>
          <p:cNvCxnSpPr/>
          <p:nvPr/>
        </p:nvCxnSpPr>
        <p:spPr>
          <a:xfrm>
            <a:off x="5583717" y="2443304"/>
            <a:ext cx="0" cy="40539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2" name="레일"/>
          <p:cNvSpPr/>
          <p:nvPr/>
        </p:nvSpPr>
        <p:spPr>
          <a:xfrm>
            <a:off x="734087" y="2903478"/>
            <a:ext cx="580696" cy="646435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3" name="레일"/>
          <p:cNvSpPr>
            <a:spLocks noGrp="1"/>
          </p:cNvSpPr>
          <p:nvPr>
            <p:ph type="body" sz="quarter" idx="36"/>
          </p:nvPr>
        </p:nvSpPr>
        <p:spPr>
          <a:xfrm>
            <a:off x="734087" y="2903478"/>
            <a:ext cx="580696" cy="646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K-water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해법</a:t>
            </a:r>
          </a:p>
        </p:txBody>
      </p:sp>
      <p:sp>
        <p:nvSpPr>
          <p:cNvPr id="44" name="레일 삼각형"/>
          <p:cNvSpPr/>
          <p:nvPr/>
        </p:nvSpPr>
        <p:spPr>
          <a:xfrm>
            <a:off x="734086" y="2903478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5" name="칸 본문"/>
          <p:cNvSpPr>
            <a:spLocks noGrp="1"/>
          </p:cNvSpPr>
          <p:nvPr>
            <p:ph type="body" sz="quarter" idx="37"/>
          </p:nvPr>
        </p:nvSpPr>
        <p:spPr>
          <a:xfrm>
            <a:off x="1358609" y="2925391"/>
            <a:ext cx="1390109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진단을 통한 수준별 ‘ESG 파트너십’ 전환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38"/>
          </p:nvPr>
        </p:nvSpPr>
        <p:spPr>
          <a:xfrm>
            <a:off x="2770630" y="2925391"/>
            <a:ext cx="1390109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직접 발굴·육성하는 전담기관 신설</a:t>
            </a:r>
          </a:p>
        </p:txBody>
      </p:sp>
      <p:cxnSp>
        <p:nvCxnSpPr>
          <p:cNvPr id="47" name="Connector 31"/>
          <p:cNvCxnSpPr/>
          <p:nvPr/>
        </p:nvCxnSpPr>
        <p:spPr>
          <a:xfrm>
            <a:off x="2759674" y="2958261"/>
            <a:ext cx="0" cy="317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8" name="칸 본문"/>
          <p:cNvSpPr>
            <a:spLocks noGrp="1"/>
          </p:cNvSpPr>
          <p:nvPr>
            <p:ph type="body" sz="quarter" idx="39"/>
          </p:nvPr>
        </p:nvSpPr>
        <p:spPr>
          <a:xfrm>
            <a:off x="4182652" y="2925391"/>
            <a:ext cx="1390109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‘댐잇’ 성공 모델의 고도화 및 전파</a:t>
            </a:r>
          </a:p>
        </p:txBody>
      </p:sp>
      <p:cxnSp>
        <p:nvCxnSpPr>
          <p:cNvPr id="49" name="Connector 33"/>
          <p:cNvCxnSpPr/>
          <p:nvPr/>
        </p:nvCxnSpPr>
        <p:spPr>
          <a:xfrm>
            <a:off x="4171696" y="2958261"/>
            <a:ext cx="0" cy="317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0" name="칸 본문"/>
          <p:cNvSpPr>
            <a:spLocks noGrp="1"/>
          </p:cNvSpPr>
          <p:nvPr>
            <p:ph type="body" sz="quarter" idx="40"/>
          </p:nvPr>
        </p:nvSpPr>
        <p:spPr>
          <a:xfrm>
            <a:off x="5594674" y="2925391"/>
            <a:ext cx="1390109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실전 마케팅 및 전문인력 채용 지원</a:t>
            </a:r>
          </a:p>
        </p:txBody>
      </p:sp>
      <p:cxnSp>
        <p:nvCxnSpPr>
          <p:cNvPr id="51" name="Connector 35"/>
          <p:cNvCxnSpPr/>
          <p:nvPr/>
        </p:nvCxnSpPr>
        <p:spPr>
          <a:xfrm>
            <a:off x="5583717" y="2958261"/>
            <a:ext cx="0" cy="317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2" name="태그"/>
          <p:cNvSpPr/>
          <p:nvPr/>
        </p:nvSpPr>
        <p:spPr>
          <a:xfrm>
            <a:off x="1347652" y="3347217"/>
            <a:ext cx="361972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3" name="태그"/>
          <p:cNvSpPr>
            <a:spLocks noGrp="1"/>
          </p:cNvSpPr>
          <p:nvPr>
            <p:ph type="body" sz="quarter" idx="41"/>
          </p:nvPr>
        </p:nvSpPr>
        <p:spPr>
          <a:xfrm>
            <a:off x="1347652" y="3347217"/>
            <a:ext cx="36197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공통</a:t>
            </a:r>
          </a:p>
        </p:txBody>
      </p:sp>
      <p:sp>
        <p:nvSpPr>
          <p:cNvPr id="54" name="태그 설명"/>
          <p:cNvSpPr>
            <a:spLocks noGrp="1"/>
          </p:cNvSpPr>
          <p:nvPr>
            <p:ph type="body" sz="quarter" idx="42"/>
          </p:nvPr>
        </p:nvSpPr>
        <p:spPr>
          <a:xfrm>
            <a:off x="1753450" y="3336261"/>
            <a:ext cx="5242289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중심의 계약제도 합리화로 중소·약소기업의 입찰 진입로 확대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05 서사 · ESG 맞춤형 지원체계 개편(추진배경 → 목표 → 추진내용 3단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중소기업의 현실적 어려움을 해소하는 성장 역량 지원</a:t>
            </a:r>
          </a:p>
        </p:txBody>
      </p:sp>
      <p:sp>
        <p:nvSpPr>
          <p:cNvPr id="15" name="형광 밑줄"/>
          <p:cNvSpPr/>
          <p:nvPr/>
        </p:nvSpPr>
        <p:spPr>
          <a:xfrm>
            <a:off x="536870" y="1347652"/>
            <a:ext cx="3880186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소제목"/>
          <p:cNvSpPr>
            <a:spLocks noGrp="1"/>
          </p:cNvSpPr>
          <p:nvPr>
            <p:ph type="body" sz="quarter" idx="22"/>
          </p:nvPr>
        </p:nvSpPr>
        <p:spPr>
          <a:xfrm>
            <a:off x="536870" y="1194261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ESG가 기업의 진짜 경쟁력이 되도록 ‘맞춤형 지원체계’로 개편</a:t>
            </a:r>
          </a:p>
        </p:txBody>
      </p:sp>
      <p:sp>
        <p:nvSpPr>
          <p:cNvPr id="17" name="태그칩"/>
          <p:cNvSpPr/>
          <p:nvPr/>
        </p:nvSpPr>
        <p:spPr>
          <a:xfrm>
            <a:off x="4515664" y="1227130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태그칩"/>
          <p:cNvSpPr>
            <a:spLocks noGrp="1"/>
          </p:cNvSpPr>
          <p:nvPr>
            <p:ph type="body" sz="quarter" idx="23"/>
          </p:nvPr>
        </p:nvSpPr>
        <p:spPr>
          <a:xfrm>
            <a:off x="4515664" y="1227130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9" name="태그칩"/>
          <p:cNvSpPr/>
          <p:nvPr/>
        </p:nvSpPr>
        <p:spPr>
          <a:xfrm>
            <a:off x="5066785" y="1227130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태그칩"/>
          <p:cNvSpPr>
            <a:spLocks noGrp="1"/>
          </p:cNvSpPr>
          <p:nvPr>
            <p:ph type="body" sz="quarter" idx="24"/>
          </p:nvPr>
        </p:nvSpPr>
        <p:spPr>
          <a:xfrm>
            <a:off x="5066785" y="1227130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21" name="표 외곽"/>
          <p:cNvSpPr/>
          <p:nvPr/>
        </p:nvSpPr>
        <p:spPr>
          <a:xfrm>
            <a:off x="536870" y="1479130"/>
            <a:ext cx="6300000" cy="2357061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2" name="레일"/>
          <p:cNvSpPr/>
          <p:nvPr/>
        </p:nvSpPr>
        <p:spPr>
          <a:xfrm>
            <a:off x="547826" y="1495565"/>
            <a:ext cx="580696" cy="59713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3" name="레일"/>
          <p:cNvSpPr>
            <a:spLocks noGrp="1"/>
          </p:cNvSpPr>
          <p:nvPr>
            <p:ph type="body" sz="quarter" idx="25"/>
          </p:nvPr>
        </p:nvSpPr>
        <p:spPr>
          <a:xfrm>
            <a:off x="547826" y="1495565"/>
            <a:ext cx="580696" cy="597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6"/>
          </p:nvPr>
        </p:nvSpPr>
        <p:spPr>
          <a:xfrm>
            <a:off x="1172348" y="1517478"/>
            <a:ext cx="2802130" cy="569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중소기업 “지원사업이 반갑지만, 우리 회사의 수준을 가늠하기 어렵고 바로 적용할 솔루션이 필요합니다.”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3996391" y="1517478"/>
            <a:ext cx="2802130" cy="569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“사업을 해보니… 기업마다 ESG 성숙도는 천차만별, 역량별로 프로그램을 분화해서 운영해야…”</a:t>
            </a:r>
          </a:p>
        </p:txBody>
      </p:sp>
      <p:cxnSp>
        <p:nvCxnSpPr>
          <p:cNvPr id="26" name="Connector 19"/>
          <p:cNvCxnSpPr/>
          <p:nvPr/>
        </p:nvCxnSpPr>
        <p:spPr>
          <a:xfrm>
            <a:off x="3985435" y="1550348"/>
            <a:ext cx="0" cy="50400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7" name="레일"/>
          <p:cNvSpPr/>
          <p:nvPr/>
        </p:nvSpPr>
        <p:spPr>
          <a:xfrm>
            <a:off x="547826" y="2109130"/>
            <a:ext cx="580696" cy="38488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8" name="레일"/>
          <p:cNvSpPr>
            <a:spLocks noGrp="1"/>
          </p:cNvSpPr>
          <p:nvPr>
            <p:ph type="body" sz="quarter" idx="28"/>
          </p:nvPr>
        </p:nvSpPr>
        <p:spPr>
          <a:xfrm>
            <a:off x="547826" y="2109130"/>
            <a:ext cx="580696" cy="3848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추진목표</a:t>
            </a:r>
          </a:p>
        </p:txBody>
      </p:sp>
      <p:sp>
        <p:nvSpPr>
          <p:cNvPr id="29" name="레일 삼각형"/>
          <p:cNvSpPr/>
          <p:nvPr/>
        </p:nvSpPr>
        <p:spPr>
          <a:xfrm>
            <a:off x="547826" y="2109130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0" name="배너"/>
          <p:cNvSpPr/>
          <p:nvPr/>
        </p:nvSpPr>
        <p:spPr>
          <a:xfrm>
            <a:off x="1161391" y="2131043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1" name="배너"/>
          <p:cNvSpPr>
            <a:spLocks noGrp="1"/>
          </p:cNvSpPr>
          <p:nvPr>
            <p:ph type="body" sz="quarter" idx="29"/>
          </p:nvPr>
        </p:nvSpPr>
        <p:spPr>
          <a:xfrm>
            <a:off x="1161391" y="2131043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 ESG 역량의 ‘수준별 지원’을 통한 중소기업 실전 경쟁력 강화</a:t>
            </a:r>
          </a:p>
        </p:txBody>
      </p:sp>
      <p:sp>
        <p:nvSpPr>
          <p:cNvPr id="32" name="레일"/>
          <p:cNvSpPr/>
          <p:nvPr/>
        </p:nvSpPr>
        <p:spPr>
          <a:xfrm>
            <a:off x="547826" y="2510452"/>
            <a:ext cx="580696" cy="1309304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3" name="레일"/>
          <p:cNvSpPr>
            <a:spLocks noGrp="1"/>
          </p:cNvSpPr>
          <p:nvPr>
            <p:ph type="body" sz="quarter" idx="30"/>
          </p:nvPr>
        </p:nvSpPr>
        <p:spPr>
          <a:xfrm>
            <a:off x="547826" y="2510452"/>
            <a:ext cx="580696" cy="1309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추진내용</a:t>
            </a:r>
          </a:p>
        </p:txBody>
      </p:sp>
      <p:sp>
        <p:nvSpPr>
          <p:cNvPr id="34" name="레일 삼각형"/>
          <p:cNvSpPr/>
          <p:nvPr/>
        </p:nvSpPr>
        <p:spPr>
          <a:xfrm>
            <a:off x="547826" y="2510452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5" name="머리칸"/>
          <p:cNvSpPr/>
          <p:nvPr/>
        </p:nvSpPr>
        <p:spPr>
          <a:xfrm>
            <a:off x="1161391" y="253236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6" name="머리칸"/>
          <p:cNvSpPr>
            <a:spLocks noGrp="1"/>
          </p:cNvSpPr>
          <p:nvPr>
            <p:ph type="body" sz="quarter" idx="31"/>
          </p:nvPr>
        </p:nvSpPr>
        <p:spPr>
          <a:xfrm>
            <a:off x="1161391" y="253236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역량구축 ESG 도입기업</a:t>
            </a:r>
          </a:p>
        </p:txBody>
      </p:sp>
      <p:sp>
        <p:nvSpPr>
          <p:cNvPr id="37" name="머리칸"/>
          <p:cNvSpPr/>
          <p:nvPr/>
        </p:nvSpPr>
        <p:spPr>
          <a:xfrm>
            <a:off x="3044087" y="253236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8" name="머리칸"/>
          <p:cNvSpPr>
            <a:spLocks noGrp="1"/>
          </p:cNvSpPr>
          <p:nvPr>
            <p:ph type="body" sz="quarter" idx="32"/>
          </p:nvPr>
        </p:nvSpPr>
        <p:spPr>
          <a:xfrm>
            <a:off x="3044087" y="253236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실전안착 ESG 도약기업</a:t>
            </a:r>
          </a:p>
        </p:txBody>
      </p:sp>
      <p:sp>
        <p:nvSpPr>
          <p:cNvPr id="39" name="머리칸"/>
          <p:cNvSpPr/>
          <p:nvPr/>
        </p:nvSpPr>
        <p:spPr>
          <a:xfrm>
            <a:off x="4926783" y="253236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0" name="머리칸"/>
          <p:cNvSpPr>
            <a:spLocks noGrp="1"/>
          </p:cNvSpPr>
          <p:nvPr>
            <p:ph type="body" sz="quarter" idx="33"/>
          </p:nvPr>
        </p:nvSpPr>
        <p:spPr>
          <a:xfrm>
            <a:off x="4926783" y="253236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가치확산 ESG 선도기업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34"/>
          </p:nvPr>
        </p:nvSpPr>
        <p:spPr>
          <a:xfrm>
            <a:off x="1172348" y="2773409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기업별 진단을 통해 실무 이슈와 우선순위 선정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교육과 인터뷰로 ESG 경영 진입 장벽 및 부담 제거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 맞춤형 지표 설계 및 핵심 개선과제 도출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35"/>
          </p:nvPr>
        </p:nvSpPr>
        <p:spPr>
          <a:xfrm>
            <a:off x="3055043" y="2773409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규제 대응을 위한 현장 밀착형 컨설팅 실시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성과입증 문서, 데이터 확보 위한 프로세스 혁신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진단 기반의 단기 개선 및 중장기 성장전략 수립</a:t>
            </a:r>
          </a:p>
        </p:txBody>
      </p:sp>
      <p:cxnSp>
        <p:nvCxnSpPr>
          <p:cNvPr id="43" name="Connector 30"/>
          <p:cNvCxnSpPr/>
          <p:nvPr/>
        </p:nvCxnSpPr>
        <p:spPr>
          <a:xfrm>
            <a:off x="3044087" y="2806278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4" name="칸 본문"/>
          <p:cNvSpPr>
            <a:spLocks noGrp="1"/>
          </p:cNvSpPr>
          <p:nvPr>
            <p:ph type="body" sz="quarter" idx="36"/>
          </p:nvPr>
        </p:nvSpPr>
        <p:spPr>
          <a:xfrm>
            <a:off x="4937739" y="2773409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공급망 규제 등 급변하는 환경 선제 대응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GBB(공급망 ESG 인증) 취득으로 대외실사 신뢰도 제고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고도화된 ESG 역량을 대내외 마케팅에 활용</a:t>
            </a:r>
          </a:p>
        </p:txBody>
      </p:sp>
      <p:cxnSp>
        <p:nvCxnSpPr>
          <p:cNvPr id="45" name="Connector 32"/>
          <p:cNvCxnSpPr/>
          <p:nvPr/>
        </p:nvCxnSpPr>
        <p:spPr>
          <a:xfrm>
            <a:off x="4926783" y="2806278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6" name="핵심성과 박스"/>
          <p:cNvSpPr/>
          <p:nvPr/>
        </p:nvSpPr>
        <p:spPr>
          <a:xfrm>
            <a:off x="536870" y="3923843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7" name="핵심성과 라벨"/>
          <p:cNvSpPr/>
          <p:nvPr/>
        </p:nvSpPr>
        <p:spPr>
          <a:xfrm>
            <a:off x="569739" y="3956713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8" name="핵심성과 라벨"/>
          <p:cNvSpPr>
            <a:spLocks noGrp="1"/>
          </p:cNvSpPr>
          <p:nvPr>
            <p:ph type="body" sz="quarter" idx="37"/>
          </p:nvPr>
        </p:nvSpPr>
        <p:spPr>
          <a:xfrm>
            <a:off x="569739" y="3956713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9" name="핵심성과 문구"/>
          <p:cNvSpPr>
            <a:spLocks noGrp="1"/>
          </p:cNvSpPr>
          <p:nvPr>
            <p:ph type="body" sz="quarter" idx="38"/>
          </p:nvPr>
        </p:nvSpPr>
        <p:spPr>
          <a:xfrm>
            <a:off x="1314783" y="3945757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ESG 지원사업 누적 82개社 선정(당해 40건), 참여기업 동반성장委 ESG 인증 취득률 97%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동반성장 ‘대상’ 수상(’25.12, 동반성장委), 동반성장 유공 ‘장관’ 표창(’25.11, 중기부)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06 서사 · 컴퍼니빌더(추진현황 → 목표 → 추진내용 3단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4058346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기후테크 ‘극초기’ 스타트업 육성을 위한 ‘컴퍼니빌더’ 설립 본격화</a:t>
            </a:r>
          </a:p>
        </p:txBody>
      </p:sp>
      <p:sp>
        <p:nvSpPr>
          <p:cNvPr id="11" name="태그칩"/>
          <p:cNvSpPr/>
          <p:nvPr/>
        </p:nvSpPr>
        <p:spPr>
          <a:xfrm>
            <a:off x="4880085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4880085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3" name="표 외곽"/>
          <p:cNvSpPr/>
          <p:nvPr/>
        </p:nvSpPr>
        <p:spPr>
          <a:xfrm>
            <a:off x="723130" y="1062783"/>
            <a:ext cx="6300000" cy="71217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레일"/>
          <p:cNvSpPr/>
          <p:nvPr/>
        </p:nvSpPr>
        <p:spPr>
          <a:xfrm>
            <a:off x="734087" y="1079217"/>
            <a:ext cx="580696" cy="679304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079217"/>
            <a:ext cx="580696" cy="679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추진현황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3"/>
          </p:nvPr>
        </p:nvSpPr>
        <p:spPr>
          <a:xfrm>
            <a:off x="1358609" y="1101130"/>
            <a:ext cx="2802130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2021년 유망 스타트업 지원을 위한 K-water 주도 지역혁신펀드 조성 착수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4"/>
          </p:nvPr>
        </p:nvSpPr>
        <p:spPr>
          <a:xfrm>
            <a:off x="4182652" y="1101130"/>
            <a:ext cx="2802130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2025년 총 5,254억원 규모의 펀드 조성 완료(K-water 999억원 출자), 총 181개 기업 지원</a:t>
            </a:r>
          </a:p>
        </p:txBody>
      </p:sp>
      <p:cxnSp>
        <p:nvCxnSpPr>
          <p:cNvPr id="18" name="Connector 10"/>
          <p:cNvCxnSpPr/>
          <p:nvPr/>
        </p:nvCxnSpPr>
        <p:spPr>
          <a:xfrm>
            <a:off x="4171696" y="1134000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9" name="태그"/>
          <p:cNvSpPr/>
          <p:nvPr/>
        </p:nvSpPr>
        <p:spPr>
          <a:xfrm>
            <a:off x="1347652" y="1555826"/>
            <a:ext cx="581509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태그"/>
          <p:cNvSpPr>
            <a:spLocks noGrp="1"/>
          </p:cNvSpPr>
          <p:nvPr>
            <p:ph type="body" sz="quarter" idx="25"/>
          </p:nvPr>
        </p:nvSpPr>
        <p:spPr>
          <a:xfrm>
            <a:off x="1347652" y="1555826"/>
            <a:ext cx="58150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성공사례</a:t>
            </a:r>
          </a:p>
        </p:txBody>
      </p:sp>
      <p:sp>
        <p:nvSpPr>
          <p:cNvPr id="21" name="태그 설명"/>
          <p:cNvSpPr>
            <a:spLocks noGrp="1"/>
          </p:cNvSpPr>
          <p:nvPr>
            <p:ph type="body" sz="quarter" idx="26"/>
          </p:nvPr>
        </p:nvSpPr>
        <p:spPr>
          <a:xfrm>
            <a:off x="1972988" y="1544870"/>
            <a:ext cx="502275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수소충전설비 ‘B’社 총 45억원 투자 유치로 해외수출 성공, H2 Innovation Awards ‘대상’ 수상</a:t>
            </a:r>
          </a:p>
        </p:txBody>
      </p:sp>
      <p:sp>
        <p:nvSpPr>
          <p:cNvPr id="22" name="캡션 띠"/>
          <p:cNvSpPr/>
          <p:nvPr/>
        </p:nvSpPr>
        <p:spPr>
          <a:xfrm>
            <a:off x="723130" y="1796869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3" name="캡션"/>
          <p:cNvSpPr>
            <a:spLocks noGrp="1"/>
          </p:cNvSpPr>
          <p:nvPr>
            <p:ph type="body" sz="quarter" idx="27"/>
          </p:nvPr>
        </p:nvSpPr>
        <p:spPr>
          <a:xfrm>
            <a:off x="942261" y="1796870"/>
            <a:ext cx="5861739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【 단, 초기 기후테크 스타트업은 높은 불확실성으로 인해 투자소외 현상 발생 】</a:t>
            </a:r>
          </a:p>
        </p:txBody>
      </p:sp>
      <p:sp>
        <p:nvSpPr>
          <p:cNvPr id="24" name="표 외곽"/>
          <p:cNvSpPr/>
          <p:nvPr/>
        </p:nvSpPr>
        <p:spPr>
          <a:xfrm>
            <a:off x="723130" y="2103652"/>
            <a:ext cx="6300000" cy="192287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5" name="레일"/>
          <p:cNvSpPr/>
          <p:nvPr/>
        </p:nvSpPr>
        <p:spPr>
          <a:xfrm>
            <a:off x="734087" y="2120087"/>
            <a:ext cx="580696" cy="482087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6" name="레일"/>
          <p:cNvSpPr>
            <a:spLocks noGrp="1"/>
          </p:cNvSpPr>
          <p:nvPr>
            <p:ph type="body" sz="quarter" idx="28"/>
          </p:nvPr>
        </p:nvSpPr>
        <p:spPr>
          <a:xfrm>
            <a:off x="734087" y="2120087"/>
            <a:ext cx="580696" cy="482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추진목표</a:t>
            </a:r>
          </a:p>
        </p:txBody>
      </p:sp>
      <p:sp>
        <p:nvSpPr>
          <p:cNvPr id="27" name="배너"/>
          <p:cNvSpPr/>
          <p:nvPr/>
        </p:nvSpPr>
        <p:spPr>
          <a:xfrm>
            <a:off x="1347652" y="2142000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8" name="배너"/>
          <p:cNvSpPr>
            <a:spLocks noGrp="1"/>
          </p:cNvSpPr>
          <p:nvPr>
            <p:ph type="body" sz="quarter" idx="29"/>
          </p:nvPr>
        </p:nvSpPr>
        <p:spPr>
          <a:xfrm>
            <a:off x="1347652" y="2142000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기후테크 기술사업화 全주기 지원을 전담할 ‘컴퍼니빌더’ 설립</a:t>
            </a:r>
          </a:p>
        </p:txBody>
      </p:sp>
      <p:sp>
        <p:nvSpPr>
          <p:cNvPr id="29" name="태그"/>
          <p:cNvSpPr/>
          <p:nvPr/>
        </p:nvSpPr>
        <p:spPr>
          <a:xfrm>
            <a:off x="1347652" y="2399478"/>
            <a:ext cx="759620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0" name="태그"/>
          <p:cNvSpPr>
            <a:spLocks noGrp="1"/>
          </p:cNvSpPr>
          <p:nvPr>
            <p:ph type="body" sz="quarter" idx="30"/>
          </p:nvPr>
        </p:nvSpPr>
        <p:spPr>
          <a:xfrm>
            <a:off x="1347652" y="2399478"/>
            <a:ext cx="759620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컴퍼니빌더?</a:t>
            </a:r>
          </a:p>
        </p:txBody>
      </p:sp>
      <p:sp>
        <p:nvSpPr>
          <p:cNvPr id="31" name="태그 설명"/>
          <p:cNvSpPr>
            <a:spLocks noGrp="1"/>
          </p:cNvSpPr>
          <p:nvPr>
            <p:ph type="body" sz="quarter" idx="31"/>
          </p:nvPr>
        </p:nvSpPr>
        <p:spPr>
          <a:xfrm>
            <a:off x="2151098" y="2388522"/>
            <a:ext cx="484464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스타트업을 직접 설립 또는 초기 단계부터 투자·운영에 적극 참여, 성장을 주도</a:t>
            </a:r>
          </a:p>
        </p:txBody>
      </p:sp>
      <p:sp>
        <p:nvSpPr>
          <p:cNvPr id="32" name="레일"/>
          <p:cNvSpPr/>
          <p:nvPr/>
        </p:nvSpPr>
        <p:spPr>
          <a:xfrm>
            <a:off x="734087" y="2618609"/>
            <a:ext cx="580696" cy="1391478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3" name="레일"/>
          <p:cNvSpPr>
            <a:spLocks noGrp="1"/>
          </p:cNvSpPr>
          <p:nvPr>
            <p:ph type="body" sz="quarter" idx="32"/>
          </p:nvPr>
        </p:nvSpPr>
        <p:spPr>
          <a:xfrm>
            <a:off x="734087" y="2618609"/>
            <a:ext cx="580696" cy="139147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추진내용</a:t>
            </a:r>
          </a:p>
        </p:txBody>
      </p:sp>
      <p:sp>
        <p:nvSpPr>
          <p:cNvPr id="34" name="레일 삼각형"/>
          <p:cNvSpPr/>
          <p:nvPr/>
        </p:nvSpPr>
        <p:spPr>
          <a:xfrm>
            <a:off x="734086" y="2618608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5" name="단계"/>
          <p:cNvSpPr/>
          <p:nvPr/>
        </p:nvSpPr>
        <p:spPr>
          <a:xfrm>
            <a:off x="1347652" y="2640522"/>
            <a:ext cx="176502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6" name="단계"/>
          <p:cNvSpPr>
            <a:spLocks noGrp="1"/>
          </p:cNvSpPr>
          <p:nvPr>
            <p:ph type="body" sz="quarter" idx="33"/>
          </p:nvPr>
        </p:nvSpPr>
        <p:spPr>
          <a:xfrm>
            <a:off x="1347652" y="2640522"/>
            <a:ext cx="176502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설립 추진단 운영(’25.4~)</a:t>
            </a:r>
          </a:p>
        </p:txBody>
      </p:sp>
      <p:sp>
        <p:nvSpPr>
          <p:cNvPr id="37" name="단계"/>
          <p:cNvSpPr/>
          <p:nvPr/>
        </p:nvSpPr>
        <p:spPr>
          <a:xfrm>
            <a:off x="3112679" y="2640522"/>
            <a:ext cx="3883060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8" name="단계"/>
          <p:cNvSpPr>
            <a:spLocks noGrp="1"/>
          </p:cNvSpPr>
          <p:nvPr>
            <p:ph type="body" sz="quarter" idx="34"/>
          </p:nvPr>
        </p:nvSpPr>
        <p:spPr>
          <a:xfrm>
            <a:off x="3112679" y="2640522"/>
            <a:ext cx="3883060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공동출자자 공모 및 협업체계 완성(’25.8)</a:t>
            </a:r>
          </a:p>
        </p:txBody>
      </p:sp>
      <p:sp>
        <p:nvSpPr>
          <p:cNvPr id="39" name="단계 삼각형"/>
          <p:cNvSpPr/>
          <p:nvPr/>
        </p:nvSpPr>
        <p:spPr>
          <a:xfrm>
            <a:off x="3112679" y="2640521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0" name="칸 본문"/>
          <p:cNvSpPr>
            <a:spLocks noGrp="1"/>
          </p:cNvSpPr>
          <p:nvPr>
            <p:ph type="body" sz="quarter" idx="35"/>
          </p:nvPr>
        </p:nvSpPr>
        <p:spPr>
          <a:xfrm>
            <a:off x="1358609" y="2892522"/>
            <a:ext cx="1743114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내·외부 전문가 협업으로 전담조직 가동 시작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운영구조·로드맵 설계로 컴퍼니빌더 기반 확립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36"/>
          </p:nvPr>
        </p:nvSpPr>
        <p:spPr>
          <a:xfrm>
            <a:off x="3123636" y="2892522"/>
            <a:ext cx="3861147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공동출자기관 설명회 및 지분 공모(’25.7) 실시, 공공·산업·투자 간 유기적 협업체계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10개社 15억원 출자 확약(K-water 45억원 포함 자본금 60억원)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총괄 / 산업(4개社) 실증·공급연계 / 공공(2개社) 기술·인재제공 / 투자(4개社) 후속·매칭투자</a:t>
            </a:r>
          </a:p>
        </p:txBody>
      </p:sp>
      <p:cxnSp>
        <p:nvCxnSpPr>
          <p:cNvPr id="42" name="Connector 27"/>
          <p:cNvCxnSpPr/>
          <p:nvPr/>
        </p:nvCxnSpPr>
        <p:spPr>
          <a:xfrm>
            <a:off x="3112679" y="2925391"/>
            <a:ext cx="0" cy="81078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3" name="배너"/>
          <p:cNvSpPr/>
          <p:nvPr/>
        </p:nvSpPr>
        <p:spPr>
          <a:xfrm>
            <a:off x="1347652" y="3785478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4" name="배너"/>
          <p:cNvSpPr>
            <a:spLocks noGrp="1"/>
          </p:cNvSpPr>
          <p:nvPr>
            <p:ph type="body" sz="quarter" idx="37"/>
          </p:nvPr>
        </p:nvSpPr>
        <p:spPr>
          <a:xfrm>
            <a:off x="1347652" y="3785478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❸ 출자회사 설립을 위한 정부 실무협의 지속(’25.3~) * 기후부 협의完, 재경부 진행중</a:t>
            </a:r>
          </a:p>
        </p:txBody>
      </p:sp>
      <p:sp>
        <p:nvSpPr>
          <p:cNvPr id="45" name="핵심성과 박스"/>
          <p:cNvSpPr/>
          <p:nvPr/>
        </p:nvSpPr>
        <p:spPr>
          <a:xfrm>
            <a:off x="723130" y="4114174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6" name="핵심성과 라벨"/>
          <p:cNvSpPr/>
          <p:nvPr/>
        </p:nvSpPr>
        <p:spPr>
          <a:xfrm>
            <a:off x="756000" y="4147043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7" name="핵심성과 라벨"/>
          <p:cNvSpPr>
            <a:spLocks noGrp="1"/>
          </p:cNvSpPr>
          <p:nvPr>
            <p:ph type="body" sz="quarter" idx="38"/>
          </p:nvPr>
        </p:nvSpPr>
        <p:spPr>
          <a:xfrm>
            <a:off x="756000" y="4147043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8" name="핵심성과 문구"/>
          <p:cNvSpPr>
            <a:spLocks noGrp="1"/>
          </p:cNvSpPr>
          <p:nvPr>
            <p:ph type="body" sz="quarter" idx="39"/>
          </p:nvPr>
        </p:nvSpPr>
        <p:spPr>
          <a:xfrm>
            <a:off x="1501043" y="4136087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지역혁신펀드 예비 유니콘 4개社 누계, 벤처기업협회 창업지원 우수기관 선정(’25.12)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컴퍼니빌더 공공-산업-투자사 협업체계 완성, 국내 최초 기후테크 컴퍼니빌더 설립 본격화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07 서사 · 공정거래 · 상생협력 계약제도 혁신(추진배경 → 4개 혁신과제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3901397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 공정거래 정책을 선제적으로 이행하고, 상생협력 계약제도 혁신</a:t>
            </a:r>
          </a:p>
        </p:txBody>
      </p:sp>
      <p:sp>
        <p:nvSpPr>
          <p:cNvPr id="12" name="태그칩"/>
          <p:cNvSpPr/>
          <p:nvPr/>
        </p:nvSpPr>
        <p:spPr>
          <a:xfrm>
            <a:off x="4536875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536875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태그칩"/>
          <p:cNvSpPr/>
          <p:nvPr/>
        </p:nvSpPr>
        <p:spPr>
          <a:xfrm>
            <a:off x="5087996" y="799826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2"/>
          </p:nvPr>
        </p:nvSpPr>
        <p:spPr>
          <a:xfrm>
            <a:off x="5087996" y="799826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6" name="표 외곽"/>
          <p:cNvSpPr/>
          <p:nvPr/>
        </p:nvSpPr>
        <p:spPr>
          <a:xfrm>
            <a:off x="536870" y="1051826"/>
            <a:ext cx="6300000" cy="3210261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547826" y="1068261"/>
            <a:ext cx="580696" cy="553304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3"/>
          </p:nvPr>
        </p:nvSpPr>
        <p:spPr>
          <a:xfrm>
            <a:off x="547826" y="1068261"/>
            <a:ext cx="580696" cy="553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4"/>
          </p:nvPr>
        </p:nvSpPr>
        <p:spPr>
          <a:xfrm>
            <a:off x="1172348" y="1090174"/>
            <a:ext cx="2802130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동반성장평가 성과 및 개선요인 분석을 통한 환류 노력 필요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5"/>
          </p:nvPr>
        </p:nvSpPr>
        <p:spPr>
          <a:xfrm>
            <a:off x="3996391" y="1090174"/>
            <a:ext cx="2802130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개선노력 4년 연속 ‘우수’등급 기반, 납품대금 연동제 등 기업이 체감할 수 있는 제도개선</a:t>
            </a:r>
          </a:p>
        </p:txBody>
      </p:sp>
      <p:cxnSp>
        <p:nvCxnSpPr>
          <p:cNvPr id="21" name="Connector 14"/>
          <p:cNvCxnSpPr/>
          <p:nvPr/>
        </p:nvCxnSpPr>
        <p:spPr>
          <a:xfrm>
            <a:off x="3985435" y="1123043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2" name="레일"/>
          <p:cNvSpPr/>
          <p:nvPr/>
        </p:nvSpPr>
        <p:spPr>
          <a:xfrm>
            <a:off x="547826" y="1638000"/>
            <a:ext cx="580696" cy="2607652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3" name="레일"/>
          <p:cNvSpPr>
            <a:spLocks noGrp="1"/>
          </p:cNvSpPr>
          <p:nvPr>
            <p:ph type="body" sz="quarter" idx="26"/>
          </p:nvPr>
        </p:nvSpPr>
        <p:spPr>
          <a:xfrm>
            <a:off x="547826" y="1638000"/>
            <a:ext cx="580696" cy="260765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추진내용</a:t>
            </a:r>
          </a:p>
        </p:txBody>
      </p:sp>
      <p:sp>
        <p:nvSpPr>
          <p:cNvPr id="24" name="레일 삼각형"/>
          <p:cNvSpPr/>
          <p:nvPr/>
        </p:nvSpPr>
        <p:spPr>
          <a:xfrm>
            <a:off x="547826" y="1638000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5" name="머리칸"/>
          <p:cNvSpPr/>
          <p:nvPr/>
        </p:nvSpPr>
        <p:spPr>
          <a:xfrm>
            <a:off x="1161391" y="165991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6" name="머리칸"/>
          <p:cNvSpPr>
            <a:spLocks noGrp="1"/>
          </p:cNvSpPr>
          <p:nvPr>
            <p:ph type="body" sz="quarter" idx="27"/>
          </p:nvPr>
        </p:nvSpPr>
        <p:spPr>
          <a:xfrm>
            <a:off x="1161391" y="165991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납품대금연동제 대상은 확대, 참여는 확장</a:t>
            </a:r>
          </a:p>
        </p:txBody>
      </p:sp>
      <p:sp>
        <p:nvSpPr>
          <p:cNvPr id="27" name="머리칸"/>
          <p:cNvSpPr/>
          <p:nvPr/>
        </p:nvSpPr>
        <p:spPr>
          <a:xfrm>
            <a:off x="3985435" y="165991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8" name="머리칸"/>
          <p:cNvSpPr>
            <a:spLocks noGrp="1"/>
          </p:cNvSpPr>
          <p:nvPr>
            <p:ph type="body" sz="quarter" idx="28"/>
          </p:nvPr>
        </p:nvSpPr>
        <p:spPr>
          <a:xfrm>
            <a:off x="3985435" y="165991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혁신제품 수요 매칭 및 점검체계 개편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1172348" y="1900957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대상확대 공식 예외대상인 소액(1억원 미만), 단기계약(90일 이하)까지 확대 시행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저변확장 ‘입찰부터 결제까지’ 계약시스템 적용, 협력사 컨설팅(13개社)·교육(104명)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연동제 적용 2건 → 15건 상승(7.5배)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0"/>
          </p:nvPr>
        </p:nvSpPr>
        <p:spPr>
          <a:xfrm>
            <a:off x="3996391" y="1900957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수요매칭 K-water 참여 행사의 공동기업관·홍보부스 활용, 수요 창출(총 79개社 수혜)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모니터링 전사 구매현황 모니터링 시스템 구축, 체계적 구매실적 점검·관리 구현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자체 구매 180억원 달성(전년 比 105%)</a:t>
            </a:r>
          </a:p>
        </p:txBody>
      </p:sp>
      <p:cxnSp>
        <p:nvCxnSpPr>
          <p:cNvPr id="31" name="Connector 21"/>
          <p:cNvCxnSpPr/>
          <p:nvPr/>
        </p:nvCxnSpPr>
        <p:spPr>
          <a:xfrm>
            <a:off x="3985435" y="1933826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2" name="머리칸"/>
          <p:cNvSpPr/>
          <p:nvPr/>
        </p:nvSpPr>
        <p:spPr>
          <a:xfrm>
            <a:off x="1161391" y="2958261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3" name="머리칸"/>
          <p:cNvSpPr>
            <a:spLocks noGrp="1"/>
          </p:cNvSpPr>
          <p:nvPr>
            <p:ph type="body" sz="quarter" idx="31"/>
          </p:nvPr>
        </p:nvSpPr>
        <p:spPr>
          <a:xfrm>
            <a:off x="1161391" y="2958261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상생결제 편의 개선 및 실적 확보</a:t>
            </a:r>
          </a:p>
        </p:txBody>
      </p:sp>
      <p:sp>
        <p:nvSpPr>
          <p:cNvPr id="34" name="머리칸"/>
          <p:cNvSpPr/>
          <p:nvPr/>
        </p:nvSpPr>
        <p:spPr>
          <a:xfrm>
            <a:off x="3985435" y="2958261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5" name="머리칸"/>
          <p:cNvSpPr>
            <a:spLocks noGrp="1"/>
          </p:cNvSpPr>
          <p:nvPr>
            <p:ph type="body" sz="quarter" idx="32"/>
          </p:nvPr>
        </p:nvSpPr>
        <p:spPr>
          <a:xfrm>
            <a:off x="3985435" y="2958261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PQ제도 불합리한 감점제도 개선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3"/>
          </p:nvPr>
        </p:nvSpPr>
        <p:spPr>
          <a:xfrm>
            <a:off x="1172348" y="3199304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채널확대 협력기업 편의성 제고 위한 거래은행 확대(1 → 2개所 우리금융 추가)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연속성 제고 지속적 실적 창출이 가능한 ‘시설운영관리’ 분야 결제 확대 적용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상생결제 141억원 → 566억원 상승(4배)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4"/>
          </p:nvPr>
        </p:nvSpPr>
        <p:spPr>
          <a:xfrm>
            <a:off x="3996391" y="3199304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AS-IS PQ용역 입찰참가자 평가 중 공동도급 구성원의 감점 단순 합산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TO-BE 구성원별 참여 지분율에 근거한 점수 반영으로 평가 공정성 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중소기업의 입찰참가 불공정 개선</a:t>
            </a:r>
          </a:p>
        </p:txBody>
      </p:sp>
      <p:cxnSp>
        <p:nvCxnSpPr>
          <p:cNvPr id="38" name="Connector 26"/>
          <p:cNvCxnSpPr/>
          <p:nvPr/>
        </p:nvCxnSpPr>
        <p:spPr>
          <a:xfrm>
            <a:off x="3985435" y="3232174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9" name="핵심성과 박스"/>
          <p:cNvSpPr/>
          <p:nvPr/>
        </p:nvSpPr>
        <p:spPr>
          <a:xfrm>
            <a:off x="536870" y="4349739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0" name="핵심성과 라벨"/>
          <p:cNvSpPr/>
          <p:nvPr/>
        </p:nvSpPr>
        <p:spPr>
          <a:xfrm>
            <a:off x="569739" y="4388087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41" name="핵심성과 라벨"/>
          <p:cNvSpPr>
            <a:spLocks noGrp="1"/>
          </p:cNvSpPr>
          <p:nvPr>
            <p:ph type="body" sz="quarter" idx="35"/>
          </p:nvPr>
        </p:nvSpPr>
        <p:spPr>
          <a:xfrm>
            <a:off x="569739" y="4388087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2" name="핵심성과 문구"/>
          <p:cNvSpPr>
            <a:spLocks noGrp="1"/>
          </p:cNvSpPr>
          <p:nvPr>
            <p:ph type="body" sz="quarter" idx="36"/>
          </p:nvPr>
        </p:nvSpPr>
        <p:spPr>
          <a:xfrm>
            <a:off x="1314783" y="4366174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중기부 납품대금 연동제 ‘장관’표창(’25.12), 산업부 신기술 실용화 유공 ‘장관’표창(’25.12)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08 서사 · 댐잇 프로젝트 진화(추진배경 → 목표 → 연천·포천 / 부여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사회적경제·청년기업의 경쟁력 확보를 위한 경영 솔루션 협업</a:t>
            </a:r>
          </a:p>
        </p:txBody>
      </p:sp>
      <p:sp>
        <p:nvSpPr>
          <p:cNvPr id="14" name="형광 밑줄"/>
          <p:cNvSpPr/>
          <p:nvPr/>
        </p:nvSpPr>
        <p:spPr>
          <a:xfrm>
            <a:off x="723130" y="1358609"/>
            <a:ext cx="3525131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소제목"/>
          <p:cNvSpPr>
            <a:spLocks noGrp="1"/>
          </p:cNvSpPr>
          <p:nvPr>
            <p:ph type="body" sz="quarter" idx="22"/>
          </p:nvPr>
        </p:nvSpPr>
        <p:spPr>
          <a:xfrm>
            <a:off x="723130" y="120521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사회적경제와 함께 성공한 ‘댐잇’ 프로젝트, 한 번 더 진화</a:t>
            </a:r>
          </a:p>
        </p:txBody>
      </p:sp>
      <p:sp>
        <p:nvSpPr>
          <p:cNvPr id="16" name="태그칩"/>
          <p:cNvSpPr/>
          <p:nvPr/>
        </p:nvSpPr>
        <p:spPr>
          <a:xfrm>
            <a:off x="4346870" y="1238087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칩"/>
          <p:cNvSpPr>
            <a:spLocks noGrp="1"/>
          </p:cNvSpPr>
          <p:nvPr>
            <p:ph type="body" sz="quarter" idx="23"/>
          </p:nvPr>
        </p:nvSpPr>
        <p:spPr>
          <a:xfrm>
            <a:off x="4346870" y="1238087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8" name="태그칩"/>
          <p:cNvSpPr/>
          <p:nvPr/>
        </p:nvSpPr>
        <p:spPr>
          <a:xfrm>
            <a:off x="4897991" y="1238087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태그칩"/>
          <p:cNvSpPr>
            <a:spLocks noGrp="1"/>
          </p:cNvSpPr>
          <p:nvPr>
            <p:ph type="body" sz="quarter" idx="24"/>
          </p:nvPr>
        </p:nvSpPr>
        <p:spPr>
          <a:xfrm>
            <a:off x="4897991" y="1238087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20" name="태그칩"/>
          <p:cNvSpPr/>
          <p:nvPr/>
        </p:nvSpPr>
        <p:spPr>
          <a:xfrm>
            <a:off x="5668650" y="1238087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태그칩"/>
          <p:cNvSpPr>
            <a:spLocks noGrp="1"/>
          </p:cNvSpPr>
          <p:nvPr>
            <p:ph type="body" sz="quarter" idx="25"/>
          </p:nvPr>
        </p:nvSpPr>
        <p:spPr>
          <a:xfrm>
            <a:off x="5668650" y="1238087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22" name="표 외곽"/>
          <p:cNvSpPr/>
          <p:nvPr/>
        </p:nvSpPr>
        <p:spPr>
          <a:xfrm>
            <a:off x="723130" y="1490087"/>
            <a:ext cx="6300000" cy="3025409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3" name="레일"/>
          <p:cNvSpPr/>
          <p:nvPr/>
        </p:nvSpPr>
        <p:spPr>
          <a:xfrm>
            <a:off x="734087" y="1506522"/>
            <a:ext cx="580696" cy="87104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4" name="레일"/>
          <p:cNvSpPr>
            <a:spLocks noGrp="1"/>
          </p:cNvSpPr>
          <p:nvPr>
            <p:ph type="body" sz="quarter" idx="26"/>
          </p:nvPr>
        </p:nvSpPr>
        <p:spPr>
          <a:xfrm>
            <a:off x="734087" y="1506522"/>
            <a:ext cx="580696" cy="87104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1358609" y="1528435"/>
            <a:ext cx="2802130" cy="84365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 환류 연천·포천 관광 활성화를 위해 사회적경제와 협업한 ‘댐잇(댐과 지역을 잇다)’ 프로젝트가 성공적으로 안착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SNS 인플루언서 활용, 여행코스 공모 등 100만건 이상 미디어 노출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8"/>
          </p:nvPr>
        </p:nvSpPr>
        <p:spPr>
          <a:xfrm>
            <a:off x="4182652" y="1528435"/>
            <a:ext cx="2802130" cy="84365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지역 약소기업과의 검증된 상생사례, 타 지역에도 확산 필요</a:t>
            </a:r>
          </a:p>
        </p:txBody>
      </p:sp>
      <p:cxnSp>
        <p:nvCxnSpPr>
          <p:cNvPr id="27" name="Connector 17"/>
          <p:cNvCxnSpPr/>
          <p:nvPr/>
        </p:nvCxnSpPr>
        <p:spPr>
          <a:xfrm>
            <a:off x="4171696" y="1561304"/>
            <a:ext cx="0" cy="77791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8" name="레일"/>
          <p:cNvSpPr/>
          <p:nvPr/>
        </p:nvSpPr>
        <p:spPr>
          <a:xfrm>
            <a:off x="734087" y="2394000"/>
            <a:ext cx="580696" cy="38488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9" name="레일"/>
          <p:cNvSpPr>
            <a:spLocks noGrp="1"/>
          </p:cNvSpPr>
          <p:nvPr>
            <p:ph type="body" sz="quarter" idx="29"/>
          </p:nvPr>
        </p:nvSpPr>
        <p:spPr>
          <a:xfrm>
            <a:off x="734087" y="2394000"/>
            <a:ext cx="580696" cy="3848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추진목표</a:t>
            </a:r>
          </a:p>
        </p:txBody>
      </p:sp>
      <p:sp>
        <p:nvSpPr>
          <p:cNvPr id="30" name="레일 삼각형"/>
          <p:cNvSpPr/>
          <p:nvPr/>
        </p:nvSpPr>
        <p:spPr>
          <a:xfrm>
            <a:off x="734086" y="2394000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1" name="배너"/>
          <p:cNvSpPr/>
          <p:nvPr/>
        </p:nvSpPr>
        <p:spPr>
          <a:xfrm>
            <a:off x="1347652" y="2415913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2" name="배너"/>
          <p:cNvSpPr>
            <a:spLocks noGrp="1"/>
          </p:cNvSpPr>
          <p:nvPr>
            <p:ph type="body" sz="quarter" idx="30"/>
          </p:nvPr>
        </p:nvSpPr>
        <p:spPr>
          <a:xfrm>
            <a:off x="1347652" y="2415913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검증된 성공 사례 ‘댐잇’, 한 번 더 성과를 높이고 타 지역까지 확대</a:t>
            </a:r>
          </a:p>
        </p:txBody>
      </p:sp>
      <p:sp>
        <p:nvSpPr>
          <p:cNvPr id="33" name="레일"/>
          <p:cNvSpPr/>
          <p:nvPr/>
        </p:nvSpPr>
        <p:spPr>
          <a:xfrm>
            <a:off x="734087" y="2795322"/>
            <a:ext cx="580696" cy="1703739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4" name="레일"/>
          <p:cNvSpPr>
            <a:spLocks noGrp="1"/>
          </p:cNvSpPr>
          <p:nvPr>
            <p:ph type="body" sz="quarter" idx="31"/>
          </p:nvPr>
        </p:nvSpPr>
        <p:spPr>
          <a:xfrm>
            <a:off x="734087" y="2795322"/>
            <a:ext cx="580696" cy="1703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내 용</a:t>
            </a:r>
          </a:p>
        </p:txBody>
      </p:sp>
      <p:sp>
        <p:nvSpPr>
          <p:cNvPr id="35" name="레일 삼각형"/>
          <p:cNvSpPr/>
          <p:nvPr/>
        </p:nvSpPr>
        <p:spPr>
          <a:xfrm>
            <a:off x="734086" y="2795321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6" name="단계"/>
          <p:cNvSpPr/>
          <p:nvPr/>
        </p:nvSpPr>
        <p:spPr>
          <a:xfrm>
            <a:off x="1347652" y="2817235"/>
            <a:ext cx="282404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7" name="단계"/>
          <p:cNvSpPr>
            <a:spLocks noGrp="1"/>
          </p:cNvSpPr>
          <p:nvPr>
            <p:ph type="body" sz="quarter" idx="32"/>
          </p:nvPr>
        </p:nvSpPr>
        <p:spPr>
          <a:xfrm>
            <a:off x="1347652" y="2817235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연천·포천 기존 ‘댐잇’은 상품성을 강화</a:t>
            </a:r>
          </a:p>
        </p:txBody>
      </p:sp>
      <p:sp>
        <p:nvSpPr>
          <p:cNvPr id="38" name="단계"/>
          <p:cNvSpPr/>
          <p:nvPr/>
        </p:nvSpPr>
        <p:spPr>
          <a:xfrm>
            <a:off x="4171696" y="2817235"/>
            <a:ext cx="2824043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9" name="단계"/>
          <p:cNvSpPr>
            <a:spLocks noGrp="1"/>
          </p:cNvSpPr>
          <p:nvPr>
            <p:ph type="body" sz="quarter" idx="33"/>
          </p:nvPr>
        </p:nvSpPr>
        <p:spPr>
          <a:xfrm>
            <a:off x="4171696" y="2817235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부여 ‘댐잇’의 성공모델 확산</a:t>
            </a:r>
          </a:p>
        </p:txBody>
      </p:sp>
      <p:sp>
        <p:nvSpPr>
          <p:cNvPr id="40" name="단계 삼각형"/>
          <p:cNvSpPr/>
          <p:nvPr/>
        </p:nvSpPr>
        <p:spPr>
          <a:xfrm>
            <a:off x="4171695" y="2817234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1" name="칸 본문"/>
          <p:cNvSpPr>
            <a:spLocks noGrp="1"/>
          </p:cNvSpPr>
          <p:nvPr>
            <p:ph type="body" sz="quarter" idx="34"/>
          </p:nvPr>
        </p:nvSpPr>
        <p:spPr>
          <a:xfrm>
            <a:off x="1358609" y="3069235"/>
            <a:ext cx="2802130" cy="1424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사회적경제(해피쿰투어)와의 새로운 협업 통해 운영역량 강화와 지역자원 결합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‘댐잇 투어’ 여행사 유통 개시, 지역민을 여행 해설사로 채용하여 지역경제 활성화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SNS 중심 온라인 홍보에서, 트렌디한 팝업 스토어로 오프라인 전시·홍보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판교 ‘아브뉴프랑’ 팝업 스토어 등 활용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35"/>
          </p:nvPr>
        </p:nvSpPr>
        <p:spPr>
          <a:xfrm>
            <a:off x="4182652" y="3069235"/>
            <a:ext cx="2802130" cy="1424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‘댐잇’의 ‘사회적경제 협업모델’을 각 지역의 특색에 접목하여 재설계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부여군(금강보) ‘당신의 라이프 에디션’: 부여로 ‘런케이션’(교육과 휴가를 연계한 귀농·귀촌 체험 프로그램) + 백마강 ‘멍케이션’(마음 휴식과 문화적 경험을 결합한 관광 콘텐츠)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SNS 인플루언서 활용 홍보채널 확대</a:t>
            </a:r>
          </a:p>
        </p:txBody>
      </p:sp>
      <p:cxnSp>
        <p:nvCxnSpPr>
          <p:cNvPr id="43" name="Connector 28"/>
          <p:cNvCxnSpPr/>
          <p:nvPr/>
        </p:nvCxnSpPr>
        <p:spPr>
          <a:xfrm>
            <a:off x="4171696" y="3102104"/>
            <a:ext cx="0" cy="1358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4" name="주요성과 박스"/>
          <p:cNvSpPr/>
          <p:nvPr/>
        </p:nvSpPr>
        <p:spPr>
          <a:xfrm>
            <a:off x="723130" y="4592191"/>
            <a:ext cx="6300000" cy="524348"/>
          </a:xfrm>
          <a:prstGeom prst="rect">
            <a:avLst/>
          </a:prstGeom>
          <a:solidFill>
            <a:srgbClr val="EFF9FF"/>
          </a:solidFill>
          <a:ln w="12700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5" name="주요성과 라벨"/>
          <p:cNvSpPr/>
          <p:nvPr/>
        </p:nvSpPr>
        <p:spPr>
          <a:xfrm>
            <a:off x="756000" y="4625061"/>
            <a:ext cx="657391" cy="458609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6" name="주요성과 라벨"/>
          <p:cNvSpPr>
            <a:spLocks noGrp="1"/>
          </p:cNvSpPr>
          <p:nvPr>
            <p:ph type="body" sz="quarter" idx="36"/>
          </p:nvPr>
        </p:nvSpPr>
        <p:spPr>
          <a:xfrm>
            <a:off x="756000" y="4625061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7" name="주요성과 문구"/>
          <p:cNvSpPr>
            <a:spLocks noGrp="1"/>
          </p:cNvSpPr>
          <p:nvPr>
            <p:ph type="body" sz="quarter" idx="37"/>
          </p:nvPr>
        </p:nvSpPr>
        <p:spPr>
          <a:xfrm>
            <a:off x="1501043" y="4608626"/>
            <a:ext cx="5456348" cy="49147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‘댐잇’ 여행상품 348명 구매 창출, 팝업스토어 방문 4,974명 대상 댐잇 홍보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관계인구 607명, 교류인구 4,294명 창출, 프로그램 참여자 만족도 99% 달성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09 서사 · 청년기업 성장 절벽 해소(Pain Point → K-water Solution 3영역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4099575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청년기업이 지역 경제의 근간으로 성장할 수 있도록 성장 절벽 해소</a:t>
            </a:r>
          </a:p>
        </p:txBody>
      </p:sp>
      <p:sp>
        <p:nvSpPr>
          <p:cNvPr id="12" name="태그칩"/>
          <p:cNvSpPr/>
          <p:nvPr/>
        </p:nvSpPr>
        <p:spPr>
          <a:xfrm>
            <a:off x="4735053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735053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표 외곽"/>
          <p:cNvSpPr/>
          <p:nvPr/>
        </p:nvSpPr>
        <p:spPr>
          <a:xfrm>
            <a:off x="536870" y="1051826"/>
            <a:ext cx="6300000" cy="331168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547826" y="1068261"/>
            <a:ext cx="580696" cy="36438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068261"/>
            <a:ext cx="580696" cy="3643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3"/>
          </p:nvPr>
        </p:nvSpPr>
        <p:spPr>
          <a:xfrm>
            <a:off x="1172348" y="1090174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아이디어 하나로 창업에 도전한 청년, 창업 후에도 실질적 경영문제 직면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4"/>
          </p:nvPr>
        </p:nvSpPr>
        <p:spPr>
          <a:xfrm>
            <a:off x="3996391" y="1090174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청년창업 지원 프로젝트 ‘내일을 잇다’ 출범(지역청년, 내일을 잇다)</a:t>
            </a:r>
          </a:p>
        </p:txBody>
      </p:sp>
      <p:cxnSp>
        <p:nvCxnSpPr>
          <p:cNvPr id="19" name="Connector 13"/>
          <p:cNvCxnSpPr/>
          <p:nvPr/>
        </p:nvCxnSpPr>
        <p:spPr>
          <a:xfrm>
            <a:off x="3985435" y="1123043"/>
            <a:ext cx="0" cy="27125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0" name="레일"/>
          <p:cNvSpPr/>
          <p:nvPr/>
        </p:nvSpPr>
        <p:spPr>
          <a:xfrm>
            <a:off x="547826" y="1449078"/>
            <a:ext cx="580696" cy="99156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5"/>
          </p:nvPr>
        </p:nvSpPr>
        <p:spPr>
          <a:xfrm>
            <a:off x="547826" y="1449078"/>
            <a:ext cx="580696" cy="991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마케팅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역량강화</a:t>
            </a:r>
          </a:p>
        </p:txBody>
      </p:sp>
      <p:sp>
        <p:nvSpPr>
          <p:cNvPr id="22" name="레일 삼각형"/>
          <p:cNvSpPr/>
          <p:nvPr/>
        </p:nvSpPr>
        <p:spPr>
          <a:xfrm>
            <a:off x="547826" y="1449078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3" name="단계"/>
          <p:cNvSpPr/>
          <p:nvPr/>
        </p:nvSpPr>
        <p:spPr>
          <a:xfrm>
            <a:off x="1161391" y="1470991"/>
            <a:ext cx="166120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4" name="단계"/>
          <p:cNvSpPr>
            <a:spLocks noGrp="1"/>
          </p:cNvSpPr>
          <p:nvPr>
            <p:ph type="body" sz="quarter" idx="26"/>
          </p:nvPr>
        </p:nvSpPr>
        <p:spPr>
          <a:xfrm>
            <a:off x="1161391" y="1470991"/>
            <a:ext cx="166120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Pain Point</a:t>
            </a:r>
          </a:p>
        </p:txBody>
      </p:sp>
      <p:sp>
        <p:nvSpPr>
          <p:cNvPr id="25" name="단계"/>
          <p:cNvSpPr/>
          <p:nvPr/>
        </p:nvSpPr>
        <p:spPr>
          <a:xfrm>
            <a:off x="2822593" y="1470991"/>
            <a:ext cx="3986885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6" name="단계"/>
          <p:cNvSpPr>
            <a:spLocks noGrp="1"/>
          </p:cNvSpPr>
          <p:nvPr>
            <p:ph type="body" sz="quarter" idx="27"/>
          </p:nvPr>
        </p:nvSpPr>
        <p:spPr>
          <a:xfrm>
            <a:off x="2822593" y="1470991"/>
            <a:ext cx="3986885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청년기업을 위한 K-water의 Solution</a:t>
            </a:r>
          </a:p>
        </p:txBody>
      </p:sp>
      <p:sp>
        <p:nvSpPr>
          <p:cNvPr id="27" name="단계 삼각형"/>
          <p:cNvSpPr/>
          <p:nvPr/>
        </p:nvSpPr>
        <p:spPr>
          <a:xfrm>
            <a:off x="2822593" y="1470991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8"/>
          </p:nvPr>
        </p:nvSpPr>
        <p:spPr>
          <a:xfrm>
            <a:off x="1172348" y="1722991"/>
            <a:ext cx="1639289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“창업은 성공했지만, 마케팅이 막막하고 판로 확보가 어렵습니다”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2833550" y="1722991"/>
            <a:ext cx="3964972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수익모델 AtoZ 심층 진단, 마케팅 방안 코칭(3회)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온·오프라인 입점, 인플루언서 플리마켓 진출 지원으로 실질적 매출 상승 * 백화점, 카카오톡 특딜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6개社 온라인 판로 확보 ▶ [우수사례] ‘S’ 社 주문 25.7%, 매출 17.3%↑</a:t>
            </a:r>
          </a:p>
        </p:txBody>
      </p:sp>
      <p:cxnSp>
        <p:nvCxnSpPr>
          <p:cNvPr id="30" name="Connector 21"/>
          <p:cNvCxnSpPr/>
          <p:nvPr/>
        </p:nvCxnSpPr>
        <p:spPr>
          <a:xfrm>
            <a:off x="2822593" y="1755861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레일"/>
          <p:cNvSpPr/>
          <p:nvPr/>
        </p:nvSpPr>
        <p:spPr>
          <a:xfrm>
            <a:off x="547826" y="2457078"/>
            <a:ext cx="580696" cy="99156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2" name="레일"/>
          <p:cNvSpPr>
            <a:spLocks noGrp="1"/>
          </p:cNvSpPr>
          <p:nvPr>
            <p:ph type="body" sz="quarter" idx="30"/>
          </p:nvPr>
        </p:nvSpPr>
        <p:spPr>
          <a:xfrm>
            <a:off x="547826" y="2457078"/>
            <a:ext cx="580696" cy="991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전문인력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 보</a:t>
            </a:r>
          </a:p>
        </p:txBody>
      </p:sp>
      <p:sp>
        <p:nvSpPr>
          <p:cNvPr id="33" name="단계"/>
          <p:cNvSpPr/>
          <p:nvPr/>
        </p:nvSpPr>
        <p:spPr>
          <a:xfrm>
            <a:off x="1161391" y="2478991"/>
            <a:ext cx="166120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4" name="단계"/>
          <p:cNvSpPr>
            <a:spLocks noGrp="1"/>
          </p:cNvSpPr>
          <p:nvPr>
            <p:ph type="body" sz="quarter" idx="31"/>
          </p:nvPr>
        </p:nvSpPr>
        <p:spPr>
          <a:xfrm>
            <a:off x="1161391" y="2478991"/>
            <a:ext cx="166120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Pain Point</a:t>
            </a:r>
          </a:p>
        </p:txBody>
      </p:sp>
      <p:sp>
        <p:nvSpPr>
          <p:cNvPr id="35" name="단계"/>
          <p:cNvSpPr/>
          <p:nvPr/>
        </p:nvSpPr>
        <p:spPr>
          <a:xfrm>
            <a:off x="2822593" y="2478991"/>
            <a:ext cx="3986885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6" name="단계"/>
          <p:cNvSpPr>
            <a:spLocks noGrp="1"/>
          </p:cNvSpPr>
          <p:nvPr>
            <p:ph type="body" sz="quarter" idx="32"/>
          </p:nvPr>
        </p:nvSpPr>
        <p:spPr>
          <a:xfrm>
            <a:off x="2822593" y="2478991"/>
            <a:ext cx="3986885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Solution</a:t>
            </a:r>
          </a:p>
        </p:txBody>
      </p:sp>
      <p:sp>
        <p:nvSpPr>
          <p:cNvPr id="37" name="단계 삼각형"/>
          <p:cNvSpPr/>
          <p:nvPr/>
        </p:nvSpPr>
        <p:spPr>
          <a:xfrm>
            <a:off x="2822593" y="2478991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3"/>
          </p:nvPr>
        </p:nvSpPr>
        <p:spPr>
          <a:xfrm>
            <a:off x="1172348" y="2730991"/>
            <a:ext cx="1639289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“新산업인 AI분야는 전문인력 구하기가 너무 힘듭니다”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4"/>
          </p:nvPr>
        </p:nvSpPr>
        <p:spPr>
          <a:xfrm>
            <a:off x="2833550" y="2730991"/>
            <a:ext cx="3964972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스타트업 10개社 선정, 핵심이슈(인력부족) 청취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지역대학과 협업, AI분야 채용·공모(53명 지원)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1:1 JOB 매칭 행사 개최 * 일자리 컨설턴트 활용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청년기업 3개社 AI 관련 지역청년 5명 채용</a:t>
            </a:r>
          </a:p>
        </p:txBody>
      </p:sp>
      <p:cxnSp>
        <p:nvCxnSpPr>
          <p:cNvPr id="40" name="Connector 28"/>
          <p:cNvCxnSpPr/>
          <p:nvPr/>
        </p:nvCxnSpPr>
        <p:spPr>
          <a:xfrm>
            <a:off x="2822593" y="2763861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1" name="레일"/>
          <p:cNvSpPr/>
          <p:nvPr/>
        </p:nvSpPr>
        <p:spPr>
          <a:xfrm>
            <a:off x="547826" y="3465078"/>
            <a:ext cx="580696" cy="882000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2" name="레일"/>
          <p:cNvSpPr>
            <a:spLocks noGrp="1"/>
          </p:cNvSpPr>
          <p:nvPr>
            <p:ph type="body" sz="quarter" idx="35"/>
          </p:nvPr>
        </p:nvSpPr>
        <p:spPr>
          <a:xfrm>
            <a:off x="547826" y="3465078"/>
            <a:ext cx="580696" cy="88200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조달시장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진 입</a:t>
            </a:r>
          </a:p>
        </p:txBody>
      </p:sp>
      <p:sp>
        <p:nvSpPr>
          <p:cNvPr id="43" name="레일 삼각형"/>
          <p:cNvSpPr/>
          <p:nvPr/>
        </p:nvSpPr>
        <p:spPr>
          <a:xfrm>
            <a:off x="547826" y="3465078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4" name="단계"/>
          <p:cNvSpPr/>
          <p:nvPr/>
        </p:nvSpPr>
        <p:spPr>
          <a:xfrm>
            <a:off x="1161391" y="3486991"/>
            <a:ext cx="166120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5" name="단계"/>
          <p:cNvSpPr>
            <a:spLocks noGrp="1"/>
          </p:cNvSpPr>
          <p:nvPr>
            <p:ph type="body" sz="quarter" idx="36"/>
          </p:nvPr>
        </p:nvSpPr>
        <p:spPr>
          <a:xfrm>
            <a:off x="1161391" y="3486991"/>
            <a:ext cx="166120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Pain Point</a:t>
            </a:r>
          </a:p>
        </p:txBody>
      </p:sp>
      <p:sp>
        <p:nvSpPr>
          <p:cNvPr id="46" name="단계"/>
          <p:cNvSpPr/>
          <p:nvPr/>
        </p:nvSpPr>
        <p:spPr>
          <a:xfrm>
            <a:off x="2822593" y="3486991"/>
            <a:ext cx="3986885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7" name="단계"/>
          <p:cNvSpPr>
            <a:spLocks noGrp="1"/>
          </p:cNvSpPr>
          <p:nvPr>
            <p:ph type="body" sz="quarter" idx="37"/>
          </p:nvPr>
        </p:nvSpPr>
        <p:spPr>
          <a:xfrm>
            <a:off x="2822593" y="3486991"/>
            <a:ext cx="3986885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Solution</a:t>
            </a:r>
          </a:p>
        </p:txBody>
      </p:sp>
      <p:sp>
        <p:nvSpPr>
          <p:cNvPr id="48" name="단계 삼각형"/>
          <p:cNvSpPr/>
          <p:nvPr/>
        </p:nvSpPr>
        <p:spPr>
          <a:xfrm>
            <a:off x="2822593" y="3486991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9" name="칸 본문"/>
          <p:cNvSpPr>
            <a:spLocks noGrp="1"/>
          </p:cNvSpPr>
          <p:nvPr>
            <p:ph type="body" sz="quarter" idx="38"/>
          </p:nvPr>
        </p:nvSpPr>
        <p:spPr>
          <a:xfrm>
            <a:off x="1172348" y="3738991"/>
            <a:ext cx="1639289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“공공 조달시장의 진입 장벽이 너무 높아요”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39"/>
          </p:nvPr>
        </p:nvSpPr>
        <p:spPr>
          <a:xfrm>
            <a:off x="2833550" y="3738991"/>
            <a:ext cx="3964972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청년창업기업의 수의계약 한도 상향(5천만원, 2.5배↑) 및 적용대상 범위 확대(용역, 물품 외 공사까지 포함)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창업기업 구매율 역대 최고 수준 달성, 총 591억원 구매</a:t>
            </a:r>
          </a:p>
        </p:txBody>
      </p:sp>
      <p:cxnSp>
        <p:nvCxnSpPr>
          <p:cNvPr id="51" name="Connector 36"/>
          <p:cNvCxnSpPr/>
          <p:nvPr/>
        </p:nvCxnSpPr>
        <p:spPr>
          <a:xfrm>
            <a:off x="2822593" y="3771861"/>
            <a:ext cx="0" cy="536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2" name="핵심성과 박스"/>
          <p:cNvSpPr/>
          <p:nvPr/>
        </p:nvSpPr>
        <p:spPr>
          <a:xfrm>
            <a:off x="536870" y="4451165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3" name="핵심성과 라벨"/>
          <p:cNvSpPr/>
          <p:nvPr/>
        </p:nvSpPr>
        <p:spPr>
          <a:xfrm>
            <a:off x="569739" y="4489513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54" name="핵심성과 라벨"/>
          <p:cNvSpPr>
            <a:spLocks noGrp="1"/>
          </p:cNvSpPr>
          <p:nvPr>
            <p:ph type="body" sz="quarter" idx="40"/>
          </p:nvPr>
        </p:nvSpPr>
        <p:spPr>
          <a:xfrm>
            <a:off x="569739" y="4489513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5" name="핵심성과 문구"/>
          <p:cNvSpPr>
            <a:spLocks noGrp="1"/>
          </p:cNvSpPr>
          <p:nvPr>
            <p:ph type="body" sz="quarter" idx="41"/>
          </p:nvPr>
        </p:nvSpPr>
        <p:spPr>
          <a:xfrm>
            <a:off x="1314783" y="4467600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청년·약소기업 지원 노력 인정, 창업지원사업 ‘최우수’ 운영기관(’25.11, 중기부)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10 서사 · 상생가치 재정립(사회공헌 Overview → 사회변화 대응 → 브랜드 rootit 런칭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지역사회의 지속가능한 활력 : K-water 상생가치 재정립</a:t>
            </a:r>
          </a:p>
        </p:txBody>
      </p:sp>
      <p:sp>
        <p:nvSpPr>
          <p:cNvPr id="14" name="번호 띠 칩"/>
          <p:cNvSpPr/>
          <p:nvPr/>
        </p:nvSpPr>
        <p:spPr>
          <a:xfrm>
            <a:off x="6208646" y="843652"/>
            <a:ext cx="74874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번호 띠 칩"/>
          <p:cNvSpPr>
            <a:spLocks noGrp="1"/>
          </p:cNvSpPr>
          <p:nvPr>
            <p:ph type="body" sz="quarter" idx="22"/>
          </p:nvPr>
        </p:nvSpPr>
        <p:spPr>
          <a:xfrm>
            <a:off x="6208646" y="843652"/>
            <a:ext cx="74874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6" name="번호 띠 칩"/>
          <p:cNvSpPr/>
          <p:nvPr/>
        </p:nvSpPr>
        <p:spPr>
          <a:xfrm>
            <a:off x="5635612" y="843652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번호 띠 칩"/>
          <p:cNvSpPr>
            <a:spLocks noGrp="1"/>
          </p:cNvSpPr>
          <p:nvPr>
            <p:ph type="body" sz="quarter" idx="23"/>
          </p:nvPr>
        </p:nvSpPr>
        <p:spPr>
          <a:xfrm>
            <a:off x="5635612" y="843652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8" name="표 외곽"/>
          <p:cNvSpPr/>
          <p:nvPr/>
        </p:nvSpPr>
        <p:spPr>
          <a:xfrm>
            <a:off x="723130" y="1128522"/>
            <a:ext cx="6300000" cy="163674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레일"/>
          <p:cNvSpPr/>
          <p:nvPr/>
        </p:nvSpPr>
        <p:spPr>
          <a:xfrm>
            <a:off x="734087" y="1144957"/>
            <a:ext cx="580696" cy="81078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4"/>
          </p:nvPr>
        </p:nvSpPr>
        <p:spPr>
          <a:xfrm>
            <a:off x="734087" y="1144957"/>
            <a:ext cx="580696" cy="810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개요</a:t>
            </a:r>
          </a:p>
        </p:txBody>
      </p:sp>
      <p:sp>
        <p:nvSpPr>
          <p:cNvPr id="21" name="머리칸"/>
          <p:cNvSpPr/>
          <p:nvPr/>
        </p:nvSpPr>
        <p:spPr>
          <a:xfrm>
            <a:off x="1347652" y="1166870"/>
            <a:ext cx="111318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2" name="머리칸"/>
          <p:cNvSpPr>
            <a:spLocks noGrp="1"/>
          </p:cNvSpPr>
          <p:nvPr>
            <p:ph type="body" sz="quarter" idx="25"/>
          </p:nvPr>
        </p:nvSpPr>
        <p:spPr>
          <a:xfrm>
            <a:off x="1347652" y="1166870"/>
            <a:ext cx="111318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동아리수</a:t>
            </a:r>
          </a:p>
        </p:txBody>
      </p:sp>
      <p:sp>
        <p:nvSpPr>
          <p:cNvPr id="23" name="머리칸"/>
          <p:cNvSpPr/>
          <p:nvPr/>
        </p:nvSpPr>
        <p:spPr>
          <a:xfrm>
            <a:off x="2477270" y="1166870"/>
            <a:ext cx="111318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4" name="머리칸"/>
          <p:cNvSpPr>
            <a:spLocks noGrp="1"/>
          </p:cNvSpPr>
          <p:nvPr>
            <p:ph type="body" sz="quarter" idx="26"/>
          </p:nvPr>
        </p:nvSpPr>
        <p:spPr>
          <a:xfrm>
            <a:off x="2477270" y="1166870"/>
            <a:ext cx="111318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총활동횟수</a:t>
            </a:r>
          </a:p>
        </p:txBody>
      </p:sp>
      <p:sp>
        <p:nvSpPr>
          <p:cNvPr id="25" name="머리칸"/>
          <p:cNvSpPr/>
          <p:nvPr/>
        </p:nvSpPr>
        <p:spPr>
          <a:xfrm>
            <a:off x="3606887" y="1166870"/>
            <a:ext cx="111318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6" name="머리칸"/>
          <p:cNvSpPr>
            <a:spLocks noGrp="1"/>
          </p:cNvSpPr>
          <p:nvPr>
            <p:ph type="body" sz="quarter" idx="27"/>
          </p:nvPr>
        </p:nvSpPr>
        <p:spPr>
          <a:xfrm>
            <a:off x="3606887" y="1166870"/>
            <a:ext cx="111318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총참여인원</a:t>
            </a:r>
          </a:p>
        </p:txBody>
      </p:sp>
      <p:sp>
        <p:nvSpPr>
          <p:cNvPr id="27" name="머리칸"/>
          <p:cNvSpPr/>
          <p:nvPr/>
        </p:nvSpPr>
        <p:spPr>
          <a:xfrm>
            <a:off x="4736504" y="1166870"/>
            <a:ext cx="111318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8" name="머리칸"/>
          <p:cNvSpPr>
            <a:spLocks noGrp="1"/>
          </p:cNvSpPr>
          <p:nvPr>
            <p:ph type="body" sz="quarter" idx="28"/>
          </p:nvPr>
        </p:nvSpPr>
        <p:spPr>
          <a:xfrm>
            <a:off x="4736504" y="1166870"/>
            <a:ext cx="111318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총봉사시간</a:t>
            </a:r>
          </a:p>
        </p:txBody>
      </p:sp>
      <p:sp>
        <p:nvSpPr>
          <p:cNvPr id="29" name="머리칸"/>
          <p:cNvSpPr/>
          <p:nvPr/>
        </p:nvSpPr>
        <p:spPr>
          <a:xfrm>
            <a:off x="5866122" y="1166870"/>
            <a:ext cx="111318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0" name="머리칸"/>
          <p:cNvSpPr>
            <a:spLocks noGrp="1"/>
          </p:cNvSpPr>
          <p:nvPr>
            <p:ph type="body" sz="quarter" idx="29"/>
          </p:nvPr>
        </p:nvSpPr>
        <p:spPr>
          <a:xfrm>
            <a:off x="5866122" y="1166870"/>
            <a:ext cx="111318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총기부액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1358609" y="1407913"/>
            <a:ext cx="1107704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140개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1"/>
          </p:nvPr>
        </p:nvSpPr>
        <p:spPr>
          <a:xfrm>
            <a:off x="2488226" y="1407913"/>
            <a:ext cx="1107704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4,415회</a:t>
            </a:r>
          </a:p>
        </p:txBody>
      </p:sp>
      <p:cxnSp>
        <p:nvCxnSpPr>
          <p:cNvPr id="33" name="Connector 19"/>
          <p:cNvCxnSpPr/>
          <p:nvPr/>
        </p:nvCxnSpPr>
        <p:spPr>
          <a:xfrm>
            <a:off x="2477270" y="1440783"/>
            <a:ext cx="0" cy="24104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4" name="칸 본문"/>
          <p:cNvSpPr>
            <a:spLocks noGrp="1"/>
          </p:cNvSpPr>
          <p:nvPr>
            <p:ph type="body" sz="quarter" idx="32"/>
          </p:nvPr>
        </p:nvSpPr>
        <p:spPr>
          <a:xfrm>
            <a:off x="3617843" y="1407913"/>
            <a:ext cx="1107704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21,944명</a:t>
            </a:r>
          </a:p>
        </p:txBody>
      </p:sp>
      <p:cxnSp>
        <p:nvCxnSpPr>
          <p:cNvPr id="35" name="Connector 21"/>
          <p:cNvCxnSpPr/>
          <p:nvPr/>
        </p:nvCxnSpPr>
        <p:spPr>
          <a:xfrm>
            <a:off x="3606887" y="1440783"/>
            <a:ext cx="0" cy="24104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6" name="칸 본문"/>
          <p:cNvSpPr>
            <a:spLocks noGrp="1"/>
          </p:cNvSpPr>
          <p:nvPr>
            <p:ph type="body" sz="quarter" idx="33"/>
          </p:nvPr>
        </p:nvSpPr>
        <p:spPr>
          <a:xfrm>
            <a:off x="4747461" y="1407913"/>
            <a:ext cx="1107704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53,755시간</a:t>
            </a:r>
          </a:p>
        </p:txBody>
      </p:sp>
      <p:cxnSp>
        <p:nvCxnSpPr>
          <p:cNvPr id="37" name="Connector 23"/>
          <p:cNvCxnSpPr/>
          <p:nvPr/>
        </p:nvCxnSpPr>
        <p:spPr>
          <a:xfrm>
            <a:off x="4736504" y="1440783"/>
            <a:ext cx="0" cy="24104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8" name="칸 본문"/>
          <p:cNvSpPr>
            <a:spLocks noGrp="1"/>
          </p:cNvSpPr>
          <p:nvPr>
            <p:ph type="body" sz="quarter" idx="34"/>
          </p:nvPr>
        </p:nvSpPr>
        <p:spPr>
          <a:xfrm>
            <a:off x="5877078" y="1407913"/>
            <a:ext cx="1107704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330억원</a:t>
            </a:r>
          </a:p>
        </p:txBody>
      </p:sp>
      <p:cxnSp>
        <p:nvCxnSpPr>
          <p:cNvPr id="39" name="Connector 25"/>
          <p:cNvCxnSpPr/>
          <p:nvPr/>
        </p:nvCxnSpPr>
        <p:spPr>
          <a:xfrm>
            <a:off x="5866122" y="1440783"/>
            <a:ext cx="0" cy="24104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0" name="배너"/>
          <p:cNvSpPr/>
          <p:nvPr/>
        </p:nvSpPr>
        <p:spPr>
          <a:xfrm>
            <a:off x="1347652" y="1731130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1" name="배너"/>
          <p:cNvSpPr>
            <a:spLocks noGrp="1"/>
          </p:cNvSpPr>
          <p:nvPr>
            <p:ph type="body" sz="quarter" idx="35"/>
          </p:nvPr>
        </p:nvSpPr>
        <p:spPr>
          <a:xfrm>
            <a:off x="1347652" y="1731130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 사회공헌활동의 주춧돌, 직원 봉사동아리 물사랑나눔단 Overview (’21~’25)</a:t>
            </a:r>
          </a:p>
        </p:txBody>
      </p:sp>
      <p:sp>
        <p:nvSpPr>
          <p:cNvPr id="42" name="레일"/>
          <p:cNvSpPr/>
          <p:nvPr/>
        </p:nvSpPr>
        <p:spPr>
          <a:xfrm>
            <a:off x="734087" y="1972174"/>
            <a:ext cx="580696" cy="776661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3" name="레일"/>
          <p:cNvSpPr>
            <a:spLocks noGrp="1"/>
          </p:cNvSpPr>
          <p:nvPr>
            <p:ph type="body" sz="quarter" idx="36"/>
          </p:nvPr>
        </p:nvSpPr>
        <p:spPr>
          <a:xfrm>
            <a:off x="734087" y="1972174"/>
            <a:ext cx="580696" cy="7766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변화</a:t>
            </a:r>
          </a:p>
        </p:txBody>
      </p:sp>
      <p:sp>
        <p:nvSpPr>
          <p:cNvPr id="44" name="레일 삼각형"/>
          <p:cNvSpPr/>
          <p:nvPr/>
        </p:nvSpPr>
        <p:spPr>
          <a:xfrm>
            <a:off x="734086" y="1972173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5" name="단계"/>
          <p:cNvSpPr/>
          <p:nvPr/>
        </p:nvSpPr>
        <p:spPr>
          <a:xfrm>
            <a:off x="1347652" y="1994087"/>
            <a:ext cx="282404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6" name="단계"/>
          <p:cNvSpPr>
            <a:spLocks noGrp="1"/>
          </p:cNvSpPr>
          <p:nvPr>
            <p:ph type="body" sz="quarter" idx="37"/>
          </p:nvPr>
        </p:nvSpPr>
        <p:spPr>
          <a:xfrm>
            <a:off x="1347652" y="1994087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그간의 성과 성공적인 양적 확장과 대외인정</a:t>
            </a:r>
          </a:p>
        </p:txBody>
      </p:sp>
      <p:sp>
        <p:nvSpPr>
          <p:cNvPr id="47" name="단계"/>
          <p:cNvSpPr/>
          <p:nvPr/>
        </p:nvSpPr>
        <p:spPr>
          <a:xfrm>
            <a:off x="4171696" y="1994087"/>
            <a:ext cx="2824043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8" name="단계"/>
          <p:cNvSpPr>
            <a:spLocks noGrp="1"/>
          </p:cNvSpPr>
          <p:nvPr>
            <p:ph type="body" sz="quarter" idx="38"/>
          </p:nvPr>
        </p:nvSpPr>
        <p:spPr>
          <a:xfrm>
            <a:off x="4171696" y="1994087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사회구조의 대전환 시대, 변화의 방향</a:t>
            </a:r>
          </a:p>
        </p:txBody>
      </p:sp>
      <p:sp>
        <p:nvSpPr>
          <p:cNvPr id="49" name="단계 삼각형"/>
          <p:cNvSpPr/>
          <p:nvPr/>
        </p:nvSpPr>
        <p:spPr>
          <a:xfrm>
            <a:off x="4171695" y="1994086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0" name="칸 본문"/>
          <p:cNvSpPr>
            <a:spLocks noGrp="1"/>
          </p:cNvSpPr>
          <p:nvPr>
            <p:ph type="body" sz="quarter" idx="39"/>
          </p:nvPr>
        </p:nvSpPr>
        <p:spPr>
          <a:xfrm>
            <a:off x="1358609" y="2246087"/>
            <a:ext cx="2802130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주변 지역주민 대상 수혜성 복지사업에 집중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3년 연속 ‘마이클 포터상(CSV부문)’ 수상 등 역량 입증</a:t>
            </a:r>
          </a:p>
        </p:txBody>
      </p:sp>
      <p:sp>
        <p:nvSpPr>
          <p:cNvPr id="51" name="칸 본문"/>
          <p:cNvSpPr>
            <a:spLocks noGrp="1"/>
          </p:cNvSpPr>
          <p:nvPr>
            <p:ph type="body" sz="quarter" idx="40"/>
          </p:nvPr>
        </p:nvSpPr>
        <p:spPr>
          <a:xfrm>
            <a:off x="4182652" y="2246087"/>
            <a:ext cx="2802130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정부정책 인구위기 직면한 농산어촌 활력 제고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다양한 이해당사자 참여·협력 확대</a:t>
            </a:r>
          </a:p>
        </p:txBody>
      </p:sp>
      <p:cxnSp>
        <p:nvCxnSpPr>
          <p:cNvPr id="52" name="Connector 34"/>
          <p:cNvCxnSpPr/>
          <p:nvPr/>
        </p:nvCxnSpPr>
        <p:spPr>
          <a:xfrm>
            <a:off x="4171696" y="2278957"/>
            <a:ext cx="0" cy="4315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3" name="캡션 띠"/>
          <p:cNvSpPr/>
          <p:nvPr/>
        </p:nvSpPr>
        <p:spPr>
          <a:xfrm>
            <a:off x="723130" y="2787182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4" name="캡션"/>
          <p:cNvSpPr>
            <a:spLocks noGrp="1"/>
          </p:cNvSpPr>
          <p:nvPr>
            <p:ph type="body" sz="quarter" idx="41"/>
          </p:nvPr>
        </p:nvSpPr>
        <p:spPr>
          <a:xfrm>
            <a:off x="942261" y="2787183"/>
            <a:ext cx="5861739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【 사회변화 대응 방향에 발맞춰 K-water의 상생가치 정체성을 재정립하고 역량 결집 】</a:t>
            </a:r>
          </a:p>
        </p:txBody>
      </p:sp>
      <p:sp>
        <p:nvSpPr>
          <p:cNvPr id="55" name="표 외곽"/>
          <p:cNvSpPr/>
          <p:nvPr/>
        </p:nvSpPr>
        <p:spPr>
          <a:xfrm>
            <a:off x="723130" y="3093965"/>
            <a:ext cx="6300000" cy="145596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6" name="레일"/>
          <p:cNvSpPr/>
          <p:nvPr/>
        </p:nvSpPr>
        <p:spPr>
          <a:xfrm>
            <a:off x="734087" y="3110400"/>
            <a:ext cx="580696" cy="2534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7" name="레일"/>
          <p:cNvSpPr>
            <a:spLocks noGrp="1"/>
          </p:cNvSpPr>
          <p:nvPr>
            <p:ph type="body" sz="quarter" idx="42"/>
          </p:nvPr>
        </p:nvSpPr>
        <p:spPr>
          <a:xfrm>
            <a:off x="734087" y="3110400"/>
            <a:ext cx="580696" cy="2534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추진방향</a:t>
            </a:r>
          </a:p>
        </p:txBody>
      </p:sp>
      <p:sp>
        <p:nvSpPr>
          <p:cNvPr id="58" name="칸 본문"/>
          <p:cNvSpPr>
            <a:spLocks noGrp="1"/>
          </p:cNvSpPr>
          <p:nvPr>
            <p:ph type="body" sz="quarter" idx="43"/>
          </p:nvPr>
        </p:nvSpPr>
        <p:spPr>
          <a:xfrm>
            <a:off x="1358609" y="3132313"/>
            <a:ext cx="2802130" cy="21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지역사회의 자생력과 지속가능성 회복</a:t>
            </a:r>
          </a:p>
        </p:txBody>
      </p:sp>
      <p:sp>
        <p:nvSpPr>
          <p:cNvPr id="59" name="칸 본문"/>
          <p:cNvSpPr>
            <a:spLocks noGrp="1"/>
          </p:cNvSpPr>
          <p:nvPr>
            <p:ph type="body" sz="quarter" idx="44"/>
          </p:nvPr>
        </p:nvSpPr>
        <p:spPr>
          <a:xfrm>
            <a:off x="4182652" y="3132313"/>
            <a:ext cx="2802130" cy="21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거버넌스를 통한 관계망 확장</a:t>
            </a:r>
          </a:p>
        </p:txBody>
      </p:sp>
      <p:cxnSp>
        <p:nvCxnSpPr>
          <p:cNvPr id="60" name="Connector 41"/>
          <p:cNvCxnSpPr/>
          <p:nvPr/>
        </p:nvCxnSpPr>
        <p:spPr>
          <a:xfrm>
            <a:off x="4171696" y="3165183"/>
            <a:ext cx="0" cy="15339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1" name="레일"/>
          <p:cNvSpPr/>
          <p:nvPr/>
        </p:nvSpPr>
        <p:spPr>
          <a:xfrm>
            <a:off x="734087" y="3380243"/>
            <a:ext cx="580696" cy="53968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2" name="레일"/>
          <p:cNvSpPr>
            <a:spLocks noGrp="1"/>
          </p:cNvSpPr>
          <p:nvPr>
            <p:ph type="body" sz="quarter" idx="45"/>
          </p:nvPr>
        </p:nvSpPr>
        <p:spPr>
          <a:xfrm>
            <a:off x="734087" y="3380243"/>
            <a:ext cx="580696" cy="5396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브랜드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런 칭</a:t>
            </a:r>
          </a:p>
        </p:txBody>
      </p:sp>
      <p:sp>
        <p:nvSpPr>
          <p:cNvPr id="63" name="레일 삼각형"/>
          <p:cNvSpPr/>
          <p:nvPr/>
        </p:nvSpPr>
        <p:spPr>
          <a:xfrm>
            <a:off x="734086" y="3380243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4" name="배너"/>
          <p:cNvSpPr/>
          <p:nvPr/>
        </p:nvSpPr>
        <p:spPr>
          <a:xfrm>
            <a:off x="1347652" y="3402157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65" name="배너"/>
          <p:cNvSpPr>
            <a:spLocks noGrp="1"/>
          </p:cNvSpPr>
          <p:nvPr>
            <p:ph type="body" sz="quarter" idx="46"/>
          </p:nvPr>
        </p:nvSpPr>
        <p:spPr>
          <a:xfrm>
            <a:off x="1347652" y="3402157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 대표 상생활동 브랜드 『rootit 프로젝트』 런칭</a:t>
            </a:r>
          </a:p>
        </p:txBody>
      </p:sp>
      <p:sp>
        <p:nvSpPr>
          <p:cNvPr id="66" name="태그"/>
          <p:cNvSpPr/>
          <p:nvPr/>
        </p:nvSpPr>
        <p:spPr>
          <a:xfrm>
            <a:off x="1347652" y="3659635"/>
            <a:ext cx="361972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7" name="태그"/>
          <p:cNvSpPr>
            <a:spLocks noGrp="1"/>
          </p:cNvSpPr>
          <p:nvPr>
            <p:ph type="body" sz="quarter" idx="47"/>
          </p:nvPr>
        </p:nvSpPr>
        <p:spPr>
          <a:xfrm>
            <a:off x="1347652" y="3659635"/>
            <a:ext cx="36197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목적</a:t>
            </a:r>
          </a:p>
        </p:txBody>
      </p:sp>
      <p:sp>
        <p:nvSpPr>
          <p:cNvPr id="68" name="태그 설명"/>
          <p:cNvSpPr>
            <a:spLocks noGrp="1"/>
          </p:cNvSpPr>
          <p:nvPr>
            <p:ph type="body" sz="quarter" idx="48"/>
          </p:nvPr>
        </p:nvSpPr>
        <p:spPr>
          <a:xfrm>
            <a:off x="1753450" y="3648678"/>
            <a:ext cx="5242289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지역에 뿌리(Root)내려 지속가능성을 키우는 주민 주도(do-it)의 활성화</a:t>
            </a:r>
          </a:p>
        </p:txBody>
      </p:sp>
      <p:sp>
        <p:nvSpPr>
          <p:cNvPr id="69" name="레일"/>
          <p:cNvSpPr/>
          <p:nvPr/>
        </p:nvSpPr>
        <p:spPr>
          <a:xfrm>
            <a:off x="734087" y="3936365"/>
            <a:ext cx="580696" cy="597130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0" name="레일"/>
          <p:cNvSpPr>
            <a:spLocks noGrp="1"/>
          </p:cNvSpPr>
          <p:nvPr>
            <p:ph type="body" sz="quarter" idx="49"/>
          </p:nvPr>
        </p:nvSpPr>
        <p:spPr>
          <a:xfrm>
            <a:off x="734087" y="3936365"/>
            <a:ext cx="580696" cy="597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 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 제</a:t>
            </a:r>
          </a:p>
        </p:txBody>
      </p:sp>
      <p:sp>
        <p:nvSpPr>
          <p:cNvPr id="71" name="레일 삼각형"/>
          <p:cNvSpPr/>
          <p:nvPr/>
        </p:nvSpPr>
        <p:spPr>
          <a:xfrm>
            <a:off x="734086" y="3936365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2" name="머리칸"/>
          <p:cNvSpPr/>
          <p:nvPr/>
        </p:nvSpPr>
        <p:spPr>
          <a:xfrm>
            <a:off x="1347652" y="3958278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3" name="머리칸"/>
          <p:cNvSpPr>
            <a:spLocks noGrp="1"/>
          </p:cNvSpPr>
          <p:nvPr>
            <p:ph type="body" sz="quarter" idx="50"/>
          </p:nvPr>
        </p:nvSpPr>
        <p:spPr>
          <a:xfrm>
            <a:off x="1347652" y="3958278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‘터전’ 뿌리 내리기</a:t>
            </a:r>
          </a:p>
        </p:txBody>
      </p:sp>
      <p:sp>
        <p:nvSpPr>
          <p:cNvPr id="74" name="머리칸"/>
          <p:cNvSpPr/>
          <p:nvPr/>
        </p:nvSpPr>
        <p:spPr>
          <a:xfrm>
            <a:off x="3230348" y="3958278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5" name="머리칸"/>
          <p:cNvSpPr>
            <a:spLocks noGrp="1"/>
          </p:cNvSpPr>
          <p:nvPr>
            <p:ph type="body" sz="quarter" idx="51"/>
          </p:nvPr>
        </p:nvSpPr>
        <p:spPr>
          <a:xfrm>
            <a:off x="3230348" y="3958278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‘소득’ 뿌리 내리기</a:t>
            </a:r>
          </a:p>
        </p:txBody>
      </p:sp>
      <p:sp>
        <p:nvSpPr>
          <p:cNvPr id="76" name="머리칸"/>
          <p:cNvSpPr/>
          <p:nvPr/>
        </p:nvSpPr>
        <p:spPr>
          <a:xfrm>
            <a:off x="5113043" y="3958278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7" name="머리칸"/>
          <p:cNvSpPr>
            <a:spLocks noGrp="1"/>
          </p:cNvSpPr>
          <p:nvPr>
            <p:ph type="body" sz="quarter" idx="52"/>
          </p:nvPr>
        </p:nvSpPr>
        <p:spPr>
          <a:xfrm>
            <a:off x="5113043" y="3958278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❸ ‘사람’ 뿌리 내리기</a:t>
            </a:r>
          </a:p>
        </p:txBody>
      </p:sp>
      <p:sp>
        <p:nvSpPr>
          <p:cNvPr id="78" name="칸 본문"/>
          <p:cNvSpPr>
            <a:spLocks noGrp="1"/>
          </p:cNvSpPr>
          <p:nvPr>
            <p:ph type="body" sz="quarter" idx="53"/>
          </p:nvPr>
        </p:nvSpPr>
        <p:spPr>
          <a:xfrm>
            <a:off x="1358609" y="4199322"/>
            <a:ext cx="1860783" cy="328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지속가능한 생활공간 창출</a:t>
            </a:r>
          </a:p>
        </p:txBody>
      </p:sp>
      <p:sp>
        <p:nvSpPr>
          <p:cNvPr id="79" name="칸 본문"/>
          <p:cNvSpPr>
            <a:spLocks noGrp="1"/>
          </p:cNvSpPr>
          <p:nvPr>
            <p:ph type="body" sz="quarter" idx="54"/>
          </p:nvPr>
        </p:nvSpPr>
        <p:spPr>
          <a:xfrm>
            <a:off x="3241304" y="4199322"/>
            <a:ext cx="1860783" cy="328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자생적 소득창출역량 강화</a:t>
            </a:r>
          </a:p>
        </p:txBody>
      </p:sp>
      <p:cxnSp>
        <p:nvCxnSpPr>
          <p:cNvPr id="80" name="Connector 54"/>
          <p:cNvCxnSpPr/>
          <p:nvPr/>
        </p:nvCxnSpPr>
        <p:spPr>
          <a:xfrm>
            <a:off x="3230348" y="4232191"/>
            <a:ext cx="0" cy="26295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1" name="칸 본문"/>
          <p:cNvSpPr>
            <a:spLocks noGrp="1"/>
          </p:cNvSpPr>
          <p:nvPr>
            <p:ph type="body" sz="quarter" idx="55"/>
          </p:nvPr>
        </p:nvSpPr>
        <p:spPr>
          <a:xfrm>
            <a:off x="5124000" y="4199322"/>
            <a:ext cx="1860783" cy="328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구성원으로 정착 지원</a:t>
            </a:r>
          </a:p>
        </p:txBody>
      </p:sp>
      <p:cxnSp>
        <p:nvCxnSpPr>
          <p:cNvPr id="82" name="Connector 56"/>
          <p:cNvCxnSpPr/>
          <p:nvPr/>
        </p:nvCxnSpPr>
        <p:spPr>
          <a:xfrm>
            <a:off x="5113043" y="4232191"/>
            <a:ext cx="0" cy="26295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11 서사 · 터전(인구소멸지역 빈집 재생: 추진배경 → 추진내용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인구소멸지역의 방치된 빈집을 지역 회복의 거점으로</a:t>
            </a:r>
          </a:p>
        </p:txBody>
      </p:sp>
      <p:sp>
        <p:nvSpPr>
          <p:cNvPr id="15" name="번호 띠 칩"/>
          <p:cNvSpPr/>
          <p:nvPr/>
        </p:nvSpPr>
        <p:spPr>
          <a:xfrm>
            <a:off x="6265613" y="832696"/>
            <a:ext cx="505517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번호 띠 칩"/>
          <p:cNvSpPr>
            <a:spLocks noGrp="1"/>
          </p:cNvSpPr>
          <p:nvPr>
            <p:ph type="body" sz="quarter" idx="22"/>
          </p:nvPr>
        </p:nvSpPr>
        <p:spPr>
          <a:xfrm>
            <a:off x="6265613" y="832696"/>
            <a:ext cx="50551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7" name="번호 띠 칩"/>
          <p:cNvSpPr/>
          <p:nvPr/>
        </p:nvSpPr>
        <p:spPr>
          <a:xfrm>
            <a:off x="5692579" y="832696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번호 띠 칩"/>
          <p:cNvSpPr>
            <a:spLocks noGrp="1"/>
          </p:cNvSpPr>
          <p:nvPr>
            <p:ph type="body" sz="quarter" idx="23"/>
          </p:nvPr>
        </p:nvSpPr>
        <p:spPr>
          <a:xfrm>
            <a:off x="5692579" y="832696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9" name="표 외곽"/>
          <p:cNvSpPr/>
          <p:nvPr/>
        </p:nvSpPr>
        <p:spPr>
          <a:xfrm>
            <a:off x="536870" y="1117565"/>
            <a:ext cx="6300000" cy="231182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0" name="레일"/>
          <p:cNvSpPr/>
          <p:nvPr/>
        </p:nvSpPr>
        <p:spPr>
          <a:xfrm>
            <a:off x="547826" y="1134000"/>
            <a:ext cx="580696" cy="70669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4"/>
          </p:nvPr>
        </p:nvSpPr>
        <p:spPr>
          <a:xfrm>
            <a:off x="547826" y="1134000"/>
            <a:ext cx="580696" cy="70669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5"/>
          </p:nvPr>
        </p:nvSpPr>
        <p:spPr>
          <a:xfrm>
            <a:off x="1172348" y="1155913"/>
            <a:ext cx="2802130" cy="679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지역현실 농촌 인구 감소와 고령화로 인해 방치된 빈집이 지속 증가(’24년 기준 813개)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화재·붕괴 위험 및 주민 정주여건 악화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6"/>
          </p:nvPr>
        </p:nvSpPr>
        <p:spPr>
          <a:xfrm>
            <a:off x="3996391" y="1155913"/>
            <a:ext cx="2802130" cy="679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늘어나는 빈집을 지역의 문제에서 마을의 활력 거점으로 전환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주민과 함께 쓰임새 있는 공간 재창조</a:t>
            </a:r>
          </a:p>
        </p:txBody>
      </p:sp>
      <p:cxnSp>
        <p:nvCxnSpPr>
          <p:cNvPr id="24" name="Connector 17"/>
          <p:cNvCxnSpPr/>
          <p:nvPr/>
        </p:nvCxnSpPr>
        <p:spPr>
          <a:xfrm>
            <a:off x="3985435" y="1188783"/>
            <a:ext cx="0" cy="613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5" name="레일"/>
          <p:cNvSpPr/>
          <p:nvPr/>
        </p:nvSpPr>
        <p:spPr>
          <a:xfrm>
            <a:off x="547826" y="1857130"/>
            <a:ext cx="580696" cy="1555826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6" name="레일"/>
          <p:cNvSpPr>
            <a:spLocks noGrp="1"/>
          </p:cNvSpPr>
          <p:nvPr>
            <p:ph type="body" sz="quarter" idx="27"/>
          </p:nvPr>
        </p:nvSpPr>
        <p:spPr>
          <a:xfrm>
            <a:off x="547826" y="1857130"/>
            <a:ext cx="580696" cy="1555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추진내용</a:t>
            </a:r>
          </a:p>
        </p:txBody>
      </p:sp>
      <p:sp>
        <p:nvSpPr>
          <p:cNvPr id="27" name="레일 삼각형"/>
          <p:cNvSpPr/>
          <p:nvPr/>
        </p:nvSpPr>
        <p:spPr>
          <a:xfrm>
            <a:off x="547826" y="1857130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배너"/>
          <p:cNvSpPr/>
          <p:nvPr/>
        </p:nvSpPr>
        <p:spPr>
          <a:xfrm>
            <a:off x="1161391" y="1879043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9" name="배너"/>
          <p:cNvSpPr>
            <a:spLocks noGrp="1"/>
          </p:cNvSpPr>
          <p:nvPr>
            <p:ph type="body" sz="quarter" idx="28"/>
          </p:nvPr>
        </p:nvSpPr>
        <p:spPr>
          <a:xfrm>
            <a:off x="1161391" y="1879043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예천군 소멸위험마을 활력재생 프로젝트, ‘농촌 빈집, 다시 품다!’</a:t>
            </a:r>
          </a:p>
        </p:txBody>
      </p:sp>
      <p:sp>
        <p:nvSpPr>
          <p:cNvPr id="30" name="단계"/>
          <p:cNvSpPr/>
          <p:nvPr/>
        </p:nvSpPr>
        <p:spPr>
          <a:xfrm>
            <a:off x="1161391" y="2114609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1" name="단계"/>
          <p:cNvSpPr>
            <a:spLocks noGrp="1"/>
          </p:cNvSpPr>
          <p:nvPr>
            <p:ph type="body" sz="quarter" idx="29"/>
          </p:nvPr>
        </p:nvSpPr>
        <p:spPr>
          <a:xfrm>
            <a:off x="1161391" y="211460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협업 체계 구성</a:t>
            </a:r>
          </a:p>
        </p:txBody>
      </p:sp>
      <p:sp>
        <p:nvSpPr>
          <p:cNvPr id="32" name="단계"/>
          <p:cNvSpPr/>
          <p:nvPr/>
        </p:nvSpPr>
        <p:spPr>
          <a:xfrm>
            <a:off x="3044087" y="2114609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3" name="단계"/>
          <p:cNvSpPr>
            <a:spLocks noGrp="1"/>
          </p:cNvSpPr>
          <p:nvPr>
            <p:ph type="body" sz="quarter" idx="30"/>
          </p:nvPr>
        </p:nvSpPr>
        <p:spPr>
          <a:xfrm>
            <a:off x="3044087" y="211460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니즈에 맞춘 공간에서</a:t>
            </a:r>
          </a:p>
        </p:txBody>
      </p:sp>
      <p:sp>
        <p:nvSpPr>
          <p:cNvPr id="34" name="단계"/>
          <p:cNvSpPr/>
          <p:nvPr/>
        </p:nvSpPr>
        <p:spPr>
          <a:xfrm>
            <a:off x="4926783" y="2114609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5" name="단계"/>
          <p:cNvSpPr>
            <a:spLocks noGrp="1"/>
          </p:cNvSpPr>
          <p:nvPr>
            <p:ph type="body" sz="quarter" idx="31"/>
          </p:nvPr>
        </p:nvSpPr>
        <p:spPr>
          <a:xfrm>
            <a:off x="4926783" y="211460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지역 활성화 프로그램 제공</a:t>
            </a:r>
          </a:p>
        </p:txBody>
      </p:sp>
      <p:sp>
        <p:nvSpPr>
          <p:cNvPr id="36" name="단계 삼각형"/>
          <p:cNvSpPr/>
          <p:nvPr/>
        </p:nvSpPr>
        <p:spPr>
          <a:xfrm>
            <a:off x="3044086" y="2114608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7" name="단계 삼각형"/>
          <p:cNvSpPr/>
          <p:nvPr/>
        </p:nvSpPr>
        <p:spPr>
          <a:xfrm>
            <a:off x="4926782" y="2114608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2"/>
          </p:nvPr>
        </p:nvSpPr>
        <p:spPr>
          <a:xfrm>
            <a:off x="1172348" y="2366609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총괄 / 예천군(인·허가 행정지원) / 노인지원센터(빈집 리모델링) / 국립경국대(프로그램 기획·운영)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3"/>
          </p:nvPr>
        </p:nvSpPr>
        <p:spPr>
          <a:xfrm>
            <a:off x="3055043" y="2366609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소멸위험이 가장 높은 마을 대상 빈집 선정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노후도, 활용가능성 등 심사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주민수요 맞춤 리모델링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품앗이 작업장, 무더위쉼터, 친지 방문 시 숙소 등</a:t>
            </a:r>
          </a:p>
        </p:txBody>
      </p:sp>
      <p:cxnSp>
        <p:nvCxnSpPr>
          <p:cNvPr id="40" name="Connector 28"/>
          <p:cNvCxnSpPr/>
          <p:nvPr/>
        </p:nvCxnSpPr>
        <p:spPr>
          <a:xfrm>
            <a:off x="3044087" y="2399478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1" name="칸 본문"/>
          <p:cNvSpPr>
            <a:spLocks noGrp="1"/>
          </p:cNvSpPr>
          <p:nvPr>
            <p:ph type="body" sz="quarter" idx="34"/>
          </p:nvPr>
        </p:nvSpPr>
        <p:spPr>
          <a:xfrm>
            <a:off x="4937739" y="2366609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청년기업과 함께 농산품 팝업 스토어 진행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지역 청년과 어르신 소통행사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사람이 모이는 콘텐츠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삼겹살파티 등 정서 교류(7회), 가족방문쉼터(4회) 운영</a:t>
            </a:r>
          </a:p>
        </p:txBody>
      </p:sp>
      <p:cxnSp>
        <p:nvCxnSpPr>
          <p:cNvPr id="42" name="Connector 30"/>
          <p:cNvCxnSpPr/>
          <p:nvPr/>
        </p:nvCxnSpPr>
        <p:spPr>
          <a:xfrm>
            <a:off x="4926783" y="2399478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3" name="핵심성과 박스"/>
          <p:cNvSpPr/>
          <p:nvPr/>
        </p:nvSpPr>
        <p:spPr>
          <a:xfrm>
            <a:off x="536870" y="3517043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4" name="핵심성과 라벨"/>
          <p:cNvSpPr/>
          <p:nvPr/>
        </p:nvSpPr>
        <p:spPr>
          <a:xfrm>
            <a:off x="569739" y="3555391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45" name="핵심성과 라벨"/>
          <p:cNvSpPr>
            <a:spLocks noGrp="1"/>
          </p:cNvSpPr>
          <p:nvPr>
            <p:ph type="body" sz="quarter" idx="35"/>
          </p:nvPr>
        </p:nvSpPr>
        <p:spPr>
          <a:xfrm>
            <a:off x="569739" y="3555391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6" name="핵심성과 문구"/>
          <p:cNvSpPr>
            <a:spLocks noGrp="1"/>
          </p:cNvSpPr>
          <p:nvPr>
            <p:ph type="body" sz="quarter" idx="36"/>
          </p:nvPr>
        </p:nvSpPr>
        <p:spPr>
          <a:xfrm>
            <a:off x="1314783" y="3533478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누적 500명 어르신 대상 복지서비스 제공, 이용자 평균 만족도 97% 달성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12 서사 · 이음 장날(추진배경 → 판로 확대 3단 → 역량 강화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댐주변 농가 돕는 ‘이음 장날’, 마케팅 코칭까지 Scale-Up</a:t>
            </a:r>
          </a:p>
        </p:txBody>
      </p:sp>
      <p:sp>
        <p:nvSpPr>
          <p:cNvPr id="14" name="번호 띠 칩"/>
          <p:cNvSpPr/>
          <p:nvPr/>
        </p:nvSpPr>
        <p:spPr>
          <a:xfrm>
            <a:off x="6451874" y="843652"/>
            <a:ext cx="505517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번호 띠 칩"/>
          <p:cNvSpPr>
            <a:spLocks noGrp="1"/>
          </p:cNvSpPr>
          <p:nvPr>
            <p:ph type="body" sz="quarter" idx="22"/>
          </p:nvPr>
        </p:nvSpPr>
        <p:spPr>
          <a:xfrm>
            <a:off x="6451874" y="843652"/>
            <a:ext cx="50551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6" name="번호 띠 칩"/>
          <p:cNvSpPr/>
          <p:nvPr/>
        </p:nvSpPr>
        <p:spPr>
          <a:xfrm>
            <a:off x="5878840" y="843652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번호 띠 칩"/>
          <p:cNvSpPr>
            <a:spLocks noGrp="1"/>
          </p:cNvSpPr>
          <p:nvPr>
            <p:ph type="body" sz="quarter" idx="23"/>
          </p:nvPr>
        </p:nvSpPr>
        <p:spPr>
          <a:xfrm>
            <a:off x="5878840" y="843652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8" name="표 외곽"/>
          <p:cNvSpPr/>
          <p:nvPr/>
        </p:nvSpPr>
        <p:spPr>
          <a:xfrm>
            <a:off x="723130" y="1128522"/>
            <a:ext cx="6300000" cy="258855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레일"/>
          <p:cNvSpPr/>
          <p:nvPr/>
        </p:nvSpPr>
        <p:spPr>
          <a:xfrm>
            <a:off x="734087" y="1144957"/>
            <a:ext cx="580696" cy="36438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4"/>
          </p:nvPr>
        </p:nvSpPr>
        <p:spPr>
          <a:xfrm>
            <a:off x="734087" y="1144957"/>
            <a:ext cx="580696" cy="3643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5"/>
          </p:nvPr>
        </p:nvSpPr>
        <p:spPr>
          <a:xfrm>
            <a:off x="1358609" y="1166870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~2024년 댐주변 농민과 임직원간 직거래 장터인 ‘이음 장날’, 성공적 축제로 정착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6"/>
          </p:nvPr>
        </p:nvSpPr>
        <p:spPr>
          <a:xfrm>
            <a:off x="4182652" y="1166870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2025년 기존 판로는 더욱 확대하고, 농민 스스로의 판로 개척 역량 강화까지 교육</a:t>
            </a:r>
          </a:p>
        </p:txBody>
      </p:sp>
      <p:cxnSp>
        <p:nvCxnSpPr>
          <p:cNvPr id="23" name="Connector 14"/>
          <p:cNvCxnSpPr/>
          <p:nvPr/>
        </p:nvCxnSpPr>
        <p:spPr>
          <a:xfrm>
            <a:off x="4171696" y="1199739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4" name="레일"/>
          <p:cNvSpPr/>
          <p:nvPr/>
        </p:nvSpPr>
        <p:spPr>
          <a:xfrm>
            <a:off x="734087" y="1525774"/>
            <a:ext cx="580696" cy="111756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5" name="레일"/>
          <p:cNvSpPr>
            <a:spLocks noGrp="1"/>
          </p:cNvSpPr>
          <p:nvPr>
            <p:ph type="body" sz="quarter" idx="27"/>
          </p:nvPr>
        </p:nvSpPr>
        <p:spPr>
          <a:xfrm>
            <a:off x="734087" y="1525774"/>
            <a:ext cx="580696" cy="1117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판 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 대</a:t>
            </a:r>
          </a:p>
        </p:txBody>
      </p:sp>
      <p:sp>
        <p:nvSpPr>
          <p:cNvPr id="26" name="레일 삼각형"/>
          <p:cNvSpPr/>
          <p:nvPr/>
        </p:nvSpPr>
        <p:spPr>
          <a:xfrm>
            <a:off x="734086" y="1525773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7" name="배너"/>
          <p:cNvSpPr/>
          <p:nvPr/>
        </p:nvSpPr>
        <p:spPr>
          <a:xfrm>
            <a:off x="1347652" y="1547687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8" name="배너"/>
          <p:cNvSpPr>
            <a:spLocks noGrp="1"/>
          </p:cNvSpPr>
          <p:nvPr>
            <p:ph type="body" sz="quarter" idx="28"/>
          </p:nvPr>
        </p:nvSpPr>
        <p:spPr>
          <a:xfrm>
            <a:off x="1347652" y="1547687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‘이음 장날’로 입증된 댐주변 농민의 경쟁력, 전국적 확대와 온라인까지 확장</a:t>
            </a:r>
          </a:p>
        </p:txBody>
      </p:sp>
      <p:sp>
        <p:nvSpPr>
          <p:cNvPr id="29" name="단계"/>
          <p:cNvSpPr/>
          <p:nvPr/>
        </p:nvSpPr>
        <p:spPr>
          <a:xfrm>
            <a:off x="1347652" y="1783252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0" name="단계"/>
          <p:cNvSpPr>
            <a:spLocks noGrp="1"/>
          </p:cNvSpPr>
          <p:nvPr>
            <p:ph type="body" sz="quarter" idx="29"/>
          </p:nvPr>
        </p:nvSpPr>
        <p:spPr>
          <a:xfrm>
            <a:off x="1347652" y="1783252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이음 장날 전국 확대</a:t>
            </a:r>
          </a:p>
        </p:txBody>
      </p:sp>
      <p:sp>
        <p:nvSpPr>
          <p:cNvPr id="31" name="단계"/>
          <p:cNvSpPr/>
          <p:nvPr/>
        </p:nvSpPr>
        <p:spPr>
          <a:xfrm>
            <a:off x="3230348" y="1783252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2" name="단계"/>
          <p:cNvSpPr>
            <a:spLocks noGrp="1"/>
          </p:cNvSpPr>
          <p:nvPr>
            <p:ph type="body" sz="quarter" idx="30"/>
          </p:nvPr>
        </p:nvSpPr>
        <p:spPr>
          <a:xfrm>
            <a:off x="3230348" y="1783252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지역 오프라인 매장 진출</a:t>
            </a:r>
          </a:p>
        </p:txBody>
      </p:sp>
      <p:sp>
        <p:nvSpPr>
          <p:cNvPr id="33" name="단계"/>
          <p:cNvSpPr/>
          <p:nvPr/>
        </p:nvSpPr>
        <p:spPr>
          <a:xfrm>
            <a:off x="5113043" y="1783252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4" name="단계"/>
          <p:cNvSpPr>
            <a:spLocks noGrp="1"/>
          </p:cNvSpPr>
          <p:nvPr>
            <p:ph type="body" sz="quarter" idx="31"/>
          </p:nvPr>
        </p:nvSpPr>
        <p:spPr>
          <a:xfrm>
            <a:off x="5113043" y="1783252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온라인 커머스 입점</a:t>
            </a:r>
          </a:p>
        </p:txBody>
      </p:sp>
      <p:sp>
        <p:nvSpPr>
          <p:cNvPr id="35" name="단계 삼각형"/>
          <p:cNvSpPr/>
          <p:nvPr/>
        </p:nvSpPr>
        <p:spPr>
          <a:xfrm>
            <a:off x="3230347" y="1783252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6" name="단계 삼각형"/>
          <p:cNvSpPr/>
          <p:nvPr/>
        </p:nvSpPr>
        <p:spPr>
          <a:xfrm>
            <a:off x="5113043" y="1783252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2"/>
          </p:nvPr>
        </p:nvSpPr>
        <p:spPr>
          <a:xfrm>
            <a:off x="1358609" y="2035252"/>
            <a:ext cx="1860783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연 2회 본사 행사를 전국 4개 유역본부로 추가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연 5회 개최 완료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3"/>
          </p:nvPr>
        </p:nvSpPr>
        <p:spPr>
          <a:xfrm>
            <a:off x="3241304" y="2035252"/>
            <a:ext cx="1860783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각 지역별 대표축제 내 판매부스 입점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서울국제정원 박람회 등</a:t>
            </a:r>
          </a:p>
        </p:txBody>
      </p:sp>
      <p:cxnSp>
        <p:nvCxnSpPr>
          <p:cNvPr id="39" name="Connector 25"/>
          <p:cNvCxnSpPr/>
          <p:nvPr/>
        </p:nvCxnSpPr>
        <p:spPr>
          <a:xfrm>
            <a:off x="3230348" y="2068122"/>
            <a:ext cx="0" cy="536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0" name="칸 본문"/>
          <p:cNvSpPr>
            <a:spLocks noGrp="1"/>
          </p:cNvSpPr>
          <p:nvPr>
            <p:ph type="body" sz="quarter" idx="34"/>
          </p:nvPr>
        </p:nvSpPr>
        <p:spPr>
          <a:xfrm>
            <a:off x="5124000" y="2035252"/>
            <a:ext cx="1860783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검증된 20개 농가 온라인 기획전·상시몰 입점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총 63백만원 추가 매출 창출</a:t>
            </a:r>
          </a:p>
        </p:txBody>
      </p:sp>
      <p:cxnSp>
        <p:nvCxnSpPr>
          <p:cNvPr id="41" name="Connector 27"/>
          <p:cNvCxnSpPr/>
          <p:nvPr/>
        </p:nvCxnSpPr>
        <p:spPr>
          <a:xfrm>
            <a:off x="5113043" y="2068122"/>
            <a:ext cx="0" cy="536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2" name="레일"/>
          <p:cNvSpPr/>
          <p:nvPr/>
        </p:nvSpPr>
        <p:spPr>
          <a:xfrm>
            <a:off x="734087" y="2659774"/>
            <a:ext cx="580696" cy="1040870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3" name="레일"/>
          <p:cNvSpPr>
            <a:spLocks noGrp="1"/>
          </p:cNvSpPr>
          <p:nvPr>
            <p:ph type="body" sz="quarter" idx="35"/>
          </p:nvPr>
        </p:nvSpPr>
        <p:spPr>
          <a:xfrm>
            <a:off x="734087" y="2659774"/>
            <a:ext cx="580696" cy="104087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역 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화</a:t>
            </a:r>
          </a:p>
        </p:txBody>
      </p:sp>
      <p:sp>
        <p:nvSpPr>
          <p:cNvPr id="44" name="레일 삼각형"/>
          <p:cNvSpPr/>
          <p:nvPr/>
        </p:nvSpPr>
        <p:spPr>
          <a:xfrm>
            <a:off x="734086" y="2659773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5" name="배너"/>
          <p:cNvSpPr/>
          <p:nvPr/>
        </p:nvSpPr>
        <p:spPr>
          <a:xfrm>
            <a:off x="1347652" y="2681687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6" name="배너"/>
          <p:cNvSpPr>
            <a:spLocks noGrp="1"/>
          </p:cNvSpPr>
          <p:nvPr>
            <p:ph type="body" sz="quarter" idx="36"/>
          </p:nvPr>
        </p:nvSpPr>
        <p:spPr>
          <a:xfrm>
            <a:off x="1347652" y="2681687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지역농가 등을 대상으로 실전 마케팅 코칭 후, 사업 지속성을 위한 크라우드 펀딩까지 도전</a:t>
            </a:r>
          </a:p>
        </p:txBody>
      </p:sp>
      <p:sp>
        <p:nvSpPr>
          <p:cNvPr id="47" name="단계"/>
          <p:cNvSpPr/>
          <p:nvPr/>
        </p:nvSpPr>
        <p:spPr>
          <a:xfrm>
            <a:off x="1347652" y="2917252"/>
            <a:ext cx="1486339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8" name="단계"/>
          <p:cNvSpPr>
            <a:spLocks noGrp="1"/>
          </p:cNvSpPr>
          <p:nvPr>
            <p:ph type="body" sz="quarter" idx="37"/>
          </p:nvPr>
        </p:nvSpPr>
        <p:spPr>
          <a:xfrm>
            <a:off x="1347652" y="2917252"/>
            <a:ext cx="148633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K-water의 고민 “판로는 열어드렸는데 지역주민은 생산자에만 머물게 되는구나”</a:t>
            </a:r>
          </a:p>
        </p:txBody>
      </p:sp>
      <p:sp>
        <p:nvSpPr>
          <p:cNvPr id="49" name="단계"/>
          <p:cNvSpPr/>
          <p:nvPr/>
        </p:nvSpPr>
        <p:spPr>
          <a:xfrm>
            <a:off x="2833991" y="2917252"/>
            <a:ext cx="2080874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0" name="단계"/>
          <p:cNvSpPr>
            <a:spLocks noGrp="1"/>
          </p:cNvSpPr>
          <p:nvPr>
            <p:ph type="body" sz="quarter" idx="38"/>
          </p:nvPr>
        </p:nvSpPr>
        <p:spPr>
          <a:xfrm>
            <a:off x="2833991" y="2917252"/>
            <a:ext cx="2080874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 역량 강화 프로그램</a:t>
            </a:r>
          </a:p>
        </p:txBody>
      </p:sp>
      <p:sp>
        <p:nvSpPr>
          <p:cNvPr id="51" name="단계"/>
          <p:cNvSpPr/>
          <p:nvPr/>
        </p:nvSpPr>
        <p:spPr>
          <a:xfrm>
            <a:off x="4914865" y="2917252"/>
            <a:ext cx="2080874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2" name="단계"/>
          <p:cNvSpPr>
            <a:spLocks noGrp="1"/>
          </p:cNvSpPr>
          <p:nvPr>
            <p:ph type="body" sz="quarter" idx="39"/>
          </p:nvPr>
        </p:nvSpPr>
        <p:spPr>
          <a:xfrm>
            <a:off x="4914865" y="2917252"/>
            <a:ext cx="2080874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크라우드 펀딩까지 연결</a:t>
            </a:r>
          </a:p>
        </p:txBody>
      </p:sp>
      <p:sp>
        <p:nvSpPr>
          <p:cNvPr id="53" name="단계 삼각형"/>
          <p:cNvSpPr/>
          <p:nvPr/>
        </p:nvSpPr>
        <p:spPr>
          <a:xfrm>
            <a:off x="2833990" y="2917252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4" name="단계 삼각형"/>
          <p:cNvSpPr/>
          <p:nvPr/>
        </p:nvSpPr>
        <p:spPr>
          <a:xfrm>
            <a:off x="4914864" y="2917252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5" name="칸 본문"/>
          <p:cNvSpPr txBox="1"/>
          <p:nvPr/>
        </p:nvSpPr>
        <p:spPr>
          <a:xfrm>
            <a:off x="1358609" y="3169252"/>
            <a:ext cx="1464426" cy="52591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sp>
        <p:nvSpPr>
          <p:cNvPr id="56" name="칸 본문"/>
          <p:cNvSpPr>
            <a:spLocks noGrp="1"/>
          </p:cNvSpPr>
          <p:nvPr>
            <p:ph type="body" sz="quarter" idx="40"/>
          </p:nvPr>
        </p:nvSpPr>
        <p:spPr>
          <a:xfrm>
            <a:off x="2844947" y="3169252"/>
            <a:ext cx="2058961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전문가 코칭을 기반으로 지역제품의 브랜드 개발, 상품기획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8개 농가 및 청년기업 등 선정</a:t>
            </a:r>
          </a:p>
        </p:txBody>
      </p:sp>
      <p:cxnSp>
        <p:nvCxnSpPr>
          <p:cNvPr id="57" name="Connector 38"/>
          <p:cNvCxnSpPr/>
          <p:nvPr/>
        </p:nvCxnSpPr>
        <p:spPr>
          <a:xfrm>
            <a:off x="2833991" y="3202122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8" name="칸 본문"/>
          <p:cNvSpPr>
            <a:spLocks noGrp="1"/>
          </p:cNvSpPr>
          <p:nvPr>
            <p:ph type="body" sz="quarter" idx="41"/>
          </p:nvPr>
        </p:nvSpPr>
        <p:spPr>
          <a:xfrm>
            <a:off x="4925822" y="3169252"/>
            <a:ext cx="2058961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코칭을 통해 개발된 상품의 시민 펀딩으로 사업 운영자금도 확보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총 37백만원 신규 매출 창출</a:t>
            </a:r>
          </a:p>
        </p:txBody>
      </p:sp>
      <p:cxnSp>
        <p:nvCxnSpPr>
          <p:cNvPr id="59" name="Connector 40"/>
          <p:cNvCxnSpPr/>
          <p:nvPr/>
        </p:nvCxnSpPr>
        <p:spPr>
          <a:xfrm>
            <a:off x="4914865" y="3202122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0" name="핵심성과 박스"/>
          <p:cNvSpPr/>
          <p:nvPr/>
        </p:nvSpPr>
        <p:spPr>
          <a:xfrm>
            <a:off x="723130" y="3804730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1" name="핵심성과 라벨"/>
          <p:cNvSpPr/>
          <p:nvPr/>
        </p:nvSpPr>
        <p:spPr>
          <a:xfrm>
            <a:off x="756000" y="3843078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62" name="핵심성과 라벨"/>
          <p:cNvSpPr>
            <a:spLocks noGrp="1"/>
          </p:cNvSpPr>
          <p:nvPr>
            <p:ph type="body" sz="quarter" idx="42"/>
          </p:nvPr>
        </p:nvSpPr>
        <p:spPr>
          <a:xfrm>
            <a:off x="756000" y="3843078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63" name="핵심성과 문구"/>
          <p:cNvSpPr>
            <a:spLocks noGrp="1"/>
          </p:cNvSpPr>
          <p:nvPr>
            <p:ph type="body" sz="quarter" idx="43"/>
          </p:nvPr>
        </p:nvSpPr>
        <p:spPr>
          <a:xfrm>
            <a:off x="1501043" y="3821165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참여 지역농가 설문 결과 성장체감도 97% 달성, 총 3.6억원 지역소득 창출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13 서사 · 생활인구 확대(사천시 외국 우수인재 정착: 추진배경 → 정착 지원 3단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사람을 키우고 마을을 채우는 생활인구 확대 전략</a:t>
            </a:r>
          </a:p>
        </p:txBody>
      </p:sp>
      <p:sp>
        <p:nvSpPr>
          <p:cNvPr id="15" name="형광 밑줄"/>
          <p:cNvSpPr/>
          <p:nvPr/>
        </p:nvSpPr>
        <p:spPr>
          <a:xfrm>
            <a:off x="536870" y="1347652"/>
            <a:ext cx="3932727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소제목"/>
          <p:cNvSpPr>
            <a:spLocks noGrp="1"/>
          </p:cNvSpPr>
          <p:nvPr>
            <p:ph type="body" sz="quarter" idx="22"/>
          </p:nvPr>
        </p:nvSpPr>
        <p:spPr>
          <a:xfrm>
            <a:off x="536870" y="1194261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사천시 외국 우수인재 정착을 위한 유휴 수도부지의 가치 재창조</a:t>
            </a:r>
          </a:p>
        </p:txBody>
      </p:sp>
      <p:sp>
        <p:nvSpPr>
          <p:cNvPr id="17" name="태그칩"/>
          <p:cNvSpPr/>
          <p:nvPr/>
        </p:nvSpPr>
        <p:spPr>
          <a:xfrm>
            <a:off x="4568205" y="1227130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태그칩"/>
          <p:cNvSpPr>
            <a:spLocks noGrp="1"/>
          </p:cNvSpPr>
          <p:nvPr>
            <p:ph type="body" sz="quarter" idx="23"/>
          </p:nvPr>
        </p:nvSpPr>
        <p:spPr>
          <a:xfrm>
            <a:off x="4568205" y="1227130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9" name="태그칩"/>
          <p:cNvSpPr/>
          <p:nvPr/>
        </p:nvSpPr>
        <p:spPr>
          <a:xfrm>
            <a:off x="5119326" y="1227130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태그칩"/>
          <p:cNvSpPr>
            <a:spLocks noGrp="1"/>
          </p:cNvSpPr>
          <p:nvPr>
            <p:ph type="body" sz="quarter" idx="24"/>
          </p:nvPr>
        </p:nvSpPr>
        <p:spPr>
          <a:xfrm>
            <a:off x="5119326" y="1227130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21" name="표 외곽"/>
          <p:cNvSpPr/>
          <p:nvPr/>
        </p:nvSpPr>
        <p:spPr>
          <a:xfrm>
            <a:off x="536870" y="1479130"/>
            <a:ext cx="6300000" cy="144360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2" name="레일"/>
          <p:cNvSpPr/>
          <p:nvPr/>
        </p:nvSpPr>
        <p:spPr>
          <a:xfrm>
            <a:off x="547826" y="1495565"/>
            <a:ext cx="580696" cy="36438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3" name="레일"/>
          <p:cNvSpPr>
            <a:spLocks noGrp="1"/>
          </p:cNvSpPr>
          <p:nvPr>
            <p:ph type="body" sz="quarter" idx="25"/>
          </p:nvPr>
        </p:nvSpPr>
        <p:spPr>
          <a:xfrm>
            <a:off x="547826" y="1495565"/>
            <a:ext cx="580696" cy="3643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6"/>
          </p:nvPr>
        </p:nvSpPr>
        <p:spPr>
          <a:xfrm>
            <a:off x="1172348" y="1517478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품을 들여 관리 중인 유휴 수도부지의 가치있는 활용방안 고민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3996391" y="1517478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사천시 지역산업인 항공·제조업, 숙련된 외국 인재들의 장기 정착과 근속이 절실</a:t>
            </a:r>
          </a:p>
        </p:txBody>
      </p:sp>
      <p:cxnSp>
        <p:nvCxnSpPr>
          <p:cNvPr id="26" name="Connector 19"/>
          <p:cNvCxnSpPr/>
          <p:nvPr/>
        </p:nvCxnSpPr>
        <p:spPr>
          <a:xfrm>
            <a:off x="3985435" y="1550348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7" name="레일"/>
          <p:cNvSpPr/>
          <p:nvPr/>
        </p:nvSpPr>
        <p:spPr>
          <a:xfrm>
            <a:off x="547826" y="1876383"/>
            <a:ext cx="580696" cy="102991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8" name="레일"/>
          <p:cNvSpPr>
            <a:spLocks noGrp="1"/>
          </p:cNvSpPr>
          <p:nvPr>
            <p:ph type="body" sz="quarter" idx="28"/>
          </p:nvPr>
        </p:nvSpPr>
        <p:spPr>
          <a:xfrm>
            <a:off x="547826" y="1876383"/>
            <a:ext cx="580696" cy="10299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추진내용</a:t>
            </a:r>
          </a:p>
        </p:txBody>
      </p:sp>
      <p:sp>
        <p:nvSpPr>
          <p:cNvPr id="29" name="레일 삼각형"/>
          <p:cNvSpPr/>
          <p:nvPr/>
        </p:nvSpPr>
        <p:spPr>
          <a:xfrm>
            <a:off x="547826" y="1876382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0" name="배너"/>
          <p:cNvSpPr/>
          <p:nvPr/>
        </p:nvSpPr>
        <p:spPr>
          <a:xfrm>
            <a:off x="1161391" y="1898296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1" name="배너"/>
          <p:cNvSpPr>
            <a:spLocks noGrp="1"/>
          </p:cNvSpPr>
          <p:nvPr>
            <p:ph type="body" sz="quarter" idx="29"/>
          </p:nvPr>
        </p:nvSpPr>
        <p:spPr>
          <a:xfrm>
            <a:off x="1161391" y="1898296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유휴 수도부지 활용한 외국인 인재 정착 지원 프로그램, 「땅 부치고, 정(情) 붙이고」</a:t>
            </a:r>
          </a:p>
        </p:txBody>
      </p:sp>
      <p:sp>
        <p:nvSpPr>
          <p:cNvPr id="32" name="머리칸"/>
          <p:cNvSpPr/>
          <p:nvPr/>
        </p:nvSpPr>
        <p:spPr>
          <a:xfrm>
            <a:off x="1161391" y="213386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3" name="머리칸"/>
          <p:cNvSpPr>
            <a:spLocks noGrp="1"/>
          </p:cNvSpPr>
          <p:nvPr>
            <p:ph type="body" sz="quarter" idx="30"/>
          </p:nvPr>
        </p:nvSpPr>
        <p:spPr>
          <a:xfrm>
            <a:off x="1161391" y="213386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공간 정착</a:t>
            </a:r>
          </a:p>
        </p:txBody>
      </p:sp>
      <p:sp>
        <p:nvSpPr>
          <p:cNvPr id="34" name="머리칸"/>
          <p:cNvSpPr/>
          <p:nvPr/>
        </p:nvSpPr>
        <p:spPr>
          <a:xfrm>
            <a:off x="3044087" y="213386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5" name="머리칸"/>
          <p:cNvSpPr>
            <a:spLocks noGrp="1"/>
          </p:cNvSpPr>
          <p:nvPr>
            <p:ph type="body" sz="quarter" idx="31"/>
          </p:nvPr>
        </p:nvSpPr>
        <p:spPr>
          <a:xfrm>
            <a:off x="3044087" y="213386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생활 적응</a:t>
            </a:r>
          </a:p>
        </p:txBody>
      </p:sp>
      <p:sp>
        <p:nvSpPr>
          <p:cNvPr id="36" name="머리칸"/>
          <p:cNvSpPr/>
          <p:nvPr/>
        </p:nvSpPr>
        <p:spPr>
          <a:xfrm>
            <a:off x="4926783" y="213386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7" name="머리칸"/>
          <p:cNvSpPr>
            <a:spLocks noGrp="1"/>
          </p:cNvSpPr>
          <p:nvPr>
            <p:ph type="body" sz="quarter" idx="32"/>
          </p:nvPr>
        </p:nvSpPr>
        <p:spPr>
          <a:xfrm>
            <a:off x="4926783" y="213386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❸ 공동체 연결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3"/>
          </p:nvPr>
        </p:nvSpPr>
        <p:spPr>
          <a:xfrm>
            <a:off x="1172348" y="2374904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가족 텃밭 분양, 한국 대표 농작물 친환경 재배법 교육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타국 생활 심리적 고립 해소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4"/>
          </p:nvPr>
        </p:nvSpPr>
        <p:spPr>
          <a:xfrm>
            <a:off x="3055043" y="2374904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재배 농작물로 김장 담기 및 한국어 강의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문화를 통한 정서적 융합</a:t>
            </a:r>
          </a:p>
        </p:txBody>
      </p:sp>
      <p:cxnSp>
        <p:nvCxnSpPr>
          <p:cNvPr id="40" name="Connector 28"/>
          <p:cNvCxnSpPr/>
          <p:nvPr/>
        </p:nvCxnSpPr>
        <p:spPr>
          <a:xfrm>
            <a:off x="3044087" y="2407774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1" name="칸 본문"/>
          <p:cNvSpPr>
            <a:spLocks noGrp="1"/>
          </p:cNvSpPr>
          <p:nvPr>
            <p:ph type="body" sz="quarter" idx="35"/>
          </p:nvPr>
        </p:nvSpPr>
        <p:spPr>
          <a:xfrm>
            <a:off x="4937739" y="2374904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지역민과 모국작물 나눔, 다문화 축제 단체참가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‘사천 시민’ 소속감 고취</a:t>
            </a:r>
          </a:p>
        </p:txBody>
      </p:sp>
      <p:cxnSp>
        <p:nvCxnSpPr>
          <p:cNvPr id="42" name="Connector 30"/>
          <p:cNvCxnSpPr/>
          <p:nvPr/>
        </p:nvCxnSpPr>
        <p:spPr>
          <a:xfrm>
            <a:off x="4926783" y="2407774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3" name="핵심성과 박스"/>
          <p:cNvSpPr/>
          <p:nvPr/>
        </p:nvSpPr>
        <p:spPr>
          <a:xfrm>
            <a:off x="536870" y="3010383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4" name="핵심성과 라벨"/>
          <p:cNvSpPr/>
          <p:nvPr/>
        </p:nvSpPr>
        <p:spPr>
          <a:xfrm>
            <a:off x="569739" y="3048730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45" name="핵심성과 라벨"/>
          <p:cNvSpPr>
            <a:spLocks noGrp="1"/>
          </p:cNvSpPr>
          <p:nvPr>
            <p:ph type="body" sz="quarter" idx="36"/>
          </p:nvPr>
        </p:nvSpPr>
        <p:spPr>
          <a:xfrm>
            <a:off x="569739" y="3048730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6" name="핵심성과 문구"/>
          <p:cNvSpPr>
            <a:spLocks noGrp="1"/>
          </p:cNvSpPr>
          <p:nvPr>
            <p:ph type="body" sz="quarter" idx="37"/>
          </p:nvPr>
        </p:nvSpPr>
        <p:spPr>
          <a:xfrm>
            <a:off x="1314783" y="3026817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사천시 외국인재 250명 참여, 주민공동 문화체험 200명 참가로 상호이해 증진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14 서사 · 배달강좌제 멘토-멘티 지원(추진배경 → 멘토·멘티 3갈래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4398219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K-water型 지역공부방 ‘배달강좌제’, 안착을 위한 멘토-멘티 지원 강화</a:t>
            </a:r>
          </a:p>
        </p:txBody>
      </p:sp>
      <p:sp>
        <p:nvSpPr>
          <p:cNvPr id="11" name="태그칩"/>
          <p:cNvSpPr/>
          <p:nvPr/>
        </p:nvSpPr>
        <p:spPr>
          <a:xfrm>
            <a:off x="5219958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5219958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표 외곽"/>
          <p:cNvSpPr/>
          <p:nvPr/>
        </p:nvSpPr>
        <p:spPr>
          <a:xfrm>
            <a:off x="723130" y="1062783"/>
            <a:ext cx="6300000" cy="111208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레일"/>
          <p:cNvSpPr/>
          <p:nvPr/>
        </p:nvSpPr>
        <p:spPr>
          <a:xfrm>
            <a:off x="734087" y="1079217"/>
            <a:ext cx="580696" cy="26843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079217"/>
            <a:ext cx="580696" cy="268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3"/>
          </p:nvPr>
        </p:nvSpPr>
        <p:spPr>
          <a:xfrm>
            <a:off x="1358609" y="1101130"/>
            <a:ext cx="5626174" cy="241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멘토·멘티 모두의 참여 의지를 향상할 수 있는 지원 확대로 제도 실효성 개선</a:t>
            </a:r>
          </a:p>
        </p:txBody>
      </p:sp>
      <p:sp>
        <p:nvSpPr>
          <p:cNvPr id="17" name="레일"/>
          <p:cNvSpPr/>
          <p:nvPr/>
        </p:nvSpPr>
        <p:spPr>
          <a:xfrm>
            <a:off x="734087" y="1364087"/>
            <a:ext cx="580696" cy="794348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4"/>
          </p:nvPr>
        </p:nvSpPr>
        <p:spPr>
          <a:xfrm>
            <a:off x="734087" y="1364087"/>
            <a:ext cx="580696" cy="79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추진내용</a:t>
            </a:r>
          </a:p>
        </p:txBody>
      </p:sp>
      <p:sp>
        <p:nvSpPr>
          <p:cNvPr id="19" name="레일 삼각형"/>
          <p:cNvSpPr/>
          <p:nvPr/>
        </p:nvSpPr>
        <p:spPr>
          <a:xfrm>
            <a:off x="734086" y="1364086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0" name="머리칸"/>
          <p:cNvSpPr/>
          <p:nvPr/>
        </p:nvSpPr>
        <p:spPr>
          <a:xfrm>
            <a:off x="1347652" y="138600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1" name="머리칸"/>
          <p:cNvSpPr>
            <a:spLocks noGrp="1"/>
          </p:cNvSpPr>
          <p:nvPr>
            <p:ph type="body" sz="quarter" idx="25"/>
          </p:nvPr>
        </p:nvSpPr>
        <p:spPr>
          <a:xfrm>
            <a:off x="1347652" y="138600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멘토 장학금 지원 내실화</a:t>
            </a:r>
          </a:p>
        </p:txBody>
      </p:sp>
      <p:sp>
        <p:nvSpPr>
          <p:cNvPr id="22" name="머리칸"/>
          <p:cNvSpPr/>
          <p:nvPr/>
        </p:nvSpPr>
        <p:spPr>
          <a:xfrm>
            <a:off x="3230348" y="138600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3" name="머리칸"/>
          <p:cNvSpPr>
            <a:spLocks noGrp="1"/>
          </p:cNvSpPr>
          <p:nvPr>
            <p:ph type="body" sz="quarter" idx="26"/>
          </p:nvPr>
        </p:nvSpPr>
        <p:spPr>
          <a:xfrm>
            <a:off x="3230348" y="138600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멘토 취업 지원 확대</a:t>
            </a:r>
          </a:p>
        </p:txBody>
      </p:sp>
      <p:sp>
        <p:nvSpPr>
          <p:cNvPr id="24" name="머리칸"/>
          <p:cNvSpPr/>
          <p:nvPr/>
        </p:nvSpPr>
        <p:spPr>
          <a:xfrm>
            <a:off x="5113043" y="138600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5" name="머리칸"/>
          <p:cNvSpPr>
            <a:spLocks noGrp="1"/>
          </p:cNvSpPr>
          <p:nvPr>
            <p:ph type="body" sz="quarter" idx="27"/>
          </p:nvPr>
        </p:nvSpPr>
        <p:spPr>
          <a:xfrm>
            <a:off x="5113043" y="138600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멘티 고교 진로도 멘토링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8"/>
          </p:nvPr>
        </p:nvSpPr>
        <p:spPr>
          <a:xfrm>
            <a:off x="1358609" y="1627043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캠퍼스별 이동 거리에 따라 실비를 차등 지급(1.5~2.5만원)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실질적 활동 보상 부여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29"/>
          </p:nvPr>
        </p:nvSpPr>
        <p:spPr>
          <a:xfrm>
            <a:off x="3241304" y="1627043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활동 우수자 취업 컨설팅 및 취업 지원비(350만원)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멘토의 참여 의욕 강화</a:t>
            </a:r>
          </a:p>
        </p:txBody>
      </p:sp>
      <p:cxnSp>
        <p:nvCxnSpPr>
          <p:cNvPr id="28" name="Connector 16"/>
          <p:cNvCxnSpPr/>
          <p:nvPr/>
        </p:nvCxnSpPr>
        <p:spPr>
          <a:xfrm>
            <a:off x="3230348" y="1659913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9" name="칸 본문"/>
          <p:cNvSpPr>
            <a:spLocks noGrp="1"/>
          </p:cNvSpPr>
          <p:nvPr>
            <p:ph type="body" sz="quarter" idx="30"/>
          </p:nvPr>
        </p:nvSpPr>
        <p:spPr>
          <a:xfrm>
            <a:off x="5124000" y="1627043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초등학생 중심에서 고교생 진로상담까지 확장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실질적 멘토링 효과 제고</a:t>
            </a:r>
          </a:p>
        </p:txBody>
      </p:sp>
      <p:cxnSp>
        <p:nvCxnSpPr>
          <p:cNvPr id="30" name="Connector 18"/>
          <p:cNvCxnSpPr/>
          <p:nvPr/>
        </p:nvCxnSpPr>
        <p:spPr>
          <a:xfrm>
            <a:off x="5113043" y="1659913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핵심성과 박스"/>
          <p:cNvSpPr/>
          <p:nvPr/>
        </p:nvSpPr>
        <p:spPr>
          <a:xfrm>
            <a:off x="723130" y="2262522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2" name="핵심성과 라벨"/>
          <p:cNvSpPr/>
          <p:nvPr/>
        </p:nvSpPr>
        <p:spPr>
          <a:xfrm>
            <a:off x="756000" y="2300870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33" name="핵심성과 라벨"/>
          <p:cNvSpPr>
            <a:spLocks noGrp="1"/>
          </p:cNvSpPr>
          <p:nvPr>
            <p:ph type="body" sz="quarter" idx="31"/>
          </p:nvPr>
        </p:nvSpPr>
        <p:spPr>
          <a:xfrm>
            <a:off x="756000" y="2300870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4" name="핵심성과 문구"/>
          <p:cNvSpPr>
            <a:spLocks noGrp="1"/>
          </p:cNvSpPr>
          <p:nvPr>
            <p:ph type="body" sz="quarter" idx="32"/>
          </p:nvPr>
        </p:nvSpPr>
        <p:spPr>
          <a:xfrm>
            <a:off x="1501043" y="2278957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대학생 28명 및 멘티 243명 참여, 멘토 1인은 적성을 발견 ➡ 교육대학원 진학 성공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15 서사 · 안전체험교육관 개방 확대(국민 개방 → 체감 확대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문턱은 낮추고 체감 가치는 한층 높인 K-water 공간 개방</a:t>
            </a:r>
          </a:p>
        </p:txBody>
      </p:sp>
      <p:sp>
        <p:nvSpPr>
          <p:cNvPr id="15" name="형광 밑줄"/>
          <p:cNvSpPr/>
          <p:nvPr/>
        </p:nvSpPr>
        <p:spPr>
          <a:xfrm>
            <a:off x="536870" y="1347652"/>
            <a:ext cx="4196841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소제목"/>
          <p:cNvSpPr>
            <a:spLocks noGrp="1"/>
          </p:cNvSpPr>
          <p:nvPr>
            <p:ph type="body" sz="quarter" idx="22"/>
          </p:nvPr>
        </p:nvSpPr>
        <p:spPr>
          <a:xfrm>
            <a:off x="536870" y="1194261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국민과 함께 나누는 안전의식, ‘K-water 안전체험교육관’ 개방 확대</a:t>
            </a:r>
          </a:p>
        </p:txBody>
      </p:sp>
      <p:sp>
        <p:nvSpPr>
          <p:cNvPr id="17" name="태그칩"/>
          <p:cNvSpPr/>
          <p:nvPr/>
        </p:nvSpPr>
        <p:spPr>
          <a:xfrm>
            <a:off x="4832319" y="1227130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태그칩"/>
          <p:cNvSpPr>
            <a:spLocks noGrp="1"/>
          </p:cNvSpPr>
          <p:nvPr>
            <p:ph type="body" sz="quarter" idx="23"/>
          </p:nvPr>
        </p:nvSpPr>
        <p:spPr>
          <a:xfrm>
            <a:off x="4832319" y="1227130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9" name="태그칩"/>
          <p:cNvSpPr/>
          <p:nvPr/>
        </p:nvSpPr>
        <p:spPr>
          <a:xfrm>
            <a:off x="5383440" y="1227130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태그칩"/>
          <p:cNvSpPr>
            <a:spLocks noGrp="1"/>
          </p:cNvSpPr>
          <p:nvPr>
            <p:ph type="body" sz="quarter" idx="24"/>
          </p:nvPr>
        </p:nvSpPr>
        <p:spPr>
          <a:xfrm>
            <a:off x="5383440" y="1227130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21" name="표 외곽"/>
          <p:cNvSpPr/>
          <p:nvPr/>
        </p:nvSpPr>
        <p:spPr>
          <a:xfrm>
            <a:off x="536870" y="1479130"/>
            <a:ext cx="6300000" cy="152843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2" name="레일"/>
          <p:cNvSpPr/>
          <p:nvPr/>
        </p:nvSpPr>
        <p:spPr>
          <a:xfrm>
            <a:off x="547826" y="1495565"/>
            <a:ext cx="580696" cy="542348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3" name="레일"/>
          <p:cNvSpPr>
            <a:spLocks noGrp="1"/>
          </p:cNvSpPr>
          <p:nvPr>
            <p:ph type="body" sz="quarter" idx="25"/>
          </p:nvPr>
        </p:nvSpPr>
        <p:spPr>
          <a:xfrm>
            <a:off x="547826" y="1495565"/>
            <a:ext cx="580696" cy="542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국 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 방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6"/>
          </p:nvPr>
        </p:nvSpPr>
        <p:spPr>
          <a:xfrm>
            <a:off x="1172348" y="1517478"/>
            <a:ext cx="2802130" cy="514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2024년 직원·단체 대상 시설 운영을 통해 교육인프라 실효성 우선 검증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산업안전보건공단 인증(’24.9) 획득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3996391" y="1517478"/>
            <a:ext cx="2802130" cy="514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2025년 정부 체험형 안전교육 확대 기조, 국민 관심 증대로 대외 체험 수요 증가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기관 중심 운영에서 대국민 개방(’25.8~)</a:t>
            </a:r>
          </a:p>
        </p:txBody>
      </p:sp>
      <p:cxnSp>
        <p:nvCxnSpPr>
          <p:cNvPr id="26" name="Connector 19"/>
          <p:cNvCxnSpPr/>
          <p:nvPr/>
        </p:nvCxnSpPr>
        <p:spPr>
          <a:xfrm>
            <a:off x="3985435" y="1550348"/>
            <a:ext cx="0" cy="44921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7" name="레일"/>
          <p:cNvSpPr/>
          <p:nvPr/>
        </p:nvSpPr>
        <p:spPr>
          <a:xfrm>
            <a:off x="547826" y="2054348"/>
            <a:ext cx="580696" cy="93678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8" name="레일"/>
          <p:cNvSpPr>
            <a:spLocks noGrp="1"/>
          </p:cNvSpPr>
          <p:nvPr>
            <p:ph type="body" sz="quarter" idx="28"/>
          </p:nvPr>
        </p:nvSpPr>
        <p:spPr>
          <a:xfrm>
            <a:off x="547826" y="2054348"/>
            <a:ext cx="580696" cy="936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 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 대</a:t>
            </a:r>
          </a:p>
        </p:txBody>
      </p:sp>
      <p:sp>
        <p:nvSpPr>
          <p:cNvPr id="29" name="레일 삼각형"/>
          <p:cNvSpPr/>
          <p:nvPr/>
        </p:nvSpPr>
        <p:spPr>
          <a:xfrm>
            <a:off x="547826" y="2054347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0" name="단계"/>
          <p:cNvSpPr/>
          <p:nvPr/>
        </p:nvSpPr>
        <p:spPr>
          <a:xfrm>
            <a:off x="1161391" y="2076261"/>
            <a:ext cx="282404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1" name="단계"/>
          <p:cNvSpPr>
            <a:spLocks noGrp="1"/>
          </p:cNvSpPr>
          <p:nvPr>
            <p:ph type="body" sz="quarter" idx="29"/>
          </p:nvPr>
        </p:nvSpPr>
        <p:spPr>
          <a:xfrm>
            <a:off x="1161391" y="2076261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맞춤형 체험프로그램</a:t>
            </a:r>
          </a:p>
        </p:txBody>
      </p:sp>
      <p:sp>
        <p:nvSpPr>
          <p:cNvPr id="32" name="단계"/>
          <p:cNvSpPr/>
          <p:nvPr/>
        </p:nvSpPr>
        <p:spPr>
          <a:xfrm>
            <a:off x="3985435" y="2076261"/>
            <a:ext cx="2824043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3" name="단계"/>
          <p:cNvSpPr>
            <a:spLocks noGrp="1"/>
          </p:cNvSpPr>
          <p:nvPr>
            <p:ph type="body" sz="quarter" idx="30"/>
          </p:nvPr>
        </p:nvSpPr>
        <p:spPr>
          <a:xfrm>
            <a:off x="3985435" y="2076261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참여신청 채널 확대</a:t>
            </a:r>
          </a:p>
        </p:txBody>
      </p:sp>
      <p:sp>
        <p:nvSpPr>
          <p:cNvPr id="34" name="단계 삼각형"/>
          <p:cNvSpPr/>
          <p:nvPr/>
        </p:nvSpPr>
        <p:spPr>
          <a:xfrm>
            <a:off x="3985434" y="2076260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1"/>
          </p:nvPr>
        </p:nvSpPr>
        <p:spPr>
          <a:xfrm>
            <a:off x="1172348" y="2328261"/>
            <a:ext cx="2802130" cy="657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설문조사 기반 이용자 수요중심 체험 구성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화재진압·비상대피·VR 등 실감형 콘텐츠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학생·외국인·고령자 등 방문객 눈높이 교육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2"/>
          </p:nvPr>
        </p:nvSpPr>
        <p:spPr>
          <a:xfrm>
            <a:off x="3996391" y="2328261"/>
            <a:ext cx="2802130" cy="657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정부포털 활용 시설 이용·예약 안내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국민안전교육플랫폼, 노동부 산업안전포털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SNS(유튜브 등) 홍보 및 기관협업 활성화</a:t>
            </a:r>
          </a:p>
        </p:txBody>
      </p:sp>
      <p:cxnSp>
        <p:nvCxnSpPr>
          <p:cNvPr id="37" name="Connector 27"/>
          <p:cNvCxnSpPr/>
          <p:nvPr/>
        </p:nvCxnSpPr>
        <p:spPr>
          <a:xfrm>
            <a:off x="3985435" y="2361130"/>
            <a:ext cx="0" cy="59165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8" name="핵심성과 박스"/>
          <p:cNvSpPr/>
          <p:nvPr/>
        </p:nvSpPr>
        <p:spPr>
          <a:xfrm>
            <a:off x="536870" y="3095217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9" name="핵심성과 라벨"/>
          <p:cNvSpPr/>
          <p:nvPr/>
        </p:nvSpPr>
        <p:spPr>
          <a:xfrm>
            <a:off x="569739" y="3133565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40" name="핵심성과 라벨"/>
          <p:cNvSpPr>
            <a:spLocks noGrp="1"/>
          </p:cNvSpPr>
          <p:nvPr>
            <p:ph type="body" sz="quarter" idx="33"/>
          </p:nvPr>
        </p:nvSpPr>
        <p:spPr>
          <a:xfrm>
            <a:off x="569739" y="3133565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1" name="핵심성과 문구"/>
          <p:cNvSpPr>
            <a:spLocks noGrp="1"/>
          </p:cNvSpPr>
          <p:nvPr>
            <p:ph type="body" sz="quarter" idx="34"/>
          </p:nvPr>
        </p:nvSpPr>
        <p:spPr>
          <a:xfrm>
            <a:off x="1314783" y="3111652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대국민 개방 원년 외부객 5배 증가(131 → 664명), 시설 홍보 영상 조회수 10만회↑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16 서사 · 수변공간 여가와 만남의 장(강변 자전거길 · 아라뱃길 터미널 · 남강댐 물문화관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3844020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댐·하천 수변공간을 일상 속 여가와 만남의 장으로 국민과 공유</a:t>
            </a:r>
          </a:p>
        </p:txBody>
      </p:sp>
      <p:sp>
        <p:nvSpPr>
          <p:cNvPr id="11" name="태그칩"/>
          <p:cNvSpPr/>
          <p:nvPr/>
        </p:nvSpPr>
        <p:spPr>
          <a:xfrm>
            <a:off x="4665759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4665759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태그칩"/>
          <p:cNvSpPr/>
          <p:nvPr/>
        </p:nvSpPr>
        <p:spPr>
          <a:xfrm>
            <a:off x="5216880" y="810783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4" name="태그칩"/>
          <p:cNvSpPr>
            <a:spLocks noGrp="1"/>
          </p:cNvSpPr>
          <p:nvPr>
            <p:ph type="body" sz="quarter" idx="22"/>
          </p:nvPr>
        </p:nvSpPr>
        <p:spPr>
          <a:xfrm>
            <a:off x="5216880" y="810783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5" name="표 외곽"/>
          <p:cNvSpPr/>
          <p:nvPr/>
        </p:nvSpPr>
        <p:spPr>
          <a:xfrm>
            <a:off x="723130" y="1062783"/>
            <a:ext cx="6300000" cy="4691113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레일"/>
          <p:cNvSpPr/>
          <p:nvPr/>
        </p:nvSpPr>
        <p:spPr>
          <a:xfrm>
            <a:off x="734087" y="1079217"/>
            <a:ext cx="580696" cy="160669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 태그"/>
          <p:cNvSpPr/>
          <p:nvPr/>
        </p:nvSpPr>
        <p:spPr>
          <a:xfrm>
            <a:off x="634868" y="1123043"/>
            <a:ext cx="779134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18" name="레일 태그"/>
          <p:cNvSpPr>
            <a:spLocks noGrp="1"/>
          </p:cNvSpPr>
          <p:nvPr>
            <p:ph type="body" sz="quarter" idx="23"/>
          </p:nvPr>
        </p:nvSpPr>
        <p:spPr>
          <a:xfrm>
            <a:off x="634868" y="1123043"/>
            <a:ext cx="779134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국민체육공간</a:t>
            </a:r>
          </a:p>
        </p:txBody>
      </p:sp>
      <p:sp>
        <p:nvSpPr>
          <p:cNvPr id="19" name="레일 라벨"/>
          <p:cNvSpPr>
            <a:spLocks noGrp="1"/>
          </p:cNvSpPr>
          <p:nvPr>
            <p:ph type="body" sz="quarter" idx="24"/>
          </p:nvPr>
        </p:nvSpPr>
        <p:spPr>
          <a:xfrm>
            <a:off x="734087" y="1309304"/>
            <a:ext cx="580696" cy="1354696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자전거길</a:t>
            </a:r>
          </a:p>
        </p:txBody>
      </p:sp>
      <p:sp>
        <p:nvSpPr>
          <p:cNvPr id="20" name="배너"/>
          <p:cNvSpPr/>
          <p:nvPr/>
        </p:nvSpPr>
        <p:spPr>
          <a:xfrm>
            <a:off x="1347652" y="1101130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1" name="배너"/>
          <p:cNvSpPr>
            <a:spLocks noGrp="1"/>
          </p:cNvSpPr>
          <p:nvPr>
            <p:ph type="body" sz="quarter" idx="25"/>
          </p:nvPr>
        </p:nvSpPr>
        <p:spPr>
          <a:xfrm>
            <a:off x="1347652" y="1101130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러닝 열풍에 맞춰, 물길 따라 달리는 지역활력 ‘리버런’(RiverRun) 런칭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6"/>
          </p:nvPr>
        </p:nvSpPr>
        <p:spPr>
          <a:xfrm>
            <a:off x="1358609" y="1336696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현황 러닝 인구 천만 시대, 지방의 러닝 인프라는 여전히 부족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7"/>
          </p:nvPr>
        </p:nvSpPr>
        <p:spPr>
          <a:xfrm>
            <a:off x="4182652" y="1336696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“시민들이 즐겨찾는 강변 자전거길에 러닝코스를 만들면 더욱 사랑받는 공간이 되겠지?”</a:t>
            </a:r>
          </a:p>
        </p:txBody>
      </p:sp>
      <p:cxnSp>
        <p:nvCxnSpPr>
          <p:cNvPr id="24" name="Connector 14"/>
          <p:cNvCxnSpPr/>
          <p:nvPr/>
        </p:nvCxnSpPr>
        <p:spPr>
          <a:xfrm>
            <a:off x="4171696" y="1369565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5" name="단계"/>
          <p:cNvSpPr/>
          <p:nvPr/>
        </p:nvSpPr>
        <p:spPr>
          <a:xfrm>
            <a:off x="1347652" y="1690122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6" name="단계"/>
          <p:cNvSpPr>
            <a:spLocks noGrp="1"/>
          </p:cNvSpPr>
          <p:nvPr>
            <p:ph type="body" sz="quarter" idx="28"/>
          </p:nvPr>
        </p:nvSpPr>
        <p:spPr>
          <a:xfrm>
            <a:off x="1347652" y="1690122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코스를 선정하고</a:t>
            </a:r>
          </a:p>
        </p:txBody>
      </p:sp>
      <p:sp>
        <p:nvSpPr>
          <p:cNvPr id="27" name="단계"/>
          <p:cNvSpPr/>
          <p:nvPr/>
        </p:nvSpPr>
        <p:spPr>
          <a:xfrm>
            <a:off x="3230348" y="1690122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8" name="단계"/>
          <p:cNvSpPr>
            <a:spLocks noGrp="1"/>
          </p:cNvSpPr>
          <p:nvPr>
            <p:ph type="body" sz="quarter" idx="29"/>
          </p:nvPr>
        </p:nvSpPr>
        <p:spPr>
          <a:xfrm>
            <a:off x="3230348" y="1690122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러닝코스를 디자인해서</a:t>
            </a:r>
          </a:p>
        </p:txBody>
      </p:sp>
      <p:sp>
        <p:nvSpPr>
          <p:cNvPr id="29" name="단계"/>
          <p:cNvSpPr/>
          <p:nvPr/>
        </p:nvSpPr>
        <p:spPr>
          <a:xfrm>
            <a:off x="5113043" y="1690122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0" name="단계"/>
          <p:cNvSpPr>
            <a:spLocks noGrp="1"/>
          </p:cNvSpPr>
          <p:nvPr>
            <p:ph type="body" sz="quarter" idx="30"/>
          </p:nvPr>
        </p:nvSpPr>
        <p:spPr>
          <a:xfrm>
            <a:off x="5113043" y="1690122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강변 러닝 활성화까지</a:t>
            </a:r>
          </a:p>
        </p:txBody>
      </p:sp>
      <p:sp>
        <p:nvSpPr>
          <p:cNvPr id="31" name="단계 삼각형"/>
          <p:cNvSpPr/>
          <p:nvPr/>
        </p:nvSpPr>
        <p:spPr>
          <a:xfrm>
            <a:off x="3230347" y="1690121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2" name="단계 삼각형"/>
          <p:cNvSpPr/>
          <p:nvPr/>
        </p:nvSpPr>
        <p:spPr>
          <a:xfrm>
            <a:off x="5113043" y="1690121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1"/>
          </p:nvPr>
        </p:nvSpPr>
        <p:spPr>
          <a:xfrm>
            <a:off x="1358609" y="1942122"/>
            <a:ext cx="1860783" cy="5027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 인프라와 자연·문화유산 연계, 코스 설계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보 인접 자전거 종주길 활용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2"/>
          </p:nvPr>
        </p:nvSpPr>
        <p:spPr>
          <a:xfrm>
            <a:off x="3241304" y="1942122"/>
            <a:ext cx="1860783" cy="5027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유역별 러닝 테마와 스타터코스 정비·개방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국민디자인단, 러닝크루 참여</a:t>
            </a:r>
          </a:p>
        </p:txBody>
      </p:sp>
      <p:cxnSp>
        <p:nvCxnSpPr>
          <p:cNvPr id="35" name="Connector 22"/>
          <p:cNvCxnSpPr/>
          <p:nvPr/>
        </p:nvCxnSpPr>
        <p:spPr>
          <a:xfrm>
            <a:off x="3230348" y="1974991"/>
            <a:ext cx="0" cy="4370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6" name="칸 본문"/>
          <p:cNvSpPr>
            <a:spLocks noGrp="1"/>
          </p:cNvSpPr>
          <p:nvPr>
            <p:ph type="body" sz="quarter" idx="33"/>
          </p:nvPr>
        </p:nvSpPr>
        <p:spPr>
          <a:xfrm>
            <a:off x="5124000" y="1942122"/>
            <a:ext cx="1860783" cy="5027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리버런 마라톤대회(2백명)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코스 인증제, 온라인 채널 개설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러닝 동호회 협업 홍보</a:t>
            </a:r>
          </a:p>
        </p:txBody>
      </p:sp>
      <p:cxnSp>
        <p:nvCxnSpPr>
          <p:cNvPr id="37" name="Connector 24"/>
          <p:cNvCxnSpPr/>
          <p:nvPr/>
        </p:nvCxnSpPr>
        <p:spPr>
          <a:xfrm>
            <a:off x="5113043" y="1974991"/>
            <a:ext cx="0" cy="4370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8" name="배너"/>
          <p:cNvSpPr/>
          <p:nvPr/>
        </p:nvSpPr>
        <p:spPr>
          <a:xfrm>
            <a:off x="1347652" y="2461304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9" name="배너"/>
          <p:cNvSpPr>
            <a:spLocks noGrp="1"/>
          </p:cNvSpPr>
          <p:nvPr>
            <p:ph type="body" sz="quarter" idx="34"/>
          </p:nvPr>
        </p:nvSpPr>
        <p:spPr>
          <a:xfrm>
            <a:off x="1347652" y="2461304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RiverRun 2025년 공공기관 대국민 체감형 서비스 개선과제 선정(재경부, ’25.9)</a:t>
            </a:r>
          </a:p>
        </p:txBody>
      </p:sp>
      <p:sp>
        <p:nvSpPr>
          <p:cNvPr id="40" name="레일"/>
          <p:cNvSpPr/>
          <p:nvPr/>
        </p:nvSpPr>
        <p:spPr>
          <a:xfrm>
            <a:off x="734087" y="2702348"/>
            <a:ext cx="580696" cy="1509339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1" name="레일 태그"/>
          <p:cNvSpPr/>
          <p:nvPr/>
        </p:nvSpPr>
        <p:spPr>
          <a:xfrm>
            <a:off x="634868" y="2866696"/>
            <a:ext cx="779134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2" name="레일 태그"/>
          <p:cNvSpPr>
            <a:spLocks noGrp="1"/>
          </p:cNvSpPr>
          <p:nvPr>
            <p:ph type="body" sz="quarter" idx="35"/>
          </p:nvPr>
        </p:nvSpPr>
        <p:spPr>
          <a:xfrm>
            <a:off x="634868" y="2866696"/>
            <a:ext cx="779134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복합문화공간</a:t>
            </a:r>
          </a:p>
        </p:txBody>
      </p:sp>
      <p:sp>
        <p:nvSpPr>
          <p:cNvPr id="43" name="레일 라벨"/>
          <p:cNvSpPr>
            <a:spLocks noGrp="1"/>
          </p:cNvSpPr>
          <p:nvPr>
            <p:ph type="body" sz="quarter" idx="36"/>
          </p:nvPr>
        </p:nvSpPr>
        <p:spPr>
          <a:xfrm>
            <a:off x="734087" y="3052957"/>
            <a:ext cx="580696" cy="1136817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아라뱃길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터 미 널</a:t>
            </a:r>
          </a:p>
        </p:txBody>
      </p:sp>
      <p:sp>
        <p:nvSpPr>
          <p:cNvPr id="44" name="레일 삼각형"/>
          <p:cNvSpPr/>
          <p:nvPr/>
        </p:nvSpPr>
        <p:spPr>
          <a:xfrm>
            <a:off x="734086" y="2702347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5" name="배너"/>
          <p:cNvSpPr/>
          <p:nvPr/>
        </p:nvSpPr>
        <p:spPr>
          <a:xfrm>
            <a:off x="1347652" y="2724261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6" name="배너"/>
          <p:cNvSpPr>
            <a:spLocks noGrp="1"/>
          </p:cNvSpPr>
          <p:nvPr>
            <p:ph type="body" sz="quarter" idx="37"/>
          </p:nvPr>
        </p:nvSpPr>
        <p:spPr>
          <a:xfrm>
            <a:off x="1347652" y="2724261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관광객과 지역민이 함께 즐기고 체험하는 열린 공간, ‘에이맵’ 출범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38"/>
          </p:nvPr>
        </p:nvSpPr>
        <p:spPr>
          <a:xfrm>
            <a:off x="1358609" y="2959826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현황 ‘아라뱃길 여객터미널’, 수변 공간 가치 대비 시설 활용도 저조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39"/>
          </p:nvPr>
        </p:nvSpPr>
        <p:spPr>
          <a:xfrm>
            <a:off x="4182652" y="2959826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“‘라이더의 성지’ 아라뱃길, 터미널이 복합문화 거점으로 다양하게 활용될 수는 없을까?”</a:t>
            </a:r>
          </a:p>
        </p:txBody>
      </p:sp>
      <p:cxnSp>
        <p:nvCxnSpPr>
          <p:cNvPr id="49" name="Connector 33"/>
          <p:cNvCxnSpPr/>
          <p:nvPr/>
        </p:nvCxnSpPr>
        <p:spPr>
          <a:xfrm>
            <a:off x="4171696" y="2992696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0" name="머리칸"/>
          <p:cNvSpPr/>
          <p:nvPr/>
        </p:nvSpPr>
        <p:spPr>
          <a:xfrm>
            <a:off x="1347652" y="331325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1" name="머리칸"/>
          <p:cNvSpPr>
            <a:spLocks noGrp="1"/>
          </p:cNvSpPr>
          <p:nvPr>
            <p:ph type="body" sz="quarter" idx="40"/>
          </p:nvPr>
        </p:nvSpPr>
        <p:spPr>
          <a:xfrm>
            <a:off x="1347652" y="331325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라이딩 라운지 신설</a:t>
            </a:r>
          </a:p>
        </p:txBody>
      </p:sp>
      <p:sp>
        <p:nvSpPr>
          <p:cNvPr id="52" name="머리칸"/>
          <p:cNvSpPr/>
          <p:nvPr/>
        </p:nvSpPr>
        <p:spPr>
          <a:xfrm>
            <a:off x="3230348" y="331325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3" name="머리칸"/>
          <p:cNvSpPr>
            <a:spLocks noGrp="1"/>
          </p:cNvSpPr>
          <p:nvPr>
            <p:ph type="body" sz="quarter" idx="41"/>
          </p:nvPr>
        </p:nvSpPr>
        <p:spPr>
          <a:xfrm>
            <a:off x="3230348" y="331325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아트갤러리 조성</a:t>
            </a:r>
          </a:p>
        </p:txBody>
      </p:sp>
      <p:sp>
        <p:nvSpPr>
          <p:cNvPr id="54" name="머리칸"/>
          <p:cNvSpPr/>
          <p:nvPr/>
        </p:nvSpPr>
        <p:spPr>
          <a:xfrm>
            <a:off x="5113043" y="331325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5" name="머리칸"/>
          <p:cNvSpPr>
            <a:spLocks noGrp="1"/>
          </p:cNvSpPr>
          <p:nvPr>
            <p:ph type="body" sz="quarter" idx="42"/>
          </p:nvPr>
        </p:nvSpPr>
        <p:spPr>
          <a:xfrm>
            <a:off x="5113043" y="331325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관광 연계형 축제 개최</a:t>
            </a:r>
          </a:p>
        </p:txBody>
      </p:sp>
      <p:sp>
        <p:nvSpPr>
          <p:cNvPr id="56" name="칸 본문"/>
          <p:cNvSpPr>
            <a:spLocks noGrp="1"/>
          </p:cNvSpPr>
          <p:nvPr>
            <p:ph type="body" sz="quarter" idx="43"/>
          </p:nvPr>
        </p:nvSpPr>
        <p:spPr>
          <a:xfrm>
            <a:off x="1358609" y="3554296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장애인 실내영상 라이딩 및 어린이 교육장비 설치</a:t>
            </a:r>
          </a:p>
        </p:txBody>
      </p:sp>
      <p:sp>
        <p:nvSpPr>
          <p:cNvPr id="57" name="칸 본문"/>
          <p:cNvSpPr>
            <a:spLocks noGrp="1"/>
          </p:cNvSpPr>
          <p:nvPr>
            <p:ph type="body" sz="quarter" idx="44"/>
          </p:nvPr>
        </p:nvSpPr>
        <p:spPr>
          <a:xfrm>
            <a:off x="3241304" y="3554296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지역청년, 해외작가 전시 등 문화예술 공간 활용</a:t>
            </a:r>
          </a:p>
        </p:txBody>
      </p:sp>
      <p:cxnSp>
        <p:nvCxnSpPr>
          <p:cNvPr id="58" name="Connector 39"/>
          <p:cNvCxnSpPr/>
          <p:nvPr/>
        </p:nvCxnSpPr>
        <p:spPr>
          <a:xfrm>
            <a:off x="3230348" y="3587165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9" name="칸 본문"/>
          <p:cNvSpPr>
            <a:spLocks noGrp="1"/>
          </p:cNvSpPr>
          <p:nvPr>
            <p:ph type="body" sz="quarter" idx="45"/>
          </p:nvPr>
        </p:nvSpPr>
        <p:spPr>
          <a:xfrm>
            <a:off x="5124000" y="3554296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카약 축제(6.5천명)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크루즈 러닝페스타(3백명)</a:t>
            </a:r>
          </a:p>
        </p:txBody>
      </p:sp>
      <p:cxnSp>
        <p:nvCxnSpPr>
          <p:cNvPr id="60" name="Connector 41"/>
          <p:cNvCxnSpPr/>
          <p:nvPr/>
        </p:nvCxnSpPr>
        <p:spPr>
          <a:xfrm>
            <a:off x="5113043" y="3587165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1" name="배너"/>
          <p:cNvSpPr/>
          <p:nvPr/>
        </p:nvSpPr>
        <p:spPr>
          <a:xfrm>
            <a:off x="1347652" y="3987078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62" name="배너"/>
          <p:cNvSpPr>
            <a:spLocks noGrp="1"/>
          </p:cNvSpPr>
          <p:nvPr>
            <p:ph type="body" sz="quarter" idx="46"/>
          </p:nvPr>
        </p:nvSpPr>
        <p:spPr>
          <a:xfrm>
            <a:off x="1347652" y="3987078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지역특화형 체육문화 프로그램 다양화로 방문객 1.5만명 유입</a:t>
            </a:r>
          </a:p>
        </p:txBody>
      </p:sp>
      <p:sp>
        <p:nvSpPr>
          <p:cNvPr id="63" name="레일"/>
          <p:cNvSpPr/>
          <p:nvPr/>
        </p:nvSpPr>
        <p:spPr>
          <a:xfrm>
            <a:off x="734087" y="4228122"/>
            <a:ext cx="580696" cy="1509339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4" name="레일 태그"/>
          <p:cNvSpPr/>
          <p:nvPr/>
        </p:nvSpPr>
        <p:spPr>
          <a:xfrm>
            <a:off x="525099" y="4392470"/>
            <a:ext cx="998671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65" name="레일 태그"/>
          <p:cNvSpPr>
            <a:spLocks noGrp="1"/>
          </p:cNvSpPr>
          <p:nvPr>
            <p:ph type="body" sz="quarter" idx="47"/>
          </p:nvPr>
        </p:nvSpPr>
        <p:spPr>
          <a:xfrm>
            <a:off x="525099" y="4392470"/>
            <a:ext cx="998671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지역커뮤니티공간</a:t>
            </a:r>
          </a:p>
        </p:txBody>
      </p:sp>
      <p:sp>
        <p:nvSpPr>
          <p:cNvPr id="66" name="레일 라벨"/>
          <p:cNvSpPr>
            <a:spLocks noGrp="1"/>
          </p:cNvSpPr>
          <p:nvPr>
            <p:ph type="body" sz="quarter" idx="48"/>
          </p:nvPr>
        </p:nvSpPr>
        <p:spPr>
          <a:xfrm>
            <a:off x="734087" y="4578730"/>
            <a:ext cx="580696" cy="1136817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남 강 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물문화관</a:t>
            </a:r>
          </a:p>
        </p:txBody>
      </p:sp>
      <p:sp>
        <p:nvSpPr>
          <p:cNvPr id="67" name="레일 삼각형"/>
          <p:cNvSpPr/>
          <p:nvPr/>
        </p:nvSpPr>
        <p:spPr>
          <a:xfrm>
            <a:off x="734086" y="4228121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8" name="배너"/>
          <p:cNvSpPr/>
          <p:nvPr/>
        </p:nvSpPr>
        <p:spPr>
          <a:xfrm>
            <a:off x="1347652" y="4250035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69" name="배너"/>
          <p:cNvSpPr>
            <a:spLocks noGrp="1"/>
          </p:cNvSpPr>
          <p:nvPr>
            <p:ph type="body" sz="quarter" idx="49"/>
          </p:nvPr>
        </p:nvSpPr>
        <p:spPr>
          <a:xfrm>
            <a:off x="1347652" y="4250035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물문화관 공간에 주민의 스토리를 덧입혀 지역 커뮤니티 공간으로 탈바꿈</a:t>
            </a:r>
          </a:p>
        </p:txBody>
      </p:sp>
      <p:sp>
        <p:nvSpPr>
          <p:cNvPr id="70" name="칸 본문"/>
          <p:cNvSpPr>
            <a:spLocks noGrp="1"/>
          </p:cNvSpPr>
          <p:nvPr>
            <p:ph type="body" sz="quarter" idx="50"/>
          </p:nvPr>
        </p:nvSpPr>
        <p:spPr>
          <a:xfrm>
            <a:off x="1358609" y="4485600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현황 댐의 역할 및 수자원 가치에 대한 대국민 교육·홍보 중심 운영</a:t>
            </a:r>
          </a:p>
        </p:txBody>
      </p:sp>
      <p:sp>
        <p:nvSpPr>
          <p:cNvPr id="71" name="칸 본문"/>
          <p:cNvSpPr>
            <a:spLocks noGrp="1"/>
          </p:cNvSpPr>
          <p:nvPr>
            <p:ph type="body" sz="quarter" idx="51"/>
          </p:nvPr>
        </p:nvSpPr>
        <p:spPr>
          <a:xfrm>
            <a:off x="4182652" y="4485600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“홍보와 지식 전달의 장을 넘어, 주민의 일상과 꿈이 머무는 ‘상생이음터’까지 나아가면 어떨까?”</a:t>
            </a:r>
          </a:p>
        </p:txBody>
      </p:sp>
      <p:cxnSp>
        <p:nvCxnSpPr>
          <p:cNvPr id="72" name="Connector 50"/>
          <p:cNvCxnSpPr/>
          <p:nvPr/>
        </p:nvCxnSpPr>
        <p:spPr>
          <a:xfrm>
            <a:off x="4171696" y="4518470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3" name="머리칸"/>
          <p:cNvSpPr/>
          <p:nvPr/>
        </p:nvSpPr>
        <p:spPr>
          <a:xfrm>
            <a:off x="1347652" y="483902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4" name="머리칸"/>
          <p:cNvSpPr>
            <a:spLocks noGrp="1"/>
          </p:cNvSpPr>
          <p:nvPr>
            <p:ph type="body" sz="quarter" idx="52"/>
          </p:nvPr>
        </p:nvSpPr>
        <p:spPr>
          <a:xfrm>
            <a:off x="1347652" y="483902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청소년 문화교육</a:t>
            </a:r>
          </a:p>
        </p:txBody>
      </p:sp>
      <p:sp>
        <p:nvSpPr>
          <p:cNvPr id="75" name="머리칸"/>
          <p:cNvSpPr/>
          <p:nvPr/>
        </p:nvSpPr>
        <p:spPr>
          <a:xfrm>
            <a:off x="3230348" y="483902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6" name="머리칸"/>
          <p:cNvSpPr>
            <a:spLocks noGrp="1"/>
          </p:cNvSpPr>
          <p:nvPr>
            <p:ph type="body" sz="quarter" idx="53"/>
          </p:nvPr>
        </p:nvSpPr>
        <p:spPr>
          <a:xfrm>
            <a:off x="3230348" y="483902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청년농부 활력 충전</a:t>
            </a:r>
          </a:p>
        </p:txBody>
      </p:sp>
      <p:sp>
        <p:nvSpPr>
          <p:cNvPr id="77" name="머리칸"/>
          <p:cNvSpPr/>
          <p:nvPr/>
        </p:nvSpPr>
        <p:spPr>
          <a:xfrm>
            <a:off x="5113043" y="483902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8" name="머리칸"/>
          <p:cNvSpPr>
            <a:spLocks noGrp="1"/>
          </p:cNvSpPr>
          <p:nvPr>
            <p:ph type="body" sz="quarter" idx="54"/>
          </p:nvPr>
        </p:nvSpPr>
        <p:spPr>
          <a:xfrm>
            <a:off x="5113043" y="483902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아빠 육아교실</a:t>
            </a:r>
          </a:p>
        </p:txBody>
      </p:sp>
      <p:sp>
        <p:nvSpPr>
          <p:cNvPr id="79" name="칸 본문"/>
          <p:cNvSpPr>
            <a:spLocks noGrp="1"/>
          </p:cNvSpPr>
          <p:nvPr>
            <p:ph type="body" sz="quarter" idx="55"/>
          </p:nvPr>
        </p:nvSpPr>
        <p:spPr>
          <a:xfrm>
            <a:off x="1358609" y="5080070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영화감독 초청, 청소년 영화 아카데미 개최</a:t>
            </a:r>
          </a:p>
        </p:txBody>
      </p:sp>
      <p:sp>
        <p:nvSpPr>
          <p:cNvPr id="80" name="칸 본문"/>
          <p:cNvSpPr>
            <a:spLocks noGrp="1"/>
          </p:cNvSpPr>
          <p:nvPr>
            <p:ph type="body" sz="quarter" idx="56"/>
          </p:nvPr>
        </p:nvSpPr>
        <p:spPr>
          <a:xfrm>
            <a:off x="3241304" y="5080070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청년농부(농업전공자) 현장 실습 및 멘토링 공간</a:t>
            </a:r>
          </a:p>
        </p:txBody>
      </p:sp>
      <p:cxnSp>
        <p:nvCxnSpPr>
          <p:cNvPr id="81" name="Connector 56"/>
          <p:cNvCxnSpPr/>
          <p:nvPr/>
        </p:nvCxnSpPr>
        <p:spPr>
          <a:xfrm>
            <a:off x="3230348" y="5112939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2" name="칸 본문"/>
          <p:cNvSpPr>
            <a:spLocks noGrp="1"/>
          </p:cNvSpPr>
          <p:nvPr>
            <p:ph type="body" sz="quarter" idx="57"/>
          </p:nvPr>
        </p:nvSpPr>
        <p:spPr>
          <a:xfrm>
            <a:off x="5124000" y="5080070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육아용품, 노하우 나눔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아빠놀이 클래스 등</a:t>
            </a:r>
          </a:p>
        </p:txBody>
      </p:sp>
      <p:cxnSp>
        <p:nvCxnSpPr>
          <p:cNvPr id="83" name="Connector 58"/>
          <p:cNvCxnSpPr/>
          <p:nvPr/>
        </p:nvCxnSpPr>
        <p:spPr>
          <a:xfrm>
            <a:off x="5113043" y="5112939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4" name="배너"/>
          <p:cNvSpPr/>
          <p:nvPr/>
        </p:nvSpPr>
        <p:spPr>
          <a:xfrm>
            <a:off x="1347652" y="5512852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85" name="배너"/>
          <p:cNvSpPr>
            <a:spLocks noGrp="1"/>
          </p:cNvSpPr>
          <p:nvPr>
            <p:ph type="body" sz="quarter" idx="58"/>
          </p:nvPr>
        </p:nvSpPr>
        <p:spPr>
          <a:xfrm>
            <a:off x="1347652" y="5512852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물문화관 커뮤니티 활성화로 방문객 5배 증가(’23년 1.4만명 → ’24년 4.8만명 → ’25년 7만명)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17 서사 · K-water 재무현황 및 재무관리체계(재무현황 · 환경 · 재무관리 · 위험관리 · 사업관리 · 혁신 추진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배너"/>
          <p:cNvSpPr/>
          <p:nvPr/>
        </p:nvSpPr>
        <p:spPr>
          <a:xfrm>
            <a:off x="536870" y="766957"/>
            <a:ext cx="6300000" cy="328696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cxnSp>
        <p:nvCxnSpPr>
          <p:cNvPr id="11" name="Connector 7"/>
          <p:cNvCxnSpPr/>
          <p:nvPr/>
        </p:nvCxnSpPr>
        <p:spPr>
          <a:xfrm>
            <a:off x="536870" y="766957"/>
            <a:ext cx="6300000" cy="0"/>
          </a:xfrm>
          <a:prstGeom prst="line">
            <a:avLst/>
          </a:prstGeom>
          <a:ln w="12700">
            <a:solidFill>
              <a:srgbClr val="BDE0FF"/>
            </a:solidFill>
          </a:ln>
        </p:spPr>
      </p:cxnSp>
      <p:sp>
        <p:nvSpPr>
          <p:cNvPr id="12" name="배너 글"/>
          <p:cNvSpPr>
            <a:spLocks noGrp="1"/>
          </p:cNvSpPr>
          <p:nvPr>
            <p:ph type="body" sz="quarter" idx="20"/>
          </p:nvPr>
        </p:nvSpPr>
        <p:spPr>
          <a:xfrm>
            <a:off x="536870" y="821739"/>
            <a:ext cx="6300000" cy="19721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K-water 재무현황 및 재무관리체계</a:t>
            </a:r>
          </a:p>
        </p:txBody>
      </p:sp>
      <p:sp>
        <p:nvSpPr>
          <p:cNvPr id="13" name="표 외곽"/>
          <p:cNvSpPr/>
          <p:nvPr/>
        </p:nvSpPr>
        <p:spPr>
          <a:xfrm>
            <a:off x="536870" y="1139478"/>
            <a:ext cx="6300000" cy="883095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레일"/>
          <p:cNvSpPr/>
          <p:nvPr/>
        </p:nvSpPr>
        <p:spPr>
          <a:xfrm>
            <a:off x="547826" y="1155913"/>
            <a:ext cx="580696" cy="117782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레일"/>
          <p:cNvSpPr>
            <a:spLocks noGrp="1"/>
          </p:cNvSpPr>
          <p:nvPr>
            <p:ph type="body" sz="quarter" idx="21"/>
          </p:nvPr>
        </p:nvSpPr>
        <p:spPr>
          <a:xfrm>
            <a:off x="547826" y="1155913"/>
            <a:ext cx="580696" cy="1177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 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 황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2"/>
          </p:nvPr>
        </p:nvSpPr>
        <p:spPr>
          <a:xfrm>
            <a:off x="1172348" y="1177826"/>
            <a:ext cx="1860783" cy="115043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부채비율: 137.0% → 92.7%(공기업 평균 197.0% → 251.7%)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지속적인 자구노력 통해 부채비율 10년 연속 하락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3"/>
          </p:nvPr>
        </p:nvSpPr>
        <p:spPr>
          <a:xfrm>
            <a:off x="3055043" y="1177826"/>
            <a:ext cx="1860783" cy="115043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재무성과(억원): 매출액 40,115 → 49,152, 영업이익 4,518 → 2,239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개선노력으로 매출 반등, 高물가 등으로 이익 하락</a:t>
            </a:r>
          </a:p>
        </p:txBody>
      </p:sp>
      <p:cxnSp>
        <p:nvCxnSpPr>
          <p:cNvPr id="18" name="Connector 13"/>
          <p:cNvCxnSpPr/>
          <p:nvPr/>
        </p:nvCxnSpPr>
        <p:spPr>
          <a:xfrm>
            <a:off x="3044087" y="1210696"/>
            <a:ext cx="0" cy="108469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9" name="칸 본문"/>
          <p:cNvSpPr>
            <a:spLocks noGrp="1"/>
          </p:cNvSpPr>
          <p:nvPr>
            <p:ph type="body" sz="quarter" idx="24"/>
          </p:nvPr>
        </p:nvSpPr>
        <p:spPr>
          <a:xfrm>
            <a:off x="4937739" y="1177826"/>
            <a:ext cx="1860783" cy="115043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재무상태(’25년 말, 조원): 자산 24.9 = 부채 12.0 + 자본 12.9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금융부채 8.9, 영업부채 등 3.1, 납입자본 11.5, 잉여금 등 1.4</a:t>
            </a:r>
          </a:p>
        </p:txBody>
      </p:sp>
      <p:cxnSp>
        <p:nvCxnSpPr>
          <p:cNvPr id="20" name="Connector 15"/>
          <p:cNvCxnSpPr/>
          <p:nvPr/>
        </p:nvCxnSpPr>
        <p:spPr>
          <a:xfrm>
            <a:off x="4926783" y="1210696"/>
            <a:ext cx="0" cy="108469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1" name="레일"/>
          <p:cNvSpPr/>
          <p:nvPr/>
        </p:nvSpPr>
        <p:spPr>
          <a:xfrm>
            <a:off x="547826" y="2350174"/>
            <a:ext cx="580696" cy="882000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레일"/>
          <p:cNvSpPr>
            <a:spLocks noGrp="1"/>
          </p:cNvSpPr>
          <p:nvPr>
            <p:ph type="body" sz="quarter" idx="25"/>
          </p:nvPr>
        </p:nvSpPr>
        <p:spPr>
          <a:xfrm>
            <a:off x="547826" y="2350174"/>
            <a:ext cx="580696" cy="88200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 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경</a:t>
            </a:r>
          </a:p>
        </p:txBody>
      </p:sp>
      <p:sp>
        <p:nvSpPr>
          <p:cNvPr id="23" name="레일 삼각형"/>
          <p:cNvSpPr/>
          <p:nvPr/>
        </p:nvSpPr>
        <p:spPr>
          <a:xfrm>
            <a:off x="547826" y="2350173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6"/>
          </p:nvPr>
        </p:nvSpPr>
        <p:spPr>
          <a:xfrm>
            <a:off x="1172348" y="2372087"/>
            <a:ext cx="1390109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장기 요금동결(10년): 국민부담 완화 정책 공공요금 규제 지속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2584370" y="2372087"/>
            <a:ext cx="1390109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원가 지속 상승: 전력비, 유지관리비, 생산자 물가 상승</a:t>
            </a:r>
          </a:p>
        </p:txBody>
      </p:sp>
      <p:cxnSp>
        <p:nvCxnSpPr>
          <p:cNvPr id="26" name="Connector 20"/>
          <p:cNvCxnSpPr/>
          <p:nvPr/>
        </p:nvCxnSpPr>
        <p:spPr>
          <a:xfrm>
            <a:off x="2573413" y="2404957"/>
            <a:ext cx="0" cy="788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7" name="칸 본문"/>
          <p:cNvSpPr>
            <a:spLocks noGrp="1"/>
          </p:cNvSpPr>
          <p:nvPr>
            <p:ph type="body" sz="quarter" idx="28"/>
          </p:nvPr>
        </p:nvSpPr>
        <p:spPr>
          <a:xfrm>
            <a:off x="3996391" y="2372087"/>
            <a:ext cx="1390109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 선도이행: 재무건전성 기반 선제적 투자 가능</a:t>
            </a:r>
          </a:p>
        </p:txBody>
      </p:sp>
      <p:cxnSp>
        <p:nvCxnSpPr>
          <p:cNvPr id="28" name="Connector 22"/>
          <p:cNvCxnSpPr/>
          <p:nvPr/>
        </p:nvCxnSpPr>
        <p:spPr>
          <a:xfrm>
            <a:off x="3985435" y="2404957"/>
            <a:ext cx="0" cy="788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5408413" y="2372087"/>
            <a:ext cx="1390109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차입의존도 상승: 투자 확대에 따른 재무건전성 관리 필요</a:t>
            </a:r>
          </a:p>
        </p:txBody>
      </p:sp>
      <p:cxnSp>
        <p:nvCxnSpPr>
          <p:cNvPr id="30" name="Connector 24"/>
          <p:cNvCxnSpPr/>
          <p:nvPr/>
        </p:nvCxnSpPr>
        <p:spPr>
          <a:xfrm>
            <a:off x="5397457" y="2404957"/>
            <a:ext cx="0" cy="788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레일"/>
          <p:cNvSpPr/>
          <p:nvPr/>
        </p:nvSpPr>
        <p:spPr>
          <a:xfrm>
            <a:off x="547826" y="3248609"/>
            <a:ext cx="580696" cy="1303826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2" name="레일"/>
          <p:cNvSpPr>
            <a:spLocks noGrp="1"/>
          </p:cNvSpPr>
          <p:nvPr>
            <p:ph type="body" sz="quarter" idx="30"/>
          </p:nvPr>
        </p:nvSpPr>
        <p:spPr>
          <a:xfrm>
            <a:off x="547826" y="3248609"/>
            <a:ext cx="580696" cy="1303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 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 리</a:t>
            </a:r>
          </a:p>
        </p:txBody>
      </p:sp>
      <p:sp>
        <p:nvSpPr>
          <p:cNvPr id="33" name="배너"/>
          <p:cNvSpPr/>
          <p:nvPr/>
        </p:nvSpPr>
        <p:spPr>
          <a:xfrm>
            <a:off x="1161391" y="3270522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4" name="배너"/>
          <p:cNvSpPr>
            <a:spLocks noGrp="1"/>
          </p:cNvSpPr>
          <p:nvPr>
            <p:ph type="body" sz="quarter" idx="31"/>
          </p:nvPr>
        </p:nvSpPr>
        <p:spPr>
          <a:xfrm>
            <a:off x="1161391" y="3270522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최상위 재무관리준칙(공기업 최초 사규 제정) 준수, 구분회계 기반 계획 수립~성과관리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2"/>
          </p:nvPr>
        </p:nvSpPr>
        <p:spPr>
          <a:xfrm>
            <a:off x="1172348" y="3506087"/>
            <a:ext cx="1743114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재무계획: 중장기 경영전략 / 중장기 재무관리계획 / 예산·자금 계획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성과점검: 전사경영회의 / 재무혁신TF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3"/>
          </p:nvPr>
        </p:nvSpPr>
        <p:spPr>
          <a:xfrm>
            <a:off x="2937375" y="3506087"/>
            <a:ext cx="3861147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전사 전략 이행 목적 재무전략·방향 도출 / 전략 연계 투자계획, 재무목표 수립 및 재무 전망 / 단년도 자원 배분, 자금 조달·집행 계획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CEO 주관 최종 재무성과 점검 및 차년도 개선방향 공유 / 구분회계 활용 성과 점검 및 개선 과제 발굴·이행</a:t>
            </a:r>
          </a:p>
        </p:txBody>
      </p:sp>
      <p:cxnSp>
        <p:nvCxnSpPr>
          <p:cNvPr id="37" name="Connector 29"/>
          <p:cNvCxnSpPr/>
          <p:nvPr/>
        </p:nvCxnSpPr>
        <p:spPr>
          <a:xfrm>
            <a:off x="2926418" y="3538957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8" name="레일"/>
          <p:cNvSpPr/>
          <p:nvPr/>
        </p:nvSpPr>
        <p:spPr>
          <a:xfrm>
            <a:off x="547826" y="4568870"/>
            <a:ext cx="580696" cy="225156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9" name="레일"/>
          <p:cNvSpPr>
            <a:spLocks noGrp="1"/>
          </p:cNvSpPr>
          <p:nvPr>
            <p:ph type="body" sz="quarter" idx="34"/>
          </p:nvPr>
        </p:nvSpPr>
        <p:spPr>
          <a:xfrm>
            <a:off x="547826" y="4568870"/>
            <a:ext cx="580696" cy="2251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 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 리</a:t>
            </a:r>
          </a:p>
        </p:txBody>
      </p:sp>
      <p:sp>
        <p:nvSpPr>
          <p:cNvPr id="40" name="배너"/>
          <p:cNvSpPr/>
          <p:nvPr/>
        </p:nvSpPr>
        <p:spPr>
          <a:xfrm>
            <a:off x="1161391" y="4590783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1" name="배너"/>
          <p:cNvSpPr>
            <a:spLocks noGrp="1"/>
          </p:cNvSpPr>
          <p:nvPr>
            <p:ph type="body" sz="quarter" idx="35"/>
          </p:nvPr>
        </p:nvSpPr>
        <p:spPr>
          <a:xfrm>
            <a:off x="1161391" y="4590783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체계적·선제적 재무위험 대응을 위한 위험관리체계 구축·운영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36"/>
          </p:nvPr>
        </p:nvSpPr>
        <p:spPr>
          <a:xfrm>
            <a:off x="1172348" y="4826348"/>
            <a:ext cx="1107704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구분: 위험지표 · 점검주기 · 단계별 대응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37"/>
          </p:nvPr>
        </p:nvSpPr>
        <p:spPr>
          <a:xfrm>
            <a:off x="2301965" y="4826348"/>
            <a:ext cx="2237322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사업별 위험: 단기 전력료, 시장금리 등 5개 / 장기 수도투자, 유가 등 4개 / 점검 단기 매월, 장기 반기(4월, 9월)</a:t>
            </a:r>
          </a:p>
        </p:txBody>
      </p:sp>
      <p:cxnSp>
        <p:nvCxnSpPr>
          <p:cNvPr id="44" name="Connector 34"/>
          <p:cNvCxnSpPr/>
          <p:nvPr/>
        </p:nvCxnSpPr>
        <p:spPr>
          <a:xfrm>
            <a:off x="2291009" y="4859217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5" name="칸 본문"/>
          <p:cNvSpPr>
            <a:spLocks noGrp="1"/>
          </p:cNvSpPr>
          <p:nvPr>
            <p:ph type="body" sz="quarter" idx="38"/>
          </p:nvPr>
        </p:nvSpPr>
        <p:spPr>
          <a:xfrm>
            <a:off x="4561200" y="4826348"/>
            <a:ext cx="2237322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재무성과·금융위험: 재무 부채비율, 순이익 등 7개 / 금융 신용, 유동성 등 5개 / 점검 매월(구분회계 월결산 동반)</a:t>
            </a:r>
          </a:p>
        </p:txBody>
      </p:sp>
      <p:cxnSp>
        <p:nvCxnSpPr>
          <p:cNvPr id="46" name="Connector 36"/>
          <p:cNvCxnSpPr/>
          <p:nvPr/>
        </p:nvCxnSpPr>
        <p:spPr>
          <a:xfrm>
            <a:off x="4550243" y="4859217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7" name="단계"/>
          <p:cNvSpPr/>
          <p:nvPr/>
        </p:nvSpPr>
        <p:spPr>
          <a:xfrm>
            <a:off x="1161391" y="5883652"/>
            <a:ext cx="112961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8" name="단계"/>
          <p:cNvSpPr>
            <a:spLocks noGrp="1"/>
          </p:cNvSpPr>
          <p:nvPr>
            <p:ph type="body" sz="quarter" idx="39"/>
          </p:nvPr>
        </p:nvSpPr>
        <p:spPr>
          <a:xfrm>
            <a:off x="1161391" y="5883652"/>
            <a:ext cx="112961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정상</a:t>
            </a:r>
          </a:p>
        </p:txBody>
      </p:sp>
      <p:sp>
        <p:nvSpPr>
          <p:cNvPr id="49" name="단계"/>
          <p:cNvSpPr/>
          <p:nvPr/>
        </p:nvSpPr>
        <p:spPr>
          <a:xfrm>
            <a:off x="2291009" y="5883652"/>
            <a:ext cx="1129617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0" name="단계"/>
          <p:cNvSpPr>
            <a:spLocks noGrp="1"/>
          </p:cNvSpPr>
          <p:nvPr>
            <p:ph type="body" sz="quarter" idx="40"/>
          </p:nvPr>
        </p:nvSpPr>
        <p:spPr>
          <a:xfrm>
            <a:off x="2291009" y="5883652"/>
            <a:ext cx="112961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관심</a:t>
            </a:r>
          </a:p>
        </p:txBody>
      </p:sp>
      <p:sp>
        <p:nvSpPr>
          <p:cNvPr id="51" name="단계"/>
          <p:cNvSpPr/>
          <p:nvPr/>
        </p:nvSpPr>
        <p:spPr>
          <a:xfrm>
            <a:off x="3420626" y="5883652"/>
            <a:ext cx="1129617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2" name="단계"/>
          <p:cNvSpPr>
            <a:spLocks noGrp="1"/>
          </p:cNvSpPr>
          <p:nvPr>
            <p:ph type="body" sz="quarter" idx="41"/>
          </p:nvPr>
        </p:nvSpPr>
        <p:spPr>
          <a:xfrm>
            <a:off x="3420626" y="5883652"/>
            <a:ext cx="112961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주의</a:t>
            </a:r>
          </a:p>
        </p:txBody>
      </p:sp>
      <p:sp>
        <p:nvSpPr>
          <p:cNvPr id="53" name="단계"/>
          <p:cNvSpPr/>
          <p:nvPr/>
        </p:nvSpPr>
        <p:spPr>
          <a:xfrm>
            <a:off x="4550243" y="5883652"/>
            <a:ext cx="1129617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4" name="단계"/>
          <p:cNvSpPr>
            <a:spLocks noGrp="1"/>
          </p:cNvSpPr>
          <p:nvPr>
            <p:ph type="body" sz="quarter" idx="42"/>
          </p:nvPr>
        </p:nvSpPr>
        <p:spPr>
          <a:xfrm>
            <a:off x="4550243" y="5883652"/>
            <a:ext cx="112961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경계</a:t>
            </a:r>
          </a:p>
        </p:txBody>
      </p:sp>
      <p:sp>
        <p:nvSpPr>
          <p:cNvPr id="55" name="단계"/>
          <p:cNvSpPr/>
          <p:nvPr/>
        </p:nvSpPr>
        <p:spPr>
          <a:xfrm>
            <a:off x="5679861" y="5883652"/>
            <a:ext cx="1129617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6" name="단계"/>
          <p:cNvSpPr>
            <a:spLocks noGrp="1"/>
          </p:cNvSpPr>
          <p:nvPr>
            <p:ph type="body" sz="quarter" idx="43"/>
          </p:nvPr>
        </p:nvSpPr>
        <p:spPr>
          <a:xfrm>
            <a:off x="5679861" y="5883652"/>
            <a:ext cx="112961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심각</a:t>
            </a:r>
          </a:p>
        </p:txBody>
      </p:sp>
      <p:sp>
        <p:nvSpPr>
          <p:cNvPr id="57" name="단계 삼각형"/>
          <p:cNvSpPr/>
          <p:nvPr/>
        </p:nvSpPr>
        <p:spPr>
          <a:xfrm>
            <a:off x="2291008" y="5883652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8" name="단계 삼각형"/>
          <p:cNvSpPr/>
          <p:nvPr/>
        </p:nvSpPr>
        <p:spPr>
          <a:xfrm>
            <a:off x="3420626" y="5883652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9" name="단계 삼각형"/>
          <p:cNvSpPr/>
          <p:nvPr/>
        </p:nvSpPr>
        <p:spPr>
          <a:xfrm>
            <a:off x="4550243" y="5883652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0" name="단계 삼각형"/>
          <p:cNvSpPr/>
          <p:nvPr/>
        </p:nvSpPr>
        <p:spPr>
          <a:xfrm>
            <a:off x="5679860" y="5883652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1" name="칸 본문"/>
          <p:cNvSpPr>
            <a:spLocks noGrp="1"/>
          </p:cNvSpPr>
          <p:nvPr>
            <p:ph type="body" sz="quarter" idx="44"/>
          </p:nvPr>
        </p:nvSpPr>
        <p:spPr>
          <a:xfrm>
            <a:off x="1172348" y="6135652"/>
            <a:ext cx="1107704" cy="679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지속 모니터링</a:t>
            </a:r>
          </a:p>
        </p:txBody>
      </p:sp>
      <p:sp>
        <p:nvSpPr>
          <p:cNvPr id="62" name="칸 본문"/>
          <p:cNvSpPr>
            <a:spLocks noGrp="1"/>
          </p:cNvSpPr>
          <p:nvPr>
            <p:ph type="body" sz="quarter" idx="45"/>
          </p:nvPr>
        </p:nvSpPr>
        <p:spPr>
          <a:xfrm>
            <a:off x="2301965" y="6135652"/>
            <a:ext cx="1107704" cy="679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원인분석</a:t>
            </a:r>
          </a:p>
        </p:txBody>
      </p:sp>
      <p:cxnSp>
        <p:nvCxnSpPr>
          <p:cNvPr id="63" name="Connector 48"/>
          <p:cNvCxnSpPr/>
          <p:nvPr/>
        </p:nvCxnSpPr>
        <p:spPr>
          <a:xfrm>
            <a:off x="2291009" y="6168522"/>
            <a:ext cx="0" cy="613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4" name="칸 본문"/>
          <p:cNvSpPr>
            <a:spLocks noGrp="1"/>
          </p:cNvSpPr>
          <p:nvPr>
            <p:ph type="body" sz="quarter" idx="46"/>
          </p:nvPr>
        </p:nvSpPr>
        <p:spPr>
          <a:xfrm>
            <a:off x="3431583" y="6135652"/>
            <a:ext cx="1107704" cy="679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유관부서 협업 대응</a:t>
            </a:r>
          </a:p>
        </p:txBody>
      </p:sp>
      <p:cxnSp>
        <p:nvCxnSpPr>
          <p:cNvPr id="65" name="Connector 50"/>
          <p:cNvCxnSpPr/>
          <p:nvPr/>
        </p:nvCxnSpPr>
        <p:spPr>
          <a:xfrm>
            <a:off x="3420626" y="6168522"/>
            <a:ext cx="0" cy="613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6" name="칸 본문"/>
          <p:cNvSpPr>
            <a:spLocks noGrp="1"/>
          </p:cNvSpPr>
          <p:nvPr>
            <p:ph type="body" sz="quarter" idx="47"/>
          </p:nvPr>
        </p:nvSpPr>
        <p:spPr>
          <a:xfrm>
            <a:off x="4561200" y="6135652"/>
            <a:ext cx="1107704" cy="679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재무혁신TF 부의</a:t>
            </a:r>
          </a:p>
        </p:txBody>
      </p:sp>
      <p:cxnSp>
        <p:nvCxnSpPr>
          <p:cNvPr id="67" name="Connector 52"/>
          <p:cNvCxnSpPr/>
          <p:nvPr/>
        </p:nvCxnSpPr>
        <p:spPr>
          <a:xfrm>
            <a:off x="4550243" y="6168522"/>
            <a:ext cx="0" cy="613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8" name="칸 본문"/>
          <p:cNvSpPr>
            <a:spLocks noGrp="1"/>
          </p:cNvSpPr>
          <p:nvPr>
            <p:ph type="body" sz="quarter" idx="48"/>
          </p:nvPr>
        </p:nvSpPr>
        <p:spPr>
          <a:xfrm>
            <a:off x="5690817" y="6135652"/>
            <a:ext cx="1107704" cy="679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컨틴전시 가동</a:t>
            </a:r>
          </a:p>
        </p:txBody>
      </p:sp>
      <p:cxnSp>
        <p:nvCxnSpPr>
          <p:cNvPr id="69" name="Connector 54"/>
          <p:cNvCxnSpPr/>
          <p:nvPr/>
        </p:nvCxnSpPr>
        <p:spPr>
          <a:xfrm>
            <a:off x="5679861" y="6168522"/>
            <a:ext cx="0" cy="613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0" name="레일"/>
          <p:cNvSpPr/>
          <p:nvPr/>
        </p:nvSpPr>
        <p:spPr>
          <a:xfrm>
            <a:off x="547826" y="6836870"/>
            <a:ext cx="580696" cy="1555826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1" name="레일"/>
          <p:cNvSpPr>
            <a:spLocks noGrp="1"/>
          </p:cNvSpPr>
          <p:nvPr>
            <p:ph type="body" sz="quarter" idx="49"/>
          </p:nvPr>
        </p:nvSpPr>
        <p:spPr>
          <a:xfrm>
            <a:off x="547826" y="6836870"/>
            <a:ext cx="580696" cy="1555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 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 리</a:t>
            </a:r>
          </a:p>
        </p:txBody>
      </p:sp>
      <p:sp>
        <p:nvSpPr>
          <p:cNvPr id="72" name="배너"/>
          <p:cNvSpPr/>
          <p:nvPr/>
        </p:nvSpPr>
        <p:spPr>
          <a:xfrm>
            <a:off x="1161391" y="6858783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73" name="배너"/>
          <p:cNvSpPr>
            <a:spLocks noGrp="1"/>
          </p:cNvSpPr>
          <p:nvPr>
            <p:ph type="body" sz="quarter" idx="50"/>
          </p:nvPr>
        </p:nvSpPr>
        <p:spPr>
          <a:xfrm>
            <a:off x="1161391" y="6858783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투자 효율성·효과성 제고를 위한 프로젝트 단위 全주기 수익성 관리</a:t>
            </a:r>
          </a:p>
        </p:txBody>
      </p:sp>
      <p:sp>
        <p:nvSpPr>
          <p:cNvPr id="74" name="단계"/>
          <p:cNvSpPr/>
          <p:nvPr/>
        </p:nvSpPr>
        <p:spPr>
          <a:xfrm>
            <a:off x="1161391" y="7094348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5" name="단계"/>
          <p:cNvSpPr>
            <a:spLocks noGrp="1"/>
          </p:cNvSpPr>
          <p:nvPr>
            <p:ph type="body" sz="quarter" idx="51"/>
          </p:nvPr>
        </p:nvSpPr>
        <p:spPr>
          <a:xfrm>
            <a:off x="1161391" y="709434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심사단계</a:t>
            </a:r>
          </a:p>
        </p:txBody>
      </p:sp>
      <p:sp>
        <p:nvSpPr>
          <p:cNvPr id="76" name="단계"/>
          <p:cNvSpPr/>
          <p:nvPr/>
        </p:nvSpPr>
        <p:spPr>
          <a:xfrm>
            <a:off x="3044087" y="7094348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7" name="단계"/>
          <p:cNvSpPr>
            <a:spLocks noGrp="1"/>
          </p:cNvSpPr>
          <p:nvPr>
            <p:ph type="body" sz="quarter" idx="52"/>
          </p:nvPr>
        </p:nvSpPr>
        <p:spPr>
          <a:xfrm>
            <a:off x="3044087" y="709434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건설단계</a:t>
            </a:r>
          </a:p>
        </p:txBody>
      </p:sp>
      <p:sp>
        <p:nvSpPr>
          <p:cNvPr id="78" name="단계"/>
          <p:cNvSpPr/>
          <p:nvPr/>
        </p:nvSpPr>
        <p:spPr>
          <a:xfrm>
            <a:off x="4926783" y="7094348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9" name="단계"/>
          <p:cNvSpPr>
            <a:spLocks noGrp="1"/>
          </p:cNvSpPr>
          <p:nvPr>
            <p:ph type="body" sz="quarter" idx="53"/>
          </p:nvPr>
        </p:nvSpPr>
        <p:spPr>
          <a:xfrm>
            <a:off x="4926783" y="709434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운영단계</a:t>
            </a:r>
          </a:p>
        </p:txBody>
      </p:sp>
      <p:sp>
        <p:nvSpPr>
          <p:cNvPr id="80" name="단계 삼각형"/>
          <p:cNvSpPr/>
          <p:nvPr/>
        </p:nvSpPr>
        <p:spPr>
          <a:xfrm>
            <a:off x="3044086" y="7094347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81" name="단계 삼각형"/>
          <p:cNvSpPr/>
          <p:nvPr/>
        </p:nvSpPr>
        <p:spPr>
          <a:xfrm>
            <a:off x="4926782" y="7094347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82" name="칸 본문"/>
          <p:cNvSpPr>
            <a:spLocks noGrp="1"/>
          </p:cNvSpPr>
          <p:nvPr>
            <p:ph type="body" sz="quarter" idx="54"/>
          </p:nvPr>
        </p:nvSpPr>
        <p:spPr>
          <a:xfrm>
            <a:off x="1172348" y="7346348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투자심사: 사전 예비심사 → 예비 투자심사 → 본 투자심사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사전검토(7개): 설계·법률 등 전문분야 + 중장기 재무영향(신규)</a:t>
            </a:r>
          </a:p>
        </p:txBody>
      </p:sp>
      <p:sp>
        <p:nvSpPr>
          <p:cNvPr id="83" name="칸 본문"/>
          <p:cNvSpPr>
            <a:spLocks noGrp="1"/>
          </p:cNvSpPr>
          <p:nvPr>
            <p:ph type="body" sz="quarter" idx="55"/>
          </p:nvPr>
        </p:nvSpPr>
        <p:spPr>
          <a:xfrm>
            <a:off x="3055043" y="7346348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총사업비 관리: 조정심사 + 적정성 평가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 중간평가(신규): 집행액 30%·60%, 준공시</a:t>
            </a:r>
          </a:p>
        </p:txBody>
      </p:sp>
      <p:cxnSp>
        <p:nvCxnSpPr>
          <p:cNvPr id="84" name="Connector 64"/>
          <p:cNvCxnSpPr/>
          <p:nvPr/>
        </p:nvCxnSpPr>
        <p:spPr>
          <a:xfrm>
            <a:off x="3044087" y="7379217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5" name="칸 본문"/>
          <p:cNvSpPr>
            <a:spLocks noGrp="1"/>
          </p:cNvSpPr>
          <p:nvPr>
            <p:ph type="body" sz="quarter" idx="56"/>
          </p:nvPr>
        </p:nvSpPr>
        <p:spPr>
          <a:xfrm>
            <a:off x="4937739" y="7346348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현안사업 경영분석(신규): 손실사업 개선방안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해외사업 성과분석(신규): 분기별 재무성과 분석</a:t>
            </a:r>
          </a:p>
        </p:txBody>
      </p:sp>
      <p:cxnSp>
        <p:nvCxnSpPr>
          <p:cNvPr id="86" name="Connector 66"/>
          <p:cNvCxnSpPr/>
          <p:nvPr/>
        </p:nvCxnSpPr>
        <p:spPr>
          <a:xfrm>
            <a:off x="4926783" y="7379217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7" name="레일"/>
          <p:cNvSpPr/>
          <p:nvPr/>
        </p:nvSpPr>
        <p:spPr>
          <a:xfrm>
            <a:off x="547826" y="8409130"/>
            <a:ext cx="580696" cy="1544870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88" name="레일"/>
          <p:cNvSpPr>
            <a:spLocks noGrp="1"/>
          </p:cNvSpPr>
          <p:nvPr>
            <p:ph type="body" sz="quarter" idx="57"/>
          </p:nvPr>
        </p:nvSpPr>
        <p:spPr>
          <a:xfrm>
            <a:off x="547826" y="8409130"/>
            <a:ext cx="580696" cy="154487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’25년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재무관리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중점사항</a:t>
            </a:r>
          </a:p>
        </p:txBody>
      </p:sp>
      <p:sp>
        <p:nvSpPr>
          <p:cNvPr id="89" name="레일 삼각형"/>
          <p:cNvSpPr/>
          <p:nvPr/>
        </p:nvSpPr>
        <p:spPr>
          <a:xfrm>
            <a:off x="547826" y="8409130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90" name="배너"/>
          <p:cNvSpPr/>
          <p:nvPr/>
        </p:nvSpPr>
        <p:spPr>
          <a:xfrm>
            <a:off x="1161391" y="8431043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91" name="배너"/>
          <p:cNvSpPr>
            <a:spLocks noGrp="1"/>
          </p:cNvSpPr>
          <p:nvPr>
            <p:ph type="body" sz="quarter" idx="58"/>
          </p:nvPr>
        </p:nvSpPr>
        <p:spPr>
          <a:xfrm>
            <a:off x="1161391" y="8431043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체계적인 재무 관리를 위한 조직, 제도, 프로세스 전반 혁신 추진</a:t>
            </a:r>
          </a:p>
        </p:txBody>
      </p:sp>
      <p:sp>
        <p:nvSpPr>
          <p:cNvPr id="92" name="머리칸"/>
          <p:cNvSpPr/>
          <p:nvPr/>
        </p:nvSpPr>
        <p:spPr>
          <a:xfrm>
            <a:off x="1161391" y="8666609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93" name="머리칸"/>
          <p:cNvSpPr>
            <a:spLocks noGrp="1"/>
          </p:cNvSpPr>
          <p:nvPr>
            <p:ph type="body" sz="quarter" idx="59"/>
          </p:nvPr>
        </p:nvSpPr>
        <p:spPr>
          <a:xfrm>
            <a:off x="1161391" y="8666609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재무전담조직 신설·강화</a:t>
            </a:r>
          </a:p>
        </p:txBody>
      </p:sp>
      <p:sp>
        <p:nvSpPr>
          <p:cNvPr id="94" name="머리칸"/>
          <p:cNvSpPr/>
          <p:nvPr/>
        </p:nvSpPr>
        <p:spPr>
          <a:xfrm>
            <a:off x="3044087" y="8666609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95" name="머리칸"/>
          <p:cNvSpPr>
            <a:spLocks noGrp="1"/>
          </p:cNvSpPr>
          <p:nvPr>
            <p:ph type="body" sz="quarter" idx="60"/>
          </p:nvPr>
        </p:nvSpPr>
        <p:spPr>
          <a:xfrm>
            <a:off x="3044087" y="8666609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재무혁신 TF 고도화</a:t>
            </a:r>
          </a:p>
        </p:txBody>
      </p:sp>
      <p:sp>
        <p:nvSpPr>
          <p:cNvPr id="96" name="머리칸"/>
          <p:cNvSpPr/>
          <p:nvPr/>
        </p:nvSpPr>
        <p:spPr>
          <a:xfrm>
            <a:off x="4926783" y="8666609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97" name="머리칸"/>
          <p:cNvSpPr>
            <a:spLocks noGrp="1"/>
          </p:cNvSpPr>
          <p:nvPr>
            <p:ph type="body" sz="quarter" idx="61"/>
          </p:nvPr>
        </p:nvSpPr>
        <p:spPr>
          <a:xfrm>
            <a:off x="4926783" y="8666609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확장적 투자계획 수립</a:t>
            </a:r>
          </a:p>
        </p:txBody>
      </p:sp>
      <p:sp>
        <p:nvSpPr>
          <p:cNvPr id="98" name="칸 본문"/>
          <p:cNvSpPr>
            <a:spLocks noGrp="1"/>
          </p:cNvSpPr>
          <p:nvPr>
            <p:ph type="body" sz="quarter" idx="62"/>
          </p:nvPr>
        </p:nvSpPr>
        <p:spPr>
          <a:xfrm>
            <a:off x="1172348" y="8907652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재무전략부 전사 재무관리 총괄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해외PF부 해외사업 재무분석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출자관리부 자회사 재무관리</a:t>
            </a:r>
          </a:p>
        </p:txBody>
      </p:sp>
      <p:sp>
        <p:nvSpPr>
          <p:cNvPr id="99" name="칸 본문"/>
          <p:cNvSpPr>
            <a:spLocks noGrp="1"/>
          </p:cNvSpPr>
          <p:nvPr>
            <p:ph type="body" sz="quarter" idx="63"/>
          </p:nvPr>
        </p:nvSpPr>
        <p:spPr>
          <a:xfrm>
            <a:off x="3055043" y="8907652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과제발굴(부문장), 이행점검(부서장) 전담 회의체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성과점검 혁신TF → 과제발굴 부문장회의 → 이행점검 부서장회의</a:t>
            </a:r>
          </a:p>
        </p:txBody>
      </p:sp>
      <p:cxnSp>
        <p:nvCxnSpPr>
          <p:cNvPr id="100" name="Connector 75"/>
          <p:cNvCxnSpPr/>
          <p:nvPr/>
        </p:nvCxnSpPr>
        <p:spPr>
          <a:xfrm>
            <a:off x="3044087" y="8940522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01" name="칸 본문"/>
          <p:cNvSpPr>
            <a:spLocks noGrp="1"/>
          </p:cNvSpPr>
          <p:nvPr>
            <p:ph type="body" sz="quarter" idx="64"/>
          </p:nvPr>
        </p:nvSpPr>
        <p:spPr>
          <a:xfrm>
            <a:off x="4937739" y="8907652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국정과제와 연계한 미래 5개년 투자계획 1조원 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’24~’28 16.7조원 → ’25~’29 17.7조원</a:t>
            </a:r>
          </a:p>
        </p:txBody>
      </p:sp>
      <p:cxnSp>
        <p:nvCxnSpPr>
          <p:cNvPr id="102" name="Connector 77"/>
          <p:cNvCxnSpPr/>
          <p:nvPr/>
        </p:nvCxnSpPr>
        <p:spPr>
          <a:xfrm>
            <a:off x="4926783" y="8940522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18 서사 · 기관 고유 미래위험 예측(환경분석 → 재무진단 → 시사점 → 위험관리체계 → 3단 개선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기관 고유 미래위험 예측과 선제적 대응으로 안정적 재무구조 유지</a:t>
            </a:r>
          </a:p>
        </p:txBody>
      </p:sp>
      <p:sp>
        <p:nvSpPr>
          <p:cNvPr id="14" name="형광 밑줄"/>
          <p:cNvSpPr/>
          <p:nvPr/>
        </p:nvSpPr>
        <p:spPr>
          <a:xfrm>
            <a:off x="723130" y="1358609"/>
            <a:ext cx="3765879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소제목"/>
          <p:cNvSpPr>
            <a:spLocks noGrp="1"/>
          </p:cNvSpPr>
          <p:nvPr>
            <p:ph type="body" sz="quarter" idx="22"/>
          </p:nvPr>
        </p:nvSpPr>
        <p:spPr>
          <a:xfrm>
            <a:off x="723130" y="120521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선제적 재무위험 예측을 통한 실효성 있는 위험관리체계 운영</a:t>
            </a:r>
          </a:p>
        </p:txBody>
      </p:sp>
      <p:sp>
        <p:nvSpPr>
          <p:cNvPr id="16" name="태그칩"/>
          <p:cNvSpPr/>
          <p:nvPr/>
        </p:nvSpPr>
        <p:spPr>
          <a:xfrm>
            <a:off x="4587618" y="1238087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칩"/>
          <p:cNvSpPr>
            <a:spLocks noGrp="1"/>
          </p:cNvSpPr>
          <p:nvPr>
            <p:ph type="body" sz="quarter" idx="23"/>
          </p:nvPr>
        </p:nvSpPr>
        <p:spPr>
          <a:xfrm>
            <a:off x="4587618" y="1238087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8" name="태그칩"/>
          <p:cNvSpPr/>
          <p:nvPr/>
        </p:nvSpPr>
        <p:spPr>
          <a:xfrm>
            <a:off x="5138739" y="1238087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태그칩"/>
          <p:cNvSpPr>
            <a:spLocks noGrp="1"/>
          </p:cNvSpPr>
          <p:nvPr>
            <p:ph type="body" sz="quarter" idx="24"/>
          </p:nvPr>
        </p:nvSpPr>
        <p:spPr>
          <a:xfrm>
            <a:off x="5138739" y="1238087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20" name="표 외곽"/>
          <p:cNvSpPr/>
          <p:nvPr/>
        </p:nvSpPr>
        <p:spPr>
          <a:xfrm>
            <a:off x="723130" y="1490087"/>
            <a:ext cx="6300000" cy="256523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1" name="레일"/>
          <p:cNvSpPr/>
          <p:nvPr/>
        </p:nvSpPr>
        <p:spPr>
          <a:xfrm>
            <a:off x="734087" y="1506522"/>
            <a:ext cx="580696" cy="99156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레일"/>
          <p:cNvSpPr>
            <a:spLocks noGrp="1"/>
          </p:cNvSpPr>
          <p:nvPr>
            <p:ph type="body" sz="quarter" idx="25"/>
          </p:nvPr>
        </p:nvSpPr>
        <p:spPr>
          <a:xfrm>
            <a:off x="734087" y="1506522"/>
            <a:ext cx="580696" cy="991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환경분석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6"/>
          </p:nvPr>
        </p:nvSpPr>
        <p:spPr>
          <a:xfrm>
            <a:off x="1358609" y="1528435"/>
            <a:ext cx="2802130" cy="964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대외환경 어느 때보다 큰 불확실성 직면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美 정책 영향으로 금리, 환율 등 변동성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내수, 건설경기 회복 지연 등 불확실성 상존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7"/>
          </p:nvPr>
        </p:nvSpPr>
        <p:spPr>
          <a:xfrm>
            <a:off x="4182652" y="1528435"/>
            <a:ext cx="2802130" cy="964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내부여건 미래 성장 위한 돌파구 마련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100% 이하 부채비율 등 재무구조 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매출액, 당기순이익 등 재무성과 다소 정체</a:t>
            </a:r>
          </a:p>
        </p:txBody>
      </p:sp>
      <p:cxnSp>
        <p:nvCxnSpPr>
          <p:cNvPr id="25" name="Connector 16"/>
          <p:cNvCxnSpPr/>
          <p:nvPr/>
        </p:nvCxnSpPr>
        <p:spPr>
          <a:xfrm>
            <a:off x="4171696" y="1561304"/>
            <a:ext cx="0" cy="898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6" name="레일"/>
          <p:cNvSpPr/>
          <p:nvPr/>
        </p:nvSpPr>
        <p:spPr>
          <a:xfrm>
            <a:off x="734087" y="2514522"/>
            <a:ext cx="580696" cy="112304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7" name="레일"/>
          <p:cNvSpPr>
            <a:spLocks noGrp="1"/>
          </p:cNvSpPr>
          <p:nvPr>
            <p:ph type="body" sz="quarter" idx="28"/>
          </p:nvPr>
        </p:nvSpPr>
        <p:spPr>
          <a:xfrm>
            <a:off x="734087" y="2514522"/>
            <a:ext cx="580696" cy="112304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재무진단</a:t>
            </a:r>
          </a:p>
        </p:txBody>
      </p:sp>
      <p:sp>
        <p:nvSpPr>
          <p:cNvPr id="28" name="레일 삼각형"/>
          <p:cNvSpPr/>
          <p:nvPr/>
        </p:nvSpPr>
        <p:spPr>
          <a:xfrm>
            <a:off x="734086" y="2514521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머리칸"/>
          <p:cNvSpPr/>
          <p:nvPr/>
        </p:nvSpPr>
        <p:spPr>
          <a:xfrm>
            <a:off x="1347652" y="253643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0" name="머리칸"/>
          <p:cNvSpPr>
            <a:spLocks noGrp="1"/>
          </p:cNvSpPr>
          <p:nvPr>
            <p:ph type="body" sz="quarter" idx="29"/>
          </p:nvPr>
        </p:nvSpPr>
        <p:spPr>
          <a:xfrm>
            <a:off x="1347652" y="253643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원가상승 인한 수익성 저하</a:t>
            </a:r>
          </a:p>
        </p:txBody>
      </p:sp>
      <p:sp>
        <p:nvSpPr>
          <p:cNvPr id="31" name="머리칸"/>
          <p:cNvSpPr/>
          <p:nvPr/>
        </p:nvSpPr>
        <p:spPr>
          <a:xfrm>
            <a:off x="3230348" y="253643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2" name="머리칸"/>
          <p:cNvSpPr>
            <a:spLocks noGrp="1"/>
          </p:cNvSpPr>
          <p:nvPr>
            <p:ph type="body" sz="quarter" idx="30"/>
          </p:nvPr>
        </p:nvSpPr>
        <p:spPr>
          <a:xfrm>
            <a:off x="3230348" y="253643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영업현금흐름 축소</a:t>
            </a:r>
          </a:p>
        </p:txBody>
      </p:sp>
      <p:sp>
        <p:nvSpPr>
          <p:cNvPr id="33" name="머리칸"/>
          <p:cNvSpPr/>
          <p:nvPr/>
        </p:nvSpPr>
        <p:spPr>
          <a:xfrm>
            <a:off x="5113043" y="253643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4" name="머리칸"/>
          <p:cNvSpPr>
            <a:spLocks noGrp="1"/>
          </p:cNvSpPr>
          <p:nvPr>
            <p:ph type="body" sz="quarter" idx="31"/>
          </p:nvPr>
        </p:nvSpPr>
        <p:spPr>
          <a:xfrm>
            <a:off x="5113043" y="253643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국정과제 등 투자 확대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2"/>
          </p:nvPr>
        </p:nvSpPr>
        <p:spPr>
          <a:xfrm>
            <a:off x="1358609" y="2777478"/>
            <a:ext cx="1860783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 요금동결(10년), 원가 34%↑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수변 원가용지 매출 비중↑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3"/>
          </p:nvPr>
        </p:nvSpPr>
        <p:spPr>
          <a:xfrm>
            <a:off x="3241304" y="2777478"/>
            <a:ext cx="1860783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수변 자금수지 일시 불균형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조성~수납까지 긴 영업주기 특성</a:t>
            </a:r>
          </a:p>
        </p:txBody>
      </p:sp>
      <p:cxnSp>
        <p:nvCxnSpPr>
          <p:cNvPr id="37" name="Connector 24"/>
          <p:cNvCxnSpPr/>
          <p:nvPr/>
        </p:nvCxnSpPr>
        <p:spPr>
          <a:xfrm>
            <a:off x="3230348" y="2810348"/>
            <a:ext cx="0" cy="788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8" name="칸 본문"/>
          <p:cNvSpPr>
            <a:spLocks noGrp="1"/>
          </p:cNvSpPr>
          <p:nvPr>
            <p:ph type="body" sz="quarter" idx="34"/>
          </p:nvPr>
        </p:nvSpPr>
        <p:spPr>
          <a:xfrm>
            <a:off x="5124000" y="2777478"/>
            <a:ext cx="1860783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정책 연계 전략적 투자 요구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투자 확대로 부채증가 전망</a:t>
            </a:r>
          </a:p>
        </p:txBody>
      </p:sp>
      <p:cxnSp>
        <p:nvCxnSpPr>
          <p:cNvPr id="39" name="Connector 26"/>
          <p:cNvCxnSpPr/>
          <p:nvPr/>
        </p:nvCxnSpPr>
        <p:spPr>
          <a:xfrm>
            <a:off x="5113043" y="2810348"/>
            <a:ext cx="0" cy="788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0" name="레일"/>
          <p:cNvSpPr/>
          <p:nvPr/>
        </p:nvSpPr>
        <p:spPr>
          <a:xfrm>
            <a:off x="734087" y="3654000"/>
            <a:ext cx="580696" cy="3848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1" name="레일"/>
          <p:cNvSpPr>
            <a:spLocks noGrp="1"/>
          </p:cNvSpPr>
          <p:nvPr>
            <p:ph type="body" sz="quarter" idx="35"/>
          </p:nvPr>
        </p:nvSpPr>
        <p:spPr>
          <a:xfrm>
            <a:off x="734087" y="3654000"/>
            <a:ext cx="580696" cy="3848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 사 점</a:t>
            </a:r>
          </a:p>
        </p:txBody>
      </p:sp>
      <p:sp>
        <p:nvSpPr>
          <p:cNvPr id="42" name="레일 삼각형"/>
          <p:cNvSpPr/>
          <p:nvPr/>
        </p:nvSpPr>
        <p:spPr>
          <a:xfrm>
            <a:off x="734086" y="3654000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3" name="배너"/>
          <p:cNvSpPr/>
          <p:nvPr/>
        </p:nvSpPr>
        <p:spPr>
          <a:xfrm>
            <a:off x="1347652" y="3675913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4" name="배너"/>
          <p:cNvSpPr>
            <a:spLocks noGrp="1"/>
          </p:cNvSpPr>
          <p:nvPr>
            <p:ph type="body" sz="quarter" idx="36"/>
          </p:nvPr>
        </p:nvSpPr>
        <p:spPr>
          <a:xfrm>
            <a:off x="1347652" y="3675913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안정적인 영업이익 창출 기반 재무 건전성 유지가 재무위험관리 핵심요인</a:t>
            </a:r>
          </a:p>
        </p:txBody>
      </p:sp>
      <p:sp>
        <p:nvSpPr>
          <p:cNvPr id="45" name="캡션 띠"/>
          <p:cNvSpPr/>
          <p:nvPr/>
        </p:nvSpPr>
        <p:spPr>
          <a:xfrm>
            <a:off x="723130" y="4077234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6" name="태그"/>
          <p:cNvSpPr/>
          <p:nvPr/>
        </p:nvSpPr>
        <p:spPr>
          <a:xfrm>
            <a:off x="1051826" y="4121061"/>
            <a:ext cx="797448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7" name="태그"/>
          <p:cNvSpPr>
            <a:spLocks noGrp="1"/>
          </p:cNvSpPr>
          <p:nvPr>
            <p:ph type="body" sz="quarter" idx="37"/>
          </p:nvPr>
        </p:nvSpPr>
        <p:spPr>
          <a:xfrm>
            <a:off x="1051826" y="4121061"/>
            <a:ext cx="797448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재무위험 정의</a:t>
            </a:r>
          </a:p>
        </p:txBody>
      </p:sp>
      <p:sp>
        <p:nvSpPr>
          <p:cNvPr id="48" name="캡션"/>
          <p:cNvSpPr>
            <a:spLocks noGrp="1"/>
          </p:cNvSpPr>
          <p:nvPr>
            <p:ph type="body" sz="quarter" idx="38"/>
          </p:nvPr>
        </p:nvSpPr>
        <p:spPr>
          <a:xfrm>
            <a:off x="1904057" y="4077235"/>
            <a:ext cx="4899943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영업이익 하락, 영업 현금흐름 감소 및 투자 증가로 인한 ‘재무 건전성 위기’</a:t>
            </a:r>
          </a:p>
        </p:txBody>
      </p:sp>
      <p:sp>
        <p:nvSpPr>
          <p:cNvPr id="49" name="표 외곽"/>
          <p:cNvSpPr/>
          <p:nvPr/>
        </p:nvSpPr>
        <p:spPr>
          <a:xfrm>
            <a:off x="723130" y="4384017"/>
            <a:ext cx="6300000" cy="5155043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0" name="레일"/>
          <p:cNvSpPr/>
          <p:nvPr/>
        </p:nvSpPr>
        <p:spPr>
          <a:xfrm>
            <a:off x="734087" y="4400452"/>
            <a:ext cx="580696" cy="113400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1" name="레일"/>
          <p:cNvSpPr>
            <a:spLocks noGrp="1"/>
          </p:cNvSpPr>
          <p:nvPr>
            <p:ph type="body" sz="quarter" idx="39"/>
          </p:nvPr>
        </p:nvSpPr>
        <p:spPr>
          <a:xfrm>
            <a:off x="734087" y="4400452"/>
            <a:ext cx="580696" cy="113400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 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관리체계</a:t>
            </a:r>
          </a:p>
        </p:txBody>
      </p:sp>
      <p:sp>
        <p:nvSpPr>
          <p:cNvPr id="52" name="단계"/>
          <p:cNvSpPr/>
          <p:nvPr/>
        </p:nvSpPr>
        <p:spPr>
          <a:xfrm>
            <a:off x="1347652" y="4422365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3" name="단계"/>
          <p:cNvSpPr>
            <a:spLocks noGrp="1"/>
          </p:cNvSpPr>
          <p:nvPr>
            <p:ph type="body" sz="quarter" idx="40"/>
          </p:nvPr>
        </p:nvSpPr>
        <p:spPr>
          <a:xfrm>
            <a:off x="1347652" y="4422365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위험지표(KRI) 설정</a:t>
            </a:r>
          </a:p>
        </p:txBody>
      </p:sp>
      <p:sp>
        <p:nvSpPr>
          <p:cNvPr id="54" name="단계"/>
          <p:cNvSpPr/>
          <p:nvPr/>
        </p:nvSpPr>
        <p:spPr>
          <a:xfrm>
            <a:off x="3230348" y="4422365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5" name="단계"/>
          <p:cNvSpPr>
            <a:spLocks noGrp="1"/>
          </p:cNvSpPr>
          <p:nvPr>
            <p:ph type="body" sz="quarter" idx="41"/>
          </p:nvPr>
        </p:nvSpPr>
        <p:spPr>
          <a:xfrm>
            <a:off x="3230348" y="4422365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모니터링 및 진단</a:t>
            </a:r>
          </a:p>
        </p:txBody>
      </p:sp>
      <p:sp>
        <p:nvSpPr>
          <p:cNvPr id="56" name="단계"/>
          <p:cNvSpPr/>
          <p:nvPr/>
        </p:nvSpPr>
        <p:spPr>
          <a:xfrm>
            <a:off x="5113043" y="4422365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7" name="단계"/>
          <p:cNvSpPr>
            <a:spLocks noGrp="1"/>
          </p:cNvSpPr>
          <p:nvPr>
            <p:ph type="body" sz="quarter" idx="42"/>
          </p:nvPr>
        </p:nvSpPr>
        <p:spPr>
          <a:xfrm>
            <a:off x="5113043" y="4422365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❸ 대응 및 환류</a:t>
            </a:r>
          </a:p>
        </p:txBody>
      </p:sp>
      <p:sp>
        <p:nvSpPr>
          <p:cNvPr id="58" name="단계 삼각형"/>
          <p:cNvSpPr/>
          <p:nvPr/>
        </p:nvSpPr>
        <p:spPr>
          <a:xfrm>
            <a:off x="3230347" y="4422365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9" name="단계 삼각형"/>
          <p:cNvSpPr/>
          <p:nvPr/>
        </p:nvSpPr>
        <p:spPr>
          <a:xfrm>
            <a:off x="5113043" y="4422365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0" name="칸 본문"/>
          <p:cNvSpPr>
            <a:spLocks noGrp="1"/>
          </p:cNvSpPr>
          <p:nvPr>
            <p:ph type="body" sz="quarter" idx="43"/>
          </p:nvPr>
        </p:nvSpPr>
        <p:spPr>
          <a:xfrm>
            <a:off x="1358609" y="4674365"/>
            <a:ext cx="1860783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선행지표 위험별 및 평가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경보체계 위험경보 구간 설정</a:t>
            </a:r>
          </a:p>
        </p:txBody>
      </p:sp>
      <p:sp>
        <p:nvSpPr>
          <p:cNvPr id="61" name="칸 본문"/>
          <p:cNvSpPr>
            <a:spLocks noGrp="1"/>
          </p:cNvSpPr>
          <p:nvPr>
            <p:ph type="body" sz="quarter" idx="44"/>
          </p:nvPr>
        </p:nvSpPr>
        <p:spPr>
          <a:xfrm>
            <a:off x="3241304" y="4674365"/>
            <a:ext cx="1860783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점검주기 월/주간 모니터링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시나리오 선제적 대응플랜 마련</a:t>
            </a:r>
          </a:p>
        </p:txBody>
      </p:sp>
      <p:cxnSp>
        <p:nvCxnSpPr>
          <p:cNvPr id="62" name="Connector 42"/>
          <p:cNvCxnSpPr/>
          <p:nvPr/>
        </p:nvCxnSpPr>
        <p:spPr>
          <a:xfrm>
            <a:off x="3230348" y="4707235"/>
            <a:ext cx="0" cy="788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3" name="칸 본문"/>
          <p:cNvSpPr>
            <a:spLocks noGrp="1"/>
          </p:cNvSpPr>
          <p:nvPr>
            <p:ph type="body" sz="quarter" idx="45"/>
          </p:nvPr>
        </p:nvSpPr>
        <p:spPr>
          <a:xfrm>
            <a:off x="5124000" y="4674365"/>
            <a:ext cx="1860783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전담조직 재무혁신 TF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환류 평가 및 목표 적정성 점검</a:t>
            </a:r>
          </a:p>
        </p:txBody>
      </p:sp>
      <p:cxnSp>
        <p:nvCxnSpPr>
          <p:cNvPr id="64" name="Connector 44"/>
          <p:cNvCxnSpPr/>
          <p:nvPr/>
        </p:nvCxnSpPr>
        <p:spPr>
          <a:xfrm>
            <a:off x="5113043" y="4707235"/>
            <a:ext cx="0" cy="788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5" name="레일"/>
          <p:cNvSpPr/>
          <p:nvPr/>
        </p:nvSpPr>
        <p:spPr>
          <a:xfrm>
            <a:off x="734087" y="5550887"/>
            <a:ext cx="580696" cy="1320261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6" name="레일"/>
          <p:cNvSpPr>
            <a:spLocks noGrp="1"/>
          </p:cNvSpPr>
          <p:nvPr>
            <p:ph type="body" sz="quarter" idx="46"/>
          </p:nvPr>
        </p:nvSpPr>
        <p:spPr>
          <a:xfrm>
            <a:off x="734087" y="5550887"/>
            <a:ext cx="580696" cy="1320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❶ 지표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설정</a:t>
            </a:r>
          </a:p>
        </p:txBody>
      </p:sp>
      <p:sp>
        <p:nvSpPr>
          <p:cNvPr id="67" name="레일 삼각형"/>
          <p:cNvSpPr/>
          <p:nvPr/>
        </p:nvSpPr>
        <p:spPr>
          <a:xfrm>
            <a:off x="734086" y="5550886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8" name="단계"/>
          <p:cNvSpPr/>
          <p:nvPr/>
        </p:nvSpPr>
        <p:spPr>
          <a:xfrm>
            <a:off x="1347652" y="5572800"/>
            <a:ext cx="2259235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9" name="단계"/>
          <p:cNvSpPr>
            <a:spLocks noGrp="1"/>
          </p:cNvSpPr>
          <p:nvPr>
            <p:ph type="body" sz="quarter" idx="47"/>
          </p:nvPr>
        </p:nvSpPr>
        <p:spPr>
          <a:xfrm>
            <a:off x="1347652" y="5572800"/>
            <a:ext cx="2259235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진단 현금흐름 정체 위기징후</a:t>
            </a:r>
          </a:p>
        </p:txBody>
      </p:sp>
      <p:sp>
        <p:nvSpPr>
          <p:cNvPr id="70" name="단계"/>
          <p:cNvSpPr/>
          <p:nvPr/>
        </p:nvSpPr>
        <p:spPr>
          <a:xfrm>
            <a:off x="3606887" y="5572800"/>
            <a:ext cx="3388852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1" name="단계"/>
          <p:cNvSpPr>
            <a:spLocks noGrp="1"/>
          </p:cNvSpPr>
          <p:nvPr>
            <p:ph type="body" sz="quarter" idx="48"/>
          </p:nvPr>
        </p:nvSpPr>
        <p:spPr>
          <a:xfrm>
            <a:off x="3606887" y="5572800"/>
            <a:ext cx="338885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현금흐름에 영향력 큰 선제적 위험식별</a:t>
            </a:r>
          </a:p>
        </p:txBody>
      </p:sp>
      <p:sp>
        <p:nvSpPr>
          <p:cNvPr id="72" name="단계 삼각형"/>
          <p:cNvSpPr/>
          <p:nvPr/>
        </p:nvSpPr>
        <p:spPr>
          <a:xfrm>
            <a:off x="3606886" y="5572799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3" name="칸 본문"/>
          <p:cNvSpPr>
            <a:spLocks noGrp="1"/>
          </p:cNvSpPr>
          <p:nvPr>
            <p:ph type="body" sz="quarter" idx="49"/>
          </p:nvPr>
        </p:nvSpPr>
        <p:spPr>
          <a:xfrm>
            <a:off x="1358609" y="5824800"/>
            <a:ext cx="2237322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영업현금 수변사업 투자 증가로, 투자·수납 수지차 확대 예상(’25~)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현금흐름 정체 우려, 선행지표 공백</a:t>
            </a:r>
          </a:p>
        </p:txBody>
      </p:sp>
      <p:sp>
        <p:nvSpPr>
          <p:cNvPr id="74" name="칸 본문"/>
          <p:cNvSpPr>
            <a:spLocks noGrp="1"/>
          </p:cNvSpPr>
          <p:nvPr>
            <p:ph type="body" sz="quarter" idx="50"/>
          </p:nvPr>
        </p:nvSpPr>
        <p:spPr>
          <a:xfrm>
            <a:off x="3617843" y="5824800"/>
            <a:ext cx="3366939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‘수변사업 대금회수’ 신설, 전사 위험지표 8→9개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단기 전력요금(원가), 강우량(발전량), 시장금리, 신규 수변 대금회수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중장기 수도투자(공급량), 유가(전력단가), 기준금리(금융비용), 분양(매출)</a:t>
            </a:r>
          </a:p>
        </p:txBody>
      </p:sp>
      <p:cxnSp>
        <p:nvCxnSpPr>
          <p:cNvPr id="75" name="Connector 52"/>
          <p:cNvCxnSpPr/>
          <p:nvPr/>
        </p:nvCxnSpPr>
        <p:spPr>
          <a:xfrm>
            <a:off x="3606887" y="5857670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6" name="레일"/>
          <p:cNvSpPr/>
          <p:nvPr/>
        </p:nvSpPr>
        <p:spPr>
          <a:xfrm>
            <a:off x="734087" y="6887583"/>
            <a:ext cx="580696" cy="1309304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7" name="레일"/>
          <p:cNvSpPr>
            <a:spLocks noGrp="1"/>
          </p:cNvSpPr>
          <p:nvPr>
            <p:ph type="body" sz="quarter" idx="51"/>
          </p:nvPr>
        </p:nvSpPr>
        <p:spPr>
          <a:xfrm>
            <a:off x="734087" y="6887583"/>
            <a:ext cx="580696" cy="1309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❷ 모니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터링</a:t>
            </a:r>
          </a:p>
        </p:txBody>
      </p:sp>
      <p:sp>
        <p:nvSpPr>
          <p:cNvPr id="78" name="머리칸"/>
          <p:cNvSpPr/>
          <p:nvPr/>
        </p:nvSpPr>
        <p:spPr>
          <a:xfrm>
            <a:off x="1347652" y="690949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9" name="머리칸"/>
          <p:cNvSpPr>
            <a:spLocks noGrp="1"/>
          </p:cNvSpPr>
          <p:nvPr>
            <p:ph type="body" sz="quarter" idx="52"/>
          </p:nvPr>
        </p:nvSpPr>
        <p:spPr>
          <a:xfrm>
            <a:off x="1347652" y="690949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더 빠른 조기 경보</a:t>
            </a:r>
          </a:p>
        </p:txBody>
      </p:sp>
      <p:sp>
        <p:nvSpPr>
          <p:cNvPr id="80" name="머리칸"/>
          <p:cNvSpPr/>
          <p:nvPr/>
        </p:nvSpPr>
        <p:spPr>
          <a:xfrm>
            <a:off x="3230348" y="690949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81" name="머리칸"/>
          <p:cNvSpPr>
            <a:spLocks noGrp="1"/>
          </p:cNvSpPr>
          <p:nvPr>
            <p:ph type="body" sz="quarter" idx="53"/>
          </p:nvPr>
        </p:nvSpPr>
        <p:spPr>
          <a:xfrm>
            <a:off x="3230348" y="690949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시나리오 분석</a:t>
            </a:r>
          </a:p>
        </p:txBody>
      </p:sp>
      <p:sp>
        <p:nvSpPr>
          <p:cNvPr id="82" name="머리칸"/>
          <p:cNvSpPr/>
          <p:nvPr/>
        </p:nvSpPr>
        <p:spPr>
          <a:xfrm>
            <a:off x="5113043" y="690949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83" name="머리칸"/>
          <p:cNvSpPr>
            <a:spLocks noGrp="1"/>
          </p:cNvSpPr>
          <p:nvPr>
            <p:ph type="body" sz="quarter" idx="54"/>
          </p:nvPr>
        </p:nvSpPr>
        <p:spPr>
          <a:xfrm>
            <a:off x="5113043" y="690949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대응플랜 사전설계</a:t>
            </a:r>
          </a:p>
        </p:txBody>
      </p:sp>
      <p:sp>
        <p:nvSpPr>
          <p:cNvPr id="84" name="칸 본문"/>
          <p:cNvSpPr>
            <a:spLocks noGrp="1"/>
          </p:cNvSpPr>
          <p:nvPr>
            <p:ph type="body" sz="quarter" idx="55"/>
          </p:nvPr>
        </p:nvSpPr>
        <p:spPr>
          <a:xfrm>
            <a:off x="1358609" y="7150539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월 단위 점검, 조기경보 발동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위기징후시 주 단위 대응TF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점검 및 대응 주기 단축</a:t>
            </a:r>
          </a:p>
        </p:txBody>
      </p:sp>
      <p:sp>
        <p:nvSpPr>
          <p:cNvPr id="85" name="칸 본문"/>
          <p:cNvSpPr>
            <a:spLocks noGrp="1"/>
          </p:cNvSpPr>
          <p:nvPr>
            <p:ph type="body" sz="quarter" idx="56"/>
          </p:nvPr>
        </p:nvSpPr>
        <p:spPr>
          <a:xfrm>
            <a:off x="3241304" y="7150539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시나리오별 재무영향 분석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 단계 → 데이터기반 민감도분석 → 재무영향</a:t>
            </a:r>
          </a:p>
        </p:txBody>
      </p:sp>
      <p:cxnSp>
        <p:nvCxnSpPr>
          <p:cNvPr id="86" name="Connector 59"/>
          <p:cNvCxnSpPr/>
          <p:nvPr/>
        </p:nvCxnSpPr>
        <p:spPr>
          <a:xfrm>
            <a:off x="3230348" y="7183409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7" name="칸 본문"/>
          <p:cNvSpPr>
            <a:spLocks noGrp="1"/>
          </p:cNvSpPr>
          <p:nvPr>
            <p:ph type="body" sz="quarter" idx="57"/>
          </p:nvPr>
        </p:nvSpPr>
        <p:spPr>
          <a:xfrm>
            <a:off x="5124000" y="7150539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맞춤형 대책 선제적 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0.9%p↑ 보수 투자규모·시기조정 / 부채비율 중립 매출확대, 원가절감 / 0.9%p↓ 낙관 공정관리, 경비절감</a:t>
            </a:r>
          </a:p>
        </p:txBody>
      </p:sp>
      <p:cxnSp>
        <p:nvCxnSpPr>
          <p:cNvPr id="88" name="Connector 61"/>
          <p:cNvCxnSpPr/>
          <p:nvPr/>
        </p:nvCxnSpPr>
        <p:spPr>
          <a:xfrm>
            <a:off x="5113043" y="7183409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9" name="레일"/>
          <p:cNvSpPr/>
          <p:nvPr/>
        </p:nvSpPr>
        <p:spPr>
          <a:xfrm>
            <a:off x="734087" y="8213322"/>
            <a:ext cx="580696" cy="1309304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90" name="레일"/>
          <p:cNvSpPr>
            <a:spLocks noGrp="1"/>
          </p:cNvSpPr>
          <p:nvPr>
            <p:ph type="body" sz="quarter" idx="58"/>
          </p:nvPr>
        </p:nvSpPr>
        <p:spPr>
          <a:xfrm>
            <a:off x="734087" y="8213322"/>
            <a:ext cx="580696" cy="1309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❸ 대응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환류</a:t>
            </a:r>
          </a:p>
        </p:txBody>
      </p:sp>
      <p:sp>
        <p:nvSpPr>
          <p:cNvPr id="91" name="레일 삼각형"/>
          <p:cNvSpPr/>
          <p:nvPr/>
        </p:nvSpPr>
        <p:spPr>
          <a:xfrm>
            <a:off x="734086" y="8213321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92" name="머리칸"/>
          <p:cNvSpPr/>
          <p:nvPr/>
        </p:nvSpPr>
        <p:spPr>
          <a:xfrm>
            <a:off x="1347652" y="823523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93" name="머리칸"/>
          <p:cNvSpPr>
            <a:spLocks noGrp="1"/>
          </p:cNvSpPr>
          <p:nvPr>
            <p:ph type="body" sz="quarter" idx="59"/>
          </p:nvPr>
        </p:nvSpPr>
        <p:spPr>
          <a:xfrm>
            <a:off x="1347652" y="823523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~’24년 위험 관리체계 재정립</a:t>
            </a:r>
          </a:p>
        </p:txBody>
      </p:sp>
      <p:sp>
        <p:nvSpPr>
          <p:cNvPr id="94" name="머리칸"/>
          <p:cNvSpPr/>
          <p:nvPr/>
        </p:nvSpPr>
        <p:spPr>
          <a:xfrm>
            <a:off x="3230348" y="823523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95" name="머리칸"/>
          <p:cNvSpPr>
            <a:spLocks noGrp="1"/>
          </p:cNvSpPr>
          <p:nvPr>
            <p:ph type="body" sz="quarter" idx="60"/>
          </p:nvPr>
        </p:nvSpPr>
        <p:spPr>
          <a:xfrm>
            <a:off x="3230348" y="823523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의사결정 책임 강화</a:t>
            </a:r>
          </a:p>
        </p:txBody>
      </p:sp>
      <p:sp>
        <p:nvSpPr>
          <p:cNvPr id="96" name="머리칸"/>
          <p:cNvSpPr/>
          <p:nvPr/>
        </p:nvSpPr>
        <p:spPr>
          <a:xfrm>
            <a:off x="5113043" y="823523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97" name="머리칸"/>
          <p:cNvSpPr>
            <a:spLocks noGrp="1"/>
          </p:cNvSpPr>
          <p:nvPr>
            <p:ph type="body" sz="quarter" idx="61"/>
          </p:nvPr>
        </p:nvSpPr>
        <p:spPr>
          <a:xfrm>
            <a:off x="5113043" y="823523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목표 적정성 점검</a:t>
            </a:r>
          </a:p>
        </p:txBody>
      </p:sp>
      <p:sp>
        <p:nvSpPr>
          <p:cNvPr id="98" name="칸 본문"/>
          <p:cNvSpPr>
            <a:spLocks noGrp="1"/>
          </p:cNvSpPr>
          <p:nvPr>
            <p:ph type="body" sz="quarter" idx="62"/>
          </p:nvPr>
        </p:nvSpPr>
        <p:spPr>
          <a:xfrm>
            <a:off x="1358609" y="8476278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거버넌스 재무 컨트롤타워, TF 신설로 의사결정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관리체계 중기 위험지표 개선</a:t>
            </a:r>
          </a:p>
        </p:txBody>
      </p:sp>
      <p:sp>
        <p:nvSpPr>
          <p:cNvPr id="99" name="칸 본문"/>
          <p:cNvSpPr>
            <a:spLocks noGrp="1"/>
          </p:cNvSpPr>
          <p:nvPr>
            <p:ph type="body" sz="quarter" idx="63"/>
          </p:nvPr>
        </p:nvSpPr>
        <p:spPr>
          <a:xfrm>
            <a:off x="3241304" y="8476278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TF 참여 직급 상향(부서장)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부문별 목표부여·성과관리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매출액 성장 10.4%↑(전년比)</a:t>
            </a:r>
          </a:p>
        </p:txBody>
      </p:sp>
      <p:cxnSp>
        <p:nvCxnSpPr>
          <p:cNvPr id="100" name="Connector 69"/>
          <p:cNvCxnSpPr/>
          <p:nvPr/>
        </p:nvCxnSpPr>
        <p:spPr>
          <a:xfrm>
            <a:off x="3230348" y="8509148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01" name="칸 본문"/>
          <p:cNvSpPr>
            <a:spLocks noGrp="1"/>
          </p:cNvSpPr>
          <p:nvPr>
            <p:ph type="body" sz="quarter" idx="64"/>
          </p:nvPr>
        </p:nvSpPr>
        <p:spPr>
          <a:xfrm>
            <a:off x="5124000" y="8476278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적정성 점검단계 신설(월별) 및 관리목표 상향조정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영업이익 개선 18%↑(계획比)</a:t>
            </a:r>
          </a:p>
        </p:txBody>
      </p:sp>
      <p:cxnSp>
        <p:nvCxnSpPr>
          <p:cNvPr id="102" name="Connector 71"/>
          <p:cNvCxnSpPr/>
          <p:nvPr/>
        </p:nvCxnSpPr>
        <p:spPr>
          <a:xfrm>
            <a:off x="5113043" y="8509148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19 서사 · 안정적 위험관리와 건전성 유지(위기경보 → 즉시대응 → 구조적 위기대응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4544754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안정적 위험관리로 투자 확대에도 부채비율 개선△5.7%p 등 건전성 유지</a:t>
            </a:r>
          </a:p>
        </p:txBody>
      </p:sp>
      <p:sp>
        <p:nvSpPr>
          <p:cNvPr id="12" name="태그칩"/>
          <p:cNvSpPr/>
          <p:nvPr/>
        </p:nvSpPr>
        <p:spPr>
          <a:xfrm>
            <a:off x="5180232" y="799826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5180232" y="799826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4" name="표 외곽"/>
          <p:cNvSpPr/>
          <p:nvPr/>
        </p:nvSpPr>
        <p:spPr>
          <a:xfrm>
            <a:off x="536870" y="1051826"/>
            <a:ext cx="6300000" cy="388408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547826" y="1068261"/>
            <a:ext cx="580696" cy="119973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068261"/>
            <a:ext cx="580696" cy="1199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위기경보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모니터링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위기포착</a:t>
            </a:r>
          </a:p>
        </p:txBody>
      </p:sp>
      <p:sp>
        <p:nvSpPr>
          <p:cNvPr id="17" name="머리칸"/>
          <p:cNvSpPr/>
          <p:nvPr/>
        </p:nvSpPr>
        <p:spPr>
          <a:xfrm>
            <a:off x="1161391" y="109017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8" name="머리칸"/>
          <p:cNvSpPr>
            <a:spLocks noGrp="1"/>
          </p:cNvSpPr>
          <p:nvPr>
            <p:ph type="body" sz="quarter" idx="23"/>
          </p:nvPr>
        </p:nvSpPr>
        <p:spPr>
          <a:xfrm>
            <a:off x="1161391" y="109017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에너지사업 강우량 주의 경보(1분기)</a:t>
            </a:r>
          </a:p>
        </p:txBody>
      </p:sp>
      <p:sp>
        <p:nvSpPr>
          <p:cNvPr id="19" name="머리칸"/>
          <p:cNvSpPr/>
          <p:nvPr/>
        </p:nvSpPr>
        <p:spPr>
          <a:xfrm>
            <a:off x="3985435" y="109017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0" name="머리칸"/>
          <p:cNvSpPr>
            <a:spLocks noGrp="1"/>
          </p:cNvSpPr>
          <p:nvPr>
            <p:ph type="body" sz="quarter" idx="24"/>
          </p:nvPr>
        </p:nvSpPr>
        <p:spPr>
          <a:xfrm>
            <a:off x="3985435" y="109017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수변사업 대금회수 주의 경보(1분기)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5"/>
          </p:nvPr>
        </p:nvSpPr>
        <p:spPr>
          <a:xfrm>
            <a:off x="1172348" y="1331217"/>
            <a:ext cx="2802130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발전량 평년 강우 60%, 수력 발전량 하락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가격 유가 10% 하락, 수력 발전 매출 감소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누적강우량(mm) · 평년대비(%) 차트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6"/>
          </p:nvPr>
        </p:nvSpPr>
        <p:spPr>
          <a:xfrm>
            <a:off x="3996391" y="1331217"/>
            <a:ext cx="2802130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수납 원가용지 확대로 대금회수, 이익 저조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지출 송산등 투자증가 ➡ 영업 현금흐름 감소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투자·수납·현금수지 차트</a:t>
            </a:r>
          </a:p>
        </p:txBody>
      </p:sp>
      <p:cxnSp>
        <p:nvCxnSpPr>
          <p:cNvPr id="23" name="Connector 15"/>
          <p:cNvCxnSpPr/>
          <p:nvPr/>
        </p:nvCxnSpPr>
        <p:spPr>
          <a:xfrm>
            <a:off x="3985435" y="1364087"/>
            <a:ext cx="0" cy="865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4" name="레일"/>
          <p:cNvSpPr/>
          <p:nvPr/>
        </p:nvSpPr>
        <p:spPr>
          <a:xfrm>
            <a:off x="547826" y="2284435"/>
            <a:ext cx="580696" cy="1309304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5" name="레일 태그"/>
          <p:cNvSpPr/>
          <p:nvPr/>
        </p:nvSpPr>
        <p:spPr>
          <a:xfrm>
            <a:off x="558376" y="2448783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6" name="레일 태그"/>
          <p:cNvSpPr>
            <a:spLocks noGrp="1"/>
          </p:cNvSpPr>
          <p:nvPr>
            <p:ph type="body" sz="quarter" idx="27"/>
          </p:nvPr>
        </p:nvSpPr>
        <p:spPr>
          <a:xfrm>
            <a:off x="558376" y="2448783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즉시대응</a:t>
            </a:r>
          </a:p>
        </p:txBody>
      </p:sp>
      <p:sp>
        <p:nvSpPr>
          <p:cNvPr id="27" name="레일 라벨"/>
          <p:cNvSpPr>
            <a:spLocks noGrp="1"/>
          </p:cNvSpPr>
          <p:nvPr>
            <p:ph type="body" sz="quarter" idx="28"/>
          </p:nvPr>
        </p:nvSpPr>
        <p:spPr>
          <a:xfrm>
            <a:off x="547826" y="2635043"/>
            <a:ext cx="580696" cy="936783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준비된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대응플랜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가 동</a:t>
            </a:r>
          </a:p>
        </p:txBody>
      </p:sp>
      <p:sp>
        <p:nvSpPr>
          <p:cNvPr id="28" name="레일 삼각형"/>
          <p:cNvSpPr/>
          <p:nvPr/>
        </p:nvSpPr>
        <p:spPr>
          <a:xfrm>
            <a:off x="547826" y="2284434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머리칸"/>
          <p:cNvSpPr/>
          <p:nvPr/>
        </p:nvSpPr>
        <p:spPr>
          <a:xfrm>
            <a:off x="1161391" y="2306348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0" name="머리칸"/>
          <p:cNvSpPr>
            <a:spLocks noGrp="1"/>
          </p:cNvSpPr>
          <p:nvPr>
            <p:ph type="body" sz="quarter" idx="29"/>
          </p:nvPr>
        </p:nvSpPr>
        <p:spPr>
          <a:xfrm>
            <a:off x="1161391" y="2306348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발전량·가격 정밀 예측·대응, 매출 확대</a:t>
            </a:r>
          </a:p>
        </p:txBody>
      </p:sp>
      <p:sp>
        <p:nvSpPr>
          <p:cNvPr id="31" name="머리칸"/>
          <p:cNvSpPr/>
          <p:nvPr/>
        </p:nvSpPr>
        <p:spPr>
          <a:xfrm>
            <a:off x="3985435" y="2306348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2" name="머리칸"/>
          <p:cNvSpPr>
            <a:spLocks noGrp="1"/>
          </p:cNvSpPr>
          <p:nvPr>
            <p:ph type="body" sz="quarter" idx="30"/>
          </p:nvPr>
        </p:nvSpPr>
        <p:spPr>
          <a:xfrm>
            <a:off x="3985435" y="2306348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수변사업 현금수지 개선 노력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1"/>
          </p:nvPr>
        </p:nvSpPr>
        <p:spPr>
          <a:xfrm>
            <a:off x="1172348" y="2547391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추가 발전량 확보: 데이터 기반 강우 유입·발전량 예측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AI활용 판매단가 제고: 전력수요·가격예측 AI활용 기술개발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강우 감소에도 정교한 댐 운영(발전량 14%↑), 가격예측으로 매출액 208억원↑(계획比)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2"/>
          </p:nvPr>
        </p:nvSpPr>
        <p:spPr>
          <a:xfrm>
            <a:off x="3996391" y="2547391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분양토지 판매촉진: 수요맞춤 착공지원 등 제도개선 추진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현금흐름 기반 계획: 현금흐름 기반 투자·회수계획 수립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수변 대금 회수 촉진, 계획比 2.7천억원 투자계획 조정(△1.6천억원), 현금수지 개선</a:t>
            </a:r>
          </a:p>
        </p:txBody>
      </p:sp>
      <p:cxnSp>
        <p:nvCxnSpPr>
          <p:cNvPr id="35" name="Connector 24"/>
          <p:cNvCxnSpPr/>
          <p:nvPr/>
        </p:nvCxnSpPr>
        <p:spPr>
          <a:xfrm>
            <a:off x="3985435" y="2580261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6" name="레일"/>
          <p:cNvSpPr/>
          <p:nvPr/>
        </p:nvSpPr>
        <p:spPr>
          <a:xfrm>
            <a:off x="547826" y="3610174"/>
            <a:ext cx="580696" cy="1309304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7" name="레일 태그"/>
          <p:cNvSpPr/>
          <p:nvPr/>
        </p:nvSpPr>
        <p:spPr>
          <a:xfrm>
            <a:off x="488856" y="3774522"/>
            <a:ext cx="69863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8" name="레일 태그"/>
          <p:cNvSpPr>
            <a:spLocks noGrp="1"/>
          </p:cNvSpPr>
          <p:nvPr>
            <p:ph type="body" sz="quarter" idx="33"/>
          </p:nvPr>
        </p:nvSpPr>
        <p:spPr>
          <a:xfrm>
            <a:off x="488856" y="3774522"/>
            <a:ext cx="69863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중장기 대응</a:t>
            </a:r>
          </a:p>
        </p:txBody>
      </p:sp>
      <p:sp>
        <p:nvSpPr>
          <p:cNvPr id="39" name="레일 라벨"/>
          <p:cNvSpPr>
            <a:spLocks noGrp="1"/>
          </p:cNvSpPr>
          <p:nvPr>
            <p:ph type="body" sz="quarter" idx="34"/>
          </p:nvPr>
        </p:nvSpPr>
        <p:spPr>
          <a:xfrm>
            <a:off x="547826" y="3960783"/>
            <a:ext cx="580696" cy="936783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구 조 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위기대응</a:t>
            </a:r>
          </a:p>
        </p:txBody>
      </p:sp>
      <p:sp>
        <p:nvSpPr>
          <p:cNvPr id="40" name="레일 삼각형"/>
          <p:cNvSpPr/>
          <p:nvPr/>
        </p:nvSpPr>
        <p:spPr>
          <a:xfrm>
            <a:off x="547826" y="3610173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1" name="머리칸"/>
          <p:cNvSpPr/>
          <p:nvPr/>
        </p:nvSpPr>
        <p:spPr>
          <a:xfrm>
            <a:off x="1161391" y="3632087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2" name="머리칸"/>
          <p:cNvSpPr>
            <a:spLocks noGrp="1"/>
          </p:cNvSpPr>
          <p:nvPr>
            <p:ph type="body" sz="quarter" idx="35"/>
          </p:nvPr>
        </p:nvSpPr>
        <p:spPr>
          <a:xfrm>
            <a:off x="1161391" y="3632087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중장기 위험분산을 통한 변동성 대응</a:t>
            </a:r>
          </a:p>
        </p:txBody>
      </p:sp>
      <p:sp>
        <p:nvSpPr>
          <p:cNvPr id="43" name="머리칸"/>
          <p:cNvSpPr/>
          <p:nvPr/>
        </p:nvSpPr>
        <p:spPr>
          <a:xfrm>
            <a:off x="3985435" y="3632087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4" name="머리칸"/>
          <p:cNvSpPr>
            <a:spLocks noGrp="1"/>
          </p:cNvSpPr>
          <p:nvPr>
            <p:ph type="body" sz="quarter" idx="36"/>
          </p:nvPr>
        </p:nvSpPr>
        <p:spPr>
          <a:xfrm>
            <a:off x="3985435" y="3632087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현안(현금흐름) 연계 중장기 수익성 개선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37"/>
          </p:nvPr>
        </p:nvSpPr>
        <p:spPr>
          <a:xfrm>
            <a:off x="1172348" y="3873130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발전원 다각화: 수상태양광 등 발전 다각화 전략 수립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가격 안정성 확보: 재생에너지 직접 전력구매계약(PPA)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PPA 계약 5건(신규 3건)으로 수익 219억원↑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38"/>
          </p:nvPr>
        </p:nvSpPr>
        <p:spPr>
          <a:xfrm>
            <a:off x="3996391" y="3873130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수익성 용지 확대: 시장 수요 감안, 사업성 기반 용도변경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수익 변동성 완화: 고수익-원가용지 배분 매출계획 수립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시화MTV(상업 → 주상복합), 송산GC(저수익 → 산업)</a:t>
            </a:r>
          </a:p>
        </p:txBody>
      </p:sp>
      <p:cxnSp>
        <p:nvCxnSpPr>
          <p:cNvPr id="47" name="Connector 33"/>
          <p:cNvCxnSpPr/>
          <p:nvPr/>
        </p:nvCxnSpPr>
        <p:spPr>
          <a:xfrm>
            <a:off x="3985435" y="3906000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8" name="핵심성과 박스"/>
          <p:cNvSpPr/>
          <p:nvPr/>
        </p:nvSpPr>
        <p:spPr>
          <a:xfrm>
            <a:off x="536870" y="5023565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9" name="핵심성과 라벨"/>
          <p:cNvSpPr/>
          <p:nvPr/>
        </p:nvSpPr>
        <p:spPr>
          <a:xfrm>
            <a:off x="569739" y="5056435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50" name="핵심성과 라벨"/>
          <p:cNvSpPr>
            <a:spLocks noGrp="1"/>
          </p:cNvSpPr>
          <p:nvPr>
            <p:ph type="body" sz="quarter" idx="39"/>
          </p:nvPr>
        </p:nvSpPr>
        <p:spPr>
          <a:xfrm>
            <a:off x="569739" y="5056435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1" name="핵심성과 문구"/>
          <p:cNvSpPr>
            <a:spLocks noGrp="1"/>
          </p:cNvSpPr>
          <p:nvPr>
            <p:ph type="body" sz="quarter" idx="40"/>
          </p:nvPr>
        </p:nvSpPr>
        <p:spPr>
          <a:xfrm>
            <a:off x="1314783" y="5045478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극한가뭄, 원가상승 위기 극복을 통한 매출액 성장(10.4%↑), 영업이익 개선(계획比 18%↑)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에너지사업 등 투자 확대에도 부채비율 92.7%(△5.7%p)로 재무건전성 유지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20 서사 · 구분회계 재무정보 활용(운영체계 → 합리적 경영판단 지원 → 효과적 성과관리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4327894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 구분회계 재무정보를 활용한 프로젝트 단위 성과분석 및 의사결정 활용</a:t>
            </a:r>
          </a:p>
        </p:txBody>
      </p:sp>
      <p:sp>
        <p:nvSpPr>
          <p:cNvPr id="11" name="태그칩"/>
          <p:cNvSpPr/>
          <p:nvPr/>
        </p:nvSpPr>
        <p:spPr>
          <a:xfrm>
            <a:off x="5149633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5149633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표 외곽"/>
          <p:cNvSpPr/>
          <p:nvPr/>
        </p:nvSpPr>
        <p:spPr>
          <a:xfrm>
            <a:off x="723130" y="1062783"/>
            <a:ext cx="6300000" cy="331982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레일"/>
          <p:cNvSpPr/>
          <p:nvPr/>
        </p:nvSpPr>
        <p:spPr>
          <a:xfrm>
            <a:off x="734087" y="1079217"/>
            <a:ext cx="580696" cy="931304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 태그"/>
          <p:cNvSpPr/>
          <p:nvPr/>
        </p:nvSpPr>
        <p:spPr>
          <a:xfrm>
            <a:off x="744637" y="1123043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16" name="레일 태그"/>
          <p:cNvSpPr>
            <a:spLocks noGrp="1"/>
          </p:cNvSpPr>
          <p:nvPr>
            <p:ph type="body" sz="quarter" idx="22"/>
          </p:nvPr>
        </p:nvSpPr>
        <p:spPr>
          <a:xfrm>
            <a:off x="744637" y="1123043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운영체계</a:t>
            </a:r>
          </a:p>
        </p:txBody>
      </p:sp>
      <p:sp>
        <p:nvSpPr>
          <p:cNvPr id="17" name="레일 라벨"/>
          <p:cNvSpPr>
            <a:spLocks noGrp="1"/>
          </p:cNvSpPr>
          <p:nvPr>
            <p:ph type="body" sz="quarter" idx="23"/>
          </p:nvPr>
        </p:nvSpPr>
        <p:spPr>
          <a:xfrm>
            <a:off x="734087" y="1309304"/>
            <a:ext cx="580696" cy="679304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구분회계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선도모델</a:t>
            </a:r>
          </a:p>
        </p:txBody>
      </p:sp>
      <p:sp>
        <p:nvSpPr>
          <p:cNvPr id="18" name="배너"/>
          <p:cNvSpPr/>
          <p:nvPr/>
        </p:nvSpPr>
        <p:spPr>
          <a:xfrm>
            <a:off x="1347652" y="1101130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19" name="배너"/>
          <p:cNvSpPr>
            <a:spLocks noGrp="1"/>
          </p:cNvSpPr>
          <p:nvPr>
            <p:ph type="body" sz="quarter" idx="24"/>
          </p:nvPr>
        </p:nvSpPr>
        <p:spPr>
          <a:xfrm>
            <a:off x="1347652" y="1101130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他 기관이 벤치마킹 하는 롤모델, K-water 구분회계를 통한 사업성과 점검 및 환류</a:t>
            </a:r>
          </a:p>
        </p:txBody>
      </p:sp>
      <p:sp>
        <p:nvSpPr>
          <p:cNvPr id="20" name="단계"/>
          <p:cNvSpPr/>
          <p:nvPr/>
        </p:nvSpPr>
        <p:spPr>
          <a:xfrm>
            <a:off x="1347652" y="1336696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1" name="단계"/>
          <p:cNvSpPr>
            <a:spLocks noGrp="1"/>
          </p:cNvSpPr>
          <p:nvPr>
            <p:ph type="body" sz="quarter" idx="25"/>
          </p:nvPr>
        </p:nvSpPr>
        <p:spPr>
          <a:xfrm>
            <a:off x="1347652" y="133669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예산편성부터 구분</a:t>
            </a:r>
          </a:p>
        </p:txBody>
      </p:sp>
      <p:sp>
        <p:nvSpPr>
          <p:cNvPr id="22" name="단계"/>
          <p:cNvSpPr/>
          <p:nvPr/>
        </p:nvSpPr>
        <p:spPr>
          <a:xfrm>
            <a:off x="3230348" y="1336696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3" name="단계"/>
          <p:cNvSpPr>
            <a:spLocks noGrp="1"/>
          </p:cNvSpPr>
          <p:nvPr>
            <p:ph type="body" sz="quarter" idx="26"/>
          </p:nvPr>
        </p:nvSpPr>
        <p:spPr>
          <a:xfrm>
            <a:off x="3230348" y="133669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모니터링 및 성과분석</a:t>
            </a:r>
          </a:p>
        </p:txBody>
      </p:sp>
      <p:sp>
        <p:nvSpPr>
          <p:cNvPr id="24" name="단계"/>
          <p:cNvSpPr/>
          <p:nvPr/>
        </p:nvSpPr>
        <p:spPr>
          <a:xfrm>
            <a:off x="5113043" y="1336696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5" name="단계"/>
          <p:cNvSpPr>
            <a:spLocks noGrp="1"/>
          </p:cNvSpPr>
          <p:nvPr>
            <p:ph type="body" sz="quarter" idx="27"/>
          </p:nvPr>
        </p:nvSpPr>
        <p:spPr>
          <a:xfrm>
            <a:off x="5113043" y="133669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성과평가 연계·환류</a:t>
            </a:r>
          </a:p>
        </p:txBody>
      </p:sp>
      <p:sp>
        <p:nvSpPr>
          <p:cNvPr id="26" name="단계 삼각형"/>
          <p:cNvSpPr/>
          <p:nvPr/>
        </p:nvSpPr>
        <p:spPr>
          <a:xfrm>
            <a:off x="3230347" y="1336695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7" name="단계 삼각형"/>
          <p:cNvSpPr/>
          <p:nvPr/>
        </p:nvSpPr>
        <p:spPr>
          <a:xfrm>
            <a:off x="5113043" y="1336695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8"/>
          </p:nvPr>
        </p:nvSpPr>
        <p:spPr>
          <a:xfrm>
            <a:off x="1358609" y="1588696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9개 사업 단위, 1.4천개 프로젝트(직접귀속률 95%)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3241304" y="1588696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월 단위 구분 재무제표 도출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사업·부서별 성과지표 모니터링</a:t>
            </a:r>
          </a:p>
        </p:txBody>
      </p:sp>
      <p:cxnSp>
        <p:nvCxnSpPr>
          <p:cNvPr id="30" name="Connector 18"/>
          <p:cNvCxnSpPr/>
          <p:nvPr/>
        </p:nvCxnSpPr>
        <p:spPr>
          <a:xfrm>
            <a:off x="3230348" y="1621565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5124000" y="1588696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재무건전성 개선노력(매출액, 경비절감) 개인·부서 평가</a:t>
            </a:r>
          </a:p>
        </p:txBody>
      </p:sp>
      <p:cxnSp>
        <p:nvCxnSpPr>
          <p:cNvPr id="32" name="Connector 20"/>
          <p:cNvCxnSpPr/>
          <p:nvPr/>
        </p:nvCxnSpPr>
        <p:spPr>
          <a:xfrm>
            <a:off x="5113043" y="1621565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레일"/>
          <p:cNvSpPr/>
          <p:nvPr/>
        </p:nvSpPr>
        <p:spPr>
          <a:xfrm>
            <a:off x="734087" y="2026957"/>
            <a:ext cx="580696" cy="1216174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4" name="레일 태그"/>
          <p:cNvSpPr/>
          <p:nvPr/>
        </p:nvSpPr>
        <p:spPr>
          <a:xfrm>
            <a:off x="744637" y="2191304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5" name="레일 태그"/>
          <p:cNvSpPr>
            <a:spLocks noGrp="1"/>
          </p:cNvSpPr>
          <p:nvPr>
            <p:ph type="body" sz="quarter" idx="31"/>
          </p:nvPr>
        </p:nvSpPr>
        <p:spPr>
          <a:xfrm>
            <a:off x="744637" y="2191304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활용노력</a:t>
            </a:r>
          </a:p>
        </p:txBody>
      </p:sp>
      <p:sp>
        <p:nvSpPr>
          <p:cNvPr id="36" name="레일 라벨"/>
          <p:cNvSpPr>
            <a:spLocks noGrp="1"/>
          </p:cNvSpPr>
          <p:nvPr>
            <p:ph type="body" sz="quarter" idx="32"/>
          </p:nvPr>
        </p:nvSpPr>
        <p:spPr>
          <a:xfrm>
            <a:off x="734087" y="2377565"/>
            <a:ext cx="580696" cy="843652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합리적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경영판단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 원</a:t>
            </a:r>
          </a:p>
        </p:txBody>
      </p:sp>
      <p:sp>
        <p:nvSpPr>
          <p:cNvPr id="37" name="레일 삼각형"/>
          <p:cNvSpPr/>
          <p:nvPr/>
        </p:nvSpPr>
        <p:spPr>
          <a:xfrm>
            <a:off x="734086" y="2026956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8" name="배너"/>
          <p:cNvSpPr/>
          <p:nvPr/>
        </p:nvSpPr>
        <p:spPr>
          <a:xfrm>
            <a:off x="1347652" y="2048870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9" name="배너"/>
          <p:cNvSpPr>
            <a:spLocks noGrp="1"/>
          </p:cNvSpPr>
          <p:nvPr>
            <p:ph type="body" sz="quarter" idx="33"/>
          </p:nvPr>
        </p:nvSpPr>
        <p:spPr>
          <a:xfrm>
            <a:off x="1347652" y="2048870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사업별 재무정보를 활용한 생산원가 절감계획 수립 등 의사결정 지원 기반 마련</a:t>
            </a:r>
          </a:p>
        </p:txBody>
      </p:sp>
      <p:sp>
        <p:nvSpPr>
          <p:cNvPr id="40" name="머리칸"/>
          <p:cNvSpPr/>
          <p:nvPr/>
        </p:nvSpPr>
        <p:spPr>
          <a:xfrm>
            <a:off x="1347652" y="2284435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1" name="머리칸"/>
          <p:cNvSpPr>
            <a:spLocks noGrp="1"/>
          </p:cNvSpPr>
          <p:nvPr>
            <p:ph type="body" sz="quarter" idx="34"/>
          </p:nvPr>
        </p:nvSpPr>
        <p:spPr>
          <a:xfrm>
            <a:off x="1347652" y="2284435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사업단위 성과분석 및 계획 수립</a:t>
            </a:r>
          </a:p>
        </p:txBody>
      </p:sp>
      <p:sp>
        <p:nvSpPr>
          <p:cNvPr id="42" name="머리칸"/>
          <p:cNvSpPr/>
          <p:nvPr/>
        </p:nvSpPr>
        <p:spPr>
          <a:xfrm>
            <a:off x="4171696" y="2284435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3" name="머리칸"/>
          <p:cNvSpPr>
            <a:spLocks noGrp="1"/>
          </p:cNvSpPr>
          <p:nvPr>
            <p:ph type="body" sz="quarter" idx="35"/>
          </p:nvPr>
        </p:nvSpPr>
        <p:spPr>
          <a:xfrm>
            <a:off x="4171696" y="2284435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소규모 수탁사업도 프로젝트별 관리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36"/>
          </p:nvPr>
        </p:nvSpPr>
        <p:spPr>
          <a:xfrm>
            <a:off x="1358609" y="2525478"/>
            <a:ext cx="2802130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대표사례 수도 원가 비중 및 증감추세 분석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투자 확대, 전력비 상승 등 원가 증가, 매출이익 지속 하락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원가 절감요소 발굴, 적정요금 시나리오 분석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37"/>
          </p:nvPr>
        </p:nvSpPr>
        <p:spPr>
          <a:xfrm>
            <a:off x="4182652" y="2525478"/>
            <a:ext cx="2802130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지자체 수탁 등 소규모 사업 증가(’24년 169건)로 관리시스템 신설, 구분회계 연계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 全과정 체계적 비용·수익 관리</a:t>
            </a:r>
          </a:p>
        </p:txBody>
      </p:sp>
      <p:cxnSp>
        <p:nvCxnSpPr>
          <p:cNvPr id="46" name="Connector 30"/>
          <p:cNvCxnSpPr/>
          <p:nvPr/>
        </p:nvCxnSpPr>
        <p:spPr>
          <a:xfrm>
            <a:off x="4171696" y="2558348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7" name="레일"/>
          <p:cNvSpPr/>
          <p:nvPr/>
        </p:nvSpPr>
        <p:spPr>
          <a:xfrm>
            <a:off x="734087" y="3259565"/>
            <a:ext cx="580696" cy="1106609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8" name="레일 태그"/>
          <p:cNvSpPr/>
          <p:nvPr/>
        </p:nvSpPr>
        <p:spPr>
          <a:xfrm>
            <a:off x="744637" y="3423913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9" name="레일 태그"/>
          <p:cNvSpPr>
            <a:spLocks noGrp="1"/>
          </p:cNvSpPr>
          <p:nvPr>
            <p:ph type="body" sz="quarter" idx="38"/>
          </p:nvPr>
        </p:nvSpPr>
        <p:spPr>
          <a:xfrm>
            <a:off x="744637" y="3423913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성과평가</a:t>
            </a:r>
          </a:p>
        </p:txBody>
      </p:sp>
      <p:sp>
        <p:nvSpPr>
          <p:cNvPr id="50" name="레일 라벨"/>
          <p:cNvSpPr>
            <a:spLocks noGrp="1"/>
          </p:cNvSpPr>
          <p:nvPr>
            <p:ph type="body" sz="quarter" idx="39"/>
          </p:nvPr>
        </p:nvSpPr>
        <p:spPr>
          <a:xfrm>
            <a:off x="734087" y="3610174"/>
            <a:ext cx="580696" cy="734087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효 과 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성과관리</a:t>
            </a:r>
          </a:p>
        </p:txBody>
      </p:sp>
      <p:sp>
        <p:nvSpPr>
          <p:cNvPr id="51" name="레일 삼각형"/>
          <p:cNvSpPr/>
          <p:nvPr/>
        </p:nvSpPr>
        <p:spPr>
          <a:xfrm>
            <a:off x="734086" y="3259565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2" name="배너"/>
          <p:cNvSpPr/>
          <p:nvPr/>
        </p:nvSpPr>
        <p:spPr>
          <a:xfrm>
            <a:off x="1347652" y="3281478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53" name="배너"/>
          <p:cNvSpPr>
            <a:spLocks noGrp="1"/>
          </p:cNvSpPr>
          <p:nvPr>
            <p:ph type="body" sz="quarter" idx="40"/>
          </p:nvPr>
        </p:nvSpPr>
        <p:spPr>
          <a:xfrm>
            <a:off x="1347652" y="3281478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구분회계 통한 성과평가로 KPI 목표달성 및 사업 단위 책임경영 정착</a:t>
            </a:r>
          </a:p>
        </p:txBody>
      </p:sp>
      <p:sp>
        <p:nvSpPr>
          <p:cNvPr id="54" name="머리칸"/>
          <p:cNvSpPr/>
          <p:nvPr/>
        </p:nvSpPr>
        <p:spPr>
          <a:xfrm>
            <a:off x="1347652" y="3517043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5" name="머리칸"/>
          <p:cNvSpPr>
            <a:spLocks noGrp="1"/>
          </p:cNvSpPr>
          <p:nvPr>
            <p:ph type="body" sz="quarter" idx="41"/>
          </p:nvPr>
        </p:nvSpPr>
        <p:spPr>
          <a:xfrm>
            <a:off x="1347652" y="3517043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매출액 사업별 성과관리</a:t>
            </a:r>
          </a:p>
        </p:txBody>
      </p:sp>
      <p:sp>
        <p:nvSpPr>
          <p:cNvPr id="56" name="머리칸"/>
          <p:cNvSpPr/>
          <p:nvPr/>
        </p:nvSpPr>
        <p:spPr>
          <a:xfrm>
            <a:off x="3230348" y="3517043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7" name="머리칸"/>
          <p:cNvSpPr>
            <a:spLocks noGrp="1"/>
          </p:cNvSpPr>
          <p:nvPr>
            <p:ph type="body" sz="quarter" idx="42"/>
          </p:nvPr>
        </p:nvSpPr>
        <p:spPr>
          <a:xfrm>
            <a:off x="3230348" y="3517043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경비절감 부서 집행액 관리</a:t>
            </a:r>
          </a:p>
        </p:txBody>
      </p:sp>
      <p:sp>
        <p:nvSpPr>
          <p:cNvPr id="58" name="머리칸"/>
          <p:cNvSpPr/>
          <p:nvPr/>
        </p:nvSpPr>
        <p:spPr>
          <a:xfrm>
            <a:off x="5113043" y="3517043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9" name="머리칸"/>
          <p:cNvSpPr>
            <a:spLocks noGrp="1"/>
          </p:cNvSpPr>
          <p:nvPr>
            <p:ph type="body" sz="quarter" idx="43"/>
          </p:nvPr>
        </p:nvSpPr>
        <p:spPr>
          <a:xfrm>
            <a:off x="5113043" y="3517043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‘클릭 재무’ 실시간 확인</a:t>
            </a:r>
          </a:p>
        </p:txBody>
      </p:sp>
      <p:sp>
        <p:nvSpPr>
          <p:cNvPr id="60" name="칸 본문"/>
          <p:cNvSpPr>
            <a:spLocks noGrp="1"/>
          </p:cNvSpPr>
          <p:nvPr>
            <p:ph type="body" sz="quarter" idx="44"/>
          </p:nvPr>
        </p:nvSpPr>
        <p:spPr>
          <a:xfrm>
            <a:off x="1358609" y="3758087"/>
            <a:ext cx="1860783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매출목표·부서 평가 연계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매출액 성장(4.6천억원↑)</a:t>
            </a:r>
          </a:p>
        </p:txBody>
      </p:sp>
      <p:sp>
        <p:nvSpPr>
          <p:cNvPr id="61" name="칸 본문"/>
          <p:cNvSpPr>
            <a:spLocks noGrp="1"/>
          </p:cNvSpPr>
          <p:nvPr>
            <p:ph type="body" sz="quarter" idx="45"/>
          </p:nvPr>
        </p:nvSpPr>
        <p:spPr>
          <a:xfrm>
            <a:off x="3241304" y="3758087"/>
            <a:ext cx="1860783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예산 → 과거 실적比 평가 ➡ 관리비 절감(△5.3%)</a:t>
            </a:r>
          </a:p>
        </p:txBody>
      </p:sp>
      <p:cxnSp>
        <p:nvCxnSpPr>
          <p:cNvPr id="62" name="Connector 41"/>
          <p:cNvCxnSpPr/>
          <p:nvPr/>
        </p:nvCxnSpPr>
        <p:spPr>
          <a:xfrm>
            <a:off x="3230348" y="3790957"/>
            <a:ext cx="0" cy="536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3" name="칸 본문"/>
          <p:cNvSpPr>
            <a:spLocks noGrp="1"/>
          </p:cNvSpPr>
          <p:nvPr>
            <p:ph type="body" sz="quarter" idx="46"/>
          </p:nvPr>
        </p:nvSpPr>
        <p:spPr>
          <a:xfrm>
            <a:off x="5124000" y="3758087"/>
            <a:ext cx="1860783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사업·부서별 손익, KPI 달성도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경비절감 목표-실적 현황 등</a:t>
            </a:r>
          </a:p>
        </p:txBody>
      </p:sp>
      <p:cxnSp>
        <p:nvCxnSpPr>
          <p:cNvPr id="64" name="Connector 43"/>
          <p:cNvCxnSpPr/>
          <p:nvPr/>
        </p:nvCxnSpPr>
        <p:spPr>
          <a:xfrm>
            <a:off x="5113043" y="3790957"/>
            <a:ext cx="0" cy="536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21 서사 · 유동성 관리(자금계획 수립체계 개선 → 유동성 안전성·효율성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안정적 유동성 및 부채관리, 금융비용 절감으로 재무건전성 확보</a:t>
            </a:r>
          </a:p>
        </p:txBody>
      </p:sp>
      <p:sp>
        <p:nvSpPr>
          <p:cNvPr id="15" name="번호"/>
          <p:cNvSpPr>
            <a:spLocks noGrp="1"/>
          </p:cNvSpPr>
          <p:nvPr>
            <p:ph type="body" sz="quarter" idx="22"/>
          </p:nvPr>
        </p:nvSpPr>
        <p:spPr>
          <a:xfrm>
            <a:off x="536870" y="1194261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16" name="분야 박스"/>
          <p:cNvSpPr/>
          <p:nvPr/>
        </p:nvSpPr>
        <p:spPr>
          <a:xfrm>
            <a:off x="766390" y="1227130"/>
            <a:ext cx="482697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분야 박스"/>
          <p:cNvSpPr>
            <a:spLocks noGrp="1"/>
          </p:cNvSpPr>
          <p:nvPr>
            <p:ph type="body" sz="quarter" idx="23"/>
          </p:nvPr>
        </p:nvSpPr>
        <p:spPr>
          <a:xfrm>
            <a:off x="766390" y="1227130"/>
            <a:ext cx="48269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유동성</a:t>
            </a:r>
          </a:p>
        </p:txBody>
      </p:sp>
      <p:sp>
        <p:nvSpPr>
          <p:cNvPr id="18" name="형광 밑줄"/>
          <p:cNvSpPr/>
          <p:nvPr/>
        </p:nvSpPr>
        <p:spPr>
          <a:xfrm>
            <a:off x="1314826" y="1347652"/>
            <a:ext cx="3739309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소제목"/>
          <p:cNvSpPr>
            <a:spLocks noGrp="1"/>
          </p:cNvSpPr>
          <p:nvPr>
            <p:ph type="body" sz="quarter" idx="24"/>
          </p:nvPr>
        </p:nvSpPr>
        <p:spPr>
          <a:xfrm>
            <a:off x="1314826" y="1194261"/>
            <a:ext cx="5522043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안정성은 높이면서 적기에 필요한 만큼만! 효율적인 유동성 관리</a:t>
            </a:r>
          </a:p>
        </p:txBody>
      </p:sp>
      <p:sp>
        <p:nvSpPr>
          <p:cNvPr id="20" name="태그칩"/>
          <p:cNvSpPr/>
          <p:nvPr/>
        </p:nvSpPr>
        <p:spPr>
          <a:xfrm>
            <a:off x="5152744" y="1227130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태그칩"/>
          <p:cNvSpPr>
            <a:spLocks noGrp="1"/>
          </p:cNvSpPr>
          <p:nvPr>
            <p:ph type="body" sz="quarter" idx="25"/>
          </p:nvPr>
        </p:nvSpPr>
        <p:spPr>
          <a:xfrm>
            <a:off x="5152744" y="1227130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22" name="표 외곽"/>
          <p:cNvSpPr/>
          <p:nvPr/>
        </p:nvSpPr>
        <p:spPr>
          <a:xfrm>
            <a:off x="536870" y="1479130"/>
            <a:ext cx="6300000" cy="1413391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3" name="레일"/>
          <p:cNvSpPr/>
          <p:nvPr/>
        </p:nvSpPr>
        <p:spPr>
          <a:xfrm>
            <a:off x="547826" y="1495565"/>
            <a:ext cx="580696" cy="1380522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4" name="레일"/>
          <p:cNvSpPr>
            <a:spLocks noGrp="1"/>
          </p:cNvSpPr>
          <p:nvPr>
            <p:ph type="body" sz="quarter" idx="26"/>
          </p:nvPr>
        </p:nvSpPr>
        <p:spPr>
          <a:xfrm>
            <a:off x="547826" y="1495565"/>
            <a:ext cx="580696" cy="138052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유동성</a:t>
            </a:r>
          </a:p>
        </p:txBody>
      </p:sp>
      <p:sp>
        <p:nvSpPr>
          <p:cNvPr id="25" name="머리칸"/>
          <p:cNvSpPr/>
          <p:nvPr/>
        </p:nvSpPr>
        <p:spPr>
          <a:xfrm>
            <a:off x="1161391" y="1517478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6" name="머리칸"/>
          <p:cNvSpPr>
            <a:spLocks noGrp="1"/>
          </p:cNvSpPr>
          <p:nvPr>
            <p:ph type="body" sz="quarter" idx="27"/>
          </p:nvPr>
        </p:nvSpPr>
        <p:spPr>
          <a:xfrm>
            <a:off x="1161391" y="1517478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지속적인 자금계획 수립체계 개선</a:t>
            </a:r>
          </a:p>
        </p:txBody>
      </p:sp>
      <p:sp>
        <p:nvSpPr>
          <p:cNvPr id="27" name="머리칸"/>
          <p:cNvSpPr/>
          <p:nvPr/>
        </p:nvSpPr>
        <p:spPr>
          <a:xfrm>
            <a:off x="3985435" y="1517478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8" name="머리칸"/>
          <p:cNvSpPr>
            <a:spLocks noGrp="1"/>
          </p:cNvSpPr>
          <p:nvPr>
            <p:ph type="body" sz="quarter" idx="28"/>
          </p:nvPr>
        </p:nvSpPr>
        <p:spPr>
          <a:xfrm>
            <a:off x="3985435" y="1517478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유동성 관리의 안전성·효율성 향상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1172348" y="1758522"/>
            <a:ext cx="2802130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배경 불필요한 차입 최소화 등 선제적 유동성 관리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‘사업별 자금 실적-예산’ 비교 분석(매월) → 예산 대비 불용자금 예측, 계획 오차 원인 규명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‘자금 유출입 규모 및 시기’ 예측력↑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0"/>
          </p:nvPr>
        </p:nvSpPr>
        <p:spPr>
          <a:xfrm>
            <a:off x="3996391" y="1758522"/>
            <a:ext cx="2802130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과부족 최소화, 변동성↓: ’23년·’24년·’25년 월별 보유 현금 추이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유동성 규모 효율화: 유휴자금 305억원↓(금융비용 8억원 절감)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보유자금 최적 운용: 연기금투자풀 62% 예탁</a:t>
            </a:r>
          </a:p>
        </p:txBody>
      </p:sp>
      <p:cxnSp>
        <p:nvCxnSpPr>
          <p:cNvPr id="31" name="Connector 22"/>
          <p:cNvCxnSpPr/>
          <p:nvPr/>
        </p:nvCxnSpPr>
        <p:spPr>
          <a:xfrm>
            <a:off x="3985435" y="1791391"/>
            <a:ext cx="0" cy="81078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2" name="태그"/>
          <p:cNvSpPr/>
          <p:nvPr/>
        </p:nvSpPr>
        <p:spPr>
          <a:xfrm>
            <a:off x="1161391" y="2673391"/>
            <a:ext cx="720549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3" name="태그"/>
          <p:cNvSpPr>
            <a:spLocks noGrp="1"/>
          </p:cNvSpPr>
          <p:nvPr>
            <p:ph type="body" sz="quarter" idx="31"/>
          </p:nvPr>
        </p:nvSpPr>
        <p:spPr>
          <a:xfrm>
            <a:off x="1161391" y="2673391"/>
            <a:ext cx="72054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리스크 관리</a:t>
            </a:r>
          </a:p>
        </p:txBody>
      </p:sp>
      <p:sp>
        <p:nvSpPr>
          <p:cNvPr id="34" name="태그 설명"/>
          <p:cNvSpPr>
            <a:spLocks noGrp="1"/>
          </p:cNvSpPr>
          <p:nvPr>
            <p:ph type="body" sz="quarter" idx="32"/>
          </p:nvPr>
        </p:nvSpPr>
        <p:spPr>
          <a:xfrm>
            <a:off x="1925767" y="2662435"/>
            <a:ext cx="488371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유동성 지표(보유현금/적정유동성) 모니터링 결과 매월 ‘정상’ 범위 내 운용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22 서사 · 부채 만기관리(기관 특성 → 맞춤형 부채관리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10" name="분야 박스"/>
          <p:cNvSpPr/>
          <p:nvPr/>
        </p:nvSpPr>
        <p:spPr>
          <a:xfrm>
            <a:off x="952651" y="810783"/>
            <a:ext cx="592466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1" name="분야 박스"/>
          <p:cNvSpPr>
            <a:spLocks noGrp="1"/>
          </p:cNvSpPr>
          <p:nvPr>
            <p:ph type="body" sz="quarter" idx="21"/>
          </p:nvPr>
        </p:nvSpPr>
        <p:spPr>
          <a:xfrm>
            <a:off x="952651" y="810783"/>
            <a:ext cx="59246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부채관리</a:t>
            </a:r>
          </a:p>
        </p:txBody>
      </p:sp>
      <p:sp>
        <p:nvSpPr>
          <p:cNvPr id="12" name="형광 밑줄"/>
          <p:cNvSpPr/>
          <p:nvPr/>
        </p:nvSpPr>
        <p:spPr>
          <a:xfrm>
            <a:off x="1610856" y="931304"/>
            <a:ext cx="3956019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3" name="소제목"/>
          <p:cNvSpPr>
            <a:spLocks noGrp="1"/>
          </p:cNvSpPr>
          <p:nvPr>
            <p:ph type="body" sz="quarter" idx="22"/>
          </p:nvPr>
        </p:nvSpPr>
        <p:spPr>
          <a:xfrm>
            <a:off x="1610856" y="777913"/>
            <a:ext cx="5412275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기관 특성과 중장기재무계획을 고려한 부채 만기관리로 안정성 향상</a:t>
            </a:r>
          </a:p>
        </p:txBody>
      </p:sp>
      <p:sp>
        <p:nvSpPr>
          <p:cNvPr id="14" name="태그칩"/>
          <p:cNvSpPr/>
          <p:nvPr/>
        </p:nvSpPr>
        <p:spPr>
          <a:xfrm>
            <a:off x="5665484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3"/>
          </p:nvPr>
        </p:nvSpPr>
        <p:spPr>
          <a:xfrm>
            <a:off x="5665484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표 외곽"/>
          <p:cNvSpPr/>
          <p:nvPr/>
        </p:nvSpPr>
        <p:spPr>
          <a:xfrm>
            <a:off x="723130" y="1062783"/>
            <a:ext cx="6300000" cy="182582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734087" y="1079217"/>
            <a:ext cx="580696" cy="69573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4"/>
          </p:nvPr>
        </p:nvSpPr>
        <p:spPr>
          <a:xfrm>
            <a:off x="734087" y="1079217"/>
            <a:ext cx="580696" cy="695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기관 특성</a:t>
            </a:r>
          </a:p>
        </p:txBody>
      </p:sp>
      <p:sp>
        <p:nvSpPr>
          <p:cNvPr id="19" name="단계"/>
          <p:cNvSpPr/>
          <p:nvPr/>
        </p:nvSpPr>
        <p:spPr>
          <a:xfrm>
            <a:off x="1347652" y="1101130"/>
            <a:ext cx="282404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0" name="단계"/>
          <p:cNvSpPr>
            <a:spLocks noGrp="1"/>
          </p:cNvSpPr>
          <p:nvPr>
            <p:ph type="body" sz="quarter" idx="25"/>
          </p:nvPr>
        </p:nvSpPr>
        <p:spPr>
          <a:xfrm>
            <a:off x="1347652" y="1101130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 기관 특성</a:t>
            </a:r>
          </a:p>
        </p:txBody>
      </p:sp>
      <p:sp>
        <p:nvSpPr>
          <p:cNvPr id="21" name="단계"/>
          <p:cNvSpPr/>
          <p:nvPr/>
        </p:nvSpPr>
        <p:spPr>
          <a:xfrm>
            <a:off x="4171696" y="1101130"/>
            <a:ext cx="2824043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2" name="단계"/>
          <p:cNvSpPr>
            <a:spLocks noGrp="1"/>
          </p:cNvSpPr>
          <p:nvPr>
            <p:ph type="body" sz="quarter" idx="26"/>
          </p:nvPr>
        </p:nvSpPr>
        <p:spPr>
          <a:xfrm>
            <a:off x="4171696" y="1101130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중장기재무관리계획(’25~’29년)</a:t>
            </a:r>
          </a:p>
        </p:txBody>
      </p:sp>
      <p:sp>
        <p:nvSpPr>
          <p:cNvPr id="23" name="단계 삼각형"/>
          <p:cNvSpPr/>
          <p:nvPr/>
        </p:nvSpPr>
        <p:spPr>
          <a:xfrm>
            <a:off x="4171695" y="1101130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7"/>
          </p:nvPr>
        </p:nvSpPr>
        <p:spPr>
          <a:xfrm>
            <a:off x="1358609" y="1353130"/>
            <a:ext cx="2802130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자산 투자 후 장기 회수(광역상수도 내용연수 20년)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부채 짧은 부채만기(7년), 3년 內 만기 집중(50%)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8"/>
          </p:nvPr>
        </p:nvSpPr>
        <p:spPr>
          <a:xfrm>
            <a:off x="4182652" y="1353130"/>
            <a:ext cx="2802130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투자계획, 현금흐름 등 반영 차입규모·만기 설정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투자 확대로 금융부채↑, 3년 內 차환부담 증대</a:t>
            </a:r>
          </a:p>
        </p:txBody>
      </p:sp>
      <p:cxnSp>
        <p:nvCxnSpPr>
          <p:cNvPr id="26" name="Connector 15"/>
          <p:cNvCxnSpPr/>
          <p:nvPr/>
        </p:nvCxnSpPr>
        <p:spPr>
          <a:xfrm>
            <a:off x="4171696" y="1386000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7" name="레일"/>
          <p:cNvSpPr/>
          <p:nvPr/>
        </p:nvSpPr>
        <p:spPr>
          <a:xfrm>
            <a:off x="734087" y="1791391"/>
            <a:ext cx="580696" cy="108078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8" name="레일"/>
          <p:cNvSpPr>
            <a:spLocks noGrp="1"/>
          </p:cNvSpPr>
          <p:nvPr>
            <p:ph type="body" sz="quarter" idx="29"/>
          </p:nvPr>
        </p:nvSpPr>
        <p:spPr>
          <a:xfrm>
            <a:off x="734087" y="1791391"/>
            <a:ext cx="580696" cy="1080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맞춤형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부채관리</a:t>
            </a:r>
          </a:p>
        </p:txBody>
      </p:sp>
      <p:sp>
        <p:nvSpPr>
          <p:cNvPr id="29" name="레일 삼각형"/>
          <p:cNvSpPr/>
          <p:nvPr/>
        </p:nvSpPr>
        <p:spPr>
          <a:xfrm>
            <a:off x="734086" y="1791391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0" name="머리칸"/>
          <p:cNvSpPr/>
          <p:nvPr/>
        </p:nvSpPr>
        <p:spPr>
          <a:xfrm>
            <a:off x="1347652" y="181330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1" name="머리칸"/>
          <p:cNvSpPr>
            <a:spLocks noGrp="1"/>
          </p:cNvSpPr>
          <p:nvPr>
            <p:ph type="body" sz="quarter" idx="30"/>
          </p:nvPr>
        </p:nvSpPr>
        <p:spPr>
          <a:xfrm>
            <a:off x="1347652" y="181330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만기 집중도 완화</a:t>
            </a:r>
          </a:p>
        </p:txBody>
      </p:sp>
      <p:sp>
        <p:nvSpPr>
          <p:cNvPr id="32" name="머리칸"/>
          <p:cNvSpPr/>
          <p:nvPr/>
        </p:nvSpPr>
        <p:spPr>
          <a:xfrm>
            <a:off x="4171696" y="181330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3" name="머리칸"/>
          <p:cNvSpPr>
            <a:spLocks noGrp="1"/>
          </p:cNvSpPr>
          <p:nvPr>
            <p:ph type="body" sz="quarter" idx="31"/>
          </p:nvPr>
        </p:nvSpPr>
        <p:spPr>
          <a:xfrm>
            <a:off x="4171696" y="181330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금리부담을 낮추며 부채만기 확대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2"/>
          </p:nvPr>
        </p:nvSpPr>
        <p:spPr>
          <a:xfrm>
            <a:off x="1358609" y="2054348"/>
            <a:ext cx="2802130" cy="812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만기집중 구간(향후 3년)을 피해 신규차입 만기 조정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유동성, 차환 리스크 등 완화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3년내 만기도래 규모 0.2조원↓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3"/>
          </p:nvPr>
        </p:nvSpPr>
        <p:spPr>
          <a:xfrm>
            <a:off x="4182652" y="2054348"/>
            <a:ext cx="2802130" cy="812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장단기 금리차 축소기(0.2%p), 자산 특성 고려 장기채 발행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구분 장기물(10y↑) ’24년 0.2조원 → ’25년 0.4조원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신규차입 3.8년 → 6.7년, 전체만기 6.9년 → 7.1년</a:t>
            </a:r>
          </a:p>
        </p:txBody>
      </p:sp>
      <p:cxnSp>
        <p:nvCxnSpPr>
          <p:cNvPr id="36" name="Connector 22"/>
          <p:cNvCxnSpPr/>
          <p:nvPr/>
        </p:nvCxnSpPr>
        <p:spPr>
          <a:xfrm>
            <a:off x="4171696" y="2087217"/>
            <a:ext cx="0" cy="746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23 서사 · 금융비용 절감(추진배경 → 얼어붙은 채권시장 → 활로 → 마중물 → 종합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</a:t>
            </a:r>
          </a:p>
        </p:txBody>
      </p:sp>
      <p:sp>
        <p:nvSpPr>
          <p:cNvPr id="11" name="분야 박스"/>
          <p:cNvSpPr/>
          <p:nvPr/>
        </p:nvSpPr>
        <p:spPr>
          <a:xfrm>
            <a:off x="766390" y="799826"/>
            <a:ext cx="592466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분야 박스"/>
          <p:cNvSpPr>
            <a:spLocks noGrp="1"/>
          </p:cNvSpPr>
          <p:nvPr>
            <p:ph type="body" sz="quarter" idx="21"/>
          </p:nvPr>
        </p:nvSpPr>
        <p:spPr>
          <a:xfrm>
            <a:off x="766390" y="799826"/>
            <a:ext cx="59246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금융비용</a:t>
            </a:r>
          </a:p>
        </p:txBody>
      </p:sp>
      <p:sp>
        <p:nvSpPr>
          <p:cNvPr id="13" name="형광 밑줄"/>
          <p:cNvSpPr/>
          <p:nvPr/>
        </p:nvSpPr>
        <p:spPr>
          <a:xfrm>
            <a:off x="1424595" y="920348"/>
            <a:ext cx="3475865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소제목"/>
          <p:cNvSpPr>
            <a:spLocks noGrp="1"/>
          </p:cNvSpPr>
          <p:nvPr>
            <p:ph type="body" sz="quarter" idx="22"/>
          </p:nvPr>
        </p:nvSpPr>
        <p:spPr>
          <a:xfrm>
            <a:off x="1424595" y="766957"/>
            <a:ext cx="5412275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관세로 인한 불확실성 극복! 맞춤형 전략으로 금융비용 절감</a:t>
            </a:r>
          </a:p>
        </p:txBody>
      </p:sp>
      <p:sp>
        <p:nvSpPr>
          <p:cNvPr id="15" name="태그칩"/>
          <p:cNvSpPr/>
          <p:nvPr/>
        </p:nvSpPr>
        <p:spPr>
          <a:xfrm>
            <a:off x="4999068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태그칩"/>
          <p:cNvSpPr>
            <a:spLocks noGrp="1"/>
          </p:cNvSpPr>
          <p:nvPr>
            <p:ph type="body" sz="quarter" idx="23"/>
          </p:nvPr>
        </p:nvSpPr>
        <p:spPr>
          <a:xfrm>
            <a:off x="4999068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7" name="표 외곽"/>
          <p:cNvSpPr/>
          <p:nvPr/>
        </p:nvSpPr>
        <p:spPr>
          <a:xfrm>
            <a:off x="536870" y="1051826"/>
            <a:ext cx="6300000" cy="325408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레일"/>
          <p:cNvSpPr/>
          <p:nvPr/>
        </p:nvSpPr>
        <p:spPr>
          <a:xfrm>
            <a:off x="547826" y="1068261"/>
            <a:ext cx="580696" cy="44373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레일"/>
          <p:cNvSpPr>
            <a:spLocks noGrp="1"/>
          </p:cNvSpPr>
          <p:nvPr>
            <p:ph type="body" sz="quarter" idx="24"/>
          </p:nvPr>
        </p:nvSpPr>
        <p:spPr>
          <a:xfrm>
            <a:off x="547826" y="1068261"/>
            <a:ext cx="580696" cy="443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20" name="태그"/>
          <p:cNvSpPr/>
          <p:nvPr/>
        </p:nvSpPr>
        <p:spPr>
          <a:xfrm>
            <a:off x="1161391" y="1112087"/>
            <a:ext cx="581509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태그"/>
          <p:cNvSpPr>
            <a:spLocks noGrp="1"/>
          </p:cNvSpPr>
          <p:nvPr>
            <p:ph type="body" sz="quarter" idx="25"/>
          </p:nvPr>
        </p:nvSpPr>
        <p:spPr>
          <a:xfrm>
            <a:off x="1161391" y="1112087"/>
            <a:ext cx="58150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관세충격</a:t>
            </a:r>
          </a:p>
        </p:txBody>
      </p:sp>
      <p:sp>
        <p:nvSpPr>
          <p:cNvPr id="22" name="태그 설명"/>
          <p:cNvSpPr>
            <a:spLocks noGrp="1"/>
          </p:cNvSpPr>
          <p:nvPr>
            <p:ph type="body" sz="quarter" idx="26"/>
          </p:nvPr>
        </p:nvSpPr>
        <p:spPr>
          <a:xfrm>
            <a:off x="1786727" y="1101130"/>
            <a:ext cx="502275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4월 외화채권 발행 추진 중 美 관세 발표</a:t>
            </a:r>
          </a:p>
        </p:txBody>
      </p:sp>
      <p:sp>
        <p:nvSpPr>
          <p:cNvPr id="23" name="태그"/>
          <p:cNvSpPr/>
          <p:nvPr/>
        </p:nvSpPr>
        <p:spPr>
          <a:xfrm>
            <a:off x="1161391" y="1309304"/>
            <a:ext cx="581509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4" name="태그"/>
          <p:cNvSpPr>
            <a:spLocks noGrp="1"/>
          </p:cNvSpPr>
          <p:nvPr>
            <p:ph type="body" sz="quarter" idx="27"/>
          </p:nvPr>
        </p:nvSpPr>
        <p:spPr>
          <a:xfrm>
            <a:off x="1161391" y="1309304"/>
            <a:ext cx="58150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채권시장</a:t>
            </a:r>
          </a:p>
        </p:txBody>
      </p:sp>
      <p:sp>
        <p:nvSpPr>
          <p:cNvPr id="25" name="태그 설명"/>
          <p:cNvSpPr>
            <a:spLocks noGrp="1"/>
          </p:cNvSpPr>
          <p:nvPr>
            <p:ph type="body" sz="quarter" idx="28"/>
          </p:nvPr>
        </p:nvSpPr>
        <p:spPr>
          <a:xfrm>
            <a:off x="1786727" y="1298348"/>
            <a:ext cx="502275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미국채 0.5%p↑, 주요기관 발행보류</a:t>
            </a:r>
          </a:p>
        </p:txBody>
      </p:sp>
      <p:sp>
        <p:nvSpPr>
          <p:cNvPr id="26" name="레일"/>
          <p:cNvSpPr/>
          <p:nvPr/>
        </p:nvSpPr>
        <p:spPr>
          <a:xfrm>
            <a:off x="547826" y="1528435"/>
            <a:ext cx="580696" cy="706696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7" name="레일"/>
          <p:cNvSpPr>
            <a:spLocks noGrp="1"/>
          </p:cNvSpPr>
          <p:nvPr>
            <p:ph type="body" sz="quarter" idx="29"/>
          </p:nvPr>
        </p:nvSpPr>
        <p:spPr>
          <a:xfrm>
            <a:off x="547826" y="1528435"/>
            <a:ext cx="580696" cy="70669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얼어붙은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채권시장</a:t>
            </a:r>
          </a:p>
        </p:txBody>
      </p:sp>
      <p:sp>
        <p:nvSpPr>
          <p:cNvPr id="28" name="레일 삼각형"/>
          <p:cNvSpPr/>
          <p:nvPr/>
        </p:nvSpPr>
        <p:spPr>
          <a:xfrm>
            <a:off x="547826" y="1528434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머리칸"/>
          <p:cNvSpPr/>
          <p:nvPr/>
        </p:nvSpPr>
        <p:spPr>
          <a:xfrm>
            <a:off x="1161391" y="1550348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0" name="머리칸"/>
          <p:cNvSpPr>
            <a:spLocks noGrp="1"/>
          </p:cNvSpPr>
          <p:nvPr>
            <p:ph type="body" sz="quarter" idx="30"/>
          </p:nvPr>
        </p:nvSpPr>
        <p:spPr>
          <a:xfrm>
            <a:off x="1161391" y="1550348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시장 불확실성</a:t>
            </a:r>
          </a:p>
        </p:txBody>
      </p:sp>
      <p:sp>
        <p:nvSpPr>
          <p:cNvPr id="31" name="머리칸"/>
          <p:cNvSpPr/>
          <p:nvPr/>
        </p:nvSpPr>
        <p:spPr>
          <a:xfrm>
            <a:off x="3044087" y="1550348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2" name="머리칸"/>
          <p:cNvSpPr>
            <a:spLocks noGrp="1"/>
          </p:cNvSpPr>
          <p:nvPr>
            <p:ph type="body" sz="quarter" idx="31"/>
          </p:nvPr>
        </p:nvSpPr>
        <p:spPr>
          <a:xfrm>
            <a:off x="3044087" y="1550348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기관 인지도</a:t>
            </a:r>
          </a:p>
        </p:txBody>
      </p:sp>
      <p:sp>
        <p:nvSpPr>
          <p:cNvPr id="33" name="머리칸"/>
          <p:cNvSpPr/>
          <p:nvPr/>
        </p:nvSpPr>
        <p:spPr>
          <a:xfrm>
            <a:off x="4926783" y="1550348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4" name="머리칸"/>
          <p:cNvSpPr>
            <a:spLocks noGrp="1"/>
          </p:cNvSpPr>
          <p:nvPr>
            <p:ph type="body" sz="quarter" idx="32"/>
          </p:nvPr>
        </p:nvSpPr>
        <p:spPr>
          <a:xfrm>
            <a:off x="4926783" y="1550348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ESG 투자 의무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3"/>
          </p:nvPr>
        </p:nvSpPr>
        <p:spPr>
          <a:xfrm>
            <a:off x="1172348" y="1791391"/>
            <a:ext cx="1860783" cy="438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변동성 큰 시장이라 투자하기 망설여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4"/>
          </p:nvPr>
        </p:nvSpPr>
        <p:spPr>
          <a:xfrm>
            <a:off x="3055043" y="1791391"/>
            <a:ext cx="1860783" cy="438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3년 만에 공모나선 기관이라 낯설어</a:t>
            </a:r>
          </a:p>
        </p:txBody>
      </p:sp>
      <p:cxnSp>
        <p:nvCxnSpPr>
          <p:cNvPr id="37" name="Connector 24"/>
          <p:cNvCxnSpPr/>
          <p:nvPr/>
        </p:nvCxnSpPr>
        <p:spPr>
          <a:xfrm>
            <a:off x="3044087" y="1824261"/>
            <a:ext cx="0" cy="372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8" name="칸 본문"/>
          <p:cNvSpPr>
            <a:spLocks noGrp="1"/>
          </p:cNvSpPr>
          <p:nvPr>
            <p:ph type="body" sz="quarter" idx="35"/>
          </p:nvPr>
        </p:nvSpPr>
        <p:spPr>
          <a:xfrm>
            <a:off x="4937739" y="1791391"/>
            <a:ext cx="1860783" cy="438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투자자의 일정 비중은 ESG 투자여야</a:t>
            </a:r>
          </a:p>
        </p:txBody>
      </p:sp>
      <p:cxnSp>
        <p:nvCxnSpPr>
          <p:cNvPr id="39" name="Connector 26"/>
          <p:cNvCxnSpPr/>
          <p:nvPr/>
        </p:nvCxnSpPr>
        <p:spPr>
          <a:xfrm>
            <a:off x="4926783" y="1824261"/>
            <a:ext cx="0" cy="372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0" name="레일"/>
          <p:cNvSpPr/>
          <p:nvPr/>
        </p:nvSpPr>
        <p:spPr>
          <a:xfrm>
            <a:off x="547826" y="2251565"/>
            <a:ext cx="580696" cy="99156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1" name="레일"/>
          <p:cNvSpPr>
            <a:spLocks noGrp="1"/>
          </p:cNvSpPr>
          <p:nvPr>
            <p:ph type="body" sz="quarter" idx="36"/>
          </p:nvPr>
        </p:nvSpPr>
        <p:spPr>
          <a:xfrm>
            <a:off x="547826" y="2251565"/>
            <a:ext cx="580696" cy="991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활로를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열 어</a:t>
            </a:r>
          </a:p>
        </p:txBody>
      </p:sp>
      <p:sp>
        <p:nvSpPr>
          <p:cNvPr id="42" name="단계"/>
          <p:cNvSpPr/>
          <p:nvPr/>
        </p:nvSpPr>
        <p:spPr>
          <a:xfrm>
            <a:off x="1161391" y="2273478"/>
            <a:ext cx="3883060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3" name="단계"/>
          <p:cNvSpPr>
            <a:spLocks noGrp="1"/>
          </p:cNvSpPr>
          <p:nvPr>
            <p:ph type="body" sz="quarter" idx="37"/>
          </p:nvPr>
        </p:nvSpPr>
        <p:spPr>
          <a:xfrm>
            <a:off x="1161391" y="2273478"/>
            <a:ext cx="3883060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철저한 사전 준비, 시장 불확실성 뚫고 발행(3억 $) 결정</a:t>
            </a:r>
          </a:p>
        </p:txBody>
      </p:sp>
      <p:sp>
        <p:nvSpPr>
          <p:cNvPr id="44" name="단계"/>
          <p:cNvSpPr/>
          <p:nvPr/>
        </p:nvSpPr>
        <p:spPr>
          <a:xfrm>
            <a:off x="5044451" y="2273478"/>
            <a:ext cx="1765027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5" name="단계"/>
          <p:cNvSpPr>
            <a:spLocks noGrp="1"/>
          </p:cNvSpPr>
          <p:nvPr>
            <p:ph type="body" sz="quarter" idx="38"/>
          </p:nvPr>
        </p:nvSpPr>
        <p:spPr>
          <a:xfrm>
            <a:off x="5044451" y="2273478"/>
            <a:ext cx="176502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맞춤형 전략으로 수요 흡수</a:t>
            </a:r>
          </a:p>
        </p:txBody>
      </p:sp>
      <p:sp>
        <p:nvSpPr>
          <p:cNvPr id="46" name="단계 삼각형"/>
          <p:cNvSpPr/>
          <p:nvPr/>
        </p:nvSpPr>
        <p:spPr>
          <a:xfrm>
            <a:off x="5044451" y="2273478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7" name="칸 본문"/>
          <p:cNvSpPr>
            <a:spLocks noGrp="1"/>
          </p:cNvSpPr>
          <p:nvPr>
            <p:ph type="body" sz="quarter" idx="39"/>
          </p:nvPr>
        </p:nvSpPr>
        <p:spPr>
          <a:xfrm>
            <a:off x="1172348" y="2525478"/>
            <a:ext cx="3861147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금리 등 시계열 분석, 과거 사례 등 → 데이터 분석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구조적 시장위기 아닌 일시 충격 판단 → 냉철한 판단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발행금리 상한 설정, 손실위험 통제 → 리스크 관리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40"/>
          </p:nvPr>
        </p:nvSpPr>
        <p:spPr>
          <a:xfrm>
            <a:off x="5055408" y="2525478"/>
            <a:ext cx="1743114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기업설명회(33개 기관), 상시 메일링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물·재생e 등 주요사업 활용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ESG 강점 홍보, 그린본드 발행</a:t>
            </a:r>
          </a:p>
        </p:txBody>
      </p:sp>
      <p:cxnSp>
        <p:nvCxnSpPr>
          <p:cNvPr id="49" name="Connector 33"/>
          <p:cNvCxnSpPr/>
          <p:nvPr/>
        </p:nvCxnSpPr>
        <p:spPr>
          <a:xfrm>
            <a:off x="5044451" y="2558348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0" name="레일"/>
          <p:cNvSpPr/>
          <p:nvPr/>
        </p:nvSpPr>
        <p:spPr>
          <a:xfrm>
            <a:off x="547826" y="3259565"/>
            <a:ext cx="580696" cy="102991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1" name="레일"/>
          <p:cNvSpPr>
            <a:spLocks noGrp="1"/>
          </p:cNvSpPr>
          <p:nvPr>
            <p:ph type="body" sz="quarter" idx="41"/>
          </p:nvPr>
        </p:nvSpPr>
        <p:spPr>
          <a:xfrm>
            <a:off x="547826" y="3259565"/>
            <a:ext cx="580696" cy="10299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채권발행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마중물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되 다</a:t>
            </a:r>
          </a:p>
        </p:txBody>
      </p:sp>
      <p:sp>
        <p:nvSpPr>
          <p:cNvPr id="52" name="레일 삼각형"/>
          <p:cNvSpPr/>
          <p:nvPr/>
        </p:nvSpPr>
        <p:spPr>
          <a:xfrm>
            <a:off x="547826" y="3259565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3" name="태그"/>
          <p:cNvSpPr/>
          <p:nvPr/>
        </p:nvSpPr>
        <p:spPr>
          <a:xfrm>
            <a:off x="1161391" y="3303391"/>
            <a:ext cx="581509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4" name="태그"/>
          <p:cNvSpPr>
            <a:spLocks noGrp="1"/>
          </p:cNvSpPr>
          <p:nvPr>
            <p:ph type="body" sz="quarter" idx="42"/>
          </p:nvPr>
        </p:nvSpPr>
        <p:spPr>
          <a:xfrm>
            <a:off x="1161391" y="3303391"/>
            <a:ext cx="58150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언론보도</a:t>
            </a:r>
          </a:p>
        </p:txBody>
      </p:sp>
      <p:sp>
        <p:nvSpPr>
          <p:cNvPr id="55" name="태그 설명"/>
          <p:cNvSpPr>
            <a:spLocks noGrp="1"/>
          </p:cNvSpPr>
          <p:nvPr>
            <p:ph type="body" sz="quarter" idx="43"/>
          </p:nvPr>
        </p:nvSpPr>
        <p:spPr>
          <a:xfrm>
            <a:off x="1786727" y="3292435"/>
            <a:ext cx="502275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“K-water 사전준비 빛났다.”, “공기업 복귀, 미·중 관세 합의 타이밍 포착”(연합뉴스 등, ’25.5)</a:t>
            </a:r>
          </a:p>
        </p:txBody>
      </p:sp>
      <p:sp>
        <p:nvSpPr>
          <p:cNvPr id="56" name="머리칸"/>
          <p:cNvSpPr/>
          <p:nvPr/>
        </p:nvSpPr>
        <p:spPr>
          <a:xfrm>
            <a:off x="1161391" y="3517043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7" name="머리칸"/>
          <p:cNvSpPr>
            <a:spLocks noGrp="1"/>
          </p:cNvSpPr>
          <p:nvPr>
            <p:ph type="body" sz="quarter" idx="44"/>
          </p:nvPr>
        </p:nvSpPr>
        <p:spPr>
          <a:xfrm>
            <a:off x="1161391" y="3517043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투자 수요 압도적 흥행</a:t>
            </a:r>
          </a:p>
        </p:txBody>
      </p:sp>
      <p:sp>
        <p:nvSpPr>
          <p:cNvPr id="58" name="머리칸"/>
          <p:cNvSpPr/>
          <p:nvPr/>
        </p:nvSpPr>
        <p:spPr>
          <a:xfrm>
            <a:off x="3044087" y="3517043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9" name="머리칸"/>
          <p:cNvSpPr>
            <a:spLocks noGrp="1"/>
          </p:cNvSpPr>
          <p:nvPr>
            <p:ph type="body" sz="quarter" idx="45"/>
          </p:nvPr>
        </p:nvSpPr>
        <p:spPr>
          <a:xfrm>
            <a:off x="3044087" y="3517043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금융비용 절감</a:t>
            </a:r>
          </a:p>
        </p:txBody>
      </p:sp>
      <p:sp>
        <p:nvSpPr>
          <p:cNvPr id="60" name="머리칸"/>
          <p:cNvSpPr/>
          <p:nvPr/>
        </p:nvSpPr>
        <p:spPr>
          <a:xfrm>
            <a:off x="4926783" y="3517043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61" name="머리칸"/>
          <p:cNvSpPr>
            <a:spLocks noGrp="1"/>
          </p:cNvSpPr>
          <p:nvPr>
            <p:ph type="body" sz="quarter" idx="46"/>
          </p:nvPr>
        </p:nvSpPr>
        <p:spPr>
          <a:xfrm>
            <a:off x="4926783" y="3517043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외화채권 마중물 역할</a:t>
            </a:r>
          </a:p>
        </p:txBody>
      </p:sp>
      <p:sp>
        <p:nvSpPr>
          <p:cNvPr id="62" name="칸 본문"/>
          <p:cNvSpPr>
            <a:spLocks noGrp="1"/>
          </p:cNvSpPr>
          <p:nvPr>
            <p:ph type="body" sz="quarter" idx="47"/>
          </p:nvPr>
        </p:nvSpPr>
        <p:spPr>
          <a:xfrm>
            <a:off x="1172348" y="3758087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14배 수요로 투자자 선별, 대형우량기관 중심 발행</a:t>
            </a:r>
          </a:p>
        </p:txBody>
      </p:sp>
      <p:sp>
        <p:nvSpPr>
          <p:cNvPr id="63" name="칸 본문"/>
          <p:cNvSpPr>
            <a:spLocks noGrp="1"/>
          </p:cNvSpPr>
          <p:nvPr>
            <p:ph type="body" sz="quarter" idx="48"/>
          </p:nvPr>
        </p:nvSpPr>
        <p:spPr>
          <a:xfrm>
            <a:off x="3055043" y="3758087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시장 가격 이하로 발행, 원화比 금융비용 22억원 절감</a:t>
            </a:r>
          </a:p>
        </p:txBody>
      </p:sp>
      <p:cxnSp>
        <p:nvCxnSpPr>
          <p:cNvPr id="64" name="Connector 43"/>
          <p:cNvCxnSpPr/>
          <p:nvPr/>
        </p:nvCxnSpPr>
        <p:spPr>
          <a:xfrm>
            <a:off x="3044087" y="3790957"/>
            <a:ext cx="0" cy="46017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5" name="칸 본문"/>
          <p:cNvSpPr>
            <a:spLocks noGrp="1"/>
          </p:cNvSpPr>
          <p:nvPr>
            <p:ph type="body" sz="quarter" idx="49"/>
          </p:nvPr>
        </p:nvSpPr>
        <p:spPr>
          <a:xfrm>
            <a:off x="4937739" y="3758087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타 공기관 발행(9억$) 마중물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절감된 금리 가이드라인 제시</a:t>
            </a:r>
          </a:p>
        </p:txBody>
      </p:sp>
      <p:cxnSp>
        <p:nvCxnSpPr>
          <p:cNvPr id="66" name="Connector 45"/>
          <p:cNvCxnSpPr/>
          <p:nvPr/>
        </p:nvCxnSpPr>
        <p:spPr>
          <a:xfrm>
            <a:off x="4926783" y="3790957"/>
            <a:ext cx="0" cy="46017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7" name="틀"/>
          <p:cNvSpPr/>
          <p:nvPr/>
        </p:nvSpPr>
        <p:spPr>
          <a:xfrm>
            <a:off x="536870" y="4371652"/>
            <a:ext cx="6300000" cy="1051826"/>
          </a:xfrm>
          <a:prstGeom prst="rect">
            <a:avLst/>
          </a:prstGeom>
          <a:solidFill>
            <a:srgbClr val="FFFFFF"/>
          </a:solidFill>
          <a:ln w="12700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8" name="성과 라벨"/>
          <p:cNvSpPr/>
          <p:nvPr/>
        </p:nvSpPr>
        <p:spPr>
          <a:xfrm>
            <a:off x="547826" y="4382609"/>
            <a:ext cx="580696" cy="1029913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69" name="성과 라벨"/>
          <p:cNvSpPr>
            <a:spLocks noGrp="1"/>
          </p:cNvSpPr>
          <p:nvPr>
            <p:ph type="body" sz="quarter" idx="50"/>
          </p:nvPr>
        </p:nvSpPr>
        <p:spPr>
          <a:xfrm>
            <a:off x="547826" y="4382609"/>
            <a:ext cx="580696" cy="10299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종합성과</a:t>
            </a:r>
          </a:p>
        </p:txBody>
      </p:sp>
      <p:sp>
        <p:nvSpPr>
          <p:cNvPr id="70" name="성과 띠"/>
          <p:cNvSpPr/>
          <p:nvPr/>
        </p:nvSpPr>
        <p:spPr>
          <a:xfrm>
            <a:off x="1172348" y="4404522"/>
            <a:ext cx="5631652" cy="20817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71" name="성과 띠"/>
          <p:cNvSpPr>
            <a:spLocks noGrp="1"/>
          </p:cNvSpPr>
          <p:nvPr>
            <p:ph type="body" sz="quarter" idx="51"/>
          </p:nvPr>
        </p:nvSpPr>
        <p:spPr>
          <a:xfrm>
            <a:off x="1172348" y="4404522"/>
            <a:ext cx="5631652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자금운용 효율화 · 금융수익 초과 달성 · 저금리 조달 · 금융비용 절감(42억원)</a:t>
            </a:r>
          </a:p>
        </p:txBody>
      </p:sp>
      <p:sp>
        <p:nvSpPr>
          <p:cNvPr id="72" name="카드"/>
          <p:cNvSpPr/>
          <p:nvPr/>
        </p:nvSpPr>
        <p:spPr>
          <a:xfrm>
            <a:off x="1172348" y="4645565"/>
            <a:ext cx="1375043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3" name="카드 문구"/>
          <p:cNvSpPr>
            <a:spLocks noGrp="1"/>
          </p:cNvSpPr>
          <p:nvPr>
            <p:ph type="body" sz="quarter" idx="52"/>
          </p:nvPr>
        </p:nvSpPr>
        <p:spPr>
          <a:xfrm>
            <a:off x="1194261" y="4656522"/>
            <a:ext cx="1331217" cy="153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자금운용 효율화</a:t>
            </a:r>
          </a:p>
        </p:txBody>
      </p:sp>
      <p:sp>
        <p:nvSpPr>
          <p:cNvPr id="74" name="막대"/>
          <p:cNvSpPr/>
          <p:nvPr/>
        </p:nvSpPr>
        <p:spPr>
          <a:xfrm>
            <a:off x="1249043" y="5072870"/>
            <a:ext cx="164348" cy="164348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5" name="값"/>
          <p:cNvSpPr>
            <a:spLocks noGrp="1"/>
          </p:cNvSpPr>
          <p:nvPr>
            <p:ph type="body" sz="quarter" idx="53"/>
          </p:nvPr>
        </p:nvSpPr>
        <p:spPr>
          <a:xfrm>
            <a:off x="1161391" y="4897565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2373</a:t>
            </a:r>
          </a:p>
        </p:txBody>
      </p:sp>
      <p:sp>
        <p:nvSpPr>
          <p:cNvPr id="76" name="연도"/>
          <p:cNvSpPr>
            <a:spLocks noGrp="1"/>
          </p:cNvSpPr>
          <p:nvPr>
            <p:ph type="body" sz="quarter" idx="54"/>
          </p:nvPr>
        </p:nvSpPr>
        <p:spPr>
          <a:xfrm>
            <a:off x="1161391" y="5248174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’24년</a:t>
            </a:r>
          </a:p>
        </p:txBody>
      </p:sp>
      <p:sp>
        <p:nvSpPr>
          <p:cNvPr id="77" name="막대"/>
          <p:cNvSpPr/>
          <p:nvPr/>
        </p:nvSpPr>
        <p:spPr>
          <a:xfrm>
            <a:off x="1859870" y="5108087"/>
            <a:ext cx="164348" cy="129130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8" name="값"/>
          <p:cNvSpPr>
            <a:spLocks noGrp="1"/>
          </p:cNvSpPr>
          <p:nvPr>
            <p:ph type="body" sz="quarter" idx="55"/>
          </p:nvPr>
        </p:nvSpPr>
        <p:spPr>
          <a:xfrm>
            <a:off x="1772217" y="4932783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2068</a:t>
            </a:r>
          </a:p>
        </p:txBody>
      </p:sp>
      <p:sp>
        <p:nvSpPr>
          <p:cNvPr id="79" name="연도"/>
          <p:cNvSpPr>
            <a:spLocks noGrp="1"/>
          </p:cNvSpPr>
          <p:nvPr>
            <p:ph type="body" sz="quarter" idx="56"/>
          </p:nvPr>
        </p:nvSpPr>
        <p:spPr>
          <a:xfrm>
            <a:off x="1772217" y="5248174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’25년</a:t>
            </a:r>
          </a:p>
        </p:txBody>
      </p:sp>
      <p:sp>
        <p:nvSpPr>
          <p:cNvPr id="80" name="카드"/>
          <p:cNvSpPr/>
          <p:nvPr/>
        </p:nvSpPr>
        <p:spPr>
          <a:xfrm>
            <a:off x="2591217" y="4645565"/>
            <a:ext cx="1375043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1" name="카드 문구"/>
          <p:cNvSpPr>
            <a:spLocks noGrp="1"/>
          </p:cNvSpPr>
          <p:nvPr>
            <p:ph type="body" sz="quarter" idx="57"/>
          </p:nvPr>
        </p:nvSpPr>
        <p:spPr>
          <a:xfrm>
            <a:off x="2613130" y="4656522"/>
            <a:ext cx="1331217" cy="153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금융수익 초과 달성</a:t>
            </a:r>
          </a:p>
        </p:txBody>
      </p:sp>
      <p:sp>
        <p:nvSpPr>
          <p:cNvPr id="82" name="막대"/>
          <p:cNvSpPr/>
          <p:nvPr/>
        </p:nvSpPr>
        <p:spPr>
          <a:xfrm>
            <a:off x="2667913" y="5138609"/>
            <a:ext cx="164348" cy="98609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3" name="값"/>
          <p:cNvSpPr>
            <a:spLocks noGrp="1"/>
          </p:cNvSpPr>
          <p:nvPr>
            <p:ph type="body" sz="quarter" idx="58"/>
          </p:nvPr>
        </p:nvSpPr>
        <p:spPr>
          <a:xfrm>
            <a:off x="2580261" y="4963304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2.60%</a:t>
            </a:r>
          </a:p>
        </p:txBody>
      </p:sp>
      <p:sp>
        <p:nvSpPr>
          <p:cNvPr id="84" name="연도"/>
          <p:cNvSpPr>
            <a:spLocks noGrp="1"/>
          </p:cNvSpPr>
          <p:nvPr>
            <p:ph type="body" sz="quarter" idx="59"/>
          </p:nvPr>
        </p:nvSpPr>
        <p:spPr>
          <a:xfrm>
            <a:off x="2580261" y="5248174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기준</a:t>
            </a:r>
          </a:p>
        </p:txBody>
      </p:sp>
      <p:sp>
        <p:nvSpPr>
          <p:cNvPr id="85" name="막대"/>
          <p:cNvSpPr/>
          <p:nvPr/>
        </p:nvSpPr>
        <p:spPr>
          <a:xfrm>
            <a:off x="3075130" y="5122174"/>
            <a:ext cx="164348" cy="115043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6" name="값"/>
          <p:cNvSpPr>
            <a:spLocks noGrp="1"/>
          </p:cNvSpPr>
          <p:nvPr>
            <p:ph type="body" sz="quarter" idx="60"/>
          </p:nvPr>
        </p:nvSpPr>
        <p:spPr>
          <a:xfrm>
            <a:off x="2987478" y="4946870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2.69%</a:t>
            </a:r>
          </a:p>
        </p:txBody>
      </p:sp>
      <p:sp>
        <p:nvSpPr>
          <p:cNvPr id="87" name="연도"/>
          <p:cNvSpPr>
            <a:spLocks noGrp="1"/>
          </p:cNvSpPr>
          <p:nvPr>
            <p:ph type="body" sz="quarter" idx="61"/>
          </p:nvPr>
        </p:nvSpPr>
        <p:spPr>
          <a:xfrm>
            <a:off x="2987478" y="5248174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목표</a:t>
            </a:r>
          </a:p>
        </p:txBody>
      </p:sp>
      <p:sp>
        <p:nvSpPr>
          <p:cNvPr id="88" name="막대"/>
          <p:cNvSpPr/>
          <p:nvPr/>
        </p:nvSpPr>
        <p:spPr>
          <a:xfrm>
            <a:off x="3482348" y="5072870"/>
            <a:ext cx="164348" cy="16434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9" name="값"/>
          <p:cNvSpPr>
            <a:spLocks noGrp="1"/>
          </p:cNvSpPr>
          <p:nvPr>
            <p:ph type="body" sz="quarter" idx="62"/>
          </p:nvPr>
        </p:nvSpPr>
        <p:spPr>
          <a:xfrm>
            <a:off x="3394696" y="4897565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2.78%</a:t>
            </a:r>
          </a:p>
        </p:txBody>
      </p:sp>
      <p:sp>
        <p:nvSpPr>
          <p:cNvPr id="90" name="연도"/>
          <p:cNvSpPr>
            <a:spLocks noGrp="1"/>
          </p:cNvSpPr>
          <p:nvPr>
            <p:ph type="body" sz="quarter" idx="63"/>
          </p:nvPr>
        </p:nvSpPr>
        <p:spPr>
          <a:xfrm>
            <a:off x="3394696" y="5248174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’25년</a:t>
            </a:r>
          </a:p>
        </p:txBody>
      </p:sp>
      <p:sp>
        <p:nvSpPr>
          <p:cNvPr id="91" name="카드"/>
          <p:cNvSpPr/>
          <p:nvPr/>
        </p:nvSpPr>
        <p:spPr>
          <a:xfrm>
            <a:off x="4010087" y="4645565"/>
            <a:ext cx="1375043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2" name="카드 문구"/>
          <p:cNvSpPr>
            <a:spLocks noGrp="1"/>
          </p:cNvSpPr>
          <p:nvPr>
            <p:ph type="body" sz="quarter" idx="64"/>
          </p:nvPr>
        </p:nvSpPr>
        <p:spPr>
          <a:xfrm>
            <a:off x="4032000" y="4656522"/>
            <a:ext cx="1331217" cy="153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저금리 조달</a:t>
            </a:r>
          </a:p>
        </p:txBody>
      </p:sp>
      <p:sp>
        <p:nvSpPr>
          <p:cNvPr id="93" name="막대"/>
          <p:cNvSpPr/>
          <p:nvPr/>
        </p:nvSpPr>
        <p:spPr>
          <a:xfrm>
            <a:off x="4086783" y="5072870"/>
            <a:ext cx="164348" cy="164348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4" name="값"/>
          <p:cNvSpPr>
            <a:spLocks noGrp="1"/>
          </p:cNvSpPr>
          <p:nvPr>
            <p:ph type="body" sz="quarter" idx="65"/>
          </p:nvPr>
        </p:nvSpPr>
        <p:spPr>
          <a:xfrm>
            <a:off x="3999130" y="4897565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2.83%</a:t>
            </a:r>
          </a:p>
        </p:txBody>
      </p:sp>
      <p:sp>
        <p:nvSpPr>
          <p:cNvPr id="95" name="연도"/>
          <p:cNvSpPr>
            <a:spLocks noGrp="1"/>
          </p:cNvSpPr>
          <p:nvPr>
            <p:ph type="body" sz="quarter" idx="66"/>
          </p:nvPr>
        </p:nvSpPr>
        <p:spPr>
          <a:xfrm>
            <a:off x="3999130" y="5248174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시장</a:t>
            </a:r>
          </a:p>
        </p:txBody>
      </p:sp>
      <p:sp>
        <p:nvSpPr>
          <p:cNvPr id="96" name="막대"/>
          <p:cNvSpPr/>
          <p:nvPr/>
        </p:nvSpPr>
        <p:spPr>
          <a:xfrm>
            <a:off x="4697609" y="5089304"/>
            <a:ext cx="164348" cy="147913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7" name="값"/>
          <p:cNvSpPr>
            <a:spLocks noGrp="1"/>
          </p:cNvSpPr>
          <p:nvPr>
            <p:ph type="body" sz="quarter" idx="67"/>
          </p:nvPr>
        </p:nvSpPr>
        <p:spPr>
          <a:xfrm>
            <a:off x="4609957" y="4914000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2.77%</a:t>
            </a:r>
          </a:p>
        </p:txBody>
      </p:sp>
      <p:sp>
        <p:nvSpPr>
          <p:cNvPr id="98" name="연도"/>
          <p:cNvSpPr>
            <a:spLocks noGrp="1"/>
          </p:cNvSpPr>
          <p:nvPr>
            <p:ph type="body" sz="quarter" idx="68"/>
          </p:nvPr>
        </p:nvSpPr>
        <p:spPr>
          <a:xfrm>
            <a:off x="4609957" y="5248174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조달</a:t>
            </a:r>
          </a:p>
        </p:txBody>
      </p:sp>
      <p:sp>
        <p:nvSpPr>
          <p:cNvPr id="99" name="카드"/>
          <p:cNvSpPr/>
          <p:nvPr/>
        </p:nvSpPr>
        <p:spPr>
          <a:xfrm>
            <a:off x="5428957" y="4645565"/>
            <a:ext cx="1375043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0" name="카드 문구"/>
          <p:cNvSpPr>
            <a:spLocks noGrp="1"/>
          </p:cNvSpPr>
          <p:nvPr>
            <p:ph type="body" sz="quarter" idx="69"/>
          </p:nvPr>
        </p:nvSpPr>
        <p:spPr>
          <a:xfrm>
            <a:off x="5450870" y="4656522"/>
            <a:ext cx="1331217" cy="153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금융비용 절감(42억원)</a:t>
            </a:r>
          </a:p>
        </p:txBody>
      </p:sp>
      <p:sp>
        <p:nvSpPr>
          <p:cNvPr id="101" name="막대"/>
          <p:cNvSpPr/>
          <p:nvPr/>
        </p:nvSpPr>
        <p:spPr>
          <a:xfrm>
            <a:off x="5505652" y="5160522"/>
            <a:ext cx="164348" cy="76696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2" name="값"/>
          <p:cNvSpPr>
            <a:spLocks noGrp="1"/>
          </p:cNvSpPr>
          <p:nvPr>
            <p:ph type="body" sz="quarter" idx="70"/>
          </p:nvPr>
        </p:nvSpPr>
        <p:spPr>
          <a:xfrm>
            <a:off x="5418000" y="4985217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8억</a:t>
            </a:r>
          </a:p>
        </p:txBody>
      </p:sp>
      <p:sp>
        <p:nvSpPr>
          <p:cNvPr id="103" name="연도"/>
          <p:cNvSpPr>
            <a:spLocks noGrp="1"/>
          </p:cNvSpPr>
          <p:nvPr>
            <p:ph type="body" sz="quarter" idx="71"/>
          </p:nvPr>
        </p:nvSpPr>
        <p:spPr>
          <a:xfrm>
            <a:off x="5418000" y="5248174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유휴</a:t>
            </a:r>
          </a:p>
        </p:txBody>
      </p:sp>
      <p:sp>
        <p:nvSpPr>
          <p:cNvPr id="104" name="막대"/>
          <p:cNvSpPr/>
          <p:nvPr/>
        </p:nvSpPr>
        <p:spPr>
          <a:xfrm>
            <a:off x="5912870" y="5160522"/>
            <a:ext cx="164348" cy="76696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5" name="값"/>
          <p:cNvSpPr>
            <a:spLocks noGrp="1"/>
          </p:cNvSpPr>
          <p:nvPr>
            <p:ph type="body" sz="quarter" idx="72"/>
          </p:nvPr>
        </p:nvSpPr>
        <p:spPr>
          <a:xfrm>
            <a:off x="5825217" y="4985217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3억</a:t>
            </a:r>
          </a:p>
        </p:txBody>
      </p:sp>
      <p:sp>
        <p:nvSpPr>
          <p:cNvPr id="106" name="연도"/>
          <p:cNvSpPr>
            <a:spLocks noGrp="1"/>
          </p:cNvSpPr>
          <p:nvPr>
            <p:ph type="body" sz="quarter" idx="73"/>
          </p:nvPr>
        </p:nvSpPr>
        <p:spPr>
          <a:xfrm>
            <a:off x="5825217" y="5248174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녹색</a:t>
            </a:r>
          </a:p>
        </p:txBody>
      </p:sp>
      <p:sp>
        <p:nvSpPr>
          <p:cNvPr id="107" name="막대"/>
          <p:cNvSpPr/>
          <p:nvPr/>
        </p:nvSpPr>
        <p:spPr>
          <a:xfrm>
            <a:off x="6320087" y="5072870"/>
            <a:ext cx="164348" cy="16434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8" name="값"/>
          <p:cNvSpPr>
            <a:spLocks noGrp="1"/>
          </p:cNvSpPr>
          <p:nvPr>
            <p:ph type="body" sz="quarter" idx="74"/>
          </p:nvPr>
        </p:nvSpPr>
        <p:spPr>
          <a:xfrm>
            <a:off x="6232435" y="4897565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31억</a:t>
            </a:r>
          </a:p>
        </p:txBody>
      </p:sp>
      <p:sp>
        <p:nvSpPr>
          <p:cNvPr id="109" name="연도"/>
          <p:cNvSpPr>
            <a:spLocks noGrp="1"/>
          </p:cNvSpPr>
          <p:nvPr>
            <p:ph type="body" sz="quarter" idx="75"/>
          </p:nvPr>
        </p:nvSpPr>
        <p:spPr>
          <a:xfrm>
            <a:off x="6232435" y="5248174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외화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24 서사 · 맞춤형 자산운영 · AI 자산관리(자산특성 → 수익성 개선 → 자산가치 제고 → 국유재산 관리전환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맞춤형 자산운영 및 AI 자산관리로 재무 패러다임 전환</a:t>
            </a:r>
          </a:p>
        </p:txBody>
      </p:sp>
      <p:sp>
        <p:nvSpPr>
          <p:cNvPr id="14" name="번호 띠 칩"/>
          <p:cNvSpPr/>
          <p:nvPr/>
        </p:nvSpPr>
        <p:spPr>
          <a:xfrm>
            <a:off x="6428183" y="843652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번호 띠 칩"/>
          <p:cNvSpPr>
            <a:spLocks noGrp="1"/>
          </p:cNvSpPr>
          <p:nvPr>
            <p:ph type="body" sz="quarter" idx="22"/>
          </p:nvPr>
        </p:nvSpPr>
        <p:spPr>
          <a:xfrm>
            <a:off x="6428183" y="843652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6" name="표 외곽"/>
          <p:cNvSpPr/>
          <p:nvPr/>
        </p:nvSpPr>
        <p:spPr>
          <a:xfrm>
            <a:off x="723130" y="1128522"/>
            <a:ext cx="6300000" cy="412513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734087" y="1144957"/>
            <a:ext cx="580696" cy="70669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3"/>
          </p:nvPr>
        </p:nvSpPr>
        <p:spPr>
          <a:xfrm>
            <a:off x="734087" y="1144957"/>
            <a:ext cx="580696" cy="70669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K-water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자산특성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4"/>
          </p:nvPr>
        </p:nvSpPr>
        <p:spPr>
          <a:xfrm>
            <a:off x="1358609" y="1166870"/>
            <a:ext cx="2802130" cy="679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사용권 등 무형자산(46%), 판매용 토지 등 재고자산(35%)이 대부분을 차지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5"/>
          </p:nvPr>
        </p:nvSpPr>
        <p:spPr>
          <a:xfrm>
            <a:off x="4182652" y="1166870"/>
            <a:ext cx="2802130" cy="679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보유자산 특성상 운영 및 활용에 한계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선택·집중 원칙으로 운영성과 제고 필요</a:t>
            </a:r>
          </a:p>
        </p:txBody>
      </p:sp>
      <p:cxnSp>
        <p:nvCxnSpPr>
          <p:cNvPr id="21" name="Connector 13"/>
          <p:cNvCxnSpPr/>
          <p:nvPr/>
        </p:nvCxnSpPr>
        <p:spPr>
          <a:xfrm>
            <a:off x="4171696" y="1199739"/>
            <a:ext cx="0" cy="613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2" name="레일"/>
          <p:cNvSpPr/>
          <p:nvPr/>
        </p:nvSpPr>
        <p:spPr>
          <a:xfrm>
            <a:off x="734087" y="1868087"/>
            <a:ext cx="580696" cy="1068261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3" name="레일"/>
          <p:cNvSpPr>
            <a:spLocks noGrp="1"/>
          </p:cNvSpPr>
          <p:nvPr>
            <p:ph type="body" sz="quarter" idx="26"/>
          </p:nvPr>
        </p:nvSpPr>
        <p:spPr>
          <a:xfrm>
            <a:off x="734087" y="1868087"/>
            <a:ext cx="580696" cy="1068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수익성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 선</a:t>
            </a:r>
          </a:p>
        </p:txBody>
      </p:sp>
      <p:sp>
        <p:nvSpPr>
          <p:cNvPr id="24" name="레일 삼각형"/>
          <p:cNvSpPr/>
          <p:nvPr/>
        </p:nvSpPr>
        <p:spPr>
          <a:xfrm>
            <a:off x="734086" y="1868086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1358609" y="1890000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재고자산 토지 판매촉진 통한 매출 증대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수변사업 조성-수납까지 긴 영업주기 따른 자금수지 일시 적자(~’26, 0.8조원) 해소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분양자 재무부담 완화 서비스 통한 토지 판매 확대로 조성비 조기 회수 ➡ 분양매출 1조 9백억원 달성(전년比 44.3%↑)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8"/>
          </p:nvPr>
        </p:nvSpPr>
        <p:spPr>
          <a:xfrm>
            <a:off x="4182652" y="1890000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무형자산 항만시설관리권 경쟁입찰 매각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관리청의 관리권 매각물량 제한으로 아라뱃길 사업 투자비 회수 차질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신규 고객 유치 및 초과수요 유도, 경쟁률 제고 및 판매단가 상승 ➡ 항만관리권 매각 762억원(전년比 40억원↑)</a:t>
            </a:r>
          </a:p>
        </p:txBody>
      </p:sp>
      <p:cxnSp>
        <p:nvCxnSpPr>
          <p:cNvPr id="27" name="Connector 18"/>
          <p:cNvCxnSpPr/>
          <p:nvPr/>
        </p:nvCxnSpPr>
        <p:spPr>
          <a:xfrm>
            <a:off x="4171696" y="1922870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8" name="레일"/>
          <p:cNvSpPr/>
          <p:nvPr/>
        </p:nvSpPr>
        <p:spPr>
          <a:xfrm>
            <a:off x="734087" y="2952783"/>
            <a:ext cx="580696" cy="1134000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9" name="레일"/>
          <p:cNvSpPr>
            <a:spLocks noGrp="1"/>
          </p:cNvSpPr>
          <p:nvPr>
            <p:ph type="body" sz="quarter" idx="29"/>
          </p:nvPr>
        </p:nvSpPr>
        <p:spPr>
          <a:xfrm>
            <a:off x="734087" y="2952783"/>
            <a:ext cx="580696" cy="113400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자산가치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제 고</a:t>
            </a:r>
          </a:p>
        </p:txBody>
      </p:sp>
      <p:sp>
        <p:nvSpPr>
          <p:cNvPr id="30" name="단계"/>
          <p:cNvSpPr/>
          <p:nvPr/>
        </p:nvSpPr>
        <p:spPr>
          <a:xfrm>
            <a:off x="1347652" y="2974696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1" name="단계"/>
          <p:cNvSpPr>
            <a:spLocks noGrp="1"/>
          </p:cNvSpPr>
          <p:nvPr>
            <p:ph type="body" sz="quarter" idx="30"/>
          </p:nvPr>
        </p:nvSpPr>
        <p:spPr>
          <a:xfrm>
            <a:off x="1347652" y="297469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댐 자산 최적활용 제약</a:t>
            </a:r>
          </a:p>
        </p:txBody>
      </p:sp>
      <p:sp>
        <p:nvSpPr>
          <p:cNvPr id="32" name="단계"/>
          <p:cNvSpPr/>
          <p:nvPr/>
        </p:nvSpPr>
        <p:spPr>
          <a:xfrm>
            <a:off x="3230348" y="2974696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3" name="단계"/>
          <p:cNvSpPr>
            <a:spLocks noGrp="1"/>
          </p:cNvSpPr>
          <p:nvPr>
            <p:ph type="body" sz="quarter" idx="31"/>
          </p:nvPr>
        </p:nvSpPr>
        <p:spPr>
          <a:xfrm>
            <a:off x="3230348" y="297469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댐 자산가치 회복방안</a:t>
            </a:r>
          </a:p>
        </p:txBody>
      </p:sp>
      <p:sp>
        <p:nvSpPr>
          <p:cNvPr id="34" name="단계"/>
          <p:cNvSpPr/>
          <p:nvPr/>
        </p:nvSpPr>
        <p:spPr>
          <a:xfrm>
            <a:off x="5113043" y="2974696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5" name="단계"/>
          <p:cNvSpPr>
            <a:spLocks noGrp="1"/>
          </p:cNvSpPr>
          <p:nvPr>
            <p:ph type="body" sz="quarter" idx="32"/>
          </p:nvPr>
        </p:nvSpPr>
        <p:spPr>
          <a:xfrm>
            <a:off x="5113043" y="297469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댐 물그릇 1.3억톤 확대</a:t>
            </a:r>
          </a:p>
        </p:txBody>
      </p:sp>
      <p:sp>
        <p:nvSpPr>
          <p:cNvPr id="36" name="단계 삼각형"/>
          <p:cNvSpPr/>
          <p:nvPr/>
        </p:nvSpPr>
        <p:spPr>
          <a:xfrm>
            <a:off x="3230347" y="2974695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7" name="단계 삼각형"/>
          <p:cNvSpPr/>
          <p:nvPr/>
        </p:nvSpPr>
        <p:spPr>
          <a:xfrm>
            <a:off x="5113043" y="2974695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3"/>
          </p:nvPr>
        </p:nvSpPr>
        <p:spPr>
          <a:xfrm>
            <a:off x="1358609" y="3226696"/>
            <a:ext cx="1860783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안동댐 등 저수구역 내 장기간 불법가옥 잔존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댐 低수위 운영 불가피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4"/>
          </p:nvPr>
        </p:nvSpPr>
        <p:spPr>
          <a:xfrm>
            <a:off x="3241304" y="3226696"/>
            <a:ext cx="1860783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전사 추진반 운영(’25.3) 통해 전수조사, 유형별 해소방안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취약층 1:1 주거안내, 간접지원 등</a:t>
            </a:r>
          </a:p>
        </p:txBody>
      </p:sp>
      <p:cxnSp>
        <p:nvCxnSpPr>
          <p:cNvPr id="40" name="Connector 27"/>
          <p:cNvCxnSpPr/>
          <p:nvPr/>
        </p:nvCxnSpPr>
        <p:spPr>
          <a:xfrm>
            <a:off x="3230348" y="3259565"/>
            <a:ext cx="0" cy="788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1" name="칸 본문"/>
          <p:cNvSpPr>
            <a:spLocks noGrp="1"/>
          </p:cNvSpPr>
          <p:nvPr>
            <p:ph type="body" sz="quarter" idx="35"/>
          </p:nvPr>
        </p:nvSpPr>
        <p:spPr>
          <a:xfrm>
            <a:off x="5124000" y="3226696"/>
            <a:ext cx="1860783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47채 철거 ➡ 댐용수 연 매출액 19억원 견인</a:t>
            </a:r>
          </a:p>
        </p:txBody>
      </p:sp>
      <p:cxnSp>
        <p:nvCxnSpPr>
          <p:cNvPr id="42" name="Connector 29"/>
          <p:cNvCxnSpPr/>
          <p:nvPr/>
        </p:nvCxnSpPr>
        <p:spPr>
          <a:xfrm>
            <a:off x="5113043" y="3259565"/>
            <a:ext cx="0" cy="788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3" name="레일"/>
          <p:cNvSpPr/>
          <p:nvPr/>
        </p:nvSpPr>
        <p:spPr>
          <a:xfrm>
            <a:off x="734087" y="4103217"/>
            <a:ext cx="580696" cy="1134000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4" name="레일"/>
          <p:cNvSpPr>
            <a:spLocks noGrp="1"/>
          </p:cNvSpPr>
          <p:nvPr>
            <p:ph type="body" sz="quarter" idx="36"/>
          </p:nvPr>
        </p:nvSpPr>
        <p:spPr>
          <a:xfrm>
            <a:off x="734087" y="4103217"/>
            <a:ext cx="580696" cy="113400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국유재산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AI로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관리전환</a:t>
            </a:r>
          </a:p>
        </p:txBody>
      </p:sp>
      <p:sp>
        <p:nvSpPr>
          <p:cNvPr id="45" name="레일 삼각형"/>
          <p:cNvSpPr/>
          <p:nvPr/>
        </p:nvSpPr>
        <p:spPr>
          <a:xfrm>
            <a:off x="734086" y="4103217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6" name="단계"/>
          <p:cNvSpPr/>
          <p:nvPr/>
        </p:nvSpPr>
        <p:spPr>
          <a:xfrm>
            <a:off x="1347652" y="4125130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7" name="단계"/>
          <p:cNvSpPr>
            <a:spLocks noGrp="1"/>
          </p:cNvSpPr>
          <p:nvPr>
            <p:ph type="body" sz="quarter" idx="37"/>
          </p:nvPr>
        </p:nvSpPr>
        <p:spPr>
          <a:xfrm>
            <a:off x="1347652" y="412513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국유재산 관리 대전환 필요</a:t>
            </a:r>
          </a:p>
        </p:txBody>
      </p:sp>
      <p:sp>
        <p:nvSpPr>
          <p:cNvPr id="48" name="단계"/>
          <p:cNvSpPr/>
          <p:nvPr/>
        </p:nvSpPr>
        <p:spPr>
          <a:xfrm>
            <a:off x="3230348" y="4125130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9" name="단계"/>
          <p:cNvSpPr>
            <a:spLocks noGrp="1"/>
          </p:cNvSpPr>
          <p:nvPr>
            <p:ph type="body" sz="quarter" idx="38"/>
          </p:nvPr>
        </p:nvSpPr>
        <p:spPr>
          <a:xfrm>
            <a:off x="3230348" y="412513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신규 AI기반 로드맵·시스템</a:t>
            </a:r>
          </a:p>
        </p:txBody>
      </p:sp>
      <p:sp>
        <p:nvSpPr>
          <p:cNvPr id="50" name="단계"/>
          <p:cNvSpPr/>
          <p:nvPr/>
        </p:nvSpPr>
        <p:spPr>
          <a:xfrm>
            <a:off x="5113043" y="4125130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1" name="단계"/>
          <p:cNvSpPr>
            <a:spLocks noGrp="1"/>
          </p:cNvSpPr>
          <p:nvPr>
            <p:ph type="body" sz="quarter" idx="39"/>
          </p:nvPr>
        </p:nvSpPr>
        <p:spPr>
          <a:xfrm>
            <a:off x="5113043" y="412513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기대 효과</a:t>
            </a:r>
          </a:p>
        </p:txBody>
      </p:sp>
      <p:sp>
        <p:nvSpPr>
          <p:cNvPr id="52" name="단계 삼각형"/>
          <p:cNvSpPr/>
          <p:nvPr/>
        </p:nvSpPr>
        <p:spPr>
          <a:xfrm>
            <a:off x="3230347" y="4125130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3" name="단계 삼각형"/>
          <p:cNvSpPr/>
          <p:nvPr/>
        </p:nvSpPr>
        <p:spPr>
          <a:xfrm>
            <a:off x="5113043" y="4125130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4" name="칸 본문"/>
          <p:cNvSpPr>
            <a:spLocks noGrp="1"/>
          </p:cNvSpPr>
          <p:nvPr>
            <p:ph type="body" sz="quarter" idx="40"/>
          </p:nvPr>
        </p:nvSpPr>
        <p:spPr>
          <a:xfrm>
            <a:off x="1358609" y="4377130"/>
            <a:ext cx="1860783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광범위한 관리면적으로 무단점유 등 적시 적발 곤란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527㎢로 서울시 면적 87% 수준</a:t>
            </a:r>
          </a:p>
        </p:txBody>
      </p:sp>
      <p:sp>
        <p:nvSpPr>
          <p:cNvPr id="55" name="칸 본문"/>
          <p:cNvSpPr>
            <a:spLocks noGrp="1"/>
          </p:cNvSpPr>
          <p:nvPr>
            <p:ph type="body" sz="quarter" idx="41"/>
          </p:nvPr>
        </p:nvSpPr>
        <p:spPr>
          <a:xfrm>
            <a:off x="3241304" y="4377130"/>
            <a:ext cx="1860783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토지변화 탐지시스템(시범)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캐코-LX 데이터 공유 협약(’25.9)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AI기반 자산관리로드맵(’25.12)</a:t>
            </a:r>
          </a:p>
        </p:txBody>
      </p:sp>
      <p:cxnSp>
        <p:nvCxnSpPr>
          <p:cNvPr id="56" name="Connector 39"/>
          <p:cNvCxnSpPr/>
          <p:nvPr/>
        </p:nvCxnSpPr>
        <p:spPr>
          <a:xfrm>
            <a:off x="3230348" y="4410000"/>
            <a:ext cx="0" cy="788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7" name="칸 본문"/>
          <p:cNvSpPr>
            <a:spLocks noGrp="1"/>
          </p:cNvSpPr>
          <p:nvPr>
            <p:ph type="body" sz="quarter" idx="42"/>
          </p:nvPr>
        </p:nvSpPr>
        <p:spPr>
          <a:xfrm>
            <a:off x="5124000" y="4377130"/>
            <a:ext cx="1860783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불법행위 절감비용 △8억원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데이터 취득비 △0.2억원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AI자산관리 체계 마련</a:t>
            </a:r>
          </a:p>
        </p:txBody>
      </p:sp>
      <p:cxnSp>
        <p:nvCxnSpPr>
          <p:cNvPr id="58" name="Connector 41"/>
          <p:cNvCxnSpPr/>
          <p:nvPr/>
        </p:nvCxnSpPr>
        <p:spPr>
          <a:xfrm>
            <a:off x="5113043" y="4410000"/>
            <a:ext cx="0" cy="788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9" name="핵심성과 박스"/>
          <p:cNvSpPr/>
          <p:nvPr/>
        </p:nvSpPr>
        <p:spPr>
          <a:xfrm>
            <a:off x="723130" y="5341304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0" name="핵심성과 라벨"/>
          <p:cNvSpPr/>
          <p:nvPr/>
        </p:nvSpPr>
        <p:spPr>
          <a:xfrm>
            <a:off x="756000" y="5379652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61" name="핵심성과 라벨"/>
          <p:cNvSpPr>
            <a:spLocks noGrp="1"/>
          </p:cNvSpPr>
          <p:nvPr>
            <p:ph type="body" sz="quarter" idx="43"/>
          </p:nvPr>
        </p:nvSpPr>
        <p:spPr>
          <a:xfrm>
            <a:off x="756000" y="5379652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62" name="핵심성과 문구"/>
          <p:cNvSpPr>
            <a:spLocks noGrp="1"/>
          </p:cNvSpPr>
          <p:nvPr>
            <p:ph type="body" sz="quarter" idx="44"/>
          </p:nvPr>
        </p:nvSpPr>
        <p:spPr>
          <a:xfrm>
            <a:off x="1501043" y="5357739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자산운영 효율화를 통한 총자산회전율 22.6% 달성(전년 대비 1.4%p 상승)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25 서사 · 출자회사 관리 고도화(추진배경 → 경영개선 한 걸음 → 경영 안정화 체질개선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출자회사 관리 고도화로 공공분야 자회사 운영 내실화</a:t>
            </a:r>
          </a:p>
        </p:txBody>
      </p:sp>
      <p:sp>
        <p:nvSpPr>
          <p:cNvPr id="15" name="번호 띠 칩"/>
          <p:cNvSpPr/>
          <p:nvPr/>
        </p:nvSpPr>
        <p:spPr>
          <a:xfrm>
            <a:off x="6241922" y="832696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번호 띠 칩"/>
          <p:cNvSpPr>
            <a:spLocks noGrp="1"/>
          </p:cNvSpPr>
          <p:nvPr>
            <p:ph type="body" sz="quarter" idx="22"/>
          </p:nvPr>
        </p:nvSpPr>
        <p:spPr>
          <a:xfrm>
            <a:off x="6241922" y="832696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7" name="표 외곽"/>
          <p:cNvSpPr/>
          <p:nvPr/>
        </p:nvSpPr>
        <p:spPr>
          <a:xfrm>
            <a:off x="536870" y="1117565"/>
            <a:ext cx="6300000" cy="2383043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레일"/>
          <p:cNvSpPr/>
          <p:nvPr/>
        </p:nvSpPr>
        <p:spPr>
          <a:xfrm>
            <a:off x="547826" y="1134000"/>
            <a:ext cx="580696" cy="44373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레일"/>
          <p:cNvSpPr>
            <a:spLocks noGrp="1"/>
          </p:cNvSpPr>
          <p:nvPr>
            <p:ph type="body" sz="quarter" idx="23"/>
          </p:nvPr>
        </p:nvSpPr>
        <p:spPr>
          <a:xfrm>
            <a:off x="547826" y="1134000"/>
            <a:ext cx="580696" cy="443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4"/>
          </p:nvPr>
        </p:nvSpPr>
        <p:spPr>
          <a:xfrm>
            <a:off x="1172348" y="1155913"/>
            <a:ext cx="2802130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해외SPC 영업손실 지속 등 해외사업 수익성 확대하기 위한 노력 필요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5"/>
          </p:nvPr>
        </p:nvSpPr>
        <p:spPr>
          <a:xfrm>
            <a:off x="3996391" y="1155913"/>
            <a:ext cx="2802130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출자회사 관리 고도화 및 체계적 관리로 해외SPC 수익 확대 등 출자 성과 제고</a:t>
            </a:r>
          </a:p>
        </p:txBody>
      </p:sp>
      <p:cxnSp>
        <p:nvCxnSpPr>
          <p:cNvPr id="22" name="Connector 16"/>
          <p:cNvCxnSpPr/>
          <p:nvPr/>
        </p:nvCxnSpPr>
        <p:spPr>
          <a:xfrm>
            <a:off x="3985435" y="1188783"/>
            <a:ext cx="0" cy="35060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3" name="레일"/>
          <p:cNvSpPr/>
          <p:nvPr/>
        </p:nvSpPr>
        <p:spPr>
          <a:xfrm>
            <a:off x="547826" y="1594174"/>
            <a:ext cx="580696" cy="805304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4" name="레일 태그"/>
          <p:cNvSpPr/>
          <p:nvPr/>
        </p:nvSpPr>
        <p:spPr>
          <a:xfrm>
            <a:off x="558376" y="1758522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5" name="레일 태그"/>
          <p:cNvSpPr>
            <a:spLocks noGrp="1"/>
          </p:cNvSpPr>
          <p:nvPr>
            <p:ph type="body" sz="quarter" idx="26"/>
          </p:nvPr>
        </p:nvSpPr>
        <p:spPr>
          <a:xfrm>
            <a:off x="558376" y="1758522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기반마련</a:t>
            </a:r>
          </a:p>
        </p:txBody>
      </p:sp>
      <p:sp>
        <p:nvSpPr>
          <p:cNvPr id="26" name="레일 라벨"/>
          <p:cNvSpPr>
            <a:spLocks noGrp="1"/>
          </p:cNvSpPr>
          <p:nvPr>
            <p:ph type="body" sz="quarter" idx="27"/>
          </p:nvPr>
        </p:nvSpPr>
        <p:spPr>
          <a:xfrm>
            <a:off x="547826" y="1944783"/>
            <a:ext cx="580696" cy="432783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경영개선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한 걸음</a:t>
            </a:r>
          </a:p>
        </p:txBody>
      </p:sp>
      <p:sp>
        <p:nvSpPr>
          <p:cNvPr id="27" name="레일 삼각형"/>
          <p:cNvSpPr/>
          <p:nvPr/>
        </p:nvSpPr>
        <p:spPr>
          <a:xfrm>
            <a:off x="547826" y="1594173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단계"/>
          <p:cNvSpPr/>
          <p:nvPr/>
        </p:nvSpPr>
        <p:spPr>
          <a:xfrm>
            <a:off x="1161391" y="1616087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9" name="단계"/>
          <p:cNvSpPr>
            <a:spLocks noGrp="1"/>
          </p:cNvSpPr>
          <p:nvPr>
            <p:ph type="body" sz="quarter" idx="28"/>
          </p:nvPr>
        </p:nvSpPr>
        <p:spPr>
          <a:xfrm>
            <a:off x="1161391" y="1616087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관리체계 고도화(’24)</a:t>
            </a:r>
          </a:p>
        </p:txBody>
      </p:sp>
      <p:sp>
        <p:nvSpPr>
          <p:cNvPr id="30" name="단계"/>
          <p:cNvSpPr/>
          <p:nvPr/>
        </p:nvSpPr>
        <p:spPr>
          <a:xfrm>
            <a:off x="3044087" y="1616087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1" name="단계"/>
          <p:cNvSpPr>
            <a:spLocks noGrp="1"/>
          </p:cNvSpPr>
          <p:nvPr>
            <p:ph type="body" sz="quarter" idx="29"/>
          </p:nvPr>
        </p:nvSpPr>
        <p:spPr>
          <a:xfrm>
            <a:off x="3044087" y="1616087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자회사 관리 내실화(’25)</a:t>
            </a:r>
          </a:p>
        </p:txBody>
      </p:sp>
      <p:sp>
        <p:nvSpPr>
          <p:cNvPr id="32" name="단계"/>
          <p:cNvSpPr/>
          <p:nvPr/>
        </p:nvSpPr>
        <p:spPr>
          <a:xfrm>
            <a:off x="4926783" y="1616087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3" name="단계"/>
          <p:cNvSpPr>
            <a:spLocks noGrp="1"/>
          </p:cNvSpPr>
          <p:nvPr>
            <p:ph type="body" sz="quarter" idx="30"/>
          </p:nvPr>
        </p:nvSpPr>
        <p:spPr>
          <a:xfrm>
            <a:off x="4926783" y="1616087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관리선도·확산(’26~)</a:t>
            </a:r>
          </a:p>
        </p:txBody>
      </p:sp>
      <p:sp>
        <p:nvSpPr>
          <p:cNvPr id="34" name="단계 삼각형"/>
          <p:cNvSpPr/>
          <p:nvPr/>
        </p:nvSpPr>
        <p:spPr>
          <a:xfrm>
            <a:off x="3044086" y="1616086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5" name="단계 삼각형"/>
          <p:cNvSpPr/>
          <p:nvPr/>
        </p:nvSpPr>
        <p:spPr>
          <a:xfrm>
            <a:off x="4926782" y="1616086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1"/>
          </p:nvPr>
        </p:nvSpPr>
        <p:spPr>
          <a:xfrm>
            <a:off x="1172348" y="1868087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8개 우선과제 실행·관리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자회사 관리 포털 구축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2"/>
          </p:nvPr>
        </p:nvSpPr>
        <p:spPr>
          <a:xfrm>
            <a:off x="3055043" y="1868087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생애주기 관리 프로세스 정립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 재무성과 분석·관리 강화</a:t>
            </a:r>
          </a:p>
        </p:txBody>
      </p:sp>
      <p:cxnSp>
        <p:nvCxnSpPr>
          <p:cNvPr id="38" name="Connector 28"/>
          <p:cNvCxnSpPr/>
          <p:nvPr/>
        </p:nvCxnSpPr>
        <p:spPr>
          <a:xfrm>
            <a:off x="3044087" y="1900957"/>
            <a:ext cx="0" cy="46017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9" name="칸 본문"/>
          <p:cNvSpPr>
            <a:spLocks noGrp="1"/>
          </p:cNvSpPr>
          <p:nvPr>
            <p:ph type="body" sz="quarter" idx="33"/>
          </p:nvPr>
        </p:nvSpPr>
        <p:spPr>
          <a:xfrm>
            <a:off x="4937739" y="1868087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低성과 자회사 경영진단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경영개선·역량강화 지원</a:t>
            </a:r>
          </a:p>
        </p:txBody>
      </p:sp>
      <p:cxnSp>
        <p:nvCxnSpPr>
          <p:cNvPr id="40" name="Connector 30"/>
          <p:cNvCxnSpPr/>
          <p:nvPr/>
        </p:nvCxnSpPr>
        <p:spPr>
          <a:xfrm>
            <a:off x="4926783" y="1900957"/>
            <a:ext cx="0" cy="46017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1" name="레일"/>
          <p:cNvSpPr/>
          <p:nvPr/>
        </p:nvSpPr>
        <p:spPr>
          <a:xfrm>
            <a:off x="547826" y="2415913"/>
            <a:ext cx="580696" cy="1068261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2" name="레일 태그"/>
          <p:cNvSpPr/>
          <p:nvPr/>
        </p:nvSpPr>
        <p:spPr>
          <a:xfrm>
            <a:off x="488856" y="2580261"/>
            <a:ext cx="69863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3" name="레일 태그"/>
          <p:cNvSpPr>
            <a:spLocks noGrp="1"/>
          </p:cNvSpPr>
          <p:nvPr>
            <p:ph type="body" sz="quarter" idx="34"/>
          </p:nvPr>
        </p:nvSpPr>
        <p:spPr>
          <a:xfrm>
            <a:off x="488856" y="2580261"/>
            <a:ext cx="69863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경영 안정화</a:t>
            </a:r>
          </a:p>
        </p:txBody>
      </p:sp>
      <p:sp>
        <p:nvSpPr>
          <p:cNvPr id="44" name="레일 라벨"/>
          <p:cNvSpPr>
            <a:spLocks noGrp="1"/>
          </p:cNvSpPr>
          <p:nvPr>
            <p:ph type="body" sz="quarter" idx="35"/>
          </p:nvPr>
        </p:nvSpPr>
        <p:spPr>
          <a:xfrm>
            <a:off x="547826" y="2766522"/>
            <a:ext cx="580696" cy="695739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체질개선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완 성</a:t>
            </a:r>
          </a:p>
        </p:txBody>
      </p:sp>
      <p:sp>
        <p:nvSpPr>
          <p:cNvPr id="45" name="레일 삼각형"/>
          <p:cNvSpPr/>
          <p:nvPr/>
        </p:nvSpPr>
        <p:spPr>
          <a:xfrm>
            <a:off x="547826" y="2415913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6" name="칸 본문"/>
          <p:cNvSpPr>
            <a:spLocks noGrp="1"/>
          </p:cNvSpPr>
          <p:nvPr>
            <p:ph type="body" sz="quarter" idx="36"/>
          </p:nvPr>
        </p:nvSpPr>
        <p:spPr>
          <a:xfrm>
            <a:off x="1172348" y="2437826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국내 기본에 충실한 자회사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재무건전 핵심사업 역량집중, 안정적 경영관리 ➡ 지속적인 수익 발생, 리스크 최소화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안전진단 조직 신설 등 개선대책 마련(’25.10)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청렴인권 청렴·인권경영 제고 컨설팅(’25.12) ➡ 내부체감 단계별 개선, 감사조직(3명) 확대 등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37"/>
          </p:nvPr>
        </p:nvSpPr>
        <p:spPr>
          <a:xfrm>
            <a:off x="3996391" y="2437826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 국가리스크 극복하니 재무성과도 함께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 자회사 분기별 재무분석 및 환류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대표사례 ❶ 외환통제 등 파트린드HPP 사업 지연 ➡ 현지 외교망 활용, 대주단 협상으로 해결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❷ 낮은 전력요금, 앙갓댐 발전 매출 정체 ➡ 시설개선·효율적 댐 운영으로 극복</a:t>
            </a:r>
          </a:p>
        </p:txBody>
      </p:sp>
      <p:cxnSp>
        <p:nvCxnSpPr>
          <p:cNvPr id="48" name="Connector 37"/>
          <p:cNvCxnSpPr/>
          <p:nvPr/>
        </p:nvCxnSpPr>
        <p:spPr>
          <a:xfrm>
            <a:off x="3985435" y="2470696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9" name="핵심성과 박스"/>
          <p:cNvSpPr/>
          <p:nvPr/>
        </p:nvSpPr>
        <p:spPr>
          <a:xfrm>
            <a:off x="536870" y="3588261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0" name="핵심성과 라벨"/>
          <p:cNvSpPr/>
          <p:nvPr/>
        </p:nvSpPr>
        <p:spPr>
          <a:xfrm>
            <a:off x="569739" y="3621130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51" name="핵심성과 라벨"/>
          <p:cNvSpPr>
            <a:spLocks noGrp="1"/>
          </p:cNvSpPr>
          <p:nvPr>
            <p:ph type="body" sz="quarter" idx="38"/>
          </p:nvPr>
        </p:nvSpPr>
        <p:spPr>
          <a:xfrm>
            <a:off x="569739" y="3621130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2" name="핵심성과 문구"/>
          <p:cNvSpPr>
            <a:spLocks noGrp="1"/>
          </p:cNvSpPr>
          <p:nvPr>
            <p:ph type="body" sz="quarter" idx="39"/>
          </p:nvPr>
        </p:nvSpPr>
        <p:spPr>
          <a:xfrm>
            <a:off x="1314783" y="3610174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자회사 운영관리 실태평가 A등급(전년 B), 자회사 청렴도 평가 결과 평균 4.6점 상승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파트린드HPP 해외사업 최초 133억원 배당, 앙갓 역대 최고 매출 668억원 달성(107억원↑)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26 서사 · 예산편성 및 운용관리(환경분석 → 시사점 → track 1·2·3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기후위기 시대, 새로운 성장을 견인할 예산편성 및 운용관리</a:t>
            </a:r>
          </a:p>
        </p:txBody>
      </p:sp>
      <p:sp>
        <p:nvSpPr>
          <p:cNvPr id="14" name="번호 띠 칩"/>
          <p:cNvSpPr/>
          <p:nvPr/>
        </p:nvSpPr>
        <p:spPr>
          <a:xfrm>
            <a:off x="6451874" y="843652"/>
            <a:ext cx="505517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번호 띠 칩"/>
          <p:cNvSpPr>
            <a:spLocks noGrp="1"/>
          </p:cNvSpPr>
          <p:nvPr>
            <p:ph type="body" sz="quarter" idx="22"/>
          </p:nvPr>
        </p:nvSpPr>
        <p:spPr>
          <a:xfrm>
            <a:off x="6451874" y="843652"/>
            <a:ext cx="50551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6" name="번호 띠 칩"/>
          <p:cNvSpPr/>
          <p:nvPr/>
        </p:nvSpPr>
        <p:spPr>
          <a:xfrm>
            <a:off x="5878840" y="843652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번호 띠 칩"/>
          <p:cNvSpPr>
            <a:spLocks noGrp="1"/>
          </p:cNvSpPr>
          <p:nvPr>
            <p:ph type="body" sz="quarter" idx="23"/>
          </p:nvPr>
        </p:nvSpPr>
        <p:spPr>
          <a:xfrm>
            <a:off x="5878840" y="843652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8" name="표 외곽"/>
          <p:cNvSpPr/>
          <p:nvPr/>
        </p:nvSpPr>
        <p:spPr>
          <a:xfrm>
            <a:off x="723130" y="1128522"/>
            <a:ext cx="6300000" cy="121069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레일"/>
          <p:cNvSpPr/>
          <p:nvPr/>
        </p:nvSpPr>
        <p:spPr>
          <a:xfrm>
            <a:off x="734087" y="1144957"/>
            <a:ext cx="580696" cy="117782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4"/>
          </p:nvPr>
        </p:nvSpPr>
        <p:spPr>
          <a:xfrm>
            <a:off x="734087" y="1144957"/>
            <a:ext cx="580696" cy="1177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환경분석</a:t>
            </a:r>
          </a:p>
        </p:txBody>
      </p:sp>
      <p:sp>
        <p:nvSpPr>
          <p:cNvPr id="21" name="머리칸"/>
          <p:cNvSpPr/>
          <p:nvPr/>
        </p:nvSpPr>
        <p:spPr>
          <a:xfrm>
            <a:off x="1347652" y="116687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2" name="머리칸"/>
          <p:cNvSpPr>
            <a:spLocks noGrp="1"/>
          </p:cNvSpPr>
          <p:nvPr>
            <p:ph type="body" sz="quarter" idx="25"/>
          </p:nvPr>
        </p:nvSpPr>
        <p:spPr>
          <a:xfrm>
            <a:off x="1347652" y="116687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외부환경</a:t>
            </a:r>
          </a:p>
        </p:txBody>
      </p:sp>
      <p:sp>
        <p:nvSpPr>
          <p:cNvPr id="23" name="머리칸"/>
          <p:cNvSpPr/>
          <p:nvPr/>
        </p:nvSpPr>
        <p:spPr>
          <a:xfrm>
            <a:off x="4171696" y="116687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4" name="머리칸"/>
          <p:cNvSpPr>
            <a:spLocks noGrp="1"/>
          </p:cNvSpPr>
          <p:nvPr>
            <p:ph type="body" sz="quarter" idx="26"/>
          </p:nvPr>
        </p:nvSpPr>
        <p:spPr>
          <a:xfrm>
            <a:off x="4171696" y="116687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재무여건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1358609" y="1407913"/>
            <a:ext cx="2802130" cy="909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산업 기후변화 등 물관리 투자 필요성 증가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 경제성장 둔화로 공공투자 확대 요구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신규 물관리, 정부정책 중점 투자 필요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8"/>
          </p:nvPr>
        </p:nvSpPr>
        <p:spPr>
          <a:xfrm>
            <a:off x="4182652" y="1407913"/>
            <a:ext cx="2802130" cy="909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요금 동결 지속, 수돗물 품질 투자 등 확대로 영업이익 2년 연속 하락 예상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수익성 개선 위한 세밀한 원가관리 필요</a:t>
            </a:r>
          </a:p>
        </p:txBody>
      </p:sp>
      <p:cxnSp>
        <p:nvCxnSpPr>
          <p:cNvPr id="27" name="Connector 16"/>
          <p:cNvCxnSpPr/>
          <p:nvPr/>
        </p:nvCxnSpPr>
        <p:spPr>
          <a:xfrm>
            <a:off x="4171696" y="1440783"/>
            <a:ext cx="0" cy="8436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8" name="캡션 띠"/>
          <p:cNvSpPr/>
          <p:nvPr/>
        </p:nvSpPr>
        <p:spPr>
          <a:xfrm>
            <a:off x="723130" y="2361130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태그"/>
          <p:cNvSpPr/>
          <p:nvPr/>
        </p:nvSpPr>
        <p:spPr>
          <a:xfrm>
            <a:off x="1051826" y="2404957"/>
            <a:ext cx="438871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0" name="태그"/>
          <p:cNvSpPr>
            <a:spLocks noGrp="1"/>
          </p:cNvSpPr>
          <p:nvPr>
            <p:ph type="body" sz="quarter" idx="29"/>
          </p:nvPr>
        </p:nvSpPr>
        <p:spPr>
          <a:xfrm>
            <a:off x="1051826" y="2404957"/>
            <a:ext cx="438871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31" name="캡션"/>
          <p:cNvSpPr>
            <a:spLocks noGrp="1"/>
          </p:cNvSpPr>
          <p:nvPr>
            <p:ph type="body" sz="quarter" idx="30"/>
          </p:nvPr>
        </p:nvSpPr>
        <p:spPr>
          <a:xfrm>
            <a:off x="1545480" y="2361130"/>
            <a:ext cx="5258520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국정·전략과제 투자는 확대하되, 효율적 예산운용으로 지속가능한 재무구조 정착</a:t>
            </a:r>
          </a:p>
        </p:txBody>
      </p:sp>
      <p:sp>
        <p:nvSpPr>
          <p:cNvPr id="32" name="표 외곽"/>
          <p:cNvSpPr/>
          <p:nvPr/>
        </p:nvSpPr>
        <p:spPr>
          <a:xfrm>
            <a:off x="723130" y="2667913"/>
            <a:ext cx="6300000" cy="474417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3" name="레일"/>
          <p:cNvSpPr/>
          <p:nvPr/>
        </p:nvSpPr>
        <p:spPr>
          <a:xfrm>
            <a:off x="734087" y="2684348"/>
            <a:ext cx="580696" cy="1599652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4" name="레일"/>
          <p:cNvSpPr>
            <a:spLocks noGrp="1"/>
          </p:cNvSpPr>
          <p:nvPr>
            <p:ph type="body" sz="quarter" idx="31"/>
          </p:nvPr>
        </p:nvSpPr>
        <p:spPr>
          <a:xfrm>
            <a:off x="734087" y="2684348"/>
            <a:ext cx="580696" cy="159965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정책연계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투자재원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 충</a:t>
            </a:r>
          </a:p>
        </p:txBody>
      </p:sp>
      <p:sp>
        <p:nvSpPr>
          <p:cNvPr id="35" name="배너"/>
          <p:cNvSpPr/>
          <p:nvPr/>
        </p:nvSpPr>
        <p:spPr>
          <a:xfrm>
            <a:off x="1347652" y="2706261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6" name="배너"/>
          <p:cNvSpPr>
            <a:spLocks noGrp="1"/>
          </p:cNvSpPr>
          <p:nvPr>
            <p:ph type="body" sz="quarter" idx="32"/>
          </p:nvPr>
        </p:nvSpPr>
        <p:spPr>
          <a:xfrm>
            <a:off x="1347652" y="2706261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✔ track 1 정부정책 연계 사업의 재정·투자 기반 강화</a:t>
            </a:r>
          </a:p>
        </p:txBody>
      </p:sp>
      <p:sp>
        <p:nvSpPr>
          <p:cNvPr id="37" name="머리칸"/>
          <p:cNvSpPr/>
          <p:nvPr/>
        </p:nvSpPr>
        <p:spPr>
          <a:xfrm>
            <a:off x="1347652" y="294182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8" name="머리칸"/>
          <p:cNvSpPr>
            <a:spLocks noGrp="1"/>
          </p:cNvSpPr>
          <p:nvPr>
            <p:ph type="body" sz="quarter" idx="33"/>
          </p:nvPr>
        </p:nvSpPr>
        <p:spPr>
          <a:xfrm>
            <a:off x="1347652" y="294182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K-물관리수출 활성화</a:t>
            </a:r>
          </a:p>
        </p:txBody>
      </p:sp>
      <p:sp>
        <p:nvSpPr>
          <p:cNvPr id="39" name="머리칸"/>
          <p:cNvSpPr/>
          <p:nvPr/>
        </p:nvSpPr>
        <p:spPr>
          <a:xfrm>
            <a:off x="3230348" y="294182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0" name="머리칸"/>
          <p:cNvSpPr>
            <a:spLocks noGrp="1"/>
          </p:cNvSpPr>
          <p:nvPr>
            <p:ph type="body" sz="quarter" idx="34"/>
          </p:nvPr>
        </p:nvSpPr>
        <p:spPr>
          <a:xfrm>
            <a:off x="3230348" y="294182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 위한 기후안전망 강화</a:t>
            </a:r>
          </a:p>
        </p:txBody>
      </p:sp>
      <p:sp>
        <p:nvSpPr>
          <p:cNvPr id="41" name="머리칸"/>
          <p:cNvSpPr/>
          <p:nvPr/>
        </p:nvSpPr>
        <p:spPr>
          <a:xfrm>
            <a:off x="5113043" y="294182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2" name="머리칸"/>
          <p:cNvSpPr>
            <a:spLocks noGrp="1"/>
          </p:cNvSpPr>
          <p:nvPr>
            <p:ph type="body" sz="quarter" idx="35"/>
          </p:nvPr>
        </p:nvSpPr>
        <p:spPr>
          <a:xfrm>
            <a:off x="5113043" y="294182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 최우선 일터 구현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36"/>
          </p:nvPr>
        </p:nvSpPr>
        <p:spPr>
          <a:xfrm>
            <a:off x="1358609" y="3182870"/>
            <a:ext cx="1860783" cy="109565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국회·정부 대상 물산업 파급 공유, 정책 공감대 확산 노력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선도기관 선정(’25.10)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AI정수장 ’26~’30 955억원 반영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37"/>
          </p:nvPr>
        </p:nvSpPr>
        <p:spPr>
          <a:xfrm>
            <a:off x="3241304" y="3182870"/>
            <a:ext cx="1860783" cy="109565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극한 기후 시대 새로운 물 인프라 확대, 시설 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지하수저류댐 118억원 반영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유지관리비 46억원/연 증액</a:t>
            </a:r>
          </a:p>
        </p:txBody>
      </p:sp>
      <p:cxnSp>
        <p:nvCxnSpPr>
          <p:cNvPr id="45" name="Connector 28"/>
          <p:cNvCxnSpPr/>
          <p:nvPr/>
        </p:nvCxnSpPr>
        <p:spPr>
          <a:xfrm>
            <a:off x="3230348" y="3215739"/>
            <a:ext cx="0" cy="102991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6" name="칸 본문"/>
          <p:cNvSpPr>
            <a:spLocks noGrp="1"/>
          </p:cNvSpPr>
          <p:nvPr>
            <p:ph type="body" sz="quarter" idx="38"/>
          </p:nvPr>
        </p:nvSpPr>
        <p:spPr>
          <a:xfrm>
            <a:off x="5124000" y="3182870"/>
            <a:ext cx="1860783" cy="109565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중대재해법 등 제도 강화, 수도 감리요율 상향 先 제안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정부과제 선정 → 全기관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감리비 1,597억원(~’32년) 확충</a:t>
            </a:r>
          </a:p>
        </p:txBody>
      </p:sp>
      <p:cxnSp>
        <p:nvCxnSpPr>
          <p:cNvPr id="47" name="Connector 30"/>
          <p:cNvCxnSpPr/>
          <p:nvPr/>
        </p:nvCxnSpPr>
        <p:spPr>
          <a:xfrm>
            <a:off x="5113043" y="3215739"/>
            <a:ext cx="0" cy="102991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8" name="레일"/>
          <p:cNvSpPr/>
          <p:nvPr/>
        </p:nvSpPr>
        <p:spPr>
          <a:xfrm>
            <a:off x="734087" y="4300435"/>
            <a:ext cx="580696" cy="1720174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9" name="레일"/>
          <p:cNvSpPr>
            <a:spLocks noGrp="1"/>
          </p:cNvSpPr>
          <p:nvPr>
            <p:ph type="body" sz="quarter" idx="39"/>
          </p:nvPr>
        </p:nvSpPr>
        <p:spPr>
          <a:xfrm>
            <a:off x="734087" y="4300435"/>
            <a:ext cx="580696" cy="1720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투자사업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재구조화</a:t>
            </a:r>
          </a:p>
        </p:txBody>
      </p:sp>
      <p:sp>
        <p:nvSpPr>
          <p:cNvPr id="50" name="레일 삼각형"/>
          <p:cNvSpPr/>
          <p:nvPr/>
        </p:nvSpPr>
        <p:spPr>
          <a:xfrm>
            <a:off x="734086" y="4300434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1" name="배너"/>
          <p:cNvSpPr/>
          <p:nvPr/>
        </p:nvSpPr>
        <p:spPr>
          <a:xfrm>
            <a:off x="1347652" y="4322348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52" name="배너"/>
          <p:cNvSpPr>
            <a:spLocks noGrp="1"/>
          </p:cNvSpPr>
          <p:nvPr>
            <p:ph type="body" sz="quarter" idx="40"/>
          </p:nvPr>
        </p:nvSpPr>
        <p:spPr>
          <a:xfrm>
            <a:off x="1347652" y="4322348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✔ track 2 국정과제 및 중장기 전략과 연계한 사업 포트폴리오 및 투자예산 리밸런싱</a:t>
            </a:r>
          </a:p>
        </p:txBody>
      </p:sp>
      <p:sp>
        <p:nvSpPr>
          <p:cNvPr id="53" name="단계"/>
          <p:cNvSpPr/>
          <p:nvPr/>
        </p:nvSpPr>
        <p:spPr>
          <a:xfrm>
            <a:off x="1347652" y="4557913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4" name="단계"/>
          <p:cNvSpPr>
            <a:spLocks noGrp="1"/>
          </p:cNvSpPr>
          <p:nvPr>
            <p:ph type="body" sz="quarter" idx="41"/>
          </p:nvPr>
        </p:nvSpPr>
        <p:spPr>
          <a:xfrm>
            <a:off x="1347652" y="455791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 포트폴리오 선별</a:t>
            </a:r>
          </a:p>
        </p:txBody>
      </p:sp>
      <p:sp>
        <p:nvSpPr>
          <p:cNvPr id="55" name="단계"/>
          <p:cNvSpPr/>
          <p:nvPr/>
        </p:nvSpPr>
        <p:spPr>
          <a:xfrm>
            <a:off x="3230348" y="4557913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6" name="단계"/>
          <p:cNvSpPr>
            <a:spLocks noGrp="1"/>
          </p:cNvSpPr>
          <p:nvPr>
            <p:ph type="body" sz="quarter" idx="42"/>
          </p:nvPr>
        </p:nvSpPr>
        <p:spPr>
          <a:xfrm>
            <a:off x="3230348" y="455791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투자 우선순위 설정</a:t>
            </a:r>
          </a:p>
        </p:txBody>
      </p:sp>
      <p:sp>
        <p:nvSpPr>
          <p:cNvPr id="57" name="단계"/>
          <p:cNvSpPr/>
          <p:nvPr/>
        </p:nvSpPr>
        <p:spPr>
          <a:xfrm>
            <a:off x="5113043" y="4557913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8" name="단계"/>
          <p:cNvSpPr>
            <a:spLocks noGrp="1"/>
          </p:cNvSpPr>
          <p:nvPr>
            <p:ph type="body" sz="quarter" idx="43"/>
          </p:nvPr>
        </p:nvSpPr>
        <p:spPr>
          <a:xfrm>
            <a:off x="5113043" y="455791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국정과제 투자 1,744억원 확대</a:t>
            </a:r>
          </a:p>
        </p:txBody>
      </p:sp>
      <p:sp>
        <p:nvSpPr>
          <p:cNvPr id="59" name="단계 삼각형"/>
          <p:cNvSpPr/>
          <p:nvPr/>
        </p:nvSpPr>
        <p:spPr>
          <a:xfrm>
            <a:off x="3230347" y="4557913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0" name="단계 삼각형"/>
          <p:cNvSpPr/>
          <p:nvPr/>
        </p:nvSpPr>
        <p:spPr>
          <a:xfrm>
            <a:off x="5113043" y="455791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1" name="칸 본문"/>
          <p:cNvSpPr>
            <a:spLocks noGrp="1"/>
          </p:cNvSpPr>
          <p:nvPr>
            <p:ph type="body" sz="quarter" idx="44"/>
          </p:nvPr>
        </p:nvSpPr>
        <p:spPr>
          <a:xfrm>
            <a:off x="1358609" y="4809913"/>
            <a:ext cx="1860783" cy="120521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全부서 참여 성장 아이템 발굴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적합성·매력도 평가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사업적합성(설립목적 부합성, 기술 경쟁력 등) / 시장매력도(성장잠재력, 사회·환경 수요 등)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육성·유지·축소 분류</a:t>
            </a:r>
          </a:p>
        </p:txBody>
      </p:sp>
      <p:sp>
        <p:nvSpPr>
          <p:cNvPr id="62" name="칸 본문"/>
          <p:cNvSpPr>
            <a:spLocks noGrp="1"/>
          </p:cNvSpPr>
          <p:nvPr>
            <p:ph type="body" sz="quarter" idx="45"/>
          </p:nvPr>
        </p:nvSpPr>
        <p:spPr>
          <a:xfrm>
            <a:off x="3241304" y="4809913"/>
            <a:ext cx="1860783" cy="120521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 연계성 고려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한도 내 우선순위 결정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예산부서 자체 결정 → 개선 사업계획심의위원회 심의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태양광·양수발전 등 신규사업 9건 반영</a:t>
            </a:r>
          </a:p>
        </p:txBody>
      </p:sp>
      <p:cxnSp>
        <p:nvCxnSpPr>
          <p:cNvPr id="63" name="Connector 41"/>
          <p:cNvCxnSpPr/>
          <p:nvPr/>
        </p:nvCxnSpPr>
        <p:spPr>
          <a:xfrm>
            <a:off x="3230348" y="4842783"/>
            <a:ext cx="0" cy="113947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4" name="칸 본문"/>
          <p:cNvSpPr>
            <a:spLocks noGrp="1"/>
          </p:cNvSpPr>
          <p:nvPr>
            <p:ph type="body" sz="quarter" idx="46"/>
          </p:nvPr>
        </p:nvSpPr>
        <p:spPr>
          <a:xfrm>
            <a:off x="5124000" y="4809913"/>
            <a:ext cx="1860783" cy="120521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 안전망 3,434 → 3,974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AI·첨단산업 480 → 1,090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에너지 전환 559 → 1,109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물산업·글로벌 802 → 846</a:t>
            </a:r>
          </a:p>
        </p:txBody>
      </p:sp>
      <p:cxnSp>
        <p:nvCxnSpPr>
          <p:cNvPr id="65" name="Connector 43"/>
          <p:cNvCxnSpPr/>
          <p:nvPr/>
        </p:nvCxnSpPr>
        <p:spPr>
          <a:xfrm>
            <a:off x="5113043" y="4842783"/>
            <a:ext cx="0" cy="113947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6" name="레일"/>
          <p:cNvSpPr/>
          <p:nvPr/>
        </p:nvSpPr>
        <p:spPr>
          <a:xfrm>
            <a:off x="734087" y="6037043"/>
            <a:ext cx="580696" cy="1358609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7" name="레일"/>
          <p:cNvSpPr>
            <a:spLocks noGrp="1"/>
          </p:cNvSpPr>
          <p:nvPr>
            <p:ph type="body" sz="quarter" idx="47"/>
          </p:nvPr>
        </p:nvSpPr>
        <p:spPr>
          <a:xfrm>
            <a:off x="734087" y="6037043"/>
            <a:ext cx="580696" cy="13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예산운용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체계개선</a:t>
            </a:r>
          </a:p>
        </p:txBody>
      </p:sp>
      <p:sp>
        <p:nvSpPr>
          <p:cNvPr id="68" name="레일 삼각형"/>
          <p:cNvSpPr/>
          <p:nvPr/>
        </p:nvSpPr>
        <p:spPr>
          <a:xfrm>
            <a:off x="734086" y="6037043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9" name="배너"/>
          <p:cNvSpPr/>
          <p:nvPr/>
        </p:nvSpPr>
        <p:spPr>
          <a:xfrm>
            <a:off x="1347652" y="6058957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70" name="배너"/>
          <p:cNvSpPr>
            <a:spLocks noGrp="1"/>
          </p:cNvSpPr>
          <p:nvPr>
            <p:ph type="body" sz="quarter" idx="48"/>
          </p:nvPr>
        </p:nvSpPr>
        <p:spPr>
          <a:xfrm>
            <a:off x="1347652" y="6058957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✔ track 3 체계적 경비 관리, 상시 원가점검으로 촘촘한 예산운용</a:t>
            </a:r>
          </a:p>
        </p:txBody>
      </p:sp>
      <p:sp>
        <p:nvSpPr>
          <p:cNvPr id="71" name="칸 본문"/>
          <p:cNvSpPr>
            <a:spLocks noGrp="1"/>
          </p:cNvSpPr>
          <p:nvPr>
            <p:ph type="body" sz="quarter" idx="49"/>
          </p:nvPr>
        </p:nvSpPr>
        <p:spPr>
          <a:xfrm>
            <a:off x="1358609" y="6294522"/>
            <a:ext cx="3743478" cy="109565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경비예산 심의 강화 및 구조조정: 신규 예산편성 심의委(절감요소, 합·목적성 검토 / 집행증가율 높은 5개 항목 / 심의위원 5인 의결), 신규 부문예산 책임운영제(부문·과목별 한도부여 / 일상경비 전체 / 부서→‘부문’(추가)→총괄 심의)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5개 항목 146억원 절감 편성, 부문 책임운영 강화</a:t>
            </a:r>
          </a:p>
        </p:txBody>
      </p:sp>
      <p:sp>
        <p:nvSpPr>
          <p:cNvPr id="72" name="칸 본문"/>
          <p:cNvSpPr>
            <a:spLocks noGrp="1"/>
          </p:cNvSpPr>
          <p:nvPr>
            <p:ph type="body" sz="quarter" idx="50"/>
          </p:nvPr>
        </p:nvSpPr>
        <p:spPr>
          <a:xfrm>
            <a:off x="5124000" y="6294522"/>
            <a:ext cx="1860783" cy="109565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사업별 원가점검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사업-재무-예산협업체계(재무혁신TF)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핵심원가 성과목표 설정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’26년 수도생산 원가 절감 265억원/연 목표 반영</a:t>
            </a:r>
          </a:p>
        </p:txBody>
      </p:sp>
      <p:cxnSp>
        <p:nvCxnSpPr>
          <p:cNvPr id="73" name="Connector 49"/>
          <p:cNvCxnSpPr/>
          <p:nvPr/>
        </p:nvCxnSpPr>
        <p:spPr>
          <a:xfrm>
            <a:off x="5113043" y="6327391"/>
            <a:ext cx="0" cy="102991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4" name="핵심성과 박스"/>
          <p:cNvSpPr/>
          <p:nvPr/>
        </p:nvSpPr>
        <p:spPr>
          <a:xfrm>
            <a:off x="723130" y="7499739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5" name="핵심성과 라벨"/>
          <p:cNvSpPr/>
          <p:nvPr/>
        </p:nvSpPr>
        <p:spPr>
          <a:xfrm>
            <a:off x="756000" y="7538087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76" name="핵심성과 라벨"/>
          <p:cNvSpPr>
            <a:spLocks noGrp="1"/>
          </p:cNvSpPr>
          <p:nvPr>
            <p:ph type="body" sz="quarter" idx="51"/>
          </p:nvPr>
        </p:nvSpPr>
        <p:spPr>
          <a:xfrm>
            <a:off x="756000" y="7538087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77" name="핵심성과 문구"/>
          <p:cNvSpPr>
            <a:spLocks noGrp="1"/>
          </p:cNvSpPr>
          <p:nvPr>
            <p:ph type="body" sz="quarter" idx="52"/>
          </p:nvPr>
        </p:nvSpPr>
        <p:spPr>
          <a:xfrm>
            <a:off x="1501043" y="7516174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국정·전략과제 실행기반 조성, 중장기 재무목표 준수(부채비율 97.9% 대비 △6.1%p) 예산편성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27 서사 · 투자사업 관리체계 정립(관리체계 → 개선방향 → 투자 전 검토 · 심사품질 · 사후 리스크 관리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투자사업 계획·심사 강화, 사후 모니터링 신설 등 관리체계 정립</a:t>
            </a:r>
          </a:p>
        </p:txBody>
      </p:sp>
      <p:sp>
        <p:nvSpPr>
          <p:cNvPr id="15" name="번호 띠 칩"/>
          <p:cNvSpPr/>
          <p:nvPr/>
        </p:nvSpPr>
        <p:spPr>
          <a:xfrm>
            <a:off x="6265613" y="832696"/>
            <a:ext cx="505517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번호 띠 칩"/>
          <p:cNvSpPr>
            <a:spLocks noGrp="1"/>
          </p:cNvSpPr>
          <p:nvPr>
            <p:ph type="body" sz="quarter" idx="22"/>
          </p:nvPr>
        </p:nvSpPr>
        <p:spPr>
          <a:xfrm>
            <a:off x="6265613" y="832696"/>
            <a:ext cx="50551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7" name="번호 띠 칩"/>
          <p:cNvSpPr/>
          <p:nvPr/>
        </p:nvSpPr>
        <p:spPr>
          <a:xfrm>
            <a:off x="5473042" y="832696"/>
            <a:ext cx="74874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번호 띠 칩"/>
          <p:cNvSpPr>
            <a:spLocks noGrp="1"/>
          </p:cNvSpPr>
          <p:nvPr>
            <p:ph type="body" sz="quarter" idx="23"/>
          </p:nvPr>
        </p:nvSpPr>
        <p:spPr>
          <a:xfrm>
            <a:off x="5473042" y="832696"/>
            <a:ext cx="74874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9" name="표 외곽"/>
          <p:cNvSpPr/>
          <p:nvPr/>
        </p:nvSpPr>
        <p:spPr>
          <a:xfrm>
            <a:off x="536870" y="1117565"/>
            <a:ext cx="6300000" cy="1223061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0" name="레일"/>
          <p:cNvSpPr/>
          <p:nvPr/>
        </p:nvSpPr>
        <p:spPr>
          <a:xfrm>
            <a:off x="547826" y="1134000"/>
            <a:ext cx="580696" cy="78887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4"/>
          </p:nvPr>
        </p:nvSpPr>
        <p:spPr>
          <a:xfrm>
            <a:off x="547826" y="1134000"/>
            <a:ext cx="580696" cy="78887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관리체계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5"/>
          </p:nvPr>
        </p:nvSpPr>
        <p:spPr>
          <a:xfrm>
            <a:off x="1172348" y="1155913"/>
            <a:ext cx="2802130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기획단계 사업구상: 사전예비심사 → 예비투자심사 → 본투자심사 / 개선 각 단계별 7개 항목 사전검토(중장기 재무영향 추가)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6"/>
          </p:nvPr>
        </p:nvSpPr>
        <p:spPr>
          <a:xfrm>
            <a:off x="3996391" y="1155913"/>
            <a:ext cx="1390109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건설·운영단계: 기존 사업비 관리 / 신규 사업성 점검</a:t>
            </a:r>
          </a:p>
        </p:txBody>
      </p:sp>
      <p:cxnSp>
        <p:nvCxnSpPr>
          <p:cNvPr id="24" name="Connector 17"/>
          <p:cNvCxnSpPr/>
          <p:nvPr/>
        </p:nvCxnSpPr>
        <p:spPr>
          <a:xfrm>
            <a:off x="3985435" y="1188783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5408413" y="1155913"/>
            <a:ext cx="1390109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사후관리: 신규 손실사업 분석 / 신규 해외사업 관리</a:t>
            </a:r>
          </a:p>
        </p:txBody>
      </p:sp>
      <p:cxnSp>
        <p:nvCxnSpPr>
          <p:cNvPr id="26" name="Connector 19"/>
          <p:cNvCxnSpPr/>
          <p:nvPr/>
        </p:nvCxnSpPr>
        <p:spPr>
          <a:xfrm>
            <a:off x="5397457" y="1188783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7" name="배너"/>
          <p:cNvSpPr/>
          <p:nvPr/>
        </p:nvSpPr>
        <p:spPr>
          <a:xfrm>
            <a:off x="1161391" y="1698261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8" name="배너"/>
          <p:cNvSpPr>
            <a:spLocks noGrp="1"/>
          </p:cNvSpPr>
          <p:nvPr>
            <p:ph type="body" sz="quarter" idx="28"/>
          </p:nvPr>
        </p:nvSpPr>
        <p:spPr>
          <a:xfrm>
            <a:off x="1161391" y="1698261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기존절차 보완 · 신규 全 생애주기 관리</a:t>
            </a:r>
          </a:p>
        </p:txBody>
      </p:sp>
      <p:sp>
        <p:nvSpPr>
          <p:cNvPr id="29" name="레일"/>
          <p:cNvSpPr/>
          <p:nvPr/>
        </p:nvSpPr>
        <p:spPr>
          <a:xfrm>
            <a:off x="547826" y="1939304"/>
            <a:ext cx="580696" cy="3848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0" name="레일"/>
          <p:cNvSpPr>
            <a:spLocks noGrp="1"/>
          </p:cNvSpPr>
          <p:nvPr>
            <p:ph type="body" sz="quarter" idx="29"/>
          </p:nvPr>
        </p:nvSpPr>
        <p:spPr>
          <a:xfrm>
            <a:off x="547826" y="1939304"/>
            <a:ext cx="580696" cy="3848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개선방향</a:t>
            </a:r>
          </a:p>
        </p:txBody>
      </p:sp>
      <p:sp>
        <p:nvSpPr>
          <p:cNvPr id="31" name="레일 삼각형"/>
          <p:cNvSpPr/>
          <p:nvPr/>
        </p:nvSpPr>
        <p:spPr>
          <a:xfrm>
            <a:off x="547826" y="1939304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0"/>
          </p:nvPr>
        </p:nvSpPr>
        <p:spPr>
          <a:xfrm>
            <a:off x="1172348" y="1961217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사업선정~투자심사 실효성·전문성 강화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1"/>
          </p:nvPr>
        </p:nvSpPr>
        <p:spPr>
          <a:xfrm>
            <a:off x="3055043" y="1961217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건설·운영단계에서도 사업성 유지·관리</a:t>
            </a:r>
          </a:p>
        </p:txBody>
      </p:sp>
      <p:cxnSp>
        <p:nvCxnSpPr>
          <p:cNvPr id="34" name="Connector 25"/>
          <p:cNvCxnSpPr/>
          <p:nvPr/>
        </p:nvCxnSpPr>
        <p:spPr>
          <a:xfrm>
            <a:off x="3044087" y="1994087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5" name="칸 본문"/>
          <p:cNvSpPr>
            <a:spLocks noGrp="1"/>
          </p:cNvSpPr>
          <p:nvPr>
            <p:ph type="body" sz="quarter" idx="32"/>
          </p:nvPr>
        </p:nvSpPr>
        <p:spPr>
          <a:xfrm>
            <a:off x="4937739" y="1961217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현안사업(손실, 고위험) 분석과 솔루션 제시</a:t>
            </a:r>
          </a:p>
        </p:txBody>
      </p:sp>
      <p:cxnSp>
        <p:nvCxnSpPr>
          <p:cNvPr id="36" name="Connector 27"/>
          <p:cNvCxnSpPr/>
          <p:nvPr/>
        </p:nvCxnSpPr>
        <p:spPr>
          <a:xfrm>
            <a:off x="4926783" y="1994087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7" name="표 외곽"/>
          <p:cNvSpPr/>
          <p:nvPr/>
        </p:nvSpPr>
        <p:spPr>
          <a:xfrm>
            <a:off x="536870" y="2384452"/>
            <a:ext cx="6300000" cy="315297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8" name="레일"/>
          <p:cNvSpPr/>
          <p:nvPr/>
        </p:nvSpPr>
        <p:spPr>
          <a:xfrm>
            <a:off x="547826" y="2400887"/>
            <a:ext cx="580696" cy="87104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9" name="레일 태그"/>
          <p:cNvSpPr/>
          <p:nvPr/>
        </p:nvSpPr>
        <p:spPr>
          <a:xfrm>
            <a:off x="558376" y="2444713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0" name="레일 태그"/>
          <p:cNvSpPr>
            <a:spLocks noGrp="1"/>
          </p:cNvSpPr>
          <p:nvPr>
            <p:ph type="body" sz="quarter" idx="33"/>
          </p:nvPr>
        </p:nvSpPr>
        <p:spPr>
          <a:xfrm>
            <a:off x="558376" y="2444713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사업선정</a:t>
            </a:r>
          </a:p>
        </p:txBody>
      </p:sp>
      <p:sp>
        <p:nvSpPr>
          <p:cNvPr id="41" name="레일 라벨"/>
          <p:cNvSpPr>
            <a:spLocks noGrp="1"/>
          </p:cNvSpPr>
          <p:nvPr>
            <p:ph type="body" sz="quarter" idx="34"/>
          </p:nvPr>
        </p:nvSpPr>
        <p:spPr>
          <a:xfrm>
            <a:off x="547826" y="2630974"/>
            <a:ext cx="580696" cy="619043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투자 前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사전검토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화</a:t>
            </a:r>
          </a:p>
        </p:txBody>
      </p:sp>
      <p:sp>
        <p:nvSpPr>
          <p:cNvPr id="42" name="머리칸"/>
          <p:cNvSpPr/>
          <p:nvPr/>
        </p:nvSpPr>
        <p:spPr>
          <a:xfrm>
            <a:off x="1161391" y="242280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3" name="머리칸"/>
          <p:cNvSpPr>
            <a:spLocks noGrp="1"/>
          </p:cNvSpPr>
          <p:nvPr>
            <p:ph type="body" sz="quarter" idx="35"/>
          </p:nvPr>
        </p:nvSpPr>
        <p:spPr>
          <a:xfrm>
            <a:off x="1161391" y="242280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수도 재정사업 심사절차 개선</a:t>
            </a:r>
          </a:p>
        </p:txBody>
      </p:sp>
      <p:sp>
        <p:nvSpPr>
          <p:cNvPr id="44" name="머리칸"/>
          <p:cNvSpPr/>
          <p:nvPr/>
        </p:nvSpPr>
        <p:spPr>
          <a:xfrm>
            <a:off x="3985435" y="242280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5" name="머리칸"/>
          <p:cNvSpPr>
            <a:spLocks noGrp="1"/>
          </p:cNvSpPr>
          <p:nvPr>
            <p:ph type="body" sz="quarter" idx="36"/>
          </p:nvPr>
        </p:nvSpPr>
        <p:spPr>
          <a:xfrm>
            <a:off x="3985435" y="242280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해외 투자사업 기준수익률 개선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37"/>
          </p:nvPr>
        </p:nvSpPr>
        <p:spPr>
          <a:xfrm>
            <a:off x="1172348" y="2663843"/>
            <a:ext cx="2802130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배경 국고 반영 후 투자심사, 실효성 저하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국고 신청 전 ‘적합성 심의’ 신설 → 기본구상 · 예·타 · 사업심의 · 국고신청 · 본심사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38"/>
          </p:nvPr>
        </p:nvSpPr>
        <p:spPr>
          <a:xfrm>
            <a:off x="3996391" y="2663843"/>
            <a:ext cx="2802130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배경 사업 다변화, 수주 경쟁사 트렌드 고려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수익률 산정시 고려하는 리스크 세분화(4→13개) 및 가중치 차등 적용(0.25~3.0%)</a:t>
            </a:r>
          </a:p>
        </p:txBody>
      </p:sp>
      <p:cxnSp>
        <p:nvCxnSpPr>
          <p:cNvPr id="48" name="Connector 36"/>
          <p:cNvCxnSpPr/>
          <p:nvPr/>
        </p:nvCxnSpPr>
        <p:spPr>
          <a:xfrm>
            <a:off x="3985435" y="2696713"/>
            <a:ext cx="0" cy="536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9" name="레일"/>
          <p:cNvSpPr/>
          <p:nvPr/>
        </p:nvSpPr>
        <p:spPr>
          <a:xfrm>
            <a:off x="547826" y="3288365"/>
            <a:ext cx="580696" cy="980609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0" name="레일 태그"/>
          <p:cNvSpPr/>
          <p:nvPr/>
        </p:nvSpPr>
        <p:spPr>
          <a:xfrm>
            <a:off x="558376" y="3452713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51" name="레일 태그"/>
          <p:cNvSpPr>
            <a:spLocks noGrp="1"/>
          </p:cNvSpPr>
          <p:nvPr>
            <p:ph type="body" sz="quarter" idx="39"/>
          </p:nvPr>
        </p:nvSpPr>
        <p:spPr>
          <a:xfrm>
            <a:off x="558376" y="3452713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투자심사</a:t>
            </a:r>
          </a:p>
        </p:txBody>
      </p:sp>
      <p:sp>
        <p:nvSpPr>
          <p:cNvPr id="52" name="레일 라벨"/>
          <p:cNvSpPr>
            <a:spLocks noGrp="1"/>
          </p:cNvSpPr>
          <p:nvPr>
            <p:ph type="body" sz="quarter" idx="40"/>
          </p:nvPr>
        </p:nvSpPr>
        <p:spPr>
          <a:xfrm>
            <a:off x="547826" y="3638974"/>
            <a:ext cx="580696" cy="608087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심사품질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고 도 화</a:t>
            </a:r>
          </a:p>
        </p:txBody>
      </p:sp>
      <p:sp>
        <p:nvSpPr>
          <p:cNvPr id="53" name="레일 삼각형"/>
          <p:cNvSpPr/>
          <p:nvPr/>
        </p:nvSpPr>
        <p:spPr>
          <a:xfrm>
            <a:off x="547826" y="3288365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4" name="머리칸"/>
          <p:cNvSpPr/>
          <p:nvPr/>
        </p:nvSpPr>
        <p:spPr>
          <a:xfrm>
            <a:off x="1161391" y="3310278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5" name="머리칸"/>
          <p:cNvSpPr>
            <a:spLocks noGrp="1"/>
          </p:cNvSpPr>
          <p:nvPr>
            <p:ph type="body" sz="quarter" idx="41"/>
          </p:nvPr>
        </p:nvSpPr>
        <p:spPr>
          <a:xfrm>
            <a:off x="1161391" y="3310278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투자심사 전문성과 신뢰도 제고 ✔평가지적</a:t>
            </a:r>
          </a:p>
        </p:txBody>
      </p:sp>
      <p:sp>
        <p:nvSpPr>
          <p:cNvPr id="56" name="머리칸"/>
          <p:cNvSpPr/>
          <p:nvPr/>
        </p:nvSpPr>
        <p:spPr>
          <a:xfrm>
            <a:off x="3985435" y="3310278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7" name="머리칸"/>
          <p:cNvSpPr>
            <a:spLocks noGrp="1"/>
          </p:cNvSpPr>
          <p:nvPr>
            <p:ph type="body" sz="quarter" idx="42"/>
          </p:nvPr>
        </p:nvSpPr>
        <p:spPr>
          <a:xfrm>
            <a:off x="3985435" y="3310278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투자심사 재무검증 강화</a:t>
            </a:r>
          </a:p>
        </p:txBody>
      </p:sp>
      <p:sp>
        <p:nvSpPr>
          <p:cNvPr id="58" name="칸 본문"/>
          <p:cNvSpPr>
            <a:spLocks noGrp="1"/>
          </p:cNvSpPr>
          <p:nvPr>
            <p:ph type="body" sz="quarter" idx="43"/>
          </p:nvPr>
        </p:nvSpPr>
        <p:spPr>
          <a:xfrm>
            <a:off x="1172348" y="3551322"/>
            <a:ext cx="2802130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외부위원 후보 확대, 기술분야 세분화 * 후보(55→100명), 디지털·AI등 분야 추가(5→9개)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외부위원 50% ‘초과’ 참여, 무작위 선정</a:t>
            </a:r>
          </a:p>
        </p:txBody>
      </p:sp>
      <p:sp>
        <p:nvSpPr>
          <p:cNvPr id="59" name="칸 본문"/>
          <p:cNvSpPr>
            <a:spLocks noGrp="1"/>
          </p:cNvSpPr>
          <p:nvPr>
            <p:ph type="body" sz="quarter" idx="44"/>
          </p:nvPr>
        </p:nvSpPr>
        <p:spPr>
          <a:xfrm>
            <a:off x="3996391" y="3551322"/>
            <a:ext cx="2802130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 중장기 재무영향 사전검토 의무화 * 재무관리준칙 관리지표(3개), 매출액 등 영향 검토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 해외PF분석팀(8명) 신설 역량 강화</a:t>
            </a:r>
          </a:p>
        </p:txBody>
      </p:sp>
      <p:cxnSp>
        <p:nvCxnSpPr>
          <p:cNvPr id="60" name="Connector 45"/>
          <p:cNvCxnSpPr/>
          <p:nvPr/>
        </p:nvCxnSpPr>
        <p:spPr>
          <a:xfrm>
            <a:off x="3985435" y="3584191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1" name="레일"/>
          <p:cNvSpPr/>
          <p:nvPr/>
        </p:nvSpPr>
        <p:spPr>
          <a:xfrm>
            <a:off x="547826" y="4285409"/>
            <a:ext cx="580696" cy="123558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2" name="레일 태그"/>
          <p:cNvSpPr/>
          <p:nvPr/>
        </p:nvSpPr>
        <p:spPr>
          <a:xfrm>
            <a:off x="558376" y="4449757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63" name="레일 태그"/>
          <p:cNvSpPr>
            <a:spLocks noGrp="1"/>
          </p:cNvSpPr>
          <p:nvPr>
            <p:ph type="body" sz="quarter" idx="45"/>
          </p:nvPr>
        </p:nvSpPr>
        <p:spPr>
          <a:xfrm>
            <a:off x="558376" y="4449757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지속관리</a:t>
            </a:r>
          </a:p>
        </p:txBody>
      </p:sp>
      <p:sp>
        <p:nvSpPr>
          <p:cNvPr id="64" name="레일 라벨"/>
          <p:cNvSpPr>
            <a:spLocks noGrp="1"/>
          </p:cNvSpPr>
          <p:nvPr>
            <p:ph type="body" sz="quarter" idx="46"/>
          </p:nvPr>
        </p:nvSpPr>
        <p:spPr>
          <a:xfrm>
            <a:off x="547826" y="4636017"/>
            <a:ext cx="580696" cy="86306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 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리스크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상시관리</a:t>
            </a:r>
          </a:p>
        </p:txBody>
      </p:sp>
      <p:sp>
        <p:nvSpPr>
          <p:cNvPr id="65" name="레일 삼각형"/>
          <p:cNvSpPr/>
          <p:nvPr/>
        </p:nvSpPr>
        <p:spPr>
          <a:xfrm>
            <a:off x="547826" y="4285408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6" name="머리칸"/>
          <p:cNvSpPr/>
          <p:nvPr/>
        </p:nvSpPr>
        <p:spPr>
          <a:xfrm>
            <a:off x="1161391" y="430732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67" name="머리칸"/>
          <p:cNvSpPr>
            <a:spLocks noGrp="1"/>
          </p:cNvSpPr>
          <p:nvPr>
            <p:ph type="body" sz="quarter" idx="47"/>
          </p:nvPr>
        </p:nvSpPr>
        <p:spPr>
          <a:xfrm>
            <a:off x="1161391" y="430732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건설단계 중간평가 강화</a:t>
            </a:r>
          </a:p>
        </p:txBody>
      </p:sp>
      <p:sp>
        <p:nvSpPr>
          <p:cNvPr id="68" name="머리칸"/>
          <p:cNvSpPr/>
          <p:nvPr/>
        </p:nvSpPr>
        <p:spPr>
          <a:xfrm>
            <a:off x="3044087" y="430732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69" name="머리칸"/>
          <p:cNvSpPr>
            <a:spLocks noGrp="1"/>
          </p:cNvSpPr>
          <p:nvPr>
            <p:ph type="body" sz="quarter" idx="48"/>
          </p:nvPr>
        </p:nvSpPr>
        <p:spPr>
          <a:xfrm>
            <a:off x="3044087" y="430732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현안사업 경영분석</a:t>
            </a:r>
          </a:p>
        </p:txBody>
      </p:sp>
      <p:sp>
        <p:nvSpPr>
          <p:cNvPr id="70" name="머리칸"/>
          <p:cNvSpPr/>
          <p:nvPr/>
        </p:nvSpPr>
        <p:spPr>
          <a:xfrm>
            <a:off x="4926783" y="430732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1" name="머리칸"/>
          <p:cNvSpPr>
            <a:spLocks noGrp="1"/>
          </p:cNvSpPr>
          <p:nvPr>
            <p:ph type="body" sz="quarter" idx="49"/>
          </p:nvPr>
        </p:nvSpPr>
        <p:spPr>
          <a:xfrm>
            <a:off x="4926783" y="430732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해외사업 분기별 성과분석</a:t>
            </a:r>
          </a:p>
        </p:txBody>
      </p:sp>
      <p:sp>
        <p:nvSpPr>
          <p:cNvPr id="72" name="칸 본문"/>
          <p:cNvSpPr>
            <a:spLocks noGrp="1"/>
          </p:cNvSpPr>
          <p:nvPr>
            <p:ph type="body" sz="quarter" idx="50"/>
          </p:nvPr>
        </p:nvSpPr>
        <p:spPr>
          <a:xfrm>
            <a:off x="1172348" y="4548365"/>
            <a:ext cx="1860783" cy="9671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사업비조정시 사업성 점검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사업비 30%, 60%, 준공시점 사업성 재분석 추가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IRR 1%p 하락 등 사업성 하락시 보완대책 마련</a:t>
            </a:r>
          </a:p>
        </p:txBody>
      </p:sp>
      <p:sp>
        <p:nvSpPr>
          <p:cNvPr id="73" name="칸 본문"/>
          <p:cNvSpPr>
            <a:spLocks noGrp="1"/>
          </p:cNvSpPr>
          <p:nvPr>
            <p:ph type="body" sz="quarter" idx="51"/>
          </p:nvPr>
        </p:nvSpPr>
        <p:spPr>
          <a:xfrm>
            <a:off x="3055043" y="4548365"/>
            <a:ext cx="1860783" cy="9671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손실사업의 재무구조를 진단하여 솔루션 제시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재무전략 전담조직 확충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기존사업 수익성 관리 및 재무건전성 강화</a:t>
            </a:r>
          </a:p>
        </p:txBody>
      </p:sp>
      <p:cxnSp>
        <p:nvCxnSpPr>
          <p:cNvPr id="74" name="Connector 55"/>
          <p:cNvCxnSpPr/>
          <p:nvPr/>
        </p:nvCxnSpPr>
        <p:spPr>
          <a:xfrm>
            <a:off x="3044087" y="4581235"/>
            <a:ext cx="0" cy="90140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5" name="칸 본문"/>
          <p:cNvSpPr>
            <a:spLocks noGrp="1"/>
          </p:cNvSpPr>
          <p:nvPr>
            <p:ph type="body" sz="quarter" idx="52"/>
          </p:nvPr>
        </p:nvSpPr>
        <p:spPr>
          <a:xfrm>
            <a:off x="4937739" y="4548365"/>
            <a:ext cx="1860783" cy="9671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고위험 해외 투자사업 재무성과 및 리스크 정기 분석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해외사업리스크관리위원회 연계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저수익·손실 우려 해외사업 조기 식별 및 대응</a:t>
            </a:r>
          </a:p>
        </p:txBody>
      </p:sp>
      <p:cxnSp>
        <p:nvCxnSpPr>
          <p:cNvPr id="76" name="Connector 57"/>
          <p:cNvCxnSpPr/>
          <p:nvPr/>
        </p:nvCxnSpPr>
        <p:spPr>
          <a:xfrm>
            <a:off x="4926783" y="4581235"/>
            <a:ext cx="0" cy="90140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7" name="핵심성과 박스"/>
          <p:cNvSpPr/>
          <p:nvPr/>
        </p:nvSpPr>
        <p:spPr>
          <a:xfrm>
            <a:off x="536870" y="5625078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8" name="핵심성과 라벨"/>
          <p:cNvSpPr/>
          <p:nvPr/>
        </p:nvSpPr>
        <p:spPr>
          <a:xfrm>
            <a:off x="569739" y="5663426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79" name="핵심성과 라벨"/>
          <p:cNvSpPr>
            <a:spLocks noGrp="1"/>
          </p:cNvSpPr>
          <p:nvPr>
            <p:ph type="body" sz="quarter" idx="53"/>
          </p:nvPr>
        </p:nvSpPr>
        <p:spPr>
          <a:xfrm>
            <a:off x="569739" y="5663426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80" name="핵심성과 문구"/>
          <p:cNvSpPr>
            <a:spLocks noGrp="1"/>
          </p:cNvSpPr>
          <p:nvPr>
            <p:ph type="body" sz="quarter" idx="54"/>
          </p:nvPr>
        </p:nvSpPr>
        <p:spPr>
          <a:xfrm>
            <a:off x="1314783" y="5641513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투자심사 全과정 고도화 및 강화된 심사 운영으로 요청 대비 566억원 절감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28 서사 · 예산집행관리 강화(추진과제 3칸 → 추진내용 3칸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예산집행관리 강화로 투명·신속 집행 및 재정집행 성과 창출</a:t>
            </a:r>
          </a:p>
        </p:txBody>
      </p:sp>
      <p:sp>
        <p:nvSpPr>
          <p:cNvPr id="14" name="번호 띠 칩"/>
          <p:cNvSpPr/>
          <p:nvPr/>
        </p:nvSpPr>
        <p:spPr>
          <a:xfrm>
            <a:off x="6428183" y="843652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번호 띠 칩"/>
          <p:cNvSpPr>
            <a:spLocks noGrp="1"/>
          </p:cNvSpPr>
          <p:nvPr>
            <p:ph type="body" sz="quarter" idx="22"/>
          </p:nvPr>
        </p:nvSpPr>
        <p:spPr>
          <a:xfrm>
            <a:off x="6428183" y="843652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표 외곽"/>
          <p:cNvSpPr/>
          <p:nvPr/>
        </p:nvSpPr>
        <p:spPr>
          <a:xfrm>
            <a:off x="723130" y="1128522"/>
            <a:ext cx="6300000" cy="160513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734087" y="1144957"/>
            <a:ext cx="580696" cy="575217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3"/>
          </p:nvPr>
        </p:nvSpPr>
        <p:spPr>
          <a:xfrm>
            <a:off x="734087" y="1144957"/>
            <a:ext cx="580696" cy="57521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추진과제</a:t>
            </a:r>
          </a:p>
        </p:txBody>
      </p:sp>
      <p:sp>
        <p:nvSpPr>
          <p:cNvPr id="19" name="머리칸"/>
          <p:cNvSpPr/>
          <p:nvPr/>
        </p:nvSpPr>
        <p:spPr>
          <a:xfrm>
            <a:off x="1347652" y="116687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0" name="머리칸"/>
          <p:cNvSpPr>
            <a:spLocks noGrp="1"/>
          </p:cNvSpPr>
          <p:nvPr>
            <p:ph type="body" sz="quarter" idx="24"/>
          </p:nvPr>
        </p:nvSpPr>
        <p:spPr>
          <a:xfrm>
            <a:off x="1347652" y="116687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투명한 집행 노력</a:t>
            </a:r>
          </a:p>
        </p:txBody>
      </p:sp>
      <p:sp>
        <p:nvSpPr>
          <p:cNvPr id="21" name="머리칸"/>
          <p:cNvSpPr/>
          <p:nvPr/>
        </p:nvSpPr>
        <p:spPr>
          <a:xfrm>
            <a:off x="3230348" y="116687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2" name="머리칸"/>
          <p:cNvSpPr>
            <a:spLocks noGrp="1"/>
          </p:cNvSpPr>
          <p:nvPr>
            <p:ph type="body" sz="quarter" idx="25"/>
          </p:nvPr>
        </p:nvSpPr>
        <p:spPr>
          <a:xfrm>
            <a:off x="3230348" y="116687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경비절감 노력</a:t>
            </a:r>
          </a:p>
        </p:txBody>
      </p:sp>
      <p:sp>
        <p:nvSpPr>
          <p:cNvPr id="23" name="머리칸"/>
          <p:cNvSpPr/>
          <p:nvPr/>
        </p:nvSpPr>
        <p:spPr>
          <a:xfrm>
            <a:off x="5113043" y="116687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4" name="머리칸"/>
          <p:cNvSpPr>
            <a:spLocks noGrp="1"/>
          </p:cNvSpPr>
          <p:nvPr>
            <p:ph type="body" sz="quarter" idx="26"/>
          </p:nvPr>
        </p:nvSpPr>
        <p:spPr>
          <a:xfrm>
            <a:off x="5113043" y="116687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재정집행 노력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1358609" y="1407913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예산 집행 리스크 선제적 관리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8"/>
          </p:nvPr>
        </p:nvSpPr>
        <p:spPr>
          <a:xfrm>
            <a:off x="3241304" y="1407913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한정된 재원 효율적 배분</a:t>
            </a:r>
          </a:p>
        </p:txBody>
      </p:sp>
      <p:cxnSp>
        <p:nvCxnSpPr>
          <p:cNvPr id="27" name="Connector 16"/>
          <p:cNvCxnSpPr/>
          <p:nvPr/>
        </p:nvCxnSpPr>
        <p:spPr>
          <a:xfrm>
            <a:off x="3230348" y="1440783"/>
            <a:ext cx="0" cy="24104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8" name="칸 본문"/>
          <p:cNvSpPr>
            <a:spLocks noGrp="1"/>
          </p:cNvSpPr>
          <p:nvPr>
            <p:ph type="body" sz="quarter" idx="29"/>
          </p:nvPr>
        </p:nvSpPr>
        <p:spPr>
          <a:xfrm>
            <a:off x="5124000" y="1407913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경기회복 위한 투자·집행</a:t>
            </a:r>
          </a:p>
        </p:txBody>
      </p:sp>
      <p:cxnSp>
        <p:nvCxnSpPr>
          <p:cNvPr id="29" name="Connector 18"/>
          <p:cNvCxnSpPr/>
          <p:nvPr/>
        </p:nvCxnSpPr>
        <p:spPr>
          <a:xfrm>
            <a:off x="5113043" y="1440783"/>
            <a:ext cx="0" cy="24104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0" name="레일"/>
          <p:cNvSpPr/>
          <p:nvPr/>
        </p:nvSpPr>
        <p:spPr>
          <a:xfrm>
            <a:off x="734087" y="1736609"/>
            <a:ext cx="580696" cy="980609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1" name="레일"/>
          <p:cNvSpPr>
            <a:spLocks noGrp="1"/>
          </p:cNvSpPr>
          <p:nvPr>
            <p:ph type="body" sz="quarter" idx="30"/>
          </p:nvPr>
        </p:nvSpPr>
        <p:spPr>
          <a:xfrm>
            <a:off x="734087" y="1736609"/>
            <a:ext cx="580696" cy="980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추진내용</a:t>
            </a:r>
          </a:p>
        </p:txBody>
      </p:sp>
      <p:sp>
        <p:nvSpPr>
          <p:cNvPr id="32" name="레일 삼각형"/>
          <p:cNvSpPr/>
          <p:nvPr/>
        </p:nvSpPr>
        <p:spPr>
          <a:xfrm>
            <a:off x="734086" y="1736608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3" name="머리칸"/>
          <p:cNvSpPr/>
          <p:nvPr/>
        </p:nvSpPr>
        <p:spPr>
          <a:xfrm>
            <a:off x="1347652" y="175852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4" name="머리칸"/>
          <p:cNvSpPr>
            <a:spLocks noGrp="1"/>
          </p:cNvSpPr>
          <p:nvPr>
            <p:ph type="body" sz="quarter" idx="31"/>
          </p:nvPr>
        </p:nvSpPr>
        <p:spPr>
          <a:xfrm>
            <a:off x="1347652" y="175852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교육 및 평가 강화</a:t>
            </a:r>
          </a:p>
        </p:txBody>
      </p:sp>
      <p:sp>
        <p:nvSpPr>
          <p:cNvPr id="35" name="머리칸"/>
          <p:cNvSpPr/>
          <p:nvPr/>
        </p:nvSpPr>
        <p:spPr>
          <a:xfrm>
            <a:off x="3230348" y="175852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6" name="머리칸"/>
          <p:cNvSpPr>
            <a:spLocks noGrp="1"/>
          </p:cNvSpPr>
          <p:nvPr>
            <p:ph type="body" sz="quarter" idx="32"/>
          </p:nvPr>
        </p:nvSpPr>
        <p:spPr>
          <a:xfrm>
            <a:off x="3230348" y="175852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주요경비 심의위원회 운영</a:t>
            </a:r>
          </a:p>
        </p:txBody>
      </p:sp>
      <p:sp>
        <p:nvSpPr>
          <p:cNvPr id="37" name="머리칸"/>
          <p:cNvSpPr/>
          <p:nvPr/>
        </p:nvSpPr>
        <p:spPr>
          <a:xfrm>
            <a:off x="5113043" y="175852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8" name="머리칸"/>
          <p:cNvSpPr>
            <a:spLocks noGrp="1"/>
          </p:cNvSpPr>
          <p:nvPr>
            <p:ph type="body" sz="quarter" idx="33"/>
          </p:nvPr>
        </p:nvSpPr>
        <p:spPr>
          <a:xfrm>
            <a:off x="5113043" y="175852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재정집행 프로세스 혁신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4"/>
          </p:nvPr>
        </p:nvSpPr>
        <p:spPr>
          <a:xfrm>
            <a:off x="1358609" y="1999565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예산 집행 교육 시행(9회)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집행 모니터링 부서평가 연계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권익위 청렴도 결과 ‘예산 부당집행’ 92.3점(11.9점↑)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35"/>
          </p:nvPr>
        </p:nvSpPr>
        <p:spPr>
          <a:xfrm>
            <a:off x="3241304" y="1999565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사내 전문가(30인) 위원회 구성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편성 합목적성, 절감요소 검토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경비절감(’25년 30건 71.6억원) 예산변경 신뢰성 확보</a:t>
            </a:r>
          </a:p>
        </p:txBody>
      </p:sp>
      <p:cxnSp>
        <p:nvCxnSpPr>
          <p:cNvPr id="41" name="Connector 26"/>
          <p:cNvCxnSpPr/>
          <p:nvPr/>
        </p:nvCxnSpPr>
        <p:spPr>
          <a:xfrm>
            <a:off x="3230348" y="2032435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2" name="칸 본문"/>
          <p:cNvSpPr>
            <a:spLocks noGrp="1"/>
          </p:cNvSpPr>
          <p:nvPr>
            <p:ph type="body" sz="quarter" idx="36"/>
          </p:nvPr>
        </p:nvSpPr>
        <p:spPr>
          <a:xfrm>
            <a:off x="5124000" y="1999565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건설 패러다임 전환 등 재정집행 체계적 관리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집행목표 101.4% 달성으로 국민경제 활성화 기여</a:t>
            </a:r>
          </a:p>
        </p:txBody>
      </p:sp>
      <p:cxnSp>
        <p:nvCxnSpPr>
          <p:cNvPr id="43" name="Connector 28"/>
          <p:cNvCxnSpPr/>
          <p:nvPr/>
        </p:nvCxnSpPr>
        <p:spPr>
          <a:xfrm>
            <a:off x="5113043" y="2032435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4" name="핵심성과 박스"/>
          <p:cNvSpPr/>
          <p:nvPr/>
        </p:nvSpPr>
        <p:spPr>
          <a:xfrm>
            <a:off x="723130" y="2821304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5" name="핵심성과 라벨"/>
          <p:cNvSpPr/>
          <p:nvPr/>
        </p:nvSpPr>
        <p:spPr>
          <a:xfrm>
            <a:off x="756000" y="2859652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46" name="핵심성과 라벨"/>
          <p:cNvSpPr>
            <a:spLocks noGrp="1"/>
          </p:cNvSpPr>
          <p:nvPr>
            <p:ph type="body" sz="quarter" idx="37"/>
          </p:nvPr>
        </p:nvSpPr>
        <p:spPr>
          <a:xfrm>
            <a:off x="756000" y="2859652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7" name="핵심성과 문구"/>
          <p:cNvSpPr>
            <a:spLocks noGrp="1"/>
          </p:cNvSpPr>
          <p:nvPr>
            <p:ph type="body" sz="quarter" idx="38"/>
          </p:nvPr>
        </p:nvSpPr>
        <p:spPr>
          <a:xfrm>
            <a:off x="1501043" y="2837739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집행관리 고도화로 집행 투명·공정성 강화하여 ’25년 권익위 청렴도평가 1등급 달성 기여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29 서사 · 재무목표 및 추진과제 선정(환경분석 → 재무특징 → 지표선정 → 목표설정 → 추진과제 → 실행체계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공사 고유 재무특성을 반영한 재무목표 및 추진과제 선정</a:t>
            </a:r>
          </a:p>
        </p:txBody>
      </p:sp>
      <p:sp>
        <p:nvSpPr>
          <p:cNvPr id="15" name="번호 띠 칩"/>
          <p:cNvSpPr/>
          <p:nvPr/>
        </p:nvSpPr>
        <p:spPr>
          <a:xfrm>
            <a:off x="6265613" y="832696"/>
            <a:ext cx="505517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번호 띠 칩"/>
          <p:cNvSpPr>
            <a:spLocks noGrp="1"/>
          </p:cNvSpPr>
          <p:nvPr>
            <p:ph type="body" sz="quarter" idx="22"/>
          </p:nvPr>
        </p:nvSpPr>
        <p:spPr>
          <a:xfrm>
            <a:off x="6265613" y="832696"/>
            <a:ext cx="50551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7" name="번호 띠 칩"/>
          <p:cNvSpPr/>
          <p:nvPr/>
        </p:nvSpPr>
        <p:spPr>
          <a:xfrm>
            <a:off x="5692579" y="832696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번호 띠 칩"/>
          <p:cNvSpPr>
            <a:spLocks noGrp="1"/>
          </p:cNvSpPr>
          <p:nvPr>
            <p:ph type="body" sz="quarter" idx="23"/>
          </p:nvPr>
        </p:nvSpPr>
        <p:spPr>
          <a:xfrm>
            <a:off x="5692579" y="832696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9" name="표 외곽"/>
          <p:cNvSpPr/>
          <p:nvPr/>
        </p:nvSpPr>
        <p:spPr>
          <a:xfrm>
            <a:off x="536870" y="1117565"/>
            <a:ext cx="6300000" cy="577956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0" name="레일"/>
          <p:cNvSpPr/>
          <p:nvPr/>
        </p:nvSpPr>
        <p:spPr>
          <a:xfrm>
            <a:off x="547826" y="1134000"/>
            <a:ext cx="580696" cy="717652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4"/>
          </p:nvPr>
        </p:nvSpPr>
        <p:spPr>
          <a:xfrm>
            <a:off x="547826" y="1134000"/>
            <a:ext cx="580696" cy="71765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환경분석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5"/>
          </p:nvPr>
        </p:nvSpPr>
        <p:spPr>
          <a:xfrm>
            <a:off x="1172348" y="1155913"/>
            <a:ext cx="2802130" cy="690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 공적 역할·재무건전성 동시 요구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정부정책 공공기관 국정과제 선도 이행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재무체력 자구노력으로 재무여력 확충 요구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6"/>
          </p:nvPr>
        </p:nvSpPr>
        <p:spPr>
          <a:xfrm>
            <a:off x="3996391" y="1155913"/>
            <a:ext cx="2802130" cy="690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 투자는 늘고 내부조달 여건은 악화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경영전략 물관리 AI 전환, 안전 투자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재무여건 요금동결, 원가상승 등 수익성↓</a:t>
            </a:r>
          </a:p>
        </p:txBody>
      </p:sp>
      <p:cxnSp>
        <p:nvCxnSpPr>
          <p:cNvPr id="24" name="Connector 17"/>
          <p:cNvCxnSpPr/>
          <p:nvPr/>
        </p:nvCxnSpPr>
        <p:spPr>
          <a:xfrm>
            <a:off x="3985435" y="1188783"/>
            <a:ext cx="0" cy="62452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5" name="레일"/>
          <p:cNvSpPr/>
          <p:nvPr/>
        </p:nvSpPr>
        <p:spPr>
          <a:xfrm>
            <a:off x="547826" y="1868087"/>
            <a:ext cx="580696" cy="794348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6" name="레일"/>
          <p:cNvSpPr>
            <a:spLocks noGrp="1"/>
          </p:cNvSpPr>
          <p:nvPr>
            <p:ph type="body" sz="quarter" idx="27"/>
          </p:nvPr>
        </p:nvSpPr>
        <p:spPr>
          <a:xfrm>
            <a:off x="547826" y="1868087"/>
            <a:ext cx="580696" cy="79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K-water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재무특징</a:t>
            </a:r>
          </a:p>
        </p:txBody>
      </p:sp>
      <p:sp>
        <p:nvSpPr>
          <p:cNvPr id="27" name="레일 삼각형"/>
          <p:cNvSpPr/>
          <p:nvPr/>
        </p:nvSpPr>
        <p:spPr>
          <a:xfrm>
            <a:off x="547826" y="1868086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8"/>
          </p:nvPr>
        </p:nvSpPr>
        <p:spPr>
          <a:xfrm>
            <a:off x="1172348" y="1890000"/>
            <a:ext cx="1860783" cy="766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수익성 사업 외부영향多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부동산 경기-수변 매출, 유가, 강우량-에너지 매출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변수 극복, 신사업 확대 필요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3055043" y="1890000"/>
            <a:ext cx="1860783" cy="766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다양한 사업 포트폴리오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요금(물공급), 정책(지방수도 등), 수익(재생e) 등 多사업 병행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사업별 맞춤형 관리 필요</a:t>
            </a:r>
          </a:p>
        </p:txBody>
      </p:sp>
      <p:cxnSp>
        <p:nvCxnSpPr>
          <p:cNvPr id="30" name="Connector 22"/>
          <p:cNvCxnSpPr/>
          <p:nvPr/>
        </p:nvCxnSpPr>
        <p:spPr>
          <a:xfrm>
            <a:off x="3044087" y="1922870"/>
            <a:ext cx="0" cy="70121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4937739" y="1890000"/>
            <a:ext cx="1860783" cy="766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지속적인 자본투자 요구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대규모 선투자·장기회수, 차입의존·4대강 우선상환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안정적 현금흐름 창출 필요</a:t>
            </a:r>
          </a:p>
        </p:txBody>
      </p:sp>
      <p:cxnSp>
        <p:nvCxnSpPr>
          <p:cNvPr id="32" name="Connector 24"/>
          <p:cNvCxnSpPr/>
          <p:nvPr/>
        </p:nvCxnSpPr>
        <p:spPr>
          <a:xfrm>
            <a:off x="4926783" y="1922870"/>
            <a:ext cx="0" cy="70121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레일"/>
          <p:cNvSpPr/>
          <p:nvPr/>
        </p:nvSpPr>
        <p:spPr>
          <a:xfrm>
            <a:off x="547826" y="2678870"/>
            <a:ext cx="580696" cy="52043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4" name="레일"/>
          <p:cNvSpPr>
            <a:spLocks noGrp="1"/>
          </p:cNvSpPr>
          <p:nvPr>
            <p:ph type="body" sz="quarter" idx="31"/>
          </p:nvPr>
        </p:nvSpPr>
        <p:spPr>
          <a:xfrm>
            <a:off x="547826" y="2678870"/>
            <a:ext cx="580696" cy="520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재무지표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선 정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2"/>
          </p:nvPr>
        </p:nvSpPr>
        <p:spPr>
          <a:xfrm>
            <a:off x="1172348" y="2700783"/>
            <a:ext cx="1860783" cy="493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매출액 ‘투자 확대와 매출 성장 연계’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3"/>
          </p:nvPr>
        </p:nvSpPr>
        <p:spPr>
          <a:xfrm>
            <a:off x="3055043" y="2700783"/>
            <a:ext cx="1860783" cy="493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영업이익 ‘사업별 수익 구조 영향 반영’</a:t>
            </a:r>
          </a:p>
        </p:txBody>
      </p:sp>
      <p:cxnSp>
        <p:nvCxnSpPr>
          <p:cNvPr id="37" name="Connector 28"/>
          <p:cNvCxnSpPr/>
          <p:nvPr/>
        </p:nvCxnSpPr>
        <p:spPr>
          <a:xfrm>
            <a:off x="3044087" y="2733652"/>
            <a:ext cx="0" cy="42730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8" name="칸 본문"/>
          <p:cNvSpPr>
            <a:spLocks noGrp="1"/>
          </p:cNvSpPr>
          <p:nvPr>
            <p:ph type="body" sz="quarter" idx="34"/>
          </p:nvPr>
        </p:nvSpPr>
        <p:spPr>
          <a:xfrm>
            <a:off x="4937739" y="2700783"/>
            <a:ext cx="1860783" cy="493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부채비율, 순차입금/조정EBITDA ‘재무구조 안정성, 상환능력 반영’</a:t>
            </a:r>
          </a:p>
        </p:txBody>
      </p:sp>
      <p:cxnSp>
        <p:nvCxnSpPr>
          <p:cNvPr id="39" name="Connector 30"/>
          <p:cNvCxnSpPr/>
          <p:nvPr/>
        </p:nvCxnSpPr>
        <p:spPr>
          <a:xfrm>
            <a:off x="4926783" y="2733652"/>
            <a:ext cx="0" cy="42730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0" name="레일"/>
          <p:cNvSpPr/>
          <p:nvPr/>
        </p:nvSpPr>
        <p:spPr>
          <a:xfrm>
            <a:off x="547826" y="3215739"/>
            <a:ext cx="580696" cy="1736609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1" name="레일"/>
          <p:cNvSpPr>
            <a:spLocks noGrp="1"/>
          </p:cNvSpPr>
          <p:nvPr>
            <p:ph type="body" sz="quarter" idx="35"/>
          </p:nvPr>
        </p:nvSpPr>
        <p:spPr>
          <a:xfrm>
            <a:off x="547826" y="3215739"/>
            <a:ext cx="580696" cy="1736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목표설정</a:t>
            </a:r>
          </a:p>
        </p:txBody>
      </p:sp>
      <p:sp>
        <p:nvSpPr>
          <p:cNvPr id="42" name="배너"/>
          <p:cNvSpPr/>
          <p:nvPr/>
        </p:nvSpPr>
        <p:spPr>
          <a:xfrm>
            <a:off x="1161391" y="3237652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3" name="배너"/>
          <p:cNvSpPr>
            <a:spLocks noGrp="1"/>
          </p:cNvSpPr>
          <p:nvPr>
            <p:ph type="body" sz="quarter" idx="36"/>
          </p:nvPr>
        </p:nvSpPr>
        <p:spPr>
          <a:xfrm>
            <a:off x="1161391" y="3237652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변화된 사업 여건 및 주요 재무지표 장기 추세분석으로 ‘적정 목표 수준’ 도출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37"/>
          </p:nvPr>
        </p:nvSpPr>
        <p:spPr>
          <a:xfrm>
            <a:off x="1172348" y="3473217"/>
            <a:ext cx="1390109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매출액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38"/>
          </p:nvPr>
        </p:nvSpPr>
        <p:spPr>
          <a:xfrm>
            <a:off x="2584370" y="3473217"/>
            <a:ext cx="1390109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영업이익</a:t>
            </a:r>
          </a:p>
        </p:txBody>
      </p:sp>
      <p:cxnSp>
        <p:nvCxnSpPr>
          <p:cNvPr id="46" name="Connector 35"/>
          <p:cNvCxnSpPr/>
          <p:nvPr/>
        </p:nvCxnSpPr>
        <p:spPr>
          <a:xfrm>
            <a:off x="2573413" y="3506087"/>
            <a:ext cx="0" cy="514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7" name="칸 본문"/>
          <p:cNvSpPr>
            <a:spLocks noGrp="1"/>
          </p:cNvSpPr>
          <p:nvPr>
            <p:ph type="body" sz="quarter" idx="39"/>
          </p:nvPr>
        </p:nvSpPr>
        <p:spPr>
          <a:xfrm>
            <a:off x="3996391" y="3473217"/>
            <a:ext cx="1390109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부채비율</a:t>
            </a:r>
          </a:p>
        </p:txBody>
      </p:sp>
      <p:cxnSp>
        <p:nvCxnSpPr>
          <p:cNvPr id="48" name="Connector 37"/>
          <p:cNvCxnSpPr/>
          <p:nvPr/>
        </p:nvCxnSpPr>
        <p:spPr>
          <a:xfrm>
            <a:off x="3985435" y="3506087"/>
            <a:ext cx="0" cy="514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9" name="칸 본문"/>
          <p:cNvSpPr>
            <a:spLocks noGrp="1"/>
          </p:cNvSpPr>
          <p:nvPr>
            <p:ph type="body" sz="quarter" idx="40"/>
          </p:nvPr>
        </p:nvSpPr>
        <p:spPr>
          <a:xfrm>
            <a:off x="5408413" y="3473217"/>
            <a:ext cx="1390109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순차입금/조정EBITDA</a:t>
            </a:r>
          </a:p>
        </p:txBody>
      </p:sp>
      <p:cxnSp>
        <p:nvCxnSpPr>
          <p:cNvPr id="50" name="Connector 39"/>
          <p:cNvCxnSpPr/>
          <p:nvPr/>
        </p:nvCxnSpPr>
        <p:spPr>
          <a:xfrm>
            <a:off x="5397457" y="3506087"/>
            <a:ext cx="0" cy="514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1" name="칸 본문"/>
          <p:cNvSpPr>
            <a:spLocks noGrp="1"/>
          </p:cNvSpPr>
          <p:nvPr>
            <p:ph type="body" sz="quarter" idx="41"/>
          </p:nvPr>
        </p:nvSpPr>
        <p:spPr>
          <a:xfrm>
            <a:off x="1172348" y="4070348"/>
            <a:ext cx="2802130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성장성 매출액 47,929억원: 기존·신규사업 조화 성장 반영 도전적 목표 설정 (’24년 4.5조원 → ’25년 4.8조원)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안정성 부채비율 98.1%: 고강도 자구노력 반영 100% 이하 유지 목표 (98.4% → 98.1%)</a:t>
            </a:r>
          </a:p>
        </p:txBody>
      </p:sp>
      <p:sp>
        <p:nvSpPr>
          <p:cNvPr id="52" name="칸 본문"/>
          <p:cNvSpPr>
            <a:spLocks noGrp="1"/>
          </p:cNvSpPr>
          <p:nvPr>
            <p:ph type="body" sz="quarter" idx="42"/>
          </p:nvPr>
        </p:nvSpPr>
        <p:spPr>
          <a:xfrm>
            <a:off x="3996391" y="4070348"/>
            <a:ext cx="2802130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수익성 영업이익 1,869억원: 수익성 악화 재무 여건 반영 목표 재설정 (3,662억원 → 1,869억원)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현금흐름 순차입금/조정EBITDA 6.6 이하: 투자 확대 대응 위한 현금 기반 차입 한도 준수 (5.8 → 6.6)</a:t>
            </a:r>
          </a:p>
        </p:txBody>
      </p:sp>
      <p:cxnSp>
        <p:nvCxnSpPr>
          <p:cNvPr id="53" name="Connector 42"/>
          <p:cNvCxnSpPr/>
          <p:nvPr/>
        </p:nvCxnSpPr>
        <p:spPr>
          <a:xfrm>
            <a:off x="3985435" y="4103217"/>
            <a:ext cx="0" cy="81078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4" name="레일"/>
          <p:cNvSpPr/>
          <p:nvPr/>
        </p:nvSpPr>
        <p:spPr>
          <a:xfrm>
            <a:off x="547826" y="4968783"/>
            <a:ext cx="580696" cy="1035391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5" name="레일"/>
          <p:cNvSpPr>
            <a:spLocks noGrp="1"/>
          </p:cNvSpPr>
          <p:nvPr>
            <p:ph type="body" sz="quarter" idx="43"/>
          </p:nvPr>
        </p:nvSpPr>
        <p:spPr>
          <a:xfrm>
            <a:off x="547826" y="4968783"/>
            <a:ext cx="580696" cy="103539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추진과제</a:t>
            </a:r>
          </a:p>
        </p:txBody>
      </p:sp>
      <p:sp>
        <p:nvSpPr>
          <p:cNvPr id="56" name="머리칸"/>
          <p:cNvSpPr/>
          <p:nvPr/>
        </p:nvSpPr>
        <p:spPr>
          <a:xfrm>
            <a:off x="1161391" y="499069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7" name="머리칸"/>
          <p:cNvSpPr>
            <a:spLocks noGrp="1"/>
          </p:cNvSpPr>
          <p:nvPr>
            <p:ph type="body" sz="quarter" idx="44"/>
          </p:nvPr>
        </p:nvSpPr>
        <p:spPr>
          <a:xfrm>
            <a:off x="1161391" y="499069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매출 확대 및 다각화</a:t>
            </a:r>
          </a:p>
        </p:txBody>
      </p:sp>
      <p:sp>
        <p:nvSpPr>
          <p:cNvPr id="58" name="머리칸"/>
          <p:cNvSpPr/>
          <p:nvPr/>
        </p:nvSpPr>
        <p:spPr>
          <a:xfrm>
            <a:off x="3044087" y="499069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9" name="머리칸"/>
          <p:cNvSpPr>
            <a:spLocks noGrp="1"/>
          </p:cNvSpPr>
          <p:nvPr>
            <p:ph type="body" sz="quarter" idx="45"/>
          </p:nvPr>
        </p:nvSpPr>
        <p:spPr>
          <a:xfrm>
            <a:off x="3044087" y="499069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사업별 손익 개선·효율화</a:t>
            </a:r>
          </a:p>
        </p:txBody>
      </p:sp>
      <p:sp>
        <p:nvSpPr>
          <p:cNvPr id="60" name="머리칸"/>
          <p:cNvSpPr/>
          <p:nvPr/>
        </p:nvSpPr>
        <p:spPr>
          <a:xfrm>
            <a:off x="4926783" y="499069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61" name="머리칸"/>
          <p:cNvSpPr>
            <a:spLocks noGrp="1"/>
          </p:cNvSpPr>
          <p:nvPr>
            <p:ph type="body" sz="quarter" idx="46"/>
          </p:nvPr>
        </p:nvSpPr>
        <p:spPr>
          <a:xfrm>
            <a:off x="4926783" y="499069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❸ 현금흐름 안정성 강화</a:t>
            </a:r>
          </a:p>
        </p:txBody>
      </p:sp>
      <p:sp>
        <p:nvSpPr>
          <p:cNvPr id="62" name="칸 본문"/>
          <p:cNvSpPr>
            <a:spLocks noGrp="1"/>
          </p:cNvSpPr>
          <p:nvPr>
            <p:ph type="body" sz="quarter" idx="47"/>
          </p:nvPr>
        </p:nvSpPr>
        <p:spPr>
          <a:xfrm>
            <a:off x="1172348" y="5231739"/>
            <a:ext cx="1860783" cy="766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수변·재생e 매출 조기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AI·DT 물관리 기술 수출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고품질 용수공급 업역 확대</a:t>
            </a:r>
          </a:p>
        </p:txBody>
      </p:sp>
      <p:sp>
        <p:nvSpPr>
          <p:cNvPr id="63" name="칸 본문"/>
          <p:cNvSpPr>
            <a:spLocks noGrp="1"/>
          </p:cNvSpPr>
          <p:nvPr>
            <p:ph type="body" sz="quarter" idx="48"/>
          </p:nvPr>
        </p:nvSpPr>
        <p:spPr>
          <a:xfrm>
            <a:off x="3055043" y="5231739"/>
            <a:ext cx="1860783" cy="766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요금사업 생산원가 절감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정책사업 국고 확보 반영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해외사업 리스크관리 강화</a:t>
            </a:r>
          </a:p>
        </p:txBody>
      </p:sp>
      <p:cxnSp>
        <p:nvCxnSpPr>
          <p:cNvPr id="64" name="Connector 49"/>
          <p:cNvCxnSpPr/>
          <p:nvPr/>
        </p:nvCxnSpPr>
        <p:spPr>
          <a:xfrm>
            <a:off x="3044087" y="5264609"/>
            <a:ext cx="0" cy="70121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5" name="칸 본문"/>
          <p:cNvSpPr>
            <a:spLocks noGrp="1"/>
          </p:cNvSpPr>
          <p:nvPr>
            <p:ph type="body" sz="quarter" idx="49"/>
          </p:nvPr>
        </p:nvSpPr>
        <p:spPr>
          <a:xfrm>
            <a:off x="4937739" y="5231739"/>
            <a:ext cx="1860783" cy="766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총사업비 관리 최적화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현금흐름 영향 검토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투자연계 차입 만기 개선</a:t>
            </a:r>
          </a:p>
        </p:txBody>
      </p:sp>
      <p:cxnSp>
        <p:nvCxnSpPr>
          <p:cNvPr id="66" name="Connector 51"/>
          <p:cNvCxnSpPr/>
          <p:nvPr/>
        </p:nvCxnSpPr>
        <p:spPr>
          <a:xfrm>
            <a:off x="4926783" y="5264609"/>
            <a:ext cx="0" cy="70121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7" name="레일"/>
          <p:cNvSpPr/>
          <p:nvPr/>
        </p:nvSpPr>
        <p:spPr>
          <a:xfrm>
            <a:off x="547826" y="6020609"/>
            <a:ext cx="580696" cy="8600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8" name="레일"/>
          <p:cNvSpPr>
            <a:spLocks noGrp="1"/>
          </p:cNvSpPr>
          <p:nvPr>
            <p:ph type="body" sz="quarter" idx="50"/>
          </p:nvPr>
        </p:nvSpPr>
        <p:spPr>
          <a:xfrm>
            <a:off x="547826" y="6020609"/>
            <a:ext cx="580696" cy="86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실행체계</a:t>
            </a:r>
          </a:p>
        </p:txBody>
      </p:sp>
      <p:sp>
        <p:nvSpPr>
          <p:cNvPr id="69" name="레일 삼각형"/>
          <p:cNvSpPr/>
          <p:nvPr/>
        </p:nvSpPr>
        <p:spPr>
          <a:xfrm>
            <a:off x="547826" y="6020608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0" name="단계"/>
          <p:cNvSpPr/>
          <p:nvPr/>
        </p:nvSpPr>
        <p:spPr>
          <a:xfrm>
            <a:off x="1161391" y="6042522"/>
            <a:ext cx="141202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1" name="단계"/>
          <p:cNvSpPr>
            <a:spLocks noGrp="1"/>
          </p:cNvSpPr>
          <p:nvPr>
            <p:ph type="body" sz="quarter" idx="51"/>
          </p:nvPr>
        </p:nvSpPr>
        <p:spPr>
          <a:xfrm>
            <a:off x="1161391" y="6042522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P 재무목표 수립</a:t>
            </a:r>
          </a:p>
        </p:txBody>
      </p:sp>
      <p:sp>
        <p:nvSpPr>
          <p:cNvPr id="72" name="단계"/>
          <p:cNvSpPr/>
          <p:nvPr/>
        </p:nvSpPr>
        <p:spPr>
          <a:xfrm>
            <a:off x="2573413" y="6042522"/>
            <a:ext cx="1412022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3" name="단계"/>
          <p:cNvSpPr>
            <a:spLocks noGrp="1"/>
          </p:cNvSpPr>
          <p:nvPr>
            <p:ph type="body" sz="quarter" idx="52"/>
          </p:nvPr>
        </p:nvSpPr>
        <p:spPr>
          <a:xfrm>
            <a:off x="2573413" y="6042522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D 목표달성 이행</a:t>
            </a:r>
          </a:p>
        </p:txBody>
      </p:sp>
      <p:sp>
        <p:nvSpPr>
          <p:cNvPr id="74" name="단계"/>
          <p:cNvSpPr/>
          <p:nvPr/>
        </p:nvSpPr>
        <p:spPr>
          <a:xfrm>
            <a:off x="3985435" y="6042522"/>
            <a:ext cx="1412022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5" name="단계"/>
          <p:cNvSpPr>
            <a:spLocks noGrp="1"/>
          </p:cNvSpPr>
          <p:nvPr>
            <p:ph type="body" sz="quarter" idx="53"/>
          </p:nvPr>
        </p:nvSpPr>
        <p:spPr>
          <a:xfrm>
            <a:off x="3985435" y="6042522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C 모니터링</a:t>
            </a:r>
          </a:p>
        </p:txBody>
      </p:sp>
      <p:sp>
        <p:nvSpPr>
          <p:cNvPr id="76" name="단계"/>
          <p:cNvSpPr/>
          <p:nvPr/>
        </p:nvSpPr>
        <p:spPr>
          <a:xfrm>
            <a:off x="5397457" y="6042522"/>
            <a:ext cx="1412022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7" name="단계"/>
          <p:cNvSpPr>
            <a:spLocks noGrp="1"/>
          </p:cNvSpPr>
          <p:nvPr>
            <p:ph type="body" sz="quarter" idx="54"/>
          </p:nvPr>
        </p:nvSpPr>
        <p:spPr>
          <a:xfrm>
            <a:off x="5397457" y="6042522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 이행평가·환류</a:t>
            </a:r>
          </a:p>
        </p:txBody>
      </p:sp>
      <p:sp>
        <p:nvSpPr>
          <p:cNvPr id="78" name="단계 삼각형"/>
          <p:cNvSpPr/>
          <p:nvPr/>
        </p:nvSpPr>
        <p:spPr>
          <a:xfrm>
            <a:off x="2573413" y="6042521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9" name="단계 삼각형"/>
          <p:cNvSpPr/>
          <p:nvPr/>
        </p:nvSpPr>
        <p:spPr>
          <a:xfrm>
            <a:off x="3985434" y="6042521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80" name="단계 삼각형"/>
          <p:cNvSpPr/>
          <p:nvPr/>
        </p:nvSpPr>
        <p:spPr>
          <a:xfrm>
            <a:off x="5397456" y="6042521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81" name="칸 본문"/>
          <p:cNvSpPr>
            <a:spLocks noGrp="1"/>
          </p:cNvSpPr>
          <p:nvPr>
            <p:ph type="body" sz="quarter" idx="55"/>
          </p:nvPr>
        </p:nvSpPr>
        <p:spPr>
          <a:xfrm>
            <a:off x="1172348" y="6294522"/>
            <a:ext cx="1390109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사업·본부 목표 설정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이사회, 전사경영회의</a:t>
            </a:r>
          </a:p>
        </p:txBody>
      </p:sp>
      <p:sp>
        <p:nvSpPr>
          <p:cNvPr id="82" name="칸 본문"/>
          <p:cNvSpPr>
            <a:spLocks noGrp="1"/>
          </p:cNvSpPr>
          <p:nvPr>
            <p:ph type="body" sz="quarter" idx="56"/>
          </p:nvPr>
        </p:nvSpPr>
        <p:spPr>
          <a:xfrm>
            <a:off x="2584370" y="6294522"/>
            <a:ext cx="1390109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과제발굴 및 이행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재무혁신TF, 부문장회의</a:t>
            </a:r>
          </a:p>
        </p:txBody>
      </p:sp>
      <p:cxnSp>
        <p:nvCxnSpPr>
          <p:cNvPr id="83" name="Connector 63"/>
          <p:cNvCxnSpPr/>
          <p:nvPr/>
        </p:nvCxnSpPr>
        <p:spPr>
          <a:xfrm>
            <a:off x="2573413" y="6327391"/>
            <a:ext cx="0" cy="51495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4" name="칸 본문"/>
          <p:cNvSpPr>
            <a:spLocks noGrp="1"/>
          </p:cNvSpPr>
          <p:nvPr>
            <p:ph type="body" sz="quarter" idx="57"/>
          </p:nvPr>
        </p:nvSpPr>
        <p:spPr>
          <a:xfrm>
            <a:off x="3996391" y="6294522"/>
            <a:ext cx="1390109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과제 이행 점검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재무혁신TF, 부서장회의</a:t>
            </a:r>
          </a:p>
        </p:txBody>
      </p:sp>
      <p:cxnSp>
        <p:nvCxnSpPr>
          <p:cNvPr id="85" name="Connector 65"/>
          <p:cNvCxnSpPr/>
          <p:nvPr/>
        </p:nvCxnSpPr>
        <p:spPr>
          <a:xfrm>
            <a:off x="3985435" y="6327391"/>
            <a:ext cx="0" cy="51495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6" name="칸 본문"/>
          <p:cNvSpPr>
            <a:spLocks noGrp="1"/>
          </p:cNvSpPr>
          <p:nvPr>
            <p:ph type="body" sz="quarter" idx="58"/>
          </p:nvPr>
        </p:nvSpPr>
        <p:spPr>
          <a:xfrm>
            <a:off x="5408413" y="6294522"/>
            <a:ext cx="1390109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 평가 및 환류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내부평가</a:t>
            </a:r>
          </a:p>
        </p:txBody>
      </p:sp>
      <p:cxnSp>
        <p:nvCxnSpPr>
          <p:cNvPr id="87" name="Connector 67"/>
          <p:cNvCxnSpPr/>
          <p:nvPr/>
        </p:nvCxnSpPr>
        <p:spPr>
          <a:xfrm>
            <a:off x="5397457" y="6327391"/>
            <a:ext cx="0" cy="51495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30 서사 · 매출 확대(추진배경 → 기존사업 핵심 강화 → 신규사업 성장사업 확보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재무 목표 달성을 위한 맞춤형 개선과제 이행으로 초과 성과 창출</a:t>
            </a:r>
          </a:p>
        </p:txBody>
      </p:sp>
      <p:sp>
        <p:nvSpPr>
          <p:cNvPr id="14" name="번호"/>
          <p:cNvSpPr>
            <a:spLocks noGrp="1"/>
          </p:cNvSpPr>
          <p:nvPr>
            <p:ph type="body" sz="quarter" idx="22"/>
          </p:nvPr>
        </p:nvSpPr>
        <p:spPr>
          <a:xfrm>
            <a:off x="723130" y="1205217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15" name="분야 박스"/>
          <p:cNvSpPr/>
          <p:nvPr/>
        </p:nvSpPr>
        <p:spPr>
          <a:xfrm>
            <a:off x="952651" y="1238087"/>
            <a:ext cx="592466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분야 박스"/>
          <p:cNvSpPr>
            <a:spLocks noGrp="1"/>
          </p:cNvSpPr>
          <p:nvPr>
            <p:ph type="body" sz="quarter" idx="23"/>
          </p:nvPr>
        </p:nvSpPr>
        <p:spPr>
          <a:xfrm>
            <a:off x="952651" y="1238087"/>
            <a:ext cx="59246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매출확대</a:t>
            </a:r>
          </a:p>
        </p:txBody>
      </p:sp>
      <p:sp>
        <p:nvSpPr>
          <p:cNvPr id="17" name="형광 밑줄"/>
          <p:cNvSpPr/>
          <p:nvPr/>
        </p:nvSpPr>
        <p:spPr>
          <a:xfrm>
            <a:off x="1610856" y="1358609"/>
            <a:ext cx="3762826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소제목"/>
          <p:cNvSpPr>
            <a:spLocks noGrp="1"/>
          </p:cNvSpPr>
          <p:nvPr>
            <p:ph type="body" sz="quarter" idx="24"/>
          </p:nvPr>
        </p:nvSpPr>
        <p:spPr>
          <a:xfrm>
            <a:off x="1610856" y="1205217"/>
            <a:ext cx="5412275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혁신적 돌파구 마련으로 매출 확대 및 하이테크 수처리 사업 선도</a:t>
            </a:r>
          </a:p>
        </p:txBody>
      </p:sp>
      <p:sp>
        <p:nvSpPr>
          <p:cNvPr id="19" name="태그칩"/>
          <p:cNvSpPr/>
          <p:nvPr/>
        </p:nvSpPr>
        <p:spPr>
          <a:xfrm>
            <a:off x="5472290" y="1238087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태그칩"/>
          <p:cNvSpPr>
            <a:spLocks noGrp="1"/>
          </p:cNvSpPr>
          <p:nvPr>
            <p:ph type="body" sz="quarter" idx="25"/>
          </p:nvPr>
        </p:nvSpPr>
        <p:spPr>
          <a:xfrm>
            <a:off x="5472290" y="1238087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21" name="표 외곽"/>
          <p:cNvSpPr/>
          <p:nvPr/>
        </p:nvSpPr>
        <p:spPr>
          <a:xfrm>
            <a:off x="723130" y="1490087"/>
            <a:ext cx="6300000" cy="2415913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2" name="레일"/>
          <p:cNvSpPr/>
          <p:nvPr/>
        </p:nvSpPr>
        <p:spPr>
          <a:xfrm>
            <a:off x="734087" y="1506522"/>
            <a:ext cx="580696" cy="542348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3" name="레일"/>
          <p:cNvSpPr>
            <a:spLocks noGrp="1"/>
          </p:cNvSpPr>
          <p:nvPr>
            <p:ph type="body" sz="quarter" idx="26"/>
          </p:nvPr>
        </p:nvSpPr>
        <p:spPr>
          <a:xfrm>
            <a:off x="734087" y="1506522"/>
            <a:ext cx="580696" cy="542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7"/>
          </p:nvPr>
        </p:nvSpPr>
        <p:spPr>
          <a:xfrm>
            <a:off x="1358609" y="1528435"/>
            <a:ext cx="2802130" cy="514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기존사업 중심으로 지속 성장한 매출액 2년 연속 하락, 매출 정체 고착화 우려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8"/>
          </p:nvPr>
        </p:nvSpPr>
        <p:spPr>
          <a:xfrm>
            <a:off x="4182652" y="1528435"/>
            <a:ext cx="2802130" cy="514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기존사업 현안진단·개선 통한 매출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신규사업 高부가가치 미래형 매출 기반 발굴</a:t>
            </a:r>
          </a:p>
        </p:txBody>
      </p:sp>
      <p:cxnSp>
        <p:nvCxnSpPr>
          <p:cNvPr id="26" name="Connector 17"/>
          <p:cNvCxnSpPr/>
          <p:nvPr/>
        </p:nvCxnSpPr>
        <p:spPr>
          <a:xfrm>
            <a:off x="4171696" y="1561304"/>
            <a:ext cx="0" cy="44921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7" name="레일"/>
          <p:cNvSpPr/>
          <p:nvPr/>
        </p:nvSpPr>
        <p:spPr>
          <a:xfrm>
            <a:off x="734087" y="2065304"/>
            <a:ext cx="580696" cy="90391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8" name="레일 태그"/>
          <p:cNvSpPr/>
          <p:nvPr/>
        </p:nvSpPr>
        <p:spPr>
          <a:xfrm>
            <a:off x="744637" y="2229652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9" name="레일 태그"/>
          <p:cNvSpPr>
            <a:spLocks noGrp="1"/>
          </p:cNvSpPr>
          <p:nvPr>
            <p:ph type="body" sz="quarter" idx="29"/>
          </p:nvPr>
        </p:nvSpPr>
        <p:spPr>
          <a:xfrm>
            <a:off x="744637" y="2229652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기존사업</a:t>
            </a:r>
          </a:p>
        </p:txBody>
      </p:sp>
      <p:sp>
        <p:nvSpPr>
          <p:cNvPr id="30" name="레일 라벨"/>
          <p:cNvSpPr>
            <a:spLocks noGrp="1"/>
          </p:cNvSpPr>
          <p:nvPr>
            <p:ph type="body" sz="quarter" idx="30"/>
          </p:nvPr>
        </p:nvSpPr>
        <p:spPr>
          <a:xfrm>
            <a:off x="734087" y="2415913"/>
            <a:ext cx="580696" cy="531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핵심사업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화</a:t>
            </a:r>
          </a:p>
        </p:txBody>
      </p:sp>
      <p:sp>
        <p:nvSpPr>
          <p:cNvPr id="31" name="레일 삼각형"/>
          <p:cNvSpPr/>
          <p:nvPr/>
        </p:nvSpPr>
        <p:spPr>
          <a:xfrm>
            <a:off x="734086" y="2065304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1"/>
          </p:nvPr>
        </p:nvSpPr>
        <p:spPr>
          <a:xfrm>
            <a:off x="1358609" y="2087217"/>
            <a:ext cx="2802130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수변 고객 니즈 우선 대응으로 매출 증대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고객 맞춤 토지 이용계획 변경으로 사용 촉진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조기 토지 사용시 고객 부담 경감방안 시행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수변사업 역대 두 번째 최고 매출 1조원 달성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2"/>
          </p:nvPr>
        </p:nvSpPr>
        <p:spPr>
          <a:xfrm>
            <a:off x="4182652" y="2087217"/>
            <a:ext cx="2802130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에너지 송전망 문제해결로 매출 조기 확보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임하 수상태양광 국내 최초 교차발전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주간 수상태양광-야간 수력 송전, 발전개시 5년 단축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매출 490억원(5년) 확보, 타사업 확장기능 모델 마련</a:t>
            </a:r>
          </a:p>
        </p:txBody>
      </p:sp>
      <p:cxnSp>
        <p:nvCxnSpPr>
          <p:cNvPr id="34" name="Connector 24"/>
          <p:cNvCxnSpPr/>
          <p:nvPr/>
        </p:nvCxnSpPr>
        <p:spPr>
          <a:xfrm>
            <a:off x="4171696" y="2120087"/>
            <a:ext cx="0" cy="81078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5" name="레일"/>
          <p:cNvSpPr/>
          <p:nvPr/>
        </p:nvSpPr>
        <p:spPr>
          <a:xfrm>
            <a:off x="734087" y="2985652"/>
            <a:ext cx="580696" cy="90391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6" name="레일 태그"/>
          <p:cNvSpPr/>
          <p:nvPr/>
        </p:nvSpPr>
        <p:spPr>
          <a:xfrm>
            <a:off x="744637" y="3150000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7" name="레일 태그"/>
          <p:cNvSpPr>
            <a:spLocks noGrp="1"/>
          </p:cNvSpPr>
          <p:nvPr>
            <p:ph type="body" sz="quarter" idx="33"/>
          </p:nvPr>
        </p:nvSpPr>
        <p:spPr>
          <a:xfrm>
            <a:off x="744637" y="3150000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신규사업</a:t>
            </a:r>
          </a:p>
        </p:txBody>
      </p:sp>
      <p:sp>
        <p:nvSpPr>
          <p:cNvPr id="38" name="레일 라벨"/>
          <p:cNvSpPr>
            <a:spLocks noGrp="1"/>
          </p:cNvSpPr>
          <p:nvPr>
            <p:ph type="body" sz="quarter" idx="34"/>
          </p:nvPr>
        </p:nvSpPr>
        <p:spPr>
          <a:xfrm>
            <a:off x="734087" y="3336261"/>
            <a:ext cx="580696" cy="531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성장사업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 보</a:t>
            </a:r>
          </a:p>
        </p:txBody>
      </p:sp>
      <p:sp>
        <p:nvSpPr>
          <p:cNvPr id="39" name="레일 삼각형"/>
          <p:cNvSpPr/>
          <p:nvPr/>
        </p:nvSpPr>
        <p:spPr>
          <a:xfrm>
            <a:off x="734086" y="2985652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0" name="칸 본문"/>
          <p:cNvSpPr>
            <a:spLocks noGrp="1"/>
          </p:cNvSpPr>
          <p:nvPr>
            <p:ph type="body" sz="quarter" idx="35"/>
          </p:nvPr>
        </p:nvSpPr>
        <p:spPr>
          <a:xfrm>
            <a:off x="1358609" y="3007565"/>
            <a:ext cx="2802130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 新 비즈니스모델 활용 매출 다각화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AI·DT 디지털 물관리 기술 수출 본격화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日 나가이, 美 실리콘밸리 시범사업 개시, 보츠와나 통합물관리 사업 227억원 수주 등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36"/>
          </p:nvPr>
        </p:nvSpPr>
        <p:spPr>
          <a:xfrm>
            <a:off x="4182652" y="3007565"/>
            <a:ext cx="2802130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산업용수 고품질 물 시장 新 업역 창출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초격차 기술 기반 물 공급 시장 선점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국내기업 최초 초순수 운영 개시(SK하이닉스), 국내 최대 해수담수화 준공(대산임해산업단지)</a:t>
            </a:r>
          </a:p>
        </p:txBody>
      </p:sp>
      <p:cxnSp>
        <p:nvCxnSpPr>
          <p:cNvPr id="42" name="Connector 31"/>
          <p:cNvCxnSpPr/>
          <p:nvPr/>
        </p:nvCxnSpPr>
        <p:spPr>
          <a:xfrm>
            <a:off x="4171696" y="3040435"/>
            <a:ext cx="0" cy="81078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31 서사 · 손익 개선(요금 · 정책 · 수익 3갈래 → 운영혁신 · 재정 확대 · 리스크 관리 → 추진성과 차트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11" name="분야 박스"/>
          <p:cNvSpPr/>
          <p:nvPr/>
        </p:nvSpPr>
        <p:spPr>
          <a:xfrm>
            <a:off x="766390" y="799826"/>
            <a:ext cx="592466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분야 박스"/>
          <p:cNvSpPr>
            <a:spLocks noGrp="1"/>
          </p:cNvSpPr>
          <p:nvPr>
            <p:ph type="body" sz="quarter" idx="21"/>
          </p:nvPr>
        </p:nvSpPr>
        <p:spPr>
          <a:xfrm>
            <a:off x="766390" y="799826"/>
            <a:ext cx="59246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손익개선</a:t>
            </a:r>
          </a:p>
        </p:txBody>
      </p:sp>
      <p:sp>
        <p:nvSpPr>
          <p:cNvPr id="13" name="형광 밑줄"/>
          <p:cNvSpPr/>
          <p:nvPr/>
        </p:nvSpPr>
        <p:spPr>
          <a:xfrm>
            <a:off x="1424595" y="920348"/>
            <a:ext cx="3033963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소제목"/>
          <p:cNvSpPr>
            <a:spLocks noGrp="1"/>
          </p:cNvSpPr>
          <p:nvPr>
            <p:ph type="body" sz="quarter" idx="22"/>
          </p:nvPr>
        </p:nvSpPr>
        <p:spPr>
          <a:xfrm>
            <a:off x="1424595" y="766957"/>
            <a:ext cx="5412275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사업별 맞춤형 개선으로 지속적 손익 개선 기반 구축</a:t>
            </a:r>
          </a:p>
        </p:txBody>
      </p:sp>
      <p:sp>
        <p:nvSpPr>
          <p:cNvPr id="15" name="태그칩"/>
          <p:cNvSpPr/>
          <p:nvPr/>
        </p:nvSpPr>
        <p:spPr>
          <a:xfrm>
            <a:off x="4557166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태그칩"/>
          <p:cNvSpPr>
            <a:spLocks noGrp="1"/>
          </p:cNvSpPr>
          <p:nvPr>
            <p:ph type="body" sz="quarter" idx="23"/>
          </p:nvPr>
        </p:nvSpPr>
        <p:spPr>
          <a:xfrm>
            <a:off x="4557166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7" name="태그칩"/>
          <p:cNvSpPr/>
          <p:nvPr/>
        </p:nvSpPr>
        <p:spPr>
          <a:xfrm>
            <a:off x="5108287" y="799826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태그칩"/>
          <p:cNvSpPr>
            <a:spLocks noGrp="1"/>
          </p:cNvSpPr>
          <p:nvPr>
            <p:ph type="body" sz="quarter" idx="24"/>
          </p:nvPr>
        </p:nvSpPr>
        <p:spPr>
          <a:xfrm>
            <a:off x="5108287" y="799826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9" name="표 외곽"/>
          <p:cNvSpPr/>
          <p:nvPr/>
        </p:nvSpPr>
        <p:spPr>
          <a:xfrm>
            <a:off x="536870" y="1051826"/>
            <a:ext cx="6300000" cy="141887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0" name="레일"/>
          <p:cNvSpPr/>
          <p:nvPr/>
        </p:nvSpPr>
        <p:spPr>
          <a:xfrm>
            <a:off x="547826" y="1068261"/>
            <a:ext cx="580696" cy="68478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5"/>
          </p:nvPr>
        </p:nvSpPr>
        <p:spPr>
          <a:xfrm>
            <a:off x="547826" y="1068261"/>
            <a:ext cx="580696" cy="684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22" name="머리칸"/>
          <p:cNvSpPr/>
          <p:nvPr/>
        </p:nvSpPr>
        <p:spPr>
          <a:xfrm>
            <a:off x="1161391" y="1090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3" name="머리칸"/>
          <p:cNvSpPr>
            <a:spLocks noGrp="1"/>
          </p:cNvSpPr>
          <p:nvPr>
            <p:ph type="body" sz="quarter" idx="26"/>
          </p:nvPr>
        </p:nvSpPr>
        <p:spPr>
          <a:xfrm>
            <a:off x="1161391" y="1090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요금 광역상수도사업</a:t>
            </a:r>
          </a:p>
        </p:txBody>
      </p:sp>
      <p:sp>
        <p:nvSpPr>
          <p:cNvPr id="24" name="머리칸"/>
          <p:cNvSpPr/>
          <p:nvPr/>
        </p:nvSpPr>
        <p:spPr>
          <a:xfrm>
            <a:off x="3044087" y="1090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5" name="머리칸"/>
          <p:cNvSpPr>
            <a:spLocks noGrp="1"/>
          </p:cNvSpPr>
          <p:nvPr>
            <p:ph type="body" sz="quarter" idx="27"/>
          </p:nvPr>
        </p:nvSpPr>
        <p:spPr>
          <a:xfrm>
            <a:off x="3044087" y="1090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정책 대행 및 수탁사업</a:t>
            </a:r>
          </a:p>
        </p:txBody>
      </p:sp>
      <p:sp>
        <p:nvSpPr>
          <p:cNvPr id="26" name="머리칸"/>
          <p:cNvSpPr/>
          <p:nvPr/>
        </p:nvSpPr>
        <p:spPr>
          <a:xfrm>
            <a:off x="4926783" y="1090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7" name="머리칸"/>
          <p:cNvSpPr>
            <a:spLocks noGrp="1"/>
          </p:cNvSpPr>
          <p:nvPr>
            <p:ph type="body" sz="quarter" idx="28"/>
          </p:nvPr>
        </p:nvSpPr>
        <p:spPr>
          <a:xfrm>
            <a:off x="4926783" y="1090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수익 해외사업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9"/>
          </p:nvPr>
        </p:nvSpPr>
        <p:spPr>
          <a:xfrm>
            <a:off x="1172348" y="1331217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요금 동결, 원가급등으로 수익개선 구조적 한계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0"/>
          </p:nvPr>
        </p:nvSpPr>
        <p:spPr>
          <a:xfrm>
            <a:off x="3055043" y="1331217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정책 필수 공공사업 수행 불구 낮은 대가 현실화율</a:t>
            </a:r>
          </a:p>
        </p:txBody>
      </p:sp>
      <p:cxnSp>
        <p:nvCxnSpPr>
          <p:cNvPr id="30" name="Connector 19"/>
          <p:cNvCxnSpPr/>
          <p:nvPr/>
        </p:nvCxnSpPr>
        <p:spPr>
          <a:xfrm>
            <a:off x="3044087" y="1364087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칸 본문"/>
          <p:cNvSpPr>
            <a:spLocks noGrp="1"/>
          </p:cNvSpPr>
          <p:nvPr>
            <p:ph type="body" sz="quarter" idx="31"/>
          </p:nvPr>
        </p:nvSpPr>
        <p:spPr>
          <a:xfrm>
            <a:off x="4937739" y="1331217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수익 해외 주요 투자회사 일상적 재무리스크 노출</a:t>
            </a:r>
          </a:p>
        </p:txBody>
      </p:sp>
      <p:cxnSp>
        <p:nvCxnSpPr>
          <p:cNvPr id="32" name="Connector 21"/>
          <p:cNvCxnSpPr/>
          <p:nvPr/>
        </p:nvCxnSpPr>
        <p:spPr>
          <a:xfrm>
            <a:off x="4926783" y="1364087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레일"/>
          <p:cNvSpPr/>
          <p:nvPr/>
        </p:nvSpPr>
        <p:spPr>
          <a:xfrm>
            <a:off x="547826" y="1769478"/>
            <a:ext cx="580696" cy="68478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4" name="레일"/>
          <p:cNvSpPr>
            <a:spLocks noGrp="1"/>
          </p:cNvSpPr>
          <p:nvPr>
            <p:ph type="body" sz="quarter" idx="32"/>
          </p:nvPr>
        </p:nvSpPr>
        <p:spPr>
          <a:xfrm>
            <a:off x="547826" y="1769478"/>
            <a:ext cx="580696" cy="684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추진내용</a:t>
            </a:r>
          </a:p>
        </p:txBody>
      </p:sp>
      <p:sp>
        <p:nvSpPr>
          <p:cNvPr id="35" name="레일 삼각형"/>
          <p:cNvSpPr/>
          <p:nvPr/>
        </p:nvSpPr>
        <p:spPr>
          <a:xfrm>
            <a:off x="547826" y="1769478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6" name="머리칸"/>
          <p:cNvSpPr/>
          <p:nvPr/>
        </p:nvSpPr>
        <p:spPr>
          <a:xfrm>
            <a:off x="1161391" y="179139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7" name="머리칸"/>
          <p:cNvSpPr>
            <a:spLocks noGrp="1"/>
          </p:cNvSpPr>
          <p:nvPr>
            <p:ph type="body" sz="quarter" idx="33"/>
          </p:nvPr>
        </p:nvSpPr>
        <p:spPr>
          <a:xfrm>
            <a:off x="1161391" y="179139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운영혁신·원가절감</a:t>
            </a:r>
          </a:p>
        </p:txBody>
      </p:sp>
      <p:sp>
        <p:nvSpPr>
          <p:cNvPr id="38" name="머리칸"/>
          <p:cNvSpPr/>
          <p:nvPr/>
        </p:nvSpPr>
        <p:spPr>
          <a:xfrm>
            <a:off x="3044087" y="179139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9" name="머리칸"/>
          <p:cNvSpPr>
            <a:spLocks noGrp="1"/>
          </p:cNvSpPr>
          <p:nvPr>
            <p:ph type="body" sz="quarter" idx="34"/>
          </p:nvPr>
        </p:nvSpPr>
        <p:spPr>
          <a:xfrm>
            <a:off x="3044087" y="179139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정부 재정 확대 반영</a:t>
            </a:r>
          </a:p>
        </p:txBody>
      </p:sp>
      <p:sp>
        <p:nvSpPr>
          <p:cNvPr id="40" name="머리칸"/>
          <p:cNvSpPr/>
          <p:nvPr/>
        </p:nvSpPr>
        <p:spPr>
          <a:xfrm>
            <a:off x="4926783" y="179139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1" name="머리칸"/>
          <p:cNvSpPr>
            <a:spLocks noGrp="1"/>
          </p:cNvSpPr>
          <p:nvPr>
            <p:ph type="body" sz="quarter" idx="35"/>
          </p:nvPr>
        </p:nvSpPr>
        <p:spPr>
          <a:xfrm>
            <a:off x="4926783" y="179139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핵심 리스크 맞춤형 관리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36"/>
          </p:nvPr>
        </p:nvSpPr>
        <p:spPr>
          <a:xfrm>
            <a:off x="1172348" y="2032435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AI물관리 확대(정수장~관망)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고효율설비 도입 원가 절감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37"/>
          </p:nvPr>
        </p:nvSpPr>
        <p:spPr>
          <a:xfrm>
            <a:off x="3055043" y="2032435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현대화사업 수수료율 상향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유지관리비 적정 대가 반영</a:t>
            </a:r>
          </a:p>
        </p:txBody>
      </p:sp>
      <p:cxnSp>
        <p:nvCxnSpPr>
          <p:cNvPr id="44" name="Connector 29"/>
          <p:cNvCxnSpPr/>
          <p:nvPr/>
        </p:nvCxnSpPr>
        <p:spPr>
          <a:xfrm>
            <a:off x="3044087" y="2065304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5" name="칸 본문"/>
          <p:cNvSpPr>
            <a:spLocks noGrp="1"/>
          </p:cNvSpPr>
          <p:nvPr>
            <p:ph type="body" sz="quarter" idx="38"/>
          </p:nvPr>
        </p:nvSpPr>
        <p:spPr>
          <a:xfrm>
            <a:off x="4937739" y="2032435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주요 사업 대상 분기별 재무성과 및 리스크 분석</a:t>
            </a:r>
          </a:p>
        </p:txBody>
      </p:sp>
      <p:cxnSp>
        <p:nvCxnSpPr>
          <p:cNvPr id="46" name="Connector 31"/>
          <p:cNvCxnSpPr/>
          <p:nvPr/>
        </p:nvCxnSpPr>
        <p:spPr>
          <a:xfrm>
            <a:off x="4926783" y="2065304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7" name="틀"/>
          <p:cNvSpPr/>
          <p:nvPr/>
        </p:nvSpPr>
        <p:spPr>
          <a:xfrm>
            <a:off x="536870" y="2536435"/>
            <a:ext cx="6300000" cy="1051826"/>
          </a:xfrm>
          <a:prstGeom prst="rect">
            <a:avLst/>
          </a:prstGeom>
          <a:solidFill>
            <a:srgbClr val="FFFFFF"/>
          </a:solidFill>
          <a:ln w="12700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8" name="성과 라벨"/>
          <p:cNvSpPr/>
          <p:nvPr/>
        </p:nvSpPr>
        <p:spPr>
          <a:xfrm>
            <a:off x="547826" y="2547391"/>
            <a:ext cx="580696" cy="1029913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49" name="성과 라벨"/>
          <p:cNvSpPr>
            <a:spLocks noGrp="1"/>
          </p:cNvSpPr>
          <p:nvPr>
            <p:ph type="body" sz="quarter" idx="39"/>
          </p:nvPr>
        </p:nvSpPr>
        <p:spPr>
          <a:xfrm>
            <a:off x="547826" y="2547391"/>
            <a:ext cx="580696" cy="10299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0" name="성과 띠"/>
          <p:cNvSpPr/>
          <p:nvPr/>
        </p:nvSpPr>
        <p:spPr>
          <a:xfrm>
            <a:off x="1172348" y="2569304"/>
            <a:ext cx="5631652" cy="20817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51" name="성과 띠"/>
          <p:cNvSpPr>
            <a:spLocks noGrp="1"/>
          </p:cNvSpPr>
          <p:nvPr>
            <p:ph type="body" sz="quarter" idx="40"/>
          </p:nvPr>
        </p:nvSpPr>
        <p:spPr>
          <a:xfrm>
            <a:off x="1172348" y="2569304"/>
            <a:ext cx="5631652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단위당 전력사용 절감 · 생산원가 절감 · 수수료율 · 유지관리비 · 앙갓 흑자 · 파트린드 배당</a:t>
            </a:r>
          </a:p>
        </p:txBody>
      </p:sp>
      <p:sp>
        <p:nvSpPr>
          <p:cNvPr id="52" name="카드"/>
          <p:cNvSpPr/>
          <p:nvPr/>
        </p:nvSpPr>
        <p:spPr>
          <a:xfrm>
            <a:off x="1172348" y="2810348"/>
            <a:ext cx="902087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3" name="카드 문구"/>
          <p:cNvSpPr>
            <a:spLocks noGrp="1"/>
          </p:cNvSpPr>
          <p:nvPr>
            <p:ph type="body" sz="quarter" idx="41"/>
          </p:nvPr>
        </p:nvSpPr>
        <p:spPr>
          <a:xfrm>
            <a:off x="1194261" y="2821304"/>
            <a:ext cx="858261" cy="153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전력사용</a:t>
            </a:r>
          </a:p>
        </p:txBody>
      </p:sp>
      <p:sp>
        <p:nvSpPr>
          <p:cNvPr id="54" name="막대"/>
          <p:cNvSpPr/>
          <p:nvPr/>
        </p:nvSpPr>
        <p:spPr>
          <a:xfrm>
            <a:off x="1249043" y="3286957"/>
            <a:ext cx="164348" cy="115043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5" name="값"/>
          <p:cNvSpPr>
            <a:spLocks noGrp="1"/>
          </p:cNvSpPr>
          <p:nvPr>
            <p:ph type="body" sz="quarter" idx="42"/>
          </p:nvPr>
        </p:nvSpPr>
        <p:spPr>
          <a:xfrm>
            <a:off x="1161391" y="3111652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26</a:t>
            </a:r>
          </a:p>
        </p:txBody>
      </p:sp>
      <p:sp>
        <p:nvSpPr>
          <p:cNvPr id="56" name="연도"/>
          <p:cNvSpPr>
            <a:spLocks noGrp="1"/>
          </p:cNvSpPr>
          <p:nvPr>
            <p:ph type="body" sz="quarter" idx="43"/>
          </p:nvPr>
        </p:nvSpPr>
        <p:spPr>
          <a:xfrm>
            <a:off x="1161391" y="3412957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57" name="막대"/>
          <p:cNvSpPr/>
          <p:nvPr/>
        </p:nvSpPr>
        <p:spPr>
          <a:xfrm>
            <a:off x="1623391" y="3237652"/>
            <a:ext cx="164348" cy="16434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8" name="값"/>
          <p:cNvSpPr>
            <a:spLocks noGrp="1"/>
          </p:cNvSpPr>
          <p:nvPr>
            <p:ph type="body" sz="quarter" idx="44"/>
          </p:nvPr>
        </p:nvSpPr>
        <p:spPr>
          <a:xfrm>
            <a:off x="1535739" y="3062348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36</a:t>
            </a:r>
          </a:p>
        </p:txBody>
      </p:sp>
      <p:sp>
        <p:nvSpPr>
          <p:cNvPr id="59" name="연도"/>
          <p:cNvSpPr>
            <a:spLocks noGrp="1"/>
          </p:cNvSpPr>
          <p:nvPr>
            <p:ph type="body" sz="quarter" idx="45"/>
          </p:nvPr>
        </p:nvSpPr>
        <p:spPr>
          <a:xfrm>
            <a:off x="1535739" y="3412957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60" name="카드"/>
          <p:cNvSpPr/>
          <p:nvPr/>
        </p:nvSpPr>
        <p:spPr>
          <a:xfrm>
            <a:off x="2118261" y="2810348"/>
            <a:ext cx="902087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1" name="카드 문구"/>
          <p:cNvSpPr>
            <a:spLocks noGrp="1"/>
          </p:cNvSpPr>
          <p:nvPr>
            <p:ph type="body" sz="quarter" idx="46"/>
          </p:nvPr>
        </p:nvSpPr>
        <p:spPr>
          <a:xfrm>
            <a:off x="2140174" y="2821304"/>
            <a:ext cx="858261" cy="153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생산원가</a:t>
            </a:r>
          </a:p>
        </p:txBody>
      </p:sp>
      <p:sp>
        <p:nvSpPr>
          <p:cNvPr id="62" name="막대"/>
          <p:cNvSpPr/>
          <p:nvPr/>
        </p:nvSpPr>
        <p:spPr>
          <a:xfrm>
            <a:off x="2194957" y="3325304"/>
            <a:ext cx="164348" cy="76696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3" name="값"/>
          <p:cNvSpPr>
            <a:spLocks noGrp="1"/>
          </p:cNvSpPr>
          <p:nvPr>
            <p:ph type="body" sz="quarter" idx="47"/>
          </p:nvPr>
        </p:nvSpPr>
        <p:spPr>
          <a:xfrm>
            <a:off x="2107304" y="3150000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56</a:t>
            </a:r>
          </a:p>
        </p:txBody>
      </p:sp>
      <p:sp>
        <p:nvSpPr>
          <p:cNvPr id="64" name="연도"/>
          <p:cNvSpPr>
            <a:spLocks noGrp="1"/>
          </p:cNvSpPr>
          <p:nvPr>
            <p:ph type="body" sz="quarter" idx="48"/>
          </p:nvPr>
        </p:nvSpPr>
        <p:spPr>
          <a:xfrm>
            <a:off x="2107304" y="3412957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65" name="막대"/>
          <p:cNvSpPr/>
          <p:nvPr/>
        </p:nvSpPr>
        <p:spPr>
          <a:xfrm>
            <a:off x="2569304" y="3237652"/>
            <a:ext cx="164348" cy="16434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6" name="값"/>
          <p:cNvSpPr>
            <a:spLocks noGrp="1"/>
          </p:cNvSpPr>
          <p:nvPr>
            <p:ph type="body" sz="quarter" idx="49"/>
          </p:nvPr>
        </p:nvSpPr>
        <p:spPr>
          <a:xfrm>
            <a:off x="2481652" y="3062348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182</a:t>
            </a:r>
          </a:p>
        </p:txBody>
      </p:sp>
      <p:sp>
        <p:nvSpPr>
          <p:cNvPr id="67" name="연도"/>
          <p:cNvSpPr>
            <a:spLocks noGrp="1"/>
          </p:cNvSpPr>
          <p:nvPr>
            <p:ph type="body" sz="quarter" idx="50"/>
          </p:nvPr>
        </p:nvSpPr>
        <p:spPr>
          <a:xfrm>
            <a:off x="2481652" y="3412957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68" name="카드"/>
          <p:cNvSpPr/>
          <p:nvPr/>
        </p:nvSpPr>
        <p:spPr>
          <a:xfrm>
            <a:off x="3064174" y="2810348"/>
            <a:ext cx="902087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9" name="카드 문구"/>
          <p:cNvSpPr>
            <a:spLocks noGrp="1"/>
          </p:cNvSpPr>
          <p:nvPr>
            <p:ph type="body" sz="quarter" idx="51"/>
          </p:nvPr>
        </p:nvSpPr>
        <p:spPr>
          <a:xfrm>
            <a:off x="3086087" y="2821304"/>
            <a:ext cx="858261" cy="153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수수료율</a:t>
            </a:r>
          </a:p>
        </p:txBody>
      </p:sp>
      <p:sp>
        <p:nvSpPr>
          <p:cNvPr id="70" name="막대"/>
          <p:cNvSpPr/>
          <p:nvPr/>
        </p:nvSpPr>
        <p:spPr>
          <a:xfrm>
            <a:off x="3140870" y="3325304"/>
            <a:ext cx="164348" cy="76696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1" name="값"/>
          <p:cNvSpPr>
            <a:spLocks noGrp="1"/>
          </p:cNvSpPr>
          <p:nvPr>
            <p:ph type="body" sz="quarter" idx="52"/>
          </p:nvPr>
        </p:nvSpPr>
        <p:spPr>
          <a:xfrm>
            <a:off x="3053217" y="3150000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8%</a:t>
            </a:r>
          </a:p>
        </p:txBody>
      </p:sp>
      <p:sp>
        <p:nvSpPr>
          <p:cNvPr id="72" name="연도"/>
          <p:cNvSpPr>
            <a:spLocks noGrp="1"/>
          </p:cNvSpPr>
          <p:nvPr>
            <p:ph type="body" sz="quarter" idx="53"/>
          </p:nvPr>
        </p:nvSpPr>
        <p:spPr>
          <a:xfrm>
            <a:off x="3053217" y="3412957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73" name="막대"/>
          <p:cNvSpPr/>
          <p:nvPr/>
        </p:nvSpPr>
        <p:spPr>
          <a:xfrm>
            <a:off x="3515217" y="3237652"/>
            <a:ext cx="164348" cy="16434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4" name="값"/>
          <p:cNvSpPr>
            <a:spLocks noGrp="1"/>
          </p:cNvSpPr>
          <p:nvPr>
            <p:ph type="body" sz="quarter" idx="54"/>
          </p:nvPr>
        </p:nvSpPr>
        <p:spPr>
          <a:xfrm>
            <a:off x="3427565" y="3062348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12%</a:t>
            </a:r>
          </a:p>
        </p:txBody>
      </p:sp>
      <p:sp>
        <p:nvSpPr>
          <p:cNvPr id="75" name="연도"/>
          <p:cNvSpPr>
            <a:spLocks noGrp="1"/>
          </p:cNvSpPr>
          <p:nvPr>
            <p:ph type="body" sz="quarter" idx="55"/>
          </p:nvPr>
        </p:nvSpPr>
        <p:spPr>
          <a:xfrm>
            <a:off x="3427565" y="3412957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76" name="카드"/>
          <p:cNvSpPr/>
          <p:nvPr/>
        </p:nvSpPr>
        <p:spPr>
          <a:xfrm>
            <a:off x="4010087" y="2810348"/>
            <a:ext cx="902087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7" name="카드 문구"/>
          <p:cNvSpPr>
            <a:spLocks noGrp="1"/>
          </p:cNvSpPr>
          <p:nvPr>
            <p:ph type="body" sz="quarter" idx="56"/>
          </p:nvPr>
        </p:nvSpPr>
        <p:spPr>
          <a:xfrm>
            <a:off x="4032000" y="2821304"/>
            <a:ext cx="858261" cy="153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유지관리비</a:t>
            </a:r>
          </a:p>
        </p:txBody>
      </p:sp>
      <p:sp>
        <p:nvSpPr>
          <p:cNvPr id="78" name="막대"/>
          <p:cNvSpPr/>
          <p:nvPr/>
        </p:nvSpPr>
        <p:spPr>
          <a:xfrm>
            <a:off x="4086783" y="3286957"/>
            <a:ext cx="164348" cy="115043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9" name="값"/>
          <p:cNvSpPr>
            <a:spLocks noGrp="1"/>
          </p:cNvSpPr>
          <p:nvPr>
            <p:ph type="body" sz="quarter" idx="57"/>
          </p:nvPr>
        </p:nvSpPr>
        <p:spPr>
          <a:xfrm>
            <a:off x="3999130" y="3111652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601</a:t>
            </a:r>
          </a:p>
        </p:txBody>
      </p:sp>
      <p:sp>
        <p:nvSpPr>
          <p:cNvPr id="80" name="연도"/>
          <p:cNvSpPr>
            <a:spLocks noGrp="1"/>
          </p:cNvSpPr>
          <p:nvPr>
            <p:ph type="body" sz="quarter" idx="58"/>
          </p:nvPr>
        </p:nvSpPr>
        <p:spPr>
          <a:xfrm>
            <a:off x="3999130" y="3412957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81" name="막대"/>
          <p:cNvSpPr/>
          <p:nvPr/>
        </p:nvSpPr>
        <p:spPr>
          <a:xfrm>
            <a:off x="4461130" y="3237652"/>
            <a:ext cx="164348" cy="16434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2" name="값"/>
          <p:cNvSpPr>
            <a:spLocks noGrp="1"/>
          </p:cNvSpPr>
          <p:nvPr>
            <p:ph type="body" sz="quarter" idx="59"/>
          </p:nvPr>
        </p:nvSpPr>
        <p:spPr>
          <a:xfrm>
            <a:off x="4373478" y="3062348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647</a:t>
            </a:r>
          </a:p>
        </p:txBody>
      </p:sp>
      <p:sp>
        <p:nvSpPr>
          <p:cNvPr id="83" name="연도"/>
          <p:cNvSpPr>
            <a:spLocks noGrp="1"/>
          </p:cNvSpPr>
          <p:nvPr>
            <p:ph type="body" sz="quarter" idx="60"/>
          </p:nvPr>
        </p:nvSpPr>
        <p:spPr>
          <a:xfrm>
            <a:off x="4373478" y="3412957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’26</a:t>
            </a:r>
          </a:p>
        </p:txBody>
      </p:sp>
      <p:sp>
        <p:nvSpPr>
          <p:cNvPr id="84" name="카드"/>
          <p:cNvSpPr/>
          <p:nvPr/>
        </p:nvSpPr>
        <p:spPr>
          <a:xfrm>
            <a:off x="4956000" y="2810348"/>
            <a:ext cx="902087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5" name="카드 문구"/>
          <p:cNvSpPr>
            <a:spLocks noGrp="1"/>
          </p:cNvSpPr>
          <p:nvPr>
            <p:ph type="body" sz="quarter" idx="61"/>
          </p:nvPr>
        </p:nvSpPr>
        <p:spPr>
          <a:xfrm>
            <a:off x="4977913" y="2821304"/>
            <a:ext cx="858261" cy="153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앙갓</a:t>
            </a:r>
          </a:p>
        </p:txBody>
      </p:sp>
      <p:sp>
        <p:nvSpPr>
          <p:cNvPr id="86" name="막대"/>
          <p:cNvSpPr/>
          <p:nvPr/>
        </p:nvSpPr>
        <p:spPr>
          <a:xfrm>
            <a:off x="5032696" y="3286957"/>
            <a:ext cx="164348" cy="115043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7" name="값"/>
          <p:cNvSpPr>
            <a:spLocks noGrp="1"/>
          </p:cNvSpPr>
          <p:nvPr>
            <p:ph type="body" sz="quarter" idx="62"/>
          </p:nvPr>
        </p:nvSpPr>
        <p:spPr>
          <a:xfrm>
            <a:off x="4945043" y="3111652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139</a:t>
            </a:r>
          </a:p>
        </p:txBody>
      </p:sp>
      <p:sp>
        <p:nvSpPr>
          <p:cNvPr id="88" name="연도"/>
          <p:cNvSpPr>
            <a:spLocks noGrp="1"/>
          </p:cNvSpPr>
          <p:nvPr>
            <p:ph type="body" sz="quarter" idx="63"/>
          </p:nvPr>
        </p:nvSpPr>
        <p:spPr>
          <a:xfrm>
            <a:off x="4945043" y="3412957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89" name="막대"/>
          <p:cNvSpPr/>
          <p:nvPr/>
        </p:nvSpPr>
        <p:spPr>
          <a:xfrm>
            <a:off x="5407043" y="3237652"/>
            <a:ext cx="164348" cy="16434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0" name="값"/>
          <p:cNvSpPr>
            <a:spLocks noGrp="1"/>
          </p:cNvSpPr>
          <p:nvPr>
            <p:ph type="body" sz="quarter" idx="64"/>
          </p:nvPr>
        </p:nvSpPr>
        <p:spPr>
          <a:xfrm>
            <a:off x="5319391" y="3062348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207</a:t>
            </a:r>
          </a:p>
        </p:txBody>
      </p:sp>
      <p:sp>
        <p:nvSpPr>
          <p:cNvPr id="91" name="연도"/>
          <p:cNvSpPr>
            <a:spLocks noGrp="1"/>
          </p:cNvSpPr>
          <p:nvPr>
            <p:ph type="body" sz="quarter" idx="65"/>
          </p:nvPr>
        </p:nvSpPr>
        <p:spPr>
          <a:xfrm>
            <a:off x="5319391" y="3412957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92" name="카드"/>
          <p:cNvSpPr/>
          <p:nvPr/>
        </p:nvSpPr>
        <p:spPr>
          <a:xfrm>
            <a:off x="5901913" y="2810348"/>
            <a:ext cx="902087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3" name="카드 문구"/>
          <p:cNvSpPr>
            <a:spLocks noGrp="1"/>
          </p:cNvSpPr>
          <p:nvPr>
            <p:ph type="body" sz="quarter" idx="66"/>
          </p:nvPr>
        </p:nvSpPr>
        <p:spPr>
          <a:xfrm>
            <a:off x="5923826" y="2821304"/>
            <a:ext cx="858261" cy="153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파트린드</a:t>
            </a:r>
          </a:p>
        </p:txBody>
      </p:sp>
      <p:sp>
        <p:nvSpPr>
          <p:cNvPr id="94" name="막대"/>
          <p:cNvSpPr/>
          <p:nvPr/>
        </p:nvSpPr>
        <p:spPr>
          <a:xfrm>
            <a:off x="5978609" y="3237652"/>
            <a:ext cx="164348" cy="164348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5" name="값"/>
          <p:cNvSpPr>
            <a:spLocks noGrp="1"/>
          </p:cNvSpPr>
          <p:nvPr>
            <p:ph type="body" sz="quarter" idx="67"/>
          </p:nvPr>
        </p:nvSpPr>
        <p:spPr>
          <a:xfrm>
            <a:off x="5890957" y="3062348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538</a:t>
            </a:r>
          </a:p>
        </p:txBody>
      </p:sp>
      <p:sp>
        <p:nvSpPr>
          <p:cNvPr id="96" name="연도"/>
          <p:cNvSpPr>
            <a:spLocks noGrp="1"/>
          </p:cNvSpPr>
          <p:nvPr>
            <p:ph type="body" sz="quarter" idx="68"/>
          </p:nvPr>
        </p:nvSpPr>
        <p:spPr>
          <a:xfrm>
            <a:off x="5890957" y="3412957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이익</a:t>
            </a:r>
          </a:p>
        </p:txBody>
      </p:sp>
      <p:sp>
        <p:nvSpPr>
          <p:cNvPr id="97" name="막대"/>
          <p:cNvSpPr/>
          <p:nvPr/>
        </p:nvSpPr>
        <p:spPr>
          <a:xfrm>
            <a:off x="6352957" y="3325304"/>
            <a:ext cx="164348" cy="7669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8" name="값"/>
          <p:cNvSpPr>
            <a:spLocks noGrp="1"/>
          </p:cNvSpPr>
          <p:nvPr>
            <p:ph type="body" sz="quarter" idx="69"/>
          </p:nvPr>
        </p:nvSpPr>
        <p:spPr>
          <a:xfrm>
            <a:off x="6265304" y="3150000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133</a:t>
            </a:r>
          </a:p>
        </p:txBody>
      </p:sp>
      <p:sp>
        <p:nvSpPr>
          <p:cNvPr id="99" name="연도"/>
          <p:cNvSpPr>
            <a:spLocks noGrp="1"/>
          </p:cNvSpPr>
          <p:nvPr>
            <p:ph type="body" sz="quarter" idx="70"/>
          </p:nvPr>
        </p:nvSpPr>
        <p:spPr>
          <a:xfrm>
            <a:off x="6265304" y="3412957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배당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32 서사 · 현금흐름 안정성 제고(추진배경 → 총사업비 · 투자-현금흐름 · 차입 만기 → B.P 재무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</a:t>
            </a:r>
          </a:p>
        </p:txBody>
      </p:sp>
      <p:sp>
        <p:nvSpPr>
          <p:cNvPr id="10" name="분야 박스"/>
          <p:cNvSpPr/>
          <p:nvPr/>
        </p:nvSpPr>
        <p:spPr>
          <a:xfrm>
            <a:off x="952651" y="810783"/>
            <a:ext cx="592466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1" name="분야 박스"/>
          <p:cNvSpPr>
            <a:spLocks noGrp="1"/>
          </p:cNvSpPr>
          <p:nvPr>
            <p:ph type="body" sz="quarter" idx="21"/>
          </p:nvPr>
        </p:nvSpPr>
        <p:spPr>
          <a:xfrm>
            <a:off x="952651" y="810783"/>
            <a:ext cx="59246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현금흐름</a:t>
            </a:r>
          </a:p>
        </p:txBody>
      </p:sp>
      <p:sp>
        <p:nvSpPr>
          <p:cNvPr id="12" name="형광 밑줄"/>
          <p:cNvSpPr/>
          <p:nvPr/>
        </p:nvSpPr>
        <p:spPr>
          <a:xfrm>
            <a:off x="1610856" y="931304"/>
            <a:ext cx="3262282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3" name="소제목"/>
          <p:cNvSpPr>
            <a:spLocks noGrp="1"/>
          </p:cNvSpPr>
          <p:nvPr>
            <p:ph type="body" sz="quarter" idx="22"/>
          </p:nvPr>
        </p:nvSpPr>
        <p:spPr>
          <a:xfrm>
            <a:off x="1610856" y="777913"/>
            <a:ext cx="5412275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현금흐름 안정성 제고로 중장기 재무리스크 선제적 관리</a:t>
            </a:r>
          </a:p>
        </p:txBody>
      </p:sp>
      <p:sp>
        <p:nvSpPr>
          <p:cNvPr id="14" name="태그칩"/>
          <p:cNvSpPr/>
          <p:nvPr/>
        </p:nvSpPr>
        <p:spPr>
          <a:xfrm>
            <a:off x="4971746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3"/>
          </p:nvPr>
        </p:nvSpPr>
        <p:spPr>
          <a:xfrm>
            <a:off x="4971746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표 외곽"/>
          <p:cNvSpPr/>
          <p:nvPr/>
        </p:nvSpPr>
        <p:spPr>
          <a:xfrm>
            <a:off x="723130" y="1062783"/>
            <a:ext cx="6300000" cy="129834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734087" y="1079217"/>
            <a:ext cx="580696" cy="26843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4"/>
          </p:nvPr>
        </p:nvSpPr>
        <p:spPr>
          <a:xfrm>
            <a:off x="734087" y="1079217"/>
            <a:ext cx="580696" cy="268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5"/>
          </p:nvPr>
        </p:nvSpPr>
        <p:spPr>
          <a:xfrm>
            <a:off x="1358609" y="1101130"/>
            <a:ext cx="5626174" cy="241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대규모 자본 투자·장기 회수로 초기 투자 의사결정 및 자금조달·상환 관리 중요</a:t>
            </a:r>
          </a:p>
        </p:txBody>
      </p:sp>
      <p:sp>
        <p:nvSpPr>
          <p:cNvPr id="20" name="레일"/>
          <p:cNvSpPr/>
          <p:nvPr/>
        </p:nvSpPr>
        <p:spPr>
          <a:xfrm>
            <a:off x="734087" y="1364087"/>
            <a:ext cx="580696" cy="980609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6"/>
          </p:nvPr>
        </p:nvSpPr>
        <p:spPr>
          <a:xfrm>
            <a:off x="734087" y="1364087"/>
            <a:ext cx="580696" cy="980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추진내용</a:t>
            </a:r>
          </a:p>
        </p:txBody>
      </p:sp>
      <p:sp>
        <p:nvSpPr>
          <p:cNvPr id="22" name="레일 삼각형"/>
          <p:cNvSpPr/>
          <p:nvPr/>
        </p:nvSpPr>
        <p:spPr>
          <a:xfrm>
            <a:off x="734086" y="1364086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3" name="머리칸"/>
          <p:cNvSpPr/>
          <p:nvPr/>
        </p:nvSpPr>
        <p:spPr>
          <a:xfrm>
            <a:off x="1347652" y="138600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4" name="머리칸"/>
          <p:cNvSpPr>
            <a:spLocks noGrp="1"/>
          </p:cNvSpPr>
          <p:nvPr>
            <p:ph type="body" sz="quarter" idx="27"/>
          </p:nvPr>
        </p:nvSpPr>
        <p:spPr>
          <a:xfrm>
            <a:off x="1347652" y="138600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총사업비 최적화</a:t>
            </a:r>
          </a:p>
        </p:txBody>
      </p:sp>
      <p:sp>
        <p:nvSpPr>
          <p:cNvPr id="25" name="머리칸"/>
          <p:cNvSpPr/>
          <p:nvPr/>
        </p:nvSpPr>
        <p:spPr>
          <a:xfrm>
            <a:off x="3230348" y="138600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6" name="머리칸"/>
          <p:cNvSpPr>
            <a:spLocks noGrp="1"/>
          </p:cNvSpPr>
          <p:nvPr>
            <p:ph type="body" sz="quarter" idx="28"/>
          </p:nvPr>
        </p:nvSpPr>
        <p:spPr>
          <a:xfrm>
            <a:off x="3230348" y="138600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투자-현금흐름 연계 관리</a:t>
            </a:r>
          </a:p>
        </p:txBody>
      </p:sp>
      <p:sp>
        <p:nvSpPr>
          <p:cNvPr id="27" name="머리칸"/>
          <p:cNvSpPr/>
          <p:nvPr/>
        </p:nvSpPr>
        <p:spPr>
          <a:xfrm>
            <a:off x="5113043" y="138600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8" name="머리칸"/>
          <p:cNvSpPr>
            <a:spLocks noGrp="1"/>
          </p:cNvSpPr>
          <p:nvPr>
            <p:ph type="body" sz="quarter" idx="29"/>
          </p:nvPr>
        </p:nvSpPr>
        <p:spPr>
          <a:xfrm>
            <a:off x="5113043" y="138600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신규 차입 만기 조정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0"/>
          </p:nvPr>
        </p:nvSpPr>
        <p:spPr>
          <a:xfrm>
            <a:off x="1358609" y="1627043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투자 효율성 강화를 위해 계획단계부터 사업비 절감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조정심사 566억원 절감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1"/>
          </p:nvPr>
        </p:nvSpPr>
        <p:spPr>
          <a:xfrm>
            <a:off x="3241304" y="1627043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투자 조정 시 중장기 투자계획 연계 현금흐름 영향 분석 의무화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투자심사 사전 검토항목 제도화</a:t>
            </a:r>
          </a:p>
        </p:txBody>
      </p:sp>
      <p:cxnSp>
        <p:nvCxnSpPr>
          <p:cNvPr id="31" name="Connector 18"/>
          <p:cNvCxnSpPr/>
          <p:nvPr/>
        </p:nvCxnSpPr>
        <p:spPr>
          <a:xfrm>
            <a:off x="3230348" y="1659913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2" name="칸 본문"/>
          <p:cNvSpPr>
            <a:spLocks noGrp="1"/>
          </p:cNvSpPr>
          <p:nvPr>
            <p:ph type="body" sz="quarter" idx="32"/>
          </p:nvPr>
        </p:nvSpPr>
        <p:spPr>
          <a:xfrm>
            <a:off x="5124000" y="1627043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투자~회수 장기간 소요 고려 수공채 장기물 발행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평균만기 3.8년(’24) → 6.9년(’25)</a:t>
            </a:r>
          </a:p>
        </p:txBody>
      </p:sp>
      <p:cxnSp>
        <p:nvCxnSpPr>
          <p:cNvPr id="33" name="Connector 20"/>
          <p:cNvCxnSpPr/>
          <p:nvPr/>
        </p:nvCxnSpPr>
        <p:spPr>
          <a:xfrm>
            <a:off x="5113043" y="1659913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4" name="틀"/>
          <p:cNvSpPr/>
          <p:nvPr/>
        </p:nvSpPr>
        <p:spPr>
          <a:xfrm>
            <a:off x="723130" y="2426870"/>
            <a:ext cx="6300000" cy="1051826"/>
          </a:xfrm>
          <a:prstGeom prst="rect">
            <a:avLst/>
          </a:prstGeom>
          <a:solidFill>
            <a:srgbClr val="FFFFFF"/>
          </a:solidFill>
          <a:ln w="12700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5" name="성과 라벨"/>
          <p:cNvSpPr/>
          <p:nvPr/>
        </p:nvSpPr>
        <p:spPr>
          <a:xfrm>
            <a:off x="734087" y="2437826"/>
            <a:ext cx="580696" cy="1029913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36" name="성과 라벨"/>
          <p:cNvSpPr>
            <a:spLocks noGrp="1"/>
          </p:cNvSpPr>
          <p:nvPr>
            <p:ph type="body" sz="quarter" idx="33"/>
          </p:nvPr>
        </p:nvSpPr>
        <p:spPr>
          <a:xfrm>
            <a:off x="734087" y="2437826"/>
            <a:ext cx="580696" cy="10299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재무성과</a:t>
            </a:r>
          </a:p>
        </p:txBody>
      </p:sp>
      <p:sp>
        <p:nvSpPr>
          <p:cNvPr id="37" name="성과 띠"/>
          <p:cNvSpPr/>
          <p:nvPr/>
        </p:nvSpPr>
        <p:spPr>
          <a:xfrm>
            <a:off x="1358609" y="2459739"/>
            <a:ext cx="5631652" cy="20817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38" name="성과 띠"/>
          <p:cNvSpPr>
            <a:spLocks noGrp="1"/>
          </p:cNvSpPr>
          <p:nvPr>
            <p:ph type="body" sz="quarter" idx="34"/>
          </p:nvPr>
        </p:nvSpPr>
        <p:spPr>
          <a:xfrm>
            <a:off x="1358609" y="2459739"/>
            <a:ext cx="5631652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전사적 재무개선 노력을 통해 4개 핵심성과 全 재무지표 목표 초과 달성!</a:t>
            </a:r>
          </a:p>
        </p:txBody>
      </p:sp>
      <p:sp>
        <p:nvSpPr>
          <p:cNvPr id="39" name="카드"/>
          <p:cNvSpPr/>
          <p:nvPr/>
        </p:nvSpPr>
        <p:spPr>
          <a:xfrm>
            <a:off x="1358609" y="2700783"/>
            <a:ext cx="1375043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0" name="카드 문구"/>
          <p:cNvSpPr>
            <a:spLocks noGrp="1"/>
          </p:cNvSpPr>
          <p:nvPr>
            <p:ph type="body" sz="quarter" idx="35"/>
          </p:nvPr>
        </p:nvSpPr>
        <p:spPr>
          <a:xfrm>
            <a:off x="1380522" y="2711739"/>
            <a:ext cx="1331217" cy="153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매출액</a:t>
            </a:r>
          </a:p>
        </p:txBody>
      </p:sp>
      <p:sp>
        <p:nvSpPr>
          <p:cNvPr id="41" name="막대"/>
          <p:cNvSpPr/>
          <p:nvPr/>
        </p:nvSpPr>
        <p:spPr>
          <a:xfrm>
            <a:off x="1435304" y="3144522"/>
            <a:ext cx="164348" cy="147913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2" name="값"/>
          <p:cNvSpPr>
            <a:spLocks noGrp="1"/>
          </p:cNvSpPr>
          <p:nvPr>
            <p:ph type="body" sz="quarter" idx="36"/>
          </p:nvPr>
        </p:nvSpPr>
        <p:spPr>
          <a:xfrm>
            <a:off x="1347652" y="2969217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4.8</a:t>
            </a:r>
          </a:p>
        </p:txBody>
      </p:sp>
      <p:sp>
        <p:nvSpPr>
          <p:cNvPr id="43" name="연도"/>
          <p:cNvSpPr>
            <a:spLocks noGrp="1"/>
          </p:cNvSpPr>
          <p:nvPr>
            <p:ph type="body" sz="quarter" idx="37"/>
          </p:nvPr>
        </p:nvSpPr>
        <p:spPr>
          <a:xfrm>
            <a:off x="1347652" y="3303391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목표</a:t>
            </a:r>
          </a:p>
        </p:txBody>
      </p:sp>
      <p:sp>
        <p:nvSpPr>
          <p:cNvPr id="44" name="막대"/>
          <p:cNvSpPr/>
          <p:nvPr/>
        </p:nvSpPr>
        <p:spPr>
          <a:xfrm>
            <a:off x="2046130" y="3128087"/>
            <a:ext cx="164348" cy="16434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5" name="값"/>
          <p:cNvSpPr>
            <a:spLocks noGrp="1"/>
          </p:cNvSpPr>
          <p:nvPr>
            <p:ph type="body" sz="quarter" idx="38"/>
          </p:nvPr>
        </p:nvSpPr>
        <p:spPr>
          <a:xfrm>
            <a:off x="1958478" y="2952783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4.9</a:t>
            </a:r>
          </a:p>
        </p:txBody>
      </p:sp>
      <p:sp>
        <p:nvSpPr>
          <p:cNvPr id="46" name="연도"/>
          <p:cNvSpPr>
            <a:spLocks noGrp="1"/>
          </p:cNvSpPr>
          <p:nvPr>
            <p:ph type="body" sz="quarter" idx="39"/>
          </p:nvPr>
        </p:nvSpPr>
        <p:spPr>
          <a:xfrm>
            <a:off x="1958478" y="3303391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실적</a:t>
            </a:r>
          </a:p>
        </p:txBody>
      </p:sp>
      <p:sp>
        <p:nvSpPr>
          <p:cNvPr id="47" name="카드"/>
          <p:cNvSpPr/>
          <p:nvPr/>
        </p:nvSpPr>
        <p:spPr>
          <a:xfrm>
            <a:off x="2777478" y="2700783"/>
            <a:ext cx="1375043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8" name="카드 문구"/>
          <p:cNvSpPr>
            <a:spLocks noGrp="1"/>
          </p:cNvSpPr>
          <p:nvPr>
            <p:ph type="body" sz="quarter" idx="40"/>
          </p:nvPr>
        </p:nvSpPr>
        <p:spPr>
          <a:xfrm>
            <a:off x="2799391" y="2711739"/>
            <a:ext cx="1331217" cy="153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영업이익</a:t>
            </a:r>
          </a:p>
        </p:txBody>
      </p:sp>
      <p:sp>
        <p:nvSpPr>
          <p:cNvPr id="49" name="막대"/>
          <p:cNvSpPr/>
          <p:nvPr/>
        </p:nvSpPr>
        <p:spPr>
          <a:xfrm>
            <a:off x="2854174" y="3177391"/>
            <a:ext cx="164348" cy="115043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0" name="값"/>
          <p:cNvSpPr>
            <a:spLocks noGrp="1"/>
          </p:cNvSpPr>
          <p:nvPr>
            <p:ph type="body" sz="quarter" idx="41"/>
          </p:nvPr>
        </p:nvSpPr>
        <p:spPr>
          <a:xfrm>
            <a:off x="2766522" y="3002087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1869</a:t>
            </a:r>
          </a:p>
        </p:txBody>
      </p:sp>
      <p:sp>
        <p:nvSpPr>
          <p:cNvPr id="51" name="연도"/>
          <p:cNvSpPr>
            <a:spLocks noGrp="1"/>
          </p:cNvSpPr>
          <p:nvPr>
            <p:ph type="body" sz="quarter" idx="42"/>
          </p:nvPr>
        </p:nvSpPr>
        <p:spPr>
          <a:xfrm>
            <a:off x="2766522" y="3303391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목표</a:t>
            </a:r>
          </a:p>
        </p:txBody>
      </p:sp>
      <p:sp>
        <p:nvSpPr>
          <p:cNvPr id="52" name="막대"/>
          <p:cNvSpPr/>
          <p:nvPr/>
        </p:nvSpPr>
        <p:spPr>
          <a:xfrm>
            <a:off x="3465000" y="3128087"/>
            <a:ext cx="164348" cy="16434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3" name="값"/>
          <p:cNvSpPr>
            <a:spLocks noGrp="1"/>
          </p:cNvSpPr>
          <p:nvPr>
            <p:ph type="body" sz="quarter" idx="43"/>
          </p:nvPr>
        </p:nvSpPr>
        <p:spPr>
          <a:xfrm>
            <a:off x="3377348" y="2952783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2239</a:t>
            </a:r>
          </a:p>
        </p:txBody>
      </p:sp>
      <p:sp>
        <p:nvSpPr>
          <p:cNvPr id="54" name="연도"/>
          <p:cNvSpPr>
            <a:spLocks noGrp="1"/>
          </p:cNvSpPr>
          <p:nvPr>
            <p:ph type="body" sz="quarter" idx="44"/>
          </p:nvPr>
        </p:nvSpPr>
        <p:spPr>
          <a:xfrm>
            <a:off x="3377348" y="3303391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실적</a:t>
            </a:r>
          </a:p>
        </p:txBody>
      </p:sp>
      <p:sp>
        <p:nvSpPr>
          <p:cNvPr id="55" name="카드"/>
          <p:cNvSpPr/>
          <p:nvPr/>
        </p:nvSpPr>
        <p:spPr>
          <a:xfrm>
            <a:off x="4196348" y="2700783"/>
            <a:ext cx="1375043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6" name="카드 문구"/>
          <p:cNvSpPr>
            <a:spLocks noGrp="1"/>
          </p:cNvSpPr>
          <p:nvPr>
            <p:ph type="body" sz="quarter" idx="45"/>
          </p:nvPr>
        </p:nvSpPr>
        <p:spPr>
          <a:xfrm>
            <a:off x="4218261" y="2711739"/>
            <a:ext cx="1331217" cy="153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부채비율</a:t>
            </a:r>
          </a:p>
        </p:txBody>
      </p:sp>
      <p:sp>
        <p:nvSpPr>
          <p:cNvPr id="57" name="막대"/>
          <p:cNvSpPr/>
          <p:nvPr/>
        </p:nvSpPr>
        <p:spPr>
          <a:xfrm>
            <a:off x="4273043" y="3128087"/>
            <a:ext cx="164348" cy="164348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8" name="값"/>
          <p:cNvSpPr>
            <a:spLocks noGrp="1"/>
          </p:cNvSpPr>
          <p:nvPr>
            <p:ph type="body" sz="quarter" idx="46"/>
          </p:nvPr>
        </p:nvSpPr>
        <p:spPr>
          <a:xfrm>
            <a:off x="4185391" y="2952783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98.1%</a:t>
            </a:r>
          </a:p>
        </p:txBody>
      </p:sp>
      <p:sp>
        <p:nvSpPr>
          <p:cNvPr id="59" name="연도"/>
          <p:cNvSpPr>
            <a:spLocks noGrp="1"/>
          </p:cNvSpPr>
          <p:nvPr>
            <p:ph type="body" sz="quarter" idx="47"/>
          </p:nvPr>
        </p:nvSpPr>
        <p:spPr>
          <a:xfrm>
            <a:off x="4185391" y="3303391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목표</a:t>
            </a:r>
          </a:p>
        </p:txBody>
      </p:sp>
      <p:sp>
        <p:nvSpPr>
          <p:cNvPr id="60" name="막대"/>
          <p:cNvSpPr/>
          <p:nvPr/>
        </p:nvSpPr>
        <p:spPr>
          <a:xfrm>
            <a:off x="4883870" y="3144522"/>
            <a:ext cx="164348" cy="147913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1" name="값"/>
          <p:cNvSpPr>
            <a:spLocks noGrp="1"/>
          </p:cNvSpPr>
          <p:nvPr>
            <p:ph type="body" sz="quarter" idx="48"/>
          </p:nvPr>
        </p:nvSpPr>
        <p:spPr>
          <a:xfrm>
            <a:off x="4796217" y="2969217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92.7%</a:t>
            </a:r>
          </a:p>
        </p:txBody>
      </p:sp>
      <p:sp>
        <p:nvSpPr>
          <p:cNvPr id="62" name="연도"/>
          <p:cNvSpPr>
            <a:spLocks noGrp="1"/>
          </p:cNvSpPr>
          <p:nvPr>
            <p:ph type="body" sz="quarter" idx="49"/>
          </p:nvPr>
        </p:nvSpPr>
        <p:spPr>
          <a:xfrm>
            <a:off x="4796217" y="3303391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실적</a:t>
            </a:r>
          </a:p>
        </p:txBody>
      </p:sp>
      <p:sp>
        <p:nvSpPr>
          <p:cNvPr id="63" name="카드"/>
          <p:cNvSpPr/>
          <p:nvPr/>
        </p:nvSpPr>
        <p:spPr>
          <a:xfrm>
            <a:off x="5615217" y="2700783"/>
            <a:ext cx="1375043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4" name="카드 문구"/>
          <p:cNvSpPr>
            <a:spLocks noGrp="1"/>
          </p:cNvSpPr>
          <p:nvPr>
            <p:ph type="body" sz="quarter" idx="50"/>
          </p:nvPr>
        </p:nvSpPr>
        <p:spPr>
          <a:xfrm>
            <a:off x="5637130" y="2711739"/>
            <a:ext cx="1331217" cy="153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순차입금/EBITDA</a:t>
            </a:r>
          </a:p>
        </p:txBody>
      </p:sp>
      <p:sp>
        <p:nvSpPr>
          <p:cNvPr id="65" name="막대"/>
          <p:cNvSpPr/>
          <p:nvPr/>
        </p:nvSpPr>
        <p:spPr>
          <a:xfrm>
            <a:off x="5691913" y="3128087"/>
            <a:ext cx="164348" cy="164348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6" name="값"/>
          <p:cNvSpPr>
            <a:spLocks noGrp="1"/>
          </p:cNvSpPr>
          <p:nvPr>
            <p:ph type="body" sz="quarter" idx="51"/>
          </p:nvPr>
        </p:nvSpPr>
        <p:spPr>
          <a:xfrm>
            <a:off x="5604261" y="2952783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6.6</a:t>
            </a:r>
          </a:p>
        </p:txBody>
      </p:sp>
      <p:sp>
        <p:nvSpPr>
          <p:cNvPr id="67" name="연도"/>
          <p:cNvSpPr>
            <a:spLocks noGrp="1"/>
          </p:cNvSpPr>
          <p:nvPr>
            <p:ph type="body" sz="quarter" idx="52"/>
          </p:nvPr>
        </p:nvSpPr>
        <p:spPr>
          <a:xfrm>
            <a:off x="5604261" y="3303391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목표</a:t>
            </a:r>
          </a:p>
        </p:txBody>
      </p:sp>
      <p:sp>
        <p:nvSpPr>
          <p:cNvPr id="68" name="막대"/>
          <p:cNvSpPr/>
          <p:nvPr/>
        </p:nvSpPr>
        <p:spPr>
          <a:xfrm>
            <a:off x="6302739" y="3152739"/>
            <a:ext cx="164348" cy="13969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9" name="값"/>
          <p:cNvSpPr>
            <a:spLocks noGrp="1"/>
          </p:cNvSpPr>
          <p:nvPr>
            <p:ph type="body" sz="quarter" idx="53"/>
          </p:nvPr>
        </p:nvSpPr>
        <p:spPr>
          <a:xfrm>
            <a:off x="6215087" y="2977435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5.8</a:t>
            </a:r>
          </a:p>
        </p:txBody>
      </p:sp>
      <p:sp>
        <p:nvSpPr>
          <p:cNvPr id="70" name="연도"/>
          <p:cNvSpPr>
            <a:spLocks noGrp="1"/>
          </p:cNvSpPr>
          <p:nvPr>
            <p:ph type="body" sz="quarter" idx="54"/>
          </p:nvPr>
        </p:nvSpPr>
        <p:spPr>
          <a:xfrm>
            <a:off x="6215087" y="3303391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실적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33 서사 · 중장기(’25~’29) 재무계획 수립(비전 → 환경분석 SWOT → 시사점 → 기본방향 → 중점사항 → 재무목표 → 이행점검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전략목표·국정과제 실현을 위한 중장기(’25~’29년) 재무계획 수립</a:t>
            </a:r>
          </a:p>
        </p:txBody>
      </p:sp>
      <p:sp>
        <p:nvSpPr>
          <p:cNvPr id="15" name="형광 밑줄"/>
          <p:cNvSpPr/>
          <p:nvPr/>
        </p:nvSpPr>
        <p:spPr>
          <a:xfrm>
            <a:off x="536870" y="1347652"/>
            <a:ext cx="4135443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소제목"/>
          <p:cNvSpPr>
            <a:spLocks noGrp="1"/>
          </p:cNvSpPr>
          <p:nvPr>
            <p:ph type="body" sz="quarter" idx="22"/>
          </p:nvPr>
        </p:nvSpPr>
        <p:spPr>
          <a:xfrm>
            <a:off x="536870" y="1194261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정책 연계 투자, 일정 수준 수익성 및 안정성 구현으로 공기업 책임 실현</a:t>
            </a:r>
          </a:p>
        </p:txBody>
      </p:sp>
      <p:sp>
        <p:nvSpPr>
          <p:cNvPr id="17" name="태그칩"/>
          <p:cNvSpPr/>
          <p:nvPr/>
        </p:nvSpPr>
        <p:spPr>
          <a:xfrm>
            <a:off x="4770922" y="1227130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태그칩"/>
          <p:cNvSpPr>
            <a:spLocks noGrp="1"/>
          </p:cNvSpPr>
          <p:nvPr>
            <p:ph type="body" sz="quarter" idx="23"/>
          </p:nvPr>
        </p:nvSpPr>
        <p:spPr>
          <a:xfrm>
            <a:off x="4770922" y="1227130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9" name="표 외곽"/>
          <p:cNvSpPr/>
          <p:nvPr/>
        </p:nvSpPr>
        <p:spPr>
          <a:xfrm>
            <a:off x="536870" y="1479130"/>
            <a:ext cx="6300000" cy="262690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0" name="레일"/>
          <p:cNvSpPr/>
          <p:nvPr/>
        </p:nvSpPr>
        <p:spPr>
          <a:xfrm>
            <a:off x="547826" y="1495565"/>
            <a:ext cx="580696" cy="2534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4"/>
          </p:nvPr>
        </p:nvSpPr>
        <p:spPr>
          <a:xfrm>
            <a:off x="547826" y="1495565"/>
            <a:ext cx="580696" cy="2534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비 전</a:t>
            </a:r>
          </a:p>
        </p:txBody>
      </p:sp>
      <p:sp>
        <p:nvSpPr>
          <p:cNvPr id="22" name="배너"/>
          <p:cNvSpPr/>
          <p:nvPr/>
        </p:nvSpPr>
        <p:spPr>
          <a:xfrm>
            <a:off x="1161391" y="1517478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3" name="배너"/>
          <p:cNvSpPr>
            <a:spLocks noGrp="1"/>
          </p:cNvSpPr>
          <p:nvPr>
            <p:ph type="body" sz="quarter" idx="25"/>
          </p:nvPr>
        </p:nvSpPr>
        <p:spPr>
          <a:xfrm>
            <a:off x="1161391" y="1517478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기후위기를 극복하는 AI 물관리 세계1위 기업</a:t>
            </a:r>
          </a:p>
        </p:txBody>
      </p:sp>
      <p:sp>
        <p:nvSpPr>
          <p:cNvPr id="24" name="레일"/>
          <p:cNvSpPr/>
          <p:nvPr/>
        </p:nvSpPr>
        <p:spPr>
          <a:xfrm>
            <a:off x="547826" y="1765409"/>
            <a:ext cx="580696" cy="38488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5" name="레일"/>
          <p:cNvSpPr>
            <a:spLocks noGrp="1"/>
          </p:cNvSpPr>
          <p:nvPr>
            <p:ph type="body" sz="quarter" idx="26"/>
          </p:nvPr>
        </p:nvSpPr>
        <p:spPr>
          <a:xfrm>
            <a:off x="547826" y="1765409"/>
            <a:ext cx="580696" cy="3848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전략목표</a:t>
            </a:r>
          </a:p>
        </p:txBody>
      </p:sp>
      <p:sp>
        <p:nvSpPr>
          <p:cNvPr id="26" name="레일 삼각형"/>
          <p:cNvSpPr/>
          <p:nvPr/>
        </p:nvSpPr>
        <p:spPr>
          <a:xfrm>
            <a:off x="547826" y="1765408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7" name="배너"/>
          <p:cNvSpPr/>
          <p:nvPr/>
        </p:nvSpPr>
        <p:spPr>
          <a:xfrm>
            <a:off x="1161391" y="1787322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8" name="배너"/>
          <p:cNvSpPr>
            <a:spLocks noGrp="1"/>
          </p:cNvSpPr>
          <p:nvPr>
            <p:ph type="body" sz="quarter" idx="27"/>
          </p:nvPr>
        </p:nvSpPr>
        <p:spPr>
          <a:xfrm>
            <a:off x="1161391" y="1787322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새로운 물의 시대를 개척하는 기후위기 대응 솔루션 구현</a:t>
            </a:r>
          </a:p>
        </p:txBody>
      </p:sp>
      <p:sp>
        <p:nvSpPr>
          <p:cNvPr id="29" name="레일"/>
          <p:cNvSpPr/>
          <p:nvPr/>
        </p:nvSpPr>
        <p:spPr>
          <a:xfrm>
            <a:off x="547826" y="2166730"/>
            <a:ext cx="580696" cy="1309304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0" name="레일"/>
          <p:cNvSpPr>
            <a:spLocks noGrp="1"/>
          </p:cNvSpPr>
          <p:nvPr>
            <p:ph type="body" sz="quarter" idx="28"/>
          </p:nvPr>
        </p:nvSpPr>
        <p:spPr>
          <a:xfrm>
            <a:off x="547826" y="2166730"/>
            <a:ext cx="580696" cy="1309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환경분석</a:t>
            </a:r>
          </a:p>
        </p:txBody>
      </p:sp>
      <p:sp>
        <p:nvSpPr>
          <p:cNvPr id="31" name="머리칸"/>
          <p:cNvSpPr/>
          <p:nvPr/>
        </p:nvSpPr>
        <p:spPr>
          <a:xfrm>
            <a:off x="1161391" y="218864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2" name="머리칸"/>
          <p:cNvSpPr>
            <a:spLocks noGrp="1"/>
          </p:cNvSpPr>
          <p:nvPr>
            <p:ph type="body" sz="quarter" idx="29"/>
          </p:nvPr>
        </p:nvSpPr>
        <p:spPr>
          <a:xfrm>
            <a:off x="1161391" y="218864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S · O (강점·기회)</a:t>
            </a:r>
          </a:p>
        </p:txBody>
      </p:sp>
      <p:sp>
        <p:nvSpPr>
          <p:cNvPr id="33" name="머리칸"/>
          <p:cNvSpPr/>
          <p:nvPr/>
        </p:nvSpPr>
        <p:spPr>
          <a:xfrm>
            <a:off x="3985435" y="218864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4" name="머리칸"/>
          <p:cNvSpPr>
            <a:spLocks noGrp="1"/>
          </p:cNvSpPr>
          <p:nvPr>
            <p:ph type="body" sz="quarter" idx="30"/>
          </p:nvPr>
        </p:nvSpPr>
        <p:spPr>
          <a:xfrm>
            <a:off x="3985435" y="218864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W · T (약점·위기)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1"/>
          </p:nvPr>
        </p:nvSpPr>
        <p:spPr>
          <a:xfrm>
            <a:off x="1172348" y="2429687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강점 물관리 역량, AI 물관리 원천 기술 / AI정수장, DT 해외진출 등 글로벌 협력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기회 정책 투자 마중물 역할 수행 필요 / 첨단산단지원, 재생e, AI 투자 확대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2"/>
          </p:nvPr>
        </p:nvSpPr>
        <p:spPr>
          <a:xfrm>
            <a:off x="3996391" y="2429687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약점 시설 노후화로 투자 수요 증가 및 유지 부담 / 장기 요금동결로 광역(상)사업 손실 전환(’23년~)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위기 공공부문 재무건전성 확보 요구 / 국민부담 완화를 위한 공공요금 동결 기조</a:t>
            </a:r>
          </a:p>
        </p:txBody>
      </p:sp>
      <p:cxnSp>
        <p:nvCxnSpPr>
          <p:cNvPr id="37" name="Connector 25"/>
          <p:cNvCxnSpPr/>
          <p:nvPr/>
        </p:nvCxnSpPr>
        <p:spPr>
          <a:xfrm>
            <a:off x="3985435" y="2462557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8" name="레일"/>
          <p:cNvSpPr/>
          <p:nvPr/>
        </p:nvSpPr>
        <p:spPr>
          <a:xfrm>
            <a:off x="547826" y="3492470"/>
            <a:ext cx="580696" cy="597130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9" name="레일"/>
          <p:cNvSpPr>
            <a:spLocks noGrp="1"/>
          </p:cNvSpPr>
          <p:nvPr>
            <p:ph type="body" sz="quarter" idx="33"/>
          </p:nvPr>
        </p:nvSpPr>
        <p:spPr>
          <a:xfrm>
            <a:off x="547826" y="3492470"/>
            <a:ext cx="580696" cy="597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 사 점</a:t>
            </a:r>
          </a:p>
        </p:txBody>
      </p:sp>
      <p:sp>
        <p:nvSpPr>
          <p:cNvPr id="40" name="레일 삼각형"/>
          <p:cNvSpPr/>
          <p:nvPr/>
        </p:nvSpPr>
        <p:spPr>
          <a:xfrm>
            <a:off x="547826" y="3492469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1" name="칸 본문"/>
          <p:cNvSpPr>
            <a:spLocks noGrp="1"/>
          </p:cNvSpPr>
          <p:nvPr>
            <p:ph type="body" sz="quarter" idx="34"/>
          </p:nvPr>
        </p:nvSpPr>
        <p:spPr>
          <a:xfrm>
            <a:off x="1172348" y="3514383"/>
            <a:ext cx="1860783" cy="569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정책 연계 新성장 사업 투자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35"/>
          </p:nvPr>
        </p:nvSpPr>
        <p:spPr>
          <a:xfrm>
            <a:off x="3055043" y="3514383"/>
            <a:ext cx="1860783" cy="569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필수사업 수익성 개선</a:t>
            </a:r>
          </a:p>
        </p:txBody>
      </p:sp>
      <p:cxnSp>
        <p:nvCxnSpPr>
          <p:cNvPr id="43" name="Connector 30"/>
          <p:cNvCxnSpPr/>
          <p:nvPr/>
        </p:nvCxnSpPr>
        <p:spPr>
          <a:xfrm>
            <a:off x="3044087" y="3547252"/>
            <a:ext cx="0" cy="50400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4" name="칸 본문"/>
          <p:cNvSpPr>
            <a:spLocks noGrp="1"/>
          </p:cNvSpPr>
          <p:nvPr>
            <p:ph type="body" sz="quarter" idx="36"/>
          </p:nvPr>
        </p:nvSpPr>
        <p:spPr>
          <a:xfrm>
            <a:off x="4937739" y="3514383"/>
            <a:ext cx="1860783" cy="569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재무건전성 유지</a:t>
            </a:r>
          </a:p>
        </p:txBody>
      </p:sp>
      <p:cxnSp>
        <p:nvCxnSpPr>
          <p:cNvPr id="45" name="Connector 32"/>
          <p:cNvCxnSpPr/>
          <p:nvPr/>
        </p:nvCxnSpPr>
        <p:spPr>
          <a:xfrm>
            <a:off x="4926783" y="3547252"/>
            <a:ext cx="0" cy="50400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6" name="표 외곽"/>
          <p:cNvSpPr/>
          <p:nvPr/>
        </p:nvSpPr>
        <p:spPr>
          <a:xfrm>
            <a:off x="536870" y="4149861"/>
            <a:ext cx="6300000" cy="391288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7" name="레일"/>
          <p:cNvSpPr/>
          <p:nvPr/>
        </p:nvSpPr>
        <p:spPr>
          <a:xfrm>
            <a:off x="547826" y="4166296"/>
            <a:ext cx="580696" cy="2534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8" name="레일"/>
          <p:cNvSpPr>
            <a:spLocks noGrp="1"/>
          </p:cNvSpPr>
          <p:nvPr>
            <p:ph type="body" sz="quarter" idx="37"/>
          </p:nvPr>
        </p:nvSpPr>
        <p:spPr>
          <a:xfrm>
            <a:off x="547826" y="4166296"/>
            <a:ext cx="580696" cy="2534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기본방향</a:t>
            </a:r>
          </a:p>
        </p:txBody>
      </p:sp>
      <p:sp>
        <p:nvSpPr>
          <p:cNvPr id="49" name="배너"/>
          <p:cNvSpPr/>
          <p:nvPr/>
        </p:nvSpPr>
        <p:spPr>
          <a:xfrm>
            <a:off x="1161391" y="4188209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50" name="배너"/>
          <p:cNvSpPr>
            <a:spLocks noGrp="1"/>
          </p:cNvSpPr>
          <p:nvPr>
            <p:ph type="body" sz="quarter" idx="38"/>
          </p:nvPr>
        </p:nvSpPr>
        <p:spPr>
          <a:xfrm>
            <a:off x="1161391" y="4188209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‘미래성장 투자 확대’ + ‘투자재원 확보를 위한 수익성 강화’ 노력 병행</a:t>
            </a:r>
          </a:p>
        </p:txBody>
      </p:sp>
      <p:sp>
        <p:nvSpPr>
          <p:cNvPr id="51" name="레일"/>
          <p:cNvSpPr/>
          <p:nvPr/>
        </p:nvSpPr>
        <p:spPr>
          <a:xfrm>
            <a:off x="547826" y="4436139"/>
            <a:ext cx="580696" cy="1309304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2" name="레일"/>
          <p:cNvSpPr>
            <a:spLocks noGrp="1"/>
          </p:cNvSpPr>
          <p:nvPr>
            <p:ph type="body" sz="quarter" idx="39"/>
          </p:nvPr>
        </p:nvSpPr>
        <p:spPr>
          <a:xfrm>
            <a:off x="547826" y="4436139"/>
            <a:ext cx="580696" cy="1309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중점사항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반 영</a:t>
            </a:r>
          </a:p>
        </p:txBody>
      </p:sp>
      <p:sp>
        <p:nvSpPr>
          <p:cNvPr id="53" name="레일 삼각형"/>
          <p:cNvSpPr/>
          <p:nvPr/>
        </p:nvSpPr>
        <p:spPr>
          <a:xfrm>
            <a:off x="547826" y="4436139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4" name="머리칸"/>
          <p:cNvSpPr/>
          <p:nvPr/>
        </p:nvSpPr>
        <p:spPr>
          <a:xfrm>
            <a:off x="1161391" y="445805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5" name="머리칸"/>
          <p:cNvSpPr>
            <a:spLocks noGrp="1"/>
          </p:cNvSpPr>
          <p:nvPr>
            <p:ph type="body" sz="quarter" idx="40"/>
          </p:nvPr>
        </p:nvSpPr>
        <p:spPr>
          <a:xfrm>
            <a:off x="1161391" y="445805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정책 연계 선도적 투자</a:t>
            </a:r>
          </a:p>
        </p:txBody>
      </p:sp>
      <p:sp>
        <p:nvSpPr>
          <p:cNvPr id="56" name="머리칸"/>
          <p:cNvSpPr/>
          <p:nvPr/>
        </p:nvSpPr>
        <p:spPr>
          <a:xfrm>
            <a:off x="3044087" y="445805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7" name="머리칸"/>
          <p:cNvSpPr>
            <a:spLocks noGrp="1"/>
          </p:cNvSpPr>
          <p:nvPr>
            <p:ph type="body" sz="quarter" idx="41"/>
          </p:nvPr>
        </p:nvSpPr>
        <p:spPr>
          <a:xfrm>
            <a:off x="3044087" y="445805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자구노력 신규과제 반영</a:t>
            </a:r>
          </a:p>
        </p:txBody>
      </p:sp>
      <p:sp>
        <p:nvSpPr>
          <p:cNvPr id="58" name="머리칸"/>
          <p:cNvSpPr/>
          <p:nvPr/>
        </p:nvSpPr>
        <p:spPr>
          <a:xfrm>
            <a:off x="4926783" y="4458052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9" name="머리칸"/>
          <p:cNvSpPr>
            <a:spLocks noGrp="1"/>
          </p:cNvSpPr>
          <p:nvPr>
            <p:ph type="body" sz="quarter" idx="42"/>
          </p:nvPr>
        </p:nvSpPr>
        <p:spPr>
          <a:xfrm>
            <a:off x="4926783" y="4458052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부채관리·재무건전성 유지</a:t>
            </a:r>
          </a:p>
        </p:txBody>
      </p:sp>
      <p:sp>
        <p:nvSpPr>
          <p:cNvPr id="60" name="칸 본문"/>
          <p:cNvSpPr>
            <a:spLocks noGrp="1"/>
          </p:cNvSpPr>
          <p:nvPr>
            <p:ph type="body" sz="quarter" idx="43"/>
          </p:nvPr>
        </p:nvSpPr>
        <p:spPr>
          <a:xfrm>
            <a:off x="1172348" y="4699096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 전략 연계 반영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첨단산단, AI 등 우선 반영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국정과제·전사전략 연계 5개년 17.7조원 투자</a:t>
            </a:r>
          </a:p>
        </p:txBody>
      </p:sp>
      <p:sp>
        <p:nvSpPr>
          <p:cNvPr id="61" name="칸 본문"/>
          <p:cNvSpPr>
            <a:spLocks noGrp="1"/>
          </p:cNvSpPr>
          <p:nvPr>
            <p:ph type="body" sz="quarter" idx="44"/>
          </p:nvPr>
        </p:nvSpPr>
        <p:spPr>
          <a:xfrm>
            <a:off x="3055043" y="4699096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고정단가계약 등 매출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低전력설비 등 원가절감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원가상승 압력 불구 연평균 영업이익 2,214억원</a:t>
            </a:r>
          </a:p>
        </p:txBody>
      </p:sp>
      <p:cxnSp>
        <p:nvCxnSpPr>
          <p:cNvPr id="62" name="Connector 43"/>
          <p:cNvCxnSpPr/>
          <p:nvPr/>
        </p:nvCxnSpPr>
        <p:spPr>
          <a:xfrm>
            <a:off x="3044087" y="4731965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3" name="칸 본문"/>
          <p:cNvSpPr>
            <a:spLocks noGrp="1"/>
          </p:cNvSpPr>
          <p:nvPr>
            <p:ph type="body" sz="quarter" idx="45"/>
          </p:nvPr>
        </p:nvSpPr>
        <p:spPr>
          <a:xfrm>
            <a:off x="4937739" y="4699096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4대강 부채분담 의무이행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안정성 한도 내 투자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재무관리계획 5년 全기간 순차입금/조정EBITDA 10 이하</a:t>
            </a:r>
          </a:p>
        </p:txBody>
      </p:sp>
      <p:cxnSp>
        <p:nvCxnSpPr>
          <p:cNvPr id="64" name="Connector 45"/>
          <p:cNvCxnSpPr/>
          <p:nvPr/>
        </p:nvCxnSpPr>
        <p:spPr>
          <a:xfrm>
            <a:off x="4926783" y="4731965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5" name="레일"/>
          <p:cNvSpPr/>
          <p:nvPr/>
        </p:nvSpPr>
        <p:spPr>
          <a:xfrm>
            <a:off x="547826" y="5761878"/>
            <a:ext cx="580696" cy="1068261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6" name="레일"/>
          <p:cNvSpPr>
            <a:spLocks noGrp="1"/>
          </p:cNvSpPr>
          <p:nvPr>
            <p:ph type="body" sz="quarter" idx="46"/>
          </p:nvPr>
        </p:nvSpPr>
        <p:spPr>
          <a:xfrm>
            <a:off x="547826" y="5761878"/>
            <a:ext cx="580696" cy="1068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중 장 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재무목표</a:t>
            </a:r>
          </a:p>
        </p:txBody>
      </p:sp>
      <p:sp>
        <p:nvSpPr>
          <p:cNvPr id="67" name="칸 본문"/>
          <p:cNvSpPr>
            <a:spLocks noGrp="1"/>
          </p:cNvSpPr>
          <p:nvPr>
            <p:ph type="body" sz="quarter" idx="47"/>
          </p:nvPr>
        </p:nvSpPr>
        <p:spPr>
          <a:xfrm>
            <a:off x="1172348" y="5783791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성장성 매출액(조원): ’25년 4.8 → ’29년 6.3 (연평균증가율 6.9%)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수익성 영업이익(억원): 1,869 → 3,432 (16.4%)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안정성 순차입금/조정EBITDA: 6.6 → 8.1 (全기간 10이하 유지)</a:t>
            </a:r>
          </a:p>
        </p:txBody>
      </p:sp>
      <p:sp>
        <p:nvSpPr>
          <p:cNvPr id="68" name="칸 본문"/>
          <p:cNvSpPr>
            <a:spLocks noGrp="1"/>
          </p:cNvSpPr>
          <p:nvPr>
            <p:ph type="body" sz="quarter" idx="48"/>
          </p:nvPr>
        </p:nvSpPr>
        <p:spPr>
          <a:xfrm>
            <a:off x="3996391" y="5783791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수상태양광 투자 순차적 매출 실현, 투자 확대로 인한 민간투자매출 증대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 디지털설비 도입 원가절감, 재생e 시장가比 높은 고정단가계약 효과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총부채 증가에도 자구노력 관리 강화 * ’25년말 12.5조원 → ’29년말 18.0조원</a:t>
            </a:r>
          </a:p>
        </p:txBody>
      </p:sp>
      <p:cxnSp>
        <p:nvCxnSpPr>
          <p:cNvPr id="69" name="Connector 49"/>
          <p:cNvCxnSpPr/>
          <p:nvPr/>
        </p:nvCxnSpPr>
        <p:spPr>
          <a:xfrm>
            <a:off x="3985435" y="5816661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0" name="레일"/>
          <p:cNvSpPr/>
          <p:nvPr/>
        </p:nvSpPr>
        <p:spPr>
          <a:xfrm>
            <a:off x="547826" y="6846574"/>
            <a:ext cx="580696" cy="1199739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1" name="레일"/>
          <p:cNvSpPr>
            <a:spLocks noGrp="1"/>
          </p:cNvSpPr>
          <p:nvPr>
            <p:ph type="body" sz="quarter" idx="49"/>
          </p:nvPr>
        </p:nvSpPr>
        <p:spPr>
          <a:xfrm>
            <a:off x="547826" y="6846574"/>
            <a:ext cx="580696" cy="1199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이행점검</a:t>
            </a:r>
          </a:p>
        </p:txBody>
      </p:sp>
      <p:sp>
        <p:nvSpPr>
          <p:cNvPr id="72" name="레일 삼각형"/>
          <p:cNvSpPr/>
          <p:nvPr/>
        </p:nvSpPr>
        <p:spPr>
          <a:xfrm>
            <a:off x="547826" y="6846573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3" name="머리칸"/>
          <p:cNvSpPr/>
          <p:nvPr/>
        </p:nvSpPr>
        <p:spPr>
          <a:xfrm>
            <a:off x="1161391" y="6868487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4" name="머리칸"/>
          <p:cNvSpPr>
            <a:spLocks noGrp="1"/>
          </p:cNvSpPr>
          <p:nvPr>
            <p:ph type="body" sz="quarter" idx="50"/>
          </p:nvPr>
        </p:nvSpPr>
        <p:spPr>
          <a:xfrm>
            <a:off x="1161391" y="6868487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투자 예산집행 점검</a:t>
            </a:r>
          </a:p>
        </p:txBody>
      </p:sp>
      <p:sp>
        <p:nvSpPr>
          <p:cNvPr id="75" name="머리칸"/>
          <p:cNvSpPr/>
          <p:nvPr/>
        </p:nvSpPr>
        <p:spPr>
          <a:xfrm>
            <a:off x="3044087" y="6868487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6" name="머리칸"/>
          <p:cNvSpPr>
            <a:spLocks noGrp="1"/>
          </p:cNvSpPr>
          <p:nvPr>
            <p:ph type="body" sz="quarter" idx="51"/>
          </p:nvPr>
        </p:nvSpPr>
        <p:spPr>
          <a:xfrm>
            <a:off x="3044087" y="6868487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 구분회계 월결산</a:t>
            </a:r>
          </a:p>
        </p:txBody>
      </p:sp>
      <p:sp>
        <p:nvSpPr>
          <p:cNvPr id="77" name="머리칸"/>
          <p:cNvSpPr/>
          <p:nvPr/>
        </p:nvSpPr>
        <p:spPr>
          <a:xfrm>
            <a:off x="4926783" y="6868487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8" name="머리칸"/>
          <p:cNvSpPr>
            <a:spLocks noGrp="1"/>
          </p:cNvSpPr>
          <p:nvPr>
            <p:ph type="body" sz="quarter" idx="52"/>
          </p:nvPr>
        </p:nvSpPr>
        <p:spPr>
          <a:xfrm>
            <a:off x="4926783" y="6868487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리스크 중장기 위험 점검</a:t>
            </a:r>
          </a:p>
        </p:txBody>
      </p:sp>
      <p:sp>
        <p:nvSpPr>
          <p:cNvPr id="79" name="칸 본문"/>
          <p:cNvSpPr>
            <a:spLocks noGrp="1"/>
          </p:cNvSpPr>
          <p:nvPr>
            <p:ph type="body" sz="quarter" idx="53"/>
          </p:nvPr>
        </p:nvSpPr>
        <p:spPr>
          <a:xfrm>
            <a:off x="1172348" y="7109530"/>
            <a:ext cx="1860783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계획 기반 연도별 목표 설정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국정과제이행 TF 운영(’26~)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집행점검회의(’25년, 120회)</a:t>
            </a:r>
          </a:p>
        </p:txBody>
      </p:sp>
      <p:sp>
        <p:nvSpPr>
          <p:cNvPr id="80" name="칸 본문"/>
          <p:cNvSpPr>
            <a:spLocks noGrp="1"/>
          </p:cNvSpPr>
          <p:nvPr>
            <p:ph type="body" sz="quarter" idx="54"/>
          </p:nvPr>
        </p:nvSpPr>
        <p:spPr>
          <a:xfrm>
            <a:off x="3055043" y="7109530"/>
            <a:ext cx="1860783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재무목표 대비 실적점검 * 중장기재무계획 ’25년 전망 기준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부진시 개선과제 이행</a:t>
            </a:r>
          </a:p>
        </p:txBody>
      </p:sp>
      <p:cxnSp>
        <p:nvCxnSpPr>
          <p:cNvPr id="81" name="Connector 57"/>
          <p:cNvCxnSpPr/>
          <p:nvPr/>
        </p:nvCxnSpPr>
        <p:spPr>
          <a:xfrm>
            <a:off x="3044087" y="7142400"/>
            <a:ext cx="0" cy="865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2" name="칸 본문"/>
          <p:cNvSpPr>
            <a:spLocks noGrp="1"/>
          </p:cNvSpPr>
          <p:nvPr>
            <p:ph type="body" sz="quarter" idx="55"/>
          </p:nvPr>
        </p:nvSpPr>
        <p:spPr>
          <a:xfrm>
            <a:off x="4937739" y="7109530"/>
            <a:ext cx="1860783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4개 중장기 위험지표 설정 * 수도투자, 유가, 금리, 분양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반기 단위 점검·조치</a:t>
            </a:r>
          </a:p>
        </p:txBody>
      </p:sp>
      <p:cxnSp>
        <p:nvCxnSpPr>
          <p:cNvPr id="83" name="Connector 59"/>
          <p:cNvCxnSpPr/>
          <p:nvPr/>
        </p:nvCxnSpPr>
        <p:spPr>
          <a:xfrm>
            <a:off x="4926783" y="7142400"/>
            <a:ext cx="0" cy="865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34 서사 · 확장적 투자계획 수립·확정(국정과제 반영체계 → 투자계획 반영과정 → 반영결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3794455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新정부 국정과제를 충실히 반영한 확장적 투자계획 수립·확정</a:t>
            </a:r>
          </a:p>
        </p:txBody>
      </p:sp>
      <p:sp>
        <p:nvSpPr>
          <p:cNvPr id="11" name="태그칩"/>
          <p:cNvSpPr/>
          <p:nvPr/>
        </p:nvSpPr>
        <p:spPr>
          <a:xfrm>
            <a:off x="4616195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4616195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3" name="태그칩"/>
          <p:cNvSpPr/>
          <p:nvPr/>
        </p:nvSpPr>
        <p:spPr>
          <a:xfrm>
            <a:off x="5167316" y="810783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4" name="태그칩"/>
          <p:cNvSpPr>
            <a:spLocks noGrp="1"/>
          </p:cNvSpPr>
          <p:nvPr>
            <p:ph type="body" sz="quarter" idx="22"/>
          </p:nvPr>
        </p:nvSpPr>
        <p:spPr>
          <a:xfrm>
            <a:off x="5167316" y="810783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5" name="표 외곽"/>
          <p:cNvSpPr/>
          <p:nvPr/>
        </p:nvSpPr>
        <p:spPr>
          <a:xfrm>
            <a:off x="723130" y="1062783"/>
            <a:ext cx="6300000" cy="293509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레일"/>
          <p:cNvSpPr/>
          <p:nvPr/>
        </p:nvSpPr>
        <p:spPr>
          <a:xfrm>
            <a:off x="734087" y="1079217"/>
            <a:ext cx="580696" cy="88200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레일"/>
          <p:cNvSpPr>
            <a:spLocks noGrp="1"/>
          </p:cNvSpPr>
          <p:nvPr>
            <p:ph type="body" sz="quarter" idx="23"/>
          </p:nvPr>
        </p:nvSpPr>
        <p:spPr>
          <a:xfrm>
            <a:off x="734087" y="1079217"/>
            <a:ext cx="580696" cy="88200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국정과제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반영체계</a:t>
            </a:r>
          </a:p>
        </p:txBody>
      </p:sp>
      <p:sp>
        <p:nvSpPr>
          <p:cNvPr id="18" name="단계"/>
          <p:cNvSpPr/>
          <p:nvPr/>
        </p:nvSpPr>
        <p:spPr>
          <a:xfrm>
            <a:off x="1347652" y="1101130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9" name="단계"/>
          <p:cNvSpPr>
            <a:spLocks noGrp="1"/>
          </p:cNvSpPr>
          <p:nvPr>
            <p:ph type="body" sz="quarter" idx="24"/>
          </p:nvPr>
        </p:nvSpPr>
        <p:spPr>
          <a:xfrm>
            <a:off x="1347652" y="110113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전사 전략 활동</a:t>
            </a:r>
          </a:p>
        </p:txBody>
      </p:sp>
      <p:sp>
        <p:nvSpPr>
          <p:cNvPr id="20" name="단계"/>
          <p:cNvSpPr/>
          <p:nvPr/>
        </p:nvSpPr>
        <p:spPr>
          <a:xfrm>
            <a:off x="3230348" y="1101130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1" name="단계"/>
          <p:cNvSpPr>
            <a:spLocks noGrp="1"/>
          </p:cNvSpPr>
          <p:nvPr>
            <p:ph type="body" sz="quarter" idx="25"/>
          </p:nvPr>
        </p:nvSpPr>
        <p:spPr>
          <a:xfrm>
            <a:off x="3230348" y="110113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중장기 전략과제 확정</a:t>
            </a:r>
          </a:p>
        </p:txBody>
      </p:sp>
      <p:sp>
        <p:nvSpPr>
          <p:cNvPr id="22" name="단계"/>
          <p:cNvSpPr/>
          <p:nvPr/>
        </p:nvSpPr>
        <p:spPr>
          <a:xfrm>
            <a:off x="5113043" y="1101130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3" name="단계"/>
          <p:cNvSpPr>
            <a:spLocks noGrp="1"/>
          </p:cNvSpPr>
          <p:nvPr>
            <p:ph type="body" sz="quarter" idx="26"/>
          </p:nvPr>
        </p:nvSpPr>
        <p:spPr>
          <a:xfrm>
            <a:off x="5113043" y="110113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중장기재무관리계획 반영</a:t>
            </a:r>
          </a:p>
        </p:txBody>
      </p:sp>
      <p:sp>
        <p:nvSpPr>
          <p:cNvPr id="24" name="단계 삼각형"/>
          <p:cNvSpPr/>
          <p:nvPr/>
        </p:nvSpPr>
        <p:spPr>
          <a:xfrm>
            <a:off x="3230347" y="1101130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5" name="단계 삼각형"/>
          <p:cNvSpPr/>
          <p:nvPr/>
        </p:nvSpPr>
        <p:spPr>
          <a:xfrm>
            <a:off x="5113043" y="1101130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7"/>
          </p:nvPr>
        </p:nvSpPr>
        <p:spPr>
          <a:xfrm>
            <a:off x="1358609" y="1353130"/>
            <a:ext cx="1860783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First 전략기획단, 에너지 Reboot TF, 산업용수 활성화 TF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 제안·전략 반영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28"/>
          </p:nvPr>
        </p:nvSpPr>
        <p:spPr>
          <a:xfrm>
            <a:off x="3241304" y="1353130"/>
            <a:ext cx="1860783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국정과제-전략과제 매칭: 39 에너지 / 44 반도체 / 72 노후관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태양광 · 산단물공급 · 시설안정화</a:t>
            </a:r>
          </a:p>
        </p:txBody>
      </p:sp>
      <p:cxnSp>
        <p:nvCxnSpPr>
          <p:cNvPr id="28" name="Connector 16"/>
          <p:cNvCxnSpPr/>
          <p:nvPr/>
        </p:nvCxnSpPr>
        <p:spPr>
          <a:xfrm>
            <a:off x="3230348" y="1386000"/>
            <a:ext cx="0" cy="536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5124000" y="1353130"/>
            <a:ext cx="1860783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전략과제별 투자액 부여: 태양광 0.8조원 / 산단물공급 1.0조원 / 시설안정화 3.7조원</a:t>
            </a:r>
          </a:p>
        </p:txBody>
      </p:sp>
      <p:cxnSp>
        <p:nvCxnSpPr>
          <p:cNvPr id="30" name="Connector 18"/>
          <p:cNvCxnSpPr/>
          <p:nvPr/>
        </p:nvCxnSpPr>
        <p:spPr>
          <a:xfrm>
            <a:off x="5113043" y="1386000"/>
            <a:ext cx="0" cy="536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레일"/>
          <p:cNvSpPr/>
          <p:nvPr/>
        </p:nvSpPr>
        <p:spPr>
          <a:xfrm>
            <a:off x="734087" y="1977652"/>
            <a:ext cx="580696" cy="77118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2" name="레일"/>
          <p:cNvSpPr>
            <a:spLocks noGrp="1"/>
          </p:cNvSpPr>
          <p:nvPr>
            <p:ph type="body" sz="quarter" idx="30"/>
          </p:nvPr>
        </p:nvSpPr>
        <p:spPr>
          <a:xfrm>
            <a:off x="734087" y="1977652"/>
            <a:ext cx="580696" cy="7711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투자계획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반영과정</a:t>
            </a:r>
          </a:p>
        </p:txBody>
      </p:sp>
      <p:sp>
        <p:nvSpPr>
          <p:cNvPr id="33" name="레일 삼각형"/>
          <p:cNvSpPr/>
          <p:nvPr/>
        </p:nvSpPr>
        <p:spPr>
          <a:xfrm>
            <a:off x="734086" y="1977652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4" name="단계"/>
          <p:cNvSpPr/>
          <p:nvPr/>
        </p:nvSpPr>
        <p:spPr>
          <a:xfrm>
            <a:off x="1347652" y="1999565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5" name="단계"/>
          <p:cNvSpPr>
            <a:spLocks noGrp="1"/>
          </p:cNvSpPr>
          <p:nvPr>
            <p:ph type="body" sz="quarter" idx="31"/>
          </p:nvPr>
        </p:nvSpPr>
        <p:spPr>
          <a:xfrm>
            <a:off x="1347652" y="1999565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최초안 19.0조원</a:t>
            </a:r>
          </a:p>
        </p:txBody>
      </p:sp>
      <p:sp>
        <p:nvSpPr>
          <p:cNvPr id="36" name="단계"/>
          <p:cNvSpPr/>
          <p:nvPr/>
        </p:nvSpPr>
        <p:spPr>
          <a:xfrm>
            <a:off x="3230348" y="1999565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7" name="단계"/>
          <p:cNvSpPr>
            <a:spLocks noGrp="1"/>
          </p:cNvSpPr>
          <p:nvPr>
            <p:ph type="body" sz="quarter" idx="32"/>
          </p:nvPr>
        </p:nvSpPr>
        <p:spPr>
          <a:xfrm>
            <a:off x="3230348" y="1999565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안정성 관점 보완</a:t>
            </a:r>
          </a:p>
        </p:txBody>
      </p:sp>
      <p:sp>
        <p:nvSpPr>
          <p:cNvPr id="38" name="단계"/>
          <p:cNvSpPr/>
          <p:nvPr/>
        </p:nvSpPr>
        <p:spPr>
          <a:xfrm>
            <a:off x="5113043" y="1999565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9" name="단계"/>
          <p:cNvSpPr>
            <a:spLocks noGrp="1"/>
          </p:cNvSpPr>
          <p:nvPr>
            <p:ph type="body" sz="quarter" idx="33"/>
          </p:nvPr>
        </p:nvSpPr>
        <p:spPr>
          <a:xfrm>
            <a:off x="5113043" y="1999565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최종안 17.7조원</a:t>
            </a:r>
          </a:p>
        </p:txBody>
      </p:sp>
      <p:sp>
        <p:nvSpPr>
          <p:cNvPr id="40" name="단계 삼각형"/>
          <p:cNvSpPr/>
          <p:nvPr/>
        </p:nvSpPr>
        <p:spPr>
          <a:xfrm>
            <a:off x="3230347" y="1999565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1" name="단계 삼각형"/>
          <p:cNvSpPr/>
          <p:nvPr/>
        </p:nvSpPr>
        <p:spPr>
          <a:xfrm>
            <a:off x="5113043" y="1999565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2" name="칸 본문"/>
          <p:cNvSpPr>
            <a:spLocks noGrp="1"/>
          </p:cNvSpPr>
          <p:nvPr>
            <p:ph type="body" sz="quarter" idx="34"/>
          </p:nvPr>
        </p:nvSpPr>
        <p:spPr>
          <a:xfrm>
            <a:off x="1358609" y="2251565"/>
            <a:ext cx="1860783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전략과제 최우선 배정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타 사업 전년도 규모 유지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35"/>
          </p:nvPr>
        </p:nvSpPr>
        <p:spPr>
          <a:xfrm>
            <a:off x="3241304" y="2251565"/>
            <a:ext cx="1860783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전년도 계획 최종연도 부채비율(’28년 108.8%) 수준 조정</a:t>
            </a:r>
          </a:p>
        </p:txBody>
      </p:sp>
      <p:cxnSp>
        <p:nvCxnSpPr>
          <p:cNvPr id="44" name="Connector 28"/>
          <p:cNvCxnSpPr/>
          <p:nvPr/>
        </p:nvCxnSpPr>
        <p:spPr>
          <a:xfrm>
            <a:off x="3230348" y="2284435"/>
            <a:ext cx="0" cy="4260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5" name="칸 본문"/>
          <p:cNvSpPr>
            <a:spLocks noGrp="1"/>
          </p:cNvSpPr>
          <p:nvPr>
            <p:ph type="body" sz="quarter" idx="36"/>
          </p:nvPr>
        </p:nvSpPr>
        <p:spPr>
          <a:xfrm>
            <a:off x="5124000" y="2251565"/>
            <a:ext cx="1860783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전략과제 중심 투자 확정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우선순위 고려 사업조정</a:t>
            </a:r>
          </a:p>
        </p:txBody>
      </p:sp>
      <p:cxnSp>
        <p:nvCxnSpPr>
          <p:cNvPr id="46" name="Connector 30"/>
          <p:cNvCxnSpPr/>
          <p:nvPr/>
        </p:nvCxnSpPr>
        <p:spPr>
          <a:xfrm>
            <a:off x="5113043" y="2284435"/>
            <a:ext cx="0" cy="4260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7" name="레일"/>
          <p:cNvSpPr/>
          <p:nvPr/>
        </p:nvSpPr>
        <p:spPr>
          <a:xfrm>
            <a:off x="734087" y="2765270"/>
            <a:ext cx="580696" cy="1216174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8" name="레일"/>
          <p:cNvSpPr>
            <a:spLocks noGrp="1"/>
          </p:cNvSpPr>
          <p:nvPr>
            <p:ph type="body" sz="quarter" idx="37"/>
          </p:nvPr>
        </p:nvSpPr>
        <p:spPr>
          <a:xfrm>
            <a:off x="734087" y="2765270"/>
            <a:ext cx="580696" cy="1216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반영결과</a:t>
            </a:r>
          </a:p>
        </p:txBody>
      </p:sp>
      <p:sp>
        <p:nvSpPr>
          <p:cNvPr id="49" name="레일 삼각형"/>
          <p:cNvSpPr/>
          <p:nvPr/>
        </p:nvSpPr>
        <p:spPr>
          <a:xfrm>
            <a:off x="734086" y="2765269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0" name="배너"/>
          <p:cNvSpPr/>
          <p:nvPr/>
        </p:nvSpPr>
        <p:spPr>
          <a:xfrm>
            <a:off x="1347652" y="2787183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51" name="배너"/>
          <p:cNvSpPr>
            <a:spLocks noGrp="1"/>
          </p:cNvSpPr>
          <p:nvPr>
            <p:ph type="body" sz="quarter" idx="38"/>
          </p:nvPr>
        </p:nvSpPr>
        <p:spPr>
          <a:xfrm>
            <a:off x="1347652" y="2787183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전년도 계획(16.7조원) 대비 1.0조원 증가된 선택과 집중의 투자계획 수립</a:t>
            </a:r>
          </a:p>
        </p:txBody>
      </p:sp>
      <p:sp>
        <p:nvSpPr>
          <p:cNvPr id="52" name="머리칸"/>
          <p:cNvSpPr/>
          <p:nvPr/>
        </p:nvSpPr>
        <p:spPr>
          <a:xfrm>
            <a:off x="1347652" y="3022748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3" name="머리칸"/>
          <p:cNvSpPr>
            <a:spLocks noGrp="1"/>
          </p:cNvSpPr>
          <p:nvPr>
            <p:ph type="body" sz="quarter" idx="39"/>
          </p:nvPr>
        </p:nvSpPr>
        <p:spPr>
          <a:xfrm>
            <a:off x="1347652" y="3022748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물공급·안전 등 9.3조원</a:t>
            </a:r>
          </a:p>
        </p:txBody>
      </p:sp>
      <p:sp>
        <p:nvSpPr>
          <p:cNvPr id="54" name="머리칸"/>
          <p:cNvSpPr/>
          <p:nvPr/>
        </p:nvSpPr>
        <p:spPr>
          <a:xfrm>
            <a:off x="3230348" y="3022748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5" name="머리칸"/>
          <p:cNvSpPr>
            <a:spLocks noGrp="1"/>
          </p:cNvSpPr>
          <p:nvPr>
            <p:ph type="body" sz="quarter" idx="40"/>
          </p:nvPr>
        </p:nvSpPr>
        <p:spPr>
          <a:xfrm>
            <a:off x="3230348" y="3022748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재생에너지 2.0조원</a:t>
            </a:r>
          </a:p>
        </p:txBody>
      </p:sp>
      <p:sp>
        <p:nvSpPr>
          <p:cNvPr id="56" name="머리칸"/>
          <p:cNvSpPr/>
          <p:nvPr/>
        </p:nvSpPr>
        <p:spPr>
          <a:xfrm>
            <a:off x="5113043" y="3022748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7" name="머리칸"/>
          <p:cNvSpPr>
            <a:spLocks noGrp="1"/>
          </p:cNvSpPr>
          <p:nvPr>
            <p:ph type="body" sz="quarter" idx="41"/>
          </p:nvPr>
        </p:nvSpPr>
        <p:spPr>
          <a:xfrm>
            <a:off x="5113043" y="3022748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수변·해외사업 6.4조원</a:t>
            </a:r>
          </a:p>
        </p:txBody>
      </p:sp>
      <p:sp>
        <p:nvSpPr>
          <p:cNvPr id="58" name="칸 본문"/>
          <p:cNvSpPr>
            <a:spLocks noGrp="1"/>
          </p:cNvSpPr>
          <p:nvPr>
            <p:ph type="body" sz="quarter" idx="42"/>
          </p:nvPr>
        </p:nvSpPr>
        <p:spPr>
          <a:xfrm>
            <a:off x="1358609" y="3263791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AI·DT 활용 물관리, 첨단산단 물 공급, 노후 인프라 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전년도 계획 대비 +0.2조원</a:t>
            </a:r>
          </a:p>
        </p:txBody>
      </p:sp>
      <p:sp>
        <p:nvSpPr>
          <p:cNvPr id="59" name="칸 본문"/>
          <p:cNvSpPr>
            <a:spLocks noGrp="1"/>
          </p:cNvSpPr>
          <p:nvPr>
            <p:ph type="body" sz="quarter" idx="43"/>
          </p:nvPr>
        </p:nvSpPr>
        <p:spPr>
          <a:xfrm>
            <a:off x="3241304" y="3263791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댐수면 활용 수상태양광, 지역개발 신규조력 추진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전년도 계획 대비 +1.3조원</a:t>
            </a:r>
          </a:p>
        </p:txBody>
      </p:sp>
      <p:cxnSp>
        <p:nvCxnSpPr>
          <p:cNvPr id="60" name="Connector 39"/>
          <p:cNvCxnSpPr/>
          <p:nvPr/>
        </p:nvCxnSpPr>
        <p:spPr>
          <a:xfrm>
            <a:off x="3230348" y="3296661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1" name="칸 본문"/>
          <p:cNvSpPr>
            <a:spLocks noGrp="1"/>
          </p:cNvSpPr>
          <p:nvPr>
            <p:ph type="body" sz="quarter" idx="44"/>
          </p:nvPr>
        </p:nvSpPr>
        <p:spPr>
          <a:xfrm>
            <a:off x="5124000" y="3263791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 기술수출 중심 변경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연차별 투자계획 조정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전년도 계획 대비 △0.5조원</a:t>
            </a:r>
          </a:p>
        </p:txBody>
      </p:sp>
      <p:cxnSp>
        <p:nvCxnSpPr>
          <p:cNvPr id="62" name="Connector 41"/>
          <p:cNvCxnSpPr/>
          <p:nvPr/>
        </p:nvCxnSpPr>
        <p:spPr>
          <a:xfrm>
            <a:off x="5113043" y="3296661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35 서사 · 적정 재무목표 수립(변동사항 반영 → 지표별 시나리오 → 재무목표 산출 → 재무목표 활용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4398145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 전년도 대비 변동사항 반영 및 시나리오 분석을 통한 적정 재무목표 수립</a:t>
            </a:r>
          </a:p>
        </p:txBody>
      </p:sp>
      <p:sp>
        <p:nvSpPr>
          <p:cNvPr id="12" name="태그칩"/>
          <p:cNvSpPr/>
          <p:nvPr/>
        </p:nvSpPr>
        <p:spPr>
          <a:xfrm>
            <a:off x="5033623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5033623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표 외곽"/>
          <p:cNvSpPr/>
          <p:nvPr/>
        </p:nvSpPr>
        <p:spPr>
          <a:xfrm>
            <a:off x="536870" y="1051826"/>
            <a:ext cx="6300000" cy="4177409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547826" y="1068261"/>
            <a:ext cx="580696" cy="95869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068261"/>
            <a:ext cx="580696" cy="95869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변동사항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반 영</a:t>
            </a:r>
          </a:p>
        </p:txBody>
      </p:sp>
      <p:sp>
        <p:nvSpPr>
          <p:cNvPr id="17" name="머리칸"/>
          <p:cNvSpPr/>
          <p:nvPr/>
        </p:nvSpPr>
        <p:spPr>
          <a:xfrm>
            <a:off x="1161391" y="109017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8" name="머리칸"/>
          <p:cNvSpPr>
            <a:spLocks noGrp="1"/>
          </p:cNvSpPr>
          <p:nvPr>
            <p:ph type="body" sz="quarter" idx="23"/>
          </p:nvPr>
        </p:nvSpPr>
        <p:spPr>
          <a:xfrm>
            <a:off x="1161391" y="109017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전년도 계획 대비 거시환경 변화</a:t>
            </a:r>
          </a:p>
        </p:txBody>
      </p:sp>
      <p:sp>
        <p:nvSpPr>
          <p:cNvPr id="19" name="머리칸"/>
          <p:cNvSpPr/>
          <p:nvPr/>
        </p:nvSpPr>
        <p:spPr>
          <a:xfrm>
            <a:off x="3985435" y="109017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0" name="머리칸"/>
          <p:cNvSpPr>
            <a:spLocks noGrp="1"/>
          </p:cNvSpPr>
          <p:nvPr>
            <p:ph type="body" sz="quarter" idx="24"/>
          </p:nvPr>
        </p:nvSpPr>
        <p:spPr>
          <a:xfrm>
            <a:off x="3985435" y="109017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’24년도 계획 대비 실적 차이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5"/>
          </p:nvPr>
        </p:nvSpPr>
        <p:spPr>
          <a:xfrm>
            <a:off x="1172348" y="1331217"/>
            <a:ext cx="2802130" cy="690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유가 하락 반영 발전판매단가 조정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기준금리 인하 반영 발행금리 조정(0.25%p↓)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6"/>
          </p:nvPr>
        </p:nvSpPr>
        <p:spPr>
          <a:xfrm>
            <a:off x="3996391" y="1331217"/>
            <a:ext cx="2802130" cy="690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차입금 등 총부채 0.3조원 증가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수변매출계획·실적차이 반영 조정</a:t>
            </a:r>
          </a:p>
        </p:txBody>
      </p:sp>
      <p:cxnSp>
        <p:nvCxnSpPr>
          <p:cNvPr id="23" name="Connector 15"/>
          <p:cNvCxnSpPr/>
          <p:nvPr/>
        </p:nvCxnSpPr>
        <p:spPr>
          <a:xfrm>
            <a:off x="3985435" y="1364087"/>
            <a:ext cx="0" cy="624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4" name="레일"/>
          <p:cNvSpPr/>
          <p:nvPr/>
        </p:nvSpPr>
        <p:spPr>
          <a:xfrm>
            <a:off x="547826" y="2043391"/>
            <a:ext cx="580696" cy="1224626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5" name="레일"/>
          <p:cNvSpPr>
            <a:spLocks noGrp="1"/>
          </p:cNvSpPr>
          <p:nvPr>
            <p:ph type="body" sz="quarter" idx="27"/>
          </p:nvPr>
        </p:nvSpPr>
        <p:spPr>
          <a:xfrm>
            <a:off x="547826" y="2043391"/>
            <a:ext cx="580696" cy="12246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지표별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시나리오</a:t>
            </a:r>
          </a:p>
        </p:txBody>
      </p:sp>
      <p:sp>
        <p:nvSpPr>
          <p:cNvPr id="26" name="레일 삼각형"/>
          <p:cNvSpPr/>
          <p:nvPr/>
        </p:nvSpPr>
        <p:spPr>
          <a:xfrm>
            <a:off x="547826" y="2043391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7" name="배너"/>
          <p:cNvSpPr/>
          <p:nvPr/>
        </p:nvSpPr>
        <p:spPr>
          <a:xfrm>
            <a:off x="1161391" y="2065304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8" name="배너"/>
          <p:cNvSpPr>
            <a:spLocks noGrp="1"/>
          </p:cNvSpPr>
          <p:nvPr>
            <p:ph type="body" sz="quarter" idx="28"/>
          </p:nvPr>
        </p:nvSpPr>
        <p:spPr>
          <a:xfrm>
            <a:off x="1161391" y="2065304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“거시환경에 따라 재무영향이 큰 핵심 변동지표 도출 및 복합 시나리오 분석”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1172348" y="2300870"/>
            <a:ext cx="1390109" cy="9616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물가: 전력요금 인상 ➡ 수도생산원가 상승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전력비(원/kW) 낙관 동결 / 현실 동결 / 비관 10%↑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0"/>
          </p:nvPr>
        </p:nvSpPr>
        <p:spPr>
          <a:xfrm>
            <a:off x="2584370" y="2300870"/>
            <a:ext cx="1390109" cy="9616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공공요금: 물요금 동결 지속 ➡ 물공급 매출 정체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수도요금(원/㎥) 낙관 10%↑ / 현실 동결 / 비관 동결</a:t>
            </a:r>
          </a:p>
        </p:txBody>
      </p:sp>
      <p:cxnSp>
        <p:nvCxnSpPr>
          <p:cNvPr id="31" name="Connector 21"/>
          <p:cNvCxnSpPr/>
          <p:nvPr/>
        </p:nvCxnSpPr>
        <p:spPr>
          <a:xfrm>
            <a:off x="2573413" y="2333739"/>
            <a:ext cx="0" cy="8959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2" name="칸 본문"/>
          <p:cNvSpPr>
            <a:spLocks noGrp="1"/>
          </p:cNvSpPr>
          <p:nvPr>
            <p:ph type="body" sz="quarter" idx="31"/>
          </p:nvPr>
        </p:nvSpPr>
        <p:spPr>
          <a:xfrm>
            <a:off x="3996391" y="2300870"/>
            <a:ext cx="1390109" cy="9616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유가: 발전판매가 하락 ➡ 에너지 수익 감소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국제유가(’26년 $/배럴) 낙관 82 / 현실 64 / 비관 58</a:t>
            </a:r>
          </a:p>
        </p:txBody>
      </p:sp>
      <p:cxnSp>
        <p:nvCxnSpPr>
          <p:cNvPr id="33" name="Connector 23"/>
          <p:cNvCxnSpPr/>
          <p:nvPr/>
        </p:nvCxnSpPr>
        <p:spPr>
          <a:xfrm>
            <a:off x="3985435" y="2333739"/>
            <a:ext cx="0" cy="8959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4" name="칸 본문"/>
          <p:cNvSpPr>
            <a:spLocks noGrp="1"/>
          </p:cNvSpPr>
          <p:nvPr>
            <p:ph type="body" sz="quarter" idx="32"/>
          </p:nvPr>
        </p:nvSpPr>
        <p:spPr>
          <a:xfrm>
            <a:off x="5408413" y="2300870"/>
            <a:ext cx="1390109" cy="9616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부동산 경기: 미분양, 연체 증가 ➡ 수변 수납 부진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분양수납액(5년) 낙관 10%↑ / 현실 사업계획 / 비관 10%↓</a:t>
            </a:r>
          </a:p>
        </p:txBody>
      </p:sp>
      <p:cxnSp>
        <p:nvCxnSpPr>
          <p:cNvPr id="35" name="Connector 25"/>
          <p:cNvCxnSpPr/>
          <p:nvPr/>
        </p:nvCxnSpPr>
        <p:spPr>
          <a:xfrm>
            <a:off x="5397457" y="2333739"/>
            <a:ext cx="0" cy="8959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6" name="레일"/>
          <p:cNvSpPr/>
          <p:nvPr/>
        </p:nvSpPr>
        <p:spPr>
          <a:xfrm>
            <a:off x="547826" y="3284452"/>
            <a:ext cx="580696" cy="958696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7" name="레일"/>
          <p:cNvSpPr>
            <a:spLocks noGrp="1"/>
          </p:cNvSpPr>
          <p:nvPr>
            <p:ph type="body" sz="quarter" idx="33"/>
          </p:nvPr>
        </p:nvSpPr>
        <p:spPr>
          <a:xfrm>
            <a:off x="547826" y="3284452"/>
            <a:ext cx="580696" cy="95869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재무목표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산 출</a:t>
            </a:r>
          </a:p>
        </p:txBody>
      </p:sp>
      <p:sp>
        <p:nvSpPr>
          <p:cNvPr id="38" name="머리칸"/>
          <p:cNvSpPr/>
          <p:nvPr/>
        </p:nvSpPr>
        <p:spPr>
          <a:xfrm>
            <a:off x="1161391" y="330636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9" name="머리칸"/>
          <p:cNvSpPr>
            <a:spLocks noGrp="1"/>
          </p:cNvSpPr>
          <p:nvPr>
            <p:ph type="body" sz="quarter" idx="34"/>
          </p:nvPr>
        </p:nvSpPr>
        <p:spPr>
          <a:xfrm>
            <a:off x="1161391" y="330636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낙관</a:t>
            </a:r>
          </a:p>
        </p:txBody>
      </p:sp>
      <p:sp>
        <p:nvSpPr>
          <p:cNvPr id="40" name="머리칸"/>
          <p:cNvSpPr/>
          <p:nvPr/>
        </p:nvSpPr>
        <p:spPr>
          <a:xfrm>
            <a:off x="3044087" y="330636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1" name="머리칸"/>
          <p:cNvSpPr>
            <a:spLocks noGrp="1"/>
          </p:cNvSpPr>
          <p:nvPr>
            <p:ph type="body" sz="quarter" idx="35"/>
          </p:nvPr>
        </p:nvSpPr>
        <p:spPr>
          <a:xfrm>
            <a:off x="3044087" y="330636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현실</a:t>
            </a:r>
          </a:p>
        </p:txBody>
      </p:sp>
      <p:sp>
        <p:nvSpPr>
          <p:cNvPr id="42" name="머리칸"/>
          <p:cNvSpPr/>
          <p:nvPr/>
        </p:nvSpPr>
        <p:spPr>
          <a:xfrm>
            <a:off x="4926783" y="330636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3" name="머리칸"/>
          <p:cNvSpPr>
            <a:spLocks noGrp="1"/>
          </p:cNvSpPr>
          <p:nvPr>
            <p:ph type="body" sz="quarter" idx="36"/>
          </p:nvPr>
        </p:nvSpPr>
        <p:spPr>
          <a:xfrm>
            <a:off x="4926783" y="330636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비관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37"/>
          </p:nvPr>
        </p:nvSpPr>
        <p:spPr>
          <a:xfrm>
            <a:off x="1172348" y="3547409"/>
            <a:ext cx="1860783" cy="690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매출액(조원) ’25 4.8 → ’29 6.6 / 영업이익(억원) 1,869 → 5,824 / 순차입금/조정EBITDA 6.6 → 6.5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38"/>
          </p:nvPr>
        </p:nvSpPr>
        <p:spPr>
          <a:xfrm>
            <a:off x="3055043" y="3547409"/>
            <a:ext cx="1860783" cy="690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현실(재무목표) 4.8 → 6.3 / 1,869 → 3,432 / 6.6 → 8.1</a:t>
            </a:r>
          </a:p>
        </p:txBody>
      </p:sp>
      <p:cxnSp>
        <p:nvCxnSpPr>
          <p:cNvPr id="46" name="Connector 32"/>
          <p:cNvCxnSpPr/>
          <p:nvPr/>
        </p:nvCxnSpPr>
        <p:spPr>
          <a:xfrm>
            <a:off x="3044087" y="3580278"/>
            <a:ext cx="0" cy="624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7" name="칸 본문"/>
          <p:cNvSpPr>
            <a:spLocks noGrp="1"/>
          </p:cNvSpPr>
          <p:nvPr>
            <p:ph type="body" sz="quarter" idx="39"/>
          </p:nvPr>
        </p:nvSpPr>
        <p:spPr>
          <a:xfrm>
            <a:off x="4937739" y="3547409"/>
            <a:ext cx="1860783" cy="690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비관 4.8 → 6.2 / 1,869 → 1,658 / 6.6 → 9.6</a:t>
            </a:r>
          </a:p>
        </p:txBody>
      </p:sp>
      <p:cxnSp>
        <p:nvCxnSpPr>
          <p:cNvPr id="48" name="Connector 34"/>
          <p:cNvCxnSpPr/>
          <p:nvPr/>
        </p:nvCxnSpPr>
        <p:spPr>
          <a:xfrm>
            <a:off x="4926783" y="3580278"/>
            <a:ext cx="0" cy="624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9" name="레일"/>
          <p:cNvSpPr/>
          <p:nvPr/>
        </p:nvSpPr>
        <p:spPr>
          <a:xfrm>
            <a:off x="547826" y="4259583"/>
            <a:ext cx="580696" cy="95321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0" name="레일"/>
          <p:cNvSpPr>
            <a:spLocks noGrp="1"/>
          </p:cNvSpPr>
          <p:nvPr>
            <p:ph type="body" sz="quarter" idx="40"/>
          </p:nvPr>
        </p:nvSpPr>
        <p:spPr>
          <a:xfrm>
            <a:off x="547826" y="4259583"/>
            <a:ext cx="580696" cy="95321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재무목표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활용 등</a:t>
            </a:r>
          </a:p>
        </p:txBody>
      </p:sp>
      <p:sp>
        <p:nvSpPr>
          <p:cNvPr id="51" name="레일 삼각형"/>
          <p:cNvSpPr/>
          <p:nvPr/>
        </p:nvSpPr>
        <p:spPr>
          <a:xfrm>
            <a:off x="547826" y="4259582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2" name="배너"/>
          <p:cNvSpPr/>
          <p:nvPr/>
        </p:nvSpPr>
        <p:spPr>
          <a:xfrm>
            <a:off x="1161391" y="4281496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53" name="배너"/>
          <p:cNvSpPr>
            <a:spLocks noGrp="1"/>
          </p:cNvSpPr>
          <p:nvPr>
            <p:ph type="body" sz="quarter" idx="41"/>
          </p:nvPr>
        </p:nvSpPr>
        <p:spPr>
          <a:xfrm>
            <a:off x="1161391" y="4281496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‘고물가 등 악조건에서도 공기업 책임 실현 위한 확장적 투자·매출계획 수립’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42"/>
          </p:nvPr>
        </p:nvSpPr>
        <p:spPr>
          <a:xfrm>
            <a:off x="1172348" y="4517061"/>
            <a:ext cx="2802130" cy="690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전년도 계획대비 상향된 재무목표 수립: 매출액(연평균) 5.1조 → 5.6조원, 영업이익(연평균) 1,989 → 2,214억원, 투자금액(5년) 16.7 → 17.7조원</a:t>
            </a:r>
          </a:p>
        </p:txBody>
      </p:sp>
      <p:sp>
        <p:nvSpPr>
          <p:cNvPr id="55" name="칸 본문"/>
          <p:cNvSpPr>
            <a:spLocks noGrp="1"/>
          </p:cNvSpPr>
          <p:nvPr>
            <p:ph type="body" sz="quarter" idx="43"/>
          </p:nvPr>
        </p:nvSpPr>
        <p:spPr>
          <a:xfrm>
            <a:off x="3996391" y="4517061"/>
            <a:ext cx="2802130" cy="690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재무계획 적정성 증대, 전방위 활용: 성과관리 중장기재무관리계획 수립연도 재무목표 → 관리 목표로 활용 / 계획활용 관리·투자예산, 자금·자산계획 수립 및 요금 원가전망 등 활용</a:t>
            </a:r>
          </a:p>
        </p:txBody>
      </p:sp>
      <p:cxnSp>
        <p:nvCxnSpPr>
          <p:cNvPr id="56" name="Connector 40"/>
          <p:cNvCxnSpPr/>
          <p:nvPr/>
        </p:nvCxnSpPr>
        <p:spPr>
          <a:xfrm>
            <a:off x="3985435" y="4549930"/>
            <a:ext cx="0" cy="624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36 서사 · 자구노력 발굴 확대(추진배경 → 기본방향 → 매출증대 · 이익개선 · 자산수익 · 사업조정 → 기대효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자구 노력 발굴 확대·중점 이행으로 중장기 재무 목표 실현 촉진</a:t>
            </a:r>
          </a:p>
        </p:txBody>
      </p:sp>
      <p:sp>
        <p:nvSpPr>
          <p:cNvPr id="14" name="형광 밑줄"/>
          <p:cNvSpPr/>
          <p:nvPr/>
        </p:nvSpPr>
        <p:spPr>
          <a:xfrm>
            <a:off x="723130" y="1358609"/>
            <a:ext cx="3797951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소제목"/>
          <p:cNvSpPr>
            <a:spLocks noGrp="1"/>
          </p:cNvSpPr>
          <p:nvPr>
            <p:ph type="body" sz="quarter" idx="22"/>
          </p:nvPr>
        </p:nvSpPr>
        <p:spPr>
          <a:xfrm>
            <a:off x="723130" y="120521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실효성 높은 개선 과제 중심 자구계획 수립 및 추가 개선방안 마련</a:t>
            </a:r>
          </a:p>
        </p:txBody>
      </p:sp>
      <p:sp>
        <p:nvSpPr>
          <p:cNvPr id="16" name="태그칩"/>
          <p:cNvSpPr/>
          <p:nvPr/>
        </p:nvSpPr>
        <p:spPr>
          <a:xfrm>
            <a:off x="4619691" y="1238087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칩"/>
          <p:cNvSpPr>
            <a:spLocks noGrp="1"/>
          </p:cNvSpPr>
          <p:nvPr>
            <p:ph type="body" sz="quarter" idx="23"/>
          </p:nvPr>
        </p:nvSpPr>
        <p:spPr>
          <a:xfrm>
            <a:off x="4619691" y="1238087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8" name="표 외곽"/>
          <p:cNvSpPr/>
          <p:nvPr/>
        </p:nvSpPr>
        <p:spPr>
          <a:xfrm>
            <a:off x="723130" y="1490087"/>
            <a:ext cx="6300000" cy="3965009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레일"/>
          <p:cNvSpPr/>
          <p:nvPr/>
        </p:nvSpPr>
        <p:spPr>
          <a:xfrm>
            <a:off x="734087" y="1506522"/>
            <a:ext cx="580696" cy="43278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4"/>
          </p:nvPr>
        </p:nvSpPr>
        <p:spPr>
          <a:xfrm>
            <a:off x="734087" y="1506522"/>
            <a:ext cx="580696" cy="432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5"/>
          </p:nvPr>
        </p:nvSpPr>
        <p:spPr>
          <a:xfrm>
            <a:off x="1358609" y="1528435"/>
            <a:ext cx="2802130" cy="405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사업조정에 집행예정액 이연과 자체 절감 구분, 이연 시 장기부채 관리 필요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6"/>
          </p:nvPr>
        </p:nvSpPr>
        <p:spPr>
          <a:xfrm>
            <a:off x="4182652" y="1528435"/>
            <a:ext cx="2802130" cy="405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자구계획에 예정액 이연과 자체 절감 분리, 투자재원 확보 위한 추가 노력 필요</a:t>
            </a:r>
          </a:p>
        </p:txBody>
      </p:sp>
      <p:cxnSp>
        <p:nvCxnSpPr>
          <p:cNvPr id="23" name="Connector 15"/>
          <p:cNvCxnSpPr/>
          <p:nvPr/>
        </p:nvCxnSpPr>
        <p:spPr>
          <a:xfrm>
            <a:off x="4171696" y="1561304"/>
            <a:ext cx="0" cy="33965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4" name="레일"/>
          <p:cNvSpPr/>
          <p:nvPr/>
        </p:nvSpPr>
        <p:spPr>
          <a:xfrm>
            <a:off x="734087" y="1955739"/>
            <a:ext cx="580696" cy="38488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5" name="레일"/>
          <p:cNvSpPr>
            <a:spLocks noGrp="1"/>
          </p:cNvSpPr>
          <p:nvPr>
            <p:ph type="body" sz="quarter" idx="27"/>
          </p:nvPr>
        </p:nvSpPr>
        <p:spPr>
          <a:xfrm>
            <a:off x="734087" y="1955739"/>
            <a:ext cx="580696" cy="3848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기본방향</a:t>
            </a:r>
          </a:p>
        </p:txBody>
      </p:sp>
      <p:sp>
        <p:nvSpPr>
          <p:cNvPr id="26" name="레일 삼각형"/>
          <p:cNvSpPr/>
          <p:nvPr/>
        </p:nvSpPr>
        <p:spPr>
          <a:xfrm>
            <a:off x="734086" y="1955739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7" name="칸 본문"/>
          <p:cNvSpPr>
            <a:spLocks noGrp="1"/>
          </p:cNvSpPr>
          <p:nvPr>
            <p:ph type="body" sz="quarter" idx="28"/>
          </p:nvPr>
        </p:nvSpPr>
        <p:spPr>
          <a:xfrm>
            <a:off x="1358609" y="1977652"/>
            <a:ext cx="2802130" cy="295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중장기(’25~’29) 재무관리계획 반영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9"/>
          </p:nvPr>
        </p:nvSpPr>
        <p:spPr>
          <a:xfrm>
            <a:off x="4182652" y="1977652"/>
            <a:ext cx="2802130" cy="295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중장기 수익성 추가 개선 노력 + α</a:t>
            </a:r>
          </a:p>
        </p:txBody>
      </p:sp>
      <p:cxnSp>
        <p:nvCxnSpPr>
          <p:cNvPr id="29" name="Connector 20"/>
          <p:cNvCxnSpPr/>
          <p:nvPr/>
        </p:nvCxnSpPr>
        <p:spPr>
          <a:xfrm>
            <a:off x="4171696" y="2010522"/>
            <a:ext cx="0" cy="230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0" name="레일"/>
          <p:cNvSpPr/>
          <p:nvPr/>
        </p:nvSpPr>
        <p:spPr>
          <a:xfrm>
            <a:off x="734087" y="2357061"/>
            <a:ext cx="580696" cy="68478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1" name="레일"/>
          <p:cNvSpPr>
            <a:spLocks noGrp="1"/>
          </p:cNvSpPr>
          <p:nvPr>
            <p:ph type="body" sz="quarter" idx="30"/>
          </p:nvPr>
        </p:nvSpPr>
        <p:spPr>
          <a:xfrm>
            <a:off x="734087" y="2357061"/>
            <a:ext cx="580696" cy="684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매출증대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1"/>
          </p:nvPr>
        </p:nvSpPr>
        <p:spPr>
          <a:xfrm>
            <a:off x="1358609" y="2378974"/>
            <a:ext cx="2802130" cy="657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판매량 증대·고단가 판매 노력 0.2조원: 신규 재생e 고정단가계약(PPA) 체결로 시장거래比 초과 매출 증대 0.1조원↑ / 신규고객 발굴 등 수도매출 728억원↑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2"/>
          </p:nvPr>
        </p:nvSpPr>
        <p:spPr>
          <a:xfrm>
            <a:off x="4182652" y="2378974"/>
            <a:ext cx="2802130" cy="657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미래 매출 확대 노력: 대수력 PPA 최초 체결(1개소), 확대 예정 / 수변 토지계획 변경(원가성 → 수익성)으로 미래 매출 1.3조원 증가(송산GC 등)</a:t>
            </a:r>
          </a:p>
        </p:txBody>
      </p:sp>
      <p:cxnSp>
        <p:nvCxnSpPr>
          <p:cNvPr id="34" name="Connector 24"/>
          <p:cNvCxnSpPr/>
          <p:nvPr/>
        </p:nvCxnSpPr>
        <p:spPr>
          <a:xfrm>
            <a:off x="4171696" y="2411843"/>
            <a:ext cx="0" cy="59165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5" name="레일"/>
          <p:cNvSpPr/>
          <p:nvPr/>
        </p:nvSpPr>
        <p:spPr>
          <a:xfrm>
            <a:off x="734087" y="3058278"/>
            <a:ext cx="580696" cy="68478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6" name="레일"/>
          <p:cNvSpPr>
            <a:spLocks noGrp="1"/>
          </p:cNvSpPr>
          <p:nvPr>
            <p:ph type="body" sz="quarter" idx="33"/>
          </p:nvPr>
        </p:nvSpPr>
        <p:spPr>
          <a:xfrm>
            <a:off x="734087" y="3058278"/>
            <a:ext cx="580696" cy="684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이익개선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4"/>
          </p:nvPr>
        </p:nvSpPr>
        <p:spPr>
          <a:xfrm>
            <a:off x="1358609" y="3080191"/>
            <a:ext cx="2802130" cy="657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생산원가·경상경비 저감 노력 0.1조원: 신규 고효율설비, AI 도입 물원가 △0.1조원 / 목표부여·점검 통한 경상경비 △497억원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5"/>
          </p:nvPr>
        </p:nvSpPr>
        <p:spPr>
          <a:xfrm>
            <a:off x="4182652" y="3080191"/>
            <a:ext cx="2802130" cy="657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원가보전 위한 수탁 대가 증액 노력: 현대화사업 수수료 추가 반영(’24~, 516억원↑) / 댐유지관리비 정부예산 46억원/연 증액</a:t>
            </a:r>
          </a:p>
        </p:txBody>
      </p:sp>
      <p:cxnSp>
        <p:nvCxnSpPr>
          <p:cNvPr id="39" name="Connector 28"/>
          <p:cNvCxnSpPr/>
          <p:nvPr/>
        </p:nvCxnSpPr>
        <p:spPr>
          <a:xfrm>
            <a:off x="4171696" y="3113061"/>
            <a:ext cx="0" cy="5916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0" name="레일"/>
          <p:cNvSpPr/>
          <p:nvPr/>
        </p:nvSpPr>
        <p:spPr>
          <a:xfrm>
            <a:off x="734087" y="3759496"/>
            <a:ext cx="580696" cy="60808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1" name="레일"/>
          <p:cNvSpPr>
            <a:spLocks noGrp="1"/>
          </p:cNvSpPr>
          <p:nvPr>
            <p:ph type="body" sz="quarter" idx="36"/>
          </p:nvPr>
        </p:nvSpPr>
        <p:spPr>
          <a:xfrm>
            <a:off x="734087" y="3759496"/>
            <a:ext cx="580696" cy="608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자산수익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37"/>
          </p:nvPr>
        </p:nvSpPr>
        <p:spPr>
          <a:xfrm>
            <a:off x="1358609" y="3781409"/>
            <a:ext cx="2802130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SOC 투자비 회수 위한 판매 등 0.4조원: 아라뱃길 투자비 보전 위한 항만시설 관리권(666억원/연), 배후부지 분양 회수액 등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38"/>
          </p:nvPr>
        </p:nvSpPr>
        <p:spPr>
          <a:xfrm>
            <a:off x="4182652" y="3781409"/>
            <a:ext cx="2802130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 투자 회수 노력: 분기별 재무분석, 국가위험 대응 강화로 파트린드 배당 실현(133억원), 지속 회수 기반 마련</a:t>
            </a:r>
          </a:p>
        </p:txBody>
      </p:sp>
      <p:cxnSp>
        <p:nvCxnSpPr>
          <p:cNvPr id="44" name="Connector 32"/>
          <p:cNvCxnSpPr/>
          <p:nvPr/>
        </p:nvCxnSpPr>
        <p:spPr>
          <a:xfrm>
            <a:off x="4171696" y="3814278"/>
            <a:ext cx="0" cy="51495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5" name="레일"/>
          <p:cNvSpPr/>
          <p:nvPr/>
        </p:nvSpPr>
        <p:spPr>
          <a:xfrm>
            <a:off x="734087" y="4384017"/>
            <a:ext cx="580696" cy="649252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6" name="레일 태그"/>
          <p:cNvSpPr/>
          <p:nvPr/>
        </p:nvSpPr>
        <p:spPr>
          <a:xfrm>
            <a:off x="744637" y="4427843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7" name="레일 태그"/>
          <p:cNvSpPr>
            <a:spLocks noGrp="1"/>
          </p:cNvSpPr>
          <p:nvPr>
            <p:ph type="body" sz="quarter" idx="39"/>
          </p:nvPr>
        </p:nvSpPr>
        <p:spPr>
          <a:xfrm>
            <a:off x="744637" y="4427843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평가지적</a:t>
            </a:r>
          </a:p>
        </p:txBody>
      </p:sp>
      <p:sp>
        <p:nvSpPr>
          <p:cNvPr id="48" name="레일 라벨"/>
          <p:cNvSpPr>
            <a:spLocks noGrp="1"/>
          </p:cNvSpPr>
          <p:nvPr>
            <p:ph type="body" sz="quarter" idx="40"/>
          </p:nvPr>
        </p:nvSpPr>
        <p:spPr>
          <a:xfrm>
            <a:off x="734087" y="4614104"/>
            <a:ext cx="580696" cy="397252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사업조정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평 가</a:t>
            </a:r>
          </a:p>
        </p:txBody>
      </p:sp>
      <p:sp>
        <p:nvSpPr>
          <p:cNvPr id="49" name="칸 본문"/>
          <p:cNvSpPr>
            <a:spLocks noGrp="1"/>
          </p:cNvSpPr>
          <p:nvPr>
            <p:ph type="body" sz="quarter" idx="41"/>
          </p:nvPr>
        </p:nvSpPr>
        <p:spPr>
          <a:xfrm>
            <a:off x="1358609" y="4405930"/>
            <a:ext cx="2802130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자체 조정심사 통한 사업비 감액 0.6조원: 신규 수변지구(송산) 총사업비 조정심사 감축 반영(요청 11.7조원 → 조정결과 11.1조원)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42"/>
          </p:nvPr>
        </p:nvSpPr>
        <p:spPr>
          <a:xfrm>
            <a:off x="4182652" y="4405930"/>
            <a:ext cx="2802130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 투자기간·금액 현실화: 수변사업 등 연차별 투자계획 조정(1.3조원) * 순차입금/조정EBITDA 한도 기준 부채관리 중</a:t>
            </a:r>
          </a:p>
        </p:txBody>
      </p:sp>
      <p:cxnSp>
        <p:nvCxnSpPr>
          <p:cNvPr id="51" name="Connector 38"/>
          <p:cNvCxnSpPr/>
          <p:nvPr/>
        </p:nvCxnSpPr>
        <p:spPr>
          <a:xfrm>
            <a:off x="4171696" y="4438800"/>
            <a:ext cx="0" cy="51495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2" name="레일"/>
          <p:cNvSpPr/>
          <p:nvPr/>
        </p:nvSpPr>
        <p:spPr>
          <a:xfrm>
            <a:off x="734087" y="5049704"/>
            <a:ext cx="580696" cy="38895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3" name="레일"/>
          <p:cNvSpPr>
            <a:spLocks noGrp="1"/>
          </p:cNvSpPr>
          <p:nvPr>
            <p:ph type="body" sz="quarter" idx="43"/>
          </p:nvPr>
        </p:nvSpPr>
        <p:spPr>
          <a:xfrm>
            <a:off x="734087" y="5049704"/>
            <a:ext cx="580696" cy="388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기대효과</a:t>
            </a:r>
          </a:p>
        </p:txBody>
      </p:sp>
      <p:sp>
        <p:nvSpPr>
          <p:cNvPr id="54" name="레일 삼각형"/>
          <p:cNvSpPr/>
          <p:nvPr/>
        </p:nvSpPr>
        <p:spPr>
          <a:xfrm>
            <a:off x="734086" y="5049704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5" name="칸 본문"/>
          <p:cNvSpPr>
            <a:spLocks noGrp="1"/>
          </p:cNvSpPr>
          <p:nvPr>
            <p:ph type="body" sz="quarter" idx="44"/>
          </p:nvPr>
        </p:nvSpPr>
        <p:spPr>
          <a:xfrm>
            <a:off x="1358609" y="5071617"/>
            <a:ext cx="2802130" cy="36156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자구노력 1.3조원 당기 재무계획 반영, 전략과제 이행 투자 재원으로 활용</a:t>
            </a:r>
          </a:p>
        </p:txBody>
      </p:sp>
      <p:sp>
        <p:nvSpPr>
          <p:cNvPr id="56" name="칸 본문"/>
          <p:cNvSpPr>
            <a:spLocks noGrp="1"/>
          </p:cNvSpPr>
          <p:nvPr>
            <p:ph type="body" sz="quarter" idx="45"/>
          </p:nvPr>
        </p:nvSpPr>
        <p:spPr>
          <a:xfrm>
            <a:off x="4182652" y="5071617"/>
            <a:ext cx="2802130" cy="36156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차기 중장기 재무계획 수익성·안정성 지표 개선으로 투자 확대 가능</a:t>
            </a:r>
          </a:p>
        </p:txBody>
      </p:sp>
      <p:cxnSp>
        <p:nvCxnSpPr>
          <p:cNvPr id="57" name="Connector 43"/>
          <p:cNvCxnSpPr/>
          <p:nvPr/>
        </p:nvCxnSpPr>
        <p:spPr>
          <a:xfrm>
            <a:off x="4171696" y="5104487"/>
            <a:ext cx="0" cy="29582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37 서사 · 계획대비 실적차이 → 환류(차년도 중장기재무관리계획 피드백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4166328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어려운 대내·외 여건에도 강도 높은 자구노력으로 ’25년 목표 초과 달성</a:t>
            </a:r>
          </a:p>
        </p:txBody>
      </p:sp>
      <p:sp>
        <p:nvSpPr>
          <p:cNvPr id="12" name="태그칩"/>
          <p:cNvSpPr/>
          <p:nvPr/>
        </p:nvSpPr>
        <p:spPr>
          <a:xfrm>
            <a:off x="4801806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801806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태그칩"/>
          <p:cNvSpPr/>
          <p:nvPr/>
        </p:nvSpPr>
        <p:spPr>
          <a:xfrm>
            <a:off x="5352927" y="799826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2"/>
          </p:nvPr>
        </p:nvSpPr>
        <p:spPr>
          <a:xfrm>
            <a:off x="5352927" y="799826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6" name="표 외곽"/>
          <p:cNvSpPr/>
          <p:nvPr/>
        </p:nvSpPr>
        <p:spPr>
          <a:xfrm>
            <a:off x="536870" y="1051826"/>
            <a:ext cx="6300000" cy="101347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547826" y="1068261"/>
            <a:ext cx="580696" cy="9806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3"/>
          </p:nvPr>
        </p:nvSpPr>
        <p:spPr>
          <a:xfrm>
            <a:off x="547826" y="1068261"/>
            <a:ext cx="580696" cy="980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계획대비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실적차이</a:t>
            </a:r>
          </a:p>
        </p:txBody>
      </p:sp>
      <p:sp>
        <p:nvSpPr>
          <p:cNvPr id="19" name="머리칸"/>
          <p:cNvSpPr/>
          <p:nvPr/>
        </p:nvSpPr>
        <p:spPr>
          <a:xfrm>
            <a:off x="1161391" y="1090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0" name="머리칸"/>
          <p:cNvSpPr>
            <a:spLocks noGrp="1"/>
          </p:cNvSpPr>
          <p:nvPr>
            <p:ph type="body" sz="quarter" idx="24"/>
          </p:nvPr>
        </p:nvSpPr>
        <p:spPr>
          <a:xfrm>
            <a:off x="1161391" y="1090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지표명 · ’25(목표)</a:t>
            </a:r>
          </a:p>
        </p:txBody>
      </p:sp>
      <p:sp>
        <p:nvSpPr>
          <p:cNvPr id="21" name="머리칸"/>
          <p:cNvSpPr/>
          <p:nvPr/>
        </p:nvSpPr>
        <p:spPr>
          <a:xfrm>
            <a:off x="3044087" y="1090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2" name="머리칸"/>
          <p:cNvSpPr>
            <a:spLocks noGrp="1"/>
          </p:cNvSpPr>
          <p:nvPr>
            <p:ph type="body" sz="quarter" idx="25"/>
          </p:nvPr>
        </p:nvSpPr>
        <p:spPr>
          <a:xfrm>
            <a:off x="3044087" y="1090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재무혁신TF 과제 이행</a:t>
            </a:r>
          </a:p>
        </p:txBody>
      </p:sp>
      <p:sp>
        <p:nvSpPr>
          <p:cNvPr id="23" name="머리칸"/>
          <p:cNvSpPr/>
          <p:nvPr/>
        </p:nvSpPr>
        <p:spPr>
          <a:xfrm>
            <a:off x="4926783" y="1090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4" name="머리칸"/>
          <p:cNvSpPr>
            <a:spLocks noGrp="1"/>
          </p:cNvSpPr>
          <p:nvPr>
            <p:ph type="body" sz="quarter" idx="26"/>
          </p:nvPr>
        </p:nvSpPr>
        <p:spPr>
          <a:xfrm>
            <a:off x="4926783" y="1090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’25(실적) · 차이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1172348" y="1331217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성장성 매출액(억원) 47,929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수익성 영업이익(억원) 1,869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안정성 순차입금/조정EBITDA 6.6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8"/>
          </p:nvPr>
        </p:nvSpPr>
        <p:spPr>
          <a:xfrm>
            <a:off x="3055043" y="1331217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수변 수익성 용지 매출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재생e 강우량 활용 24시간 발전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관리비 예산 통제 통한 집행관리</a:t>
            </a:r>
          </a:p>
        </p:txBody>
      </p:sp>
      <p:cxnSp>
        <p:nvCxnSpPr>
          <p:cNvPr id="27" name="Connector 17"/>
          <p:cNvCxnSpPr/>
          <p:nvPr/>
        </p:nvCxnSpPr>
        <p:spPr>
          <a:xfrm>
            <a:off x="3044087" y="1364087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8" name="칸 본문"/>
          <p:cNvSpPr>
            <a:spLocks noGrp="1"/>
          </p:cNvSpPr>
          <p:nvPr>
            <p:ph type="body" sz="quarter" idx="29"/>
          </p:nvPr>
        </p:nvSpPr>
        <p:spPr>
          <a:xfrm>
            <a:off x="4937739" y="1331217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49,152 (차이 1,223, 2.6%)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2,239 (차이 370, 19.8%)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5.8 (차이 △0.8, △12.1%)</a:t>
            </a:r>
          </a:p>
        </p:txBody>
      </p:sp>
      <p:cxnSp>
        <p:nvCxnSpPr>
          <p:cNvPr id="29" name="Connector 19"/>
          <p:cNvCxnSpPr/>
          <p:nvPr/>
        </p:nvCxnSpPr>
        <p:spPr>
          <a:xfrm>
            <a:off x="4926783" y="1364087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0" name="삼각 화살표"/>
          <p:cNvSpPr/>
          <p:nvPr/>
        </p:nvSpPr>
        <p:spPr>
          <a:xfrm>
            <a:off x="3823826" y="2109130"/>
            <a:ext cx="350608" cy="142435"/>
          </a:xfrm>
          <a:custGeom>
            <a:avLst/>
            <a:gdLst/>
            <a:ahLst/>
            <a:cxnLst/>
            <a:rect l="l" t="t" r="r" b="b"/>
            <a:pathLst>
              <a:path w="350608" h="142435">
                <a:moveTo>
                  <a:pt x="0" y="0"/>
                </a:moveTo>
                <a:lnTo>
                  <a:pt x="350608" y="0"/>
                </a:lnTo>
                <a:lnTo>
                  <a:pt x="175304" y="142435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1" name="표 외곽"/>
          <p:cNvSpPr/>
          <p:nvPr/>
        </p:nvSpPr>
        <p:spPr>
          <a:xfrm>
            <a:off x="536870" y="2322783"/>
            <a:ext cx="6300000" cy="126000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2" name="레일"/>
          <p:cNvSpPr/>
          <p:nvPr/>
        </p:nvSpPr>
        <p:spPr>
          <a:xfrm>
            <a:off x="547826" y="2339217"/>
            <a:ext cx="580696" cy="122713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3" name="레일"/>
          <p:cNvSpPr>
            <a:spLocks noGrp="1"/>
          </p:cNvSpPr>
          <p:nvPr>
            <p:ph type="body" sz="quarter" idx="30"/>
          </p:nvPr>
        </p:nvSpPr>
        <p:spPr>
          <a:xfrm>
            <a:off x="547826" y="2339217"/>
            <a:ext cx="580696" cy="1227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류</a:t>
            </a:r>
          </a:p>
        </p:txBody>
      </p:sp>
      <p:sp>
        <p:nvSpPr>
          <p:cNvPr id="34" name="배너"/>
          <p:cNvSpPr/>
          <p:nvPr/>
        </p:nvSpPr>
        <p:spPr>
          <a:xfrm>
            <a:off x="1161391" y="2361130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5" name="배너"/>
          <p:cNvSpPr>
            <a:spLocks noGrp="1"/>
          </p:cNvSpPr>
          <p:nvPr>
            <p:ph type="body" sz="quarter" idx="31"/>
          </p:nvPr>
        </p:nvSpPr>
        <p:spPr>
          <a:xfrm>
            <a:off x="1161391" y="2361130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계획-실적 차이 분석으로 차년도 중장기재무관리계획 피드백</a:t>
            </a:r>
          </a:p>
        </p:txBody>
      </p:sp>
      <p:sp>
        <p:nvSpPr>
          <p:cNvPr id="36" name="단계"/>
          <p:cNvSpPr/>
          <p:nvPr/>
        </p:nvSpPr>
        <p:spPr>
          <a:xfrm>
            <a:off x="1161391" y="2596696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7" name="단계"/>
          <p:cNvSpPr>
            <a:spLocks noGrp="1"/>
          </p:cNvSpPr>
          <p:nvPr>
            <p:ph type="body" sz="quarter" idx="32"/>
          </p:nvPr>
        </p:nvSpPr>
        <p:spPr>
          <a:xfrm>
            <a:off x="1161391" y="259669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주요 차이 원인</a:t>
            </a:r>
          </a:p>
        </p:txBody>
      </p:sp>
      <p:sp>
        <p:nvSpPr>
          <p:cNvPr id="38" name="단계"/>
          <p:cNvSpPr/>
          <p:nvPr/>
        </p:nvSpPr>
        <p:spPr>
          <a:xfrm>
            <a:off x="3044087" y="2596696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9" name="단계"/>
          <p:cNvSpPr>
            <a:spLocks noGrp="1"/>
          </p:cNvSpPr>
          <p:nvPr>
            <p:ph type="body" sz="quarter" idx="33"/>
          </p:nvPr>
        </p:nvSpPr>
        <p:spPr>
          <a:xfrm>
            <a:off x="3044087" y="259669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피드백 사항</a:t>
            </a:r>
          </a:p>
        </p:txBody>
      </p:sp>
      <p:sp>
        <p:nvSpPr>
          <p:cNvPr id="40" name="단계"/>
          <p:cNvSpPr/>
          <p:nvPr/>
        </p:nvSpPr>
        <p:spPr>
          <a:xfrm>
            <a:off x="4926783" y="2596696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1" name="단계"/>
          <p:cNvSpPr>
            <a:spLocks noGrp="1"/>
          </p:cNvSpPr>
          <p:nvPr>
            <p:ph type="body" sz="quarter" idx="34"/>
          </p:nvPr>
        </p:nvSpPr>
        <p:spPr>
          <a:xfrm>
            <a:off x="4926783" y="259669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차기 재무계획 롤링</a:t>
            </a:r>
          </a:p>
        </p:txBody>
      </p:sp>
      <p:sp>
        <p:nvSpPr>
          <p:cNvPr id="42" name="단계 삼각형"/>
          <p:cNvSpPr/>
          <p:nvPr/>
        </p:nvSpPr>
        <p:spPr>
          <a:xfrm>
            <a:off x="3044086" y="2596695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3" name="단계 삼각형"/>
          <p:cNvSpPr/>
          <p:nvPr/>
        </p:nvSpPr>
        <p:spPr>
          <a:xfrm>
            <a:off x="4926782" y="2596695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4" name="칸 본문"/>
          <p:cNvSpPr>
            <a:spLocks noGrp="1"/>
          </p:cNvSpPr>
          <p:nvPr>
            <p:ph type="body" sz="quarter" idx="35"/>
          </p:nvPr>
        </p:nvSpPr>
        <p:spPr>
          <a:xfrm>
            <a:off x="1172348" y="2848696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재무성과: 수변 매출확대 노력 등으로 1,412억원↑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재무상태: 솔로몬SPC 건설 집행·차입 지연 등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36"/>
          </p:nvPr>
        </p:nvSpPr>
        <p:spPr>
          <a:xfrm>
            <a:off x="3055043" y="2848696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수변 필지 조기 인식 → 차기 매출 계획 조정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댐개발 일부 공정 이연 * 계획-결산 부채 차이 527억원</a:t>
            </a:r>
          </a:p>
        </p:txBody>
      </p:sp>
      <p:cxnSp>
        <p:nvCxnSpPr>
          <p:cNvPr id="46" name="Connector 31"/>
          <p:cNvCxnSpPr/>
          <p:nvPr/>
        </p:nvCxnSpPr>
        <p:spPr>
          <a:xfrm>
            <a:off x="3044087" y="2881565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7" name="칸 본문"/>
          <p:cNvSpPr>
            <a:spLocks noGrp="1"/>
          </p:cNvSpPr>
          <p:nvPr>
            <p:ph type="body" sz="quarter" idx="37"/>
          </p:nvPr>
        </p:nvSpPr>
        <p:spPr>
          <a:xfrm>
            <a:off x="4937739" y="2848696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수변 매출 목표 및 관련 영업부채 조정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공정지연 → 연결기준 차입금 감액 반영</a:t>
            </a:r>
          </a:p>
        </p:txBody>
      </p:sp>
      <p:cxnSp>
        <p:nvCxnSpPr>
          <p:cNvPr id="48" name="Connector 33"/>
          <p:cNvCxnSpPr/>
          <p:nvPr/>
        </p:nvCxnSpPr>
        <p:spPr>
          <a:xfrm>
            <a:off x="4926783" y="2881565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38 서사 · 2024년 지적사항 조치실적(성과관리 · 교육 · 인사복지 3행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경영평가단 지적사항</a:t>
            </a:r>
          </a:p>
        </p:txBody>
      </p:sp>
      <p:sp>
        <p:nvSpPr>
          <p:cNvPr id="14" name="표 외곽"/>
          <p:cNvSpPr/>
          <p:nvPr/>
        </p:nvSpPr>
        <p:spPr>
          <a:xfrm>
            <a:off x="723130" y="1128522"/>
            <a:ext cx="6300000" cy="351156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734087" y="1144957"/>
            <a:ext cx="580696" cy="1309304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144957"/>
            <a:ext cx="580696" cy="1309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7" name="머리칸"/>
          <p:cNvSpPr/>
          <p:nvPr/>
        </p:nvSpPr>
        <p:spPr>
          <a:xfrm>
            <a:off x="1347652" y="1166870"/>
            <a:ext cx="1597304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8" name="머리칸"/>
          <p:cNvSpPr>
            <a:spLocks noGrp="1"/>
          </p:cNvSpPr>
          <p:nvPr>
            <p:ph type="body" sz="quarter" idx="23"/>
          </p:nvPr>
        </p:nvSpPr>
        <p:spPr>
          <a:xfrm>
            <a:off x="1347652" y="1166870"/>
            <a:ext cx="1597304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지적사항</a:t>
            </a:r>
          </a:p>
        </p:txBody>
      </p:sp>
      <p:sp>
        <p:nvSpPr>
          <p:cNvPr id="19" name="머리칸"/>
          <p:cNvSpPr/>
          <p:nvPr/>
        </p:nvSpPr>
        <p:spPr>
          <a:xfrm>
            <a:off x="2961391" y="1166870"/>
            <a:ext cx="2404174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0" name="머리칸"/>
          <p:cNvSpPr>
            <a:spLocks noGrp="1"/>
          </p:cNvSpPr>
          <p:nvPr>
            <p:ph type="body" sz="quarter" idx="24"/>
          </p:nvPr>
        </p:nvSpPr>
        <p:spPr>
          <a:xfrm>
            <a:off x="2961391" y="1166870"/>
            <a:ext cx="2404174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조치 및 개선실적</a:t>
            </a:r>
          </a:p>
        </p:txBody>
      </p:sp>
      <p:sp>
        <p:nvSpPr>
          <p:cNvPr id="21" name="머리칸"/>
          <p:cNvSpPr/>
          <p:nvPr/>
        </p:nvSpPr>
        <p:spPr>
          <a:xfrm>
            <a:off x="5382000" y="1166870"/>
            <a:ext cx="1597304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2" name="머리칸"/>
          <p:cNvSpPr>
            <a:spLocks noGrp="1"/>
          </p:cNvSpPr>
          <p:nvPr>
            <p:ph type="body" sz="quarter" idx="25"/>
          </p:nvPr>
        </p:nvSpPr>
        <p:spPr>
          <a:xfrm>
            <a:off x="5382000" y="1166870"/>
            <a:ext cx="1597304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개선효과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6"/>
          </p:nvPr>
        </p:nvSpPr>
        <p:spPr>
          <a:xfrm>
            <a:off x="1358609" y="1407913"/>
            <a:ext cx="1591826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성과관리 만족도조사의 대표성 제고 및 종합적 피드백 확보 필요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7"/>
          </p:nvPr>
        </p:nvSpPr>
        <p:spPr>
          <a:xfrm>
            <a:off x="2972348" y="1407913"/>
            <a:ext cx="2398696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노사공동 TF 운영, 설명회 개최 등을 통해 직원 관심도 제고 및 제도 개선 직원 의견수렴 강화 ▶ p.94</a:t>
            </a:r>
          </a:p>
        </p:txBody>
      </p:sp>
      <p:cxnSp>
        <p:nvCxnSpPr>
          <p:cNvPr id="25" name="Connector 15"/>
          <p:cNvCxnSpPr/>
          <p:nvPr/>
        </p:nvCxnSpPr>
        <p:spPr>
          <a:xfrm>
            <a:off x="2961391" y="1440783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6" name="칸 본문"/>
          <p:cNvSpPr>
            <a:spLocks noGrp="1"/>
          </p:cNvSpPr>
          <p:nvPr>
            <p:ph type="body" sz="quarter" idx="28"/>
          </p:nvPr>
        </p:nvSpPr>
        <p:spPr>
          <a:xfrm>
            <a:off x="5392957" y="1407913"/>
            <a:ext cx="1591826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응답률 및 만족도 상승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응답률 27.4 → 33.8%(6.4%p↑)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만족도 80.1 → 81.3점(1.2점↑)</a:t>
            </a:r>
          </a:p>
        </p:txBody>
      </p:sp>
      <p:cxnSp>
        <p:nvCxnSpPr>
          <p:cNvPr id="27" name="Connector 17"/>
          <p:cNvCxnSpPr/>
          <p:nvPr/>
        </p:nvCxnSpPr>
        <p:spPr>
          <a:xfrm>
            <a:off x="5382000" y="1440783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8" name="레일"/>
          <p:cNvSpPr/>
          <p:nvPr/>
        </p:nvSpPr>
        <p:spPr>
          <a:xfrm>
            <a:off x="734087" y="2470696"/>
            <a:ext cx="580696" cy="1068261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9" name="레일"/>
          <p:cNvSpPr>
            <a:spLocks noGrp="1"/>
          </p:cNvSpPr>
          <p:nvPr>
            <p:ph type="body" sz="quarter" idx="29"/>
          </p:nvPr>
        </p:nvSpPr>
        <p:spPr>
          <a:xfrm>
            <a:off x="734087" y="2470696"/>
            <a:ext cx="580696" cy="1068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30" name="레일 삼각형"/>
          <p:cNvSpPr/>
          <p:nvPr/>
        </p:nvSpPr>
        <p:spPr>
          <a:xfrm>
            <a:off x="734086" y="2470695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1358609" y="2492609"/>
            <a:ext cx="1591826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정량적 교육성과 측정 기반 경력개발 연계형 성과환류시스템 구축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1"/>
          </p:nvPr>
        </p:nvSpPr>
        <p:spPr>
          <a:xfrm>
            <a:off x="2972348" y="2492609"/>
            <a:ext cx="2398696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직무별 역량과 수준 진단, 결과에 기반한 맞춤형 경력개발 교육과정 추천체계 마련 ▶ p.95</a:t>
            </a:r>
          </a:p>
        </p:txBody>
      </p:sp>
      <p:cxnSp>
        <p:nvCxnSpPr>
          <p:cNvPr id="33" name="Connector 22"/>
          <p:cNvCxnSpPr/>
          <p:nvPr/>
        </p:nvCxnSpPr>
        <p:spPr>
          <a:xfrm>
            <a:off x="2961391" y="2525478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4" name="칸 본문"/>
          <p:cNvSpPr>
            <a:spLocks noGrp="1"/>
          </p:cNvSpPr>
          <p:nvPr>
            <p:ph type="body" sz="quarter" idx="32"/>
          </p:nvPr>
        </p:nvSpPr>
        <p:spPr>
          <a:xfrm>
            <a:off x="5392957" y="2492609"/>
            <a:ext cx="1591826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신뢰경영지수 ‘교육 경력개발’ 상승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’24년 89점 → ’25년 93점, 4점↑</a:t>
            </a:r>
          </a:p>
        </p:txBody>
      </p:sp>
      <p:cxnSp>
        <p:nvCxnSpPr>
          <p:cNvPr id="35" name="Connector 24"/>
          <p:cNvCxnSpPr/>
          <p:nvPr/>
        </p:nvCxnSpPr>
        <p:spPr>
          <a:xfrm>
            <a:off x="5382000" y="2525478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6" name="레일"/>
          <p:cNvSpPr/>
          <p:nvPr/>
        </p:nvSpPr>
        <p:spPr>
          <a:xfrm>
            <a:off x="734087" y="3555391"/>
            <a:ext cx="580696" cy="1068261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7" name="레일"/>
          <p:cNvSpPr>
            <a:spLocks noGrp="1"/>
          </p:cNvSpPr>
          <p:nvPr>
            <p:ph type="body" sz="quarter" idx="33"/>
          </p:nvPr>
        </p:nvSpPr>
        <p:spPr>
          <a:xfrm>
            <a:off x="734087" y="3555391"/>
            <a:ext cx="580696" cy="1068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38" name="레일 삼각형"/>
          <p:cNvSpPr/>
          <p:nvPr/>
        </p:nvSpPr>
        <p:spPr>
          <a:xfrm>
            <a:off x="734086" y="3555391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4"/>
          </p:nvPr>
        </p:nvSpPr>
        <p:spPr>
          <a:xfrm>
            <a:off x="1358609" y="3577304"/>
            <a:ext cx="1591826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정체된 인사·복지 만족도 개선방안 마련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35"/>
          </p:nvPr>
        </p:nvSpPr>
        <p:spPr>
          <a:xfrm>
            <a:off x="2972348" y="3577304"/>
            <a:ext cx="2398696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공정성을 강화한 新승진제도(시험) 도입, 노사공동 전보제도 설계, 가족愛 행복캠프 실시 등 체감형 인사·복지제도 개선 ▶ p.99</a:t>
            </a:r>
          </a:p>
        </p:txBody>
      </p:sp>
      <p:cxnSp>
        <p:nvCxnSpPr>
          <p:cNvPr id="41" name="Connector 29"/>
          <p:cNvCxnSpPr/>
          <p:nvPr/>
        </p:nvCxnSpPr>
        <p:spPr>
          <a:xfrm>
            <a:off x="2961391" y="3610174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2" name="칸 본문"/>
          <p:cNvSpPr>
            <a:spLocks noGrp="1"/>
          </p:cNvSpPr>
          <p:nvPr>
            <p:ph type="body" sz="quarter" idx="36"/>
          </p:nvPr>
        </p:nvSpPr>
        <p:spPr>
          <a:xfrm>
            <a:off x="5392957" y="3577304"/>
            <a:ext cx="1591826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역대최고 인사만족도(77.9점), 복지만족도(4.21점) 달성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신뢰경영지수(인사·복지) 상승 * 승진 공정성 7점↑, 인프라 4점↑</a:t>
            </a:r>
          </a:p>
        </p:txBody>
      </p:sp>
      <p:cxnSp>
        <p:nvCxnSpPr>
          <p:cNvPr id="43" name="Connector 31"/>
          <p:cNvCxnSpPr/>
          <p:nvPr/>
        </p:nvCxnSpPr>
        <p:spPr>
          <a:xfrm>
            <a:off x="5382000" y="3610174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39 서사 · 조직 재정렬(비전 → 전략방향 → 조직진단 → 시사점 → 추진방향 → 중장기 조직·인력 운영방향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K-water 강점 기반, 국정목표 달성 리딩을 위한 조직 재정렬</a:t>
            </a:r>
          </a:p>
        </p:txBody>
      </p:sp>
      <p:sp>
        <p:nvSpPr>
          <p:cNvPr id="15" name="번호 띠 칩"/>
          <p:cNvSpPr/>
          <p:nvPr/>
        </p:nvSpPr>
        <p:spPr>
          <a:xfrm>
            <a:off x="6241922" y="832696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번호 띠 칩"/>
          <p:cNvSpPr>
            <a:spLocks noGrp="1"/>
          </p:cNvSpPr>
          <p:nvPr>
            <p:ph type="body" sz="quarter" idx="22"/>
          </p:nvPr>
        </p:nvSpPr>
        <p:spPr>
          <a:xfrm>
            <a:off x="6241922" y="832696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7" name="표 외곽"/>
          <p:cNvSpPr/>
          <p:nvPr/>
        </p:nvSpPr>
        <p:spPr>
          <a:xfrm>
            <a:off x="536870" y="1117565"/>
            <a:ext cx="6300000" cy="122321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레일"/>
          <p:cNvSpPr/>
          <p:nvPr/>
        </p:nvSpPr>
        <p:spPr>
          <a:xfrm>
            <a:off x="547826" y="1134000"/>
            <a:ext cx="580696" cy="2534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레일"/>
          <p:cNvSpPr>
            <a:spLocks noGrp="1"/>
          </p:cNvSpPr>
          <p:nvPr>
            <p:ph type="body" sz="quarter" idx="23"/>
          </p:nvPr>
        </p:nvSpPr>
        <p:spPr>
          <a:xfrm>
            <a:off x="547826" y="1134000"/>
            <a:ext cx="580696" cy="2534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비 전</a:t>
            </a:r>
          </a:p>
        </p:txBody>
      </p:sp>
      <p:sp>
        <p:nvSpPr>
          <p:cNvPr id="20" name="배너"/>
          <p:cNvSpPr/>
          <p:nvPr/>
        </p:nvSpPr>
        <p:spPr>
          <a:xfrm>
            <a:off x="1161391" y="1155913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1" name="배너"/>
          <p:cNvSpPr>
            <a:spLocks noGrp="1"/>
          </p:cNvSpPr>
          <p:nvPr>
            <p:ph type="body" sz="quarter" idx="24"/>
          </p:nvPr>
        </p:nvSpPr>
        <p:spPr>
          <a:xfrm>
            <a:off x="1161391" y="1155913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기후위기 대응을 선도하는 글로벌 물기업</a:t>
            </a:r>
          </a:p>
        </p:txBody>
      </p:sp>
      <p:sp>
        <p:nvSpPr>
          <p:cNvPr id="22" name="레일"/>
          <p:cNvSpPr/>
          <p:nvPr/>
        </p:nvSpPr>
        <p:spPr>
          <a:xfrm>
            <a:off x="547826" y="1403843"/>
            <a:ext cx="580696" cy="38488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3" name="레일"/>
          <p:cNvSpPr>
            <a:spLocks noGrp="1"/>
          </p:cNvSpPr>
          <p:nvPr>
            <p:ph type="body" sz="quarter" idx="25"/>
          </p:nvPr>
        </p:nvSpPr>
        <p:spPr>
          <a:xfrm>
            <a:off x="547826" y="1403843"/>
            <a:ext cx="580696" cy="3848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전략목표</a:t>
            </a:r>
          </a:p>
        </p:txBody>
      </p:sp>
      <p:sp>
        <p:nvSpPr>
          <p:cNvPr id="24" name="레일 삼각형"/>
          <p:cNvSpPr/>
          <p:nvPr/>
        </p:nvSpPr>
        <p:spPr>
          <a:xfrm>
            <a:off x="547826" y="1403843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5" name="배너"/>
          <p:cNvSpPr/>
          <p:nvPr/>
        </p:nvSpPr>
        <p:spPr>
          <a:xfrm>
            <a:off x="1161391" y="1425757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6" name="배너"/>
          <p:cNvSpPr>
            <a:spLocks noGrp="1"/>
          </p:cNvSpPr>
          <p:nvPr>
            <p:ph type="body" sz="quarter" idx="26"/>
          </p:nvPr>
        </p:nvSpPr>
        <p:spPr>
          <a:xfrm>
            <a:off x="1161391" y="1425757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새로운 물의 시대를 개척하는 기후위기 대응 솔루션 구현(2030년 AI 물관리 세계 1위 기업)</a:t>
            </a:r>
          </a:p>
        </p:txBody>
      </p:sp>
      <p:sp>
        <p:nvSpPr>
          <p:cNvPr id="27" name="레일"/>
          <p:cNvSpPr/>
          <p:nvPr/>
        </p:nvSpPr>
        <p:spPr>
          <a:xfrm>
            <a:off x="547826" y="1805165"/>
            <a:ext cx="580696" cy="51918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8" name="레일"/>
          <p:cNvSpPr>
            <a:spLocks noGrp="1"/>
          </p:cNvSpPr>
          <p:nvPr>
            <p:ph type="body" sz="quarter" idx="27"/>
          </p:nvPr>
        </p:nvSpPr>
        <p:spPr>
          <a:xfrm>
            <a:off x="547826" y="1805165"/>
            <a:ext cx="580696" cy="5191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전략방향</a:t>
            </a:r>
          </a:p>
        </p:txBody>
      </p:sp>
      <p:sp>
        <p:nvSpPr>
          <p:cNvPr id="29" name="레일 삼각형"/>
          <p:cNvSpPr/>
          <p:nvPr/>
        </p:nvSpPr>
        <p:spPr>
          <a:xfrm>
            <a:off x="547826" y="1805165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0" name="칸 본문"/>
          <p:cNvSpPr>
            <a:spLocks noGrp="1"/>
          </p:cNvSpPr>
          <p:nvPr>
            <p:ph type="body" sz="quarter" idx="28"/>
          </p:nvPr>
        </p:nvSpPr>
        <p:spPr>
          <a:xfrm>
            <a:off x="1172348" y="1827078"/>
            <a:ext cx="1390109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특화 안전 최우선 경영 + AI First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29"/>
          </p:nvPr>
        </p:nvSpPr>
        <p:spPr>
          <a:xfrm>
            <a:off x="2584370" y="1827078"/>
            <a:ext cx="4214152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사업·기능 국민·자연을 위한 기후안전망 강화 / 하이테크 기반의 물서비스 확대 / 재생에너지 확대 녹색도시 조성 / 물관리 해외수출 기후테크 육성 / 세계 최고 수준의 ESG 혁신경영 구현</a:t>
            </a:r>
          </a:p>
        </p:txBody>
      </p:sp>
      <p:cxnSp>
        <p:nvCxnSpPr>
          <p:cNvPr id="32" name="Connector 22"/>
          <p:cNvCxnSpPr/>
          <p:nvPr/>
        </p:nvCxnSpPr>
        <p:spPr>
          <a:xfrm>
            <a:off x="2573413" y="1859948"/>
            <a:ext cx="0" cy="4260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캡션 띠"/>
          <p:cNvSpPr/>
          <p:nvPr/>
        </p:nvSpPr>
        <p:spPr>
          <a:xfrm>
            <a:off x="536869" y="2362695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4" name="캡션"/>
          <p:cNvSpPr>
            <a:spLocks noGrp="1"/>
          </p:cNvSpPr>
          <p:nvPr>
            <p:ph type="body" sz="quarter" idx="30"/>
          </p:nvPr>
        </p:nvSpPr>
        <p:spPr>
          <a:xfrm>
            <a:off x="756000" y="2362696"/>
            <a:ext cx="5861739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【 【국정과제 중심의 전략체계 재정립을 토대로 조직진단 성과·분석 결과를 반영하여 조직 재설계】 】</a:t>
            </a:r>
          </a:p>
        </p:txBody>
      </p:sp>
      <p:sp>
        <p:nvSpPr>
          <p:cNvPr id="35" name="표 외곽"/>
          <p:cNvSpPr/>
          <p:nvPr/>
        </p:nvSpPr>
        <p:spPr>
          <a:xfrm>
            <a:off x="536870" y="2669478"/>
            <a:ext cx="6300000" cy="1440939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6" name="레일"/>
          <p:cNvSpPr/>
          <p:nvPr/>
        </p:nvSpPr>
        <p:spPr>
          <a:xfrm>
            <a:off x="547826" y="2685913"/>
            <a:ext cx="580696" cy="1006748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7" name="레일"/>
          <p:cNvSpPr>
            <a:spLocks noGrp="1"/>
          </p:cNvSpPr>
          <p:nvPr>
            <p:ph type="body" sz="quarter" idx="31"/>
          </p:nvPr>
        </p:nvSpPr>
        <p:spPr>
          <a:xfrm>
            <a:off x="547826" y="2685913"/>
            <a:ext cx="580696" cy="10067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조직진단</a:t>
            </a:r>
          </a:p>
        </p:txBody>
      </p:sp>
      <p:sp>
        <p:nvSpPr>
          <p:cNvPr id="38" name="배너"/>
          <p:cNvSpPr/>
          <p:nvPr/>
        </p:nvSpPr>
        <p:spPr>
          <a:xfrm>
            <a:off x="1161391" y="2707826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9" name="배너"/>
          <p:cNvSpPr>
            <a:spLocks noGrp="1"/>
          </p:cNvSpPr>
          <p:nvPr>
            <p:ph type="body" sz="quarter" idx="32"/>
          </p:nvPr>
        </p:nvSpPr>
        <p:spPr>
          <a:xfrm>
            <a:off x="1161391" y="2707826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 공동으로 건전한 토론과 협의를 통해 최적 조직개편방안 모색</a:t>
            </a:r>
          </a:p>
        </p:txBody>
      </p:sp>
      <p:sp>
        <p:nvSpPr>
          <p:cNvPr id="40" name="단계"/>
          <p:cNvSpPr/>
          <p:nvPr/>
        </p:nvSpPr>
        <p:spPr>
          <a:xfrm>
            <a:off x="1161391" y="2943391"/>
            <a:ext cx="141202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1" name="단계"/>
          <p:cNvSpPr>
            <a:spLocks noGrp="1"/>
          </p:cNvSpPr>
          <p:nvPr>
            <p:ph type="body" sz="quarter" idx="33"/>
          </p:nvPr>
        </p:nvSpPr>
        <p:spPr>
          <a:xfrm>
            <a:off x="1161391" y="2943391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희망 숲부서 방문</a:t>
            </a:r>
          </a:p>
        </p:txBody>
      </p:sp>
      <p:sp>
        <p:nvSpPr>
          <p:cNvPr id="42" name="단계"/>
          <p:cNvSpPr/>
          <p:nvPr/>
        </p:nvSpPr>
        <p:spPr>
          <a:xfrm>
            <a:off x="2573413" y="2943391"/>
            <a:ext cx="1412022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3" name="단계"/>
          <p:cNvSpPr>
            <a:spLocks noGrp="1"/>
          </p:cNvSpPr>
          <p:nvPr>
            <p:ph type="body" sz="quarter" idx="34"/>
          </p:nvPr>
        </p:nvSpPr>
        <p:spPr>
          <a:xfrm>
            <a:off x="2573413" y="2943391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노사공동 조직발전TF 운영</a:t>
            </a:r>
          </a:p>
        </p:txBody>
      </p:sp>
      <p:sp>
        <p:nvSpPr>
          <p:cNvPr id="44" name="단계"/>
          <p:cNvSpPr/>
          <p:nvPr/>
        </p:nvSpPr>
        <p:spPr>
          <a:xfrm>
            <a:off x="3985435" y="2943391"/>
            <a:ext cx="1412022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5" name="단계"/>
          <p:cNvSpPr>
            <a:spLocks noGrp="1"/>
          </p:cNvSpPr>
          <p:nvPr>
            <p:ph type="body" sz="quarter" idx="35"/>
          </p:nvPr>
        </p:nvSpPr>
        <p:spPr>
          <a:xfrm>
            <a:off x="3985435" y="2943391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직원 의견수렴</a:t>
            </a:r>
          </a:p>
        </p:txBody>
      </p:sp>
      <p:sp>
        <p:nvSpPr>
          <p:cNvPr id="46" name="단계"/>
          <p:cNvSpPr/>
          <p:nvPr/>
        </p:nvSpPr>
        <p:spPr>
          <a:xfrm>
            <a:off x="5397457" y="2943391"/>
            <a:ext cx="1412022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7" name="단계"/>
          <p:cNvSpPr>
            <a:spLocks noGrp="1"/>
          </p:cNvSpPr>
          <p:nvPr>
            <p:ph type="body" sz="quarter" idx="36"/>
          </p:nvPr>
        </p:nvSpPr>
        <p:spPr>
          <a:xfrm>
            <a:off x="5397457" y="2943391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계획수립</a:t>
            </a:r>
          </a:p>
        </p:txBody>
      </p:sp>
      <p:sp>
        <p:nvSpPr>
          <p:cNvPr id="48" name="단계 삼각형"/>
          <p:cNvSpPr/>
          <p:nvPr/>
        </p:nvSpPr>
        <p:spPr>
          <a:xfrm>
            <a:off x="2573413" y="2943391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9" name="단계 삼각형"/>
          <p:cNvSpPr/>
          <p:nvPr/>
        </p:nvSpPr>
        <p:spPr>
          <a:xfrm>
            <a:off x="3985434" y="2943391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0" name="단계 삼각형"/>
          <p:cNvSpPr/>
          <p:nvPr/>
        </p:nvSpPr>
        <p:spPr>
          <a:xfrm>
            <a:off x="5397456" y="2943391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1" name="칸 본문"/>
          <p:cNvSpPr>
            <a:spLocks noGrp="1"/>
          </p:cNvSpPr>
          <p:nvPr>
            <p:ph type="body" sz="quarter" idx="37"/>
          </p:nvPr>
        </p:nvSpPr>
        <p:spPr>
          <a:xfrm>
            <a:off x="1172348" y="3195391"/>
            <a:ext cx="1390109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노사공동 방문 진단(87개)</a:t>
            </a:r>
          </a:p>
        </p:txBody>
      </p:sp>
      <p:sp>
        <p:nvSpPr>
          <p:cNvPr id="52" name="칸 본문"/>
          <p:cNvSpPr>
            <a:spLocks noGrp="1"/>
          </p:cNvSpPr>
          <p:nvPr>
            <p:ph type="body" sz="quarter" idx="38"/>
          </p:nvPr>
        </p:nvSpPr>
        <p:spPr>
          <a:xfrm>
            <a:off x="2584370" y="3195391"/>
            <a:ext cx="1390109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AI·안전·에너지·건설 등 직무 전문가 인터뷰, 심층토론(7회)</a:t>
            </a:r>
          </a:p>
        </p:txBody>
      </p:sp>
      <p:cxnSp>
        <p:nvCxnSpPr>
          <p:cNvPr id="53" name="Connector 37"/>
          <p:cNvCxnSpPr/>
          <p:nvPr/>
        </p:nvCxnSpPr>
        <p:spPr>
          <a:xfrm>
            <a:off x="2573413" y="3228261"/>
            <a:ext cx="0" cy="4260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4" name="칸 본문"/>
          <p:cNvSpPr>
            <a:spLocks noGrp="1"/>
          </p:cNvSpPr>
          <p:nvPr>
            <p:ph type="body" sz="quarter" idx="39"/>
          </p:nvPr>
        </p:nvSpPr>
        <p:spPr>
          <a:xfrm>
            <a:off x="3996391" y="3195391"/>
            <a:ext cx="1390109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全직원 설문(2회)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전사 설명회(5회)</a:t>
            </a:r>
          </a:p>
        </p:txBody>
      </p:sp>
      <p:cxnSp>
        <p:nvCxnSpPr>
          <p:cNvPr id="55" name="Connector 39"/>
          <p:cNvCxnSpPr/>
          <p:nvPr/>
        </p:nvCxnSpPr>
        <p:spPr>
          <a:xfrm>
            <a:off x="3985435" y="3228261"/>
            <a:ext cx="0" cy="4260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6" name="칸 본문"/>
          <p:cNvSpPr>
            <a:spLocks noGrp="1"/>
          </p:cNvSpPr>
          <p:nvPr>
            <p:ph type="body" sz="quarter" idx="40"/>
          </p:nvPr>
        </p:nvSpPr>
        <p:spPr>
          <a:xfrm>
            <a:off x="5408413" y="3195391"/>
            <a:ext cx="1390109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중기 조직·인력운용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단기 조직개편(안)</a:t>
            </a:r>
          </a:p>
        </p:txBody>
      </p:sp>
      <p:cxnSp>
        <p:nvCxnSpPr>
          <p:cNvPr id="57" name="Connector 41"/>
          <p:cNvCxnSpPr/>
          <p:nvPr/>
        </p:nvCxnSpPr>
        <p:spPr>
          <a:xfrm>
            <a:off x="5397457" y="3228261"/>
            <a:ext cx="0" cy="4260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8" name="레일"/>
          <p:cNvSpPr/>
          <p:nvPr/>
        </p:nvSpPr>
        <p:spPr>
          <a:xfrm>
            <a:off x="547826" y="3709096"/>
            <a:ext cx="580696" cy="3848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9" name="레일"/>
          <p:cNvSpPr>
            <a:spLocks noGrp="1"/>
          </p:cNvSpPr>
          <p:nvPr>
            <p:ph type="body" sz="quarter" idx="41"/>
          </p:nvPr>
        </p:nvSpPr>
        <p:spPr>
          <a:xfrm>
            <a:off x="547826" y="3709096"/>
            <a:ext cx="580696" cy="3848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주요의견</a:t>
            </a:r>
          </a:p>
        </p:txBody>
      </p:sp>
      <p:sp>
        <p:nvSpPr>
          <p:cNvPr id="60" name="레일 삼각형"/>
          <p:cNvSpPr/>
          <p:nvPr/>
        </p:nvSpPr>
        <p:spPr>
          <a:xfrm>
            <a:off x="547826" y="3709095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1" name="칸 본문"/>
          <p:cNvSpPr>
            <a:spLocks noGrp="1"/>
          </p:cNvSpPr>
          <p:nvPr>
            <p:ph type="body" sz="quarter" idx="42"/>
          </p:nvPr>
        </p:nvSpPr>
        <p:spPr>
          <a:xfrm>
            <a:off x="1172348" y="3731009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미래성장동력 발굴·신속 대응(컨트롤타워 구축·역량 집중)</a:t>
            </a:r>
          </a:p>
        </p:txBody>
      </p:sp>
      <p:sp>
        <p:nvSpPr>
          <p:cNvPr id="62" name="칸 본문"/>
          <p:cNvSpPr>
            <a:spLocks noGrp="1"/>
          </p:cNvSpPr>
          <p:nvPr>
            <p:ph type="body" sz="quarter" idx="43"/>
          </p:nvPr>
        </p:nvSpPr>
        <p:spPr>
          <a:xfrm>
            <a:off x="3055043" y="3731009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 이행 전담조직 권한·역할·책임 명확화</a:t>
            </a:r>
          </a:p>
        </p:txBody>
      </p:sp>
      <p:cxnSp>
        <p:nvCxnSpPr>
          <p:cNvPr id="63" name="Connector 46"/>
          <p:cNvCxnSpPr/>
          <p:nvPr/>
        </p:nvCxnSpPr>
        <p:spPr>
          <a:xfrm>
            <a:off x="3044087" y="3763878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4" name="칸 본문"/>
          <p:cNvSpPr>
            <a:spLocks noGrp="1"/>
          </p:cNvSpPr>
          <p:nvPr>
            <p:ph type="body" sz="quarter" idx="44"/>
          </p:nvPr>
        </p:nvSpPr>
        <p:spPr>
          <a:xfrm>
            <a:off x="4937739" y="3731009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 이행·현장작동성 중심 효율적 인력배분</a:t>
            </a:r>
          </a:p>
        </p:txBody>
      </p:sp>
      <p:cxnSp>
        <p:nvCxnSpPr>
          <p:cNvPr id="65" name="Connector 48"/>
          <p:cNvCxnSpPr/>
          <p:nvPr/>
        </p:nvCxnSpPr>
        <p:spPr>
          <a:xfrm>
            <a:off x="4926783" y="3763878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6" name="캡션 띠"/>
          <p:cNvSpPr/>
          <p:nvPr/>
        </p:nvSpPr>
        <p:spPr>
          <a:xfrm>
            <a:off x="536869" y="4132330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7" name="태그"/>
          <p:cNvSpPr/>
          <p:nvPr/>
        </p:nvSpPr>
        <p:spPr>
          <a:xfrm>
            <a:off x="865565" y="4176157"/>
            <a:ext cx="438871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68" name="태그"/>
          <p:cNvSpPr>
            <a:spLocks noGrp="1"/>
          </p:cNvSpPr>
          <p:nvPr>
            <p:ph type="body" sz="quarter" idx="45"/>
          </p:nvPr>
        </p:nvSpPr>
        <p:spPr>
          <a:xfrm>
            <a:off x="865565" y="4176157"/>
            <a:ext cx="438871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69" name="캡션"/>
          <p:cNvSpPr>
            <a:spLocks noGrp="1"/>
          </p:cNvSpPr>
          <p:nvPr>
            <p:ph type="body" sz="quarter" idx="46"/>
          </p:nvPr>
        </p:nvSpPr>
        <p:spPr>
          <a:xfrm>
            <a:off x="1359219" y="4132330"/>
            <a:ext cx="5258520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‘미래성장 리딩을 위한 전략적 대응’과 ‘실행 중심 민첩대응’의 양손잡이 조직 설계</a:t>
            </a:r>
          </a:p>
        </p:txBody>
      </p:sp>
      <p:sp>
        <p:nvSpPr>
          <p:cNvPr id="70" name="표 외곽"/>
          <p:cNvSpPr/>
          <p:nvPr/>
        </p:nvSpPr>
        <p:spPr>
          <a:xfrm>
            <a:off x="536870" y="4439113"/>
            <a:ext cx="6300000" cy="2247652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1" name="레일"/>
          <p:cNvSpPr/>
          <p:nvPr/>
        </p:nvSpPr>
        <p:spPr>
          <a:xfrm>
            <a:off x="547826" y="4455548"/>
            <a:ext cx="580696" cy="87104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2" name="레일"/>
          <p:cNvSpPr>
            <a:spLocks noGrp="1"/>
          </p:cNvSpPr>
          <p:nvPr>
            <p:ph type="body" sz="quarter" idx="47"/>
          </p:nvPr>
        </p:nvSpPr>
        <p:spPr>
          <a:xfrm>
            <a:off x="547826" y="4455548"/>
            <a:ext cx="580696" cy="87104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추진방향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실행과제</a:t>
            </a:r>
          </a:p>
        </p:txBody>
      </p:sp>
      <p:sp>
        <p:nvSpPr>
          <p:cNvPr id="73" name="머리칸"/>
          <p:cNvSpPr/>
          <p:nvPr/>
        </p:nvSpPr>
        <p:spPr>
          <a:xfrm>
            <a:off x="1161391" y="447746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4" name="머리칸"/>
          <p:cNvSpPr>
            <a:spLocks noGrp="1"/>
          </p:cNvSpPr>
          <p:nvPr>
            <p:ph type="body" sz="quarter" idx="48"/>
          </p:nvPr>
        </p:nvSpPr>
        <p:spPr>
          <a:xfrm>
            <a:off x="1161391" y="447746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미래성장동력 드라이브</a:t>
            </a:r>
          </a:p>
        </p:txBody>
      </p:sp>
      <p:sp>
        <p:nvSpPr>
          <p:cNvPr id="75" name="머리칸"/>
          <p:cNvSpPr/>
          <p:nvPr/>
        </p:nvSpPr>
        <p:spPr>
          <a:xfrm>
            <a:off x="3044087" y="447746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6" name="머리칸"/>
          <p:cNvSpPr>
            <a:spLocks noGrp="1"/>
          </p:cNvSpPr>
          <p:nvPr>
            <p:ph type="body" sz="quarter" idx="49"/>
          </p:nvPr>
        </p:nvSpPr>
        <p:spPr>
          <a:xfrm>
            <a:off x="3044087" y="447746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핵심기능 실행력 확보</a:t>
            </a:r>
          </a:p>
        </p:txBody>
      </p:sp>
      <p:sp>
        <p:nvSpPr>
          <p:cNvPr id="77" name="머리칸"/>
          <p:cNvSpPr/>
          <p:nvPr/>
        </p:nvSpPr>
        <p:spPr>
          <a:xfrm>
            <a:off x="4926783" y="447746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8" name="머리칸"/>
          <p:cNvSpPr>
            <a:spLocks noGrp="1"/>
          </p:cNvSpPr>
          <p:nvPr>
            <p:ph type="body" sz="quarter" idx="50"/>
          </p:nvPr>
        </p:nvSpPr>
        <p:spPr>
          <a:xfrm>
            <a:off x="4926783" y="447746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최적 인력 운영</a:t>
            </a:r>
          </a:p>
        </p:txBody>
      </p:sp>
      <p:sp>
        <p:nvSpPr>
          <p:cNvPr id="79" name="칸 본문"/>
          <p:cNvSpPr>
            <a:spLocks noGrp="1"/>
          </p:cNvSpPr>
          <p:nvPr>
            <p:ph type="body" sz="quarter" idx="51"/>
          </p:nvPr>
        </p:nvSpPr>
        <p:spPr>
          <a:xfrm>
            <a:off x="1172348" y="4718504"/>
            <a:ext cx="1860783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총괄 컨트롤타워 신설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재생에너지 조직 대폭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첨단산업 물수요 적기 대응</a:t>
            </a:r>
          </a:p>
        </p:txBody>
      </p:sp>
      <p:sp>
        <p:nvSpPr>
          <p:cNvPr id="80" name="칸 본문"/>
          <p:cNvSpPr>
            <a:spLocks noGrp="1"/>
          </p:cNvSpPr>
          <p:nvPr>
            <p:ph type="body" sz="quarter" idx="52"/>
          </p:nvPr>
        </p:nvSpPr>
        <p:spPr>
          <a:xfrm>
            <a:off x="3055043" y="4718504"/>
            <a:ext cx="1860783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안전관리 실행체계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해외사업 R&amp;R 정립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이슈 연계형 전담조직 운영</a:t>
            </a:r>
          </a:p>
        </p:txBody>
      </p:sp>
      <p:cxnSp>
        <p:nvCxnSpPr>
          <p:cNvPr id="81" name="Connector 59"/>
          <p:cNvCxnSpPr/>
          <p:nvPr/>
        </p:nvCxnSpPr>
        <p:spPr>
          <a:xfrm>
            <a:off x="3044087" y="4751374"/>
            <a:ext cx="0" cy="536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2" name="칸 본문"/>
          <p:cNvSpPr>
            <a:spLocks noGrp="1"/>
          </p:cNvSpPr>
          <p:nvPr>
            <p:ph type="body" sz="quarter" idx="53"/>
          </p:nvPr>
        </p:nvSpPr>
        <p:spPr>
          <a:xfrm>
            <a:off x="4937739" y="4718504"/>
            <a:ext cx="1860783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끊임없는 인력제도 혁신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최적 인력자원 배분관리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시스템 기반 조직관리 정착</a:t>
            </a:r>
          </a:p>
        </p:txBody>
      </p:sp>
      <p:cxnSp>
        <p:nvCxnSpPr>
          <p:cNvPr id="83" name="Connector 61"/>
          <p:cNvCxnSpPr/>
          <p:nvPr/>
        </p:nvCxnSpPr>
        <p:spPr>
          <a:xfrm>
            <a:off x="4926783" y="4751374"/>
            <a:ext cx="0" cy="536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4" name="레일"/>
          <p:cNvSpPr/>
          <p:nvPr/>
        </p:nvSpPr>
        <p:spPr>
          <a:xfrm>
            <a:off x="547826" y="5343026"/>
            <a:ext cx="580696" cy="1327304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85" name="레일"/>
          <p:cNvSpPr>
            <a:spLocks noGrp="1"/>
          </p:cNvSpPr>
          <p:nvPr>
            <p:ph type="body" sz="quarter" idx="54"/>
          </p:nvPr>
        </p:nvSpPr>
        <p:spPr>
          <a:xfrm>
            <a:off x="547826" y="5343026"/>
            <a:ext cx="580696" cy="1327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조직인력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운영방향</a:t>
            </a:r>
          </a:p>
        </p:txBody>
      </p:sp>
      <p:sp>
        <p:nvSpPr>
          <p:cNvPr id="86" name="레일 삼각형"/>
          <p:cNvSpPr/>
          <p:nvPr/>
        </p:nvSpPr>
        <p:spPr>
          <a:xfrm>
            <a:off x="547826" y="5343026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87" name="배너"/>
          <p:cNvSpPr/>
          <p:nvPr/>
        </p:nvSpPr>
        <p:spPr>
          <a:xfrm>
            <a:off x="1161391" y="5364939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88" name="배너"/>
          <p:cNvSpPr>
            <a:spLocks noGrp="1"/>
          </p:cNvSpPr>
          <p:nvPr>
            <p:ph type="body" sz="quarter" idx="55"/>
          </p:nvPr>
        </p:nvSpPr>
        <p:spPr>
          <a:xfrm>
            <a:off x="1161391" y="5364939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중장기 조직·인력 운영방향</a:t>
            </a:r>
          </a:p>
        </p:txBody>
      </p:sp>
      <p:sp>
        <p:nvSpPr>
          <p:cNvPr id="89" name="단계"/>
          <p:cNvSpPr/>
          <p:nvPr/>
        </p:nvSpPr>
        <p:spPr>
          <a:xfrm>
            <a:off x="1161391" y="5600504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90" name="단계"/>
          <p:cNvSpPr>
            <a:spLocks noGrp="1"/>
          </p:cNvSpPr>
          <p:nvPr>
            <p:ph type="body" sz="quarter" idx="56"/>
          </p:nvPr>
        </p:nvSpPr>
        <p:spPr>
          <a:xfrm>
            <a:off x="1161391" y="560050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단기(’25~’27) ~’27 6,596명</a:t>
            </a:r>
          </a:p>
        </p:txBody>
      </p:sp>
      <p:sp>
        <p:nvSpPr>
          <p:cNvPr id="91" name="단계"/>
          <p:cNvSpPr/>
          <p:nvPr/>
        </p:nvSpPr>
        <p:spPr>
          <a:xfrm>
            <a:off x="3044087" y="5600504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92" name="단계"/>
          <p:cNvSpPr>
            <a:spLocks noGrp="1"/>
          </p:cNvSpPr>
          <p:nvPr>
            <p:ph type="body" sz="quarter" idx="57"/>
          </p:nvPr>
        </p:nvSpPr>
        <p:spPr>
          <a:xfrm>
            <a:off x="3044087" y="560050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중기(’28~’30) ~’30 6,747명</a:t>
            </a:r>
          </a:p>
        </p:txBody>
      </p:sp>
      <p:sp>
        <p:nvSpPr>
          <p:cNvPr id="93" name="단계"/>
          <p:cNvSpPr/>
          <p:nvPr/>
        </p:nvSpPr>
        <p:spPr>
          <a:xfrm>
            <a:off x="4926783" y="5600504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94" name="단계"/>
          <p:cNvSpPr>
            <a:spLocks noGrp="1"/>
          </p:cNvSpPr>
          <p:nvPr>
            <p:ph type="body" sz="quarter" idx="58"/>
          </p:nvPr>
        </p:nvSpPr>
        <p:spPr>
          <a:xfrm>
            <a:off x="4926783" y="560050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장기(’30~’33) ~’33 6,850명</a:t>
            </a:r>
          </a:p>
        </p:txBody>
      </p:sp>
      <p:sp>
        <p:nvSpPr>
          <p:cNvPr id="95" name="단계 삼각형"/>
          <p:cNvSpPr/>
          <p:nvPr/>
        </p:nvSpPr>
        <p:spPr>
          <a:xfrm>
            <a:off x="3044086" y="5600504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96" name="단계 삼각형"/>
          <p:cNvSpPr/>
          <p:nvPr/>
        </p:nvSpPr>
        <p:spPr>
          <a:xfrm>
            <a:off x="4926782" y="5600504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97" name="칸 본문"/>
          <p:cNvSpPr>
            <a:spLocks noGrp="1"/>
          </p:cNvSpPr>
          <p:nvPr>
            <p:ph type="body" sz="quarter" idx="59"/>
          </p:nvPr>
        </p:nvSpPr>
        <p:spPr>
          <a:xfrm>
            <a:off x="1172348" y="5852504"/>
            <a:ext cx="1860783" cy="812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초순수·첨단용수 지원기반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시장진출 기반 조성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보강 거점 건설전담조직 집중 / 효율화 수도 AX, DX전환 돌입</a:t>
            </a:r>
          </a:p>
        </p:txBody>
      </p:sp>
      <p:sp>
        <p:nvSpPr>
          <p:cNvPr id="98" name="칸 본문"/>
          <p:cNvSpPr>
            <a:spLocks noGrp="1"/>
          </p:cNvSpPr>
          <p:nvPr>
            <p:ph type="body" sz="quarter" idx="60"/>
          </p:nvPr>
        </p:nvSpPr>
        <p:spPr>
          <a:xfrm>
            <a:off x="3055043" y="5852504"/>
            <a:ext cx="1860783" cy="812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재생에너지 등 업무역량 결집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민관협력 글로벌시장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보강 반도체용수 2단계 착공 / 효율화 AI 완전 자율화 3단계 달성</a:t>
            </a:r>
          </a:p>
        </p:txBody>
      </p:sp>
      <p:cxnSp>
        <p:nvCxnSpPr>
          <p:cNvPr id="99" name="Connector 72"/>
          <p:cNvCxnSpPr/>
          <p:nvPr/>
        </p:nvCxnSpPr>
        <p:spPr>
          <a:xfrm>
            <a:off x="3044087" y="5885374"/>
            <a:ext cx="0" cy="746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00" name="칸 본문"/>
          <p:cNvSpPr>
            <a:spLocks noGrp="1"/>
          </p:cNvSpPr>
          <p:nvPr>
            <p:ph type="body" sz="quarter" idx="61"/>
          </p:nvPr>
        </p:nvSpPr>
        <p:spPr>
          <a:xfrm>
            <a:off x="4937739" y="5852504"/>
            <a:ext cx="1860783" cy="812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유역단위 시설 운영 최적화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글로벌사업 안착, 新사업 발굴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보강 新사업분야 발굴, 운영 / 효율화 기존사업 통합 운영</a:t>
            </a:r>
          </a:p>
        </p:txBody>
      </p:sp>
      <p:cxnSp>
        <p:nvCxnSpPr>
          <p:cNvPr id="101" name="Connector 74"/>
          <p:cNvCxnSpPr/>
          <p:nvPr/>
        </p:nvCxnSpPr>
        <p:spPr>
          <a:xfrm>
            <a:off x="4926783" y="5885374"/>
            <a:ext cx="0" cy="746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40 서사 · 미래성장 드라이브(3대 전사 TF 운영 → 과감한 조직 정비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3대 전사 TF 기반 과감한 조직 정비를 통한 미래 준비</a:t>
            </a:r>
          </a:p>
        </p:txBody>
      </p:sp>
      <p:sp>
        <p:nvSpPr>
          <p:cNvPr id="14" name="표 외곽"/>
          <p:cNvSpPr/>
          <p:nvPr/>
        </p:nvSpPr>
        <p:spPr>
          <a:xfrm>
            <a:off x="723130" y="1128522"/>
            <a:ext cx="6300000" cy="124356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734087" y="1144957"/>
            <a:ext cx="580696" cy="121069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144957"/>
            <a:ext cx="580696" cy="121069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전사TF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운 영</a:t>
            </a:r>
          </a:p>
        </p:txBody>
      </p:sp>
      <p:sp>
        <p:nvSpPr>
          <p:cNvPr id="17" name="배너"/>
          <p:cNvSpPr/>
          <p:nvPr/>
        </p:nvSpPr>
        <p:spPr>
          <a:xfrm>
            <a:off x="1347652" y="1166870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18" name="배너"/>
          <p:cNvSpPr>
            <a:spLocks noGrp="1"/>
          </p:cNvSpPr>
          <p:nvPr>
            <p:ph type="body" sz="quarter" idx="23"/>
          </p:nvPr>
        </p:nvSpPr>
        <p:spPr>
          <a:xfrm>
            <a:off x="1347652" y="1166870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AX와 녹색전환을 핵심 성장동력으로 설정, 3대 미래분야 전사TF를 선제 운영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4"/>
          </p:nvPr>
        </p:nvSpPr>
        <p:spPr>
          <a:xfrm>
            <a:off x="1358609" y="1402435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First 전략기획단(6월~) / AI+Water 글로벌 모델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목표 2030 AI 물관리 글로벌 1위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5"/>
          </p:nvPr>
        </p:nvSpPr>
        <p:spPr>
          <a:xfrm>
            <a:off x="3241304" y="1402435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물에너지 Re:boot TF(3월~) / 국가 탄소중립과 기업 RE100 달성 기여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목표 2030 재생e 10GW 개발</a:t>
            </a:r>
          </a:p>
        </p:txBody>
      </p:sp>
      <p:cxnSp>
        <p:nvCxnSpPr>
          <p:cNvPr id="21" name="Connector 13"/>
          <p:cNvCxnSpPr/>
          <p:nvPr/>
        </p:nvCxnSpPr>
        <p:spPr>
          <a:xfrm>
            <a:off x="3230348" y="1435304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2" name="칸 본문"/>
          <p:cNvSpPr>
            <a:spLocks noGrp="1"/>
          </p:cNvSpPr>
          <p:nvPr>
            <p:ph type="body" sz="quarter" idx="26"/>
          </p:nvPr>
        </p:nvSpPr>
        <p:spPr>
          <a:xfrm>
            <a:off x="5124000" y="1402435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산업용수 활성화 TF(3월~) / 맞춤형 첨단용수 공급망 AtoZ 스피드업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목표 2030 일 87만㎥ 선제 공급</a:t>
            </a:r>
          </a:p>
        </p:txBody>
      </p:sp>
      <p:cxnSp>
        <p:nvCxnSpPr>
          <p:cNvPr id="23" name="Connector 15"/>
          <p:cNvCxnSpPr/>
          <p:nvPr/>
        </p:nvCxnSpPr>
        <p:spPr>
          <a:xfrm>
            <a:off x="5113043" y="1435304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4" name="배너"/>
          <p:cNvSpPr/>
          <p:nvPr/>
        </p:nvSpPr>
        <p:spPr>
          <a:xfrm>
            <a:off x="1347652" y="2131043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5" name="배너"/>
          <p:cNvSpPr>
            <a:spLocks noGrp="1"/>
          </p:cNvSpPr>
          <p:nvPr>
            <p:ph type="body" sz="quarter" idx="27"/>
          </p:nvPr>
        </p:nvSpPr>
        <p:spPr>
          <a:xfrm>
            <a:off x="1347652" y="2131043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미래성장분야 2030 목표 달성 이행을 위해 실행조직 신속 정비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41 서사 · AI 물관리 성과 확산체계(정책 → 전략 → AI 전담 실행조직 → 유기적 AI 조직체계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4286812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2020년부터 선도적으로 준비한 ‘AI 물관리 성과’ 본격 확산체계 마련</a:t>
            </a:r>
          </a:p>
        </p:txBody>
      </p:sp>
      <p:sp>
        <p:nvSpPr>
          <p:cNvPr id="12" name="태그칩"/>
          <p:cNvSpPr/>
          <p:nvPr/>
        </p:nvSpPr>
        <p:spPr>
          <a:xfrm>
            <a:off x="4922291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922291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태그칩"/>
          <p:cNvSpPr/>
          <p:nvPr/>
        </p:nvSpPr>
        <p:spPr>
          <a:xfrm>
            <a:off x="5473412" y="799826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2"/>
          </p:nvPr>
        </p:nvSpPr>
        <p:spPr>
          <a:xfrm>
            <a:off x="5473412" y="799826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6" name="표 외곽"/>
          <p:cNvSpPr/>
          <p:nvPr/>
        </p:nvSpPr>
        <p:spPr>
          <a:xfrm>
            <a:off x="536870" y="1051826"/>
            <a:ext cx="6300000" cy="158869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547826" y="1068261"/>
            <a:ext cx="580696" cy="155582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3"/>
          </p:nvPr>
        </p:nvSpPr>
        <p:spPr>
          <a:xfrm>
            <a:off x="547826" y="1068261"/>
            <a:ext cx="580696" cy="1555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AI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FIRST</a:t>
            </a:r>
          </a:p>
        </p:txBody>
      </p:sp>
      <p:sp>
        <p:nvSpPr>
          <p:cNvPr id="19" name="태그"/>
          <p:cNvSpPr/>
          <p:nvPr/>
        </p:nvSpPr>
        <p:spPr>
          <a:xfrm>
            <a:off x="1161391" y="1112087"/>
            <a:ext cx="361972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태그"/>
          <p:cNvSpPr>
            <a:spLocks noGrp="1"/>
          </p:cNvSpPr>
          <p:nvPr>
            <p:ph type="body" sz="quarter" idx="24"/>
          </p:nvPr>
        </p:nvSpPr>
        <p:spPr>
          <a:xfrm>
            <a:off x="1161391" y="1112087"/>
            <a:ext cx="36197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정책</a:t>
            </a:r>
          </a:p>
        </p:txBody>
      </p:sp>
      <p:sp>
        <p:nvSpPr>
          <p:cNvPr id="21" name="태그 설명"/>
          <p:cNvSpPr>
            <a:spLocks noGrp="1"/>
          </p:cNvSpPr>
          <p:nvPr>
            <p:ph type="body" sz="quarter" idx="25"/>
          </p:nvPr>
        </p:nvSpPr>
        <p:spPr>
          <a:xfrm>
            <a:off x="1567189" y="1101130"/>
            <a:ext cx="5242289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3대 강국 도약(AX 통한 新산업 창출) ➡ 전략 AI+Water 분야 선점(물순환 全과정 AX 본격화)</a:t>
            </a:r>
          </a:p>
        </p:txBody>
      </p:sp>
      <p:sp>
        <p:nvSpPr>
          <p:cNvPr id="22" name="단계"/>
          <p:cNvSpPr/>
          <p:nvPr/>
        </p:nvSpPr>
        <p:spPr>
          <a:xfrm>
            <a:off x="1161391" y="1325739"/>
            <a:ext cx="2824043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3" name="단계"/>
          <p:cNvSpPr>
            <a:spLocks noGrp="1"/>
          </p:cNvSpPr>
          <p:nvPr>
            <p:ph type="body" sz="quarter" idx="26"/>
          </p:nvPr>
        </p:nvSpPr>
        <p:spPr>
          <a:xfrm>
            <a:off x="1161391" y="1325739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전담 실행조직 신설·강화</a:t>
            </a:r>
          </a:p>
        </p:txBody>
      </p:sp>
      <p:sp>
        <p:nvSpPr>
          <p:cNvPr id="24" name="단계"/>
          <p:cNvSpPr/>
          <p:nvPr/>
        </p:nvSpPr>
        <p:spPr>
          <a:xfrm>
            <a:off x="3985435" y="1325739"/>
            <a:ext cx="2824043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5" name="단계"/>
          <p:cNvSpPr>
            <a:spLocks noGrp="1"/>
          </p:cNvSpPr>
          <p:nvPr>
            <p:ph type="body" sz="quarter" idx="27"/>
          </p:nvPr>
        </p:nvSpPr>
        <p:spPr>
          <a:xfrm>
            <a:off x="3985435" y="1325739"/>
            <a:ext cx="2824043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유기적 AI 조직체계 구축</a:t>
            </a:r>
          </a:p>
        </p:txBody>
      </p:sp>
      <p:sp>
        <p:nvSpPr>
          <p:cNvPr id="26" name="단계 삼각형"/>
          <p:cNvSpPr/>
          <p:nvPr/>
        </p:nvSpPr>
        <p:spPr>
          <a:xfrm>
            <a:off x="3985434" y="1325739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7" name="칸 본문"/>
          <p:cNvSpPr>
            <a:spLocks noGrp="1"/>
          </p:cNvSpPr>
          <p:nvPr>
            <p:ph type="body" sz="quarter" idx="28"/>
          </p:nvPr>
        </p:nvSpPr>
        <p:spPr>
          <a:xfrm>
            <a:off x="1172348" y="1577739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총괄 AI 본부 신설, 3처 7부(部) 구성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1단계/기반구축 디지털전환추진단 → 2단계/성과확산 AI 추진단 → 3단계/핵심화 AI 본부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AI혁신처 기획·정책지원 / 디지털관리처 정보시스템 관리 / AI데이터센터 데이터 총괄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연구 AI연구센터(’21~)를 연구소(부서)로 격상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9"/>
          </p:nvPr>
        </p:nvSpPr>
        <p:spPr>
          <a:xfrm>
            <a:off x="3996391" y="1577739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총괄(본부) - 연구 - 도메인(현장) 협업체계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AI전환 총괄, 전사 전략화: AI 본부 ↔ AI 연구소(핵심기술 R&amp;D, 기술현안 검증)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보유기술 확산·사업화 ↔ 도메인조직(사업부문, 현장부서) ↔ 현장작동성·이슈 도출</a:t>
            </a:r>
          </a:p>
        </p:txBody>
      </p:sp>
      <p:cxnSp>
        <p:nvCxnSpPr>
          <p:cNvPr id="29" name="Connector 19"/>
          <p:cNvCxnSpPr/>
          <p:nvPr/>
        </p:nvCxnSpPr>
        <p:spPr>
          <a:xfrm>
            <a:off x="3985435" y="1610609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0" name="핵심성과 박스"/>
          <p:cNvSpPr/>
          <p:nvPr/>
        </p:nvSpPr>
        <p:spPr>
          <a:xfrm>
            <a:off x="536870" y="2728174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1" name="핵심성과 라벨"/>
          <p:cNvSpPr/>
          <p:nvPr/>
        </p:nvSpPr>
        <p:spPr>
          <a:xfrm>
            <a:off x="569739" y="2766522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32" name="핵심성과 라벨"/>
          <p:cNvSpPr>
            <a:spLocks noGrp="1"/>
          </p:cNvSpPr>
          <p:nvPr>
            <p:ph type="body" sz="quarter" idx="30"/>
          </p:nvPr>
        </p:nvSpPr>
        <p:spPr>
          <a:xfrm>
            <a:off x="569739" y="2766522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3" name="핵심성과 문구"/>
          <p:cNvSpPr>
            <a:spLocks noGrp="1"/>
          </p:cNvSpPr>
          <p:nvPr>
            <p:ph type="body" sz="quarter" idx="31"/>
          </p:nvPr>
        </p:nvSpPr>
        <p:spPr>
          <a:xfrm>
            <a:off x="1314783" y="2744609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공공부문(환경분야) AX 선도기관 지정(10월) 및 AI정수장 국제인증 등 AI 대전환 가속화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42 서사 · 부단한 인력운영제도 혁신(추진배경 → 실행방향 → 최적의 인력자원 재배분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사각지대 없는 인력배분으로 정책·전략 실행기반 강화</a:t>
            </a:r>
          </a:p>
        </p:txBody>
      </p:sp>
      <p:sp>
        <p:nvSpPr>
          <p:cNvPr id="14" name="형광 밑줄"/>
          <p:cNvSpPr/>
          <p:nvPr/>
        </p:nvSpPr>
        <p:spPr>
          <a:xfrm>
            <a:off x="723130" y="1358609"/>
            <a:ext cx="3560852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소제목"/>
          <p:cNvSpPr>
            <a:spLocks noGrp="1"/>
          </p:cNvSpPr>
          <p:nvPr>
            <p:ph type="body" sz="quarter" idx="22"/>
          </p:nvPr>
        </p:nvSpPr>
        <p:spPr>
          <a:xfrm>
            <a:off x="723130" y="120521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부단한 인력운영제도 혁신으로 한정된 자원의 최적 활용 도모</a:t>
            </a:r>
          </a:p>
        </p:txBody>
      </p:sp>
      <p:sp>
        <p:nvSpPr>
          <p:cNvPr id="16" name="태그칩"/>
          <p:cNvSpPr/>
          <p:nvPr/>
        </p:nvSpPr>
        <p:spPr>
          <a:xfrm>
            <a:off x="4382591" y="1238087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칩"/>
          <p:cNvSpPr>
            <a:spLocks noGrp="1"/>
          </p:cNvSpPr>
          <p:nvPr>
            <p:ph type="body" sz="quarter" idx="23"/>
          </p:nvPr>
        </p:nvSpPr>
        <p:spPr>
          <a:xfrm>
            <a:off x="4382591" y="1238087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8" name="태그칩"/>
          <p:cNvSpPr/>
          <p:nvPr/>
        </p:nvSpPr>
        <p:spPr>
          <a:xfrm>
            <a:off x="4933712" y="1238087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태그칩"/>
          <p:cNvSpPr>
            <a:spLocks noGrp="1"/>
          </p:cNvSpPr>
          <p:nvPr>
            <p:ph type="body" sz="quarter" idx="24"/>
          </p:nvPr>
        </p:nvSpPr>
        <p:spPr>
          <a:xfrm>
            <a:off x="4933712" y="1238087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20" name="표 외곽"/>
          <p:cNvSpPr/>
          <p:nvPr/>
        </p:nvSpPr>
        <p:spPr>
          <a:xfrm>
            <a:off x="723130" y="1490087"/>
            <a:ext cx="6300000" cy="388001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1" name="레일"/>
          <p:cNvSpPr/>
          <p:nvPr/>
        </p:nvSpPr>
        <p:spPr>
          <a:xfrm>
            <a:off x="734087" y="1506522"/>
            <a:ext cx="580696" cy="816261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레일"/>
          <p:cNvSpPr>
            <a:spLocks noGrp="1"/>
          </p:cNvSpPr>
          <p:nvPr>
            <p:ph type="body" sz="quarter" idx="25"/>
          </p:nvPr>
        </p:nvSpPr>
        <p:spPr>
          <a:xfrm>
            <a:off x="734087" y="1506522"/>
            <a:ext cx="580696" cy="81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6"/>
          </p:nvPr>
        </p:nvSpPr>
        <p:spPr>
          <a:xfrm>
            <a:off x="1358609" y="1528435"/>
            <a:ext cx="2802130" cy="788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반도체 용수공급, 초순수 및 AI·DT 등 물공급 안전망 확보 중심의 인력배분 필요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7"/>
          </p:nvPr>
        </p:nvSpPr>
        <p:spPr>
          <a:xfrm>
            <a:off x="4182652" y="1528435"/>
            <a:ext cx="2802130" cy="788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자체 인력운영 혁신방안 활용, 국정과제, 경영전략 변경 중심으로 인력자원 재배분</a:t>
            </a:r>
          </a:p>
        </p:txBody>
      </p:sp>
      <p:cxnSp>
        <p:nvCxnSpPr>
          <p:cNvPr id="25" name="Connector 16"/>
          <p:cNvCxnSpPr/>
          <p:nvPr/>
        </p:nvCxnSpPr>
        <p:spPr>
          <a:xfrm>
            <a:off x="4171696" y="1561304"/>
            <a:ext cx="0" cy="723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6" name="레일"/>
          <p:cNvSpPr/>
          <p:nvPr/>
        </p:nvSpPr>
        <p:spPr>
          <a:xfrm>
            <a:off x="734087" y="2339217"/>
            <a:ext cx="580696" cy="38488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7" name="레일"/>
          <p:cNvSpPr>
            <a:spLocks noGrp="1"/>
          </p:cNvSpPr>
          <p:nvPr>
            <p:ph type="body" sz="quarter" idx="28"/>
          </p:nvPr>
        </p:nvSpPr>
        <p:spPr>
          <a:xfrm>
            <a:off x="734087" y="2339217"/>
            <a:ext cx="580696" cy="3848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실행방향</a:t>
            </a:r>
          </a:p>
        </p:txBody>
      </p:sp>
      <p:sp>
        <p:nvSpPr>
          <p:cNvPr id="28" name="레일 삼각형"/>
          <p:cNvSpPr/>
          <p:nvPr/>
        </p:nvSpPr>
        <p:spPr>
          <a:xfrm>
            <a:off x="734086" y="2339217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태그"/>
          <p:cNvSpPr/>
          <p:nvPr/>
        </p:nvSpPr>
        <p:spPr>
          <a:xfrm>
            <a:off x="1347652" y="2383043"/>
            <a:ext cx="581509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0" name="태그"/>
          <p:cNvSpPr>
            <a:spLocks noGrp="1"/>
          </p:cNvSpPr>
          <p:nvPr>
            <p:ph type="body" sz="quarter" idx="29"/>
          </p:nvPr>
        </p:nvSpPr>
        <p:spPr>
          <a:xfrm>
            <a:off x="1347652" y="2383043"/>
            <a:ext cx="581509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실행방향</a:t>
            </a:r>
          </a:p>
        </p:txBody>
      </p:sp>
      <p:sp>
        <p:nvSpPr>
          <p:cNvPr id="31" name="태그 설명"/>
          <p:cNvSpPr>
            <a:spLocks noGrp="1"/>
          </p:cNvSpPr>
          <p:nvPr>
            <p:ph type="body" sz="quarter" idx="30"/>
          </p:nvPr>
        </p:nvSpPr>
        <p:spPr>
          <a:xfrm>
            <a:off x="1972988" y="2372087"/>
            <a:ext cx="5022751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정책·전략 이행에 방점을 둔 안정적 인력 확보 및 최적 자원 배분</a:t>
            </a:r>
          </a:p>
        </p:txBody>
      </p:sp>
      <p:sp>
        <p:nvSpPr>
          <p:cNvPr id="32" name="레일"/>
          <p:cNvSpPr/>
          <p:nvPr/>
        </p:nvSpPr>
        <p:spPr>
          <a:xfrm>
            <a:off x="734087" y="2740539"/>
            <a:ext cx="580696" cy="2613130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3" name="레일"/>
          <p:cNvSpPr>
            <a:spLocks noGrp="1"/>
          </p:cNvSpPr>
          <p:nvPr>
            <p:ph type="body" sz="quarter" idx="31"/>
          </p:nvPr>
        </p:nvSpPr>
        <p:spPr>
          <a:xfrm>
            <a:off x="734087" y="2740539"/>
            <a:ext cx="580696" cy="2613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최적의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인력자원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재배분</a:t>
            </a:r>
          </a:p>
        </p:txBody>
      </p:sp>
      <p:sp>
        <p:nvSpPr>
          <p:cNvPr id="34" name="레일 삼각형"/>
          <p:cNvSpPr/>
          <p:nvPr/>
        </p:nvSpPr>
        <p:spPr>
          <a:xfrm>
            <a:off x="734086" y="2740539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5" name="배너"/>
          <p:cNvSpPr/>
          <p:nvPr/>
        </p:nvSpPr>
        <p:spPr>
          <a:xfrm>
            <a:off x="1347652" y="2762452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6" name="배너"/>
          <p:cNvSpPr>
            <a:spLocks noGrp="1"/>
          </p:cNvSpPr>
          <p:nvPr>
            <p:ph type="body" sz="quarter" idx="32"/>
          </p:nvPr>
        </p:nvSpPr>
        <p:spPr>
          <a:xfrm>
            <a:off x="1347652" y="2762452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자체 인력운영제도 중심 재배치 자원 145명 확보 (’24년 123명 대비 118%)</a:t>
            </a:r>
          </a:p>
        </p:txBody>
      </p:sp>
      <p:sp>
        <p:nvSpPr>
          <p:cNvPr id="37" name="단계"/>
          <p:cNvSpPr/>
          <p:nvPr/>
        </p:nvSpPr>
        <p:spPr>
          <a:xfrm>
            <a:off x="1347652" y="2998017"/>
            <a:ext cx="141202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8" name="단계"/>
          <p:cNvSpPr>
            <a:spLocks noGrp="1"/>
          </p:cNvSpPr>
          <p:nvPr>
            <p:ph type="body" sz="quarter" idx="33"/>
          </p:nvPr>
        </p:nvSpPr>
        <p:spPr>
          <a:xfrm>
            <a:off x="1347652" y="2998017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’23 한시정원 +21명</a:t>
            </a:r>
          </a:p>
        </p:txBody>
      </p:sp>
      <p:sp>
        <p:nvSpPr>
          <p:cNvPr id="39" name="단계"/>
          <p:cNvSpPr/>
          <p:nvPr/>
        </p:nvSpPr>
        <p:spPr>
          <a:xfrm>
            <a:off x="2759674" y="2998017"/>
            <a:ext cx="1412022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0" name="단계"/>
          <p:cNvSpPr>
            <a:spLocks noGrp="1"/>
          </p:cNvSpPr>
          <p:nvPr>
            <p:ph type="body" sz="quarter" idx="34"/>
          </p:nvPr>
        </p:nvSpPr>
        <p:spPr>
          <a:xfrm>
            <a:off x="2759674" y="2998017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 직렬정원탄력 +55명</a:t>
            </a:r>
          </a:p>
        </p:txBody>
      </p:sp>
      <p:sp>
        <p:nvSpPr>
          <p:cNvPr id="41" name="단계"/>
          <p:cNvSpPr/>
          <p:nvPr/>
        </p:nvSpPr>
        <p:spPr>
          <a:xfrm>
            <a:off x="4171696" y="2998017"/>
            <a:ext cx="1412022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2" name="단계"/>
          <p:cNvSpPr>
            <a:spLocks noGrp="1"/>
          </p:cNvSpPr>
          <p:nvPr>
            <p:ph type="body" sz="quarter" idx="35"/>
          </p:nvPr>
        </p:nvSpPr>
        <p:spPr>
          <a:xfrm>
            <a:off x="4171696" y="2998017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 가변통합정원 +40명</a:t>
            </a:r>
          </a:p>
        </p:txBody>
      </p:sp>
      <p:sp>
        <p:nvSpPr>
          <p:cNvPr id="43" name="단계"/>
          <p:cNvSpPr/>
          <p:nvPr/>
        </p:nvSpPr>
        <p:spPr>
          <a:xfrm>
            <a:off x="5583717" y="2998017"/>
            <a:ext cx="1412022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4" name="단계"/>
          <p:cNvSpPr>
            <a:spLocks noGrp="1"/>
          </p:cNvSpPr>
          <p:nvPr>
            <p:ph type="body" sz="quarter" idx="36"/>
          </p:nvPr>
        </p:nvSpPr>
        <p:spPr>
          <a:xfrm>
            <a:off x="5583717" y="2998017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기존 효율화 +29명</a:t>
            </a:r>
          </a:p>
        </p:txBody>
      </p:sp>
      <p:sp>
        <p:nvSpPr>
          <p:cNvPr id="45" name="단계 삼각형"/>
          <p:cNvSpPr/>
          <p:nvPr/>
        </p:nvSpPr>
        <p:spPr>
          <a:xfrm>
            <a:off x="2759673" y="2998017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6" name="단계 삼각형"/>
          <p:cNvSpPr/>
          <p:nvPr/>
        </p:nvSpPr>
        <p:spPr>
          <a:xfrm>
            <a:off x="4171695" y="2998017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7" name="단계 삼각형"/>
          <p:cNvSpPr/>
          <p:nvPr/>
        </p:nvSpPr>
        <p:spPr>
          <a:xfrm>
            <a:off x="5583717" y="2998017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8" name="칸 본문"/>
          <p:cNvSpPr>
            <a:spLocks noGrp="1"/>
          </p:cNvSpPr>
          <p:nvPr>
            <p:ph type="body" sz="quarter" idx="37"/>
          </p:nvPr>
        </p:nvSpPr>
        <p:spPr>
          <a:xfrm>
            <a:off x="1358609" y="3250017"/>
            <a:ext cx="1390109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기한설정 정원 부여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00댐건설(’15~’25) 등</a:t>
            </a:r>
          </a:p>
        </p:txBody>
      </p:sp>
      <p:sp>
        <p:nvSpPr>
          <p:cNvPr id="49" name="칸 본문"/>
          <p:cNvSpPr>
            <a:spLocks noGrp="1"/>
          </p:cNvSpPr>
          <p:nvPr>
            <p:ph type="body" sz="quarter" idx="38"/>
          </p:nvPr>
        </p:nvSpPr>
        <p:spPr>
          <a:xfrm>
            <a:off x="2770630" y="3250017"/>
            <a:ext cx="1390109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직무수요 변화 기반 정원 조정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탄력적 직렬 조정</a:t>
            </a:r>
          </a:p>
        </p:txBody>
      </p:sp>
      <p:cxnSp>
        <p:nvCxnSpPr>
          <p:cNvPr id="50" name="Connector 33"/>
          <p:cNvCxnSpPr/>
          <p:nvPr/>
        </p:nvCxnSpPr>
        <p:spPr>
          <a:xfrm>
            <a:off x="2759674" y="3282887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1" name="칸 본문"/>
          <p:cNvSpPr>
            <a:spLocks noGrp="1"/>
          </p:cNvSpPr>
          <p:nvPr>
            <p:ph type="body" sz="quarter" idx="39"/>
          </p:nvPr>
        </p:nvSpPr>
        <p:spPr>
          <a:xfrm>
            <a:off x="4182652" y="3250017"/>
            <a:ext cx="1390109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3~5급 가변정원 확대 1.0 → 1.5%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현안 시 수시 재배치</a:t>
            </a:r>
          </a:p>
        </p:txBody>
      </p:sp>
      <p:cxnSp>
        <p:nvCxnSpPr>
          <p:cNvPr id="52" name="Connector 35"/>
          <p:cNvCxnSpPr/>
          <p:nvPr/>
        </p:nvCxnSpPr>
        <p:spPr>
          <a:xfrm>
            <a:off x="4171696" y="3282887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3" name="칸 본문"/>
          <p:cNvSpPr>
            <a:spLocks noGrp="1"/>
          </p:cNvSpPr>
          <p:nvPr>
            <p:ph type="body" sz="quarter" idx="40"/>
          </p:nvPr>
        </p:nvSpPr>
        <p:spPr>
          <a:xfrm>
            <a:off x="5594674" y="3250017"/>
            <a:ext cx="1390109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현장건설기능 통합 감독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한강 동부 △7(43→36) / 금강 남부 △9(35→26) / 낙동강 북/남부 △13(54→41)</a:t>
            </a:r>
          </a:p>
        </p:txBody>
      </p:sp>
      <p:cxnSp>
        <p:nvCxnSpPr>
          <p:cNvPr id="54" name="Connector 37"/>
          <p:cNvCxnSpPr/>
          <p:nvPr/>
        </p:nvCxnSpPr>
        <p:spPr>
          <a:xfrm>
            <a:off x="5583717" y="3282887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5" name="칸 본문"/>
          <p:cNvSpPr>
            <a:spLocks noGrp="1"/>
          </p:cNvSpPr>
          <p:nvPr>
            <p:ph type="body" sz="quarter" idx="41"/>
          </p:nvPr>
        </p:nvSpPr>
        <p:spPr>
          <a:xfrm>
            <a:off x="1358609" y="4307322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정책이행(28명): 자연성회복 추진(17명) * 취·양수장 시설개선 / 재생e 보급 확대(11명) * 녹색전환, RE100 달성기여</a:t>
            </a:r>
          </a:p>
        </p:txBody>
      </p:sp>
      <p:sp>
        <p:nvSpPr>
          <p:cNvPr id="56" name="칸 본문"/>
          <p:cNvSpPr>
            <a:spLocks noGrp="1"/>
          </p:cNvSpPr>
          <p:nvPr>
            <p:ph type="body" sz="quarter" idx="42"/>
          </p:nvPr>
        </p:nvSpPr>
        <p:spPr>
          <a:xfrm>
            <a:off x="3241304" y="4307322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전략실행(60명): AI 전환동력 확보(13명) / 안전수행인력 보강(13명) / 반도체 용수 공급(34명) * 용인·고덕산단 전담조직 신설</a:t>
            </a:r>
          </a:p>
        </p:txBody>
      </p:sp>
      <p:cxnSp>
        <p:nvCxnSpPr>
          <p:cNvPr id="57" name="Connector 40"/>
          <p:cNvCxnSpPr/>
          <p:nvPr/>
        </p:nvCxnSpPr>
        <p:spPr>
          <a:xfrm>
            <a:off x="3230348" y="4340191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8" name="칸 본문"/>
          <p:cNvSpPr>
            <a:spLocks noGrp="1"/>
          </p:cNvSpPr>
          <p:nvPr>
            <p:ph type="body" sz="quarter" idx="43"/>
          </p:nvPr>
        </p:nvSpPr>
        <p:spPr>
          <a:xfrm>
            <a:off x="5124000" y="4307322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현안대응(57명): 건설사업인력 최대 확보(37명) * 최적사업추진 동력 마련 / 노무관리, 정보보안 등(20명) * 현안대응 및 현장 실행력 보강</a:t>
            </a:r>
          </a:p>
        </p:txBody>
      </p:sp>
      <p:cxnSp>
        <p:nvCxnSpPr>
          <p:cNvPr id="59" name="Connector 42"/>
          <p:cNvCxnSpPr/>
          <p:nvPr/>
        </p:nvCxnSpPr>
        <p:spPr>
          <a:xfrm>
            <a:off x="5113043" y="4340191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0" name="핵심성과 박스"/>
          <p:cNvSpPr/>
          <p:nvPr/>
        </p:nvSpPr>
        <p:spPr>
          <a:xfrm>
            <a:off x="723130" y="5457757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1" name="핵심성과 라벨"/>
          <p:cNvSpPr/>
          <p:nvPr/>
        </p:nvSpPr>
        <p:spPr>
          <a:xfrm>
            <a:off x="756000" y="5490626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62" name="핵심성과 라벨"/>
          <p:cNvSpPr>
            <a:spLocks noGrp="1"/>
          </p:cNvSpPr>
          <p:nvPr>
            <p:ph type="body" sz="quarter" idx="44"/>
          </p:nvPr>
        </p:nvSpPr>
        <p:spPr>
          <a:xfrm>
            <a:off x="756000" y="5490626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63" name="핵심성과 문구"/>
          <p:cNvSpPr>
            <a:spLocks noGrp="1"/>
          </p:cNvSpPr>
          <p:nvPr>
            <p:ph type="body" sz="quarter" idx="45"/>
          </p:nvPr>
        </p:nvSpPr>
        <p:spPr>
          <a:xfrm>
            <a:off x="1501043" y="5479670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내부 인력운영제도 혁신을 통한 역대 최대 재배치 달성으로 인력 소요 대응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내부혁신 성과를 인정받아 AI물관리, 첨단용수공급 등 정책드라이브 정부증원 39명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43 서사 · 조직업무시스템 데이터 경영 활용(조직업무시스템 → 시스템 로드맵 → 시스템 고도화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4498538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해가 갈수록 쌓이는 조직업무시스템 데이터와 신뢰도, 이제는 경영에 필수</a:t>
            </a:r>
          </a:p>
        </p:txBody>
      </p:sp>
      <p:sp>
        <p:nvSpPr>
          <p:cNvPr id="12" name="태그칩"/>
          <p:cNvSpPr/>
          <p:nvPr/>
        </p:nvSpPr>
        <p:spPr>
          <a:xfrm>
            <a:off x="5134016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5134016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표 외곽"/>
          <p:cNvSpPr/>
          <p:nvPr/>
        </p:nvSpPr>
        <p:spPr>
          <a:xfrm>
            <a:off x="536870" y="1051826"/>
            <a:ext cx="6300000" cy="353347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547826" y="1068261"/>
            <a:ext cx="580696" cy="1046348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068261"/>
            <a:ext cx="580696" cy="1046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조직업무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시스템</a:t>
            </a:r>
          </a:p>
        </p:txBody>
      </p:sp>
      <p:sp>
        <p:nvSpPr>
          <p:cNvPr id="17" name="배너"/>
          <p:cNvSpPr/>
          <p:nvPr/>
        </p:nvSpPr>
        <p:spPr>
          <a:xfrm>
            <a:off x="1161391" y="1090174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18" name="배너"/>
          <p:cNvSpPr>
            <a:spLocks noGrp="1"/>
          </p:cNvSpPr>
          <p:nvPr>
            <p:ph type="body" sz="quarter" idx="23"/>
          </p:nvPr>
        </p:nvSpPr>
        <p:spPr>
          <a:xfrm>
            <a:off x="1161391" y="1090174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조직관리 全과정을 표준화하여 활용하는 K-water만의 혁신 시스템</a:t>
            </a:r>
          </a:p>
        </p:txBody>
      </p:sp>
      <p:sp>
        <p:nvSpPr>
          <p:cNvPr id="19" name="단계"/>
          <p:cNvSpPr/>
          <p:nvPr/>
        </p:nvSpPr>
        <p:spPr>
          <a:xfrm>
            <a:off x="1161391" y="1325739"/>
            <a:ext cx="141202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0" name="단계"/>
          <p:cNvSpPr>
            <a:spLocks noGrp="1"/>
          </p:cNvSpPr>
          <p:nvPr>
            <p:ph type="body" sz="quarter" idx="24"/>
          </p:nvPr>
        </p:nvSpPr>
        <p:spPr>
          <a:xfrm>
            <a:off x="1161391" y="1325739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조직 분석(사업·조직유형별 투입인력)</a:t>
            </a:r>
          </a:p>
        </p:txBody>
      </p:sp>
      <p:sp>
        <p:nvSpPr>
          <p:cNvPr id="21" name="단계"/>
          <p:cNvSpPr/>
          <p:nvPr/>
        </p:nvSpPr>
        <p:spPr>
          <a:xfrm>
            <a:off x="2573413" y="1325739"/>
            <a:ext cx="1412022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2" name="단계"/>
          <p:cNvSpPr>
            <a:spLocks noGrp="1"/>
          </p:cNvSpPr>
          <p:nvPr>
            <p:ph type="body" sz="quarter" idx="25"/>
          </p:nvPr>
        </p:nvSpPr>
        <p:spPr>
          <a:xfrm>
            <a:off x="2573413" y="1325739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조직개편 수요조사</a:t>
            </a:r>
          </a:p>
        </p:txBody>
      </p:sp>
      <p:sp>
        <p:nvSpPr>
          <p:cNvPr id="23" name="단계"/>
          <p:cNvSpPr/>
          <p:nvPr/>
        </p:nvSpPr>
        <p:spPr>
          <a:xfrm>
            <a:off x="3985435" y="1325739"/>
            <a:ext cx="1412022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4" name="단계"/>
          <p:cNvSpPr>
            <a:spLocks noGrp="1"/>
          </p:cNvSpPr>
          <p:nvPr>
            <p:ph type="body" sz="quarter" idx="26"/>
          </p:nvPr>
        </p:nvSpPr>
        <p:spPr>
          <a:xfrm>
            <a:off x="3985435" y="1325739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검토·환류</a:t>
            </a:r>
          </a:p>
        </p:txBody>
      </p:sp>
      <p:sp>
        <p:nvSpPr>
          <p:cNvPr id="25" name="단계"/>
          <p:cNvSpPr/>
          <p:nvPr/>
        </p:nvSpPr>
        <p:spPr>
          <a:xfrm>
            <a:off x="5397457" y="1325739"/>
            <a:ext cx="1412022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6" name="단계"/>
          <p:cNvSpPr>
            <a:spLocks noGrp="1"/>
          </p:cNvSpPr>
          <p:nvPr>
            <p:ph type="body" sz="quarter" idx="27"/>
          </p:nvPr>
        </p:nvSpPr>
        <p:spPr>
          <a:xfrm>
            <a:off x="5397457" y="1325739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조직개편</a:t>
            </a:r>
          </a:p>
        </p:txBody>
      </p:sp>
      <p:sp>
        <p:nvSpPr>
          <p:cNvPr id="27" name="단계 삼각형"/>
          <p:cNvSpPr/>
          <p:nvPr/>
        </p:nvSpPr>
        <p:spPr>
          <a:xfrm>
            <a:off x="2573413" y="1325739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단계 삼각형"/>
          <p:cNvSpPr/>
          <p:nvPr/>
        </p:nvSpPr>
        <p:spPr>
          <a:xfrm>
            <a:off x="3985434" y="1325739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단계 삼각형"/>
          <p:cNvSpPr/>
          <p:nvPr/>
        </p:nvSpPr>
        <p:spPr>
          <a:xfrm>
            <a:off x="5397456" y="1325739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0" name="칸 본문"/>
          <p:cNvSpPr txBox="1"/>
          <p:nvPr/>
        </p:nvSpPr>
        <p:spPr>
          <a:xfrm>
            <a:off x="1172348" y="1577739"/>
            <a:ext cx="1390109" cy="131478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sp>
        <p:nvSpPr>
          <p:cNvPr id="31" name="칸 본문"/>
          <p:cNvSpPr txBox="1"/>
          <p:nvPr/>
        </p:nvSpPr>
        <p:spPr>
          <a:xfrm>
            <a:off x="2584370" y="1577739"/>
            <a:ext cx="1390109" cy="131478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32" name="Connector 21"/>
          <p:cNvCxnSpPr/>
          <p:nvPr/>
        </p:nvCxnSpPr>
        <p:spPr>
          <a:xfrm>
            <a:off x="2573413" y="1610609"/>
            <a:ext cx="0" cy="65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칸 본문"/>
          <p:cNvSpPr txBox="1"/>
          <p:nvPr/>
        </p:nvSpPr>
        <p:spPr>
          <a:xfrm>
            <a:off x="3996391" y="1577739"/>
            <a:ext cx="1390109" cy="131478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34" name="Connector 23"/>
          <p:cNvCxnSpPr/>
          <p:nvPr/>
        </p:nvCxnSpPr>
        <p:spPr>
          <a:xfrm>
            <a:off x="3985435" y="1610609"/>
            <a:ext cx="0" cy="65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5" name="칸 본문"/>
          <p:cNvSpPr txBox="1"/>
          <p:nvPr/>
        </p:nvSpPr>
        <p:spPr>
          <a:xfrm>
            <a:off x="5408413" y="1577739"/>
            <a:ext cx="1390109" cy="131478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36" name="Connector 25"/>
          <p:cNvCxnSpPr/>
          <p:nvPr/>
        </p:nvCxnSpPr>
        <p:spPr>
          <a:xfrm>
            <a:off x="5397457" y="1610609"/>
            <a:ext cx="0" cy="65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7" name="단계"/>
          <p:cNvSpPr/>
          <p:nvPr/>
        </p:nvSpPr>
        <p:spPr>
          <a:xfrm>
            <a:off x="1161391" y="1725652"/>
            <a:ext cx="141202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8" name="단계"/>
          <p:cNvSpPr>
            <a:spLocks noGrp="1"/>
          </p:cNvSpPr>
          <p:nvPr>
            <p:ph type="body" sz="quarter" idx="28"/>
          </p:nvPr>
        </p:nvSpPr>
        <p:spPr>
          <a:xfrm>
            <a:off x="1161391" y="1725652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 분석(489개 직위, 268개 직무)</a:t>
            </a:r>
          </a:p>
        </p:txBody>
      </p:sp>
      <p:sp>
        <p:nvSpPr>
          <p:cNvPr id="39" name="단계"/>
          <p:cNvSpPr/>
          <p:nvPr/>
        </p:nvSpPr>
        <p:spPr>
          <a:xfrm>
            <a:off x="2573413" y="1725652"/>
            <a:ext cx="1412022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0" name="단계"/>
          <p:cNvSpPr>
            <a:spLocks noGrp="1"/>
          </p:cNvSpPr>
          <p:nvPr>
            <p:ph type="body" sz="quarter" idx="29"/>
          </p:nvPr>
        </p:nvSpPr>
        <p:spPr>
          <a:xfrm>
            <a:off x="2573413" y="1725652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직무분류</a:t>
            </a:r>
          </a:p>
        </p:txBody>
      </p:sp>
      <p:sp>
        <p:nvSpPr>
          <p:cNvPr id="41" name="단계"/>
          <p:cNvSpPr/>
          <p:nvPr/>
        </p:nvSpPr>
        <p:spPr>
          <a:xfrm>
            <a:off x="3985435" y="1725652"/>
            <a:ext cx="1412022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2" name="단계"/>
          <p:cNvSpPr>
            <a:spLocks noGrp="1"/>
          </p:cNvSpPr>
          <p:nvPr>
            <p:ph type="body" sz="quarter" idx="30"/>
          </p:nvPr>
        </p:nvSpPr>
        <p:spPr>
          <a:xfrm>
            <a:off x="3985435" y="1725652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직무기술서</a:t>
            </a:r>
          </a:p>
        </p:txBody>
      </p:sp>
      <p:sp>
        <p:nvSpPr>
          <p:cNvPr id="43" name="단계"/>
          <p:cNvSpPr/>
          <p:nvPr/>
        </p:nvSpPr>
        <p:spPr>
          <a:xfrm>
            <a:off x="5397457" y="1725652"/>
            <a:ext cx="1412022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4" name="단계"/>
          <p:cNvSpPr>
            <a:spLocks noGrp="1"/>
          </p:cNvSpPr>
          <p:nvPr>
            <p:ph type="body" sz="quarter" idx="31"/>
          </p:nvPr>
        </p:nvSpPr>
        <p:spPr>
          <a:xfrm>
            <a:off x="5397457" y="1725652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직무평가</a:t>
            </a:r>
          </a:p>
        </p:txBody>
      </p:sp>
      <p:sp>
        <p:nvSpPr>
          <p:cNvPr id="45" name="단계 삼각형"/>
          <p:cNvSpPr/>
          <p:nvPr/>
        </p:nvSpPr>
        <p:spPr>
          <a:xfrm>
            <a:off x="2573413" y="1725652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6" name="단계 삼각형"/>
          <p:cNvSpPr/>
          <p:nvPr/>
        </p:nvSpPr>
        <p:spPr>
          <a:xfrm>
            <a:off x="3985434" y="1725652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7" name="단계 삼각형"/>
          <p:cNvSpPr/>
          <p:nvPr/>
        </p:nvSpPr>
        <p:spPr>
          <a:xfrm>
            <a:off x="5397456" y="1725652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8" name="칸 본문"/>
          <p:cNvSpPr txBox="1"/>
          <p:nvPr/>
        </p:nvSpPr>
        <p:spPr>
          <a:xfrm>
            <a:off x="1172348" y="1977652"/>
            <a:ext cx="1390109" cy="131478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sp>
        <p:nvSpPr>
          <p:cNvPr id="49" name="칸 본문"/>
          <p:cNvSpPr txBox="1"/>
          <p:nvPr/>
        </p:nvSpPr>
        <p:spPr>
          <a:xfrm>
            <a:off x="2584370" y="1977652"/>
            <a:ext cx="1390109" cy="131478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50" name="Connector 35"/>
          <p:cNvCxnSpPr/>
          <p:nvPr/>
        </p:nvCxnSpPr>
        <p:spPr>
          <a:xfrm>
            <a:off x="2573413" y="2010522"/>
            <a:ext cx="0" cy="65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1" name="칸 본문"/>
          <p:cNvSpPr txBox="1"/>
          <p:nvPr/>
        </p:nvSpPr>
        <p:spPr>
          <a:xfrm>
            <a:off x="3996391" y="1977652"/>
            <a:ext cx="1390109" cy="131478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52" name="Connector 37"/>
          <p:cNvCxnSpPr/>
          <p:nvPr/>
        </p:nvCxnSpPr>
        <p:spPr>
          <a:xfrm>
            <a:off x="3985435" y="2010522"/>
            <a:ext cx="0" cy="65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3" name="칸 본문"/>
          <p:cNvSpPr txBox="1"/>
          <p:nvPr/>
        </p:nvSpPr>
        <p:spPr>
          <a:xfrm>
            <a:off x="5408413" y="1977652"/>
            <a:ext cx="1390109" cy="131478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54" name="Connector 39"/>
          <p:cNvCxnSpPr/>
          <p:nvPr/>
        </p:nvCxnSpPr>
        <p:spPr>
          <a:xfrm>
            <a:off x="5397457" y="2010522"/>
            <a:ext cx="0" cy="65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5" name="레일"/>
          <p:cNvSpPr/>
          <p:nvPr/>
        </p:nvSpPr>
        <p:spPr>
          <a:xfrm>
            <a:off x="547826" y="2131043"/>
            <a:ext cx="580696" cy="695739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6" name="레일"/>
          <p:cNvSpPr>
            <a:spLocks noGrp="1"/>
          </p:cNvSpPr>
          <p:nvPr>
            <p:ph type="body" sz="quarter" idx="32"/>
          </p:nvPr>
        </p:nvSpPr>
        <p:spPr>
          <a:xfrm>
            <a:off x="547826" y="2131043"/>
            <a:ext cx="580696" cy="695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시스템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로드맵</a:t>
            </a:r>
          </a:p>
        </p:txBody>
      </p:sp>
      <p:sp>
        <p:nvSpPr>
          <p:cNvPr id="57" name="레일 삼각형"/>
          <p:cNvSpPr/>
          <p:nvPr/>
        </p:nvSpPr>
        <p:spPr>
          <a:xfrm>
            <a:off x="547826" y="2131043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8" name="단계"/>
          <p:cNvSpPr/>
          <p:nvPr/>
        </p:nvSpPr>
        <p:spPr>
          <a:xfrm>
            <a:off x="1161391" y="2152957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9" name="단계"/>
          <p:cNvSpPr>
            <a:spLocks noGrp="1"/>
          </p:cNvSpPr>
          <p:nvPr>
            <p:ph type="body" sz="quarter" idx="33"/>
          </p:nvPr>
        </p:nvSpPr>
        <p:spPr>
          <a:xfrm>
            <a:off x="1161391" y="2152957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~’24 조직시스템 구축·확산</a:t>
            </a:r>
          </a:p>
        </p:txBody>
      </p:sp>
      <p:sp>
        <p:nvSpPr>
          <p:cNvPr id="60" name="단계"/>
          <p:cNvSpPr/>
          <p:nvPr/>
        </p:nvSpPr>
        <p:spPr>
          <a:xfrm>
            <a:off x="3044087" y="2152957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1" name="단계"/>
          <p:cNvSpPr>
            <a:spLocks noGrp="1"/>
          </p:cNvSpPr>
          <p:nvPr>
            <p:ph type="body" sz="quarter" idx="34"/>
          </p:nvPr>
        </p:nvSpPr>
        <p:spPr>
          <a:xfrm>
            <a:off x="3044087" y="2152957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 직무중심 경영관리 정착</a:t>
            </a:r>
          </a:p>
        </p:txBody>
      </p:sp>
      <p:sp>
        <p:nvSpPr>
          <p:cNvPr id="62" name="단계"/>
          <p:cNvSpPr/>
          <p:nvPr/>
        </p:nvSpPr>
        <p:spPr>
          <a:xfrm>
            <a:off x="4926783" y="2152957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3" name="단계"/>
          <p:cNvSpPr>
            <a:spLocks noGrp="1"/>
          </p:cNvSpPr>
          <p:nvPr>
            <p:ph type="body" sz="quarter" idx="35"/>
          </p:nvPr>
        </p:nvSpPr>
        <p:spPr>
          <a:xfrm>
            <a:off x="4926783" y="2152957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’26~ 조직관리 AI 도입</a:t>
            </a:r>
          </a:p>
        </p:txBody>
      </p:sp>
      <p:sp>
        <p:nvSpPr>
          <p:cNvPr id="64" name="단계 삼각형"/>
          <p:cNvSpPr/>
          <p:nvPr/>
        </p:nvSpPr>
        <p:spPr>
          <a:xfrm>
            <a:off x="3044086" y="2152956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5" name="단계 삼각형"/>
          <p:cNvSpPr/>
          <p:nvPr/>
        </p:nvSpPr>
        <p:spPr>
          <a:xfrm>
            <a:off x="4926782" y="2152956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6" name="칸 본문"/>
          <p:cNvSpPr>
            <a:spLocks noGrp="1"/>
          </p:cNvSpPr>
          <p:nvPr>
            <p:ph type="body" sz="quarter" idx="36"/>
          </p:nvPr>
        </p:nvSpPr>
        <p:spPr>
          <a:xfrm>
            <a:off x="1172348" y="2404957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조직관리 표준화·시스템화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경영(조직·인사·교육) 분야 연계</a:t>
            </a:r>
          </a:p>
        </p:txBody>
      </p:sp>
      <p:sp>
        <p:nvSpPr>
          <p:cNvPr id="67" name="칸 본문"/>
          <p:cNvSpPr>
            <a:spLocks noGrp="1"/>
          </p:cNvSpPr>
          <p:nvPr>
            <p:ph type="body" sz="quarter" idx="37"/>
          </p:nvPr>
        </p:nvSpPr>
        <p:spPr>
          <a:xfrm>
            <a:off x="3055043" y="2404957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조직관리 데이터 DX 완료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경영전반 직무활용 제도화·확산</a:t>
            </a:r>
          </a:p>
        </p:txBody>
      </p:sp>
      <p:cxnSp>
        <p:nvCxnSpPr>
          <p:cNvPr id="68" name="Connector 49"/>
          <p:cNvCxnSpPr/>
          <p:nvPr/>
        </p:nvCxnSpPr>
        <p:spPr>
          <a:xfrm>
            <a:off x="3044087" y="2437826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9" name="칸 본문"/>
          <p:cNvSpPr>
            <a:spLocks noGrp="1"/>
          </p:cNvSpPr>
          <p:nvPr>
            <p:ph type="body" sz="quarter" idx="38"/>
          </p:nvPr>
        </p:nvSpPr>
        <p:spPr>
          <a:xfrm>
            <a:off x="4937739" y="2404957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데이터 기반 의사결정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활용 직무평가·재분류 등</a:t>
            </a:r>
          </a:p>
        </p:txBody>
      </p:sp>
      <p:cxnSp>
        <p:nvCxnSpPr>
          <p:cNvPr id="70" name="Connector 51"/>
          <p:cNvCxnSpPr/>
          <p:nvPr/>
        </p:nvCxnSpPr>
        <p:spPr>
          <a:xfrm>
            <a:off x="4926783" y="2437826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1" name="레일"/>
          <p:cNvSpPr/>
          <p:nvPr/>
        </p:nvSpPr>
        <p:spPr>
          <a:xfrm>
            <a:off x="547826" y="2843217"/>
            <a:ext cx="580696" cy="788870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2" name="레일"/>
          <p:cNvSpPr>
            <a:spLocks noGrp="1"/>
          </p:cNvSpPr>
          <p:nvPr>
            <p:ph type="body" sz="quarter" idx="39"/>
          </p:nvPr>
        </p:nvSpPr>
        <p:spPr>
          <a:xfrm>
            <a:off x="547826" y="2843217"/>
            <a:ext cx="580696" cy="78887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시스템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고도화</a:t>
            </a:r>
          </a:p>
        </p:txBody>
      </p:sp>
      <p:sp>
        <p:nvSpPr>
          <p:cNvPr id="73" name="칸 본문"/>
          <p:cNvSpPr>
            <a:spLocks noGrp="1"/>
          </p:cNvSpPr>
          <p:nvPr>
            <p:ph type="body" sz="quarter" idx="40"/>
          </p:nvPr>
        </p:nvSpPr>
        <p:spPr>
          <a:xfrm>
            <a:off x="1172348" y="2865130"/>
            <a:ext cx="3743478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분장업무(조직, 개인) 통합관리체계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분장업무 데이터 개별 관리(조직수기, 개인-시스템)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조직~개인 분장업무 전면 DB화, 자동맵핑</a:t>
            </a:r>
          </a:p>
        </p:txBody>
      </p:sp>
      <p:sp>
        <p:nvSpPr>
          <p:cNvPr id="74" name="칸 본문"/>
          <p:cNvSpPr>
            <a:spLocks noGrp="1"/>
          </p:cNvSpPr>
          <p:nvPr>
            <p:ph type="body" sz="quarter" idx="41"/>
          </p:nvPr>
        </p:nvSpPr>
        <p:spPr>
          <a:xfrm>
            <a:off x="4937739" y="2865130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부서업무 DB화 → 하부기구 모듈화 → 개인업무분장</a:t>
            </a:r>
          </a:p>
        </p:txBody>
      </p:sp>
      <p:cxnSp>
        <p:nvCxnSpPr>
          <p:cNvPr id="75" name="Connector 55"/>
          <p:cNvCxnSpPr/>
          <p:nvPr/>
        </p:nvCxnSpPr>
        <p:spPr>
          <a:xfrm>
            <a:off x="4926783" y="2898000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6" name="배너"/>
          <p:cNvSpPr/>
          <p:nvPr/>
        </p:nvSpPr>
        <p:spPr>
          <a:xfrm>
            <a:off x="1161391" y="3407478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77" name="배너"/>
          <p:cNvSpPr>
            <a:spLocks noGrp="1"/>
          </p:cNvSpPr>
          <p:nvPr>
            <p:ph type="body" sz="quarter" idx="42"/>
          </p:nvPr>
        </p:nvSpPr>
        <p:spPr>
          <a:xfrm>
            <a:off x="1161391" y="3407478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중복·누락된 분장업무 실시간 모니터링으로 조직-직무 간 정합성 확보</a:t>
            </a:r>
          </a:p>
        </p:txBody>
      </p:sp>
      <p:sp>
        <p:nvSpPr>
          <p:cNvPr id="78" name="레일"/>
          <p:cNvSpPr/>
          <p:nvPr/>
        </p:nvSpPr>
        <p:spPr>
          <a:xfrm>
            <a:off x="547826" y="3648522"/>
            <a:ext cx="580696" cy="920348"/>
          </a:xfrm>
          <a:prstGeom prst="rect">
            <a:avLst/>
          </a:prstGeom>
          <a:pattFill prst="trellis">
            <a:fgClr>
              <a:srgbClr val="00A4A8"/>
            </a:fgClr>
            <a:bgClr>
              <a:srgbClr val="008C6B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9" name="레일"/>
          <p:cNvSpPr>
            <a:spLocks noGrp="1"/>
          </p:cNvSpPr>
          <p:nvPr>
            <p:ph type="body" sz="quarter" idx="43"/>
          </p:nvPr>
        </p:nvSpPr>
        <p:spPr>
          <a:xfrm>
            <a:off x="547826" y="3648522"/>
            <a:ext cx="580696" cy="920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80" name="배너"/>
          <p:cNvSpPr/>
          <p:nvPr/>
        </p:nvSpPr>
        <p:spPr>
          <a:xfrm>
            <a:off x="1161391" y="3670435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81" name="배너"/>
          <p:cNvSpPr>
            <a:spLocks noGrp="1"/>
          </p:cNvSpPr>
          <p:nvPr>
            <p:ph type="body" sz="quarter" idx="44"/>
          </p:nvPr>
        </p:nvSpPr>
        <p:spPr>
          <a:xfrm>
            <a:off x="1161391" y="3670435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조직관리 데이터 활용, 직무 중심 경영활동 본격 가동</a:t>
            </a:r>
          </a:p>
        </p:txBody>
      </p:sp>
      <p:sp>
        <p:nvSpPr>
          <p:cNvPr id="82" name="머리칸"/>
          <p:cNvSpPr/>
          <p:nvPr/>
        </p:nvSpPr>
        <p:spPr>
          <a:xfrm>
            <a:off x="1161391" y="390600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83" name="머리칸"/>
          <p:cNvSpPr>
            <a:spLocks noGrp="1"/>
          </p:cNvSpPr>
          <p:nvPr>
            <p:ph type="body" sz="quarter" idx="45"/>
          </p:nvPr>
        </p:nvSpPr>
        <p:spPr>
          <a:xfrm>
            <a:off x="1161391" y="390600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최적 조직운영안 마련</a:t>
            </a:r>
          </a:p>
        </p:txBody>
      </p:sp>
      <p:sp>
        <p:nvSpPr>
          <p:cNvPr id="84" name="머리칸"/>
          <p:cNvSpPr/>
          <p:nvPr/>
        </p:nvSpPr>
        <p:spPr>
          <a:xfrm>
            <a:off x="3044087" y="390600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85" name="머리칸"/>
          <p:cNvSpPr>
            <a:spLocks noGrp="1"/>
          </p:cNvSpPr>
          <p:nvPr>
            <p:ph type="body" sz="quarter" idx="46"/>
          </p:nvPr>
        </p:nvSpPr>
        <p:spPr>
          <a:xfrm>
            <a:off x="3044087" y="390600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 기반 인사관리</a:t>
            </a:r>
          </a:p>
        </p:txBody>
      </p:sp>
      <p:sp>
        <p:nvSpPr>
          <p:cNvPr id="86" name="머리칸"/>
          <p:cNvSpPr/>
          <p:nvPr/>
        </p:nvSpPr>
        <p:spPr>
          <a:xfrm>
            <a:off x="4926783" y="390600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87" name="머리칸"/>
          <p:cNvSpPr>
            <a:spLocks noGrp="1"/>
          </p:cNvSpPr>
          <p:nvPr>
            <p:ph type="body" sz="quarter" idx="47"/>
          </p:nvPr>
        </p:nvSpPr>
        <p:spPr>
          <a:xfrm>
            <a:off x="4926783" y="390600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 연계 교육운영</a:t>
            </a:r>
          </a:p>
        </p:txBody>
      </p:sp>
      <p:sp>
        <p:nvSpPr>
          <p:cNvPr id="88" name="칸 본문"/>
          <p:cNvSpPr>
            <a:spLocks noGrp="1"/>
          </p:cNvSpPr>
          <p:nvPr>
            <p:ph type="body" sz="quarter" idx="48"/>
          </p:nvPr>
        </p:nvSpPr>
        <p:spPr>
          <a:xfrm>
            <a:off x="1172348" y="4147043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부서업무 기반 정원조정 시뮬레이션 및 조직설계</a:t>
            </a:r>
          </a:p>
        </p:txBody>
      </p:sp>
      <p:sp>
        <p:nvSpPr>
          <p:cNvPr id="89" name="칸 본문"/>
          <p:cNvSpPr>
            <a:spLocks noGrp="1"/>
          </p:cNvSpPr>
          <p:nvPr>
            <p:ph type="body" sz="quarter" idx="49"/>
          </p:nvPr>
        </p:nvSpPr>
        <p:spPr>
          <a:xfrm>
            <a:off x="3055043" y="4147043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직무역량 기반 배치·승진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 단위 채용 확대</a:t>
            </a:r>
          </a:p>
        </p:txBody>
      </p:sp>
      <p:cxnSp>
        <p:nvCxnSpPr>
          <p:cNvPr id="90" name="Connector 64"/>
          <p:cNvCxnSpPr/>
          <p:nvPr/>
        </p:nvCxnSpPr>
        <p:spPr>
          <a:xfrm>
            <a:off x="3044087" y="4179913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91" name="칸 본문"/>
          <p:cNvSpPr>
            <a:spLocks noGrp="1"/>
          </p:cNvSpPr>
          <p:nvPr>
            <p:ph type="body" sz="quarter" idx="50"/>
          </p:nvPr>
        </p:nvSpPr>
        <p:spPr>
          <a:xfrm>
            <a:off x="4937739" y="4147043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직무역량 교육모델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맞춤형 교육·성장경로 추천</a:t>
            </a:r>
          </a:p>
        </p:txBody>
      </p:sp>
      <p:cxnSp>
        <p:nvCxnSpPr>
          <p:cNvPr id="92" name="Connector 66"/>
          <p:cNvCxnSpPr/>
          <p:nvPr/>
        </p:nvCxnSpPr>
        <p:spPr>
          <a:xfrm>
            <a:off x="4926783" y="4179913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44 서사 · 성과평가시스템 구축·운영(지표설정 → 성과관리 → 결과활용·환류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성과 및 능력·직무 중심 체계적 성과평가시스템 구축·운영</a:t>
            </a:r>
          </a:p>
        </p:txBody>
      </p:sp>
      <p:sp>
        <p:nvSpPr>
          <p:cNvPr id="14" name="번호 띠 칩"/>
          <p:cNvSpPr/>
          <p:nvPr/>
        </p:nvSpPr>
        <p:spPr>
          <a:xfrm>
            <a:off x="6428183" y="843652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번호 띠 칩"/>
          <p:cNvSpPr>
            <a:spLocks noGrp="1"/>
          </p:cNvSpPr>
          <p:nvPr>
            <p:ph type="body" sz="quarter" idx="22"/>
          </p:nvPr>
        </p:nvSpPr>
        <p:spPr>
          <a:xfrm>
            <a:off x="6428183" y="843652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표 외곽"/>
          <p:cNvSpPr/>
          <p:nvPr/>
        </p:nvSpPr>
        <p:spPr>
          <a:xfrm>
            <a:off x="723130" y="1128522"/>
            <a:ext cx="6300000" cy="2673391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734087" y="1144957"/>
            <a:ext cx="580696" cy="61904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3"/>
          </p:nvPr>
        </p:nvSpPr>
        <p:spPr>
          <a:xfrm>
            <a:off x="734087" y="1144957"/>
            <a:ext cx="580696" cy="61904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지표설정</a:t>
            </a:r>
          </a:p>
        </p:txBody>
      </p:sp>
      <p:sp>
        <p:nvSpPr>
          <p:cNvPr id="19" name="머리칸"/>
          <p:cNvSpPr/>
          <p:nvPr/>
        </p:nvSpPr>
        <p:spPr>
          <a:xfrm>
            <a:off x="1347652" y="116687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0" name="머리칸"/>
          <p:cNvSpPr>
            <a:spLocks noGrp="1"/>
          </p:cNvSpPr>
          <p:nvPr>
            <p:ph type="body" sz="quarter" idx="24"/>
          </p:nvPr>
        </p:nvSpPr>
        <p:spPr>
          <a:xfrm>
            <a:off x="1347652" y="116687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중장기 전략 연계</a:t>
            </a:r>
          </a:p>
        </p:txBody>
      </p:sp>
      <p:sp>
        <p:nvSpPr>
          <p:cNvPr id="21" name="머리칸"/>
          <p:cNvSpPr/>
          <p:nvPr/>
        </p:nvSpPr>
        <p:spPr>
          <a:xfrm>
            <a:off x="3230348" y="116687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2" name="머리칸"/>
          <p:cNvSpPr>
            <a:spLocks noGrp="1"/>
          </p:cNvSpPr>
          <p:nvPr>
            <p:ph type="body" sz="quarter" idx="25"/>
          </p:nvPr>
        </p:nvSpPr>
        <p:spPr>
          <a:xfrm>
            <a:off x="3230348" y="116687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新정부정책</a:t>
            </a:r>
          </a:p>
        </p:txBody>
      </p:sp>
      <p:sp>
        <p:nvSpPr>
          <p:cNvPr id="23" name="머리칸"/>
          <p:cNvSpPr/>
          <p:nvPr/>
        </p:nvSpPr>
        <p:spPr>
          <a:xfrm>
            <a:off x="5113043" y="116687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4" name="머리칸"/>
          <p:cNvSpPr>
            <a:spLocks noGrp="1"/>
          </p:cNvSpPr>
          <p:nvPr>
            <p:ph type="body" sz="quarter" idx="26"/>
          </p:nvPr>
        </p:nvSpPr>
        <p:spPr>
          <a:xfrm>
            <a:off x="5113043" y="116687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내부 성과관리 여건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1358609" y="1407913"/>
            <a:ext cx="1860783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전략목표 ▶ 과제 ▶ KPI ▶ 성과지표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8"/>
          </p:nvPr>
        </p:nvSpPr>
        <p:spPr>
          <a:xfrm>
            <a:off x="3241304" y="1407913"/>
            <a:ext cx="1860783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안전경영 강화, AI 강국 도약 등</a:t>
            </a:r>
          </a:p>
        </p:txBody>
      </p:sp>
      <p:cxnSp>
        <p:nvCxnSpPr>
          <p:cNvPr id="27" name="Connector 16"/>
          <p:cNvCxnSpPr/>
          <p:nvPr/>
        </p:nvCxnSpPr>
        <p:spPr>
          <a:xfrm>
            <a:off x="3230348" y="1440783"/>
            <a:ext cx="0" cy="284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8" name="칸 본문"/>
          <p:cNvSpPr>
            <a:spLocks noGrp="1"/>
          </p:cNvSpPr>
          <p:nvPr>
            <p:ph type="body" sz="quarter" idx="29"/>
          </p:nvPr>
        </p:nvSpPr>
        <p:spPr>
          <a:xfrm>
            <a:off x="5124000" y="1407913"/>
            <a:ext cx="1860783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청렴도·장애인 고용률 등 상향 필요</a:t>
            </a:r>
          </a:p>
        </p:txBody>
      </p:sp>
      <p:cxnSp>
        <p:nvCxnSpPr>
          <p:cNvPr id="29" name="Connector 18"/>
          <p:cNvCxnSpPr/>
          <p:nvPr/>
        </p:nvCxnSpPr>
        <p:spPr>
          <a:xfrm>
            <a:off x="5113043" y="1440783"/>
            <a:ext cx="0" cy="284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0" name="레일"/>
          <p:cNvSpPr/>
          <p:nvPr/>
        </p:nvSpPr>
        <p:spPr>
          <a:xfrm>
            <a:off x="734087" y="1780435"/>
            <a:ext cx="580696" cy="1303826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1" name="레일"/>
          <p:cNvSpPr>
            <a:spLocks noGrp="1"/>
          </p:cNvSpPr>
          <p:nvPr>
            <p:ph type="body" sz="quarter" idx="30"/>
          </p:nvPr>
        </p:nvSpPr>
        <p:spPr>
          <a:xfrm>
            <a:off x="734087" y="1780435"/>
            <a:ext cx="580696" cy="1303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성과관리</a:t>
            </a:r>
          </a:p>
        </p:txBody>
      </p:sp>
      <p:sp>
        <p:nvSpPr>
          <p:cNvPr id="32" name="레일 삼각형"/>
          <p:cNvSpPr/>
          <p:nvPr/>
        </p:nvSpPr>
        <p:spPr>
          <a:xfrm>
            <a:off x="734086" y="1780434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1"/>
          </p:nvPr>
        </p:nvSpPr>
        <p:spPr>
          <a:xfrm>
            <a:off x="1358609" y="1802348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조직평가 BSC 성과관리: 평가단위 부서평가 + 部평가 / 지표구성 전략과 연계한 BSC 관점 지표체계 운영(성격 공통 25 + 고유과제 75 · 유형 계량 50 + 비계량 50) / 평가방법 계량 달성도 평가(70) + 난이도 평가(30), 비계량 부문·본부평가(70) + 별도평가(30)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2"/>
          </p:nvPr>
        </p:nvSpPr>
        <p:spPr>
          <a:xfrm>
            <a:off x="4182652" y="1802348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개인평가 MBO 성과관리 + 직무역량평가: 본부장·부서장 경영계약 본부 경영 및 부서 성과 책임 / 부장·직원 MBO 部 목표 및 과제실행 책임 / 직무역량평가(개선) 全직무 평가지표 정의, 지표별 ‘5단계 행동척도’ 제시 ➡ 평가자별 편차 완화로 정확한 직무역량평가 가능</a:t>
            </a:r>
          </a:p>
        </p:txBody>
      </p:sp>
      <p:cxnSp>
        <p:nvCxnSpPr>
          <p:cNvPr id="35" name="Connector 23"/>
          <p:cNvCxnSpPr/>
          <p:nvPr/>
        </p:nvCxnSpPr>
        <p:spPr>
          <a:xfrm>
            <a:off x="4171696" y="1835217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6" name="태그"/>
          <p:cNvSpPr/>
          <p:nvPr/>
        </p:nvSpPr>
        <p:spPr>
          <a:xfrm>
            <a:off x="1347652" y="2881565"/>
            <a:ext cx="471741" cy="17530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7" name="태그"/>
          <p:cNvSpPr>
            <a:spLocks noGrp="1"/>
          </p:cNvSpPr>
          <p:nvPr>
            <p:ph type="body" sz="quarter" idx="33"/>
          </p:nvPr>
        </p:nvSpPr>
        <p:spPr>
          <a:xfrm>
            <a:off x="1347652" y="2881565"/>
            <a:ext cx="47174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실시간</a:t>
            </a:r>
          </a:p>
        </p:txBody>
      </p:sp>
      <p:sp>
        <p:nvSpPr>
          <p:cNvPr id="38" name="태그 설명"/>
          <p:cNvSpPr>
            <a:spLocks noGrp="1"/>
          </p:cNvSpPr>
          <p:nvPr>
            <p:ph type="body" sz="quarter" idx="34"/>
          </p:nvPr>
        </p:nvSpPr>
        <p:spPr>
          <a:xfrm>
            <a:off x="1863219" y="2870609"/>
            <a:ext cx="5132520" cy="197217"/>
          </a:xfrm>
          <a:prstGeom prst="rect">
            <a:avLst/>
          </a:prstGeom>
          <a:noFill/>
          <a:ln>
            <a:noFill/>
          </a:ln>
        </p:spPr>
        <p:txBody>
          <a:bodyPr wrap="square" lIns="21600" tIns="0" rIns="1080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K-Best 성과관리 ▶ 매월 CEO 경영진회의 + 분기 성과관리회의 + 반기 전사경영회의</a:t>
            </a:r>
          </a:p>
        </p:txBody>
      </p:sp>
      <p:sp>
        <p:nvSpPr>
          <p:cNvPr id="39" name="레일"/>
          <p:cNvSpPr/>
          <p:nvPr/>
        </p:nvSpPr>
        <p:spPr>
          <a:xfrm>
            <a:off x="734087" y="3100696"/>
            <a:ext cx="580696" cy="68478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0" name="레일"/>
          <p:cNvSpPr>
            <a:spLocks noGrp="1"/>
          </p:cNvSpPr>
          <p:nvPr>
            <p:ph type="body" sz="quarter" idx="35"/>
          </p:nvPr>
        </p:nvSpPr>
        <p:spPr>
          <a:xfrm>
            <a:off x="734087" y="3100696"/>
            <a:ext cx="580696" cy="684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결과활용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류</a:t>
            </a:r>
          </a:p>
        </p:txBody>
      </p:sp>
      <p:sp>
        <p:nvSpPr>
          <p:cNvPr id="41" name="레일 삼각형"/>
          <p:cNvSpPr/>
          <p:nvPr/>
        </p:nvSpPr>
        <p:spPr>
          <a:xfrm>
            <a:off x="734086" y="3100695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2" name="머리칸"/>
          <p:cNvSpPr/>
          <p:nvPr/>
        </p:nvSpPr>
        <p:spPr>
          <a:xfrm>
            <a:off x="1347652" y="3122609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3" name="머리칸"/>
          <p:cNvSpPr>
            <a:spLocks noGrp="1"/>
          </p:cNvSpPr>
          <p:nvPr>
            <p:ph type="body" sz="quarter" idx="36"/>
          </p:nvPr>
        </p:nvSpPr>
        <p:spPr>
          <a:xfrm>
            <a:off x="1347652" y="3122609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성과급 차등·인사 반영</a:t>
            </a:r>
          </a:p>
        </p:txBody>
      </p:sp>
      <p:sp>
        <p:nvSpPr>
          <p:cNvPr id="44" name="머리칸"/>
          <p:cNvSpPr/>
          <p:nvPr/>
        </p:nvSpPr>
        <p:spPr>
          <a:xfrm>
            <a:off x="3230348" y="3122609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5" name="머리칸"/>
          <p:cNvSpPr>
            <a:spLocks noGrp="1"/>
          </p:cNvSpPr>
          <p:nvPr>
            <p:ph type="body" sz="quarter" idx="37"/>
          </p:nvPr>
        </p:nvSpPr>
        <p:spPr>
          <a:xfrm>
            <a:off x="3230348" y="3122609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평가제도 개선</a:t>
            </a:r>
          </a:p>
        </p:txBody>
      </p:sp>
      <p:sp>
        <p:nvSpPr>
          <p:cNvPr id="46" name="머리칸"/>
          <p:cNvSpPr/>
          <p:nvPr/>
        </p:nvSpPr>
        <p:spPr>
          <a:xfrm>
            <a:off x="5113043" y="3122609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7" name="머리칸"/>
          <p:cNvSpPr>
            <a:spLocks noGrp="1"/>
          </p:cNvSpPr>
          <p:nvPr>
            <p:ph type="body" sz="quarter" idx="38"/>
          </p:nvPr>
        </p:nvSpPr>
        <p:spPr>
          <a:xfrm>
            <a:off x="5113043" y="3122609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내·외부 성과확산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39"/>
          </p:nvPr>
        </p:nvSpPr>
        <p:spPr>
          <a:xfrm>
            <a:off x="1358609" y="3363652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본사·현장 설명회(1~2월, 5회): 평가제도 설명 및 직원니즈 청취</a:t>
            </a:r>
          </a:p>
        </p:txBody>
      </p:sp>
      <p:sp>
        <p:nvSpPr>
          <p:cNvPr id="49" name="칸 본문"/>
          <p:cNvSpPr>
            <a:spLocks noGrp="1"/>
          </p:cNvSpPr>
          <p:nvPr>
            <p:ph type="body" sz="quarter" idx="40"/>
          </p:nvPr>
        </p:nvSpPr>
        <p:spPr>
          <a:xfrm>
            <a:off x="3241304" y="3363652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 공동 TF(10~11월): 개선사항 발굴 및 제도 반영</a:t>
            </a:r>
          </a:p>
        </p:txBody>
      </p:sp>
      <p:cxnSp>
        <p:nvCxnSpPr>
          <p:cNvPr id="50" name="Connector 33"/>
          <p:cNvCxnSpPr/>
          <p:nvPr/>
        </p:nvCxnSpPr>
        <p:spPr>
          <a:xfrm>
            <a:off x="3230348" y="3396522"/>
            <a:ext cx="0" cy="35060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1" name="칸 본문"/>
          <p:cNvSpPr>
            <a:spLocks noGrp="1"/>
          </p:cNvSpPr>
          <p:nvPr>
            <p:ph type="body" sz="quarter" idx="41"/>
          </p:nvPr>
        </p:nvSpPr>
        <p:spPr>
          <a:xfrm>
            <a:off x="5124000" y="3363652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全직원 설문조사(12월): 평가제도 수용성 및 만족도 등</a:t>
            </a:r>
          </a:p>
        </p:txBody>
      </p:sp>
      <p:cxnSp>
        <p:nvCxnSpPr>
          <p:cNvPr id="52" name="Connector 35"/>
          <p:cNvCxnSpPr/>
          <p:nvPr/>
        </p:nvCxnSpPr>
        <p:spPr>
          <a:xfrm>
            <a:off x="5113043" y="3396522"/>
            <a:ext cx="0" cy="35060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45 서사 · 전략적 지표 개선(성과관리 여건 → 지표 개선 → 추진성과: 청렴도 · 일가정 양립 · 장애인 채용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내부 성과관리 여건 및 정부정책 방향을 감안한 전략적 지표 개선</a:t>
            </a:r>
          </a:p>
        </p:txBody>
      </p:sp>
      <p:sp>
        <p:nvSpPr>
          <p:cNvPr id="15" name="번호"/>
          <p:cNvSpPr>
            <a:spLocks noGrp="1"/>
          </p:cNvSpPr>
          <p:nvPr>
            <p:ph type="body" sz="quarter" idx="22"/>
          </p:nvPr>
        </p:nvSpPr>
        <p:spPr>
          <a:xfrm>
            <a:off x="536870" y="1194261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16" name="분야 박스"/>
          <p:cNvSpPr/>
          <p:nvPr/>
        </p:nvSpPr>
        <p:spPr>
          <a:xfrm>
            <a:off x="766390" y="1227130"/>
            <a:ext cx="841275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분야 박스"/>
          <p:cNvSpPr>
            <a:spLocks noGrp="1"/>
          </p:cNvSpPr>
          <p:nvPr>
            <p:ph type="body" sz="quarter" idx="23"/>
          </p:nvPr>
        </p:nvSpPr>
        <p:spPr>
          <a:xfrm>
            <a:off x="766390" y="1227130"/>
            <a:ext cx="84127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기존지표 보완</a:t>
            </a:r>
          </a:p>
        </p:txBody>
      </p:sp>
      <p:sp>
        <p:nvSpPr>
          <p:cNvPr id="18" name="형광 밑줄"/>
          <p:cNvSpPr/>
          <p:nvPr/>
        </p:nvSpPr>
        <p:spPr>
          <a:xfrm>
            <a:off x="1673403" y="1347652"/>
            <a:ext cx="3844763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소제목"/>
          <p:cNvSpPr>
            <a:spLocks noGrp="1"/>
          </p:cNvSpPr>
          <p:nvPr>
            <p:ph type="body" sz="quarter" idx="24"/>
          </p:nvPr>
        </p:nvSpPr>
        <p:spPr>
          <a:xfrm>
            <a:off x="1673403" y="1194261"/>
            <a:ext cx="5163466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성과 개선 필요 지표 신속 분석·개선하여, 성과 창출 유인체계 보완</a:t>
            </a:r>
          </a:p>
        </p:txBody>
      </p:sp>
      <p:sp>
        <p:nvSpPr>
          <p:cNvPr id="20" name="태그칩"/>
          <p:cNvSpPr/>
          <p:nvPr/>
        </p:nvSpPr>
        <p:spPr>
          <a:xfrm>
            <a:off x="5616775" y="1227130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태그칩"/>
          <p:cNvSpPr>
            <a:spLocks noGrp="1"/>
          </p:cNvSpPr>
          <p:nvPr>
            <p:ph type="body" sz="quarter" idx="25"/>
          </p:nvPr>
        </p:nvSpPr>
        <p:spPr>
          <a:xfrm>
            <a:off x="5616775" y="1227130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22" name="표 외곽"/>
          <p:cNvSpPr/>
          <p:nvPr/>
        </p:nvSpPr>
        <p:spPr>
          <a:xfrm>
            <a:off x="536870" y="1479130"/>
            <a:ext cx="6300000" cy="3423913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3" name="레일"/>
          <p:cNvSpPr/>
          <p:nvPr/>
        </p:nvSpPr>
        <p:spPr>
          <a:xfrm>
            <a:off x="547826" y="1495565"/>
            <a:ext cx="580696" cy="137504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4" name="레일"/>
          <p:cNvSpPr>
            <a:spLocks noGrp="1"/>
          </p:cNvSpPr>
          <p:nvPr>
            <p:ph type="body" sz="quarter" idx="26"/>
          </p:nvPr>
        </p:nvSpPr>
        <p:spPr>
          <a:xfrm>
            <a:off x="547826" y="1495565"/>
            <a:ext cx="580696" cy="137504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청 렴 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제 고</a:t>
            </a:r>
          </a:p>
        </p:txBody>
      </p:sp>
      <p:sp>
        <p:nvSpPr>
          <p:cNvPr id="25" name="단계"/>
          <p:cNvSpPr/>
          <p:nvPr/>
        </p:nvSpPr>
        <p:spPr>
          <a:xfrm>
            <a:off x="1161391" y="1517478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6" name="단계"/>
          <p:cNvSpPr>
            <a:spLocks noGrp="1"/>
          </p:cNvSpPr>
          <p:nvPr>
            <p:ph type="body" sz="quarter" idx="27"/>
          </p:nvPr>
        </p:nvSpPr>
        <p:spPr>
          <a:xfrm>
            <a:off x="1161391" y="151747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성과관리 여건</a:t>
            </a:r>
          </a:p>
        </p:txBody>
      </p:sp>
      <p:sp>
        <p:nvSpPr>
          <p:cNvPr id="27" name="단계"/>
          <p:cNvSpPr/>
          <p:nvPr/>
        </p:nvSpPr>
        <p:spPr>
          <a:xfrm>
            <a:off x="3044087" y="1517478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8" name="단계"/>
          <p:cNvSpPr>
            <a:spLocks noGrp="1"/>
          </p:cNvSpPr>
          <p:nvPr>
            <p:ph type="body" sz="quarter" idx="28"/>
          </p:nvPr>
        </p:nvSpPr>
        <p:spPr>
          <a:xfrm>
            <a:off x="3044087" y="151747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지표 개선</a:t>
            </a:r>
          </a:p>
        </p:txBody>
      </p:sp>
      <p:sp>
        <p:nvSpPr>
          <p:cNvPr id="29" name="단계"/>
          <p:cNvSpPr/>
          <p:nvPr/>
        </p:nvSpPr>
        <p:spPr>
          <a:xfrm>
            <a:off x="4926783" y="1517478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0" name="단계"/>
          <p:cNvSpPr>
            <a:spLocks noGrp="1"/>
          </p:cNvSpPr>
          <p:nvPr>
            <p:ph type="body" sz="quarter" idx="29"/>
          </p:nvPr>
        </p:nvSpPr>
        <p:spPr>
          <a:xfrm>
            <a:off x="4926783" y="151747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1" name="단계 삼각형"/>
          <p:cNvSpPr/>
          <p:nvPr/>
        </p:nvSpPr>
        <p:spPr>
          <a:xfrm>
            <a:off x="3044086" y="1517478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2" name="단계 삼각형"/>
          <p:cNvSpPr/>
          <p:nvPr/>
        </p:nvSpPr>
        <p:spPr>
          <a:xfrm>
            <a:off x="4926782" y="1517478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0"/>
          </p:nvPr>
        </p:nvSpPr>
        <p:spPr>
          <a:xfrm>
            <a:off x="1172348" y="1769478"/>
            <a:ext cx="1860783" cy="109565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전사적 청렴 노력에도 불구 ’24년 종합청렴도 3등급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특히, 토지보상 업무 외부체감도 점수 향상 시급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1"/>
          </p:nvPr>
        </p:nvSpPr>
        <p:spPr>
          <a:xfrm>
            <a:off x="3055043" y="1769478"/>
            <a:ext cx="1860783" cy="109565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全부서 청렴의식 확산을 위해 ‘청렴 프로모터(신설)’ 활동 가점 부여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수자원·수도 토지보상 주관부서를 청렴도 핵심부서에 추가</a:t>
            </a:r>
          </a:p>
        </p:txBody>
      </p:sp>
      <p:cxnSp>
        <p:nvCxnSpPr>
          <p:cNvPr id="35" name="Connector 25"/>
          <p:cNvCxnSpPr/>
          <p:nvPr/>
        </p:nvCxnSpPr>
        <p:spPr>
          <a:xfrm>
            <a:off x="3044087" y="1802348"/>
            <a:ext cx="0" cy="102991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6" name="칸 본문"/>
          <p:cNvSpPr>
            <a:spLocks noGrp="1"/>
          </p:cNvSpPr>
          <p:nvPr>
            <p:ph type="body" sz="quarter" idx="32"/>
          </p:nvPr>
        </p:nvSpPr>
        <p:spPr>
          <a:xfrm>
            <a:off x="4937739" y="1769478"/>
            <a:ext cx="1860783" cy="109565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종합청렴도 공사 최초 1등급 달성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토지보상 외부체감도 13.3점↑(79.1→92.4점)</a:t>
            </a:r>
          </a:p>
        </p:txBody>
      </p:sp>
      <p:cxnSp>
        <p:nvCxnSpPr>
          <p:cNvPr id="37" name="Connector 27"/>
          <p:cNvCxnSpPr/>
          <p:nvPr/>
        </p:nvCxnSpPr>
        <p:spPr>
          <a:xfrm>
            <a:off x="4926783" y="1802348"/>
            <a:ext cx="0" cy="102991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8" name="레일"/>
          <p:cNvSpPr/>
          <p:nvPr/>
        </p:nvSpPr>
        <p:spPr>
          <a:xfrm>
            <a:off x="547826" y="2887043"/>
            <a:ext cx="580696" cy="93678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9" name="레일"/>
          <p:cNvSpPr>
            <a:spLocks noGrp="1"/>
          </p:cNvSpPr>
          <p:nvPr>
            <p:ph type="body" sz="quarter" idx="33"/>
          </p:nvPr>
        </p:nvSpPr>
        <p:spPr>
          <a:xfrm>
            <a:off x="547826" y="2887043"/>
            <a:ext cx="580696" cy="936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일가정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양 립</a:t>
            </a:r>
          </a:p>
        </p:txBody>
      </p:sp>
      <p:sp>
        <p:nvSpPr>
          <p:cNvPr id="40" name="레일 삼각형"/>
          <p:cNvSpPr/>
          <p:nvPr/>
        </p:nvSpPr>
        <p:spPr>
          <a:xfrm>
            <a:off x="547826" y="2887043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1" name="칸 본문"/>
          <p:cNvSpPr>
            <a:spLocks noGrp="1"/>
          </p:cNvSpPr>
          <p:nvPr>
            <p:ph type="body" sz="quarter" idx="34"/>
          </p:nvPr>
        </p:nvSpPr>
        <p:spPr>
          <a:xfrm>
            <a:off x="1172348" y="2908957"/>
            <a:ext cx="1860783" cy="909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다양한 제도 운영에도, 눈치 보이는 조직문화 잔존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35"/>
          </p:nvPr>
        </p:nvSpPr>
        <p:spPr>
          <a:xfrm>
            <a:off x="3055043" y="2908957"/>
            <a:ext cx="1860783" cy="909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가족친화경영 문화 적극 참여 부서에 인센티브 부여로 일·가정양립 유도</a:t>
            </a:r>
          </a:p>
        </p:txBody>
      </p:sp>
      <p:cxnSp>
        <p:nvCxnSpPr>
          <p:cNvPr id="43" name="Connector 32"/>
          <p:cNvCxnSpPr/>
          <p:nvPr/>
        </p:nvCxnSpPr>
        <p:spPr>
          <a:xfrm>
            <a:off x="3044087" y="2941826"/>
            <a:ext cx="0" cy="8436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4" name="칸 본문"/>
          <p:cNvSpPr>
            <a:spLocks noGrp="1"/>
          </p:cNvSpPr>
          <p:nvPr>
            <p:ph type="body" sz="quarter" idx="36"/>
          </p:nvPr>
        </p:nvSpPr>
        <p:spPr>
          <a:xfrm>
            <a:off x="4937739" y="2908957"/>
            <a:ext cx="1860783" cy="909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신뢰경영지수 역대 최고(91점) 달성</a:t>
            </a:r>
          </a:p>
        </p:txBody>
      </p:sp>
      <p:cxnSp>
        <p:nvCxnSpPr>
          <p:cNvPr id="45" name="Connector 34"/>
          <p:cNvCxnSpPr/>
          <p:nvPr/>
        </p:nvCxnSpPr>
        <p:spPr>
          <a:xfrm>
            <a:off x="4926783" y="2941826"/>
            <a:ext cx="0" cy="8436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6" name="레일"/>
          <p:cNvSpPr/>
          <p:nvPr/>
        </p:nvSpPr>
        <p:spPr>
          <a:xfrm>
            <a:off x="547826" y="3840261"/>
            <a:ext cx="580696" cy="1046348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7" name="레일"/>
          <p:cNvSpPr>
            <a:spLocks noGrp="1"/>
          </p:cNvSpPr>
          <p:nvPr>
            <p:ph type="body" sz="quarter" idx="37"/>
          </p:nvPr>
        </p:nvSpPr>
        <p:spPr>
          <a:xfrm>
            <a:off x="547826" y="3840261"/>
            <a:ext cx="580696" cy="1046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장애인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채 용</a:t>
            </a:r>
          </a:p>
        </p:txBody>
      </p:sp>
      <p:sp>
        <p:nvSpPr>
          <p:cNvPr id="48" name="레일 삼각형"/>
          <p:cNvSpPr/>
          <p:nvPr/>
        </p:nvSpPr>
        <p:spPr>
          <a:xfrm>
            <a:off x="547826" y="3840260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9" name="칸 본문"/>
          <p:cNvSpPr>
            <a:spLocks noGrp="1"/>
          </p:cNvSpPr>
          <p:nvPr>
            <p:ph type="body" sz="quarter" idx="38"/>
          </p:nvPr>
        </p:nvSpPr>
        <p:spPr>
          <a:xfrm>
            <a:off x="1172348" y="3862174"/>
            <a:ext cx="1860783" cy="1018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장애인 일자리 확대 정책 발맞추어 의무고용률(3.8%) 달성 독려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’24년 장애인 고용률 실적 3.48%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39"/>
          </p:nvPr>
        </p:nvSpPr>
        <p:spPr>
          <a:xfrm>
            <a:off x="3055043" y="3862174"/>
            <a:ext cx="1860783" cy="1018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전사 장애인 고용 TF 결과를 반영, 사실상 획득이 어려운 現 가점기준 현실화, 全부서 동참 여건 조성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최소기준: (기존) 3.8% → (개선) 0.95%</a:t>
            </a:r>
          </a:p>
        </p:txBody>
      </p:sp>
      <p:cxnSp>
        <p:nvCxnSpPr>
          <p:cNvPr id="51" name="Connector 39"/>
          <p:cNvCxnSpPr/>
          <p:nvPr/>
        </p:nvCxnSpPr>
        <p:spPr>
          <a:xfrm>
            <a:off x="3044087" y="3895043"/>
            <a:ext cx="0" cy="95321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2" name="칸 본문"/>
          <p:cNvSpPr>
            <a:spLocks noGrp="1"/>
          </p:cNvSpPr>
          <p:nvPr>
            <p:ph type="body" sz="quarter" idx="40"/>
          </p:nvPr>
        </p:nvSpPr>
        <p:spPr>
          <a:xfrm>
            <a:off x="4937739" y="3862174"/>
            <a:ext cx="1860783" cy="1018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역대 최고 장애인 고용률 3.8% 달성(법정의무고용률 준수)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전년比 0.32%p 상승</a:t>
            </a:r>
          </a:p>
        </p:txBody>
      </p:sp>
      <p:cxnSp>
        <p:nvCxnSpPr>
          <p:cNvPr id="53" name="Connector 41"/>
          <p:cNvCxnSpPr/>
          <p:nvPr/>
        </p:nvCxnSpPr>
        <p:spPr>
          <a:xfrm>
            <a:off x="4926783" y="3895043"/>
            <a:ext cx="0" cy="95321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46 서사 · 2026년 지표 개선(안전강화 · AI 활용: 추진배경 → 全부서 안전성과책임 · 가점지표 개선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4518256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新정부정책 안전강화 등 주요 정책의 발빠른 이행을 위한 ’26년 지표 개선</a:t>
            </a:r>
          </a:p>
        </p:txBody>
      </p:sp>
      <p:sp>
        <p:nvSpPr>
          <p:cNvPr id="11" name="태그칩"/>
          <p:cNvSpPr/>
          <p:nvPr/>
        </p:nvSpPr>
        <p:spPr>
          <a:xfrm>
            <a:off x="5339995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5339995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태그칩"/>
          <p:cNvSpPr/>
          <p:nvPr/>
        </p:nvSpPr>
        <p:spPr>
          <a:xfrm>
            <a:off x="5891116" y="810783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4" name="태그칩"/>
          <p:cNvSpPr>
            <a:spLocks noGrp="1"/>
          </p:cNvSpPr>
          <p:nvPr>
            <p:ph type="body" sz="quarter" idx="22"/>
          </p:nvPr>
        </p:nvSpPr>
        <p:spPr>
          <a:xfrm>
            <a:off x="5891116" y="810783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5" name="표 외곽"/>
          <p:cNvSpPr/>
          <p:nvPr/>
        </p:nvSpPr>
        <p:spPr>
          <a:xfrm>
            <a:off x="723130" y="1062783"/>
            <a:ext cx="6300000" cy="1407913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레일"/>
          <p:cNvSpPr/>
          <p:nvPr/>
        </p:nvSpPr>
        <p:spPr>
          <a:xfrm>
            <a:off x="734087" y="1079217"/>
            <a:ext cx="580696" cy="37800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레일"/>
          <p:cNvSpPr>
            <a:spLocks noGrp="1"/>
          </p:cNvSpPr>
          <p:nvPr>
            <p:ph type="body" sz="quarter" idx="23"/>
          </p:nvPr>
        </p:nvSpPr>
        <p:spPr>
          <a:xfrm>
            <a:off x="734087" y="1079217"/>
            <a:ext cx="580696" cy="37800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4"/>
          </p:nvPr>
        </p:nvSpPr>
        <p:spPr>
          <a:xfrm>
            <a:off x="1358609" y="1101130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정부정책 안전 최우선 일터, AI 강국 도약을 국정과제로 설정, 공공기관 책임·역할 강조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5"/>
          </p:nvPr>
        </p:nvSpPr>
        <p:spPr>
          <a:xfrm>
            <a:off x="4182652" y="1101130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‘안전경영’, ‘AI 전환’을 특화전략으로 반영, 실행력 제고 위한 ’26년 지표 개선</a:t>
            </a:r>
          </a:p>
        </p:txBody>
      </p:sp>
      <p:cxnSp>
        <p:nvCxnSpPr>
          <p:cNvPr id="20" name="Connector 11"/>
          <p:cNvCxnSpPr/>
          <p:nvPr/>
        </p:nvCxnSpPr>
        <p:spPr>
          <a:xfrm>
            <a:off x="4171696" y="1134000"/>
            <a:ext cx="0" cy="284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1" name="레일"/>
          <p:cNvSpPr/>
          <p:nvPr/>
        </p:nvSpPr>
        <p:spPr>
          <a:xfrm>
            <a:off x="734087" y="1473652"/>
            <a:ext cx="580696" cy="980609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레일"/>
          <p:cNvSpPr>
            <a:spLocks noGrp="1"/>
          </p:cNvSpPr>
          <p:nvPr>
            <p:ph type="body" sz="quarter" idx="26"/>
          </p:nvPr>
        </p:nvSpPr>
        <p:spPr>
          <a:xfrm>
            <a:off x="734087" y="1473652"/>
            <a:ext cx="580696" cy="980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지표 개선</a:t>
            </a:r>
          </a:p>
        </p:txBody>
      </p:sp>
      <p:sp>
        <p:nvSpPr>
          <p:cNvPr id="23" name="레일 삼각형"/>
          <p:cNvSpPr/>
          <p:nvPr/>
        </p:nvSpPr>
        <p:spPr>
          <a:xfrm>
            <a:off x="734086" y="1473652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4" name="머리칸"/>
          <p:cNvSpPr/>
          <p:nvPr/>
        </p:nvSpPr>
        <p:spPr>
          <a:xfrm>
            <a:off x="1347652" y="1495565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5" name="머리칸"/>
          <p:cNvSpPr>
            <a:spLocks noGrp="1"/>
          </p:cNvSpPr>
          <p:nvPr>
            <p:ph type="body" sz="quarter" idx="27"/>
          </p:nvPr>
        </p:nvSpPr>
        <p:spPr>
          <a:xfrm>
            <a:off x="1347652" y="1495565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 全부서 안전경영 성과책임 부여</a:t>
            </a:r>
          </a:p>
        </p:txBody>
      </p:sp>
      <p:sp>
        <p:nvSpPr>
          <p:cNvPr id="26" name="머리칸"/>
          <p:cNvSpPr/>
          <p:nvPr/>
        </p:nvSpPr>
        <p:spPr>
          <a:xfrm>
            <a:off x="4171696" y="1495565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7" name="머리칸"/>
          <p:cNvSpPr>
            <a:spLocks noGrp="1"/>
          </p:cNvSpPr>
          <p:nvPr>
            <p:ph type="body" sz="quarter" idx="28"/>
          </p:nvPr>
        </p:nvSpPr>
        <p:spPr>
          <a:xfrm>
            <a:off x="4171696" y="1495565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활용 성과창출을 위한 가점지표 개선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9"/>
          </p:nvPr>
        </p:nvSpPr>
        <p:spPr>
          <a:xfrm>
            <a:off x="1358609" y="1736609"/>
            <a:ext cx="2802130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시설관리와 공사를 실제 수행하는 현장부서만 ‘안전관리노력도’ 평가지표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안전조직·인력·예산 등 지원 강화를 위해 본사까지 포함한 全부서 안전 성과지표 부여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0"/>
          </p:nvPr>
        </p:nvSpPr>
        <p:spPr>
          <a:xfrm>
            <a:off x="4182652" y="1736609"/>
            <a:ext cx="2802130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정부 주관 ‘혁신’ 분야 및 ‘국민협업’ 공모 참여 및 수상성과에 가점지표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기존 혁신뿐만 아니라 AI 혁신과제 수상실적까지 대상에 추가하여 AI 전환 유도</a:t>
            </a:r>
          </a:p>
        </p:txBody>
      </p:sp>
      <p:cxnSp>
        <p:nvCxnSpPr>
          <p:cNvPr id="30" name="Connector 18"/>
          <p:cNvCxnSpPr/>
          <p:nvPr/>
        </p:nvCxnSpPr>
        <p:spPr>
          <a:xfrm>
            <a:off x="4171696" y="1769478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47 서사 · 소통 기반의 투명한 성과평가 운영(추진체계 → 정책·전략 연계강화 → 투명성·수용성 제고 → 추진성과 표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소통 기반의 투명한 성과평가 운영으로 수용도 제고</a:t>
            </a:r>
          </a:p>
        </p:txBody>
      </p:sp>
      <p:sp>
        <p:nvSpPr>
          <p:cNvPr id="15" name="번호 띠 칩"/>
          <p:cNvSpPr/>
          <p:nvPr/>
        </p:nvSpPr>
        <p:spPr>
          <a:xfrm>
            <a:off x="6265613" y="832696"/>
            <a:ext cx="505517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번호 띠 칩"/>
          <p:cNvSpPr>
            <a:spLocks noGrp="1"/>
          </p:cNvSpPr>
          <p:nvPr>
            <p:ph type="body" sz="quarter" idx="22"/>
          </p:nvPr>
        </p:nvSpPr>
        <p:spPr>
          <a:xfrm>
            <a:off x="6265613" y="832696"/>
            <a:ext cx="50551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7" name="번호 띠 칩"/>
          <p:cNvSpPr/>
          <p:nvPr/>
        </p:nvSpPr>
        <p:spPr>
          <a:xfrm>
            <a:off x="5473042" y="832696"/>
            <a:ext cx="74874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번호 띠 칩"/>
          <p:cNvSpPr>
            <a:spLocks noGrp="1"/>
          </p:cNvSpPr>
          <p:nvPr>
            <p:ph type="body" sz="quarter" idx="23"/>
          </p:nvPr>
        </p:nvSpPr>
        <p:spPr>
          <a:xfrm>
            <a:off x="5473042" y="832696"/>
            <a:ext cx="74874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9" name="번호 띠 칩"/>
          <p:cNvSpPr/>
          <p:nvPr/>
        </p:nvSpPr>
        <p:spPr>
          <a:xfrm>
            <a:off x="4900008" y="832696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번호 띠 칩"/>
          <p:cNvSpPr>
            <a:spLocks noGrp="1"/>
          </p:cNvSpPr>
          <p:nvPr>
            <p:ph type="body" sz="quarter" idx="24"/>
          </p:nvPr>
        </p:nvSpPr>
        <p:spPr>
          <a:xfrm>
            <a:off x="4900008" y="832696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21" name="표 외곽"/>
          <p:cNvSpPr/>
          <p:nvPr/>
        </p:nvSpPr>
        <p:spPr>
          <a:xfrm>
            <a:off x="536870" y="1117565"/>
            <a:ext cx="6300000" cy="230634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2" name="레일"/>
          <p:cNvSpPr/>
          <p:nvPr/>
        </p:nvSpPr>
        <p:spPr>
          <a:xfrm>
            <a:off x="547826" y="1134000"/>
            <a:ext cx="580696" cy="48756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3" name="레일"/>
          <p:cNvSpPr>
            <a:spLocks noGrp="1"/>
          </p:cNvSpPr>
          <p:nvPr>
            <p:ph type="body" sz="quarter" idx="25"/>
          </p:nvPr>
        </p:nvSpPr>
        <p:spPr>
          <a:xfrm>
            <a:off x="547826" y="1134000"/>
            <a:ext cx="580696" cy="487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추진체계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6"/>
          </p:nvPr>
        </p:nvSpPr>
        <p:spPr>
          <a:xfrm>
            <a:off x="1172348" y="1155913"/>
            <a:ext cx="2802130" cy="460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평가 실무자 및 경영진 중심의 개선사항 발굴 및 제도개선 시행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3996391" y="1155913"/>
            <a:ext cx="2802130" cy="460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노사공동 TF를 통해 개선사항 발굴부터 제도개선 적정성까지 직원 의견 적극 수렴</a:t>
            </a:r>
          </a:p>
        </p:txBody>
      </p:sp>
      <p:cxnSp>
        <p:nvCxnSpPr>
          <p:cNvPr id="26" name="Connector 18"/>
          <p:cNvCxnSpPr/>
          <p:nvPr/>
        </p:nvCxnSpPr>
        <p:spPr>
          <a:xfrm>
            <a:off x="3985435" y="1188783"/>
            <a:ext cx="0" cy="39443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7" name="레일"/>
          <p:cNvSpPr/>
          <p:nvPr/>
        </p:nvSpPr>
        <p:spPr>
          <a:xfrm>
            <a:off x="547826" y="1638000"/>
            <a:ext cx="580696" cy="849130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8" name="레일"/>
          <p:cNvSpPr>
            <a:spLocks noGrp="1"/>
          </p:cNvSpPr>
          <p:nvPr>
            <p:ph type="body" sz="quarter" idx="28"/>
          </p:nvPr>
        </p:nvSpPr>
        <p:spPr>
          <a:xfrm>
            <a:off x="547826" y="1638000"/>
            <a:ext cx="580696" cy="849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정책·전략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연계강화</a:t>
            </a:r>
          </a:p>
        </p:txBody>
      </p:sp>
      <p:sp>
        <p:nvSpPr>
          <p:cNvPr id="29" name="레일 삼각형"/>
          <p:cNvSpPr/>
          <p:nvPr/>
        </p:nvSpPr>
        <p:spPr>
          <a:xfrm>
            <a:off x="547826" y="1638000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0" name="칸 본문"/>
          <p:cNvSpPr>
            <a:spLocks noGrp="1"/>
          </p:cNvSpPr>
          <p:nvPr>
            <p:ph type="body" sz="quarter" idx="29"/>
          </p:nvPr>
        </p:nvSpPr>
        <p:spPr>
          <a:xfrm>
            <a:off x="1172348" y="1659913"/>
            <a:ext cx="2802130" cy="821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주요업무 평가 가중치 확대: 新정부는 공공기관이 본연의 역할을 제대로 수행할 수 있도록 책임성 강화 요구 / 개선 주요업무 평가지표(고유지표) 배점확대 * (기존) 55점 → (개선) 65점으로 10점 확대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3996391" y="1659913"/>
            <a:ext cx="2802130" cy="821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 연계지표 난이도 정량점수 상향: 전략연계 지표와 자체지표 간 난이도 정량점수가 같아 자체지표 설정 선호 / 개선 전략지표와 자체지표 난이도 점수 차등 * (전략) 43점 부여 (자체) 최고 42점~최저 33점</a:t>
            </a:r>
          </a:p>
        </p:txBody>
      </p:sp>
      <p:cxnSp>
        <p:nvCxnSpPr>
          <p:cNvPr id="32" name="Connector 23"/>
          <p:cNvCxnSpPr/>
          <p:nvPr/>
        </p:nvCxnSpPr>
        <p:spPr>
          <a:xfrm>
            <a:off x="3985435" y="1692783"/>
            <a:ext cx="0" cy="75600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레일"/>
          <p:cNvSpPr/>
          <p:nvPr/>
        </p:nvSpPr>
        <p:spPr>
          <a:xfrm>
            <a:off x="547826" y="2503565"/>
            <a:ext cx="580696" cy="90391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4" name="레일"/>
          <p:cNvSpPr>
            <a:spLocks noGrp="1"/>
          </p:cNvSpPr>
          <p:nvPr>
            <p:ph type="body" sz="quarter" idx="31"/>
          </p:nvPr>
        </p:nvSpPr>
        <p:spPr>
          <a:xfrm>
            <a:off x="547826" y="2503565"/>
            <a:ext cx="580696" cy="9039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투명성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수용성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제 고</a:t>
            </a:r>
          </a:p>
        </p:txBody>
      </p:sp>
      <p:sp>
        <p:nvSpPr>
          <p:cNvPr id="35" name="레일 삼각형"/>
          <p:cNvSpPr/>
          <p:nvPr/>
        </p:nvSpPr>
        <p:spPr>
          <a:xfrm>
            <a:off x="547826" y="2503565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6" name="머리칸"/>
          <p:cNvSpPr/>
          <p:nvPr/>
        </p:nvSpPr>
        <p:spPr>
          <a:xfrm>
            <a:off x="1161391" y="2525478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7" name="머리칸"/>
          <p:cNvSpPr>
            <a:spLocks noGrp="1"/>
          </p:cNvSpPr>
          <p:nvPr>
            <p:ph type="body" sz="quarter" idx="32"/>
          </p:nvPr>
        </p:nvSpPr>
        <p:spPr>
          <a:xfrm>
            <a:off x="1161391" y="2525478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난이도 산정 시스템 제공</a:t>
            </a:r>
          </a:p>
        </p:txBody>
      </p:sp>
      <p:sp>
        <p:nvSpPr>
          <p:cNvPr id="38" name="머리칸"/>
          <p:cNvSpPr/>
          <p:nvPr/>
        </p:nvSpPr>
        <p:spPr>
          <a:xfrm>
            <a:off x="3044087" y="2525478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9" name="머리칸"/>
          <p:cNvSpPr>
            <a:spLocks noGrp="1"/>
          </p:cNvSpPr>
          <p:nvPr>
            <p:ph type="body" sz="quarter" idx="33"/>
          </p:nvPr>
        </p:nvSpPr>
        <p:spPr>
          <a:xfrm>
            <a:off x="3044087" y="2525478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결과공개 시점 명확화</a:t>
            </a:r>
          </a:p>
        </p:txBody>
      </p:sp>
      <p:sp>
        <p:nvSpPr>
          <p:cNvPr id="40" name="머리칸"/>
          <p:cNvSpPr/>
          <p:nvPr/>
        </p:nvSpPr>
        <p:spPr>
          <a:xfrm>
            <a:off x="4926783" y="2525478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1" name="머리칸"/>
          <p:cNvSpPr>
            <a:spLocks noGrp="1"/>
          </p:cNvSpPr>
          <p:nvPr>
            <p:ph type="body" sz="quarter" idx="34"/>
          </p:nvPr>
        </p:nvSpPr>
        <p:spPr>
          <a:xfrm>
            <a:off x="4926783" y="2525478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성과향상 지원 확대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35"/>
          </p:nvPr>
        </p:nvSpPr>
        <p:spPr>
          <a:xfrm>
            <a:off x="1172348" y="2766522"/>
            <a:ext cx="1860783" cy="635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복잡한 산식으로 피평가부서 확인 및 검증에 애로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자동산정·예측시스템 도입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36"/>
          </p:nvPr>
        </p:nvSpPr>
        <p:spPr>
          <a:xfrm>
            <a:off x="3055043" y="2766522"/>
            <a:ext cx="1860783" cy="635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통상 7~8월 결과 공개하나, 구체적 시점은 유동적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매년 8월 첫째주로 명문화</a:t>
            </a:r>
          </a:p>
        </p:txBody>
      </p:sp>
      <p:cxnSp>
        <p:nvCxnSpPr>
          <p:cNvPr id="44" name="Connector 31"/>
          <p:cNvCxnSpPr/>
          <p:nvPr/>
        </p:nvCxnSpPr>
        <p:spPr>
          <a:xfrm>
            <a:off x="3044087" y="2799391"/>
            <a:ext cx="0" cy="569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5" name="칸 본문"/>
          <p:cNvSpPr>
            <a:spLocks noGrp="1"/>
          </p:cNvSpPr>
          <p:nvPr>
            <p:ph type="body" sz="quarter" idx="37"/>
          </p:nvPr>
        </p:nvSpPr>
        <p:spPr>
          <a:xfrm>
            <a:off x="4937739" y="2766522"/>
            <a:ext cx="1860783" cy="635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2년 연속 부진부서(D등급) 대상 성과향상 컨설팅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당해 부진부서까지 확대</a:t>
            </a:r>
          </a:p>
        </p:txBody>
      </p:sp>
      <p:cxnSp>
        <p:nvCxnSpPr>
          <p:cNvPr id="46" name="Connector 33"/>
          <p:cNvCxnSpPr/>
          <p:nvPr/>
        </p:nvCxnSpPr>
        <p:spPr>
          <a:xfrm>
            <a:off x="4926783" y="2799391"/>
            <a:ext cx="0" cy="569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7" name="핵심성과 박스"/>
          <p:cNvSpPr/>
          <p:nvPr/>
        </p:nvSpPr>
        <p:spPr>
          <a:xfrm>
            <a:off x="536870" y="3511565"/>
            <a:ext cx="6300000" cy="70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8" name="핵심성과 라벨"/>
          <p:cNvSpPr/>
          <p:nvPr/>
        </p:nvSpPr>
        <p:spPr>
          <a:xfrm>
            <a:off x="569739" y="3544435"/>
            <a:ext cx="657391" cy="63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9" name="핵심성과 라벨"/>
          <p:cNvSpPr>
            <a:spLocks noGrp="1"/>
          </p:cNvSpPr>
          <p:nvPr>
            <p:ph type="body" sz="quarter" idx="38"/>
          </p:nvPr>
        </p:nvSpPr>
        <p:spPr>
          <a:xfrm>
            <a:off x="569739" y="3544435"/>
            <a:ext cx="657391" cy="63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0" name="핵심성과 문구"/>
          <p:cNvSpPr>
            <a:spLocks noGrp="1"/>
          </p:cNvSpPr>
          <p:nvPr>
            <p:ph type="body" sz="quarter" idx="39"/>
          </p:nvPr>
        </p:nvSpPr>
        <p:spPr>
          <a:xfrm>
            <a:off x="1314783" y="3533478"/>
            <a:ext cx="5456348" cy="66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노사공동 TF 운영, 설명회 개최 등 직원 관심 제고로 설문조사 응답률 및 만족·수용도 향상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응답률 33.8%(6.4%p↑), 만족도 81.3(1.2↑), 수용도 80.1(0.9↑) / ’24년 27.4%, 80.1, 79.2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48 서사 · 성과관리와 보수 및 인사관리 간 전략적 연계(보수 및 포상연계 → 인사연계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성과관리와 보수 및 인사관리 간 전략적 연계 및 활용</a:t>
            </a:r>
          </a:p>
        </p:txBody>
      </p:sp>
      <p:sp>
        <p:nvSpPr>
          <p:cNvPr id="14" name="번호 띠 칩"/>
          <p:cNvSpPr/>
          <p:nvPr/>
        </p:nvSpPr>
        <p:spPr>
          <a:xfrm>
            <a:off x="6428183" y="843652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번호 띠 칩"/>
          <p:cNvSpPr>
            <a:spLocks noGrp="1"/>
          </p:cNvSpPr>
          <p:nvPr>
            <p:ph type="body" sz="quarter" idx="22"/>
          </p:nvPr>
        </p:nvSpPr>
        <p:spPr>
          <a:xfrm>
            <a:off x="6428183" y="843652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표 외곽"/>
          <p:cNvSpPr/>
          <p:nvPr/>
        </p:nvSpPr>
        <p:spPr>
          <a:xfrm>
            <a:off x="723130" y="1128522"/>
            <a:ext cx="6300000" cy="2043391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734087" y="1144957"/>
            <a:ext cx="580696" cy="1144957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3"/>
          </p:nvPr>
        </p:nvSpPr>
        <p:spPr>
          <a:xfrm>
            <a:off x="734087" y="1144957"/>
            <a:ext cx="580696" cy="1144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보 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및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포상연계</a:t>
            </a:r>
          </a:p>
        </p:txBody>
      </p:sp>
      <p:sp>
        <p:nvSpPr>
          <p:cNvPr id="19" name="머리칸"/>
          <p:cNvSpPr/>
          <p:nvPr/>
        </p:nvSpPr>
        <p:spPr>
          <a:xfrm>
            <a:off x="1347652" y="116687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0" name="머리칸"/>
          <p:cNvSpPr>
            <a:spLocks noGrp="1"/>
          </p:cNvSpPr>
          <p:nvPr>
            <p:ph type="body" sz="quarter" idx="24"/>
          </p:nvPr>
        </p:nvSpPr>
        <p:spPr>
          <a:xfrm>
            <a:off x="1347652" y="116687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기준급·성과급 차등 적용</a:t>
            </a:r>
          </a:p>
        </p:txBody>
      </p:sp>
      <p:sp>
        <p:nvSpPr>
          <p:cNvPr id="21" name="머리칸"/>
          <p:cNvSpPr/>
          <p:nvPr/>
        </p:nvSpPr>
        <p:spPr>
          <a:xfrm>
            <a:off x="4171696" y="116687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2" name="머리칸"/>
          <p:cNvSpPr>
            <a:spLocks noGrp="1"/>
          </p:cNvSpPr>
          <p:nvPr>
            <p:ph type="body" sz="quarter" idx="25"/>
          </p:nvPr>
        </p:nvSpPr>
        <p:spPr>
          <a:xfrm>
            <a:off x="4171696" y="116687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공감·수용성 높은 포상 제도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6"/>
          </p:nvPr>
        </p:nvSpPr>
        <p:spPr>
          <a:xfrm>
            <a:off x="1358609" y="1407913"/>
            <a:ext cx="2802130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성과급 부서 및 개인 성과평가 기반, 성과급 5(+1)등급 차등 적용(최대 2배) * 중징계자·주요 비위행위자 성과급 미지급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기준급 직무역량 등 개인평가 결과 활용, 기준급 인상률 5단계 차등 적용(최대 2%)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7"/>
          </p:nvPr>
        </p:nvSpPr>
        <p:spPr>
          <a:xfrm>
            <a:off x="4182652" y="1407913"/>
            <a:ext cx="2802130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우수부서 당해연도 성과달성 우수부서 및 성과향상 우수부서 포상금 지급 * (달성) S등급 부서 / (우수) 3등급 이상 향상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유공직원 해당 부서 우수성과 창출 직원 및 위임지표 우수 직원 대상 사장표창 수여</a:t>
            </a:r>
          </a:p>
        </p:txBody>
      </p:sp>
      <p:cxnSp>
        <p:nvCxnSpPr>
          <p:cNvPr id="25" name="Connector 15"/>
          <p:cNvCxnSpPr/>
          <p:nvPr/>
        </p:nvCxnSpPr>
        <p:spPr>
          <a:xfrm>
            <a:off x="4171696" y="1440783"/>
            <a:ext cx="0" cy="81078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6" name="레일"/>
          <p:cNvSpPr/>
          <p:nvPr/>
        </p:nvSpPr>
        <p:spPr>
          <a:xfrm>
            <a:off x="734087" y="2306348"/>
            <a:ext cx="580696" cy="849130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7" name="레일"/>
          <p:cNvSpPr>
            <a:spLocks noGrp="1"/>
          </p:cNvSpPr>
          <p:nvPr>
            <p:ph type="body" sz="quarter" idx="28"/>
          </p:nvPr>
        </p:nvSpPr>
        <p:spPr>
          <a:xfrm>
            <a:off x="734087" y="2306348"/>
            <a:ext cx="580696" cy="849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 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연 계</a:t>
            </a:r>
          </a:p>
        </p:txBody>
      </p:sp>
      <p:sp>
        <p:nvSpPr>
          <p:cNvPr id="28" name="레일 삼각형"/>
          <p:cNvSpPr/>
          <p:nvPr/>
        </p:nvSpPr>
        <p:spPr>
          <a:xfrm>
            <a:off x="734086" y="2306347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머리칸"/>
          <p:cNvSpPr/>
          <p:nvPr/>
        </p:nvSpPr>
        <p:spPr>
          <a:xfrm>
            <a:off x="1347652" y="232826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0" name="머리칸"/>
          <p:cNvSpPr>
            <a:spLocks noGrp="1"/>
          </p:cNvSpPr>
          <p:nvPr>
            <p:ph type="body" sz="quarter" idx="29"/>
          </p:nvPr>
        </p:nvSpPr>
        <p:spPr>
          <a:xfrm>
            <a:off x="1347652" y="232826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 기반 승진 문화</a:t>
            </a:r>
          </a:p>
        </p:txBody>
      </p:sp>
      <p:sp>
        <p:nvSpPr>
          <p:cNvPr id="31" name="머리칸"/>
          <p:cNvSpPr/>
          <p:nvPr/>
        </p:nvSpPr>
        <p:spPr>
          <a:xfrm>
            <a:off x="3230348" y="232826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2" name="머리칸"/>
          <p:cNvSpPr>
            <a:spLocks noGrp="1"/>
          </p:cNvSpPr>
          <p:nvPr>
            <p:ph type="body" sz="quarter" idx="30"/>
          </p:nvPr>
        </p:nvSpPr>
        <p:spPr>
          <a:xfrm>
            <a:off x="3230348" y="232826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적소적재 인력 배치</a:t>
            </a:r>
          </a:p>
        </p:txBody>
      </p:sp>
      <p:sp>
        <p:nvSpPr>
          <p:cNvPr id="33" name="머리칸"/>
          <p:cNvSpPr/>
          <p:nvPr/>
        </p:nvSpPr>
        <p:spPr>
          <a:xfrm>
            <a:off x="5113043" y="232826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4" name="머리칸"/>
          <p:cNvSpPr>
            <a:spLocks noGrp="1"/>
          </p:cNvSpPr>
          <p:nvPr>
            <p:ph type="body" sz="quarter" idx="31"/>
          </p:nvPr>
        </p:nvSpPr>
        <p:spPr>
          <a:xfrm>
            <a:off x="5113043" y="232826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우수 인재 육성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2"/>
          </p:nvPr>
        </p:nvSpPr>
        <p:spPr>
          <a:xfrm>
            <a:off x="1358609" y="2569304"/>
            <a:ext cx="1860783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高성과 중심 승진자 선발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근무평가 연계 승진제도 운영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3"/>
          </p:nvPr>
        </p:nvSpPr>
        <p:spPr>
          <a:xfrm>
            <a:off x="3241304" y="2569304"/>
            <a:ext cx="1860783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직무역량·성과 중심 주요 보직 직무 공모제 확대 적용</a:t>
            </a:r>
          </a:p>
        </p:txBody>
      </p:sp>
      <p:cxnSp>
        <p:nvCxnSpPr>
          <p:cNvPr id="37" name="Connector 23"/>
          <p:cNvCxnSpPr/>
          <p:nvPr/>
        </p:nvCxnSpPr>
        <p:spPr>
          <a:xfrm>
            <a:off x="3230348" y="2602174"/>
            <a:ext cx="0" cy="514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8" name="칸 본문"/>
          <p:cNvSpPr>
            <a:spLocks noGrp="1"/>
          </p:cNvSpPr>
          <p:nvPr>
            <p:ph type="body" sz="quarter" idx="34"/>
          </p:nvPr>
        </p:nvSpPr>
        <p:spPr>
          <a:xfrm>
            <a:off x="5124000" y="2569304"/>
            <a:ext cx="1860783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 우수자 교육파견 우대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교육 후 관련 직무 우선 배치</a:t>
            </a:r>
          </a:p>
        </p:txBody>
      </p:sp>
      <p:cxnSp>
        <p:nvCxnSpPr>
          <p:cNvPr id="39" name="Connector 25"/>
          <p:cNvCxnSpPr/>
          <p:nvPr/>
        </p:nvCxnSpPr>
        <p:spPr>
          <a:xfrm>
            <a:off x="5113043" y="2602174"/>
            <a:ext cx="0" cy="514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49 서사 · 직무·역량 중심 HRD 체계 도입(외부환경 · 내부여건 → 시사점 → 추진과제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표 외곽"/>
          <p:cNvSpPr/>
          <p:nvPr/>
        </p:nvSpPr>
        <p:spPr>
          <a:xfrm>
            <a:off x="536870" y="766957"/>
            <a:ext cx="6300000" cy="99720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레일"/>
          <p:cNvSpPr/>
          <p:nvPr/>
        </p:nvSpPr>
        <p:spPr>
          <a:xfrm>
            <a:off x="547826" y="783391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레일"/>
          <p:cNvSpPr>
            <a:spLocks noGrp="1"/>
          </p:cNvSpPr>
          <p:nvPr>
            <p:ph type="body" sz="quarter" idx="20"/>
          </p:nvPr>
        </p:nvSpPr>
        <p:spPr>
          <a:xfrm>
            <a:off x="547826" y="783391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외 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경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1"/>
          </p:nvPr>
        </p:nvSpPr>
        <p:spPr>
          <a:xfrm>
            <a:off x="1172348" y="805304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정부정책 능력 중심의 인사를 기반으로 일 잘하는 공직사회 구현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2"/>
          </p:nvPr>
        </p:nvSpPr>
        <p:spPr>
          <a:xfrm>
            <a:off x="3996391" y="805304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HRD 트렌드 첨단분야(AI, 디지털 등) 우수 인재 확보 및 전략적 육성에 사활</a:t>
            </a:r>
          </a:p>
        </p:txBody>
      </p:sp>
      <p:cxnSp>
        <p:nvCxnSpPr>
          <p:cNvPr id="15" name="Connector 10"/>
          <p:cNvCxnSpPr/>
          <p:nvPr/>
        </p:nvCxnSpPr>
        <p:spPr>
          <a:xfrm>
            <a:off x="3985435" y="838174"/>
            <a:ext cx="0" cy="284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6" name="레일"/>
          <p:cNvSpPr/>
          <p:nvPr/>
        </p:nvSpPr>
        <p:spPr>
          <a:xfrm>
            <a:off x="547826" y="1208035"/>
            <a:ext cx="580696" cy="5396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레일"/>
          <p:cNvSpPr>
            <a:spLocks noGrp="1"/>
          </p:cNvSpPr>
          <p:nvPr>
            <p:ph type="body" sz="quarter" idx="23"/>
          </p:nvPr>
        </p:nvSpPr>
        <p:spPr>
          <a:xfrm>
            <a:off x="547826" y="1208035"/>
            <a:ext cx="580696" cy="5396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내 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여 건</a:t>
            </a:r>
          </a:p>
        </p:txBody>
      </p:sp>
      <p:sp>
        <p:nvSpPr>
          <p:cNvPr id="18" name="레일 삼각형"/>
          <p:cNvSpPr/>
          <p:nvPr/>
        </p:nvSpPr>
        <p:spPr>
          <a:xfrm>
            <a:off x="547826" y="1208034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4"/>
          </p:nvPr>
        </p:nvSpPr>
        <p:spPr>
          <a:xfrm>
            <a:off x="1172348" y="1229948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개인의 경력개발과 연계할 수 있는 성과환류 시스템 구축 필요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5"/>
          </p:nvPr>
        </p:nvSpPr>
        <p:spPr>
          <a:xfrm>
            <a:off x="3996391" y="1229948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직원니즈 역량강화·성장경로 비전 제시, 역량 기반의 공정한 인사 * 직원설문FGI</a:t>
            </a:r>
          </a:p>
        </p:txBody>
      </p:sp>
      <p:cxnSp>
        <p:nvCxnSpPr>
          <p:cNvPr id="21" name="Connector 15"/>
          <p:cNvCxnSpPr/>
          <p:nvPr/>
        </p:nvCxnSpPr>
        <p:spPr>
          <a:xfrm>
            <a:off x="3985435" y="1262817"/>
            <a:ext cx="0" cy="284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2" name="캡션 띠"/>
          <p:cNvSpPr/>
          <p:nvPr/>
        </p:nvSpPr>
        <p:spPr>
          <a:xfrm>
            <a:off x="536869" y="1786069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3" name="태그"/>
          <p:cNvSpPr/>
          <p:nvPr/>
        </p:nvSpPr>
        <p:spPr>
          <a:xfrm>
            <a:off x="865565" y="1829896"/>
            <a:ext cx="438871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4" name="태그"/>
          <p:cNvSpPr>
            <a:spLocks noGrp="1"/>
          </p:cNvSpPr>
          <p:nvPr>
            <p:ph type="body" sz="quarter" idx="26"/>
          </p:nvPr>
        </p:nvSpPr>
        <p:spPr>
          <a:xfrm>
            <a:off x="865565" y="1829896"/>
            <a:ext cx="438871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25" name="캡션"/>
          <p:cNvSpPr>
            <a:spLocks noGrp="1"/>
          </p:cNvSpPr>
          <p:nvPr>
            <p:ph type="body" sz="quarter" idx="27"/>
          </p:nvPr>
        </p:nvSpPr>
        <p:spPr>
          <a:xfrm>
            <a:off x="1359219" y="1786070"/>
            <a:ext cx="5258520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직무를 기반으로 ‘교육 – 역량 – 성과 – 보상’의 체계적인 선순환을 통한 조직 경쟁력 제고</a:t>
            </a:r>
          </a:p>
        </p:txBody>
      </p:sp>
      <p:sp>
        <p:nvSpPr>
          <p:cNvPr id="26" name="표 외곽"/>
          <p:cNvSpPr/>
          <p:nvPr/>
        </p:nvSpPr>
        <p:spPr>
          <a:xfrm>
            <a:off x="536870" y="2092852"/>
            <a:ext cx="6300000" cy="717652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7" name="레일"/>
          <p:cNvSpPr/>
          <p:nvPr/>
        </p:nvSpPr>
        <p:spPr>
          <a:xfrm>
            <a:off x="547826" y="2109287"/>
            <a:ext cx="580696" cy="68478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8" name="레일"/>
          <p:cNvSpPr>
            <a:spLocks noGrp="1"/>
          </p:cNvSpPr>
          <p:nvPr>
            <p:ph type="body" sz="quarter" idx="28"/>
          </p:nvPr>
        </p:nvSpPr>
        <p:spPr>
          <a:xfrm>
            <a:off x="547826" y="2109287"/>
            <a:ext cx="580696" cy="684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 제</a:t>
            </a:r>
          </a:p>
        </p:txBody>
      </p:sp>
      <p:sp>
        <p:nvSpPr>
          <p:cNvPr id="29" name="머리칸"/>
          <p:cNvSpPr/>
          <p:nvPr/>
        </p:nvSpPr>
        <p:spPr>
          <a:xfrm>
            <a:off x="1161391" y="213120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0" name="머리칸"/>
          <p:cNvSpPr>
            <a:spLocks noGrp="1"/>
          </p:cNvSpPr>
          <p:nvPr>
            <p:ph type="body" sz="quarter" idx="29"/>
          </p:nvPr>
        </p:nvSpPr>
        <p:spPr>
          <a:xfrm>
            <a:off x="1161391" y="213120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직무·역량 연계 강화</a:t>
            </a:r>
          </a:p>
        </p:txBody>
      </p:sp>
      <p:sp>
        <p:nvSpPr>
          <p:cNvPr id="31" name="머리칸"/>
          <p:cNvSpPr/>
          <p:nvPr/>
        </p:nvSpPr>
        <p:spPr>
          <a:xfrm>
            <a:off x="3044087" y="213120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2" name="머리칸"/>
          <p:cNvSpPr>
            <a:spLocks noGrp="1"/>
          </p:cNvSpPr>
          <p:nvPr>
            <p:ph type="body" sz="quarter" idx="30"/>
          </p:nvPr>
        </p:nvSpPr>
        <p:spPr>
          <a:xfrm>
            <a:off x="3044087" y="213120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미래 물 전문가 양성</a:t>
            </a:r>
          </a:p>
        </p:txBody>
      </p:sp>
      <p:sp>
        <p:nvSpPr>
          <p:cNvPr id="33" name="머리칸"/>
          <p:cNvSpPr/>
          <p:nvPr/>
        </p:nvSpPr>
        <p:spPr>
          <a:xfrm>
            <a:off x="4926783" y="213120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4" name="머리칸"/>
          <p:cNvSpPr>
            <a:spLocks noGrp="1"/>
          </p:cNvSpPr>
          <p:nvPr>
            <p:ph type="body" sz="quarter" idx="31"/>
          </p:nvPr>
        </p:nvSpPr>
        <p:spPr>
          <a:xfrm>
            <a:off x="4926783" y="213120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직무·성과 중시 문화 조성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2"/>
          </p:nvPr>
        </p:nvSpPr>
        <p:spPr>
          <a:xfrm>
            <a:off x="1172348" y="2372243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 맞춤형 역량개발 모델 기반의 인재육성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3"/>
          </p:nvPr>
        </p:nvSpPr>
        <p:spPr>
          <a:xfrm>
            <a:off x="3055043" y="2372243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미래기술 역량 내재화를 위한 성장 로드맵 수립</a:t>
            </a:r>
          </a:p>
        </p:txBody>
      </p:sp>
      <p:cxnSp>
        <p:nvCxnSpPr>
          <p:cNvPr id="37" name="Connector 26"/>
          <p:cNvCxnSpPr/>
          <p:nvPr/>
        </p:nvCxnSpPr>
        <p:spPr>
          <a:xfrm>
            <a:off x="3044087" y="2405113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8" name="칸 본문"/>
          <p:cNvSpPr>
            <a:spLocks noGrp="1"/>
          </p:cNvSpPr>
          <p:nvPr>
            <p:ph type="body" sz="quarter" idx="34"/>
          </p:nvPr>
        </p:nvSpPr>
        <p:spPr>
          <a:xfrm>
            <a:off x="4937739" y="2372243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직무·역량·성과 기반의 인사체계 고도화</a:t>
            </a:r>
          </a:p>
        </p:txBody>
      </p:sp>
      <p:cxnSp>
        <p:nvCxnSpPr>
          <p:cNvPr id="39" name="Connector 28"/>
          <p:cNvCxnSpPr/>
          <p:nvPr/>
        </p:nvCxnSpPr>
        <p:spPr>
          <a:xfrm>
            <a:off x="4926783" y="2405113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50 서사 · 직무역량 향상을 위한 체계적 경력개발 시스템(역량모델 → 맞춤형 교육·코칭 → 성장경로 안내 → 중장기 인재육성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직무·역량 중심 경력개발 및 미래성장 전문 인재양성 HRD 체계 마련</a:t>
            </a:r>
          </a:p>
        </p:txBody>
      </p:sp>
      <p:sp>
        <p:nvSpPr>
          <p:cNvPr id="14" name="형광 밑줄"/>
          <p:cNvSpPr/>
          <p:nvPr/>
        </p:nvSpPr>
        <p:spPr>
          <a:xfrm>
            <a:off x="723130" y="1358609"/>
            <a:ext cx="3429130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소제목"/>
          <p:cNvSpPr>
            <a:spLocks noGrp="1"/>
          </p:cNvSpPr>
          <p:nvPr>
            <p:ph type="body" sz="quarter" idx="22"/>
          </p:nvPr>
        </p:nvSpPr>
        <p:spPr>
          <a:xfrm>
            <a:off x="723130" y="120521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직원의 직무역량 향상을 위한 체계적 경력개발 시스템 구축</a:t>
            </a:r>
          </a:p>
        </p:txBody>
      </p:sp>
      <p:sp>
        <p:nvSpPr>
          <p:cNvPr id="16" name="태그칩"/>
          <p:cNvSpPr/>
          <p:nvPr/>
        </p:nvSpPr>
        <p:spPr>
          <a:xfrm>
            <a:off x="4250869" y="1238087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칩"/>
          <p:cNvSpPr>
            <a:spLocks noGrp="1"/>
          </p:cNvSpPr>
          <p:nvPr>
            <p:ph type="body" sz="quarter" idx="23"/>
          </p:nvPr>
        </p:nvSpPr>
        <p:spPr>
          <a:xfrm>
            <a:off x="4250869" y="1238087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8" name="태그칩"/>
          <p:cNvSpPr/>
          <p:nvPr/>
        </p:nvSpPr>
        <p:spPr>
          <a:xfrm>
            <a:off x="5021527" y="1238087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태그칩"/>
          <p:cNvSpPr>
            <a:spLocks noGrp="1"/>
          </p:cNvSpPr>
          <p:nvPr>
            <p:ph type="body" sz="quarter" idx="24"/>
          </p:nvPr>
        </p:nvSpPr>
        <p:spPr>
          <a:xfrm>
            <a:off x="5021527" y="1238087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20" name="표 외곽"/>
          <p:cNvSpPr/>
          <p:nvPr/>
        </p:nvSpPr>
        <p:spPr>
          <a:xfrm>
            <a:off x="723130" y="1490087"/>
            <a:ext cx="6300000" cy="441000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1" name="레일"/>
          <p:cNvSpPr/>
          <p:nvPr/>
        </p:nvSpPr>
        <p:spPr>
          <a:xfrm>
            <a:off x="734087" y="1506522"/>
            <a:ext cx="580696" cy="130382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레일"/>
          <p:cNvSpPr>
            <a:spLocks noGrp="1"/>
          </p:cNvSpPr>
          <p:nvPr>
            <p:ph type="body" sz="quarter" idx="25"/>
          </p:nvPr>
        </p:nvSpPr>
        <p:spPr>
          <a:xfrm>
            <a:off x="734087" y="1506522"/>
            <a:ext cx="580696" cy="1303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역량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모델</a:t>
            </a:r>
          </a:p>
        </p:txBody>
      </p:sp>
      <p:sp>
        <p:nvSpPr>
          <p:cNvPr id="23" name="배너"/>
          <p:cNvSpPr/>
          <p:nvPr/>
        </p:nvSpPr>
        <p:spPr>
          <a:xfrm>
            <a:off x="1347652" y="1528435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4" name="배너"/>
          <p:cNvSpPr>
            <a:spLocks noGrp="1"/>
          </p:cNvSpPr>
          <p:nvPr>
            <p:ph type="body" sz="quarter" idx="26"/>
          </p:nvPr>
        </p:nvSpPr>
        <p:spPr>
          <a:xfrm>
            <a:off x="1347652" y="1528435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全직원의 직무 단위별 역량진단 모델 개발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1358609" y="1764000"/>
            <a:ext cx="5626174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역량 세분화 全직무 분석으로 조직 성과 달성을 위한 핵심역량 추출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1단계 직무별 특성을 고려한 전문역량(490개), 다수 직무에서 요구되는 공통역량(22개) 정의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2단계 역량별 수준 Level 1(기초)~5(전문가) 설정, 객관적 측정을 위한 행동지표(BARS) 설정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예시 직무: 수자원 운영관리 / 직무전문역량 수해대응 물관리(Lv1~5), 댐·보연계운영(Lv1~5) + 직무공통역량 위기대응(Lv1~5), 시설·설비관리(Lv1~5)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수해대응 물관리역량 Lv3 행동지표 ‘댐방류로 인한 하류영향을 분석하고 위기대응업무를 수행한다’</a:t>
            </a:r>
          </a:p>
        </p:txBody>
      </p:sp>
      <p:sp>
        <p:nvSpPr>
          <p:cNvPr id="26" name="레일"/>
          <p:cNvSpPr/>
          <p:nvPr/>
        </p:nvSpPr>
        <p:spPr>
          <a:xfrm>
            <a:off x="734087" y="2826783"/>
            <a:ext cx="580696" cy="1303826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7" name="레일"/>
          <p:cNvSpPr>
            <a:spLocks noGrp="1"/>
          </p:cNvSpPr>
          <p:nvPr>
            <p:ph type="body" sz="quarter" idx="28"/>
          </p:nvPr>
        </p:nvSpPr>
        <p:spPr>
          <a:xfrm>
            <a:off x="734087" y="2826783"/>
            <a:ext cx="580696" cy="1303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맞춤형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교육·코칭</a:t>
            </a:r>
          </a:p>
        </p:txBody>
      </p:sp>
      <p:sp>
        <p:nvSpPr>
          <p:cNvPr id="28" name="레일 삼각형"/>
          <p:cNvSpPr/>
          <p:nvPr/>
        </p:nvSpPr>
        <p:spPr>
          <a:xfrm>
            <a:off x="734086" y="2826782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배너"/>
          <p:cNvSpPr/>
          <p:nvPr/>
        </p:nvSpPr>
        <p:spPr>
          <a:xfrm>
            <a:off x="1347652" y="2848696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0" name="배너"/>
          <p:cNvSpPr>
            <a:spLocks noGrp="1"/>
          </p:cNvSpPr>
          <p:nvPr>
            <p:ph type="body" sz="quarter" idx="29"/>
          </p:nvPr>
        </p:nvSpPr>
        <p:spPr>
          <a:xfrm>
            <a:off x="1347652" y="2848696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개인별 직무역량 진단 활용 맞춤형 교육·코칭 제시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1358609" y="3084261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교육 개인별 직무역량 진단 결과 ➡ 직무 역량 수준을 고려한 교육과정 추천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예시 직무 수자원 운영관리 / 역량명 수해대응 물관리 역량 / 진단결과 Lv.2 / 추천 교육과정 수문기상과 유역물관리, 분석모델링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1"/>
          </p:nvPr>
        </p:nvSpPr>
        <p:spPr>
          <a:xfrm>
            <a:off x="4182652" y="3084261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코칭 역량별 상세 분석 결과 ➡ 필요역량 향상 ‘Action Plan’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예시 직무 수자원 운영관리 / 역량명·등급 위기대응(Lv.2) / 역량 개발 지휘통제능력 향상 / Action Plan “표준지휘체계를 배워서 지휘통제 능력을 키워보세요”</a:t>
            </a:r>
          </a:p>
        </p:txBody>
      </p:sp>
      <p:cxnSp>
        <p:nvCxnSpPr>
          <p:cNvPr id="33" name="Connector 21"/>
          <p:cNvCxnSpPr/>
          <p:nvPr/>
        </p:nvCxnSpPr>
        <p:spPr>
          <a:xfrm>
            <a:off x="4171696" y="3117130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4" name="레일"/>
          <p:cNvSpPr/>
          <p:nvPr/>
        </p:nvSpPr>
        <p:spPr>
          <a:xfrm>
            <a:off x="734087" y="4147043"/>
            <a:ext cx="580696" cy="931304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5" name="레일"/>
          <p:cNvSpPr>
            <a:spLocks noGrp="1"/>
          </p:cNvSpPr>
          <p:nvPr>
            <p:ph type="body" sz="quarter" idx="32"/>
          </p:nvPr>
        </p:nvSpPr>
        <p:spPr>
          <a:xfrm>
            <a:off x="734087" y="4147043"/>
            <a:ext cx="580696" cy="931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성장경로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 내</a:t>
            </a:r>
          </a:p>
        </p:txBody>
      </p:sp>
      <p:sp>
        <p:nvSpPr>
          <p:cNvPr id="36" name="배너"/>
          <p:cNvSpPr/>
          <p:nvPr/>
        </p:nvSpPr>
        <p:spPr>
          <a:xfrm>
            <a:off x="1347652" y="4168957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7" name="배너"/>
          <p:cNvSpPr>
            <a:spLocks noGrp="1"/>
          </p:cNvSpPr>
          <p:nvPr>
            <p:ph type="body" sz="quarter" idx="33"/>
          </p:nvPr>
        </p:nvSpPr>
        <p:spPr>
          <a:xfrm>
            <a:off x="1347652" y="4168957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직무별 전문가 성장 로드맵 제공 예시</a:t>
            </a:r>
          </a:p>
        </p:txBody>
      </p:sp>
      <p:sp>
        <p:nvSpPr>
          <p:cNvPr id="38" name="단계"/>
          <p:cNvSpPr/>
          <p:nvPr/>
        </p:nvSpPr>
        <p:spPr>
          <a:xfrm>
            <a:off x="1347652" y="4404522"/>
            <a:ext cx="141202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9" name="단계"/>
          <p:cNvSpPr>
            <a:spLocks noGrp="1"/>
          </p:cNvSpPr>
          <p:nvPr>
            <p:ph type="body" sz="quarter" idx="34"/>
          </p:nvPr>
        </p:nvSpPr>
        <p:spPr>
          <a:xfrm>
            <a:off x="1347652" y="4404522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1단계 건설운영</a:t>
            </a:r>
          </a:p>
        </p:txBody>
      </p:sp>
      <p:sp>
        <p:nvSpPr>
          <p:cNvPr id="40" name="단계"/>
          <p:cNvSpPr/>
          <p:nvPr/>
        </p:nvSpPr>
        <p:spPr>
          <a:xfrm>
            <a:off x="2759674" y="4404522"/>
            <a:ext cx="1412022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1" name="단계"/>
          <p:cNvSpPr>
            <a:spLocks noGrp="1"/>
          </p:cNvSpPr>
          <p:nvPr>
            <p:ph type="body" sz="quarter" idx="35"/>
          </p:nvPr>
        </p:nvSpPr>
        <p:spPr>
          <a:xfrm>
            <a:off x="2759674" y="4404522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2단계 품질안전</a:t>
            </a:r>
          </a:p>
        </p:txBody>
      </p:sp>
      <p:sp>
        <p:nvSpPr>
          <p:cNvPr id="42" name="단계"/>
          <p:cNvSpPr/>
          <p:nvPr/>
        </p:nvSpPr>
        <p:spPr>
          <a:xfrm>
            <a:off x="4171696" y="4404522"/>
            <a:ext cx="1412022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3" name="단계"/>
          <p:cNvSpPr>
            <a:spLocks noGrp="1"/>
          </p:cNvSpPr>
          <p:nvPr>
            <p:ph type="body" sz="quarter" idx="36"/>
          </p:nvPr>
        </p:nvSpPr>
        <p:spPr>
          <a:xfrm>
            <a:off x="4171696" y="4404522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3단계 재난대응</a:t>
            </a:r>
          </a:p>
        </p:txBody>
      </p:sp>
      <p:sp>
        <p:nvSpPr>
          <p:cNvPr id="44" name="단계"/>
          <p:cNvSpPr/>
          <p:nvPr/>
        </p:nvSpPr>
        <p:spPr>
          <a:xfrm>
            <a:off x="5583717" y="4404522"/>
            <a:ext cx="1412022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5" name="단계"/>
          <p:cNvSpPr>
            <a:spLocks noGrp="1"/>
          </p:cNvSpPr>
          <p:nvPr>
            <p:ph type="body" sz="quarter" idx="37"/>
          </p:nvPr>
        </p:nvSpPr>
        <p:spPr>
          <a:xfrm>
            <a:off x="5583717" y="4404522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4단계 통합운영</a:t>
            </a:r>
          </a:p>
        </p:txBody>
      </p:sp>
      <p:sp>
        <p:nvSpPr>
          <p:cNvPr id="46" name="단계 삼각형"/>
          <p:cNvSpPr/>
          <p:nvPr/>
        </p:nvSpPr>
        <p:spPr>
          <a:xfrm>
            <a:off x="2759673" y="4404521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7" name="단계 삼각형"/>
          <p:cNvSpPr/>
          <p:nvPr/>
        </p:nvSpPr>
        <p:spPr>
          <a:xfrm>
            <a:off x="4171695" y="4404521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8" name="단계 삼각형"/>
          <p:cNvSpPr/>
          <p:nvPr/>
        </p:nvSpPr>
        <p:spPr>
          <a:xfrm>
            <a:off x="5583717" y="4404521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9" name="칸 본문"/>
          <p:cNvSpPr>
            <a:spLocks noGrp="1"/>
          </p:cNvSpPr>
          <p:nvPr>
            <p:ph type="body" sz="quarter" idx="38"/>
          </p:nvPr>
        </p:nvSpPr>
        <p:spPr>
          <a:xfrm>
            <a:off x="1358609" y="4656522"/>
            <a:ext cx="1390109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수자원시설 유지관리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39"/>
          </p:nvPr>
        </p:nvSpPr>
        <p:spPr>
          <a:xfrm>
            <a:off x="2770630" y="4656522"/>
            <a:ext cx="1390109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수자원건설 품질관리</a:t>
            </a:r>
          </a:p>
        </p:txBody>
      </p:sp>
      <p:cxnSp>
        <p:nvCxnSpPr>
          <p:cNvPr id="51" name="Connector 33"/>
          <p:cNvCxnSpPr/>
          <p:nvPr/>
        </p:nvCxnSpPr>
        <p:spPr>
          <a:xfrm>
            <a:off x="2759674" y="4689391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2" name="칸 본문"/>
          <p:cNvSpPr>
            <a:spLocks noGrp="1"/>
          </p:cNvSpPr>
          <p:nvPr>
            <p:ph type="body" sz="quarter" idx="40"/>
          </p:nvPr>
        </p:nvSpPr>
        <p:spPr>
          <a:xfrm>
            <a:off x="4182652" y="4656522"/>
            <a:ext cx="1390109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수해대응 물관리</a:t>
            </a:r>
          </a:p>
        </p:txBody>
      </p:sp>
      <p:cxnSp>
        <p:nvCxnSpPr>
          <p:cNvPr id="53" name="Connector 35"/>
          <p:cNvCxnSpPr/>
          <p:nvPr/>
        </p:nvCxnSpPr>
        <p:spPr>
          <a:xfrm>
            <a:off x="4171696" y="4689391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4" name="칸 본문"/>
          <p:cNvSpPr>
            <a:spLocks noGrp="1"/>
          </p:cNvSpPr>
          <p:nvPr>
            <p:ph type="body" sz="quarter" idx="41"/>
          </p:nvPr>
        </p:nvSpPr>
        <p:spPr>
          <a:xfrm>
            <a:off x="5594674" y="4656522"/>
            <a:ext cx="1390109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댐·보 연계운영</a:t>
            </a:r>
          </a:p>
        </p:txBody>
      </p:sp>
      <p:cxnSp>
        <p:nvCxnSpPr>
          <p:cNvPr id="55" name="Connector 37"/>
          <p:cNvCxnSpPr/>
          <p:nvPr/>
        </p:nvCxnSpPr>
        <p:spPr>
          <a:xfrm>
            <a:off x="5583717" y="4689391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6" name="레일"/>
          <p:cNvSpPr/>
          <p:nvPr/>
        </p:nvSpPr>
        <p:spPr>
          <a:xfrm>
            <a:off x="734087" y="5094783"/>
            <a:ext cx="580696" cy="788870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7" name="레일"/>
          <p:cNvSpPr>
            <a:spLocks noGrp="1"/>
          </p:cNvSpPr>
          <p:nvPr>
            <p:ph type="body" sz="quarter" idx="42"/>
          </p:nvPr>
        </p:nvSpPr>
        <p:spPr>
          <a:xfrm>
            <a:off x="734087" y="5094783"/>
            <a:ext cx="580696" cy="78887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중장기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인재육성</a:t>
            </a:r>
          </a:p>
        </p:txBody>
      </p:sp>
      <p:sp>
        <p:nvSpPr>
          <p:cNvPr id="58" name="레일 삼각형"/>
          <p:cNvSpPr/>
          <p:nvPr/>
        </p:nvSpPr>
        <p:spPr>
          <a:xfrm>
            <a:off x="734086" y="5094782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9" name="배너"/>
          <p:cNvSpPr/>
          <p:nvPr/>
        </p:nvSpPr>
        <p:spPr>
          <a:xfrm>
            <a:off x="1347652" y="5116696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60" name="배너"/>
          <p:cNvSpPr>
            <a:spLocks noGrp="1"/>
          </p:cNvSpPr>
          <p:nvPr>
            <p:ph type="body" sz="quarter" idx="43"/>
          </p:nvPr>
        </p:nvSpPr>
        <p:spPr>
          <a:xfrm>
            <a:off x="1347652" y="5116696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중장기 HRD체계 구축·인력자원 활용 확대</a:t>
            </a:r>
          </a:p>
        </p:txBody>
      </p:sp>
      <p:sp>
        <p:nvSpPr>
          <p:cNvPr id="61" name="칸 본문"/>
          <p:cNvSpPr>
            <a:spLocks noGrp="1"/>
          </p:cNvSpPr>
          <p:nvPr>
            <p:ph type="body" sz="quarter" idx="44"/>
          </p:nvPr>
        </p:nvSpPr>
        <p:spPr>
          <a:xfrm>
            <a:off x="1358609" y="5352261"/>
            <a:ext cx="2331457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전사 강점 역량·레벨별 인원 등 조직역량 분석 데이터 활용</a:t>
            </a:r>
          </a:p>
        </p:txBody>
      </p:sp>
      <p:sp>
        <p:nvSpPr>
          <p:cNvPr id="62" name="칸 본문"/>
          <p:cNvSpPr>
            <a:spLocks noGrp="1"/>
          </p:cNvSpPr>
          <p:nvPr>
            <p:ph type="body" sz="quarter" idx="45"/>
          </p:nvPr>
        </p:nvSpPr>
        <p:spPr>
          <a:xfrm>
            <a:off x="3711978" y="5352261"/>
            <a:ext cx="3272804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직무–역량 매칭 교육관리로 자발적 몰입 향상 제고 / 직무·직군 정보 + 직무역량 DB</a:t>
            </a:r>
          </a:p>
        </p:txBody>
      </p:sp>
      <p:cxnSp>
        <p:nvCxnSpPr>
          <p:cNvPr id="63" name="Connector 43"/>
          <p:cNvCxnSpPr/>
          <p:nvPr/>
        </p:nvCxnSpPr>
        <p:spPr>
          <a:xfrm>
            <a:off x="3701022" y="5385130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4" name="핵심성과 박스"/>
          <p:cNvSpPr/>
          <p:nvPr/>
        </p:nvSpPr>
        <p:spPr>
          <a:xfrm>
            <a:off x="723130" y="5987739"/>
            <a:ext cx="6300000" cy="49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5" name="핵심성과 라벨"/>
          <p:cNvSpPr/>
          <p:nvPr/>
        </p:nvSpPr>
        <p:spPr>
          <a:xfrm>
            <a:off x="756000" y="6026087"/>
            <a:ext cx="657391" cy="41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66" name="핵심성과 라벨"/>
          <p:cNvSpPr>
            <a:spLocks noGrp="1"/>
          </p:cNvSpPr>
          <p:nvPr>
            <p:ph type="body" sz="quarter" idx="46"/>
          </p:nvPr>
        </p:nvSpPr>
        <p:spPr>
          <a:xfrm>
            <a:off x="756000" y="6026087"/>
            <a:ext cx="657391" cy="41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67" name="핵심성과 문구"/>
          <p:cNvSpPr>
            <a:spLocks noGrp="1"/>
          </p:cNvSpPr>
          <p:nvPr>
            <p:ph type="body" sz="quarter" idx="47"/>
          </p:nvPr>
        </p:nvSpPr>
        <p:spPr>
          <a:xfrm>
            <a:off x="1501043" y="6004174"/>
            <a:ext cx="5456348" cy="45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‘교육·경력개발’ 신뢰경영지수(84 → 89 → 93점 ’25년), 교육만족도(95 → 96.1 → 96.3점 ’25년) 지속 상승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51 서사 · AI·데이터 기반 물 관리 인재 양성(기초 → 중급 → 고급 3단 → 확산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4327596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AI·데이터 기반 물 관리 인재 양성으로 글로벌 경쟁력을 갖춘 인재 확보</a:t>
            </a:r>
          </a:p>
        </p:txBody>
      </p:sp>
      <p:sp>
        <p:nvSpPr>
          <p:cNvPr id="12" name="태그칩"/>
          <p:cNvSpPr/>
          <p:nvPr/>
        </p:nvSpPr>
        <p:spPr>
          <a:xfrm>
            <a:off x="4963074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963074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표 외곽"/>
          <p:cNvSpPr/>
          <p:nvPr/>
        </p:nvSpPr>
        <p:spPr>
          <a:xfrm>
            <a:off x="536870" y="1051826"/>
            <a:ext cx="6300000" cy="1917391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547826" y="1068261"/>
            <a:ext cx="580696" cy="1884522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068261"/>
            <a:ext cx="580696" cy="188452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인재양성</a:t>
            </a:r>
          </a:p>
        </p:txBody>
      </p:sp>
      <p:sp>
        <p:nvSpPr>
          <p:cNvPr id="17" name="단계"/>
          <p:cNvSpPr/>
          <p:nvPr/>
        </p:nvSpPr>
        <p:spPr>
          <a:xfrm>
            <a:off x="1161391" y="1090174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8" name="단계"/>
          <p:cNvSpPr>
            <a:spLocks noGrp="1"/>
          </p:cNvSpPr>
          <p:nvPr>
            <p:ph type="body" sz="quarter" idx="23"/>
          </p:nvPr>
        </p:nvSpPr>
        <p:spPr>
          <a:xfrm>
            <a:off x="1161391" y="109017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기초 AI 리터러시</a:t>
            </a:r>
          </a:p>
        </p:txBody>
      </p:sp>
      <p:sp>
        <p:nvSpPr>
          <p:cNvPr id="19" name="단계"/>
          <p:cNvSpPr/>
          <p:nvPr/>
        </p:nvSpPr>
        <p:spPr>
          <a:xfrm>
            <a:off x="3044087" y="1090174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0" name="단계"/>
          <p:cNvSpPr>
            <a:spLocks noGrp="1"/>
          </p:cNvSpPr>
          <p:nvPr>
            <p:ph type="body" sz="quarter" idx="24"/>
          </p:nvPr>
        </p:nvSpPr>
        <p:spPr>
          <a:xfrm>
            <a:off x="3044087" y="109017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중급 AI 활용역량 강화</a:t>
            </a:r>
          </a:p>
        </p:txBody>
      </p:sp>
      <p:sp>
        <p:nvSpPr>
          <p:cNvPr id="21" name="단계"/>
          <p:cNvSpPr/>
          <p:nvPr/>
        </p:nvSpPr>
        <p:spPr>
          <a:xfrm>
            <a:off x="4926783" y="1090174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2" name="단계"/>
          <p:cNvSpPr>
            <a:spLocks noGrp="1"/>
          </p:cNvSpPr>
          <p:nvPr>
            <p:ph type="body" sz="quarter" idx="25"/>
          </p:nvPr>
        </p:nvSpPr>
        <p:spPr>
          <a:xfrm>
            <a:off x="4926783" y="1090174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고급 전문역량 확산</a:t>
            </a:r>
          </a:p>
        </p:txBody>
      </p:sp>
      <p:sp>
        <p:nvSpPr>
          <p:cNvPr id="23" name="단계 삼각형"/>
          <p:cNvSpPr/>
          <p:nvPr/>
        </p:nvSpPr>
        <p:spPr>
          <a:xfrm>
            <a:off x="3044086" y="1090173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4" name="단계 삼각형"/>
          <p:cNvSpPr/>
          <p:nvPr/>
        </p:nvSpPr>
        <p:spPr>
          <a:xfrm>
            <a:off x="4926782" y="109017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6"/>
          </p:nvPr>
        </p:nvSpPr>
        <p:spPr>
          <a:xfrm>
            <a:off x="1172348" y="1342174"/>
            <a:ext cx="1860783" cy="136956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AI-이해 직군별 특성을 고려, 실습 중심 생성형 AI 교육 개발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전사 조직진단·FGI로 맞춤형 과정 설계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기초역량 프롬프트 엔지니어링 + 직군별 스킬 도메인 데이터 활용 / 생성형 AI 실습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7"/>
          </p:nvPr>
        </p:nvSpPr>
        <p:spPr>
          <a:xfrm>
            <a:off x="3055043" y="1342174"/>
            <a:ext cx="1860783" cy="136956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전통적 전문성 수자원·수도 분야 특화 AI 교육 개설·운영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AI 홍수모델, 스마트 AI 정수장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융합 전문가 직무 – 디지털 융합전문가 과정 운영(6개 과정)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기후대응 수자원, 스마트관망관리 등</a:t>
            </a:r>
          </a:p>
        </p:txBody>
      </p:sp>
      <p:cxnSp>
        <p:nvCxnSpPr>
          <p:cNvPr id="27" name="Connector 18"/>
          <p:cNvCxnSpPr/>
          <p:nvPr/>
        </p:nvCxnSpPr>
        <p:spPr>
          <a:xfrm>
            <a:off x="3044087" y="1375043"/>
            <a:ext cx="0" cy="130382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8" name="칸 본문"/>
          <p:cNvSpPr>
            <a:spLocks noGrp="1"/>
          </p:cNvSpPr>
          <p:nvPr>
            <p:ph type="body" sz="quarter" idx="28"/>
          </p:nvPr>
        </p:nvSpPr>
        <p:spPr>
          <a:xfrm>
            <a:off x="4937739" y="1342174"/>
            <a:ext cx="1860783" cy="136956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전문가 과정 대학 특화과정(기후테크) 신설 및 에너지·AI 과정 확대운영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충남대 기후테크, KDI 기후에너지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생태계 전문기관 협업 AI 과정 신설(4개 과정), 공무원·물기업 재직자 AI 전문인재 양성</a:t>
            </a:r>
          </a:p>
        </p:txBody>
      </p:sp>
      <p:cxnSp>
        <p:nvCxnSpPr>
          <p:cNvPr id="29" name="Connector 20"/>
          <p:cNvCxnSpPr/>
          <p:nvPr/>
        </p:nvCxnSpPr>
        <p:spPr>
          <a:xfrm>
            <a:off x="4926783" y="1375043"/>
            <a:ext cx="0" cy="130382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0" name="배너"/>
          <p:cNvSpPr/>
          <p:nvPr/>
        </p:nvSpPr>
        <p:spPr>
          <a:xfrm>
            <a:off x="1161391" y="2728174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1" name="배너"/>
          <p:cNvSpPr>
            <a:spLocks noGrp="1"/>
          </p:cNvSpPr>
          <p:nvPr>
            <p:ph type="body" sz="quarter" idx="29"/>
          </p:nvPr>
        </p:nvSpPr>
        <p:spPr>
          <a:xfrm>
            <a:off x="1161391" y="2728174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확산 물 디지털·AI 전환 선도 기술 국내·외 교류 파트너십(AI협회, 세계은행 등) 구축</a:t>
            </a:r>
          </a:p>
        </p:txBody>
      </p:sp>
      <p:sp>
        <p:nvSpPr>
          <p:cNvPr id="32" name="핵심성과 박스"/>
          <p:cNvSpPr/>
          <p:nvPr/>
        </p:nvSpPr>
        <p:spPr>
          <a:xfrm>
            <a:off x="536870" y="3056870"/>
            <a:ext cx="6300000" cy="49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3" name="핵심성과 라벨"/>
          <p:cNvSpPr/>
          <p:nvPr/>
        </p:nvSpPr>
        <p:spPr>
          <a:xfrm>
            <a:off x="569739" y="3095217"/>
            <a:ext cx="657391" cy="41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34" name="핵심성과 라벨"/>
          <p:cNvSpPr>
            <a:spLocks noGrp="1"/>
          </p:cNvSpPr>
          <p:nvPr>
            <p:ph type="body" sz="quarter" idx="30"/>
          </p:nvPr>
        </p:nvSpPr>
        <p:spPr>
          <a:xfrm>
            <a:off x="569739" y="3095217"/>
            <a:ext cx="657391" cy="41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5" name="핵심성과 문구"/>
          <p:cNvSpPr>
            <a:spLocks noGrp="1"/>
          </p:cNvSpPr>
          <p:nvPr>
            <p:ph type="body" sz="quarter" idx="31"/>
          </p:nvPr>
        </p:nvSpPr>
        <p:spPr>
          <a:xfrm>
            <a:off x="1314783" y="3073304"/>
            <a:ext cx="5456348" cy="45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기후테크 등 전문과정 확대(5 → 11명), 물관리 분야 AI 전문인력(공무원·물 재직자) 102명 신규양성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52 서사 · 인사문화 내재화(직무중심 인사관리 강화 → 배치 강화 → 성과능력 중심 승진 → 低성과자 관리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직무·성과 기반 전문성과 공정성이 축적되는 인사문화 내재화</a:t>
            </a:r>
          </a:p>
        </p:txBody>
      </p:sp>
      <p:sp>
        <p:nvSpPr>
          <p:cNvPr id="14" name="번호 띠 칩"/>
          <p:cNvSpPr/>
          <p:nvPr/>
        </p:nvSpPr>
        <p:spPr>
          <a:xfrm>
            <a:off x="6451874" y="843652"/>
            <a:ext cx="505517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번호 띠 칩"/>
          <p:cNvSpPr>
            <a:spLocks noGrp="1"/>
          </p:cNvSpPr>
          <p:nvPr>
            <p:ph type="body" sz="quarter" idx="22"/>
          </p:nvPr>
        </p:nvSpPr>
        <p:spPr>
          <a:xfrm>
            <a:off x="6451874" y="843652"/>
            <a:ext cx="50551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6" name="번호 띠 칩"/>
          <p:cNvSpPr/>
          <p:nvPr/>
        </p:nvSpPr>
        <p:spPr>
          <a:xfrm>
            <a:off x="5878840" y="843652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번호 띠 칩"/>
          <p:cNvSpPr>
            <a:spLocks noGrp="1"/>
          </p:cNvSpPr>
          <p:nvPr>
            <p:ph type="body" sz="quarter" idx="23"/>
          </p:nvPr>
        </p:nvSpPr>
        <p:spPr>
          <a:xfrm>
            <a:off x="5878840" y="843652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8" name="표 외곽"/>
          <p:cNvSpPr/>
          <p:nvPr/>
        </p:nvSpPr>
        <p:spPr>
          <a:xfrm>
            <a:off x="723130" y="1128522"/>
            <a:ext cx="6300000" cy="442643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레일"/>
          <p:cNvSpPr/>
          <p:nvPr/>
        </p:nvSpPr>
        <p:spPr>
          <a:xfrm>
            <a:off x="734087" y="1144957"/>
            <a:ext cx="580696" cy="95869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4"/>
          </p:nvPr>
        </p:nvSpPr>
        <p:spPr>
          <a:xfrm>
            <a:off x="734087" y="1144957"/>
            <a:ext cx="580696" cy="95869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직무중심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인사관리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화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5"/>
          </p:nvPr>
        </p:nvSpPr>
        <p:spPr>
          <a:xfrm>
            <a:off x="1358609" y="1166870"/>
            <a:ext cx="1860783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내부성장(CDP): 개인 보유역량–희망직무 요구역량 분석·피드백 / AI 활용 맞춤 솔루션 제공 – 장단점, 성장경로가이드 등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6"/>
          </p:nvPr>
        </p:nvSpPr>
        <p:spPr>
          <a:xfrm>
            <a:off x="3241304" y="1166870"/>
            <a:ext cx="1860783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직무·성과 중심 인사관리: 평가 全직무 평가지표 정립 / 배치 직무·역량중심 배치 / 승진 성과·능력 기반 승진 / 성과 低성과 맞춤형 지원</a:t>
            </a:r>
          </a:p>
        </p:txBody>
      </p:sp>
      <p:cxnSp>
        <p:nvCxnSpPr>
          <p:cNvPr id="23" name="Connector 14"/>
          <p:cNvCxnSpPr/>
          <p:nvPr/>
        </p:nvCxnSpPr>
        <p:spPr>
          <a:xfrm>
            <a:off x="3230348" y="1199739"/>
            <a:ext cx="0" cy="865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4" name="칸 본문"/>
          <p:cNvSpPr>
            <a:spLocks noGrp="1"/>
          </p:cNvSpPr>
          <p:nvPr>
            <p:ph type="body" sz="quarter" idx="27"/>
          </p:nvPr>
        </p:nvSpPr>
        <p:spPr>
          <a:xfrm>
            <a:off x="5124000" y="1166870"/>
            <a:ext cx="1860783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외부개방(Open): 개방형 직위제 운영(5개) * 건강관리, 정책, 도시, 미디어 등 / 전문기관 인사교류 활성(38명) * OECD, 유네스코, 환경공단 등</a:t>
            </a:r>
          </a:p>
        </p:txBody>
      </p:sp>
      <p:cxnSp>
        <p:nvCxnSpPr>
          <p:cNvPr id="25" name="Connector 16"/>
          <p:cNvCxnSpPr/>
          <p:nvPr/>
        </p:nvCxnSpPr>
        <p:spPr>
          <a:xfrm>
            <a:off x="5113043" y="1199739"/>
            <a:ext cx="0" cy="865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6" name="레일"/>
          <p:cNvSpPr/>
          <p:nvPr/>
        </p:nvSpPr>
        <p:spPr>
          <a:xfrm>
            <a:off x="734087" y="2120087"/>
            <a:ext cx="580696" cy="1068261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7" name="레일 태그"/>
          <p:cNvSpPr/>
          <p:nvPr/>
        </p:nvSpPr>
        <p:spPr>
          <a:xfrm>
            <a:off x="675117" y="2284435"/>
            <a:ext cx="69863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8" name="레일 태그"/>
          <p:cNvSpPr>
            <a:spLocks noGrp="1"/>
          </p:cNvSpPr>
          <p:nvPr>
            <p:ph type="body" sz="quarter" idx="28"/>
          </p:nvPr>
        </p:nvSpPr>
        <p:spPr>
          <a:xfrm>
            <a:off x="675117" y="2284435"/>
            <a:ext cx="69863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수평적 이동</a:t>
            </a:r>
          </a:p>
        </p:txBody>
      </p:sp>
      <p:sp>
        <p:nvSpPr>
          <p:cNvPr id="29" name="레일 라벨"/>
          <p:cNvSpPr>
            <a:spLocks noGrp="1"/>
          </p:cNvSpPr>
          <p:nvPr>
            <p:ph type="body" sz="quarter" idx="29"/>
          </p:nvPr>
        </p:nvSpPr>
        <p:spPr>
          <a:xfrm>
            <a:off x="734087" y="2470696"/>
            <a:ext cx="580696" cy="695739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직무중심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 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화</a:t>
            </a:r>
          </a:p>
        </p:txBody>
      </p:sp>
      <p:sp>
        <p:nvSpPr>
          <p:cNvPr id="30" name="레일 삼각형"/>
          <p:cNvSpPr/>
          <p:nvPr/>
        </p:nvSpPr>
        <p:spPr>
          <a:xfrm>
            <a:off x="734086" y="2120086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1358609" y="2142000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직무–역량 매칭 전보시스템 고도화: 관리자 직위정보 ↔ 직무역량 DB 연동, 직위별 ‘최적임 후보’ Pool 추천(1~3순위) / 직위 정보 · 관리자 역량 · 적임자 제시 / 추천–보임 정확도 1.3%p(73.5 → 74.8%) 향상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1"/>
          </p:nvPr>
        </p:nvSpPr>
        <p:spPr>
          <a:xfrm>
            <a:off x="4182652" y="2142000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자기 주도적 성장 경로 확대: 전문직무 직무평가단(SME) 결과 기반 선정(42개) / 직무공모 전문직무(태양광·진단) 공모 확대(13 → 22개), 참여자 설문조사 만족 100%, 재참여 희망 95.4% / 복수보임 전문성 고려 직위·직급 분리 운영(11개)</a:t>
            </a:r>
          </a:p>
        </p:txBody>
      </p:sp>
      <p:cxnSp>
        <p:nvCxnSpPr>
          <p:cNvPr id="33" name="Connector 23"/>
          <p:cNvCxnSpPr/>
          <p:nvPr/>
        </p:nvCxnSpPr>
        <p:spPr>
          <a:xfrm>
            <a:off x="4171696" y="2174870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4" name="레일"/>
          <p:cNvSpPr/>
          <p:nvPr/>
        </p:nvSpPr>
        <p:spPr>
          <a:xfrm>
            <a:off x="734087" y="3204783"/>
            <a:ext cx="580696" cy="1068261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5" name="레일 태그"/>
          <p:cNvSpPr/>
          <p:nvPr/>
        </p:nvSpPr>
        <p:spPr>
          <a:xfrm>
            <a:off x="675117" y="3248609"/>
            <a:ext cx="69863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6" name="레일 태그"/>
          <p:cNvSpPr>
            <a:spLocks noGrp="1"/>
          </p:cNvSpPr>
          <p:nvPr>
            <p:ph type="body" sz="quarter" idx="32"/>
          </p:nvPr>
        </p:nvSpPr>
        <p:spPr>
          <a:xfrm>
            <a:off x="675117" y="3248609"/>
            <a:ext cx="69863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수직적 이동</a:t>
            </a:r>
          </a:p>
        </p:txBody>
      </p:sp>
      <p:sp>
        <p:nvSpPr>
          <p:cNvPr id="37" name="레일 라벨"/>
          <p:cNvSpPr>
            <a:spLocks noGrp="1"/>
          </p:cNvSpPr>
          <p:nvPr>
            <p:ph type="body" sz="quarter" idx="33"/>
          </p:nvPr>
        </p:nvSpPr>
        <p:spPr>
          <a:xfrm>
            <a:off x="734087" y="3434870"/>
            <a:ext cx="580696" cy="81626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성과능력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중 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승 진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4"/>
          </p:nvPr>
        </p:nvSpPr>
        <p:spPr>
          <a:xfrm>
            <a:off x="1358609" y="3226696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초급관리자 직무역량 중심 승진 패러다임 정립: 승진시험 직무지식, 문제해결능력 심층 검증 / 시험평가(55) 직무심화(객관식) 20 + 문제해결능력(서술) 35 · 종합역량평가(45) 근무평가 20 + 근속평가 15 + 다면평가 10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기존 대비 1~2년 조기 승진(26명, 20%)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5"/>
          </p:nvPr>
        </p:nvSpPr>
        <p:spPr>
          <a:xfrm>
            <a:off x="4182652" y="3226696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특별승진 검증체계 강화를 통한 제도 내실화: 기존 담당부서 중심의 제한적 서면 검증 / 개선 全직원 설문, 공적평가 신설(K-water 人), 외부전문가 평가 확대(15 → 20%, 혁신챌린지) ➡ 공정하고 투명한 성과 검증으로 특별승진(5명), 수용성 제고·성과 창출 동기부여</a:t>
            </a:r>
          </a:p>
        </p:txBody>
      </p:sp>
      <p:cxnSp>
        <p:nvCxnSpPr>
          <p:cNvPr id="40" name="Connector 29"/>
          <p:cNvCxnSpPr/>
          <p:nvPr/>
        </p:nvCxnSpPr>
        <p:spPr>
          <a:xfrm>
            <a:off x="4171696" y="3259565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1" name="레일"/>
          <p:cNvSpPr/>
          <p:nvPr/>
        </p:nvSpPr>
        <p:spPr>
          <a:xfrm>
            <a:off x="734087" y="4289478"/>
            <a:ext cx="580696" cy="124904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2" name="레일 태그"/>
          <p:cNvSpPr/>
          <p:nvPr/>
        </p:nvSpPr>
        <p:spPr>
          <a:xfrm>
            <a:off x="744637" y="4453826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3" name="레일 태그"/>
          <p:cNvSpPr>
            <a:spLocks noGrp="1"/>
          </p:cNvSpPr>
          <p:nvPr>
            <p:ph type="body" sz="quarter" idx="36"/>
          </p:nvPr>
        </p:nvSpPr>
        <p:spPr>
          <a:xfrm>
            <a:off x="744637" y="4453826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평가지적</a:t>
            </a:r>
          </a:p>
        </p:txBody>
      </p:sp>
      <p:sp>
        <p:nvSpPr>
          <p:cNvPr id="44" name="레일 라벨"/>
          <p:cNvSpPr>
            <a:spLocks noGrp="1"/>
          </p:cNvSpPr>
          <p:nvPr>
            <p:ph type="body" sz="quarter" idx="37"/>
          </p:nvPr>
        </p:nvSpPr>
        <p:spPr>
          <a:xfrm>
            <a:off x="734087" y="4640087"/>
            <a:ext cx="580696" cy="876522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低성과자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 리</a:t>
            </a:r>
          </a:p>
        </p:txBody>
      </p:sp>
      <p:sp>
        <p:nvSpPr>
          <p:cNvPr id="45" name="레일 삼각형"/>
          <p:cNvSpPr/>
          <p:nvPr/>
        </p:nvSpPr>
        <p:spPr>
          <a:xfrm>
            <a:off x="734086" y="4289478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6" name="머리칸"/>
          <p:cNvSpPr/>
          <p:nvPr/>
        </p:nvSpPr>
        <p:spPr>
          <a:xfrm>
            <a:off x="1347652" y="431139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7" name="머리칸"/>
          <p:cNvSpPr>
            <a:spLocks noGrp="1"/>
          </p:cNvSpPr>
          <p:nvPr>
            <p:ph type="body" sz="quarter" idx="38"/>
          </p:nvPr>
        </p:nvSpPr>
        <p:spPr>
          <a:xfrm>
            <a:off x="1347652" y="431139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다각적 사전 진단</a:t>
            </a:r>
          </a:p>
        </p:txBody>
      </p:sp>
      <p:sp>
        <p:nvSpPr>
          <p:cNvPr id="48" name="머리칸"/>
          <p:cNvSpPr/>
          <p:nvPr/>
        </p:nvSpPr>
        <p:spPr>
          <a:xfrm>
            <a:off x="3230348" y="431139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9" name="머리칸"/>
          <p:cNvSpPr>
            <a:spLocks noGrp="1"/>
          </p:cNvSpPr>
          <p:nvPr>
            <p:ph type="body" sz="quarter" idx="39"/>
          </p:nvPr>
        </p:nvSpPr>
        <p:spPr>
          <a:xfrm>
            <a:off x="3230348" y="431139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개인 맞춤형 학습 지원</a:t>
            </a:r>
          </a:p>
        </p:txBody>
      </p:sp>
      <p:sp>
        <p:nvSpPr>
          <p:cNvPr id="50" name="머리칸"/>
          <p:cNvSpPr/>
          <p:nvPr/>
        </p:nvSpPr>
        <p:spPr>
          <a:xfrm>
            <a:off x="5113043" y="431139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1" name="머리칸"/>
          <p:cNvSpPr>
            <a:spLocks noGrp="1"/>
          </p:cNvSpPr>
          <p:nvPr>
            <p:ph type="body" sz="quarter" idx="40"/>
          </p:nvPr>
        </p:nvSpPr>
        <p:spPr>
          <a:xfrm>
            <a:off x="5113043" y="431139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현업 적응 기회 제공</a:t>
            </a:r>
          </a:p>
        </p:txBody>
      </p:sp>
      <p:sp>
        <p:nvSpPr>
          <p:cNvPr id="52" name="칸 본문"/>
          <p:cNvSpPr>
            <a:spLocks noGrp="1"/>
          </p:cNvSpPr>
          <p:nvPr>
            <p:ph type="body" sz="quarter" idx="41"/>
          </p:nvPr>
        </p:nvSpPr>
        <p:spPr>
          <a:xfrm>
            <a:off x="1358609" y="4552435"/>
            <a:ext cx="1860783" cy="745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역량진단·성향검사·면담으로 성과부진 원인 분석</a:t>
            </a:r>
          </a:p>
        </p:txBody>
      </p:sp>
      <p:sp>
        <p:nvSpPr>
          <p:cNvPr id="53" name="칸 본문"/>
          <p:cNvSpPr>
            <a:spLocks noGrp="1"/>
          </p:cNvSpPr>
          <p:nvPr>
            <p:ph type="body" sz="quarter" idx="42"/>
          </p:nvPr>
        </p:nvSpPr>
        <p:spPr>
          <a:xfrm>
            <a:off x="3241304" y="4552435"/>
            <a:ext cx="1860783" cy="745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진단결과 기반 맞춤형 학습과정 운영(독서+온라인+집합)</a:t>
            </a:r>
          </a:p>
        </p:txBody>
      </p:sp>
      <p:cxnSp>
        <p:nvCxnSpPr>
          <p:cNvPr id="54" name="Connector 39"/>
          <p:cNvCxnSpPr/>
          <p:nvPr/>
        </p:nvCxnSpPr>
        <p:spPr>
          <a:xfrm>
            <a:off x="3230348" y="4585304"/>
            <a:ext cx="0" cy="67930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5" name="칸 본문"/>
          <p:cNvSpPr>
            <a:spLocks noGrp="1"/>
          </p:cNvSpPr>
          <p:nvPr>
            <p:ph type="body" sz="quarter" idx="43"/>
          </p:nvPr>
        </p:nvSpPr>
        <p:spPr>
          <a:xfrm>
            <a:off x="5124000" y="4552435"/>
            <a:ext cx="1860783" cy="745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현업근무 평가시 희망부서 배치로 동기부여 강화</a:t>
            </a:r>
          </a:p>
        </p:txBody>
      </p:sp>
      <p:cxnSp>
        <p:nvCxnSpPr>
          <p:cNvPr id="56" name="Connector 41"/>
          <p:cNvCxnSpPr/>
          <p:nvPr/>
        </p:nvCxnSpPr>
        <p:spPr>
          <a:xfrm>
            <a:off x="5113043" y="4585304"/>
            <a:ext cx="0" cy="67930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7" name="배너"/>
          <p:cNvSpPr/>
          <p:nvPr/>
        </p:nvSpPr>
        <p:spPr>
          <a:xfrm>
            <a:off x="1347652" y="5313913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58" name="배너"/>
          <p:cNvSpPr>
            <a:spLocks noGrp="1"/>
          </p:cNvSpPr>
          <p:nvPr>
            <p:ph type="body" sz="quarter" idx="44"/>
          </p:nvPr>
        </p:nvSpPr>
        <p:spPr>
          <a:xfrm>
            <a:off x="1347652" y="5313913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低성과자 교육 전·후 근무평가 20.9점 대폭 상향(61.8 → 82.7점)</a:t>
            </a:r>
          </a:p>
        </p:txBody>
      </p:sp>
      <p:sp>
        <p:nvSpPr>
          <p:cNvPr id="59" name="핵심성과 박스"/>
          <p:cNvSpPr/>
          <p:nvPr/>
        </p:nvSpPr>
        <p:spPr>
          <a:xfrm>
            <a:off x="723130" y="5642609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0" name="핵심성과 라벨"/>
          <p:cNvSpPr/>
          <p:nvPr/>
        </p:nvSpPr>
        <p:spPr>
          <a:xfrm>
            <a:off x="756000" y="5680957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61" name="핵심성과 라벨"/>
          <p:cNvSpPr>
            <a:spLocks noGrp="1"/>
          </p:cNvSpPr>
          <p:nvPr>
            <p:ph type="body" sz="quarter" idx="45"/>
          </p:nvPr>
        </p:nvSpPr>
        <p:spPr>
          <a:xfrm>
            <a:off x="756000" y="5680957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62" name="핵심성과 문구"/>
          <p:cNvSpPr>
            <a:spLocks noGrp="1"/>
          </p:cNvSpPr>
          <p:nvPr>
            <p:ph type="body" sz="quarter" idx="46"/>
          </p:nvPr>
        </p:nvSpPr>
        <p:spPr>
          <a:xfrm>
            <a:off x="1501043" y="5659043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권익위 종합청렴도 평가 인사부문 16.8점 비약적 상승(73.1 → 89.9점, 역대 최고 득점)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53 서사 · 임금피크제 운영 내실화 도입(정책 선도 · 임금피크 인력운용 표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직무 전문성과 노하우를 활용한 임금피크제 운영 내실화</a:t>
            </a:r>
          </a:p>
        </p:txBody>
      </p:sp>
      <p:sp>
        <p:nvSpPr>
          <p:cNvPr id="15" name="핵심성과 박스"/>
          <p:cNvSpPr/>
          <p:nvPr/>
        </p:nvSpPr>
        <p:spPr>
          <a:xfrm>
            <a:off x="536870" y="2536435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핵심성과 라벨"/>
          <p:cNvSpPr/>
          <p:nvPr/>
        </p:nvSpPr>
        <p:spPr>
          <a:xfrm>
            <a:off x="569739" y="2574783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17" name="핵심성과 라벨"/>
          <p:cNvSpPr>
            <a:spLocks noGrp="1"/>
          </p:cNvSpPr>
          <p:nvPr>
            <p:ph type="body" sz="quarter" idx="22"/>
          </p:nvPr>
        </p:nvSpPr>
        <p:spPr>
          <a:xfrm>
            <a:off x="569739" y="2574783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핵심성과</a:t>
            </a:r>
          </a:p>
        </p:txBody>
      </p:sp>
      <p:sp>
        <p:nvSpPr>
          <p:cNvPr id="18" name="핵심성과 문구"/>
          <p:cNvSpPr>
            <a:spLocks noGrp="1"/>
          </p:cNvSpPr>
          <p:nvPr>
            <p:ph type="body" sz="quarter" idx="23"/>
          </p:nvPr>
        </p:nvSpPr>
        <p:spPr>
          <a:xfrm>
            <a:off x="1314783" y="2552870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정부 권고안 준수 총인건비 內 신규 채용 목표 100% 초과 달성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54 서사 · 맞춤형 직무개발 · 직무 중심 관리체계(희망 직무 찾기 → 직무 수준 체계화 · 자율적 직무 지원 · 인사급여 연계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4346795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맞춤형 직무개발과 직무 중심 관리체계 강화로 ‘일’ 하고 싶은 동기 부여</a:t>
            </a:r>
          </a:p>
        </p:txBody>
      </p:sp>
      <p:sp>
        <p:nvSpPr>
          <p:cNvPr id="11" name="태그칩"/>
          <p:cNvSpPr/>
          <p:nvPr/>
        </p:nvSpPr>
        <p:spPr>
          <a:xfrm>
            <a:off x="5168534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5168534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표 외곽"/>
          <p:cNvSpPr/>
          <p:nvPr/>
        </p:nvSpPr>
        <p:spPr>
          <a:xfrm>
            <a:off x="723130" y="1062783"/>
            <a:ext cx="6300000" cy="280487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레일"/>
          <p:cNvSpPr/>
          <p:nvPr/>
        </p:nvSpPr>
        <p:spPr>
          <a:xfrm>
            <a:off x="734087" y="1079217"/>
            <a:ext cx="580696" cy="1446261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079217"/>
            <a:ext cx="580696" cy="144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직무개발</a:t>
            </a:r>
          </a:p>
        </p:txBody>
      </p:sp>
      <p:sp>
        <p:nvSpPr>
          <p:cNvPr id="16" name="배너"/>
          <p:cNvSpPr/>
          <p:nvPr/>
        </p:nvSpPr>
        <p:spPr>
          <a:xfrm>
            <a:off x="1347652" y="1101130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17" name="배너"/>
          <p:cNvSpPr>
            <a:spLocks noGrp="1"/>
          </p:cNvSpPr>
          <p:nvPr>
            <p:ph type="body" sz="quarter" idx="23"/>
          </p:nvPr>
        </p:nvSpPr>
        <p:spPr>
          <a:xfrm>
            <a:off x="1347652" y="1101130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희망하고 필요한 직무 찾기 / 직무 IN &amp; OUT</a:t>
            </a:r>
          </a:p>
        </p:txBody>
      </p:sp>
      <p:sp>
        <p:nvSpPr>
          <p:cNvPr id="18" name="단계"/>
          <p:cNvSpPr/>
          <p:nvPr/>
        </p:nvSpPr>
        <p:spPr>
          <a:xfrm>
            <a:off x="1347652" y="1336696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9" name="단계"/>
          <p:cNvSpPr>
            <a:spLocks noGrp="1"/>
          </p:cNvSpPr>
          <p:nvPr>
            <p:ph type="body" sz="quarter" idx="24"/>
          </p:nvPr>
        </p:nvSpPr>
        <p:spPr>
          <a:xfrm>
            <a:off x="1347652" y="133669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 수요조사(’25.11)</a:t>
            </a:r>
          </a:p>
        </p:txBody>
      </p:sp>
      <p:sp>
        <p:nvSpPr>
          <p:cNvPr id="20" name="단계"/>
          <p:cNvSpPr/>
          <p:nvPr/>
        </p:nvSpPr>
        <p:spPr>
          <a:xfrm>
            <a:off x="3230348" y="1336696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1" name="단계"/>
          <p:cNvSpPr>
            <a:spLocks noGrp="1"/>
          </p:cNvSpPr>
          <p:nvPr>
            <p:ph type="body" sz="quarter" idx="25"/>
          </p:nvPr>
        </p:nvSpPr>
        <p:spPr>
          <a:xfrm>
            <a:off x="3230348" y="133669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 적합성 분석</a:t>
            </a:r>
          </a:p>
        </p:txBody>
      </p:sp>
      <p:sp>
        <p:nvSpPr>
          <p:cNvPr id="22" name="단계"/>
          <p:cNvSpPr/>
          <p:nvPr/>
        </p:nvSpPr>
        <p:spPr>
          <a:xfrm>
            <a:off x="5113043" y="1336696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3" name="단계"/>
          <p:cNvSpPr>
            <a:spLocks noGrp="1"/>
          </p:cNvSpPr>
          <p:nvPr>
            <p:ph type="body" sz="quarter" idx="26"/>
          </p:nvPr>
        </p:nvSpPr>
        <p:spPr>
          <a:xfrm>
            <a:off x="5113043" y="133669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직무 IN &amp; OUT</a:t>
            </a:r>
          </a:p>
        </p:txBody>
      </p:sp>
      <p:sp>
        <p:nvSpPr>
          <p:cNvPr id="24" name="단계 삼각형"/>
          <p:cNvSpPr/>
          <p:nvPr/>
        </p:nvSpPr>
        <p:spPr>
          <a:xfrm>
            <a:off x="3230347" y="1336695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5" name="단계 삼각형"/>
          <p:cNvSpPr/>
          <p:nvPr/>
        </p:nvSpPr>
        <p:spPr>
          <a:xfrm>
            <a:off x="5113043" y="1336695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7"/>
          </p:nvPr>
        </p:nvSpPr>
        <p:spPr>
          <a:xfrm>
            <a:off x="1358609" y="1588696"/>
            <a:ext cx="1860783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부서의견 “인원이 부족한 분야에 업무를 지원해 주었으면 해요”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임금피크 직원 “재취업에 도움이 되고 업무 경험을 활용 할 수 있는 일을 하고 싶어요”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28"/>
          </p:nvPr>
        </p:nvSpPr>
        <p:spPr>
          <a:xfrm>
            <a:off x="3241304" y="1588696"/>
            <a:ext cx="1860783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직무적합성분석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직무중복여부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필요성·기여도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업무 활용도</a:t>
            </a:r>
          </a:p>
        </p:txBody>
      </p:sp>
      <p:cxnSp>
        <p:nvCxnSpPr>
          <p:cNvPr id="28" name="Connector 16"/>
          <p:cNvCxnSpPr/>
          <p:nvPr/>
        </p:nvCxnSpPr>
        <p:spPr>
          <a:xfrm>
            <a:off x="3230348" y="1621565"/>
            <a:ext cx="0" cy="865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5124000" y="1588696"/>
            <a:ext cx="1860783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신설(3개) AI, 수자원 운영, 대외협력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폐지(2개) 연구 지원, 하수도 운영</a:t>
            </a:r>
          </a:p>
        </p:txBody>
      </p:sp>
      <p:cxnSp>
        <p:nvCxnSpPr>
          <p:cNvPr id="30" name="Connector 18"/>
          <p:cNvCxnSpPr/>
          <p:nvPr/>
        </p:nvCxnSpPr>
        <p:spPr>
          <a:xfrm>
            <a:off x="5113043" y="1621565"/>
            <a:ext cx="0" cy="865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레일"/>
          <p:cNvSpPr/>
          <p:nvPr/>
        </p:nvSpPr>
        <p:spPr>
          <a:xfrm>
            <a:off x="734087" y="2541913"/>
            <a:ext cx="580696" cy="1309304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2" name="레일"/>
          <p:cNvSpPr>
            <a:spLocks noGrp="1"/>
          </p:cNvSpPr>
          <p:nvPr>
            <p:ph type="body" sz="quarter" idx="30"/>
          </p:nvPr>
        </p:nvSpPr>
        <p:spPr>
          <a:xfrm>
            <a:off x="734087" y="2541913"/>
            <a:ext cx="580696" cy="1309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직무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관리체계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화</a:t>
            </a:r>
          </a:p>
        </p:txBody>
      </p:sp>
      <p:sp>
        <p:nvSpPr>
          <p:cNvPr id="33" name="레일 삼각형"/>
          <p:cNvSpPr/>
          <p:nvPr/>
        </p:nvSpPr>
        <p:spPr>
          <a:xfrm>
            <a:off x="734086" y="2541913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4" name="머리칸"/>
          <p:cNvSpPr/>
          <p:nvPr/>
        </p:nvSpPr>
        <p:spPr>
          <a:xfrm>
            <a:off x="1347652" y="256382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5" name="머리칸"/>
          <p:cNvSpPr>
            <a:spLocks noGrp="1"/>
          </p:cNvSpPr>
          <p:nvPr>
            <p:ph type="body" sz="quarter" idx="31"/>
          </p:nvPr>
        </p:nvSpPr>
        <p:spPr>
          <a:xfrm>
            <a:off x="1347652" y="256382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직무 수준 체계화</a:t>
            </a:r>
          </a:p>
        </p:txBody>
      </p:sp>
      <p:sp>
        <p:nvSpPr>
          <p:cNvPr id="36" name="머리칸"/>
          <p:cNvSpPr/>
          <p:nvPr/>
        </p:nvSpPr>
        <p:spPr>
          <a:xfrm>
            <a:off x="3230348" y="256382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7" name="머리칸"/>
          <p:cNvSpPr>
            <a:spLocks noGrp="1"/>
          </p:cNvSpPr>
          <p:nvPr>
            <p:ph type="body" sz="quarter" idx="32"/>
          </p:nvPr>
        </p:nvSpPr>
        <p:spPr>
          <a:xfrm>
            <a:off x="3230348" y="256382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자율적 직무 지원</a:t>
            </a:r>
          </a:p>
        </p:txBody>
      </p:sp>
      <p:sp>
        <p:nvSpPr>
          <p:cNvPr id="38" name="머리칸"/>
          <p:cNvSpPr/>
          <p:nvPr/>
        </p:nvSpPr>
        <p:spPr>
          <a:xfrm>
            <a:off x="5113043" y="256382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9" name="머리칸"/>
          <p:cNvSpPr>
            <a:spLocks noGrp="1"/>
          </p:cNvSpPr>
          <p:nvPr>
            <p:ph type="body" sz="quarter" idx="33"/>
          </p:nvPr>
        </p:nvSpPr>
        <p:spPr>
          <a:xfrm>
            <a:off x="5113043" y="256382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❸ 인사·급여 연계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34"/>
          </p:nvPr>
        </p:nvSpPr>
        <p:spPr>
          <a:xfrm>
            <a:off x="1358609" y="2804870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직무난이도·필요역량 고려, 직무등급(A~D등급) 설정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35"/>
          </p:nvPr>
        </p:nvSpPr>
        <p:spPr>
          <a:xfrm>
            <a:off x="3241304" y="2804870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연 2회 직무공모 본인 희망직무 지원 가능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직무공모 배치기준 ❶ 파견·현업 직위 수행자 ❷ 지원순위 先 순위자</a:t>
            </a:r>
          </a:p>
        </p:txBody>
      </p:sp>
      <p:cxnSp>
        <p:nvCxnSpPr>
          <p:cNvPr id="42" name="Connector 26"/>
          <p:cNvCxnSpPr/>
          <p:nvPr/>
        </p:nvCxnSpPr>
        <p:spPr>
          <a:xfrm>
            <a:off x="3230348" y="2837739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3" name="칸 본문"/>
          <p:cNvSpPr>
            <a:spLocks noGrp="1"/>
          </p:cNvSpPr>
          <p:nvPr>
            <p:ph type="body" sz="quarter" idx="36"/>
          </p:nvPr>
        </p:nvSpPr>
        <p:spPr>
          <a:xfrm>
            <a:off x="5124000" y="2804870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직무등급별 직무급 차등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근무평가 인사관리 적용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인사 근무 평점 85점 이하시 직무 변경 / 보수 직무급 차등 4등급 차등 적용(21,132천원~9,372천원/연)</a:t>
            </a:r>
          </a:p>
        </p:txBody>
      </p:sp>
      <p:cxnSp>
        <p:nvCxnSpPr>
          <p:cNvPr id="44" name="Connector 28"/>
          <p:cNvCxnSpPr/>
          <p:nvPr/>
        </p:nvCxnSpPr>
        <p:spPr>
          <a:xfrm>
            <a:off x="5113043" y="2837739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55 서사 · 숙련된 전문성 활용과 맞춤형 미래 준비(내부 지원 · 민관 협력 → 직무관리체계 강화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3932727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숙련된 전문성 활용과 맞춤형 미래 준비를 통한 직무몰입도 향상</a:t>
            </a:r>
          </a:p>
        </p:txBody>
      </p:sp>
      <p:sp>
        <p:nvSpPr>
          <p:cNvPr id="12" name="태그칩"/>
          <p:cNvSpPr/>
          <p:nvPr/>
        </p:nvSpPr>
        <p:spPr>
          <a:xfrm>
            <a:off x="4568205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568205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태그칩"/>
          <p:cNvSpPr/>
          <p:nvPr/>
        </p:nvSpPr>
        <p:spPr>
          <a:xfrm>
            <a:off x="5119326" y="799826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2"/>
          </p:nvPr>
        </p:nvSpPr>
        <p:spPr>
          <a:xfrm>
            <a:off x="5119326" y="799826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6" name="표 외곽"/>
          <p:cNvSpPr/>
          <p:nvPr/>
        </p:nvSpPr>
        <p:spPr>
          <a:xfrm>
            <a:off x="536870" y="1051826"/>
            <a:ext cx="6300000" cy="3593739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547826" y="1068261"/>
            <a:ext cx="580696" cy="2399478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3"/>
          </p:nvPr>
        </p:nvSpPr>
        <p:spPr>
          <a:xfrm>
            <a:off x="547826" y="1068261"/>
            <a:ext cx="580696" cy="239947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직무개발</a:t>
            </a:r>
          </a:p>
        </p:txBody>
      </p:sp>
      <p:sp>
        <p:nvSpPr>
          <p:cNvPr id="19" name="머리칸"/>
          <p:cNvSpPr/>
          <p:nvPr/>
        </p:nvSpPr>
        <p:spPr>
          <a:xfrm>
            <a:off x="1161391" y="109017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0" name="머리칸"/>
          <p:cNvSpPr>
            <a:spLocks noGrp="1"/>
          </p:cNvSpPr>
          <p:nvPr>
            <p:ph type="body" sz="quarter" idx="24"/>
          </p:nvPr>
        </p:nvSpPr>
        <p:spPr>
          <a:xfrm>
            <a:off x="1161391" y="109017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내부 지원</a:t>
            </a:r>
          </a:p>
        </p:txBody>
      </p:sp>
      <p:sp>
        <p:nvSpPr>
          <p:cNvPr id="21" name="머리칸"/>
          <p:cNvSpPr/>
          <p:nvPr/>
        </p:nvSpPr>
        <p:spPr>
          <a:xfrm>
            <a:off x="3985435" y="109017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2" name="머리칸"/>
          <p:cNvSpPr>
            <a:spLocks noGrp="1"/>
          </p:cNvSpPr>
          <p:nvPr>
            <p:ph type="body" sz="quarter" idx="25"/>
          </p:nvPr>
        </p:nvSpPr>
        <p:spPr>
          <a:xfrm>
            <a:off x="3985435" y="109017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추가 활용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6"/>
          </p:nvPr>
        </p:nvSpPr>
        <p:spPr>
          <a:xfrm>
            <a:off x="1172348" y="1331217"/>
            <a:ext cx="2802130" cy="9860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유지 감사·안전·대외협력: 예방감사관(5명) 사전컨설팅·적극행정 면책 / 안전패트롤(16명) 사고 취약분야 점검 / 대외협력관(3명) 물기술·거버넌스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7"/>
          </p:nvPr>
        </p:nvSpPr>
        <p:spPr>
          <a:xfrm>
            <a:off x="3996391" y="1331217"/>
            <a:ext cx="2802130" cy="9860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 글로벌·R&amp;D: 전문역량·숙련경험 중심 분야 추가 활용 / 해외사업 PM 국제협력 업무 자문 / 연구 지원관 미래기술 개발·연구수행 코칭</a:t>
            </a:r>
          </a:p>
        </p:txBody>
      </p:sp>
      <p:cxnSp>
        <p:nvCxnSpPr>
          <p:cNvPr id="25" name="Connector 16"/>
          <p:cNvCxnSpPr/>
          <p:nvPr/>
        </p:nvCxnSpPr>
        <p:spPr>
          <a:xfrm>
            <a:off x="3985435" y="1364087"/>
            <a:ext cx="0" cy="92034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6" name="단계"/>
          <p:cNvSpPr/>
          <p:nvPr/>
        </p:nvSpPr>
        <p:spPr>
          <a:xfrm>
            <a:off x="1161391" y="2333739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7" name="단계"/>
          <p:cNvSpPr>
            <a:spLocks noGrp="1"/>
          </p:cNvSpPr>
          <p:nvPr>
            <p:ph type="body" sz="quarter" idx="28"/>
          </p:nvPr>
        </p:nvSpPr>
        <p:spPr>
          <a:xfrm>
            <a:off x="1161391" y="233373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수요 분석-직무 정교화 연계 기업매칭 강화</a:t>
            </a:r>
          </a:p>
        </p:txBody>
      </p:sp>
      <p:sp>
        <p:nvSpPr>
          <p:cNvPr id="28" name="단계"/>
          <p:cNvSpPr/>
          <p:nvPr/>
        </p:nvSpPr>
        <p:spPr>
          <a:xfrm>
            <a:off x="3044087" y="2333739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9" name="단계"/>
          <p:cNvSpPr>
            <a:spLocks noGrp="1"/>
          </p:cNvSpPr>
          <p:nvPr>
            <p:ph type="body" sz="quarter" idx="29"/>
          </p:nvPr>
        </p:nvSpPr>
        <p:spPr>
          <a:xfrm>
            <a:off x="3044087" y="233373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 세분화 매칭</a:t>
            </a:r>
          </a:p>
        </p:txBody>
      </p:sp>
      <p:sp>
        <p:nvSpPr>
          <p:cNvPr id="30" name="단계"/>
          <p:cNvSpPr/>
          <p:nvPr/>
        </p:nvSpPr>
        <p:spPr>
          <a:xfrm>
            <a:off x="4926783" y="2333739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1" name="단계"/>
          <p:cNvSpPr>
            <a:spLocks noGrp="1"/>
          </p:cNvSpPr>
          <p:nvPr>
            <p:ph type="body" sz="quarter" idx="30"/>
          </p:nvPr>
        </p:nvSpPr>
        <p:spPr>
          <a:xfrm>
            <a:off x="4926783" y="233373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역대 최대 참여 달성(79명)</a:t>
            </a:r>
          </a:p>
        </p:txBody>
      </p:sp>
      <p:sp>
        <p:nvSpPr>
          <p:cNvPr id="32" name="단계 삼각형"/>
          <p:cNvSpPr/>
          <p:nvPr/>
        </p:nvSpPr>
        <p:spPr>
          <a:xfrm>
            <a:off x="3044086" y="2333739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3" name="단계 삼각형"/>
          <p:cNvSpPr/>
          <p:nvPr/>
        </p:nvSpPr>
        <p:spPr>
          <a:xfrm>
            <a:off x="4926782" y="2333739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1"/>
          </p:nvPr>
        </p:nvSpPr>
        <p:spPr>
          <a:xfrm>
            <a:off x="1172348" y="2585739"/>
            <a:ext cx="1860783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셰르파 만족도 분석(’24) 기업(22社) · 직원(36명)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만족도 분석 결과: 기업 조직·경영관리 경험자 조언 필요 / 직원 직무설계 필요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2"/>
          </p:nvPr>
        </p:nvSpPr>
        <p:spPr>
          <a:xfrm>
            <a:off x="3055043" y="2585739"/>
            <a:ext cx="1860783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경영·사업 컨설팅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정수장 진단</a:t>
            </a:r>
          </a:p>
        </p:txBody>
      </p:sp>
      <p:cxnSp>
        <p:nvCxnSpPr>
          <p:cNvPr id="36" name="Connector 24"/>
          <p:cNvCxnSpPr/>
          <p:nvPr/>
        </p:nvCxnSpPr>
        <p:spPr>
          <a:xfrm>
            <a:off x="3044087" y="2618609"/>
            <a:ext cx="0" cy="81078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7" name="칸 본문"/>
          <p:cNvSpPr>
            <a:spLocks noGrp="1"/>
          </p:cNvSpPr>
          <p:nvPr>
            <p:ph type="body" sz="quarter" idx="33"/>
          </p:nvPr>
        </p:nvSpPr>
        <p:spPr>
          <a:xfrm>
            <a:off x="4937739" y="2585739"/>
            <a:ext cx="1860783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4년 연속 공공부문 참여 1위 33명 → 55명 → 73명 → 79명</a:t>
            </a:r>
          </a:p>
        </p:txBody>
      </p:sp>
      <p:cxnSp>
        <p:nvCxnSpPr>
          <p:cNvPr id="38" name="Connector 26"/>
          <p:cNvCxnSpPr/>
          <p:nvPr/>
        </p:nvCxnSpPr>
        <p:spPr>
          <a:xfrm>
            <a:off x="4926783" y="2618609"/>
            <a:ext cx="0" cy="81078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9" name="레일"/>
          <p:cNvSpPr/>
          <p:nvPr/>
        </p:nvSpPr>
        <p:spPr>
          <a:xfrm>
            <a:off x="547826" y="3484174"/>
            <a:ext cx="580696" cy="114495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0" name="레일"/>
          <p:cNvSpPr>
            <a:spLocks noGrp="1"/>
          </p:cNvSpPr>
          <p:nvPr>
            <p:ph type="body" sz="quarter" idx="34"/>
          </p:nvPr>
        </p:nvSpPr>
        <p:spPr>
          <a:xfrm>
            <a:off x="547826" y="3484174"/>
            <a:ext cx="580696" cy="1144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직무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관리체계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화</a:t>
            </a:r>
          </a:p>
        </p:txBody>
      </p:sp>
      <p:sp>
        <p:nvSpPr>
          <p:cNvPr id="41" name="레일 삼각형"/>
          <p:cNvSpPr/>
          <p:nvPr/>
        </p:nvSpPr>
        <p:spPr>
          <a:xfrm>
            <a:off x="547826" y="3484173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2" name="머리칸"/>
          <p:cNvSpPr/>
          <p:nvPr/>
        </p:nvSpPr>
        <p:spPr>
          <a:xfrm>
            <a:off x="1161391" y="3506087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3" name="머리칸"/>
          <p:cNvSpPr>
            <a:spLocks noGrp="1"/>
          </p:cNvSpPr>
          <p:nvPr>
            <p:ph type="body" sz="quarter" idx="35"/>
          </p:nvPr>
        </p:nvSpPr>
        <p:spPr>
          <a:xfrm>
            <a:off x="1161391" y="3506087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임금피크 직원 설문조사</a:t>
            </a:r>
          </a:p>
        </p:txBody>
      </p:sp>
      <p:sp>
        <p:nvSpPr>
          <p:cNvPr id="44" name="머리칸"/>
          <p:cNvSpPr/>
          <p:nvPr/>
        </p:nvSpPr>
        <p:spPr>
          <a:xfrm>
            <a:off x="3044087" y="3506087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5" name="머리칸"/>
          <p:cNvSpPr>
            <a:spLocks noGrp="1"/>
          </p:cNvSpPr>
          <p:nvPr>
            <p:ph type="body" sz="quarter" idx="36"/>
          </p:nvPr>
        </p:nvSpPr>
        <p:spPr>
          <a:xfrm>
            <a:off x="3044087" y="3506087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맞춤형 교육과정 확대</a:t>
            </a:r>
          </a:p>
        </p:txBody>
      </p:sp>
      <p:sp>
        <p:nvSpPr>
          <p:cNvPr id="46" name="머리칸"/>
          <p:cNvSpPr/>
          <p:nvPr/>
        </p:nvSpPr>
        <p:spPr>
          <a:xfrm>
            <a:off x="4926783" y="3506087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7" name="머리칸"/>
          <p:cNvSpPr>
            <a:spLocks noGrp="1"/>
          </p:cNvSpPr>
          <p:nvPr>
            <p:ph type="body" sz="quarter" idx="37"/>
          </p:nvPr>
        </p:nvSpPr>
        <p:spPr>
          <a:xfrm>
            <a:off x="4926783" y="3506087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❸ 환류체계 강화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38"/>
          </p:nvPr>
        </p:nvSpPr>
        <p:spPr>
          <a:xfrm>
            <a:off x="1172348" y="3747130"/>
            <a:ext cx="1860783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재취업 지원제도 실효성 점검·의견수렴(’25년 상반기)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공통의견 취업에 도움되는 교육과정 운영 필요</a:t>
            </a:r>
          </a:p>
        </p:txBody>
      </p:sp>
      <p:sp>
        <p:nvSpPr>
          <p:cNvPr id="49" name="칸 본문"/>
          <p:cNvSpPr>
            <a:spLocks noGrp="1"/>
          </p:cNvSpPr>
          <p:nvPr>
            <p:ph type="body" sz="quarter" idx="39"/>
          </p:nvPr>
        </p:nvSpPr>
        <p:spPr>
          <a:xfrm>
            <a:off x="3055043" y="3747130"/>
            <a:ext cx="1860783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미래설계 맞춤형 교육과정 도입으로 재취업 역량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교육과정 재취업·창업·재무설계, 디지털역량 등 11개 과정</a:t>
            </a:r>
          </a:p>
        </p:txBody>
      </p:sp>
      <p:cxnSp>
        <p:nvCxnSpPr>
          <p:cNvPr id="50" name="Connector 34"/>
          <p:cNvCxnSpPr/>
          <p:nvPr/>
        </p:nvCxnSpPr>
        <p:spPr>
          <a:xfrm>
            <a:off x="3044087" y="3780000"/>
            <a:ext cx="0" cy="81078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1" name="칸 본문"/>
          <p:cNvSpPr>
            <a:spLocks noGrp="1"/>
          </p:cNvSpPr>
          <p:nvPr>
            <p:ph type="body" sz="quarter" idx="40"/>
          </p:nvPr>
        </p:nvSpPr>
        <p:spPr>
          <a:xfrm>
            <a:off x="4937739" y="3747130"/>
            <a:ext cx="1860783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제도 개선으로 직원 만족도 98.6점 달성(전년比 1.2점↑)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퇴직자 재취업 실효성 평가 상·하반기 확대 운영(’26년)</a:t>
            </a:r>
          </a:p>
        </p:txBody>
      </p:sp>
      <p:cxnSp>
        <p:nvCxnSpPr>
          <p:cNvPr id="52" name="Connector 36"/>
          <p:cNvCxnSpPr/>
          <p:nvPr/>
        </p:nvCxnSpPr>
        <p:spPr>
          <a:xfrm>
            <a:off x="4926783" y="3780000"/>
            <a:ext cx="0" cy="81078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3" name="핵심성과 박스"/>
          <p:cNvSpPr/>
          <p:nvPr/>
        </p:nvSpPr>
        <p:spPr>
          <a:xfrm>
            <a:off x="536870" y="4733217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4" name="핵심성과 라벨"/>
          <p:cNvSpPr/>
          <p:nvPr/>
        </p:nvSpPr>
        <p:spPr>
          <a:xfrm>
            <a:off x="569739" y="4771565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55" name="핵심성과 라벨"/>
          <p:cNvSpPr>
            <a:spLocks noGrp="1"/>
          </p:cNvSpPr>
          <p:nvPr>
            <p:ph type="body" sz="quarter" idx="41"/>
          </p:nvPr>
        </p:nvSpPr>
        <p:spPr>
          <a:xfrm>
            <a:off x="569739" y="4771565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6" name="핵심성과 문구"/>
          <p:cNvSpPr>
            <a:spLocks noGrp="1"/>
          </p:cNvSpPr>
          <p:nvPr>
            <p:ph type="body" sz="quarter" idx="42"/>
          </p:nvPr>
        </p:nvSpPr>
        <p:spPr>
          <a:xfrm>
            <a:off x="1314783" y="4749652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임금피크제 절감 재원(422명, 61.9억원)을 활용하여 청년일자리(146명, 58.8억원) 창출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56 서사 · 일·가정 양립(성과 점검 → 의견 → 추진방향 정립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육아 걱정 없이·유연하게 일하는 방식 혁신으로 행복한 일터 조성</a:t>
            </a:r>
          </a:p>
        </p:txBody>
      </p:sp>
      <p:sp>
        <p:nvSpPr>
          <p:cNvPr id="14" name="표 외곽"/>
          <p:cNvSpPr/>
          <p:nvPr/>
        </p:nvSpPr>
        <p:spPr>
          <a:xfrm>
            <a:off x="723130" y="1128522"/>
            <a:ext cx="6300000" cy="1553322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734087" y="1144957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144957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점검하고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3"/>
          </p:nvPr>
        </p:nvSpPr>
        <p:spPr>
          <a:xfrm>
            <a:off x="1358609" y="1166870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노사공동 가족친화경영 TF 운영: 인사·복지·휴가·문화 등 대규모 개선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4"/>
          </p:nvPr>
        </p:nvSpPr>
        <p:spPr>
          <a:xfrm>
            <a:off x="4182652" y="1166870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아쉬운 점 가족친화제도 안정적 정착 및 구성원 인식변화 유도·조직문화 확산 필요</a:t>
            </a:r>
          </a:p>
        </p:txBody>
      </p:sp>
      <p:cxnSp>
        <p:nvCxnSpPr>
          <p:cNvPr id="19" name="Connector 12"/>
          <p:cNvCxnSpPr/>
          <p:nvPr/>
        </p:nvCxnSpPr>
        <p:spPr>
          <a:xfrm>
            <a:off x="4171696" y="1199739"/>
            <a:ext cx="0" cy="284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0" name="레일"/>
          <p:cNvSpPr/>
          <p:nvPr/>
        </p:nvSpPr>
        <p:spPr>
          <a:xfrm>
            <a:off x="734087" y="1569600"/>
            <a:ext cx="580696" cy="53968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5"/>
          </p:nvPr>
        </p:nvSpPr>
        <p:spPr>
          <a:xfrm>
            <a:off x="734087" y="1569600"/>
            <a:ext cx="580696" cy="5396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의견을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모 아</a:t>
            </a:r>
          </a:p>
        </p:txBody>
      </p:sp>
      <p:sp>
        <p:nvSpPr>
          <p:cNvPr id="22" name="레일 삼각형"/>
          <p:cNvSpPr/>
          <p:nvPr/>
        </p:nvSpPr>
        <p:spPr>
          <a:xfrm>
            <a:off x="734086" y="1569600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6"/>
          </p:nvPr>
        </p:nvSpPr>
        <p:spPr>
          <a:xfrm>
            <a:off x="1358609" y="1591513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평가위원 “제도 활용에 대한 인식개선 캠페인 등 문화적 수용성 강화 병행 필요”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7"/>
          </p:nvPr>
        </p:nvSpPr>
        <p:spPr>
          <a:xfrm>
            <a:off x="4182652" y="1591513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내부직원 “가족친화제도를 부담없이 사용하고 꼭 필요한 일만 하는 건강한 조직”</a:t>
            </a:r>
          </a:p>
        </p:txBody>
      </p:sp>
      <p:cxnSp>
        <p:nvCxnSpPr>
          <p:cNvPr id="25" name="Connector 17"/>
          <p:cNvCxnSpPr/>
          <p:nvPr/>
        </p:nvCxnSpPr>
        <p:spPr>
          <a:xfrm>
            <a:off x="4171696" y="1624383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6" name="레일"/>
          <p:cNvSpPr/>
          <p:nvPr/>
        </p:nvSpPr>
        <p:spPr>
          <a:xfrm>
            <a:off x="734087" y="2125722"/>
            <a:ext cx="580696" cy="5396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7" name="레일"/>
          <p:cNvSpPr>
            <a:spLocks noGrp="1"/>
          </p:cNvSpPr>
          <p:nvPr>
            <p:ph type="body" sz="quarter" idx="28"/>
          </p:nvPr>
        </p:nvSpPr>
        <p:spPr>
          <a:xfrm>
            <a:off x="734087" y="2125722"/>
            <a:ext cx="580696" cy="5396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추진방향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 립</a:t>
            </a:r>
          </a:p>
        </p:txBody>
      </p:sp>
      <p:sp>
        <p:nvSpPr>
          <p:cNvPr id="28" name="레일 삼각형"/>
          <p:cNvSpPr/>
          <p:nvPr/>
        </p:nvSpPr>
        <p:spPr>
          <a:xfrm>
            <a:off x="734086" y="2125721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1358609" y="2147635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‘공공부문 최고 수준’ 가족친화 근무제도 정착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0"/>
          </p:nvPr>
        </p:nvSpPr>
        <p:spPr>
          <a:xfrm>
            <a:off x="3241304" y="2147635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가족친화문화 확산과 근무만족도 제고</a:t>
            </a:r>
          </a:p>
        </p:txBody>
      </p:sp>
      <p:cxnSp>
        <p:nvCxnSpPr>
          <p:cNvPr id="31" name="Connector 22"/>
          <p:cNvCxnSpPr/>
          <p:nvPr/>
        </p:nvCxnSpPr>
        <p:spPr>
          <a:xfrm>
            <a:off x="3230348" y="2180504"/>
            <a:ext cx="0" cy="27125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2" name="칸 본문"/>
          <p:cNvSpPr>
            <a:spLocks noGrp="1"/>
          </p:cNvSpPr>
          <p:nvPr>
            <p:ph type="body" sz="quarter" idx="31"/>
          </p:nvPr>
        </p:nvSpPr>
        <p:spPr>
          <a:xfrm>
            <a:off x="5124000" y="2147635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‘일하는 방식’ 개선 효율적인 근무문화 구축</a:t>
            </a:r>
          </a:p>
        </p:txBody>
      </p:sp>
      <p:cxnSp>
        <p:nvCxnSpPr>
          <p:cNvPr id="33" name="Connector 24"/>
          <p:cNvCxnSpPr/>
          <p:nvPr/>
        </p:nvCxnSpPr>
        <p:spPr>
          <a:xfrm>
            <a:off x="5113043" y="2180504"/>
            <a:ext cx="0" cy="27125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57 서사 · 제도 본격 도입 및 수용성 강화(全주기 가족친화제도 · 조직문화 개선 → 추진성과 4칸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3615700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제도 본격 도입 및 구성원 수용성 강화로 일·가정 양립 실현</a:t>
            </a:r>
          </a:p>
        </p:txBody>
      </p:sp>
      <p:sp>
        <p:nvSpPr>
          <p:cNvPr id="12" name="태그칩"/>
          <p:cNvSpPr/>
          <p:nvPr/>
        </p:nvSpPr>
        <p:spPr>
          <a:xfrm>
            <a:off x="4251179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251179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태그칩"/>
          <p:cNvSpPr/>
          <p:nvPr/>
        </p:nvSpPr>
        <p:spPr>
          <a:xfrm>
            <a:off x="4802300" y="799826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2"/>
          </p:nvPr>
        </p:nvSpPr>
        <p:spPr>
          <a:xfrm>
            <a:off x="4802300" y="799826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6" name="태그칩"/>
          <p:cNvSpPr/>
          <p:nvPr/>
        </p:nvSpPr>
        <p:spPr>
          <a:xfrm>
            <a:off x="5572958" y="799826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칩"/>
          <p:cNvSpPr>
            <a:spLocks noGrp="1"/>
          </p:cNvSpPr>
          <p:nvPr>
            <p:ph type="body" sz="quarter" idx="23"/>
          </p:nvPr>
        </p:nvSpPr>
        <p:spPr>
          <a:xfrm>
            <a:off x="5572958" y="799826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8" name="표 외곽"/>
          <p:cNvSpPr/>
          <p:nvPr/>
        </p:nvSpPr>
        <p:spPr>
          <a:xfrm>
            <a:off x="536870" y="1051826"/>
            <a:ext cx="6300000" cy="212556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레일"/>
          <p:cNvSpPr/>
          <p:nvPr/>
        </p:nvSpPr>
        <p:spPr>
          <a:xfrm>
            <a:off x="547826" y="1068261"/>
            <a:ext cx="580696" cy="130382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4"/>
          </p:nvPr>
        </p:nvSpPr>
        <p:spPr>
          <a:xfrm>
            <a:off x="547826" y="1068261"/>
            <a:ext cx="580696" cy="1303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全주기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가족친화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제 도</a:t>
            </a:r>
          </a:p>
        </p:txBody>
      </p:sp>
      <p:sp>
        <p:nvSpPr>
          <p:cNvPr id="21" name="배너"/>
          <p:cNvSpPr/>
          <p:nvPr/>
        </p:nvSpPr>
        <p:spPr>
          <a:xfrm>
            <a:off x="1161391" y="1090174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2" name="배너"/>
          <p:cNvSpPr>
            <a:spLocks noGrp="1"/>
          </p:cNvSpPr>
          <p:nvPr>
            <p:ph type="body" sz="quarter" idx="25"/>
          </p:nvPr>
        </p:nvSpPr>
        <p:spPr>
          <a:xfrm>
            <a:off x="1161391" y="1090174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임신·출산부터 복직, 복직 후 양육까지 全주기를 아우르는 가족친화제도 완성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6"/>
          </p:nvPr>
        </p:nvSpPr>
        <p:spPr>
          <a:xfrm>
            <a:off x="1172348" y="1325739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임신·출산 One-Stop 육아휴직 시스템: 임신 중 육아휴직 + 출산휴가 육아휴직 통합시스템 구축 ➡ 직원 편의성 향상, 부담 경감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양육 일·가정 모두의 안정 달성: 격주 4일제, 육아기 재택근무 등 육아집중형 新근무제도 최초 도입 / 육아시간 사무외출 사용 활성화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7"/>
          </p:nvPr>
        </p:nvSpPr>
        <p:spPr>
          <a:xfrm>
            <a:off x="3996391" y="1325739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휴직 경력단절 걱정없는 동등한 기회: 육아 휴직기간 100% 근속기간 인정 / 육아휴직자 승진대상자 최초포함 ➡ 육아휴직 중 초급관리자 최초 승진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복직 본인 의사를 보장하는 제도: 분기별 육아휴직 복직 신청제도 실시 / 복직 희망일에 100% 희망부서 배치 / 직장어린이집 야간보육 정식 도입</a:t>
            </a:r>
          </a:p>
        </p:txBody>
      </p:sp>
      <p:cxnSp>
        <p:nvCxnSpPr>
          <p:cNvPr id="25" name="Connector 16"/>
          <p:cNvCxnSpPr/>
          <p:nvPr/>
        </p:nvCxnSpPr>
        <p:spPr>
          <a:xfrm>
            <a:off x="3985435" y="1358609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6" name="레일"/>
          <p:cNvSpPr/>
          <p:nvPr/>
        </p:nvSpPr>
        <p:spPr>
          <a:xfrm>
            <a:off x="547826" y="2388522"/>
            <a:ext cx="580696" cy="772435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7" name="레일"/>
          <p:cNvSpPr>
            <a:spLocks noGrp="1"/>
          </p:cNvSpPr>
          <p:nvPr>
            <p:ph type="body" sz="quarter" idx="28"/>
          </p:nvPr>
        </p:nvSpPr>
        <p:spPr>
          <a:xfrm>
            <a:off x="547826" y="2388522"/>
            <a:ext cx="580696" cy="772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조직문화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 선</a:t>
            </a:r>
          </a:p>
        </p:txBody>
      </p:sp>
      <p:sp>
        <p:nvSpPr>
          <p:cNvPr id="28" name="레일 삼각형"/>
          <p:cNvSpPr/>
          <p:nvPr/>
        </p:nvSpPr>
        <p:spPr>
          <a:xfrm>
            <a:off x="547826" y="2388521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1172348" y="2410435"/>
            <a:ext cx="2802130" cy="745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구성원 인식개선 변화유도·수용성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양성평등주간 남성 육아휴직 인식 제고 캠페인 개최(’25.9)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관리자 대상 조직문화 교육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0"/>
          </p:nvPr>
        </p:nvSpPr>
        <p:spPr>
          <a:xfrm>
            <a:off x="3996391" y="2410435"/>
            <a:ext cx="2802130" cy="745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함께 만드는 가족친화문화 정착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숏폼 공모전·사보 기획기사로 활용사례 공유·직원참여 유도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가족친화 우수부서 내부평가 반영</a:t>
            </a:r>
          </a:p>
        </p:txBody>
      </p:sp>
      <p:cxnSp>
        <p:nvCxnSpPr>
          <p:cNvPr id="31" name="Connector 21"/>
          <p:cNvCxnSpPr/>
          <p:nvPr/>
        </p:nvCxnSpPr>
        <p:spPr>
          <a:xfrm>
            <a:off x="3985435" y="2443304"/>
            <a:ext cx="0" cy="67930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2" name="틀"/>
          <p:cNvSpPr/>
          <p:nvPr/>
        </p:nvSpPr>
        <p:spPr>
          <a:xfrm>
            <a:off x="536870" y="3243130"/>
            <a:ext cx="6300000" cy="1051826"/>
          </a:xfrm>
          <a:prstGeom prst="rect">
            <a:avLst/>
          </a:prstGeom>
          <a:solidFill>
            <a:srgbClr val="FFFFFF"/>
          </a:solidFill>
          <a:ln w="12700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3" name="성과 라벨"/>
          <p:cNvSpPr/>
          <p:nvPr/>
        </p:nvSpPr>
        <p:spPr>
          <a:xfrm>
            <a:off x="547826" y="3254087"/>
            <a:ext cx="580696" cy="1029913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34" name="성과 라벨"/>
          <p:cNvSpPr>
            <a:spLocks noGrp="1"/>
          </p:cNvSpPr>
          <p:nvPr>
            <p:ph type="body" sz="quarter" idx="31"/>
          </p:nvPr>
        </p:nvSpPr>
        <p:spPr>
          <a:xfrm>
            <a:off x="547826" y="3254087"/>
            <a:ext cx="580696" cy="10299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5" name="성과 띠"/>
          <p:cNvSpPr/>
          <p:nvPr/>
        </p:nvSpPr>
        <p:spPr>
          <a:xfrm>
            <a:off x="1172348" y="3276000"/>
            <a:ext cx="5631652" cy="20817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36" name="성과 띠"/>
          <p:cNvSpPr>
            <a:spLocks noGrp="1"/>
          </p:cNvSpPr>
          <p:nvPr>
            <p:ph type="body" sz="quarter" idx="32"/>
          </p:nvPr>
        </p:nvSpPr>
        <p:spPr>
          <a:xfrm>
            <a:off x="1172348" y="3276000"/>
            <a:ext cx="5631652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가족친화제도 완벽 정착으로 일·가정 양립 선도기관 인증(가족친화기업 ’09~’25년)</a:t>
            </a:r>
          </a:p>
        </p:txBody>
      </p:sp>
      <p:sp>
        <p:nvSpPr>
          <p:cNvPr id="37" name="카드"/>
          <p:cNvSpPr/>
          <p:nvPr/>
        </p:nvSpPr>
        <p:spPr>
          <a:xfrm>
            <a:off x="1172348" y="3517043"/>
            <a:ext cx="1375043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8" name="카드 문구"/>
          <p:cNvSpPr>
            <a:spLocks noGrp="1"/>
          </p:cNvSpPr>
          <p:nvPr>
            <p:ph type="body" sz="quarter" idx="33"/>
          </p:nvPr>
        </p:nvSpPr>
        <p:spPr>
          <a:xfrm>
            <a:off x="1194261" y="3528000"/>
            <a:ext cx="1331217" cy="153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육아휴직 사용자수</a:t>
            </a:r>
          </a:p>
        </p:txBody>
      </p:sp>
      <p:sp>
        <p:nvSpPr>
          <p:cNvPr id="39" name="막대"/>
          <p:cNvSpPr/>
          <p:nvPr/>
        </p:nvSpPr>
        <p:spPr>
          <a:xfrm>
            <a:off x="1249043" y="3969000"/>
            <a:ext cx="164348" cy="139696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0" name="값"/>
          <p:cNvSpPr>
            <a:spLocks noGrp="1"/>
          </p:cNvSpPr>
          <p:nvPr>
            <p:ph type="body" sz="quarter" idx="34"/>
          </p:nvPr>
        </p:nvSpPr>
        <p:spPr>
          <a:xfrm>
            <a:off x="1161391" y="3793696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243</a:t>
            </a:r>
          </a:p>
        </p:txBody>
      </p:sp>
      <p:sp>
        <p:nvSpPr>
          <p:cNvPr id="41" name="연도"/>
          <p:cNvSpPr>
            <a:spLocks noGrp="1"/>
          </p:cNvSpPr>
          <p:nvPr>
            <p:ph type="body" sz="quarter" idx="35"/>
          </p:nvPr>
        </p:nvSpPr>
        <p:spPr>
          <a:xfrm>
            <a:off x="1161391" y="4119652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’24년</a:t>
            </a:r>
          </a:p>
        </p:txBody>
      </p:sp>
      <p:sp>
        <p:nvSpPr>
          <p:cNvPr id="42" name="막대"/>
          <p:cNvSpPr/>
          <p:nvPr/>
        </p:nvSpPr>
        <p:spPr>
          <a:xfrm>
            <a:off x="1859870" y="3944348"/>
            <a:ext cx="164348" cy="16434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3" name="값"/>
          <p:cNvSpPr>
            <a:spLocks noGrp="1"/>
          </p:cNvSpPr>
          <p:nvPr>
            <p:ph type="body" sz="quarter" idx="36"/>
          </p:nvPr>
        </p:nvSpPr>
        <p:spPr>
          <a:xfrm>
            <a:off x="1772217" y="3769043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275</a:t>
            </a:r>
          </a:p>
        </p:txBody>
      </p:sp>
      <p:sp>
        <p:nvSpPr>
          <p:cNvPr id="44" name="연도"/>
          <p:cNvSpPr>
            <a:spLocks noGrp="1"/>
          </p:cNvSpPr>
          <p:nvPr>
            <p:ph type="body" sz="quarter" idx="37"/>
          </p:nvPr>
        </p:nvSpPr>
        <p:spPr>
          <a:xfrm>
            <a:off x="1772217" y="4119652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’25년</a:t>
            </a:r>
          </a:p>
        </p:txBody>
      </p:sp>
      <p:sp>
        <p:nvSpPr>
          <p:cNvPr id="45" name="카드"/>
          <p:cNvSpPr/>
          <p:nvPr/>
        </p:nvSpPr>
        <p:spPr>
          <a:xfrm>
            <a:off x="2591217" y="3517043"/>
            <a:ext cx="1375043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6" name="카드 문구"/>
          <p:cNvSpPr>
            <a:spLocks noGrp="1"/>
          </p:cNvSpPr>
          <p:nvPr>
            <p:ph type="body" sz="quarter" idx="38"/>
          </p:nvPr>
        </p:nvSpPr>
        <p:spPr>
          <a:xfrm>
            <a:off x="2613130" y="3528000"/>
            <a:ext cx="1331217" cy="153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배우자 출산휴가</a:t>
            </a:r>
          </a:p>
        </p:txBody>
      </p:sp>
      <p:sp>
        <p:nvSpPr>
          <p:cNvPr id="47" name="막대"/>
          <p:cNvSpPr/>
          <p:nvPr/>
        </p:nvSpPr>
        <p:spPr>
          <a:xfrm>
            <a:off x="2667913" y="3993652"/>
            <a:ext cx="164348" cy="115043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8" name="값"/>
          <p:cNvSpPr>
            <a:spLocks noGrp="1"/>
          </p:cNvSpPr>
          <p:nvPr>
            <p:ph type="body" sz="quarter" idx="39"/>
          </p:nvPr>
        </p:nvSpPr>
        <p:spPr>
          <a:xfrm>
            <a:off x="2580261" y="3818348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146</a:t>
            </a:r>
          </a:p>
        </p:txBody>
      </p:sp>
      <p:sp>
        <p:nvSpPr>
          <p:cNvPr id="49" name="연도"/>
          <p:cNvSpPr>
            <a:spLocks noGrp="1"/>
          </p:cNvSpPr>
          <p:nvPr>
            <p:ph type="body" sz="quarter" idx="40"/>
          </p:nvPr>
        </p:nvSpPr>
        <p:spPr>
          <a:xfrm>
            <a:off x="2580261" y="4119652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’24년</a:t>
            </a:r>
          </a:p>
        </p:txBody>
      </p:sp>
      <p:sp>
        <p:nvSpPr>
          <p:cNvPr id="50" name="막대"/>
          <p:cNvSpPr/>
          <p:nvPr/>
        </p:nvSpPr>
        <p:spPr>
          <a:xfrm>
            <a:off x="3278739" y="3944348"/>
            <a:ext cx="164348" cy="16434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1" name="값"/>
          <p:cNvSpPr>
            <a:spLocks noGrp="1"/>
          </p:cNvSpPr>
          <p:nvPr>
            <p:ph type="body" sz="quarter" idx="41"/>
          </p:nvPr>
        </p:nvSpPr>
        <p:spPr>
          <a:xfrm>
            <a:off x="3191087" y="3769043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210</a:t>
            </a:r>
          </a:p>
        </p:txBody>
      </p:sp>
      <p:sp>
        <p:nvSpPr>
          <p:cNvPr id="52" name="연도"/>
          <p:cNvSpPr>
            <a:spLocks noGrp="1"/>
          </p:cNvSpPr>
          <p:nvPr>
            <p:ph type="body" sz="quarter" idx="42"/>
          </p:nvPr>
        </p:nvSpPr>
        <p:spPr>
          <a:xfrm>
            <a:off x="3191087" y="4119652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’25년</a:t>
            </a:r>
          </a:p>
        </p:txBody>
      </p:sp>
      <p:sp>
        <p:nvSpPr>
          <p:cNvPr id="53" name="카드"/>
          <p:cNvSpPr/>
          <p:nvPr/>
        </p:nvSpPr>
        <p:spPr>
          <a:xfrm>
            <a:off x="4010087" y="3517043"/>
            <a:ext cx="1375043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4" name="카드 문구"/>
          <p:cNvSpPr>
            <a:spLocks noGrp="1"/>
          </p:cNvSpPr>
          <p:nvPr>
            <p:ph type="body" sz="quarter" idx="43"/>
          </p:nvPr>
        </p:nvSpPr>
        <p:spPr>
          <a:xfrm>
            <a:off x="4032000" y="3528000"/>
            <a:ext cx="1331217" cy="153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근무시간 단축제</a:t>
            </a:r>
          </a:p>
        </p:txBody>
      </p:sp>
      <p:sp>
        <p:nvSpPr>
          <p:cNvPr id="55" name="막대"/>
          <p:cNvSpPr/>
          <p:nvPr/>
        </p:nvSpPr>
        <p:spPr>
          <a:xfrm>
            <a:off x="4086783" y="4010087"/>
            <a:ext cx="164348" cy="98609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6" name="값"/>
          <p:cNvSpPr>
            <a:spLocks noGrp="1"/>
          </p:cNvSpPr>
          <p:nvPr>
            <p:ph type="body" sz="quarter" idx="44"/>
          </p:nvPr>
        </p:nvSpPr>
        <p:spPr>
          <a:xfrm>
            <a:off x="3999130" y="3834783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63</a:t>
            </a:r>
          </a:p>
        </p:txBody>
      </p:sp>
      <p:sp>
        <p:nvSpPr>
          <p:cNvPr id="57" name="연도"/>
          <p:cNvSpPr>
            <a:spLocks noGrp="1"/>
          </p:cNvSpPr>
          <p:nvPr>
            <p:ph type="body" sz="quarter" idx="45"/>
          </p:nvPr>
        </p:nvSpPr>
        <p:spPr>
          <a:xfrm>
            <a:off x="3999130" y="4119652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’24년</a:t>
            </a:r>
          </a:p>
        </p:txBody>
      </p:sp>
      <p:sp>
        <p:nvSpPr>
          <p:cNvPr id="58" name="막대"/>
          <p:cNvSpPr/>
          <p:nvPr/>
        </p:nvSpPr>
        <p:spPr>
          <a:xfrm>
            <a:off x="4697609" y="3944348"/>
            <a:ext cx="164348" cy="16434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9" name="값"/>
          <p:cNvSpPr>
            <a:spLocks noGrp="1"/>
          </p:cNvSpPr>
          <p:nvPr>
            <p:ph type="body" sz="quarter" idx="46"/>
          </p:nvPr>
        </p:nvSpPr>
        <p:spPr>
          <a:xfrm>
            <a:off x="4609957" y="3769043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102</a:t>
            </a:r>
          </a:p>
        </p:txBody>
      </p:sp>
      <p:sp>
        <p:nvSpPr>
          <p:cNvPr id="60" name="연도"/>
          <p:cNvSpPr>
            <a:spLocks noGrp="1"/>
          </p:cNvSpPr>
          <p:nvPr>
            <p:ph type="body" sz="quarter" idx="47"/>
          </p:nvPr>
        </p:nvSpPr>
        <p:spPr>
          <a:xfrm>
            <a:off x="4609957" y="4119652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’25년</a:t>
            </a:r>
          </a:p>
        </p:txBody>
      </p:sp>
      <p:sp>
        <p:nvSpPr>
          <p:cNvPr id="61" name="카드"/>
          <p:cNvSpPr/>
          <p:nvPr/>
        </p:nvSpPr>
        <p:spPr>
          <a:xfrm>
            <a:off x="5428957" y="3517043"/>
            <a:ext cx="1375043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2" name="카드 문구"/>
          <p:cNvSpPr>
            <a:spLocks noGrp="1"/>
          </p:cNvSpPr>
          <p:nvPr>
            <p:ph type="body" sz="quarter" idx="48"/>
          </p:nvPr>
        </p:nvSpPr>
        <p:spPr>
          <a:xfrm>
            <a:off x="5450870" y="3528000"/>
            <a:ext cx="1331217" cy="153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新 유연근무제</a:t>
            </a:r>
          </a:p>
        </p:txBody>
      </p:sp>
      <p:sp>
        <p:nvSpPr>
          <p:cNvPr id="63" name="막대"/>
          <p:cNvSpPr/>
          <p:nvPr/>
        </p:nvSpPr>
        <p:spPr>
          <a:xfrm>
            <a:off x="5505652" y="4032000"/>
            <a:ext cx="164348" cy="76696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4" name="값"/>
          <p:cNvSpPr>
            <a:spLocks noGrp="1"/>
          </p:cNvSpPr>
          <p:nvPr>
            <p:ph type="body" sz="quarter" idx="49"/>
          </p:nvPr>
        </p:nvSpPr>
        <p:spPr>
          <a:xfrm>
            <a:off x="5418000" y="3856696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17</a:t>
            </a:r>
          </a:p>
        </p:txBody>
      </p:sp>
      <p:sp>
        <p:nvSpPr>
          <p:cNvPr id="65" name="연도"/>
          <p:cNvSpPr>
            <a:spLocks noGrp="1"/>
          </p:cNvSpPr>
          <p:nvPr>
            <p:ph type="body" sz="quarter" idx="50"/>
          </p:nvPr>
        </p:nvSpPr>
        <p:spPr>
          <a:xfrm>
            <a:off x="5418000" y="4119652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육아기</a:t>
            </a:r>
          </a:p>
        </p:txBody>
      </p:sp>
      <p:sp>
        <p:nvSpPr>
          <p:cNvPr id="66" name="막대"/>
          <p:cNvSpPr/>
          <p:nvPr/>
        </p:nvSpPr>
        <p:spPr>
          <a:xfrm>
            <a:off x="6116478" y="3944348"/>
            <a:ext cx="164348" cy="164348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7" name="값"/>
          <p:cNvSpPr>
            <a:spLocks noGrp="1"/>
          </p:cNvSpPr>
          <p:nvPr>
            <p:ph type="body" sz="quarter" idx="51"/>
          </p:nvPr>
        </p:nvSpPr>
        <p:spPr>
          <a:xfrm>
            <a:off x="6028826" y="3769043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284</a:t>
            </a:r>
          </a:p>
        </p:txBody>
      </p:sp>
      <p:sp>
        <p:nvSpPr>
          <p:cNvPr id="68" name="연도"/>
          <p:cNvSpPr>
            <a:spLocks noGrp="1"/>
          </p:cNvSpPr>
          <p:nvPr>
            <p:ph type="body" sz="quarter" idx="52"/>
          </p:nvPr>
        </p:nvSpPr>
        <p:spPr>
          <a:xfrm>
            <a:off x="6028826" y="4119652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격주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58 서사 · 소통·공감 기반 인사·복지제도 개선(新 승진제도 · 전보제도 → 가족 행복캠프 → 자회사 상생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3553339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소통·공감 기반의 인사·복지제도 개선을 통한 만족도 향상</a:t>
            </a:r>
          </a:p>
        </p:txBody>
      </p:sp>
      <p:sp>
        <p:nvSpPr>
          <p:cNvPr id="11" name="태그칩"/>
          <p:cNvSpPr/>
          <p:nvPr/>
        </p:nvSpPr>
        <p:spPr>
          <a:xfrm>
            <a:off x="4375078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4375078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태그칩"/>
          <p:cNvSpPr/>
          <p:nvPr/>
        </p:nvSpPr>
        <p:spPr>
          <a:xfrm>
            <a:off x="4926199" y="810783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4" name="태그칩"/>
          <p:cNvSpPr>
            <a:spLocks noGrp="1"/>
          </p:cNvSpPr>
          <p:nvPr>
            <p:ph type="body" sz="quarter" idx="22"/>
          </p:nvPr>
        </p:nvSpPr>
        <p:spPr>
          <a:xfrm>
            <a:off x="4926199" y="810783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5" name="태그칩"/>
          <p:cNvSpPr/>
          <p:nvPr/>
        </p:nvSpPr>
        <p:spPr>
          <a:xfrm>
            <a:off x="5696857" y="810783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태그칩"/>
          <p:cNvSpPr>
            <a:spLocks noGrp="1"/>
          </p:cNvSpPr>
          <p:nvPr>
            <p:ph type="body" sz="quarter" idx="23"/>
          </p:nvPr>
        </p:nvSpPr>
        <p:spPr>
          <a:xfrm>
            <a:off x="5696857" y="810783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7" name="표 외곽"/>
          <p:cNvSpPr/>
          <p:nvPr/>
        </p:nvSpPr>
        <p:spPr>
          <a:xfrm>
            <a:off x="723130" y="1062783"/>
            <a:ext cx="6300000" cy="323217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레일"/>
          <p:cNvSpPr/>
          <p:nvPr/>
        </p:nvSpPr>
        <p:spPr>
          <a:xfrm>
            <a:off x="734087" y="1079217"/>
            <a:ext cx="580696" cy="232278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레일"/>
          <p:cNvSpPr>
            <a:spLocks noGrp="1"/>
          </p:cNvSpPr>
          <p:nvPr>
            <p:ph type="body" sz="quarter" idx="24"/>
          </p:nvPr>
        </p:nvSpPr>
        <p:spPr>
          <a:xfrm>
            <a:off x="734087" y="1079217"/>
            <a:ext cx="580696" cy="2322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K-water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가족친화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인사복지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제 도</a:t>
            </a:r>
          </a:p>
        </p:txBody>
      </p:sp>
      <p:sp>
        <p:nvSpPr>
          <p:cNvPr id="20" name="머리칸"/>
          <p:cNvSpPr/>
          <p:nvPr/>
        </p:nvSpPr>
        <p:spPr>
          <a:xfrm>
            <a:off x="1347652" y="110113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1" name="머리칸"/>
          <p:cNvSpPr>
            <a:spLocks noGrp="1"/>
          </p:cNvSpPr>
          <p:nvPr>
            <p:ph type="body" sz="quarter" idx="25"/>
          </p:nvPr>
        </p:nvSpPr>
        <p:spPr>
          <a:xfrm>
            <a:off x="1347652" y="110113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역량 기반의 새로운 승진제도 정립</a:t>
            </a:r>
          </a:p>
        </p:txBody>
      </p:sp>
      <p:sp>
        <p:nvSpPr>
          <p:cNvPr id="22" name="머리칸"/>
          <p:cNvSpPr/>
          <p:nvPr/>
        </p:nvSpPr>
        <p:spPr>
          <a:xfrm>
            <a:off x="4171696" y="110113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3" name="머리칸"/>
          <p:cNvSpPr>
            <a:spLocks noGrp="1"/>
          </p:cNvSpPr>
          <p:nvPr>
            <p:ph type="body" sz="quarter" idx="26"/>
          </p:nvPr>
        </p:nvSpPr>
        <p:spPr>
          <a:xfrm>
            <a:off x="4171696" y="110113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참여·소통 기반의 高체감 인사혁신 지속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7"/>
          </p:nvPr>
        </p:nvSpPr>
        <p:spPr>
          <a:xfrm>
            <a:off x="1358609" y="1342174"/>
            <a:ext cx="2802130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승진 공정성을 강화한 新 승진제도: 신규 역량 중심 승진시험 최초 시행 * 근무성적·시험점수·다면평가 등 반영 / 효과 기존 승진 흐름 대비 1~2년 조기 승진자 배출(26명)로 조직 활력 제고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8"/>
          </p:nvPr>
        </p:nvSpPr>
        <p:spPr>
          <a:xfrm>
            <a:off x="4182652" y="1342174"/>
            <a:ext cx="2802130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전보 직원이 설계하는 K-water型 전보제도: 노사공동 TF(66명, 총 21회 회의) → 全 직원 의견수렴(설문조사 2회, 현장설명회 22회) → 평등한 제도 본부·현장 고려 촘촘한 제도설계, 직원 수용성 제고</a:t>
            </a:r>
          </a:p>
        </p:txBody>
      </p:sp>
      <p:cxnSp>
        <p:nvCxnSpPr>
          <p:cNvPr id="26" name="Connector 14"/>
          <p:cNvCxnSpPr/>
          <p:nvPr/>
        </p:nvCxnSpPr>
        <p:spPr>
          <a:xfrm>
            <a:off x="4171696" y="1375043"/>
            <a:ext cx="0" cy="81078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7" name="배너"/>
          <p:cNvSpPr/>
          <p:nvPr/>
        </p:nvSpPr>
        <p:spPr>
          <a:xfrm>
            <a:off x="1347652" y="2235130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8" name="배너"/>
          <p:cNvSpPr>
            <a:spLocks noGrp="1"/>
          </p:cNvSpPr>
          <p:nvPr>
            <p:ph type="body" sz="quarter" idx="29"/>
          </p:nvPr>
        </p:nvSpPr>
        <p:spPr>
          <a:xfrm>
            <a:off x="1347652" y="2235130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가족愛 행복캠프 가족 구성원간 유대 강화·이해와 공감 중심 소통의 場 마련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0"/>
          </p:nvPr>
        </p:nvSpPr>
        <p:spPr>
          <a:xfrm>
            <a:off x="1358609" y="2470696"/>
            <a:ext cx="1860783" cy="690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부모님 가족 마음 연결: 예술 감상 음악 치유 기성세대 부모·자녀직원 가족 이해증진·유대감 강화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1"/>
          </p:nvPr>
        </p:nvSpPr>
        <p:spPr>
          <a:xfrm>
            <a:off x="3241304" y="2470696"/>
            <a:ext cx="1860783" cy="690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부부 공감 소통: 부부 소통특강 심리진단 기반 부부간 대화법·소통 기술 학습</a:t>
            </a:r>
          </a:p>
        </p:txBody>
      </p:sp>
      <p:cxnSp>
        <p:nvCxnSpPr>
          <p:cNvPr id="31" name="Connector 18"/>
          <p:cNvCxnSpPr/>
          <p:nvPr/>
        </p:nvCxnSpPr>
        <p:spPr>
          <a:xfrm>
            <a:off x="3230348" y="2503565"/>
            <a:ext cx="0" cy="624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2" name="칸 본문"/>
          <p:cNvSpPr>
            <a:spLocks noGrp="1"/>
          </p:cNvSpPr>
          <p:nvPr>
            <p:ph type="body" sz="quarter" idx="32"/>
          </p:nvPr>
        </p:nvSpPr>
        <p:spPr>
          <a:xfrm>
            <a:off x="5124000" y="2470696"/>
            <a:ext cx="1860783" cy="690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자녀 가족 유대 강화: 실내 올림픽 부모·자녀 간 애착 형성, 긍정적 가족 정서 경험</a:t>
            </a:r>
          </a:p>
        </p:txBody>
      </p:sp>
      <p:cxnSp>
        <p:nvCxnSpPr>
          <p:cNvPr id="33" name="Connector 20"/>
          <p:cNvCxnSpPr/>
          <p:nvPr/>
        </p:nvCxnSpPr>
        <p:spPr>
          <a:xfrm>
            <a:off x="5113043" y="2503565"/>
            <a:ext cx="0" cy="624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4" name="배너"/>
          <p:cNvSpPr/>
          <p:nvPr/>
        </p:nvSpPr>
        <p:spPr>
          <a:xfrm>
            <a:off x="1347652" y="3177391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5" name="배너"/>
          <p:cNvSpPr>
            <a:spLocks noGrp="1"/>
          </p:cNvSpPr>
          <p:nvPr>
            <p:ph type="body" sz="quarter" idx="33"/>
          </p:nvPr>
        </p:nvSpPr>
        <p:spPr>
          <a:xfrm>
            <a:off x="1347652" y="3177391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캠프참여자(478명) 대상 만족도 조사 96.1점 달성</a:t>
            </a:r>
          </a:p>
        </p:txBody>
      </p:sp>
      <p:sp>
        <p:nvSpPr>
          <p:cNvPr id="36" name="레일"/>
          <p:cNvSpPr/>
          <p:nvPr/>
        </p:nvSpPr>
        <p:spPr>
          <a:xfrm>
            <a:off x="734087" y="3418435"/>
            <a:ext cx="580696" cy="8600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7" name="레일 태그"/>
          <p:cNvSpPr/>
          <p:nvPr/>
        </p:nvSpPr>
        <p:spPr>
          <a:xfrm>
            <a:off x="799521" y="3582783"/>
            <a:ext cx="449828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8" name="레일 태그"/>
          <p:cNvSpPr>
            <a:spLocks noGrp="1"/>
          </p:cNvSpPr>
          <p:nvPr>
            <p:ph type="body" sz="quarter" idx="34"/>
          </p:nvPr>
        </p:nvSpPr>
        <p:spPr>
          <a:xfrm>
            <a:off x="799521" y="3582783"/>
            <a:ext cx="449828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자회사</a:t>
            </a:r>
          </a:p>
        </p:txBody>
      </p:sp>
      <p:sp>
        <p:nvSpPr>
          <p:cNvPr id="39" name="레일 라벨"/>
          <p:cNvSpPr>
            <a:spLocks noGrp="1"/>
          </p:cNvSpPr>
          <p:nvPr>
            <p:ph type="body" sz="quarter" idx="35"/>
          </p:nvPr>
        </p:nvSpPr>
        <p:spPr>
          <a:xfrm>
            <a:off x="734087" y="3769043"/>
            <a:ext cx="580696" cy="487565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우리도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함 께</a:t>
            </a:r>
          </a:p>
        </p:txBody>
      </p:sp>
      <p:sp>
        <p:nvSpPr>
          <p:cNvPr id="40" name="레일 삼각형"/>
          <p:cNvSpPr/>
          <p:nvPr/>
        </p:nvSpPr>
        <p:spPr>
          <a:xfrm>
            <a:off x="734086" y="3418434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1" name="단계"/>
          <p:cNvSpPr/>
          <p:nvPr/>
        </p:nvSpPr>
        <p:spPr>
          <a:xfrm>
            <a:off x="1347652" y="3440348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2" name="단계"/>
          <p:cNvSpPr>
            <a:spLocks noGrp="1"/>
          </p:cNvSpPr>
          <p:nvPr>
            <p:ph type="body" sz="quarter" idx="36"/>
          </p:nvPr>
        </p:nvSpPr>
        <p:spPr>
          <a:xfrm>
            <a:off x="1347652" y="344034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모·자회사 공동 협의회</a:t>
            </a:r>
          </a:p>
        </p:txBody>
      </p:sp>
      <p:sp>
        <p:nvSpPr>
          <p:cNvPr id="43" name="단계"/>
          <p:cNvSpPr/>
          <p:nvPr/>
        </p:nvSpPr>
        <p:spPr>
          <a:xfrm>
            <a:off x="3230348" y="3440348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4" name="단계"/>
          <p:cNvSpPr>
            <a:spLocks noGrp="1"/>
          </p:cNvSpPr>
          <p:nvPr>
            <p:ph type="body" sz="quarter" idx="37"/>
          </p:nvPr>
        </p:nvSpPr>
        <p:spPr>
          <a:xfrm>
            <a:off x="3230348" y="344034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예산·인력 지원 확대</a:t>
            </a:r>
          </a:p>
        </p:txBody>
      </p:sp>
      <p:sp>
        <p:nvSpPr>
          <p:cNvPr id="45" name="단계"/>
          <p:cNvSpPr/>
          <p:nvPr/>
        </p:nvSpPr>
        <p:spPr>
          <a:xfrm>
            <a:off x="5113043" y="3440348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6" name="단계"/>
          <p:cNvSpPr>
            <a:spLocks noGrp="1"/>
          </p:cNvSpPr>
          <p:nvPr>
            <p:ph type="body" sz="quarter" idx="38"/>
          </p:nvPr>
        </p:nvSpPr>
        <p:spPr>
          <a:xfrm>
            <a:off x="5113043" y="344034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 창출</a:t>
            </a:r>
          </a:p>
        </p:txBody>
      </p:sp>
      <p:sp>
        <p:nvSpPr>
          <p:cNvPr id="47" name="단계 삼각형"/>
          <p:cNvSpPr/>
          <p:nvPr/>
        </p:nvSpPr>
        <p:spPr>
          <a:xfrm>
            <a:off x="3230347" y="3440347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8" name="단계 삼각형"/>
          <p:cNvSpPr/>
          <p:nvPr/>
        </p:nvSpPr>
        <p:spPr>
          <a:xfrm>
            <a:off x="5113043" y="3440347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9" name="칸 본문"/>
          <p:cNvSpPr>
            <a:spLocks noGrp="1"/>
          </p:cNvSpPr>
          <p:nvPr>
            <p:ph type="body" sz="quarter" idx="39"/>
          </p:nvPr>
        </p:nvSpPr>
        <p:spPr>
          <a:xfrm>
            <a:off x="1358609" y="3692348"/>
            <a:ext cx="1860783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자회사 복지·예산 등 근무환경 개선사항 논의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40"/>
          </p:nvPr>
        </p:nvSpPr>
        <p:spPr>
          <a:xfrm>
            <a:off x="3241304" y="3692348"/>
            <a:ext cx="1860783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모회사 수준 복지(중식·이전비)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안전인력(10명)·예산(0.9억원) 확대</a:t>
            </a:r>
          </a:p>
        </p:txBody>
      </p:sp>
      <p:cxnSp>
        <p:nvCxnSpPr>
          <p:cNvPr id="51" name="Connector 33"/>
          <p:cNvCxnSpPr/>
          <p:nvPr/>
        </p:nvCxnSpPr>
        <p:spPr>
          <a:xfrm>
            <a:off x="3230348" y="3725217"/>
            <a:ext cx="0" cy="51495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2" name="칸 본문"/>
          <p:cNvSpPr>
            <a:spLocks noGrp="1"/>
          </p:cNvSpPr>
          <p:nvPr>
            <p:ph type="body" sz="quarter" idx="41"/>
          </p:nvPr>
        </p:nvSpPr>
        <p:spPr>
          <a:xfrm>
            <a:off x="5124000" y="3692348"/>
            <a:ext cx="1860783" cy="58069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자회사 운영 실태평가 최고점수(A등급) 달성</a:t>
            </a:r>
          </a:p>
        </p:txBody>
      </p:sp>
      <p:cxnSp>
        <p:nvCxnSpPr>
          <p:cNvPr id="53" name="Connector 35"/>
          <p:cNvCxnSpPr/>
          <p:nvPr/>
        </p:nvCxnSpPr>
        <p:spPr>
          <a:xfrm>
            <a:off x="5113043" y="3725217"/>
            <a:ext cx="0" cy="51495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4" name="핵심성과 박스"/>
          <p:cNvSpPr/>
          <p:nvPr/>
        </p:nvSpPr>
        <p:spPr>
          <a:xfrm>
            <a:off x="723130" y="4382609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5" name="핵심성과 라벨"/>
          <p:cNvSpPr/>
          <p:nvPr/>
        </p:nvSpPr>
        <p:spPr>
          <a:xfrm>
            <a:off x="756000" y="4420957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56" name="핵심성과 라벨"/>
          <p:cNvSpPr>
            <a:spLocks noGrp="1"/>
          </p:cNvSpPr>
          <p:nvPr>
            <p:ph type="body" sz="quarter" idx="42"/>
          </p:nvPr>
        </p:nvSpPr>
        <p:spPr>
          <a:xfrm>
            <a:off x="756000" y="4420957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7" name="핵심성과 문구"/>
          <p:cNvSpPr>
            <a:spLocks noGrp="1"/>
          </p:cNvSpPr>
          <p:nvPr>
            <p:ph type="body" sz="quarter" idx="43"/>
          </p:nvPr>
        </p:nvSpPr>
        <p:spPr>
          <a:xfrm>
            <a:off x="1501043" y="4399043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체감형 인사·복지제도 개선으로 역대 최고 인사만족도(77.9점), 복지만족도(4.21점) 달성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59 서사 · 근무 환경 · 일하는 방식 개선(조직활력 제고 → 자유롭고 유연하게 일하기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4095703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 ‘근무 환경’ &amp; ‘일하는 방식’ 개선으로 행복하고 효율적인 일터 조성</a:t>
            </a:r>
          </a:p>
        </p:txBody>
      </p:sp>
      <p:sp>
        <p:nvSpPr>
          <p:cNvPr id="12" name="태그칩"/>
          <p:cNvSpPr/>
          <p:nvPr/>
        </p:nvSpPr>
        <p:spPr>
          <a:xfrm>
            <a:off x="4731181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731181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태그칩"/>
          <p:cNvSpPr/>
          <p:nvPr/>
        </p:nvSpPr>
        <p:spPr>
          <a:xfrm>
            <a:off x="5282302" y="799826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2"/>
          </p:nvPr>
        </p:nvSpPr>
        <p:spPr>
          <a:xfrm>
            <a:off x="5282302" y="799826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6" name="표 외곽"/>
          <p:cNvSpPr/>
          <p:nvPr/>
        </p:nvSpPr>
        <p:spPr>
          <a:xfrm>
            <a:off x="536870" y="1051826"/>
            <a:ext cx="6300000" cy="268434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547826" y="1068261"/>
            <a:ext cx="580696" cy="154487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레일 태그"/>
          <p:cNvSpPr/>
          <p:nvPr/>
        </p:nvSpPr>
        <p:spPr>
          <a:xfrm>
            <a:off x="558376" y="1112087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19" name="레일 태그"/>
          <p:cNvSpPr>
            <a:spLocks noGrp="1"/>
          </p:cNvSpPr>
          <p:nvPr>
            <p:ph type="body" sz="quarter" idx="23"/>
          </p:nvPr>
        </p:nvSpPr>
        <p:spPr>
          <a:xfrm>
            <a:off x="558376" y="1112087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근무환경</a:t>
            </a:r>
          </a:p>
        </p:txBody>
      </p:sp>
      <p:sp>
        <p:nvSpPr>
          <p:cNvPr id="20" name="레일 라벨"/>
          <p:cNvSpPr>
            <a:spLocks noGrp="1"/>
          </p:cNvSpPr>
          <p:nvPr>
            <p:ph type="body" sz="quarter" idx="24"/>
          </p:nvPr>
        </p:nvSpPr>
        <p:spPr>
          <a:xfrm>
            <a:off x="547826" y="1298348"/>
            <a:ext cx="580696" cy="129287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조직활력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제 고</a:t>
            </a:r>
          </a:p>
        </p:txBody>
      </p:sp>
      <p:sp>
        <p:nvSpPr>
          <p:cNvPr id="21" name="머리칸"/>
          <p:cNvSpPr/>
          <p:nvPr/>
        </p:nvSpPr>
        <p:spPr>
          <a:xfrm>
            <a:off x="1161391" y="1090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2" name="머리칸"/>
          <p:cNvSpPr>
            <a:spLocks noGrp="1"/>
          </p:cNvSpPr>
          <p:nvPr>
            <p:ph type="body" sz="quarter" idx="25"/>
          </p:nvPr>
        </p:nvSpPr>
        <p:spPr>
          <a:xfrm>
            <a:off x="1161391" y="1090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부서별 코칭 + </a:t>
            </a:r>
          </a:p>
        </p:txBody>
      </p:sp>
      <p:sp>
        <p:nvSpPr>
          <p:cNvPr id="23" name="머리칸"/>
          <p:cNvSpPr/>
          <p:nvPr/>
        </p:nvSpPr>
        <p:spPr>
          <a:xfrm>
            <a:off x="3044087" y="1090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4" name="머리칸"/>
          <p:cNvSpPr>
            <a:spLocks noGrp="1"/>
          </p:cNvSpPr>
          <p:nvPr>
            <p:ph type="body" sz="quarter" idx="26"/>
          </p:nvPr>
        </p:nvSpPr>
        <p:spPr>
          <a:xfrm>
            <a:off x="3044087" y="1090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조직 융화 +</a:t>
            </a:r>
          </a:p>
        </p:txBody>
      </p:sp>
      <p:sp>
        <p:nvSpPr>
          <p:cNvPr id="25" name="머리칸"/>
          <p:cNvSpPr/>
          <p:nvPr/>
        </p:nvSpPr>
        <p:spPr>
          <a:xfrm>
            <a:off x="4926783" y="1090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6" name="머리칸"/>
          <p:cNvSpPr>
            <a:spLocks noGrp="1"/>
          </p:cNvSpPr>
          <p:nvPr>
            <p:ph type="body" sz="quarter" idx="27"/>
          </p:nvPr>
        </p:nvSpPr>
        <p:spPr>
          <a:xfrm>
            <a:off x="4926783" y="1090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조기 적응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28"/>
          </p:nvPr>
        </p:nvSpPr>
        <p:spPr>
          <a:xfrm>
            <a:off x="1172348" y="1331217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맞춤형 조직문화 개선 코칭: 상향식 소통의 부서 코칭 확대(12 → 26개) 운영 / 부서선정 · 심층진단 · 맞춤코칭 · 확산활동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참여부서 신뢰경영지수 평균 11점 상승(77 → 88점)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9"/>
          </p:nvPr>
        </p:nvSpPr>
        <p:spPr>
          <a:xfrm>
            <a:off x="3055043" y="1331217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계층별 조직적응 지원: 저연차 → 취약계층 확대 / 맞춤형 모듈 기획·운영 / 전문직·실무직·고참 차장 소통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참여자 만족도 97.4점(전년比 1.9점↑) 달성</a:t>
            </a:r>
          </a:p>
        </p:txBody>
      </p:sp>
      <p:cxnSp>
        <p:nvCxnSpPr>
          <p:cNvPr id="29" name="Connector 19"/>
          <p:cNvCxnSpPr/>
          <p:nvPr/>
        </p:nvCxnSpPr>
        <p:spPr>
          <a:xfrm>
            <a:off x="3044087" y="1364087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0" name="칸 본문"/>
          <p:cNvSpPr>
            <a:spLocks noGrp="1"/>
          </p:cNvSpPr>
          <p:nvPr>
            <p:ph type="body" sz="quarter" idx="30"/>
          </p:nvPr>
        </p:nvSpPr>
        <p:spPr>
          <a:xfrm>
            <a:off x="4937739" y="1331217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전입·복직자 적응 교육: 업무 조기 적응향상을 위해 온라인 학습 지원 / 이러닝 · 온보딩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전입·복직자 니즈를 반영 교육 콘텐츠 32개 추가 반영</a:t>
            </a:r>
          </a:p>
        </p:txBody>
      </p:sp>
      <p:cxnSp>
        <p:nvCxnSpPr>
          <p:cNvPr id="31" name="Connector 21"/>
          <p:cNvCxnSpPr/>
          <p:nvPr/>
        </p:nvCxnSpPr>
        <p:spPr>
          <a:xfrm>
            <a:off x="4926783" y="1364087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2" name="배너"/>
          <p:cNvSpPr/>
          <p:nvPr/>
        </p:nvSpPr>
        <p:spPr>
          <a:xfrm>
            <a:off x="1161391" y="2388522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3" name="배너"/>
          <p:cNvSpPr>
            <a:spLocks noGrp="1"/>
          </p:cNvSpPr>
          <p:nvPr>
            <p:ph type="body" sz="quarter" idx="31"/>
          </p:nvPr>
        </p:nvSpPr>
        <p:spPr>
          <a:xfrm>
            <a:off x="1161391" y="2388522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‘맞춤형 프로그램’을 통한 다양한 계층 튜아보기로 ‘일하고 싶은 문화’ 조성</a:t>
            </a:r>
          </a:p>
        </p:txBody>
      </p:sp>
      <p:sp>
        <p:nvSpPr>
          <p:cNvPr id="34" name="레일"/>
          <p:cNvSpPr/>
          <p:nvPr/>
        </p:nvSpPr>
        <p:spPr>
          <a:xfrm>
            <a:off x="547826" y="2629565"/>
            <a:ext cx="580696" cy="1090174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5" name="레일 태그"/>
          <p:cNvSpPr/>
          <p:nvPr/>
        </p:nvSpPr>
        <p:spPr>
          <a:xfrm>
            <a:off x="488856" y="2793913"/>
            <a:ext cx="69863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6" name="레일 태그"/>
          <p:cNvSpPr>
            <a:spLocks noGrp="1"/>
          </p:cNvSpPr>
          <p:nvPr>
            <p:ph type="body" sz="quarter" idx="32"/>
          </p:nvPr>
        </p:nvSpPr>
        <p:spPr>
          <a:xfrm>
            <a:off x="488856" y="2793913"/>
            <a:ext cx="69863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일하는 방식</a:t>
            </a:r>
          </a:p>
        </p:txBody>
      </p:sp>
      <p:sp>
        <p:nvSpPr>
          <p:cNvPr id="37" name="레일 라벨"/>
          <p:cNvSpPr>
            <a:spLocks noGrp="1"/>
          </p:cNvSpPr>
          <p:nvPr>
            <p:ph type="body" sz="quarter" idx="33"/>
          </p:nvPr>
        </p:nvSpPr>
        <p:spPr>
          <a:xfrm>
            <a:off x="547826" y="2980174"/>
            <a:ext cx="580696" cy="717652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자유롭고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유연하게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일하기</a:t>
            </a:r>
          </a:p>
        </p:txBody>
      </p:sp>
      <p:sp>
        <p:nvSpPr>
          <p:cNvPr id="38" name="레일 삼각형"/>
          <p:cNvSpPr/>
          <p:nvPr/>
        </p:nvSpPr>
        <p:spPr>
          <a:xfrm>
            <a:off x="547826" y="2629565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9" name="머리칸"/>
          <p:cNvSpPr/>
          <p:nvPr/>
        </p:nvSpPr>
        <p:spPr>
          <a:xfrm>
            <a:off x="1161391" y="2651478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0" name="머리칸"/>
          <p:cNvSpPr>
            <a:spLocks noGrp="1"/>
          </p:cNvSpPr>
          <p:nvPr>
            <p:ph type="body" sz="quarter" idx="34"/>
          </p:nvPr>
        </p:nvSpPr>
        <p:spPr>
          <a:xfrm>
            <a:off x="1161391" y="2651478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자유로운 일방식 구현</a:t>
            </a:r>
          </a:p>
        </p:txBody>
      </p:sp>
      <p:sp>
        <p:nvSpPr>
          <p:cNvPr id="41" name="머리칸"/>
          <p:cNvSpPr/>
          <p:nvPr/>
        </p:nvSpPr>
        <p:spPr>
          <a:xfrm>
            <a:off x="3985435" y="2651478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2" name="머리칸"/>
          <p:cNvSpPr>
            <a:spLocks noGrp="1"/>
          </p:cNvSpPr>
          <p:nvPr>
            <p:ph type="body" sz="quarter" idx="35"/>
          </p:nvPr>
        </p:nvSpPr>
        <p:spPr>
          <a:xfrm>
            <a:off x="3985435" y="2651478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일과 쉼의 조화 ‘워터케이션’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36"/>
          </p:nvPr>
        </p:nvSpPr>
        <p:spPr>
          <a:xfrm>
            <a:off x="1172348" y="2892522"/>
            <a:ext cx="2802130" cy="821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집중근무·디지털 오피스 근무여건 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탄력적 근무제도 도입(15분 단위 휴가사용)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근무시간 총량제 → 스마트 업무환경 → 근무시간 유연화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37"/>
          </p:nvPr>
        </p:nvSpPr>
        <p:spPr>
          <a:xfrm>
            <a:off x="3996391" y="2892522"/>
            <a:ext cx="2802130" cy="821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 일과 쉼의 조화 ‘워터케이션’: 동료型 이색장소 연계 새로운 인사이트 모색 / 가족型 집중근무 후 가족 여가·체험 활동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동료 업무 몰입도↑ 가족 일·가정 양립 만족도↑</a:t>
            </a:r>
          </a:p>
        </p:txBody>
      </p:sp>
      <p:cxnSp>
        <p:nvCxnSpPr>
          <p:cNvPr id="45" name="Connector 31"/>
          <p:cNvCxnSpPr/>
          <p:nvPr/>
        </p:nvCxnSpPr>
        <p:spPr>
          <a:xfrm>
            <a:off x="3985435" y="2925391"/>
            <a:ext cx="0" cy="75600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6" name="핵심성과 박스"/>
          <p:cNvSpPr/>
          <p:nvPr/>
        </p:nvSpPr>
        <p:spPr>
          <a:xfrm>
            <a:off x="536870" y="3823826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7" name="핵심성과 라벨"/>
          <p:cNvSpPr/>
          <p:nvPr/>
        </p:nvSpPr>
        <p:spPr>
          <a:xfrm>
            <a:off x="569739" y="3856696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8" name="핵심성과 라벨"/>
          <p:cNvSpPr>
            <a:spLocks noGrp="1"/>
          </p:cNvSpPr>
          <p:nvPr>
            <p:ph type="body" sz="quarter" idx="38"/>
          </p:nvPr>
        </p:nvSpPr>
        <p:spPr>
          <a:xfrm>
            <a:off x="569739" y="3856696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9" name="핵심성과 문구"/>
          <p:cNvSpPr>
            <a:spLocks noGrp="1"/>
          </p:cNvSpPr>
          <p:nvPr>
            <p:ph type="body" sz="quarter" idx="39"/>
          </p:nvPr>
        </p:nvSpPr>
        <p:spPr>
          <a:xfrm>
            <a:off x="1314783" y="3845739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직원만족 신뢰경영지수 역대 최고점수 91점 달성(응답률 역대최다 53.6%, 전년比 4점↑)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대외인정 ‘아시아에서 가장 일하기 좋은 200대 기업’ 포함(대기업 부문 22위, GPTW, ’25.9)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60 서사 · 노사관계 지표 표지(가중치 · 평가방법 · 지표정의 · 세부평가내용 · 지표관리부서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주석"/>
          <p:cNvSpPr>
            <a:spLocks noGrp="1"/>
          </p:cNvSpPr>
          <p:nvPr>
            <p:ph type="body" sz="quarter" idx="20"/>
          </p:nvPr>
        </p:nvSpPr>
        <p:spPr>
          <a:xfrm>
            <a:off x="2366609" y="777913"/>
            <a:ext cx="4656522" cy="17530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3B4951"/>
                </a:solidFill>
                <a:latin typeface="Pretendard"/>
                <a:ea typeface="Pretendard"/>
              </a:rPr>
              <a:t>가중치 2.5점  ·  평가방법 9등급 평가</a:t>
            </a:r>
          </a:p>
        </p:txBody>
      </p:sp>
      <p:sp>
        <p:nvSpPr>
          <p:cNvPr id="10" name="장 제목 띠"/>
          <p:cNvSpPr/>
          <p:nvPr/>
        </p:nvSpPr>
        <p:spPr>
          <a:xfrm>
            <a:off x="723130" y="1029913"/>
            <a:ext cx="6300000" cy="421826"/>
          </a:xfrm>
          <a:prstGeom prst="rect">
            <a:avLst/>
          </a:prstGeom>
          <a:solidFill>
            <a:srgbClr val="FFFFFF"/>
          </a:solidFill>
          <a:ln w="28575">
            <a:solidFill>
              <a:srgbClr val="0051BC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CI 칸"/>
          <p:cNvSpPr/>
          <p:nvPr/>
        </p:nvSpPr>
        <p:spPr>
          <a:xfrm>
            <a:off x="5587826" y="1035391"/>
            <a:ext cx="1429826" cy="410870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2" name="장 제목"/>
          <p:cNvSpPr>
            <a:spLocks noGrp="1"/>
          </p:cNvSpPr>
          <p:nvPr>
            <p:ph type="body" sz="quarter" idx="21"/>
          </p:nvPr>
        </p:nvSpPr>
        <p:spPr>
          <a:xfrm>
            <a:off x="997043" y="1040870"/>
            <a:ext cx="4590783" cy="399913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800" b="1" spc="-9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800" b="1" spc="-90" dirty="0">
                <a:solidFill>
                  <a:srgbClr val="000359"/>
                </a:solidFill>
                <a:latin typeface="Pretendard"/>
                <a:ea typeface="Pretendard"/>
              </a:rPr>
              <a:t>노사관계</a:t>
            </a:r>
          </a:p>
        </p:txBody>
      </p:sp>
      <p:pic>
        <p:nvPicPr>
          <p:cNvPr id="13" name="KORAD CI" descr="korad-ci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24783" y="1133169"/>
            <a:ext cx="1161391" cy="215314"/>
          </a:xfrm>
          <a:prstGeom prst="rect">
            <a:avLst/>
          </a:prstGeom>
        </p:spPr>
      </p:pic>
      <p:sp>
        <p:nvSpPr>
          <p:cNvPr id="14" name="라벨 박스"/>
          <p:cNvSpPr/>
          <p:nvPr/>
        </p:nvSpPr>
        <p:spPr>
          <a:xfrm>
            <a:off x="723130" y="1506522"/>
            <a:ext cx="6300000" cy="29034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734087" y="1517478"/>
            <a:ext cx="591652" cy="26843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517478"/>
            <a:ext cx="591652" cy="268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지표정의</a:t>
            </a:r>
          </a:p>
        </p:txBody>
      </p:sp>
      <p:sp>
        <p:nvSpPr>
          <p:cNvPr id="17" name="본문"/>
          <p:cNvSpPr>
            <a:spLocks noGrp="1"/>
          </p:cNvSpPr>
          <p:nvPr>
            <p:ph type="body" sz="quarter" idx="23"/>
          </p:nvPr>
        </p:nvSpPr>
        <p:spPr>
          <a:xfrm>
            <a:off x="1358609" y="1522957"/>
            <a:ext cx="5631652" cy="257478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협력적 노사관계를 위한 노력과 성과를 평가한다.</a:t>
            </a:r>
          </a:p>
        </p:txBody>
      </p:sp>
      <p:sp>
        <p:nvSpPr>
          <p:cNvPr id="18" name="라벨 박스"/>
          <p:cNvSpPr/>
          <p:nvPr/>
        </p:nvSpPr>
        <p:spPr>
          <a:xfrm>
            <a:off x="723130" y="1851652"/>
            <a:ext cx="6300000" cy="72328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레일"/>
          <p:cNvSpPr/>
          <p:nvPr/>
        </p:nvSpPr>
        <p:spPr>
          <a:xfrm>
            <a:off x="734087" y="1862609"/>
            <a:ext cx="591652" cy="701374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4"/>
          </p:nvPr>
        </p:nvSpPr>
        <p:spPr>
          <a:xfrm>
            <a:off x="734087" y="1862609"/>
            <a:ext cx="591652" cy="7013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세부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평가</a:t>
            </a:r>
          </a:p>
        </p:txBody>
      </p:sp>
      <p:sp>
        <p:nvSpPr>
          <p:cNvPr id="21" name="본문"/>
          <p:cNvSpPr>
            <a:spLocks noGrp="1"/>
          </p:cNvSpPr>
          <p:nvPr>
            <p:ph type="body" sz="quarter" idx="25"/>
          </p:nvPr>
        </p:nvSpPr>
        <p:spPr>
          <a:xfrm>
            <a:off x="1358609" y="1868087"/>
            <a:ext cx="5631652" cy="69041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❶ 노사 간 협력체계 구축과 실질적 운영 등이 상호 협력과 참여에 기반하여 합리적이고 적법하게 이루어지고 있는지 여부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❷ 노사 간의 공감대 형성을 위한 의사소통과 노사관계 관리 역량 강화를 위한 노력과 성과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❸ 노사협력을 통한 근로조건의 실질적 향상과 구체적 성과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61 서사 · 노사관계 목차(Contents: Ⅰ·Ⅱ·Ⅲ 장 + 평가내용별 항목 · 쪽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장 제목 띠"/>
          <p:cNvSpPr/>
          <p:nvPr/>
        </p:nvSpPr>
        <p:spPr>
          <a:xfrm>
            <a:off x="536870" y="766957"/>
            <a:ext cx="6300000" cy="421826"/>
          </a:xfrm>
          <a:prstGeom prst="rect">
            <a:avLst/>
          </a:prstGeom>
          <a:solidFill>
            <a:srgbClr val="FFFFFF"/>
          </a:solidFill>
          <a:ln w="28575">
            <a:solidFill>
              <a:srgbClr val="0051BC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CI 칸"/>
          <p:cNvSpPr/>
          <p:nvPr/>
        </p:nvSpPr>
        <p:spPr>
          <a:xfrm>
            <a:off x="5401565" y="772435"/>
            <a:ext cx="1429826" cy="410870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2" name="장 제목"/>
          <p:cNvSpPr>
            <a:spLocks noGrp="1"/>
          </p:cNvSpPr>
          <p:nvPr>
            <p:ph type="body" sz="quarter" idx="20"/>
          </p:nvPr>
        </p:nvSpPr>
        <p:spPr>
          <a:xfrm>
            <a:off x="810783" y="777913"/>
            <a:ext cx="4590783" cy="399913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800" b="1" spc="-9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800" b="1" spc="-90" dirty="0">
                <a:solidFill>
                  <a:srgbClr val="000359"/>
                </a:solidFill>
                <a:latin typeface="Pretendard"/>
                <a:ea typeface="Pretendard"/>
              </a:rPr>
              <a:t>Contents</a:t>
            </a:r>
          </a:p>
        </p:txBody>
      </p:sp>
      <p:pic>
        <p:nvPicPr>
          <p:cNvPr id="13" name="KORAD CI" descr="korad-ci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538522" y="870213"/>
            <a:ext cx="1161391" cy="2153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62 서사 · 新노동 패러다임에 신속한 대응(정책기조 → 의견수렴 → 시사점 → 목표 · 4대 실행체계 · 9대 실행과제 → 대표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新노동 패러다임에 신속한 대응, 노사 全분야 펀더멘탈 확립</a:t>
            </a:r>
          </a:p>
        </p:txBody>
      </p:sp>
      <p:sp>
        <p:nvSpPr>
          <p:cNvPr id="14" name="표 외곽"/>
          <p:cNvSpPr/>
          <p:nvPr/>
        </p:nvSpPr>
        <p:spPr>
          <a:xfrm>
            <a:off x="723130" y="1128522"/>
            <a:ext cx="6300000" cy="2640522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734087" y="1144957"/>
            <a:ext cx="580696" cy="1413391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레일 태그"/>
          <p:cNvSpPr/>
          <p:nvPr/>
        </p:nvSpPr>
        <p:spPr>
          <a:xfrm>
            <a:off x="744637" y="1188783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17" name="레일 태그"/>
          <p:cNvSpPr>
            <a:spLocks noGrp="1"/>
          </p:cNvSpPr>
          <p:nvPr>
            <p:ph type="body" sz="quarter" idx="22"/>
          </p:nvPr>
        </p:nvSpPr>
        <p:spPr>
          <a:xfrm>
            <a:off x="744637" y="1188783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대외환경</a:t>
            </a:r>
          </a:p>
        </p:txBody>
      </p:sp>
      <p:sp>
        <p:nvSpPr>
          <p:cNvPr id="18" name="레일 라벨"/>
          <p:cNvSpPr>
            <a:spLocks noGrp="1"/>
          </p:cNvSpPr>
          <p:nvPr>
            <p:ph type="body" sz="quarter" idx="23"/>
          </p:nvPr>
        </p:nvSpPr>
        <p:spPr>
          <a:xfrm>
            <a:off x="734087" y="1375043"/>
            <a:ext cx="580696" cy="116139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 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 조</a:t>
            </a:r>
          </a:p>
        </p:txBody>
      </p:sp>
      <p:sp>
        <p:nvSpPr>
          <p:cNvPr id="19" name="배너"/>
          <p:cNvSpPr/>
          <p:nvPr/>
        </p:nvSpPr>
        <p:spPr>
          <a:xfrm>
            <a:off x="1347652" y="1166870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0" name="배너"/>
          <p:cNvSpPr>
            <a:spLocks noGrp="1"/>
          </p:cNvSpPr>
          <p:nvPr>
            <p:ph type="body" sz="quarter" idx="24"/>
          </p:nvPr>
        </p:nvSpPr>
        <p:spPr>
          <a:xfrm>
            <a:off x="1347652" y="1166870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국정과제 93 차별과 배제 없는 일터 · 94 노동존중, 노동기본권 보장 · 95 행복한 일터</a:t>
            </a:r>
          </a:p>
        </p:txBody>
      </p:sp>
      <p:sp>
        <p:nvSpPr>
          <p:cNvPr id="21" name="머리칸"/>
          <p:cNvSpPr/>
          <p:nvPr/>
        </p:nvSpPr>
        <p:spPr>
          <a:xfrm>
            <a:off x="1347652" y="140243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2" name="머리칸"/>
          <p:cNvSpPr>
            <a:spLocks noGrp="1"/>
          </p:cNvSpPr>
          <p:nvPr>
            <p:ph type="body" sz="quarter" idx="25"/>
          </p:nvPr>
        </p:nvSpPr>
        <p:spPr>
          <a:xfrm>
            <a:off x="1347652" y="140243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노동존중</a:t>
            </a:r>
          </a:p>
        </p:txBody>
      </p:sp>
      <p:sp>
        <p:nvSpPr>
          <p:cNvPr id="23" name="머리칸"/>
          <p:cNvSpPr/>
          <p:nvPr/>
        </p:nvSpPr>
        <p:spPr>
          <a:xfrm>
            <a:off x="3230348" y="140243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4" name="머리칸"/>
          <p:cNvSpPr>
            <a:spLocks noGrp="1"/>
          </p:cNvSpPr>
          <p:nvPr>
            <p:ph type="body" sz="quarter" idx="26"/>
          </p:nvPr>
        </p:nvSpPr>
        <p:spPr>
          <a:xfrm>
            <a:off x="3230348" y="140243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노동안전</a:t>
            </a:r>
          </a:p>
        </p:txBody>
      </p:sp>
      <p:sp>
        <p:nvSpPr>
          <p:cNvPr id="25" name="머리칸"/>
          <p:cNvSpPr/>
          <p:nvPr/>
        </p:nvSpPr>
        <p:spPr>
          <a:xfrm>
            <a:off x="5113043" y="140243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6" name="머리칸"/>
          <p:cNvSpPr>
            <a:spLocks noGrp="1"/>
          </p:cNvSpPr>
          <p:nvPr>
            <p:ph type="body" sz="quarter" idx="27"/>
          </p:nvPr>
        </p:nvSpPr>
        <p:spPr>
          <a:xfrm>
            <a:off x="5113043" y="140243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일·생활 균형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28"/>
          </p:nvPr>
        </p:nvSpPr>
        <p:spPr>
          <a:xfrm>
            <a:off x="1358609" y="1643478"/>
            <a:ext cx="1860783" cy="909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노조법 개정, 노동기본권 보장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공정한 노사교섭 환경 구축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9"/>
          </p:nvPr>
        </p:nvSpPr>
        <p:spPr>
          <a:xfrm>
            <a:off x="3241304" y="1643478"/>
            <a:ext cx="1860783" cy="909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중대재해 예방·관리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근로자 권익 보호 중시</a:t>
            </a:r>
          </a:p>
        </p:txBody>
      </p:sp>
      <p:cxnSp>
        <p:nvCxnSpPr>
          <p:cNvPr id="29" name="Connector 18"/>
          <p:cNvCxnSpPr/>
          <p:nvPr/>
        </p:nvCxnSpPr>
        <p:spPr>
          <a:xfrm>
            <a:off x="3230348" y="1676348"/>
            <a:ext cx="0" cy="8436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0" name="칸 본문"/>
          <p:cNvSpPr>
            <a:spLocks noGrp="1"/>
          </p:cNvSpPr>
          <p:nvPr>
            <p:ph type="body" sz="quarter" idx="30"/>
          </p:nvPr>
        </p:nvSpPr>
        <p:spPr>
          <a:xfrm>
            <a:off x="5124000" y="1643478"/>
            <a:ext cx="1860783" cy="909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 노동시간 단축 추진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일·가정 양립 지원 강화</a:t>
            </a:r>
          </a:p>
        </p:txBody>
      </p:sp>
      <p:cxnSp>
        <p:nvCxnSpPr>
          <p:cNvPr id="31" name="Connector 20"/>
          <p:cNvCxnSpPr/>
          <p:nvPr/>
        </p:nvCxnSpPr>
        <p:spPr>
          <a:xfrm>
            <a:off x="5113043" y="1676348"/>
            <a:ext cx="0" cy="8436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2" name="레일"/>
          <p:cNvSpPr/>
          <p:nvPr/>
        </p:nvSpPr>
        <p:spPr>
          <a:xfrm>
            <a:off x="734087" y="2574783"/>
            <a:ext cx="580696" cy="1177826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3" name="레일 태그"/>
          <p:cNvSpPr/>
          <p:nvPr/>
        </p:nvSpPr>
        <p:spPr>
          <a:xfrm>
            <a:off x="744637" y="2739130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4" name="레일 태그"/>
          <p:cNvSpPr>
            <a:spLocks noGrp="1"/>
          </p:cNvSpPr>
          <p:nvPr>
            <p:ph type="body" sz="quarter" idx="31"/>
          </p:nvPr>
        </p:nvSpPr>
        <p:spPr>
          <a:xfrm>
            <a:off x="744637" y="2739130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대내환경</a:t>
            </a:r>
          </a:p>
        </p:txBody>
      </p:sp>
      <p:sp>
        <p:nvSpPr>
          <p:cNvPr id="35" name="레일 라벨"/>
          <p:cNvSpPr>
            <a:spLocks noGrp="1"/>
          </p:cNvSpPr>
          <p:nvPr>
            <p:ph type="body" sz="quarter" idx="32"/>
          </p:nvPr>
        </p:nvSpPr>
        <p:spPr>
          <a:xfrm>
            <a:off x="734087" y="2925391"/>
            <a:ext cx="580696" cy="805304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의 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 렴</a:t>
            </a:r>
          </a:p>
        </p:txBody>
      </p:sp>
      <p:sp>
        <p:nvSpPr>
          <p:cNvPr id="36" name="레일 삼각형"/>
          <p:cNvSpPr/>
          <p:nvPr/>
        </p:nvSpPr>
        <p:spPr>
          <a:xfrm>
            <a:off x="734086" y="2574782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7" name="머리칸"/>
          <p:cNvSpPr/>
          <p:nvPr/>
        </p:nvSpPr>
        <p:spPr>
          <a:xfrm>
            <a:off x="1347652" y="259669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8" name="머리칸"/>
          <p:cNvSpPr>
            <a:spLocks noGrp="1"/>
          </p:cNvSpPr>
          <p:nvPr>
            <p:ph type="body" sz="quarter" idx="33"/>
          </p:nvPr>
        </p:nvSpPr>
        <p:spPr>
          <a:xfrm>
            <a:off x="1347652" y="259669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(使) K-water 소통</a:t>
            </a:r>
          </a:p>
        </p:txBody>
      </p:sp>
      <p:sp>
        <p:nvSpPr>
          <p:cNvPr id="39" name="머리칸"/>
          <p:cNvSpPr/>
          <p:nvPr/>
        </p:nvSpPr>
        <p:spPr>
          <a:xfrm>
            <a:off x="3230348" y="259669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0" name="머리칸"/>
          <p:cNvSpPr>
            <a:spLocks noGrp="1"/>
          </p:cNvSpPr>
          <p:nvPr>
            <p:ph type="body" sz="quarter" idx="34"/>
          </p:nvPr>
        </p:nvSpPr>
        <p:spPr>
          <a:xfrm>
            <a:off x="3230348" y="259669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임직원 니즈 공정·미래</a:t>
            </a:r>
          </a:p>
        </p:txBody>
      </p:sp>
      <p:sp>
        <p:nvSpPr>
          <p:cNvPr id="41" name="머리칸"/>
          <p:cNvSpPr/>
          <p:nvPr/>
        </p:nvSpPr>
        <p:spPr>
          <a:xfrm>
            <a:off x="5113043" y="259669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2" name="머리칸"/>
          <p:cNvSpPr>
            <a:spLocks noGrp="1"/>
          </p:cNvSpPr>
          <p:nvPr>
            <p:ph type="body" sz="quarter" idx="35"/>
          </p:nvPr>
        </p:nvSpPr>
        <p:spPr>
          <a:xfrm>
            <a:off x="5113043" y="259669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(勞) 노동조합 공정·협력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36"/>
          </p:nvPr>
        </p:nvSpPr>
        <p:spPr>
          <a:xfrm>
            <a:off x="1358609" y="2837739"/>
            <a:ext cx="1860783" cy="909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노사법치주의 토대 상생협력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최적 노무리스크 관리 필요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37"/>
          </p:nvPr>
        </p:nvSpPr>
        <p:spPr>
          <a:xfrm>
            <a:off x="3241304" y="2837739"/>
            <a:ext cx="1860783" cy="909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일·가정 양립 요구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노무역량 필요성 인지</a:t>
            </a:r>
          </a:p>
        </p:txBody>
      </p:sp>
      <p:cxnSp>
        <p:nvCxnSpPr>
          <p:cNvPr id="45" name="Connector 30"/>
          <p:cNvCxnSpPr/>
          <p:nvPr/>
        </p:nvCxnSpPr>
        <p:spPr>
          <a:xfrm>
            <a:off x="3230348" y="2870609"/>
            <a:ext cx="0" cy="8436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6" name="칸 본문"/>
          <p:cNvSpPr>
            <a:spLocks noGrp="1"/>
          </p:cNvSpPr>
          <p:nvPr>
            <p:ph type="body" sz="quarter" idx="38"/>
          </p:nvPr>
        </p:nvSpPr>
        <p:spPr>
          <a:xfrm>
            <a:off x="5124000" y="2837739"/>
            <a:ext cx="1860783" cy="909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노동법 개정에 따른 역할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조합원 근로조건 향상에 집중</a:t>
            </a:r>
          </a:p>
        </p:txBody>
      </p:sp>
      <p:cxnSp>
        <p:nvCxnSpPr>
          <p:cNvPr id="47" name="Connector 32"/>
          <p:cNvCxnSpPr/>
          <p:nvPr/>
        </p:nvCxnSpPr>
        <p:spPr>
          <a:xfrm>
            <a:off x="5113043" y="2870609"/>
            <a:ext cx="0" cy="8436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8" name="캡션 띠"/>
          <p:cNvSpPr/>
          <p:nvPr/>
        </p:nvSpPr>
        <p:spPr>
          <a:xfrm>
            <a:off x="723130" y="3790956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9" name="태그"/>
          <p:cNvSpPr/>
          <p:nvPr/>
        </p:nvSpPr>
        <p:spPr>
          <a:xfrm>
            <a:off x="1051826" y="3834783"/>
            <a:ext cx="438871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50" name="태그"/>
          <p:cNvSpPr>
            <a:spLocks noGrp="1"/>
          </p:cNvSpPr>
          <p:nvPr>
            <p:ph type="body" sz="quarter" idx="39"/>
          </p:nvPr>
        </p:nvSpPr>
        <p:spPr>
          <a:xfrm>
            <a:off x="1051826" y="3834783"/>
            <a:ext cx="438871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51" name="캡션"/>
          <p:cNvSpPr>
            <a:spLocks noGrp="1"/>
          </p:cNvSpPr>
          <p:nvPr>
            <p:ph type="body" sz="quarter" idx="40"/>
          </p:nvPr>
        </p:nvSpPr>
        <p:spPr>
          <a:xfrm>
            <a:off x="1545480" y="3790957"/>
            <a:ext cx="5258520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중장기 노사 발전전략 미션 + 新정책환경 + 노사니즈의 정합 필요</a:t>
            </a:r>
          </a:p>
        </p:txBody>
      </p:sp>
      <p:sp>
        <p:nvSpPr>
          <p:cNvPr id="52" name="표 외곽"/>
          <p:cNvSpPr/>
          <p:nvPr/>
        </p:nvSpPr>
        <p:spPr>
          <a:xfrm>
            <a:off x="723130" y="4097739"/>
            <a:ext cx="6300000" cy="305827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3" name="레일"/>
          <p:cNvSpPr/>
          <p:nvPr/>
        </p:nvSpPr>
        <p:spPr>
          <a:xfrm>
            <a:off x="734087" y="4114174"/>
            <a:ext cx="580696" cy="2534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4" name="레일"/>
          <p:cNvSpPr>
            <a:spLocks noGrp="1"/>
          </p:cNvSpPr>
          <p:nvPr>
            <p:ph type="body" sz="quarter" idx="41"/>
          </p:nvPr>
        </p:nvSpPr>
        <p:spPr>
          <a:xfrm>
            <a:off x="734087" y="4114174"/>
            <a:ext cx="580696" cy="2534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목 표</a:t>
            </a:r>
          </a:p>
        </p:txBody>
      </p:sp>
      <p:sp>
        <p:nvSpPr>
          <p:cNvPr id="55" name="배너"/>
          <p:cNvSpPr/>
          <p:nvPr/>
        </p:nvSpPr>
        <p:spPr>
          <a:xfrm>
            <a:off x="1347652" y="4136087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56" name="배너"/>
          <p:cNvSpPr>
            <a:spLocks noGrp="1"/>
          </p:cNvSpPr>
          <p:nvPr>
            <p:ph type="body" sz="quarter" idx="42"/>
          </p:nvPr>
        </p:nvSpPr>
        <p:spPr>
          <a:xfrm>
            <a:off x="1347652" y="4136087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법과 원칙을 기반으로 상생협력을 지향하는 ‘4대 노사협력 실행체계’ 혁신</a:t>
            </a:r>
          </a:p>
        </p:txBody>
      </p:sp>
      <p:sp>
        <p:nvSpPr>
          <p:cNvPr id="57" name="레일"/>
          <p:cNvSpPr/>
          <p:nvPr/>
        </p:nvSpPr>
        <p:spPr>
          <a:xfrm>
            <a:off x="734087" y="4384017"/>
            <a:ext cx="580696" cy="2755565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8" name="레일"/>
          <p:cNvSpPr>
            <a:spLocks noGrp="1"/>
          </p:cNvSpPr>
          <p:nvPr>
            <p:ph type="body" sz="quarter" idx="43"/>
          </p:nvPr>
        </p:nvSpPr>
        <p:spPr>
          <a:xfrm>
            <a:off x="734087" y="4384017"/>
            <a:ext cx="580696" cy="2755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4 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실행체계</a:t>
            </a:r>
          </a:p>
        </p:txBody>
      </p:sp>
      <p:sp>
        <p:nvSpPr>
          <p:cNvPr id="59" name="레일 삼각형"/>
          <p:cNvSpPr/>
          <p:nvPr/>
        </p:nvSpPr>
        <p:spPr>
          <a:xfrm>
            <a:off x="734086" y="4384017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0" name="칸 본문"/>
          <p:cNvSpPr>
            <a:spLocks noGrp="1"/>
          </p:cNvSpPr>
          <p:nvPr>
            <p:ph type="body" sz="quarter" idx="44"/>
          </p:nvPr>
        </p:nvSpPr>
        <p:spPr>
          <a:xfrm>
            <a:off x="1358609" y="4405930"/>
            <a:ext cx="1390109" cy="120521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 운영방향 재수립: 중장기 전략 Rolling, 9대 실행과제 도출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핵심가치 등 노사전략에 부합하는 ’25년 방향수립</a:t>
            </a:r>
          </a:p>
        </p:txBody>
      </p:sp>
      <p:sp>
        <p:nvSpPr>
          <p:cNvPr id="61" name="칸 본문"/>
          <p:cNvSpPr>
            <a:spLocks noGrp="1"/>
          </p:cNvSpPr>
          <p:nvPr>
            <p:ph type="body" sz="quarter" idx="45"/>
          </p:nvPr>
        </p:nvSpPr>
        <p:spPr>
          <a:xfrm>
            <a:off x="2770630" y="4405930"/>
            <a:ext cx="1390109" cy="120521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조직 전담조직 신설: 노사담당 독립 부서격상, 법·제도 담당 부(部) 신설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노사협력처 부서격상, 노무담당 인원 2배 증원(12명)</a:t>
            </a:r>
          </a:p>
        </p:txBody>
      </p:sp>
      <p:cxnSp>
        <p:nvCxnSpPr>
          <p:cNvPr id="62" name="Connector 43"/>
          <p:cNvCxnSpPr/>
          <p:nvPr/>
        </p:nvCxnSpPr>
        <p:spPr>
          <a:xfrm>
            <a:off x="2759674" y="4438800"/>
            <a:ext cx="0" cy="113947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3" name="칸 본문"/>
          <p:cNvSpPr>
            <a:spLocks noGrp="1"/>
          </p:cNvSpPr>
          <p:nvPr>
            <p:ph type="body" sz="quarter" idx="46"/>
          </p:nvPr>
        </p:nvSpPr>
        <p:spPr>
          <a:xfrm>
            <a:off x="4182652" y="4405930"/>
            <a:ext cx="1390109" cy="120521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시스템 K-노무포털 신설: 데이터 기반 투명한 노사관계 확립 지원·관리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L-Guard, 노사협의회 관리, 노동정책·자료 공유</a:t>
            </a:r>
          </a:p>
        </p:txBody>
      </p:sp>
      <p:cxnSp>
        <p:nvCxnSpPr>
          <p:cNvPr id="64" name="Connector 45"/>
          <p:cNvCxnSpPr/>
          <p:nvPr/>
        </p:nvCxnSpPr>
        <p:spPr>
          <a:xfrm>
            <a:off x="4171696" y="4438800"/>
            <a:ext cx="0" cy="113947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5" name="칸 본문"/>
          <p:cNvSpPr>
            <a:spLocks noGrp="1"/>
          </p:cNvSpPr>
          <p:nvPr>
            <p:ph type="body" sz="quarter" idx="47"/>
          </p:nvPr>
        </p:nvSpPr>
        <p:spPr>
          <a:xfrm>
            <a:off x="5594674" y="4405930"/>
            <a:ext cx="1390109" cy="120521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제도 단체협약 등 개정: 노동존중 등 정부정책 선도 기반 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건강한 노사관계, 근로자 안전, 일·가정 양립 등 21건 개정</a:t>
            </a:r>
          </a:p>
        </p:txBody>
      </p:sp>
      <p:cxnSp>
        <p:nvCxnSpPr>
          <p:cNvPr id="66" name="Connector 47"/>
          <p:cNvCxnSpPr/>
          <p:nvPr/>
        </p:nvCxnSpPr>
        <p:spPr>
          <a:xfrm>
            <a:off x="5583717" y="4438800"/>
            <a:ext cx="0" cy="113947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7" name="배너"/>
          <p:cNvSpPr/>
          <p:nvPr/>
        </p:nvSpPr>
        <p:spPr>
          <a:xfrm>
            <a:off x="1347652" y="5627583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68" name="배너"/>
          <p:cNvSpPr>
            <a:spLocks noGrp="1"/>
          </p:cNvSpPr>
          <p:nvPr>
            <p:ph type="body" sz="quarter" idx="48"/>
          </p:nvPr>
        </p:nvSpPr>
        <p:spPr>
          <a:xfrm>
            <a:off x="1347652" y="5627583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중장기 Mission에 정합한 ’25년 노사관계 운영방향 9대 실행과제</a:t>
            </a:r>
          </a:p>
        </p:txBody>
      </p:sp>
      <p:sp>
        <p:nvSpPr>
          <p:cNvPr id="69" name="단계"/>
          <p:cNvSpPr/>
          <p:nvPr/>
        </p:nvSpPr>
        <p:spPr>
          <a:xfrm>
            <a:off x="1347652" y="5863148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0" name="단계"/>
          <p:cNvSpPr>
            <a:spLocks noGrp="1"/>
          </p:cNvSpPr>
          <p:nvPr>
            <p:ph type="body" sz="quarter" idx="49"/>
          </p:nvPr>
        </p:nvSpPr>
        <p:spPr>
          <a:xfrm>
            <a:off x="1347652" y="586314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공정과 협력의 노사관계</a:t>
            </a:r>
          </a:p>
        </p:txBody>
      </p:sp>
      <p:sp>
        <p:nvSpPr>
          <p:cNvPr id="71" name="단계"/>
          <p:cNvSpPr/>
          <p:nvPr/>
        </p:nvSpPr>
        <p:spPr>
          <a:xfrm>
            <a:off x="3230348" y="5863148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2" name="단계"/>
          <p:cNvSpPr>
            <a:spLocks noGrp="1"/>
          </p:cNvSpPr>
          <p:nvPr>
            <p:ph type="body" sz="quarter" idx="50"/>
          </p:nvPr>
        </p:nvSpPr>
        <p:spPr>
          <a:xfrm>
            <a:off x="3230348" y="586314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맞춤형 소통과 미래 역량 확보</a:t>
            </a:r>
          </a:p>
        </p:txBody>
      </p:sp>
      <p:sp>
        <p:nvSpPr>
          <p:cNvPr id="73" name="단계"/>
          <p:cNvSpPr/>
          <p:nvPr/>
        </p:nvSpPr>
        <p:spPr>
          <a:xfrm>
            <a:off x="5113043" y="5863148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4" name="단계"/>
          <p:cNvSpPr>
            <a:spLocks noGrp="1"/>
          </p:cNvSpPr>
          <p:nvPr>
            <p:ph type="body" sz="quarter" idx="51"/>
          </p:nvPr>
        </p:nvSpPr>
        <p:spPr>
          <a:xfrm>
            <a:off x="5113043" y="5863148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협력 중심 미래 근로조건 향상</a:t>
            </a:r>
          </a:p>
        </p:txBody>
      </p:sp>
      <p:sp>
        <p:nvSpPr>
          <p:cNvPr id="75" name="단계 삼각형"/>
          <p:cNvSpPr/>
          <p:nvPr/>
        </p:nvSpPr>
        <p:spPr>
          <a:xfrm>
            <a:off x="3230347" y="5863147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6" name="단계 삼각형"/>
          <p:cNvSpPr/>
          <p:nvPr/>
        </p:nvSpPr>
        <p:spPr>
          <a:xfrm>
            <a:off x="5113043" y="5863147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7" name="칸 본문"/>
          <p:cNvSpPr>
            <a:spLocks noGrp="1"/>
          </p:cNvSpPr>
          <p:nvPr>
            <p:ph type="body" sz="quarter" idx="52"/>
          </p:nvPr>
        </p:nvSpPr>
        <p:spPr>
          <a:xfrm>
            <a:off x="1358609" y="6115148"/>
            <a:ext cx="1860783" cy="1018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협력적 노사기준 재정립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K-노무포털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갈등 관리체계 2.0 도입</a:t>
            </a:r>
          </a:p>
        </p:txBody>
      </p:sp>
      <p:sp>
        <p:nvSpPr>
          <p:cNvPr id="78" name="칸 본문"/>
          <p:cNvSpPr>
            <a:spLocks noGrp="1"/>
          </p:cNvSpPr>
          <p:nvPr>
            <p:ph type="body" sz="quarter" idx="53"/>
          </p:nvPr>
        </p:nvSpPr>
        <p:spPr>
          <a:xfrm>
            <a:off x="3241304" y="6115148"/>
            <a:ext cx="1860783" cy="1018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교차식 노사소통 창구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新노동이사 진단체계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노무역량강화 모델 구조화</a:t>
            </a:r>
          </a:p>
        </p:txBody>
      </p:sp>
      <p:cxnSp>
        <p:nvCxnSpPr>
          <p:cNvPr id="79" name="Connector 56"/>
          <p:cNvCxnSpPr/>
          <p:nvPr/>
        </p:nvCxnSpPr>
        <p:spPr>
          <a:xfrm>
            <a:off x="3230348" y="6148017"/>
            <a:ext cx="0" cy="95321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0" name="칸 본문"/>
          <p:cNvSpPr>
            <a:spLocks noGrp="1"/>
          </p:cNvSpPr>
          <p:nvPr>
            <p:ph type="body" sz="quarter" idx="54"/>
          </p:nvPr>
        </p:nvSpPr>
        <p:spPr>
          <a:xfrm>
            <a:off x="5124000" y="6115148"/>
            <a:ext cx="1860783" cy="1018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갈등별 구체적 솔루션 도출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無분규 제19차 단체협약 개정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가족·안전분야 근로조건 혁신</a:t>
            </a:r>
          </a:p>
        </p:txBody>
      </p:sp>
      <p:cxnSp>
        <p:nvCxnSpPr>
          <p:cNvPr id="81" name="Connector 58"/>
          <p:cNvCxnSpPr/>
          <p:nvPr/>
        </p:nvCxnSpPr>
        <p:spPr>
          <a:xfrm>
            <a:off x="5113043" y="6148017"/>
            <a:ext cx="0" cy="95321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2" name="틀"/>
          <p:cNvSpPr/>
          <p:nvPr/>
        </p:nvSpPr>
        <p:spPr>
          <a:xfrm>
            <a:off x="723130" y="7221757"/>
            <a:ext cx="6300000" cy="1051826"/>
          </a:xfrm>
          <a:prstGeom prst="rect">
            <a:avLst/>
          </a:prstGeom>
          <a:solidFill>
            <a:srgbClr val="FFFFFF"/>
          </a:solidFill>
          <a:ln w="12700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3" name="성과 라벨"/>
          <p:cNvSpPr/>
          <p:nvPr/>
        </p:nvSpPr>
        <p:spPr>
          <a:xfrm>
            <a:off x="734087" y="7232713"/>
            <a:ext cx="580696" cy="1029913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84" name="성과 라벨"/>
          <p:cNvSpPr>
            <a:spLocks noGrp="1"/>
          </p:cNvSpPr>
          <p:nvPr>
            <p:ph type="body" sz="quarter" idx="55"/>
          </p:nvPr>
        </p:nvSpPr>
        <p:spPr>
          <a:xfrm>
            <a:off x="734087" y="7232713"/>
            <a:ext cx="580696" cy="10299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대표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성과</a:t>
            </a:r>
          </a:p>
        </p:txBody>
      </p:sp>
      <p:sp>
        <p:nvSpPr>
          <p:cNvPr id="85" name="성과 띠"/>
          <p:cNvSpPr/>
          <p:nvPr/>
        </p:nvSpPr>
        <p:spPr>
          <a:xfrm>
            <a:off x="1358609" y="7254626"/>
            <a:ext cx="5631652" cy="20817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86" name="성과 띠"/>
          <p:cNvSpPr>
            <a:spLocks noGrp="1"/>
          </p:cNvSpPr>
          <p:nvPr>
            <p:ph type="body" sz="quarter" idx="56"/>
          </p:nvPr>
        </p:nvSpPr>
        <p:spPr>
          <a:xfrm>
            <a:off x="1358609" y="7254626"/>
            <a:ext cx="5631652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노동법 위반, 시정명령 ‘Zero’ · 신뢰경영지수 역대 최고 · 공공기관 종합청렴도 1등급</a:t>
            </a:r>
          </a:p>
        </p:txBody>
      </p:sp>
      <p:sp>
        <p:nvSpPr>
          <p:cNvPr id="87" name="카드"/>
          <p:cNvSpPr/>
          <p:nvPr/>
        </p:nvSpPr>
        <p:spPr>
          <a:xfrm>
            <a:off x="1358609" y="7495670"/>
            <a:ext cx="1848000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8" name="카드 문구"/>
          <p:cNvSpPr>
            <a:spLocks noGrp="1"/>
          </p:cNvSpPr>
          <p:nvPr>
            <p:ph type="body" sz="quarter" idx="57"/>
          </p:nvPr>
        </p:nvSpPr>
        <p:spPr>
          <a:xfrm>
            <a:off x="1380522" y="7506626"/>
            <a:ext cx="1826087" cy="72313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노동법 위반·시정명령 Zero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노사관계 만족도 0.7점↑(91.6 → 92.3점)</a:t>
            </a:r>
          </a:p>
        </p:txBody>
      </p:sp>
      <p:sp>
        <p:nvSpPr>
          <p:cNvPr id="89" name="카드"/>
          <p:cNvSpPr/>
          <p:nvPr/>
        </p:nvSpPr>
        <p:spPr>
          <a:xfrm>
            <a:off x="3250435" y="7495670"/>
            <a:ext cx="1848000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0" name="카드 문구"/>
          <p:cNvSpPr>
            <a:spLocks noGrp="1"/>
          </p:cNvSpPr>
          <p:nvPr>
            <p:ph type="body" sz="quarter" idx="58"/>
          </p:nvPr>
        </p:nvSpPr>
        <p:spPr>
          <a:xfrm>
            <a:off x="3272348" y="7506626"/>
            <a:ext cx="1826087" cy="72313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신뢰경영지수 역대 최고점(91점)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아시아에서 일하기 좋은 기업 200대 선정, GPTW</a:t>
            </a:r>
          </a:p>
        </p:txBody>
      </p:sp>
      <p:sp>
        <p:nvSpPr>
          <p:cNvPr id="91" name="카드"/>
          <p:cNvSpPr/>
          <p:nvPr/>
        </p:nvSpPr>
        <p:spPr>
          <a:xfrm>
            <a:off x="5142261" y="7495670"/>
            <a:ext cx="1848000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2" name="카드 문구"/>
          <p:cNvSpPr>
            <a:spLocks noGrp="1"/>
          </p:cNvSpPr>
          <p:nvPr>
            <p:ph type="body" sz="quarter" idx="59"/>
          </p:nvPr>
        </p:nvSpPr>
        <p:spPr>
          <a:xfrm>
            <a:off x="5164174" y="7506626"/>
            <a:ext cx="1826087" cy="72313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공공기관 종합청렴도 ‘1등급’ 달성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공기업 31개 기관 中 1위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63 서사 · 노사기준 재정비 및 디지털 노무광장 오픈 도입(필수유지업무협정 개정 · 근로시간면제제도 재합의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법과 원칙에 따른 노사기준 재정비 및 참여형 디지털 노무광장 오픈</a:t>
            </a:r>
          </a:p>
        </p:txBody>
      </p:sp>
      <p:sp>
        <p:nvSpPr>
          <p:cNvPr id="15" name="형광 밑줄"/>
          <p:cNvSpPr/>
          <p:nvPr/>
        </p:nvSpPr>
        <p:spPr>
          <a:xfrm>
            <a:off x="536870" y="1347652"/>
            <a:ext cx="4301548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소제목"/>
          <p:cNvSpPr>
            <a:spLocks noGrp="1"/>
          </p:cNvSpPr>
          <p:nvPr>
            <p:ph type="body" sz="quarter" idx="22"/>
          </p:nvPr>
        </p:nvSpPr>
        <p:spPr>
          <a:xfrm>
            <a:off x="536870" y="1194261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노와 사 한마음으로 차질 없는 국민 물공급 실현 및 적법한 노동권 보장</a:t>
            </a:r>
          </a:p>
        </p:txBody>
      </p:sp>
      <p:sp>
        <p:nvSpPr>
          <p:cNvPr id="17" name="태그칩"/>
          <p:cNvSpPr/>
          <p:nvPr/>
        </p:nvSpPr>
        <p:spPr>
          <a:xfrm>
            <a:off x="4937027" y="1227130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태그칩"/>
          <p:cNvSpPr>
            <a:spLocks noGrp="1"/>
          </p:cNvSpPr>
          <p:nvPr>
            <p:ph type="body" sz="quarter" idx="23"/>
          </p:nvPr>
        </p:nvSpPr>
        <p:spPr>
          <a:xfrm>
            <a:off x="4937027" y="1227130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9" name="표 외곽"/>
          <p:cNvSpPr/>
          <p:nvPr/>
        </p:nvSpPr>
        <p:spPr>
          <a:xfrm>
            <a:off x="536870" y="1479130"/>
            <a:ext cx="6300000" cy="259121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0" name="레일"/>
          <p:cNvSpPr/>
          <p:nvPr/>
        </p:nvSpPr>
        <p:spPr>
          <a:xfrm>
            <a:off x="547826" y="1495565"/>
            <a:ext cx="580696" cy="9806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4"/>
          </p:nvPr>
        </p:nvSpPr>
        <p:spPr>
          <a:xfrm>
            <a:off x="547826" y="1495565"/>
            <a:ext cx="580696" cy="980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5"/>
          </p:nvPr>
        </p:nvSpPr>
        <p:spPr>
          <a:xfrm>
            <a:off x="1172348" y="1517478"/>
            <a:ext cx="2802130" cy="95321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공익 실현 국민생활과 경제의 안정성 확보를 위해 노동권(쟁의행위) 제한 범위 합리적 조정 필요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시설운영 강화 등 現 필수유지업무협정(’15년) 재검토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6"/>
          </p:nvPr>
        </p:nvSpPr>
        <p:spPr>
          <a:xfrm>
            <a:off x="3996391" y="1517478"/>
            <a:ext cx="2802130" cy="95321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적법성 확보 근로시간면제제도 관행을 탈피, 실제 활동시간 기반 합법적 조합활동 보장 필요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’19년 합의 후 소정근로시간에 대한 재계산 추진</a:t>
            </a:r>
          </a:p>
        </p:txBody>
      </p:sp>
      <p:cxnSp>
        <p:nvCxnSpPr>
          <p:cNvPr id="24" name="Connector 18"/>
          <p:cNvCxnSpPr/>
          <p:nvPr/>
        </p:nvCxnSpPr>
        <p:spPr>
          <a:xfrm>
            <a:off x="3985435" y="1550348"/>
            <a:ext cx="0" cy="88747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5" name="레일"/>
          <p:cNvSpPr/>
          <p:nvPr/>
        </p:nvSpPr>
        <p:spPr>
          <a:xfrm>
            <a:off x="547826" y="2492609"/>
            <a:ext cx="580696" cy="1561304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6" name="레일"/>
          <p:cNvSpPr>
            <a:spLocks noGrp="1"/>
          </p:cNvSpPr>
          <p:nvPr>
            <p:ph type="body" sz="quarter" idx="27"/>
          </p:nvPr>
        </p:nvSpPr>
        <p:spPr>
          <a:xfrm>
            <a:off x="547826" y="2492609"/>
            <a:ext cx="580696" cy="1561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추진내용</a:t>
            </a:r>
          </a:p>
        </p:txBody>
      </p:sp>
      <p:sp>
        <p:nvSpPr>
          <p:cNvPr id="27" name="레일 삼각형"/>
          <p:cNvSpPr/>
          <p:nvPr/>
        </p:nvSpPr>
        <p:spPr>
          <a:xfrm>
            <a:off x="547826" y="2492608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8"/>
          </p:nvPr>
        </p:nvSpPr>
        <p:spPr>
          <a:xfrm>
            <a:off x="1172348" y="2514522"/>
            <a:ext cx="2802130" cy="1533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필수유지업무협정 개정: 어떤 경우에도 24시간 안정적인 물공급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공사 측의 개정 필요성 제안 * 운영안정성 제고 및 변화된 시설 운영여건 반영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상호공감(교섭 4회) 기반 타결 / 물공급 시설 운영 중심 필수유지업무 비율 재조정: 운영업무(24시간 교대근무) 63% → 100%, 지원업무(일반행정 등) 40% → 20%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3996391" y="2514522"/>
            <a:ext cx="2802130" cy="1533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근로시간면제제도 재합의: 노사법치 기반, 건전한 노조활동 보장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노동조합 측 재검토 요청 * 소정근로시간(2,000시간)을 실제 휴일(토·일, 대체 등)로 계산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他기관 사례, 법률자문 기반 합의 / 매년 실제 활동시간 및 근로시간면제자 재산정: 면제한도 26,400시간, 활동시간 2,000시간, 전임직원 13.2명(고정) → 매년 계산(변동)</a:t>
            </a:r>
          </a:p>
        </p:txBody>
      </p:sp>
      <p:cxnSp>
        <p:nvCxnSpPr>
          <p:cNvPr id="30" name="Connector 23"/>
          <p:cNvCxnSpPr/>
          <p:nvPr/>
        </p:nvCxnSpPr>
        <p:spPr>
          <a:xfrm>
            <a:off x="3985435" y="2547391"/>
            <a:ext cx="0" cy="1468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핵심성과 박스"/>
          <p:cNvSpPr/>
          <p:nvPr/>
        </p:nvSpPr>
        <p:spPr>
          <a:xfrm>
            <a:off x="536870" y="4158000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2" name="핵심성과 라벨"/>
          <p:cNvSpPr/>
          <p:nvPr/>
        </p:nvSpPr>
        <p:spPr>
          <a:xfrm>
            <a:off x="569739" y="4196348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33" name="핵심성과 라벨"/>
          <p:cNvSpPr>
            <a:spLocks noGrp="1"/>
          </p:cNvSpPr>
          <p:nvPr>
            <p:ph type="body" sz="quarter" idx="30"/>
          </p:nvPr>
        </p:nvSpPr>
        <p:spPr>
          <a:xfrm>
            <a:off x="569739" y="4196348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4" name="핵심성과 문구"/>
          <p:cNvSpPr>
            <a:spLocks noGrp="1"/>
          </p:cNvSpPr>
          <p:nvPr>
            <p:ph type="body" sz="quarter" idx="31"/>
          </p:nvPr>
        </p:nvSpPr>
        <p:spPr>
          <a:xfrm>
            <a:off x="1314783" y="4174435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부당노동행위 등을 포함한 노동관계 법령 위반 및 시정명령 건수 Zero 달성(2 → 0건)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64 서사 · K-노무포털(Portal) 런칭(성과환류 → 기존 L-Guard → 개선: 노사합의 관리시스템화 · 참여형 노무정보 HUB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4219690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체계적 노사합의 관리 및 정보공유의 場, ‘K-노무포털(Portal)’ 런칭</a:t>
            </a:r>
          </a:p>
        </p:txBody>
      </p:sp>
      <p:sp>
        <p:nvSpPr>
          <p:cNvPr id="11" name="태그칩"/>
          <p:cNvSpPr/>
          <p:nvPr/>
        </p:nvSpPr>
        <p:spPr>
          <a:xfrm>
            <a:off x="5041429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5041429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3" name="태그칩"/>
          <p:cNvSpPr/>
          <p:nvPr/>
        </p:nvSpPr>
        <p:spPr>
          <a:xfrm>
            <a:off x="5592550" y="810783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4" name="태그칩"/>
          <p:cNvSpPr>
            <a:spLocks noGrp="1"/>
          </p:cNvSpPr>
          <p:nvPr>
            <p:ph type="body" sz="quarter" idx="22"/>
          </p:nvPr>
        </p:nvSpPr>
        <p:spPr>
          <a:xfrm>
            <a:off x="5592550" y="810783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5" name="표 외곽"/>
          <p:cNvSpPr/>
          <p:nvPr/>
        </p:nvSpPr>
        <p:spPr>
          <a:xfrm>
            <a:off x="723130" y="1062783"/>
            <a:ext cx="6300000" cy="278295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레일"/>
          <p:cNvSpPr/>
          <p:nvPr/>
        </p:nvSpPr>
        <p:spPr>
          <a:xfrm>
            <a:off x="734087" y="1079217"/>
            <a:ext cx="580696" cy="1068261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레일"/>
          <p:cNvSpPr>
            <a:spLocks noGrp="1"/>
          </p:cNvSpPr>
          <p:nvPr>
            <p:ph type="body" sz="quarter" idx="23"/>
          </p:nvPr>
        </p:nvSpPr>
        <p:spPr>
          <a:xfrm>
            <a:off x="734087" y="1079217"/>
            <a:ext cx="580696" cy="1068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성과환류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4"/>
          </p:nvPr>
        </p:nvSpPr>
        <p:spPr>
          <a:xfrm>
            <a:off x="1358609" y="1101130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全사업장 준법경영 기반: 노동관계 법령 준수 및 리스크 해소를 위한 체계적 대응 시스템 L-Guard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사전예방 경각심 환기, 간부 자율점검 / 대응지원 시스템 등록, 전문가 대응 / 사후관리 위반사례 DB화, 상시 컨설팅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5"/>
          </p:nvPr>
        </p:nvSpPr>
        <p:spPr>
          <a:xfrm>
            <a:off x="4182652" y="1101130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환류 빈틈없는 합의관리 및 정보공유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노조법 ‘명백한 단체협약(노사협의회) 위반 방지’를 목표로 근본적 관리방식 개선 필요 / 직원 변화된 노동기준에 대한 관심 증가, 노무정보에 대한 전사적 접근성 확대 필요</a:t>
            </a:r>
          </a:p>
        </p:txBody>
      </p:sp>
      <p:cxnSp>
        <p:nvCxnSpPr>
          <p:cNvPr id="20" name="Connector 11"/>
          <p:cNvCxnSpPr/>
          <p:nvPr/>
        </p:nvCxnSpPr>
        <p:spPr>
          <a:xfrm>
            <a:off x="4171696" y="1134000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1" name="레일"/>
          <p:cNvSpPr/>
          <p:nvPr/>
        </p:nvSpPr>
        <p:spPr>
          <a:xfrm>
            <a:off x="734087" y="2163913"/>
            <a:ext cx="580696" cy="1665391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레일"/>
          <p:cNvSpPr>
            <a:spLocks noGrp="1"/>
          </p:cNvSpPr>
          <p:nvPr>
            <p:ph type="body" sz="quarter" idx="26"/>
          </p:nvPr>
        </p:nvSpPr>
        <p:spPr>
          <a:xfrm>
            <a:off x="734087" y="2163913"/>
            <a:ext cx="580696" cy="166539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K-노무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포 털</a:t>
            </a:r>
          </a:p>
        </p:txBody>
      </p:sp>
      <p:sp>
        <p:nvSpPr>
          <p:cNvPr id="23" name="레일 삼각형"/>
          <p:cNvSpPr/>
          <p:nvPr/>
        </p:nvSpPr>
        <p:spPr>
          <a:xfrm>
            <a:off x="734086" y="2163913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4" name="배너"/>
          <p:cNvSpPr/>
          <p:nvPr/>
        </p:nvSpPr>
        <p:spPr>
          <a:xfrm>
            <a:off x="1347652" y="2185826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5" name="배너"/>
          <p:cNvSpPr>
            <a:spLocks noGrp="1"/>
          </p:cNvSpPr>
          <p:nvPr>
            <p:ph type="body" sz="quarter" idx="27"/>
          </p:nvPr>
        </p:nvSpPr>
        <p:spPr>
          <a:xfrm>
            <a:off x="1347652" y="2185826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노동법 위반방지 + ’25년 노사합의사항 관리 체계화 + 정보전달</a:t>
            </a:r>
          </a:p>
        </p:txBody>
      </p:sp>
      <p:sp>
        <p:nvSpPr>
          <p:cNvPr id="26" name="단계"/>
          <p:cNvSpPr/>
          <p:nvPr/>
        </p:nvSpPr>
        <p:spPr>
          <a:xfrm>
            <a:off x="1347652" y="2421391"/>
            <a:ext cx="1129617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7" name="단계"/>
          <p:cNvSpPr>
            <a:spLocks noGrp="1"/>
          </p:cNvSpPr>
          <p:nvPr>
            <p:ph type="body" sz="quarter" idx="28"/>
          </p:nvPr>
        </p:nvSpPr>
        <p:spPr>
          <a:xfrm>
            <a:off x="1347652" y="2421391"/>
            <a:ext cx="112961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K-노무포털 기존 L-Guard + 개선</a:t>
            </a:r>
          </a:p>
        </p:txBody>
      </p:sp>
      <p:sp>
        <p:nvSpPr>
          <p:cNvPr id="28" name="단계"/>
          <p:cNvSpPr/>
          <p:nvPr/>
        </p:nvSpPr>
        <p:spPr>
          <a:xfrm>
            <a:off x="2477270" y="2421391"/>
            <a:ext cx="2259235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9" name="단계"/>
          <p:cNvSpPr>
            <a:spLocks noGrp="1"/>
          </p:cNvSpPr>
          <p:nvPr>
            <p:ph type="body" sz="quarter" idx="29"/>
          </p:nvPr>
        </p:nvSpPr>
        <p:spPr>
          <a:xfrm>
            <a:off x="2477270" y="2421391"/>
            <a:ext cx="2259235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노사합의 관리시스템화</a:t>
            </a:r>
          </a:p>
        </p:txBody>
      </p:sp>
      <p:sp>
        <p:nvSpPr>
          <p:cNvPr id="30" name="단계"/>
          <p:cNvSpPr/>
          <p:nvPr/>
        </p:nvSpPr>
        <p:spPr>
          <a:xfrm>
            <a:off x="4736504" y="2421391"/>
            <a:ext cx="2259235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1" name="단계"/>
          <p:cNvSpPr>
            <a:spLocks noGrp="1"/>
          </p:cNvSpPr>
          <p:nvPr>
            <p:ph type="body" sz="quarter" idx="30"/>
          </p:nvPr>
        </p:nvSpPr>
        <p:spPr>
          <a:xfrm>
            <a:off x="4736504" y="2421391"/>
            <a:ext cx="2259235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❷ 참여형 노무정보 HUB 구현</a:t>
            </a:r>
          </a:p>
        </p:txBody>
      </p:sp>
      <p:sp>
        <p:nvSpPr>
          <p:cNvPr id="32" name="단계 삼각형"/>
          <p:cNvSpPr/>
          <p:nvPr/>
        </p:nvSpPr>
        <p:spPr>
          <a:xfrm>
            <a:off x="2477269" y="2421391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3" name="단계 삼각형"/>
          <p:cNvSpPr/>
          <p:nvPr/>
        </p:nvSpPr>
        <p:spPr>
          <a:xfrm>
            <a:off x="4736504" y="2421391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1"/>
          </p:nvPr>
        </p:nvSpPr>
        <p:spPr>
          <a:xfrm>
            <a:off x="1358609" y="2673391"/>
            <a:ext cx="1107704" cy="115043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❶ 관리시스템 ❷ 정보 HUB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2"/>
          </p:nvPr>
        </p:nvSpPr>
        <p:spPr>
          <a:xfrm>
            <a:off x="2488226" y="2673391"/>
            <a:ext cx="2237322" cy="115043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노사합의사항 全직원 공유 및 이행·관리체계로 누수 방지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全과정 시스템 등록·관리 / 미이행 건 자동 메일링 알림 / 안건별 진행사항 시각화 표시 / 안건 담당자 실명제 운영·관리</a:t>
            </a:r>
          </a:p>
        </p:txBody>
      </p:sp>
      <p:cxnSp>
        <p:nvCxnSpPr>
          <p:cNvPr id="36" name="Connector 22"/>
          <p:cNvCxnSpPr/>
          <p:nvPr/>
        </p:nvCxnSpPr>
        <p:spPr>
          <a:xfrm>
            <a:off x="2477270" y="2706261"/>
            <a:ext cx="0" cy="108469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7" name="칸 본문"/>
          <p:cNvSpPr>
            <a:spLocks noGrp="1"/>
          </p:cNvSpPr>
          <p:nvPr>
            <p:ph type="body" sz="quarter" idx="33"/>
          </p:nvPr>
        </p:nvSpPr>
        <p:spPr>
          <a:xfrm>
            <a:off x="4747461" y="2673391"/>
            <a:ext cx="2237322" cy="115043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정책(법률), 제도, 노사동향 등 직원맞춤형 정보 원스톱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자주묻는 자문, 휴가 Q&amp;A 등 현안에 대한 최적답안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현장까지 노무관리 내재화 실현</a:t>
            </a:r>
          </a:p>
        </p:txBody>
      </p:sp>
      <p:cxnSp>
        <p:nvCxnSpPr>
          <p:cNvPr id="38" name="Connector 24"/>
          <p:cNvCxnSpPr/>
          <p:nvPr/>
        </p:nvCxnSpPr>
        <p:spPr>
          <a:xfrm>
            <a:off x="4736504" y="2706261"/>
            <a:ext cx="0" cy="108469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9" name="핵심성과 박스"/>
          <p:cNvSpPr/>
          <p:nvPr/>
        </p:nvSpPr>
        <p:spPr>
          <a:xfrm>
            <a:off x="723130" y="3933391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0" name="핵심성과 라벨"/>
          <p:cNvSpPr/>
          <p:nvPr/>
        </p:nvSpPr>
        <p:spPr>
          <a:xfrm>
            <a:off x="756000" y="3971739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41" name="핵심성과 라벨"/>
          <p:cNvSpPr>
            <a:spLocks noGrp="1"/>
          </p:cNvSpPr>
          <p:nvPr>
            <p:ph type="body" sz="quarter" idx="34"/>
          </p:nvPr>
        </p:nvSpPr>
        <p:spPr>
          <a:xfrm>
            <a:off x="756000" y="3971739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2" name="핵심성과 문구"/>
          <p:cNvSpPr>
            <a:spLocks noGrp="1"/>
          </p:cNvSpPr>
          <p:nvPr>
            <p:ph type="body" sz="quarter" idx="35"/>
          </p:nvPr>
        </p:nvSpPr>
        <p:spPr>
          <a:xfrm>
            <a:off x="1501043" y="3949826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노무자문 이용건수 100% 증가(’24년 32건 → ’25년 64건), 현장 노동법 위반 전면차단(0건)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65 서사 · 선제적 노사갈등 관리체계 2.0(그간의 갈등관리 → 새롭게 직면한 환경 → 시사점 → 갈등관리 대응역량 UP → 미래갈등 사전대비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분쟁 발생 이전에 작동하는 선제적 노사갈등 관리체계 2.0 도입</a:t>
            </a:r>
          </a:p>
        </p:txBody>
      </p:sp>
      <p:sp>
        <p:nvSpPr>
          <p:cNvPr id="15" name="번호 띠 칩"/>
          <p:cNvSpPr/>
          <p:nvPr/>
        </p:nvSpPr>
        <p:spPr>
          <a:xfrm>
            <a:off x="6265613" y="832696"/>
            <a:ext cx="505517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번호 띠 칩"/>
          <p:cNvSpPr>
            <a:spLocks noGrp="1"/>
          </p:cNvSpPr>
          <p:nvPr>
            <p:ph type="body" sz="quarter" idx="22"/>
          </p:nvPr>
        </p:nvSpPr>
        <p:spPr>
          <a:xfrm>
            <a:off x="6265613" y="832696"/>
            <a:ext cx="50551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7" name="번호 띠 칩"/>
          <p:cNvSpPr/>
          <p:nvPr/>
        </p:nvSpPr>
        <p:spPr>
          <a:xfrm>
            <a:off x="5692579" y="832696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번호 띠 칩"/>
          <p:cNvSpPr>
            <a:spLocks noGrp="1"/>
          </p:cNvSpPr>
          <p:nvPr>
            <p:ph type="body" sz="quarter" idx="23"/>
          </p:nvPr>
        </p:nvSpPr>
        <p:spPr>
          <a:xfrm>
            <a:off x="5692579" y="832696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9" name="표 외곽"/>
          <p:cNvSpPr/>
          <p:nvPr/>
        </p:nvSpPr>
        <p:spPr>
          <a:xfrm>
            <a:off x="536870" y="1117565"/>
            <a:ext cx="6300000" cy="319930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0" name="레일"/>
          <p:cNvSpPr/>
          <p:nvPr/>
        </p:nvSpPr>
        <p:spPr>
          <a:xfrm>
            <a:off x="547826" y="1134000"/>
            <a:ext cx="580696" cy="173113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1" name="레일 태그"/>
          <p:cNvSpPr/>
          <p:nvPr/>
        </p:nvSpPr>
        <p:spPr>
          <a:xfrm>
            <a:off x="626749" y="1177826"/>
            <a:ext cx="422850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2" name="레일 태그"/>
          <p:cNvSpPr>
            <a:spLocks noGrp="1"/>
          </p:cNvSpPr>
          <p:nvPr>
            <p:ph type="body" sz="quarter" idx="24"/>
          </p:nvPr>
        </p:nvSpPr>
        <p:spPr>
          <a:xfrm>
            <a:off x="626749" y="1177826"/>
            <a:ext cx="422850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</a:t>
            </a:r>
          </a:p>
        </p:txBody>
      </p:sp>
      <p:sp>
        <p:nvSpPr>
          <p:cNvPr id="23" name="레일 라벨"/>
          <p:cNvSpPr>
            <a:spLocks noGrp="1"/>
          </p:cNvSpPr>
          <p:nvPr>
            <p:ph type="body" sz="quarter" idx="25"/>
          </p:nvPr>
        </p:nvSpPr>
        <p:spPr>
          <a:xfrm>
            <a:off x="547826" y="1364087"/>
            <a:ext cx="580696" cy="147913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그간의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갈등관리</a:t>
            </a:r>
          </a:p>
        </p:txBody>
      </p:sp>
      <p:sp>
        <p:nvSpPr>
          <p:cNvPr id="24" name="단계"/>
          <p:cNvSpPr/>
          <p:nvPr/>
        </p:nvSpPr>
        <p:spPr>
          <a:xfrm>
            <a:off x="1161391" y="1155913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5" name="단계"/>
          <p:cNvSpPr>
            <a:spLocks noGrp="1"/>
          </p:cNvSpPr>
          <p:nvPr>
            <p:ph type="body" sz="quarter" idx="26"/>
          </p:nvPr>
        </p:nvSpPr>
        <p:spPr>
          <a:xfrm>
            <a:off x="1161391" y="115591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全직원 참여형 갈등관리 프로세스 1.0 도입</a:t>
            </a:r>
          </a:p>
        </p:txBody>
      </p:sp>
      <p:sp>
        <p:nvSpPr>
          <p:cNvPr id="26" name="단계"/>
          <p:cNvSpPr/>
          <p:nvPr/>
        </p:nvSpPr>
        <p:spPr>
          <a:xfrm>
            <a:off x="3044087" y="1155913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7" name="단계"/>
          <p:cNvSpPr>
            <a:spLocks noGrp="1"/>
          </p:cNvSpPr>
          <p:nvPr>
            <p:ph type="body" sz="quarter" idx="27"/>
          </p:nvPr>
        </p:nvSpPr>
        <p:spPr>
          <a:xfrm>
            <a:off x="3044087" y="115591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유형별 갈등수준 진단</a:t>
            </a:r>
          </a:p>
        </p:txBody>
      </p:sp>
      <p:sp>
        <p:nvSpPr>
          <p:cNvPr id="28" name="단계"/>
          <p:cNvSpPr/>
          <p:nvPr/>
        </p:nvSpPr>
        <p:spPr>
          <a:xfrm>
            <a:off x="4926783" y="1155913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9" name="단계"/>
          <p:cNvSpPr>
            <a:spLocks noGrp="1"/>
          </p:cNvSpPr>
          <p:nvPr>
            <p:ph type="body" sz="quarter" idx="28"/>
          </p:nvPr>
        </p:nvSpPr>
        <p:spPr>
          <a:xfrm>
            <a:off x="4926783" y="115591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결과분석 및 갈등대응</a:t>
            </a:r>
          </a:p>
        </p:txBody>
      </p:sp>
      <p:sp>
        <p:nvSpPr>
          <p:cNvPr id="30" name="단계 삼각형"/>
          <p:cNvSpPr/>
          <p:nvPr/>
        </p:nvSpPr>
        <p:spPr>
          <a:xfrm>
            <a:off x="3044086" y="1155913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1" name="단계 삼각형"/>
          <p:cNvSpPr/>
          <p:nvPr/>
        </p:nvSpPr>
        <p:spPr>
          <a:xfrm>
            <a:off x="4926782" y="115591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2" name="칸 본문"/>
          <p:cNvSpPr>
            <a:spLocks noGrp="1"/>
          </p:cNvSpPr>
          <p:nvPr>
            <p:ph type="body" sz="quarter" idx="29"/>
          </p:nvPr>
        </p:nvSpPr>
        <p:spPr>
          <a:xfrm>
            <a:off x="1172348" y="1407913"/>
            <a:ext cx="1860783" cy="1451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4개 범주, 13개 갈등유형 정의: 노사간 이익갈등(근로조건·근무환경 2개), 노사간 규범갈등(조합활동·경영참여 2개), 직원간 이익갈등(승진전보 3개), 직원간 규범갈등(세대간 등 6개)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0"/>
          </p:nvPr>
        </p:nvSpPr>
        <p:spPr>
          <a:xfrm>
            <a:off x="3055043" y="1407913"/>
            <a:ext cx="1860783" cy="1451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全직원 설문 등을 통한 유형별 갈등수준 진단 / 노사관계 영향도 분석 / 3단계(경계·주의·관심) 수준결정</a:t>
            </a:r>
          </a:p>
        </p:txBody>
      </p:sp>
      <p:cxnSp>
        <p:nvCxnSpPr>
          <p:cNvPr id="34" name="Connector 24"/>
          <p:cNvCxnSpPr/>
          <p:nvPr/>
        </p:nvCxnSpPr>
        <p:spPr>
          <a:xfrm>
            <a:off x="3044087" y="1440783"/>
            <a:ext cx="0" cy="138600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5" name="칸 본문"/>
          <p:cNvSpPr>
            <a:spLocks noGrp="1"/>
          </p:cNvSpPr>
          <p:nvPr>
            <p:ph type="body" sz="quarter" idx="31"/>
          </p:nvPr>
        </p:nvSpPr>
        <p:spPr>
          <a:xfrm>
            <a:off x="4937739" y="1407913"/>
            <a:ext cx="1860783" cy="1451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대응주체 설정, 시나리오 기반 표준화된 갈등해결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 TF · 협의체 · 직원간 / 이익 공정배분 · 규범 대화협의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구체적 갈등대응 성과 ▶ p.106</a:t>
            </a:r>
          </a:p>
        </p:txBody>
      </p:sp>
      <p:cxnSp>
        <p:nvCxnSpPr>
          <p:cNvPr id="36" name="Connector 26"/>
          <p:cNvCxnSpPr/>
          <p:nvPr/>
        </p:nvCxnSpPr>
        <p:spPr>
          <a:xfrm>
            <a:off x="4926783" y="1440783"/>
            <a:ext cx="0" cy="138600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7" name="레일"/>
          <p:cNvSpPr/>
          <p:nvPr/>
        </p:nvSpPr>
        <p:spPr>
          <a:xfrm>
            <a:off x="547826" y="2881565"/>
            <a:ext cx="580696" cy="1418870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8" name="레일 태그"/>
          <p:cNvSpPr/>
          <p:nvPr/>
        </p:nvSpPr>
        <p:spPr>
          <a:xfrm>
            <a:off x="627710" y="3045913"/>
            <a:ext cx="420927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9" name="레일 태그"/>
          <p:cNvSpPr>
            <a:spLocks noGrp="1"/>
          </p:cNvSpPr>
          <p:nvPr>
            <p:ph type="body" sz="quarter" idx="32"/>
          </p:nvPr>
        </p:nvSpPr>
        <p:spPr>
          <a:xfrm>
            <a:off x="627710" y="3045913"/>
            <a:ext cx="420927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</a:t>
            </a:r>
          </a:p>
        </p:txBody>
      </p:sp>
      <p:sp>
        <p:nvSpPr>
          <p:cNvPr id="40" name="레일 라벨"/>
          <p:cNvSpPr>
            <a:spLocks noGrp="1"/>
          </p:cNvSpPr>
          <p:nvPr>
            <p:ph type="body" sz="quarter" idx="33"/>
          </p:nvPr>
        </p:nvSpPr>
        <p:spPr>
          <a:xfrm>
            <a:off x="547826" y="3232174"/>
            <a:ext cx="580696" cy="1046348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새롭게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직면한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경</a:t>
            </a:r>
          </a:p>
        </p:txBody>
      </p:sp>
      <p:sp>
        <p:nvSpPr>
          <p:cNvPr id="41" name="레일 삼각형"/>
          <p:cNvSpPr/>
          <p:nvPr/>
        </p:nvSpPr>
        <p:spPr>
          <a:xfrm>
            <a:off x="547826" y="2881565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2" name="배너"/>
          <p:cNvSpPr/>
          <p:nvPr/>
        </p:nvSpPr>
        <p:spPr>
          <a:xfrm>
            <a:off x="1161391" y="2903478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3" name="배너"/>
          <p:cNvSpPr>
            <a:spLocks noGrp="1"/>
          </p:cNvSpPr>
          <p:nvPr>
            <p:ph type="body" sz="quarter" idx="34"/>
          </p:nvPr>
        </p:nvSpPr>
        <p:spPr>
          <a:xfrm>
            <a:off x="1161391" y="2903478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노동조합법 개정(’26.3 시행)에 따라 폭넓은 대내외 노사·노노갈등이 예상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35"/>
          </p:nvPr>
        </p:nvSpPr>
        <p:spPr>
          <a:xfrm>
            <a:off x="1172348" y="3139043"/>
            <a:ext cx="2802130" cy="115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쟁의대상 확대(예측가능 갈등): 직원 인사, 신규사업(근로조건) 결정 등 노조 교섭요구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단협개정 등을 통해 선제적 갈등 해소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36"/>
          </p:nvPr>
        </p:nvSpPr>
        <p:spPr>
          <a:xfrm>
            <a:off x="3996391" y="3139043"/>
            <a:ext cx="2802130" cy="115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사용자 범위 확대(예측불가능 갈등): 용역·의제별 교섭요구, 창구 단일화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사전 시나리오 구축, 대응역량 확충</a:t>
            </a:r>
          </a:p>
        </p:txBody>
      </p:sp>
      <p:cxnSp>
        <p:nvCxnSpPr>
          <p:cNvPr id="46" name="Connector 34"/>
          <p:cNvCxnSpPr/>
          <p:nvPr/>
        </p:nvCxnSpPr>
        <p:spPr>
          <a:xfrm>
            <a:off x="3985435" y="3171913"/>
            <a:ext cx="0" cy="109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7" name="캡션 띠"/>
          <p:cNvSpPr/>
          <p:nvPr/>
        </p:nvSpPr>
        <p:spPr>
          <a:xfrm>
            <a:off x="536869" y="4338782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8" name="태그"/>
          <p:cNvSpPr/>
          <p:nvPr/>
        </p:nvSpPr>
        <p:spPr>
          <a:xfrm>
            <a:off x="865565" y="4382609"/>
            <a:ext cx="438871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9" name="태그"/>
          <p:cNvSpPr>
            <a:spLocks noGrp="1"/>
          </p:cNvSpPr>
          <p:nvPr>
            <p:ph type="body" sz="quarter" idx="37"/>
          </p:nvPr>
        </p:nvSpPr>
        <p:spPr>
          <a:xfrm>
            <a:off x="865565" y="4382609"/>
            <a:ext cx="438871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50" name="캡션"/>
          <p:cNvSpPr>
            <a:spLocks noGrp="1"/>
          </p:cNvSpPr>
          <p:nvPr>
            <p:ph type="body" sz="quarter" idx="38"/>
          </p:nvPr>
        </p:nvSpPr>
        <p:spPr>
          <a:xfrm>
            <a:off x="1359219" y="4338783"/>
            <a:ext cx="5258520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환경변화에 따라 발생할 수 있는 갈등의 양상을 고려, 단계별 관리 고도화 필요</a:t>
            </a:r>
          </a:p>
        </p:txBody>
      </p:sp>
      <p:sp>
        <p:nvSpPr>
          <p:cNvPr id="51" name="표 외곽"/>
          <p:cNvSpPr/>
          <p:nvPr/>
        </p:nvSpPr>
        <p:spPr>
          <a:xfrm>
            <a:off x="536870" y="4645565"/>
            <a:ext cx="6300000" cy="471130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2" name="레일"/>
          <p:cNvSpPr/>
          <p:nvPr/>
        </p:nvSpPr>
        <p:spPr>
          <a:xfrm>
            <a:off x="547826" y="4662000"/>
            <a:ext cx="580696" cy="329243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3" name="레일 태그"/>
          <p:cNvSpPr/>
          <p:nvPr/>
        </p:nvSpPr>
        <p:spPr>
          <a:xfrm>
            <a:off x="558376" y="4705826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54" name="레일 태그"/>
          <p:cNvSpPr>
            <a:spLocks noGrp="1"/>
          </p:cNvSpPr>
          <p:nvPr>
            <p:ph type="body" sz="quarter" idx="39"/>
          </p:nvPr>
        </p:nvSpPr>
        <p:spPr>
          <a:xfrm>
            <a:off x="558376" y="4705826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예측가능</a:t>
            </a:r>
          </a:p>
        </p:txBody>
      </p:sp>
      <p:sp>
        <p:nvSpPr>
          <p:cNvPr id="55" name="레일 라벨"/>
          <p:cNvSpPr>
            <a:spLocks noGrp="1"/>
          </p:cNvSpPr>
          <p:nvPr>
            <p:ph type="body" sz="quarter" idx="40"/>
          </p:nvPr>
        </p:nvSpPr>
        <p:spPr>
          <a:xfrm>
            <a:off x="547826" y="4892087"/>
            <a:ext cx="580696" cy="3040435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갈등관리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대응역량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UP</a:t>
            </a:r>
          </a:p>
        </p:txBody>
      </p:sp>
      <p:sp>
        <p:nvSpPr>
          <p:cNvPr id="56" name="칸 본문"/>
          <p:cNvSpPr>
            <a:spLocks noGrp="1"/>
          </p:cNvSpPr>
          <p:nvPr>
            <p:ph type="body" sz="quarter" idx="41"/>
          </p:nvPr>
        </p:nvSpPr>
        <p:spPr>
          <a:xfrm>
            <a:off x="1172348" y="4683913"/>
            <a:ext cx="1860783" cy="156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잠재된 갈등 진단: 旣 정의된 13개 갈등유형 中 노동환경 변화에 따른 잠재갈등 요인 진단(FGI, 노사전문가 20인) / 단협 실무교섭委 노 7인 사 7인, 사내 전문가 변호사 1인 노무사 1인, 노동이사 1인, 전문기관 3인</a:t>
            </a:r>
          </a:p>
        </p:txBody>
      </p:sp>
      <p:sp>
        <p:nvSpPr>
          <p:cNvPr id="57" name="칸 본문"/>
          <p:cNvSpPr>
            <a:spLocks noGrp="1"/>
          </p:cNvSpPr>
          <p:nvPr>
            <p:ph type="body" sz="quarter" idx="42"/>
          </p:nvPr>
        </p:nvSpPr>
        <p:spPr>
          <a:xfrm>
            <a:off x="3055043" y="4683913"/>
            <a:ext cx="3743478" cy="156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진단결과 기반, 맞춤형 노사갈등 관리 2.0 실현: 예측되는 4개 갈등유형 선정, 법 개정 전 쟁점 해소 / 조합활동 · 경영참여 · 근로조건 · 모·자회사간 / 근로시간면제 및 필수유지업무협정서 재검토, 체결 / 단체협약 선제적 개정으로 경영참여권 확대 / 노사합의 기반 휴가·복지제도 전방위적 개선 / 모-자회사 소통 강화를 통한 갈등 해소</a:t>
            </a:r>
          </a:p>
        </p:txBody>
      </p:sp>
      <p:cxnSp>
        <p:nvCxnSpPr>
          <p:cNvPr id="58" name="Connector 44"/>
          <p:cNvCxnSpPr/>
          <p:nvPr/>
        </p:nvCxnSpPr>
        <p:spPr>
          <a:xfrm>
            <a:off x="3044087" y="4716783"/>
            <a:ext cx="0" cy="1495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9" name="칸 본문"/>
          <p:cNvSpPr>
            <a:spLocks noGrp="1"/>
          </p:cNvSpPr>
          <p:nvPr>
            <p:ph type="body" sz="quarter" idx="43"/>
          </p:nvPr>
        </p:nvSpPr>
        <p:spPr>
          <a:xfrm>
            <a:off x="1172348" y="6261652"/>
            <a:ext cx="1860783" cy="1451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적용사례 표면화기 갈등진단: 경영참여 사업경영상 결정 선제적 단협개정 — 新사업(초순수 등) 추진시, 근로환경 변화 * 경영상 결정에 따른 근로조건 변경으로 쟁의 가능</a:t>
            </a:r>
          </a:p>
        </p:txBody>
      </p:sp>
      <p:sp>
        <p:nvSpPr>
          <p:cNvPr id="60" name="칸 본문"/>
          <p:cNvSpPr>
            <a:spLocks noGrp="1"/>
          </p:cNvSpPr>
          <p:nvPr>
            <p:ph type="body" sz="quarter" idx="44"/>
          </p:nvPr>
        </p:nvSpPr>
        <p:spPr>
          <a:xfrm>
            <a:off x="3055043" y="6261652"/>
            <a:ext cx="1860783" cy="1451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고조기 갈등대응: 노사간 규범갈등 ➡ 단협 교섭에 따른 대화 협의 / 단체협약 실무위원 교섭(4회) * 초순수 등 신규사업 추진 필요성 * 직원·노조 의견수렴 절차 개선 필요</a:t>
            </a:r>
          </a:p>
        </p:txBody>
      </p:sp>
      <p:cxnSp>
        <p:nvCxnSpPr>
          <p:cNvPr id="61" name="Connector 47"/>
          <p:cNvCxnSpPr/>
          <p:nvPr/>
        </p:nvCxnSpPr>
        <p:spPr>
          <a:xfrm>
            <a:off x="3044087" y="6294522"/>
            <a:ext cx="0" cy="138600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2" name="칸 본문"/>
          <p:cNvSpPr>
            <a:spLocks noGrp="1"/>
          </p:cNvSpPr>
          <p:nvPr>
            <p:ph type="body" sz="quarter" idx="45"/>
          </p:nvPr>
        </p:nvSpPr>
        <p:spPr>
          <a:xfrm>
            <a:off x="4937739" y="6261652"/>
            <a:ext cx="1860783" cy="1451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모·자회사간 소통기반 안전격차 해소: 자회사 노조 민원발생, 집회예고 / 4자간(모·자회사 노사) 깊은 소통(2회) / 완화기 갈등해소: 사업개발委 도입, 집회철회·자회사 니즈 수용</a:t>
            </a:r>
          </a:p>
        </p:txBody>
      </p:sp>
      <p:cxnSp>
        <p:nvCxnSpPr>
          <p:cNvPr id="63" name="Connector 49"/>
          <p:cNvCxnSpPr/>
          <p:nvPr/>
        </p:nvCxnSpPr>
        <p:spPr>
          <a:xfrm>
            <a:off x="4926783" y="6294522"/>
            <a:ext cx="0" cy="138600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4" name="배너"/>
          <p:cNvSpPr/>
          <p:nvPr/>
        </p:nvSpPr>
        <p:spPr>
          <a:xfrm>
            <a:off x="1161391" y="7729826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65" name="배너"/>
          <p:cNvSpPr>
            <a:spLocks noGrp="1"/>
          </p:cNvSpPr>
          <p:nvPr>
            <p:ph type="body" sz="quarter" idx="46"/>
          </p:nvPr>
        </p:nvSpPr>
        <p:spPr>
          <a:xfrm>
            <a:off x="1161391" y="7729826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갈등진단 결과, 13개 갈등 全유형 점수 하향(3.76 → 3.49점)</a:t>
            </a:r>
          </a:p>
        </p:txBody>
      </p:sp>
      <p:sp>
        <p:nvSpPr>
          <p:cNvPr id="66" name="레일"/>
          <p:cNvSpPr/>
          <p:nvPr/>
        </p:nvSpPr>
        <p:spPr>
          <a:xfrm>
            <a:off x="547826" y="7970870"/>
            <a:ext cx="580696" cy="1369565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7" name="레일 태그"/>
          <p:cNvSpPr/>
          <p:nvPr/>
        </p:nvSpPr>
        <p:spPr>
          <a:xfrm>
            <a:off x="503491" y="8135217"/>
            <a:ext cx="669365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68" name="레일 태그"/>
          <p:cNvSpPr>
            <a:spLocks noGrp="1"/>
          </p:cNvSpPr>
          <p:nvPr>
            <p:ph type="body" sz="quarter" idx="47"/>
          </p:nvPr>
        </p:nvSpPr>
        <p:spPr>
          <a:xfrm>
            <a:off x="503491" y="8135217"/>
            <a:ext cx="669365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예측불가능</a:t>
            </a:r>
          </a:p>
        </p:txBody>
      </p:sp>
      <p:sp>
        <p:nvSpPr>
          <p:cNvPr id="69" name="레일 라벨"/>
          <p:cNvSpPr>
            <a:spLocks noGrp="1"/>
          </p:cNvSpPr>
          <p:nvPr>
            <p:ph type="body" sz="quarter" idx="48"/>
          </p:nvPr>
        </p:nvSpPr>
        <p:spPr>
          <a:xfrm>
            <a:off x="547826" y="8321478"/>
            <a:ext cx="580696" cy="997043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미래갈등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사전대비</a:t>
            </a:r>
          </a:p>
        </p:txBody>
      </p:sp>
      <p:sp>
        <p:nvSpPr>
          <p:cNvPr id="70" name="레일 삼각형"/>
          <p:cNvSpPr/>
          <p:nvPr/>
        </p:nvSpPr>
        <p:spPr>
          <a:xfrm>
            <a:off x="547826" y="7970869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1" name="칸 본문"/>
          <p:cNvSpPr>
            <a:spLocks noGrp="1"/>
          </p:cNvSpPr>
          <p:nvPr>
            <p:ph type="body" sz="quarter" idx="49"/>
          </p:nvPr>
        </p:nvSpPr>
        <p:spPr>
          <a:xfrm>
            <a:off x="1172348" y="7992783"/>
            <a:ext cx="2802130" cy="134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사용자성 판단기준 진단: 노동조합법 개정 시행에 따른 갈등 예측(FGI, 이해관계자 14인) / 노무담당 6인 · 자회사 2인 · 전산유지 1인 · 노동조합 2인 · 점검정비 2인 · 수도검침 1인</a:t>
            </a:r>
          </a:p>
        </p:txBody>
      </p:sp>
      <p:sp>
        <p:nvSpPr>
          <p:cNvPr id="72" name="칸 본문"/>
          <p:cNvSpPr>
            <a:spLocks noGrp="1"/>
          </p:cNvSpPr>
          <p:nvPr>
            <p:ph type="body" sz="quarter" idx="50"/>
          </p:nvPr>
        </p:nvSpPr>
        <p:spPr>
          <a:xfrm>
            <a:off x="3996391" y="7992783"/>
            <a:ext cx="2802130" cy="134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갈등대응 컨틴전시 플랜 수립: 전문가 판례기반 30개 항목 진단, 실질적 갈등요인 분석 * 원청 사업수행 필수(10개), 단체교섭 필요(3개), 실질·구체적 지배(17개) / 선제적/예방 관리체계 정립 · 과업관리감독 시스템 개선 · 단체교섭 창구 일원화 · 노무관리체계 재구축</a:t>
            </a:r>
          </a:p>
        </p:txBody>
      </p:sp>
      <p:cxnSp>
        <p:nvCxnSpPr>
          <p:cNvPr id="73" name="Connector 57"/>
          <p:cNvCxnSpPr/>
          <p:nvPr/>
        </p:nvCxnSpPr>
        <p:spPr>
          <a:xfrm>
            <a:off x="3985435" y="8025652"/>
            <a:ext cx="0" cy="127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4" name="핵심성과 박스"/>
          <p:cNvSpPr/>
          <p:nvPr/>
        </p:nvSpPr>
        <p:spPr>
          <a:xfrm>
            <a:off x="536870" y="9444522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5" name="핵심성과 라벨"/>
          <p:cNvSpPr/>
          <p:nvPr/>
        </p:nvSpPr>
        <p:spPr>
          <a:xfrm>
            <a:off x="569739" y="9482870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76" name="핵심성과 라벨"/>
          <p:cNvSpPr>
            <a:spLocks noGrp="1"/>
          </p:cNvSpPr>
          <p:nvPr>
            <p:ph type="body" sz="quarter" idx="51"/>
          </p:nvPr>
        </p:nvSpPr>
        <p:spPr>
          <a:xfrm>
            <a:off x="569739" y="9482870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77" name="핵심성과 문구"/>
          <p:cNvSpPr>
            <a:spLocks noGrp="1"/>
          </p:cNvSpPr>
          <p:nvPr>
            <p:ph type="body" sz="quarter" idx="52"/>
          </p:nvPr>
        </p:nvSpPr>
        <p:spPr>
          <a:xfrm>
            <a:off x="1314783" y="9460957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선제적 갈등 예방·관리로 중대갈등 Zero 달성 및 협력적 노사갈등해소 모델 제시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66 서사 · 노사리더 소통과 노동이사(노사소통 현주소 → 시사점 → 양방향 소통 → 한 단계 도약하는 핫라인 → 노사협력 가교 노동이사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한층 더 다가가는 노사리더, 직원 목소리로 다듬는 노동이사</a:t>
            </a:r>
          </a:p>
        </p:txBody>
      </p:sp>
      <p:sp>
        <p:nvSpPr>
          <p:cNvPr id="14" name="번호 띠 칩"/>
          <p:cNvSpPr/>
          <p:nvPr/>
        </p:nvSpPr>
        <p:spPr>
          <a:xfrm>
            <a:off x="6451874" y="843652"/>
            <a:ext cx="505517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번호 띠 칩"/>
          <p:cNvSpPr>
            <a:spLocks noGrp="1"/>
          </p:cNvSpPr>
          <p:nvPr>
            <p:ph type="body" sz="quarter" idx="22"/>
          </p:nvPr>
        </p:nvSpPr>
        <p:spPr>
          <a:xfrm>
            <a:off x="6451874" y="843652"/>
            <a:ext cx="50551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6" name="번호 띠 칩"/>
          <p:cNvSpPr/>
          <p:nvPr/>
        </p:nvSpPr>
        <p:spPr>
          <a:xfrm>
            <a:off x="5659303" y="843652"/>
            <a:ext cx="74874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번호 띠 칩"/>
          <p:cNvSpPr>
            <a:spLocks noGrp="1"/>
          </p:cNvSpPr>
          <p:nvPr>
            <p:ph type="body" sz="quarter" idx="23"/>
          </p:nvPr>
        </p:nvSpPr>
        <p:spPr>
          <a:xfrm>
            <a:off x="5659303" y="843652"/>
            <a:ext cx="74874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8" name="표 외곽"/>
          <p:cNvSpPr/>
          <p:nvPr/>
        </p:nvSpPr>
        <p:spPr>
          <a:xfrm>
            <a:off x="723130" y="1128522"/>
            <a:ext cx="6300000" cy="102443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레일"/>
          <p:cNvSpPr/>
          <p:nvPr/>
        </p:nvSpPr>
        <p:spPr>
          <a:xfrm>
            <a:off x="734087" y="1144957"/>
            <a:ext cx="580696" cy="99156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4"/>
          </p:nvPr>
        </p:nvSpPr>
        <p:spPr>
          <a:xfrm>
            <a:off x="734087" y="1144957"/>
            <a:ext cx="580696" cy="991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노사소통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現 주 소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5"/>
          </p:nvPr>
        </p:nvSpPr>
        <p:spPr>
          <a:xfrm>
            <a:off x="1358609" y="1166870"/>
            <a:ext cx="2802130" cy="964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 직원의 소통 인식: 공사·노조의 상·하향식 소통체계에 대한 직원 만족도 지속 상승 中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6"/>
          </p:nvPr>
        </p:nvSpPr>
        <p:spPr>
          <a:xfrm>
            <a:off x="4182652" y="1166870"/>
            <a:ext cx="2802130" cy="964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그러나, 외부 전문가(평가단)의 제언: 공사·노조 CSR 점수 하락에 대한 개선방안 마련 / 노동이사 경영활동에 대한 직원 환류체계 필요</a:t>
            </a:r>
          </a:p>
        </p:txBody>
      </p:sp>
      <p:cxnSp>
        <p:nvCxnSpPr>
          <p:cNvPr id="23" name="Connector 14"/>
          <p:cNvCxnSpPr/>
          <p:nvPr/>
        </p:nvCxnSpPr>
        <p:spPr>
          <a:xfrm>
            <a:off x="4171696" y="1199739"/>
            <a:ext cx="0" cy="898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4" name="캡션 띠"/>
          <p:cNvSpPr/>
          <p:nvPr/>
        </p:nvSpPr>
        <p:spPr>
          <a:xfrm>
            <a:off x="723130" y="2174869"/>
            <a:ext cx="6300000" cy="252000"/>
          </a:xfrm>
          <a:custGeom>
            <a:avLst/>
            <a:gdLst/>
            <a:ahLst/>
            <a:cxnLst/>
            <a:rect l="l" t="t" r="r" b="b"/>
            <a:pathLst>
              <a:path w="6300000" h="252000">
                <a:moveTo>
                  <a:pt x="0" y="0"/>
                </a:moveTo>
                <a:lnTo>
                  <a:pt x="6300000" y="0"/>
                </a:lnTo>
                <a:lnTo>
                  <a:pt x="6113739" y="252000"/>
                </a:lnTo>
                <a:lnTo>
                  <a:pt x="186261" y="252000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5" name="태그"/>
          <p:cNvSpPr/>
          <p:nvPr/>
        </p:nvSpPr>
        <p:spPr>
          <a:xfrm>
            <a:off x="1051826" y="2218696"/>
            <a:ext cx="438871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6" name="태그"/>
          <p:cNvSpPr>
            <a:spLocks noGrp="1"/>
          </p:cNvSpPr>
          <p:nvPr>
            <p:ph type="body" sz="quarter" idx="27"/>
          </p:nvPr>
        </p:nvSpPr>
        <p:spPr>
          <a:xfrm>
            <a:off x="1051826" y="2218696"/>
            <a:ext cx="438871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27" name="캡션"/>
          <p:cNvSpPr>
            <a:spLocks noGrp="1"/>
          </p:cNvSpPr>
          <p:nvPr>
            <p:ph type="body" sz="quarter" idx="28"/>
          </p:nvPr>
        </p:nvSpPr>
        <p:spPr>
          <a:xfrm>
            <a:off x="1545480" y="2174870"/>
            <a:ext cx="5258520" cy="252000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①노사리더 소통 중심 사회적 책임 향상과 ②노동이사-직원 간 긴밀한 소통체계 마련</a:t>
            </a:r>
          </a:p>
        </p:txBody>
      </p:sp>
      <p:sp>
        <p:nvSpPr>
          <p:cNvPr id="28" name="표 외곽"/>
          <p:cNvSpPr/>
          <p:nvPr/>
        </p:nvSpPr>
        <p:spPr>
          <a:xfrm>
            <a:off x="723130" y="2481652"/>
            <a:ext cx="6300000" cy="5598783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9" name="레일"/>
          <p:cNvSpPr/>
          <p:nvPr/>
        </p:nvSpPr>
        <p:spPr>
          <a:xfrm>
            <a:off x="734087" y="2498087"/>
            <a:ext cx="580696" cy="1342174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0" name="레일"/>
          <p:cNvSpPr>
            <a:spLocks noGrp="1"/>
          </p:cNvSpPr>
          <p:nvPr>
            <p:ph type="body" sz="quarter" idx="29"/>
          </p:nvPr>
        </p:nvSpPr>
        <p:spPr>
          <a:xfrm>
            <a:off x="734087" y="2498087"/>
            <a:ext cx="580696" cy="1342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양 방 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‘ 소 통 ’</a:t>
            </a:r>
          </a:p>
        </p:txBody>
      </p:sp>
      <p:sp>
        <p:nvSpPr>
          <p:cNvPr id="31" name="머리칸"/>
          <p:cNvSpPr/>
          <p:nvPr/>
        </p:nvSpPr>
        <p:spPr>
          <a:xfrm>
            <a:off x="1347652" y="252000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2" name="머리칸"/>
          <p:cNvSpPr>
            <a:spLocks noGrp="1"/>
          </p:cNvSpPr>
          <p:nvPr>
            <p:ph type="body" sz="quarter" idx="30"/>
          </p:nvPr>
        </p:nvSpPr>
        <p:spPr>
          <a:xfrm>
            <a:off x="1347652" y="252000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CEO ↔ 직원</a:t>
            </a:r>
          </a:p>
        </p:txBody>
      </p:sp>
      <p:sp>
        <p:nvSpPr>
          <p:cNvPr id="33" name="머리칸"/>
          <p:cNvSpPr/>
          <p:nvPr/>
        </p:nvSpPr>
        <p:spPr>
          <a:xfrm>
            <a:off x="4171696" y="252000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4" name="머리칸"/>
          <p:cNvSpPr>
            <a:spLocks noGrp="1"/>
          </p:cNvSpPr>
          <p:nvPr>
            <p:ph type="body" sz="quarter" idx="31"/>
          </p:nvPr>
        </p:nvSpPr>
        <p:spPr>
          <a:xfrm>
            <a:off x="4171696" y="252000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직원 ↔ 위원장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2"/>
          </p:nvPr>
        </p:nvSpPr>
        <p:spPr>
          <a:xfrm>
            <a:off x="1358609" y="2761043"/>
            <a:ext cx="2802130" cy="1073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CEO 채널 현장 방문(14회), 톡톡水력 활성화(붐업 이벤트 등), 청렴 프로모터(24명)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 新전략·비전 공유 등 직원 의견 수렴을 위한 전사 타운홀 미팅(120명)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기타 직원이사회 20주년 기념행사 소통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3"/>
          </p:nvPr>
        </p:nvSpPr>
        <p:spPr>
          <a:xfrm>
            <a:off x="4182652" y="2761043"/>
            <a:ext cx="2802130" cy="1073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위원장 채널 현장 직접 방문·조합원 소통(28회), 조합원의 목소리(322건) CEO 전달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 차세대 노동리더 양성, 소통체계 구축을 위한 희망노동위원회(14명) 신설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기타 현안대응 대의원대회 확대(1~3회)</a:t>
            </a:r>
          </a:p>
        </p:txBody>
      </p:sp>
      <p:cxnSp>
        <p:nvCxnSpPr>
          <p:cNvPr id="37" name="Connector 24"/>
          <p:cNvCxnSpPr/>
          <p:nvPr/>
        </p:nvCxnSpPr>
        <p:spPr>
          <a:xfrm>
            <a:off x="4171696" y="2793913"/>
            <a:ext cx="0" cy="100800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8" name="레일"/>
          <p:cNvSpPr/>
          <p:nvPr/>
        </p:nvSpPr>
        <p:spPr>
          <a:xfrm>
            <a:off x="734087" y="3856696"/>
            <a:ext cx="580696" cy="1758522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9" name="레일"/>
          <p:cNvSpPr>
            <a:spLocks noGrp="1"/>
          </p:cNvSpPr>
          <p:nvPr>
            <p:ph type="body" sz="quarter" idx="34"/>
          </p:nvPr>
        </p:nvSpPr>
        <p:spPr>
          <a:xfrm>
            <a:off x="734087" y="3856696"/>
            <a:ext cx="580696" cy="175852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한 단계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도약하는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‘핫라인’</a:t>
            </a:r>
          </a:p>
        </p:txBody>
      </p:sp>
      <p:sp>
        <p:nvSpPr>
          <p:cNvPr id="40" name="레일 삼각형"/>
          <p:cNvSpPr/>
          <p:nvPr/>
        </p:nvSpPr>
        <p:spPr>
          <a:xfrm>
            <a:off x="734086" y="3856695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1" name="단계"/>
          <p:cNvSpPr/>
          <p:nvPr/>
        </p:nvSpPr>
        <p:spPr>
          <a:xfrm>
            <a:off x="1347652" y="3878609"/>
            <a:ext cx="141202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2" name="단계"/>
          <p:cNvSpPr>
            <a:spLocks noGrp="1"/>
          </p:cNvSpPr>
          <p:nvPr>
            <p:ph type="body" sz="quarter" idx="35"/>
          </p:nvPr>
        </p:nvSpPr>
        <p:spPr>
          <a:xfrm>
            <a:off x="1347652" y="3878609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비정형적 핫라인 운영 * 이슈발생시 24시간 이내 소집</a:t>
            </a:r>
          </a:p>
        </p:txBody>
      </p:sp>
      <p:sp>
        <p:nvSpPr>
          <p:cNvPr id="43" name="단계"/>
          <p:cNvSpPr/>
          <p:nvPr/>
        </p:nvSpPr>
        <p:spPr>
          <a:xfrm>
            <a:off x="2759674" y="3878609"/>
            <a:ext cx="4236065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4" name="단계"/>
          <p:cNvSpPr>
            <a:spLocks noGrp="1"/>
          </p:cNvSpPr>
          <p:nvPr>
            <p:ph type="body" sz="quarter" idx="36"/>
          </p:nvPr>
        </p:nvSpPr>
        <p:spPr>
          <a:xfrm>
            <a:off x="2759674" y="3878609"/>
            <a:ext cx="4236065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노사리더 ‘핫라인 발동요건’ 합의: 사회 이슈(국가재난 등) · 업무 중 직원사고 · 全직원 영향 제도·문화</a:t>
            </a:r>
          </a:p>
        </p:txBody>
      </p:sp>
      <p:sp>
        <p:nvSpPr>
          <p:cNvPr id="45" name="단계 삼각형"/>
          <p:cNvSpPr/>
          <p:nvPr/>
        </p:nvSpPr>
        <p:spPr>
          <a:xfrm>
            <a:off x="2759673" y="3878608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6" name="칸 본문"/>
          <p:cNvSpPr>
            <a:spLocks noGrp="1"/>
          </p:cNvSpPr>
          <p:nvPr>
            <p:ph type="body" sz="quarter" idx="37"/>
          </p:nvPr>
        </p:nvSpPr>
        <p:spPr>
          <a:xfrm>
            <a:off x="1358609" y="4130609"/>
            <a:ext cx="1390109" cy="147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비정형적 핫라인 운영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38"/>
          </p:nvPr>
        </p:nvSpPr>
        <p:spPr>
          <a:xfrm>
            <a:off x="2770630" y="4130609"/>
            <a:ext cx="4214152" cy="147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1회(국가재난) 경북 산불대응 노사공동 논의 → 피해구호 성금 지원 대규모 병물 지원 직원 건강검진 지원 / 2회(직원사고) 업무상 사고시 직원보호체계 마련 → 직원 밀착지원 안심케어센터 신설 / 3회(제도) 정부경영평가 직원 관심도 제고 → 경영평가 포털 신설, 노사TF 추진 / 4회(문화) 전사차원의 노사 소통·문화 활동 제안 → 노사 E-Sports 대회 Celebrate 58 등 컨텐츠 진행</a:t>
            </a:r>
          </a:p>
        </p:txBody>
      </p:sp>
      <p:cxnSp>
        <p:nvCxnSpPr>
          <p:cNvPr id="48" name="Connector 32"/>
          <p:cNvCxnSpPr/>
          <p:nvPr/>
        </p:nvCxnSpPr>
        <p:spPr>
          <a:xfrm>
            <a:off x="2759674" y="4163478"/>
            <a:ext cx="0" cy="141339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9" name="레일"/>
          <p:cNvSpPr/>
          <p:nvPr/>
        </p:nvSpPr>
        <p:spPr>
          <a:xfrm>
            <a:off x="734087" y="5631652"/>
            <a:ext cx="580696" cy="2432348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0" name="레일"/>
          <p:cNvSpPr>
            <a:spLocks noGrp="1"/>
          </p:cNvSpPr>
          <p:nvPr>
            <p:ph type="body" sz="quarter" idx="39"/>
          </p:nvPr>
        </p:nvSpPr>
        <p:spPr>
          <a:xfrm>
            <a:off x="734087" y="5631652"/>
            <a:ext cx="580696" cy="2432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노사협력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가 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‘노동이사’</a:t>
            </a:r>
          </a:p>
        </p:txBody>
      </p:sp>
      <p:sp>
        <p:nvSpPr>
          <p:cNvPr id="51" name="레일 삼각형"/>
          <p:cNvSpPr/>
          <p:nvPr/>
        </p:nvSpPr>
        <p:spPr>
          <a:xfrm>
            <a:off x="734086" y="5631652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2" name="단계"/>
          <p:cNvSpPr/>
          <p:nvPr/>
        </p:nvSpPr>
        <p:spPr>
          <a:xfrm>
            <a:off x="1347652" y="5653565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3" name="단계"/>
          <p:cNvSpPr>
            <a:spLocks noGrp="1"/>
          </p:cNvSpPr>
          <p:nvPr>
            <p:ph type="body" sz="quarter" idx="40"/>
          </p:nvPr>
        </p:nvSpPr>
        <p:spPr>
          <a:xfrm>
            <a:off x="1347652" y="5653565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’23.6 취임 제도정비 · 기반마련</a:t>
            </a:r>
          </a:p>
        </p:txBody>
      </p:sp>
      <p:sp>
        <p:nvSpPr>
          <p:cNvPr id="54" name="단계"/>
          <p:cNvSpPr/>
          <p:nvPr/>
        </p:nvSpPr>
        <p:spPr>
          <a:xfrm>
            <a:off x="3230348" y="5653565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5" name="단계"/>
          <p:cNvSpPr>
            <a:spLocks noGrp="1"/>
          </p:cNvSpPr>
          <p:nvPr>
            <p:ph type="body" sz="quarter" idx="41"/>
          </p:nvPr>
        </p:nvSpPr>
        <p:spPr>
          <a:xfrm>
            <a:off x="3230348" y="5653565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역량강화 전문역량 확보 · 대외 네트워크 강화</a:t>
            </a:r>
          </a:p>
        </p:txBody>
      </p:sp>
      <p:sp>
        <p:nvSpPr>
          <p:cNvPr id="56" name="단계"/>
          <p:cNvSpPr/>
          <p:nvPr/>
        </p:nvSpPr>
        <p:spPr>
          <a:xfrm>
            <a:off x="5113043" y="5653565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7" name="단계"/>
          <p:cNvSpPr>
            <a:spLocks noGrp="1"/>
          </p:cNvSpPr>
          <p:nvPr>
            <p:ph type="body" sz="quarter" idx="42"/>
          </p:nvPr>
        </p:nvSpPr>
        <p:spPr>
          <a:xfrm>
            <a:off x="5113043" y="5653565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’25년 소통 활성화 대내 직원 소통강화 · 직원 환류체계 신설</a:t>
            </a:r>
          </a:p>
        </p:txBody>
      </p:sp>
      <p:sp>
        <p:nvSpPr>
          <p:cNvPr id="58" name="단계 삼각형"/>
          <p:cNvSpPr/>
          <p:nvPr/>
        </p:nvSpPr>
        <p:spPr>
          <a:xfrm>
            <a:off x="3230347" y="5653565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9" name="단계 삼각형"/>
          <p:cNvSpPr/>
          <p:nvPr/>
        </p:nvSpPr>
        <p:spPr>
          <a:xfrm>
            <a:off x="5113043" y="5653565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0" name="칸 본문"/>
          <p:cNvSpPr>
            <a:spLocks noGrp="1"/>
          </p:cNvSpPr>
          <p:nvPr>
            <p:ph type="body" sz="quarter" idx="43"/>
          </p:nvPr>
        </p:nvSpPr>
        <p:spPr>
          <a:xfrm>
            <a:off x="1358609" y="5905565"/>
            <a:ext cx="1860783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제도정비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기반마련</a:t>
            </a:r>
          </a:p>
        </p:txBody>
      </p:sp>
      <p:sp>
        <p:nvSpPr>
          <p:cNvPr id="61" name="칸 본문"/>
          <p:cNvSpPr>
            <a:spLocks noGrp="1"/>
          </p:cNvSpPr>
          <p:nvPr>
            <p:ph type="body" sz="quarter" idx="44"/>
          </p:nvPr>
        </p:nvSpPr>
        <p:spPr>
          <a:xfrm>
            <a:off x="3241304" y="5905565"/>
            <a:ext cx="1860783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전문역량 확보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대외 네트워크 강화</a:t>
            </a:r>
          </a:p>
        </p:txBody>
      </p:sp>
      <p:cxnSp>
        <p:nvCxnSpPr>
          <p:cNvPr id="62" name="Connector 42"/>
          <p:cNvCxnSpPr/>
          <p:nvPr/>
        </p:nvCxnSpPr>
        <p:spPr>
          <a:xfrm>
            <a:off x="3230348" y="5938435"/>
            <a:ext cx="0" cy="81078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3" name="칸 본문"/>
          <p:cNvSpPr>
            <a:spLocks noGrp="1"/>
          </p:cNvSpPr>
          <p:nvPr>
            <p:ph type="body" sz="quarter" idx="45"/>
          </p:nvPr>
        </p:nvSpPr>
        <p:spPr>
          <a:xfrm>
            <a:off x="5124000" y="5905565"/>
            <a:ext cx="1860783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대내 직원 소통강화 · 직원 환류체계 신설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노조 회의 참석·활동 공유(8회) / 현안·부서별 소통간담회(33회) / K-Study, 직원이사회 멘토링</a:t>
            </a:r>
          </a:p>
        </p:txBody>
      </p:sp>
      <p:cxnSp>
        <p:nvCxnSpPr>
          <p:cNvPr id="64" name="Connector 44"/>
          <p:cNvCxnSpPr/>
          <p:nvPr/>
        </p:nvCxnSpPr>
        <p:spPr>
          <a:xfrm>
            <a:off x="5113043" y="5938435"/>
            <a:ext cx="0" cy="81078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5" name="칸 본문"/>
          <p:cNvSpPr>
            <a:spLocks noGrp="1"/>
          </p:cNvSpPr>
          <p:nvPr>
            <p:ph type="body" sz="quarter" idx="46"/>
          </p:nvPr>
        </p:nvSpPr>
        <p:spPr>
          <a:xfrm>
            <a:off x="1358609" y="6798522"/>
            <a:ext cx="2331457" cy="126000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진단 직원의견을 수렴하는 노동이사: 비상임이사 직무평가(재경부)에 직원입장에서 노동이사 활동의견을 청취하는 설문조사 신설 / 직무수행실적보고서(외부, 재경부) + 직원 만족도 조사(내부, 全직원) / 이사회 참여도/기여도 · 인식, 소통, 제도이해</a:t>
            </a:r>
          </a:p>
        </p:txBody>
      </p:sp>
      <p:sp>
        <p:nvSpPr>
          <p:cNvPr id="66" name="칸 본문"/>
          <p:cNvSpPr>
            <a:spLocks noGrp="1"/>
          </p:cNvSpPr>
          <p:nvPr>
            <p:ph type="body" sz="quarter" idx="47"/>
          </p:nvPr>
        </p:nvSpPr>
        <p:spPr>
          <a:xfrm>
            <a:off x="3711978" y="6798522"/>
            <a:ext cx="3272804" cy="126000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결과, 환류 진단기반 노동이사 소통플랜: 진단결과(2,335명) 3개 문항 평균 95.2점 도출 / 인식도(경영참여 인식도) 95.9점 · 소통(직원 의사소통) 95.5점 · 제도(노동이사제도 이해) 94.2점 · 95.2점(노사관계 만족도 평균대비 2.9점↑) / 노동이사 직원소통계획 수립(노조회의, 부서소통 등)</a:t>
            </a:r>
          </a:p>
        </p:txBody>
      </p:sp>
      <p:cxnSp>
        <p:nvCxnSpPr>
          <p:cNvPr id="67" name="Connector 47"/>
          <p:cNvCxnSpPr/>
          <p:nvPr/>
        </p:nvCxnSpPr>
        <p:spPr>
          <a:xfrm>
            <a:off x="3701022" y="6831391"/>
            <a:ext cx="0" cy="119426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8" name="핵심성과 박스"/>
          <p:cNvSpPr/>
          <p:nvPr/>
        </p:nvSpPr>
        <p:spPr>
          <a:xfrm>
            <a:off x="723130" y="8168087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9" name="핵심성과 라벨"/>
          <p:cNvSpPr/>
          <p:nvPr/>
        </p:nvSpPr>
        <p:spPr>
          <a:xfrm>
            <a:off x="756000" y="8200957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70" name="핵심성과 라벨"/>
          <p:cNvSpPr>
            <a:spLocks noGrp="1"/>
          </p:cNvSpPr>
          <p:nvPr>
            <p:ph type="body" sz="quarter" idx="48"/>
          </p:nvPr>
        </p:nvSpPr>
        <p:spPr>
          <a:xfrm>
            <a:off x="756000" y="8200957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71" name="핵심성과 문구"/>
          <p:cNvSpPr>
            <a:spLocks noGrp="1"/>
          </p:cNvSpPr>
          <p:nvPr>
            <p:ph type="body" sz="quarter" idx="49"/>
          </p:nvPr>
        </p:nvSpPr>
        <p:spPr>
          <a:xfrm>
            <a:off x="1501043" y="8190000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신뢰경영지수 역대 최고점(91점) 달성(아시아에서 가장 일하기 좋은 기업 200대 선정, GPTW)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공사·노조 CSR 점수 각 1.6, 0.7점 상승(공사 92.7점 → 94.3점, 노조 95.5점 → 96.2점)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67 서사 · 계층별 노무역량강화 모델 최적화(필요역량 → 계층별 역량모델 → 추진과제 → 4계층 교육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노사전략과 환경변화를 연결하는 계층별 노무역량강화 모델 최적화</a:t>
            </a:r>
          </a:p>
        </p:txBody>
      </p:sp>
      <p:sp>
        <p:nvSpPr>
          <p:cNvPr id="15" name="번호 띠 칩"/>
          <p:cNvSpPr/>
          <p:nvPr/>
        </p:nvSpPr>
        <p:spPr>
          <a:xfrm>
            <a:off x="6241922" y="832696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번호 띠 칩"/>
          <p:cNvSpPr>
            <a:spLocks noGrp="1"/>
          </p:cNvSpPr>
          <p:nvPr>
            <p:ph type="body" sz="quarter" idx="22"/>
          </p:nvPr>
        </p:nvSpPr>
        <p:spPr>
          <a:xfrm>
            <a:off x="6241922" y="832696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7" name="표 외곽"/>
          <p:cNvSpPr/>
          <p:nvPr/>
        </p:nvSpPr>
        <p:spPr>
          <a:xfrm>
            <a:off x="536870" y="1117565"/>
            <a:ext cx="6300000" cy="5564661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레일"/>
          <p:cNvSpPr/>
          <p:nvPr/>
        </p:nvSpPr>
        <p:spPr>
          <a:xfrm>
            <a:off x="547826" y="1134000"/>
            <a:ext cx="580696" cy="2534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레일"/>
          <p:cNvSpPr>
            <a:spLocks noGrp="1"/>
          </p:cNvSpPr>
          <p:nvPr>
            <p:ph type="body" sz="quarter" idx="23"/>
          </p:nvPr>
        </p:nvSpPr>
        <p:spPr>
          <a:xfrm>
            <a:off x="547826" y="1134000"/>
            <a:ext cx="580696" cy="2534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필요역량</a:t>
            </a:r>
          </a:p>
        </p:txBody>
      </p:sp>
      <p:sp>
        <p:nvSpPr>
          <p:cNvPr id="20" name="배너"/>
          <p:cNvSpPr/>
          <p:nvPr/>
        </p:nvSpPr>
        <p:spPr>
          <a:xfrm>
            <a:off x="1161391" y="1155913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1" name="배너"/>
          <p:cNvSpPr>
            <a:spLocks noGrp="1"/>
          </p:cNvSpPr>
          <p:nvPr>
            <p:ph type="body" sz="quarter" idx="24"/>
          </p:nvPr>
        </p:nvSpPr>
        <p:spPr>
          <a:xfrm>
            <a:off x="1161391" y="1155913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중장기 발전전략: 노무관리를 위한 대표 직무역량 3가지(소통 · 협상력 · 전문성)</a:t>
            </a:r>
          </a:p>
        </p:txBody>
      </p:sp>
      <p:sp>
        <p:nvSpPr>
          <p:cNvPr id="22" name="레일"/>
          <p:cNvSpPr/>
          <p:nvPr/>
        </p:nvSpPr>
        <p:spPr>
          <a:xfrm>
            <a:off x="547826" y="1403843"/>
            <a:ext cx="580696" cy="717652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3" name="레일"/>
          <p:cNvSpPr>
            <a:spLocks noGrp="1"/>
          </p:cNvSpPr>
          <p:nvPr>
            <p:ph type="body" sz="quarter" idx="25"/>
          </p:nvPr>
        </p:nvSpPr>
        <p:spPr>
          <a:xfrm>
            <a:off x="547826" y="1403843"/>
            <a:ext cx="580696" cy="71765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계층별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역량모델</a:t>
            </a:r>
          </a:p>
        </p:txBody>
      </p:sp>
      <p:sp>
        <p:nvSpPr>
          <p:cNvPr id="24" name="레일 삼각형"/>
          <p:cNvSpPr/>
          <p:nvPr/>
        </p:nvSpPr>
        <p:spPr>
          <a:xfrm>
            <a:off x="547826" y="1403843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5" name="단계"/>
          <p:cNvSpPr/>
          <p:nvPr/>
        </p:nvSpPr>
        <p:spPr>
          <a:xfrm>
            <a:off x="1161391" y="1425757"/>
            <a:ext cx="141202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6" name="단계"/>
          <p:cNvSpPr>
            <a:spLocks noGrp="1"/>
          </p:cNvSpPr>
          <p:nvPr>
            <p:ph type="body" sz="quarter" idx="26"/>
          </p:nvPr>
        </p:nvSpPr>
        <p:spPr>
          <a:xfrm>
            <a:off x="1161391" y="1425757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공통 기초(全직원)</a:t>
            </a:r>
          </a:p>
        </p:txBody>
      </p:sp>
      <p:sp>
        <p:nvSpPr>
          <p:cNvPr id="27" name="단계"/>
          <p:cNvSpPr/>
          <p:nvPr/>
        </p:nvSpPr>
        <p:spPr>
          <a:xfrm>
            <a:off x="2573413" y="1425757"/>
            <a:ext cx="1412022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8" name="단계"/>
          <p:cNvSpPr>
            <a:spLocks noGrp="1"/>
          </p:cNvSpPr>
          <p:nvPr>
            <p:ph type="body" sz="quarter" idx="27"/>
          </p:nvPr>
        </p:nvSpPr>
        <p:spPr>
          <a:xfrm>
            <a:off x="2573413" y="1425757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소통 노사주니어(일반조합원)</a:t>
            </a:r>
          </a:p>
        </p:txBody>
      </p:sp>
      <p:sp>
        <p:nvSpPr>
          <p:cNvPr id="29" name="단계"/>
          <p:cNvSpPr/>
          <p:nvPr/>
        </p:nvSpPr>
        <p:spPr>
          <a:xfrm>
            <a:off x="3985435" y="1425757"/>
            <a:ext cx="1412022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0" name="단계"/>
          <p:cNvSpPr>
            <a:spLocks noGrp="1"/>
          </p:cNvSpPr>
          <p:nvPr>
            <p:ph type="body" sz="quarter" idx="28"/>
          </p:nvPr>
        </p:nvSpPr>
        <p:spPr>
          <a:xfrm>
            <a:off x="3985435" y="1425757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협상력 노사담당자(노조간부)</a:t>
            </a:r>
          </a:p>
        </p:txBody>
      </p:sp>
      <p:sp>
        <p:nvSpPr>
          <p:cNvPr id="31" name="단계"/>
          <p:cNvSpPr/>
          <p:nvPr/>
        </p:nvSpPr>
        <p:spPr>
          <a:xfrm>
            <a:off x="5397457" y="1425757"/>
            <a:ext cx="1412022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2" name="단계"/>
          <p:cNvSpPr>
            <a:spLocks noGrp="1"/>
          </p:cNvSpPr>
          <p:nvPr>
            <p:ph type="body" sz="quarter" idx="29"/>
          </p:nvPr>
        </p:nvSpPr>
        <p:spPr>
          <a:xfrm>
            <a:off x="5397457" y="1425757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전문성 관리자, 경영진(노조집행부)</a:t>
            </a:r>
          </a:p>
        </p:txBody>
      </p:sp>
      <p:sp>
        <p:nvSpPr>
          <p:cNvPr id="33" name="단계 삼각형"/>
          <p:cNvSpPr/>
          <p:nvPr/>
        </p:nvSpPr>
        <p:spPr>
          <a:xfrm>
            <a:off x="2573413" y="1425756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4" name="단계 삼각형"/>
          <p:cNvSpPr/>
          <p:nvPr/>
        </p:nvSpPr>
        <p:spPr>
          <a:xfrm>
            <a:off x="3985434" y="1425756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5" name="단계 삼각형"/>
          <p:cNvSpPr/>
          <p:nvPr/>
        </p:nvSpPr>
        <p:spPr>
          <a:xfrm>
            <a:off x="5397456" y="1425756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6" name="칸 본문"/>
          <p:cNvSpPr txBox="1"/>
          <p:nvPr/>
        </p:nvSpPr>
        <p:spPr>
          <a:xfrm>
            <a:off x="1172348" y="1677757"/>
            <a:ext cx="1390109" cy="438261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sp>
        <p:nvSpPr>
          <p:cNvPr id="37" name="칸 본문"/>
          <p:cNvSpPr txBox="1"/>
          <p:nvPr/>
        </p:nvSpPr>
        <p:spPr>
          <a:xfrm>
            <a:off x="2584370" y="1677757"/>
            <a:ext cx="1390109" cy="438261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38" name="Connector 26"/>
          <p:cNvCxnSpPr/>
          <p:nvPr/>
        </p:nvCxnSpPr>
        <p:spPr>
          <a:xfrm>
            <a:off x="2573413" y="1710626"/>
            <a:ext cx="0" cy="372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9" name="칸 본문"/>
          <p:cNvSpPr txBox="1"/>
          <p:nvPr/>
        </p:nvSpPr>
        <p:spPr>
          <a:xfrm>
            <a:off x="3996391" y="1677757"/>
            <a:ext cx="1390109" cy="438261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40" name="Connector 28"/>
          <p:cNvCxnSpPr/>
          <p:nvPr/>
        </p:nvCxnSpPr>
        <p:spPr>
          <a:xfrm>
            <a:off x="3985435" y="1710626"/>
            <a:ext cx="0" cy="372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1" name="칸 본문"/>
          <p:cNvSpPr txBox="1"/>
          <p:nvPr/>
        </p:nvSpPr>
        <p:spPr>
          <a:xfrm>
            <a:off x="5408413" y="1677757"/>
            <a:ext cx="1390109" cy="438261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42" name="Connector 30"/>
          <p:cNvCxnSpPr/>
          <p:nvPr/>
        </p:nvCxnSpPr>
        <p:spPr>
          <a:xfrm>
            <a:off x="5397457" y="1710626"/>
            <a:ext cx="0" cy="372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3" name="레일"/>
          <p:cNvSpPr/>
          <p:nvPr/>
        </p:nvSpPr>
        <p:spPr>
          <a:xfrm>
            <a:off x="547826" y="2137930"/>
            <a:ext cx="580696" cy="77243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4" name="레일"/>
          <p:cNvSpPr>
            <a:spLocks noGrp="1"/>
          </p:cNvSpPr>
          <p:nvPr>
            <p:ph type="body" sz="quarter" idx="30"/>
          </p:nvPr>
        </p:nvSpPr>
        <p:spPr>
          <a:xfrm>
            <a:off x="547826" y="2137930"/>
            <a:ext cx="580696" cy="772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추진과제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도 출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31"/>
          </p:nvPr>
        </p:nvSpPr>
        <p:spPr>
          <a:xfrm>
            <a:off x="1172348" y="2159843"/>
            <a:ext cx="1860783" cy="745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❶ 조직문화교육 확대운영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❷ 사이버교육 실효성 제고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❷ 노무정보 HUB 구축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32"/>
          </p:nvPr>
        </p:nvSpPr>
        <p:spPr>
          <a:xfrm>
            <a:off x="3055043" y="2159843"/>
            <a:ext cx="1860783" cy="745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❸ 맞춤형 이음교육 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❹ 찾아가는 노사신뢰UP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❺ 소통촉진자 교육 다변화</a:t>
            </a:r>
          </a:p>
        </p:txBody>
      </p:sp>
      <p:cxnSp>
        <p:nvCxnSpPr>
          <p:cNvPr id="47" name="Connector 34"/>
          <p:cNvCxnSpPr/>
          <p:nvPr/>
        </p:nvCxnSpPr>
        <p:spPr>
          <a:xfrm>
            <a:off x="3044087" y="2192713"/>
            <a:ext cx="0" cy="67930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8" name="칸 본문"/>
          <p:cNvSpPr>
            <a:spLocks noGrp="1"/>
          </p:cNvSpPr>
          <p:nvPr>
            <p:ph type="body" sz="quarter" idx="33"/>
          </p:nvPr>
        </p:nvSpPr>
        <p:spPr>
          <a:xfrm>
            <a:off x="4937739" y="2159843"/>
            <a:ext cx="1860783" cy="745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❻ K-Study(CoP) 신설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❼ 외부기관 전문가과정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❼ 노동이사 역량강화</a:t>
            </a:r>
          </a:p>
        </p:txBody>
      </p:sp>
      <p:cxnSp>
        <p:nvCxnSpPr>
          <p:cNvPr id="49" name="Connector 36"/>
          <p:cNvCxnSpPr/>
          <p:nvPr/>
        </p:nvCxnSpPr>
        <p:spPr>
          <a:xfrm>
            <a:off x="4926783" y="2192713"/>
            <a:ext cx="0" cy="67930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0" name="레일"/>
          <p:cNvSpPr/>
          <p:nvPr/>
        </p:nvSpPr>
        <p:spPr>
          <a:xfrm>
            <a:off x="547826" y="2926800"/>
            <a:ext cx="580696" cy="77243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1" name="레일 태그"/>
          <p:cNvSpPr/>
          <p:nvPr/>
        </p:nvSpPr>
        <p:spPr>
          <a:xfrm>
            <a:off x="668144" y="2970626"/>
            <a:ext cx="340059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52" name="레일 태그"/>
          <p:cNvSpPr>
            <a:spLocks noGrp="1"/>
          </p:cNvSpPr>
          <p:nvPr>
            <p:ph type="body" sz="quarter" idx="34"/>
          </p:nvPr>
        </p:nvSpPr>
        <p:spPr>
          <a:xfrm>
            <a:off x="668144" y="2970626"/>
            <a:ext cx="340059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공통</a:t>
            </a:r>
          </a:p>
        </p:txBody>
      </p:sp>
      <p:sp>
        <p:nvSpPr>
          <p:cNvPr id="53" name="레일 라벨"/>
          <p:cNvSpPr>
            <a:spLocks noGrp="1"/>
          </p:cNvSpPr>
          <p:nvPr>
            <p:ph type="body" sz="quarter" idx="35"/>
          </p:nvPr>
        </p:nvSpPr>
        <p:spPr>
          <a:xfrm>
            <a:off x="547826" y="3156887"/>
            <a:ext cx="580696" cy="520435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기틀을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다지고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36"/>
          </p:nvPr>
        </p:nvSpPr>
        <p:spPr>
          <a:xfrm>
            <a:off x="1172348" y="2948713"/>
            <a:ext cx="2802130" cy="745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❶ 조직문화: 참여 부서 2배 확대, 진단·코칭 Tool 다변화 / 부서단위 + 개인단위, 대상확대(운영·실무직 등), 계층별 모듈 교육</a:t>
            </a:r>
          </a:p>
        </p:txBody>
      </p:sp>
      <p:sp>
        <p:nvSpPr>
          <p:cNvPr id="55" name="칸 본문"/>
          <p:cNvSpPr>
            <a:spLocks noGrp="1"/>
          </p:cNvSpPr>
          <p:nvPr>
            <p:ph type="body" sz="quarter" idx="37"/>
          </p:nvPr>
        </p:nvSpPr>
        <p:spPr>
          <a:xfrm>
            <a:off x="3996391" y="2948713"/>
            <a:ext cx="2802130" cy="745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❷ ON-OFF 교육연계: 대면교육 前 사이버교육 수강으로 교육 실효성 제고 * “온라인 교육내용이 문제로 출제되어 더 집중해서 수강했어요”(’25년 만족도조사 결과)</a:t>
            </a:r>
          </a:p>
        </p:txBody>
      </p:sp>
      <p:cxnSp>
        <p:nvCxnSpPr>
          <p:cNvPr id="56" name="Connector 42"/>
          <p:cNvCxnSpPr/>
          <p:nvPr/>
        </p:nvCxnSpPr>
        <p:spPr>
          <a:xfrm>
            <a:off x="3985435" y="2981583"/>
            <a:ext cx="0" cy="67930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7" name="레일"/>
          <p:cNvSpPr/>
          <p:nvPr/>
        </p:nvSpPr>
        <p:spPr>
          <a:xfrm>
            <a:off x="547826" y="3715670"/>
            <a:ext cx="580696" cy="1068261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8" name="레일 태그"/>
          <p:cNvSpPr/>
          <p:nvPr/>
        </p:nvSpPr>
        <p:spPr>
          <a:xfrm>
            <a:off x="503491" y="3759496"/>
            <a:ext cx="669365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59" name="레일 태그"/>
          <p:cNvSpPr>
            <a:spLocks noGrp="1"/>
          </p:cNvSpPr>
          <p:nvPr>
            <p:ph type="body" sz="quarter" idx="38"/>
          </p:nvPr>
        </p:nvSpPr>
        <p:spPr>
          <a:xfrm>
            <a:off x="503491" y="3759496"/>
            <a:ext cx="669365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노사주니어</a:t>
            </a:r>
          </a:p>
        </p:txBody>
      </p:sp>
      <p:sp>
        <p:nvSpPr>
          <p:cNvPr id="60" name="레일 라벨"/>
          <p:cNvSpPr>
            <a:spLocks noGrp="1"/>
          </p:cNvSpPr>
          <p:nvPr>
            <p:ph type="body" sz="quarter" idx="39"/>
          </p:nvPr>
        </p:nvSpPr>
        <p:spPr>
          <a:xfrm>
            <a:off x="547826" y="3945757"/>
            <a:ext cx="580696" cy="81626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소통을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시작으로</a:t>
            </a:r>
          </a:p>
        </p:txBody>
      </p:sp>
      <p:sp>
        <p:nvSpPr>
          <p:cNvPr id="61" name="칸 본문"/>
          <p:cNvSpPr>
            <a:spLocks noGrp="1"/>
          </p:cNvSpPr>
          <p:nvPr>
            <p:ph type="body" sz="quarter" idx="40"/>
          </p:nvPr>
        </p:nvSpPr>
        <p:spPr>
          <a:xfrm>
            <a:off x="1172348" y="3737583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❸ 입문교육(이음 120명): 직원의 니즈를 수렴 — 법령 해석(설명) 중심 설명 “법령 등 이해하기 너무 어려워요”(’24년 이음교육 피드백)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맞춤형 교육 추진: 노사관계 핵심 키워드(소통, 갈등)를 주제로 설정, 사례·체험 중심 맞춤형 강의</a:t>
            </a:r>
          </a:p>
        </p:txBody>
      </p:sp>
      <p:sp>
        <p:nvSpPr>
          <p:cNvPr id="62" name="칸 본문"/>
          <p:cNvSpPr>
            <a:spLocks noGrp="1"/>
          </p:cNvSpPr>
          <p:nvPr>
            <p:ph type="body" sz="quarter" idx="41"/>
          </p:nvPr>
        </p:nvSpPr>
        <p:spPr>
          <a:xfrm>
            <a:off x="3996391" y="3737583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❹ 찾아가는 신뢰UP(80명): 현안 발생시 개별적 시스템 자문 / 노무환경 변화에 직원관심 증가 “뉴스에 자주 나오는 노란봉투법 개정에 대해 알고 싶어요”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L-Guard 內 주요 자문 사례(64개) 공유 / 新정부정책 등 변경사항 기초교육</a:t>
            </a:r>
          </a:p>
        </p:txBody>
      </p:sp>
      <p:cxnSp>
        <p:nvCxnSpPr>
          <p:cNvPr id="63" name="Connector 48"/>
          <p:cNvCxnSpPr/>
          <p:nvPr/>
        </p:nvCxnSpPr>
        <p:spPr>
          <a:xfrm>
            <a:off x="3985435" y="3770452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4" name="레일"/>
          <p:cNvSpPr/>
          <p:nvPr/>
        </p:nvSpPr>
        <p:spPr>
          <a:xfrm>
            <a:off x="547826" y="4800365"/>
            <a:ext cx="580696" cy="1068261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5" name="레일 태그"/>
          <p:cNvSpPr/>
          <p:nvPr/>
        </p:nvSpPr>
        <p:spPr>
          <a:xfrm>
            <a:off x="503491" y="4844191"/>
            <a:ext cx="669365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66" name="레일 태그"/>
          <p:cNvSpPr>
            <a:spLocks noGrp="1"/>
          </p:cNvSpPr>
          <p:nvPr>
            <p:ph type="body" sz="quarter" idx="42"/>
          </p:nvPr>
        </p:nvSpPr>
        <p:spPr>
          <a:xfrm>
            <a:off x="503491" y="4844191"/>
            <a:ext cx="669365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노사담당자</a:t>
            </a:r>
          </a:p>
        </p:txBody>
      </p:sp>
      <p:sp>
        <p:nvSpPr>
          <p:cNvPr id="67" name="레일 라벨"/>
          <p:cNvSpPr>
            <a:spLocks noGrp="1"/>
          </p:cNvSpPr>
          <p:nvPr>
            <p:ph type="body" sz="quarter" idx="43"/>
          </p:nvPr>
        </p:nvSpPr>
        <p:spPr>
          <a:xfrm>
            <a:off x="547826" y="5030452"/>
            <a:ext cx="580696" cy="81626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상생의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협상력을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배양하고</a:t>
            </a:r>
          </a:p>
        </p:txBody>
      </p:sp>
      <p:sp>
        <p:nvSpPr>
          <p:cNvPr id="68" name="칸 본문"/>
          <p:cNvSpPr>
            <a:spLocks noGrp="1"/>
          </p:cNvSpPr>
          <p:nvPr>
            <p:ph type="body" sz="quarter" idx="44"/>
          </p:nvPr>
        </p:nvSpPr>
        <p:spPr>
          <a:xfrm>
            <a:off x="1172348" y="4822278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❺ 소통촉진자(506명): 기존 단발성 교육 — 사업장 현장방문, 갈등상황 Role-Play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‘소통·갈등’에 ‘권익보호’를 더한 다각적 교육: 소통촉진자 과정(소통·갈등 해결 교육과정 정규화·체계화) + 찾아가는 권익보호(성희롱·괴롭힘 예방·대처 교육)</a:t>
            </a:r>
          </a:p>
        </p:txBody>
      </p:sp>
      <p:sp>
        <p:nvSpPr>
          <p:cNvPr id="69" name="칸 본문"/>
          <p:cNvSpPr>
            <a:spLocks noGrp="1"/>
          </p:cNvSpPr>
          <p:nvPr>
            <p:ph type="body" sz="quarter" idx="45"/>
          </p:nvPr>
        </p:nvSpPr>
        <p:spPr>
          <a:xfrm>
            <a:off x="3996391" y="4822278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❻ 학습연구회 K-Study(20명): 신설 학습과 업무가 연결된 CoP ‘K-Study(노사관계)’ 도입 — 노조법 개정, 정책변화 등 전문가 기초·심화교육 / 업무와 연관된 과제(제19차 단체협약 안건) 부여, 사내전문가 멘토링 및 수행결과 단체협약 반영</a:t>
            </a:r>
          </a:p>
        </p:txBody>
      </p:sp>
      <p:cxnSp>
        <p:nvCxnSpPr>
          <p:cNvPr id="70" name="Connector 54"/>
          <p:cNvCxnSpPr/>
          <p:nvPr/>
        </p:nvCxnSpPr>
        <p:spPr>
          <a:xfrm>
            <a:off x="3985435" y="4855148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1" name="레일"/>
          <p:cNvSpPr/>
          <p:nvPr/>
        </p:nvSpPr>
        <p:spPr>
          <a:xfrm>
            <a:off x="547826" y="5885061"/>
            <a:ext cx="580696" cy="780730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2" name="레일 태그"/>
          <p:cNvSpPr/>
          <p:nvPr/>
        </p:nvSpPr>
        <p:spPr>
          <a:xfrm>
            <a:off x="430684" y="6049409"/>
            <a:ext cx="814980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73" name="레일 태그"/>
          <p:cNvSpPr>
            <a:spLocks noGrp="1"/>
          </p:cNvSpPr>
          <p:nvPr>
            <p:ph type="body" sz="quarter" idx="46"/>
          </p:nvPr>
        </p:nvSpPr>
        <p:spPr>
          <a:xfrm>
            <a:off x="430684" y="6049409"/>
            <a:ext cx="814980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관리자·경영진</a:t>
            </a:r>
          </a:p>
        </p:txBody>
      </p:sp>
      <p:sp>
        <p:nvSpPr>
          <p:cNvPr id="74" name="레일 라벨"/>
          <p:cNvSpPr>
            <a:spLocks noGrp="1"/>
          </p:cNvSpPr>
          <p:nvPr>
            <p:ph type="body" sz="quarter" idx="47"/>
          </p:nvPr>
        </p:nvSpPr>
        <p:spPr>
          <a:xfrm>
            <a:off x="547826" y="6235670"/>
            <a:ext cx="580696" cy="408209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전문성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 보</a:t>
            </a:r>
          </a:p>
        </p:txBody>
      </p:sp>
      <p:sp>
        <p:nvSpPr>
          <p:cNvPr id="75" name="레일 삼각형"/>
          <p:cNvSpPr/>
          <p:nvPr/>
        </p:nvSpPr>
        <p:spPr>
          <a:xfrm>
            <a:off x="547826" y="5885060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6" name="칸 본문"/>
          <p:cNvSpPr>
            <a:spLocks noGrp="1"/>
          </p:cNvSpPr>
          <p:nvPr>
            <p:ph type="body" sz="quarter" idx="48"/>
          </p:nvPr>
        </p:nvSpPr>
        <p:spPr>
          <a:xfrm>
            <a:off x="1172348" y="5906974"/>
            <a:ext cx="2802130" cy="745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❼ 노사 전문가 과정: 관리자 전문 노무역량 및 노조이해 — 전문 위탁교육(선우재, 고려대 등 7명), 1~2급 승진자 노사관계 교육(위원장)</a:t>
            </a:r>
          </a:p>
        </p:txBody>
      </p:sp>
      <p:sp>
        <p:nvSpPr>
          <p:cNvPr id="77" name="칸 본문"/>
          <p:cNvSpPr>
            <a:spLocks noGrp="1"/>
          </p:cNvSpPr>
          <p:nvPr>
            <p:ph type="body" sz="quarter" idx="49"/>
          </p:nvPr>
        </p:nvSpPr>
        <p:spPr>
          <a:xfrm>
            <a:off x="3996391" y="5906974"/>
            <a:ext cx="2802130" cy="745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노동이사 내부경영, 외부전문교육 — 사내 직무교육(경영, 청렴 등) 수강, 석사학위 취득(고려대 노동법학)</a:t>
            </a:r>
          </a:p>
        </p:txBody>
      </p:sp>
      <p:cxnSp>
        <p:nvCxnSpPr>
          <p:cNvPr id="78" name="Connector 61"/>
          <p:cNvCxnSpPr/>
          <p:nvPr/>
        </p:nvCxnSpPr>
        <p:spPr>
          <a:xfrm>
            <a:off x="3985435" y="5939843"/>
            <a:ext cx="0" cy="67930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9" name="핵심성과 박스"/>
          <p:cNvSpPr/>
          <p:nvPr/>
        </p:nvSpPr>
        <p:spPr>
          <a:xfrm>
            <a:off x="536870" y="6769878"/>
            <a:ext cx="6300000" cy="88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0" name="핵심성과 라벨"/>
          <p:cNvSpPr/>
          <p:nvPr/>
        </p:nvSpPr>
        <p:spPr>
          <a:xfrm>
            <a:off x="569739" y="6802748"/>
            <a:ext cx="657391" cy="81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81" name="핵심성과 라벨"/>
          <p:cNvSpPr>
            <a:spLocks noGrp="1"/>
          </p:cNvSpPr>
          <p:nvPr>
            <p:ph type="body" sz="quarter" idx="50"/>
          </p:nvPr>
        </p:nvSpPr>
        <p:spPr>
          <a:xfrm>
            <a:off x="569739" y="6802748"/>
            <a:ext cx="657391" cy="81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82" name="핵심성과 문구"/>
          <p:cNvSpPr>
            <a:spLocks noGrp="1"/>
          </p:cNvSpPr>
          <p:nvPr>
            <p:ph type="body" sz="quarter" idx="51"/>
          </p:nvPr>
        </p:nvSpPr>
        <p:spPr>
          <a:xfrm>
            <a:off x="1314783" y="6791791"/>
            <a:ext cx="5456348" cy="84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교육관련 문항 역대 최고득점으로 3년 연속 노사관계 만족도 지속 상승 견인(91.1 → 91.6 → 92.3점)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역량강화 기여도 1.0점 상승(92.0 → 93.0점), 프로그램 효과성 1.1점 상승, 피드백 수용성 1.3점 상승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68 서사 · 직원이 바라는 일터의 조건, 노사와 직원이 함께 솔루션 도출(’24년 환류 → 맞춤형 개선 적기 추진 3칸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직원 숙원을 해소하고, 더 나은 일터를 설계하는 노사 파트너십</a:t>
            </a:r>
          </a:p>
        </p:txBody>
      </p:sp>
      <p:sp>
        <p:nvSpPr>
          <p:cNvPr id="14" name="번호 띠 칩"/>
          <p:cNvSpPr/>
          <p:nvPr/>
        </p:nvSpPr>
        <p:spPr>
          <a:xfrm>
            <a:off x="6451874" y="843652"/>
            <a:ext cx="505517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번호 띠 칩"/>
          <p:cNvSpPr>
            <a:spLocks noGrp="1"/>
          </p:cNvSpPr>
          <p:nvPr>
            <p:ph type="body" sz="quarter" idx="22"/>
          </p:nvPr>
        </p:nvSpPr>
        <p:spPr>
          <a:xfrm>
            <a:off x="6451874" y="843652"/>
            <a:ext cx="50551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6" name="형광 밑줄"/>
          <p:cNvSpPr/>
          <p:nvPr/>
        </p:nvSpPr>
        <p:spPr>
          <a:xfrm>
            <a:off x="723130" y="1358609"/>
            <a:ext cx="3503177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소제목"/>
          <p:cNvSpPr>
            <a:spLocks noGrp="1"/>
          </p:cNvSpPr>
          <p:nvPr>
            <p:ph type="body" sz="quarter" idx="23"/>
          </p:nvPr>
        </p:nvSpPr>
        <p:spPr>
          <a:xfrm>
            <a:off x="723130" y="120521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직원이 바라는 일터의 조건, 노사와 직원이 함께 솔루션 도출</a:t>
            </a:r>
          </a:p>
        </p:txBody>
      </p:sp>
      <p:sp>
        <p:nvSpPr>
          <p:cNvPr id="18" name="태그칩"/>
          <p:cNvSpPr/>
          <p:nvPr/>
        </p:nvSpPr>
        <p:spPr>
          <a:xfrm>
            <a:off x="4324916" y="1238087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태그칩"/>
          <p:cNvSpPr>
            <a:spLocks noGrp="1"/>
          </p:cNvSpPr>
          <p:nvPr>
            <p:ph type="body" sz="quarter" idx="24"/>
          </p:nvPr>
        </p:nvSpPr>
        <p:spPr>
          <a:xfrm>
            <a:off x="4324916" y="1238087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20" name="태그칩"/>
          <p:cNvSpPr/>
          <p:nvPr/>
        </p:nvSpPr>
        <p:spPr>
          <a:xfrm>
            <a:off x="4876037" y="1238087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태그칩"/>
          <p:cNvSpPr>
            <a:spLocks noGrp="1"/>
          </p:cNvSpPr>
          <p:nvPr>
            <p:ph type="body" sz="quarter" idx="25"/>
          </p:nvPr>
        </p:nvSpPr>
        <p:spPr>
          <a:xfrm>
            <a:off x="4876037" y="1238087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22" name="표 외곽"/>
          <p:cNvSpPr/>
          <p:nvPr/>
        </p:nvSpPr>
        <p:spPr>
          <a:xfrm>
            <a:off x="723130" y="1490087"/>
            <a:ext cx="6300000" cy="2892522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3" name="레일"/>
          <p:cNvSpPr/>
          <p:nvPr/>
        </p:nvSpPr>
        <p:spPr>
          <a:xfrm>
            <a:off x="734087" y="1506522"/>
            <a:ext cx="580696" cy="1172348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4" name="레일"/>
          <p:cNvSpPr>
            <a:spLocks noGrp="1"/>
          </p:cNvSpPr>
          <p:nvPr>
            <p:ph type="body" sz="quarter" idx="26"/>
          </p:nvPr>
        </p:nvSpPr>
        <p:spPr>
          <a:xfrm>
            <a:off x="734087" y="1506522"/>
            <a:ext cx="580696" cy="1172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’24년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류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1358609" y="1528435"/>
            <a:ext cx="2802130" cy="909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갈등진단 직원이 느끼는 개선과제 3가지 ①승진·전보 ②직군간 격차 ③근로조건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8"/>
          </p:nvPr>
        </p:nvSpPr>
        <p:spPr>
          <a:xfrm>
            <a:off x="4182652" y="1528435"/>
            <a:ext cx="2802130" cy="909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’24년 갈등진단 결과에 대한 유형별 구체적 개선방안 마련 필요</a:t>
            </a:r>
          </a:p>
        </p:txBody>
      </p:sp>
      <p:cxnSp>
        <p:nvCxnSpPr>
          <p:cNvPr id="27" name="Connector 17"/>
          <p:cNvCxnSpPr/>
          <p:nvPr/>
        </p:nvCxnSpPr>
        <p:spPr>
          <a:xfrm>
            <a:off x="4171696" y="1561304"/>
            <a:ext cx="0" cy="84365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8" name="배너"/>
          <p:cNvSpPr/>
          <p:nvPr/>
        </p:nvSpPr>
        <p:spPr>
          <a:xfrm>
            <a:off x="1347652" y="2454261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9" name="배너"/>
          <p:cNvSpPr>
            <a:spLocks noGrp="1"/>
          </p:cNvSpPr>
          <p:nvPr>
            <p:ph type="body" sz="quarter" idx="29"/>
          </p:nvPr>
        </p:nvSpPr>
        <p:spPr>
          <a:xfrm>
            <a:off x="1347652" y="2454261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노사공동 TF 등 운영 및 직원 참여 기반 맞춤형 개선 적기 추진</a:t>
            </a:r>
          </a:p>
        </p:txBody>
      </p:sp>
      <p:sp>
        <p:nvSpPr>
          <p:cNvPr id="30" name="레일"/>
          <p:cNvSpPr/>
          <p:nvPr/>
        </p:nvSpPr>
        <p:spPr>
          <a:xfrm>
            <a:off x="734087" y="2695304"/>
            <a:ext cx="580696" cy="1670870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1" name="레일"/>
          <p:cNvSpPr>
            <a:spLocks noGrp="1"/>
          </p:cNvSpPr>
          <p:nvPr>
            <p:ph type="body" sz="quarter" idx="30"/>
          </p:nvPr>
        </p:nvSpPr>
        <p:spPr>
          <a:xfrm>
            <a:off x="734087" y="2695304"/>
            <a:ext cx="580696" cy="167087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내 용</a:t>
            </a:r>
          </a:p>
        </p:txBody>
      </p:sp>
      <p:sp>
        <p:nvSpPr>
          <p:cNvPr id="32" name="레일 삼각형"/>
          <p:cNvSpPr/>
          <p:nvPr/>
        </p:nvSpPr>
        <p:spPr>
          <a:xfrm>
            <a:off x="734086" y="2695304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1"/>
          </p:nvPr>
        </p:nvSpPr>
        <p:spPr>
          <a:xfrm>
            <a:off x="1358609" y="2717217"/>
            <a:ext cx="1860783" cy="164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승진 승진시험 최초시행, 육아휴직 승진차별 폐지: 승진시험 제도 최적화(노사공동 가족친화경영 TF 등) — 평가배점 상향 50점 → 55점, 승진비율 설정 심사 7 : 시험 3, 시험시간 확대 80분 → 90분, 육아휴직 응시 허용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시험승진 35명(25.7%) 배출(육아휴직 중 1명 포함)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2"/>
          </p:nvPr>
        </p:nvSpPr>
        <p:spPr>
          <a:xfrm>
            <a:off x="3241304" y="2717217"/>
            <a:ext cx="1860783" cy="164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전보 친분과 인맥 등이 아닌 객관적 전보 기준 수립: 노사공동 본사-본부 TF 및 全직원 설문을 통한 전보 기준 수립 — 근무부서 여건(오지 등)을 고려한 마일리지 산정, 부서별 마일리지 비율 설정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전보마일리지 도입(’26년 시행)</a:t>
            </a:r>
          </a:p>
        </p:txBody>
      </p:sp>
      <p:cxnSp>
        <p:nvCxnSpPr>
          <p:cNvPr id="35" name="Connector 23"/>
          <p:cNvCxnSpPr/>
          <p:nvPr/>
        </p:nvCxnSpPr>
        <p:spPr>
          <a:xfrm>
            <a:off x="3230348" y="2750087"/>
            <a:ext cx="0" cy="1577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6" name="칸 본문"/>
          <p:cNvSpPr>
            <a:spLocks noGrp="1"/>
          </p:cNvSpPr>
          <p:nvPr>
            <p:ph type="body" sz="quarter" idx="33"/>
          </p:nvPr>
        </p:nvSpPr>
        <p:spPr>
          <a:xfrm>
            <a:off x="5124000" y="2717217"/>
            <a:ext cx="1860783" cy="164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직군격차 근무유형(교대-통상)에 따른 휴식권 제한 등 해소: 노사공동 교대근무 TF 및 설문, 전사 설명회 등을 통한 제도개선 — 교대근무자 중간휴가 신설, 공백 해소(운영지원반 운영)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교대근무자 휴식권 강화 및 초과근무 최소화</a:t>
            </a:r>
          </a:p>
        </p:txBody>
      </p:sp>
      <p:cxnSp>
        <p:nvCxnSpPr>
          <p:cNvPr id="37" name="Connector 25"/>
          <p:cNvCxnSpPr/>
          <p:nvPr/>
        </p:nvCxnSpPr>
        <p:spPr>
          <a:xfrm>
            <a:off x="5113043" y="2750087"/>
            <a:ext cx="0" cy="1577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8" name="핵심성과 박스"/>
          <p:cNvSpPr/>
          <p:nvPr/>
        </p:nvSpPr>
        <p:spPr>
          <a:xfrm>
            <a:off x="723130" y="4470261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9" name="핵심성과 라벨"/>
          <p:cNvSpPr/>
          <p:nvPr/>
        </p:nvSpPr>
        <p:spPr>
          <a:xfrm>
            <a:off x="756000" y="4508609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40" name="핵심성과 라벨"/>
          <p:cNvSpPr>
            <a:spLocks noGrp="1"/>
          </p:cNvSpPr>
          <p:nvPr>
            <p:ph type="body" sz="quarter" idx="34"/>
          </p:nvPr>
        </p:nvSpPr>
        <p:spPr>
          <a:xfrm>
            <a:off x="756000" y="4508609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1" name="핵심성과 문구"/>
          <p:cNvSpPr>
            <a:spLocks noGrp="1"/>
          </p:cNvSpPr>
          <p:nvPr>
            <p:ph type="body" sz="quarter" idx="35"/>
          </p:nvPr>
        </p:nvSpPr>
        <p:spPr>
          <a:xfrm>
            <a:off x="1501043" y="4486696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갈등진단 결과 全유형 갈등점수 하향, 종합청렴도 內 청렴체감도 공기업 유일 1등급 달성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69 서사 · 모두의 약속 ‘제19차 단체협약’ 체결(추진배경 → 교섭과정 3단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4456711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노동존중 실현, 일-생활 균형을 위한 모두의 약속 ‘제19차 단체협약’ 체결</a:t>
            </a:r>
          </a:p>
        </p:txBody>
      </p:sp>
      <p:sp>
        <p:nvSpPr>
          <p:cNvPr id="12" name="태그칩"/>
          <p:cNvSpPr/>
          <p:nvPr/>
        </p:nvSpPr>
        <p:spPr>
          <a:xfrm>
            <a:off x="5092189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5092189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4" name="표 외곽"/>
          <p:cNvSpPr/>
          <p:nvPr/>
        </p:nvSpPr>
        <p:spPr>
          <a:xfrm>
            <a:off x="536870" y="1051826"/>
            <a:ext cx="6300000" cy="3177391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547826" y="1068261"/>
            <a:ext cx="580696" cy="65191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068261"/>
            <a:ext cx="580696" cy="6519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3"/>
          </p:nvPr>
        </p:nvSpPr>
        <p:spPr>
          <a:xfrm>
            <a:off x="1172348" y="1090174"/>
            <a:ext cx="2802130" cy="624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대외환경 국정94 노동존중 실현, 노동기본권 보장 / 국정95 일·쉼 공존하는 행복한 일터 조성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4"/>
          </p:nvPr>
        </p:nvSpPr>
        <p:spPr>
          <a:xfrm>
            <a:off x="3996391" y="1090174"/>
            <a:ext cx="2802130" cy="624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대내환경 안전우선, 신규사업(초순수) 등 경영환경변화 / 단체협약 직원 관심 증가, 근로조건 개선요구</a:t>
            </a:r>
          </a:p>
        </p:txBody>
      </p:sp>
      <p:cxnSp>
        <p:nvCxnSpPr>
          <p:cNvPr id="19" name="Connector 13"/>
          <p:cNvCxnSpPr/>
          <p:nvPr/>
        </p:nvCxnSpPr>
        <p:spPr>
          <a:xfrm>
            <a:off x="3985435" y="1123043"/>
            <a:ext cx="0" cy="55878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0" name="레일"/>
          <p:cNvSpPr/>
          <p:nvPr/>
        </p:nvSpPr>
        <p:spPr>
          <a:xfrm>
            <a:off x="547826" y="1736609"/>
            <a:ext cx="580696" cy="1265478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5"/>
          </p:nvPr>
        </p:nvSpPr>
        <p:spPr>
          <a:xfrm>
            <a:off x="547826" y="1736609"/>
            <a:ext cx="580696" cy="126547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교섭과정</a:t>
            </a:r>
          </a:p>
        </p:txBody>
      </p:sp>
      <p:sp>
        <p:nvSpPr>
          <p:cNvPr id="22" name="레일 삼각형"/>
          <p:cNvSpPr/>
          <p:nvPr/>
        </p:nvSpPr>
        <p:spPr>
          <a:xfrm>
            <a:off x="547826" y="1736608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3" name="단계"/>
          <p:cNvSpPr/>
          <p:nvPr/>
        </p:nvSpPr>
        <p:spPr>
          <a:xfrm>
            <a:off x="1161391" y="1758522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4" name="단계"/>
          <p:cNvSpPr>
            <a:spLocks noGrp="1"/>
          </p:cNvSpPr>
          <p:nvPr>
            <p:ph type="body" sz="quarter" idx="26"/>
          </p:nvPr>
        </p:nvSpPr>
        <p:spPr>
          <a:xfrm>
            <a:off x="1161391" y="1758522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직원 참여로 안건 도출</a:t>
            </a:r>
          </a:p>
        </p:txBody>
      </p:sp>
      <p:sp>
        <p:nvSpPr>
          <p:cNvPr id="25" name="단계"/>
          <p:cNvSpPr/>
          <p:nvPr/>
        </p:nvSpPr>
        <p:spPr>
          <a:xfrm>
            <a:off x="3044087" y="1758522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6" name="단계"/>
          <p:cNvSpPr>
            <a:spLocks noGrp="1"/>
          </p:cNvSpPr>
          <p:nvPr>
            <p:ph type="body" sz="quarter" idx="27"/>
          </p:nvPr>
        </p:nvSpPr>
        <p:spPr>
          <a:xfrm>
            <a:off x="3044087" y="1758522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신뢰 기반 교섭과 공감 형성</a:t>
            </a:r>
          </a:p>
        </p:txBody>
      </p:sp>
      <p:sp>
        <p:nvSpPr>
          <p:cNvPr id="27" name="단계"/>
          <p:cNvSpPr/>
          <p:nvPr/>
        </p:nvSpPr>
        <p:spPr>
          <a:xfrm>
            <a:off x="4926783" y="1758522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8" name="단계"/>
          <p:cNvSpPr>
            <a:spLocks noGrp="1"/>
          </p:cNvSpPr>
          <p:nvPr>
            <p:ph type="body" sz="quarter" idx="28"/>
          </p:nvPr>
        </p:nvSpPr>
        <p:spPr>
          <a:xfrm>
            <a:off x="4926783" y="1758522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다각적 검증으로 이행력 확보</a:t>
            </a:r>
          </a:p>
        </p:txBody>
      </p:sp>
      <p:sp>
        <p:nvSpPr>
          <p:cNvPr id="29" name="단계 삼각형"/>
          <p:cNvSpPr/>
          <p:nvPr/>
        </p:nvSpPr>
        <p:spPr>
          <a:xfrm>
            <a:off x="3044086" y="1758521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0" name="단계 삼각형"/>
          <p:cNvSpPr/>
          <p:nvPr/>
        </p:nvSpPr>
        <p:spPr>
          <a:xfrm>
            <a:off x="4926782" y="1758521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1" name="칸 본문"/>
          <p:cNvSpPr>
            <a:spLocks noGrp="1"/>
          </p:cNvSpPr>
          <p:nvPr>
            <p:ph type="body" sz="quarter" idx="29"/>
          </p:nvPr>
        </p:nvSpPr>
        <p:spPr>
          <a:xfrm>
            <a:off x="1172348" y="2010522"/>
            <a:ext cx="1860783" cy="9860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현장, 교육 등 의견 수렴(40건): K-water(16건) 찾아가는 유역간담회(8회), 톡톡수렴, K-Study(CoP) 과제 / 노동조합(24건) 현장지부 방문(70회), 조합원의 목소리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0"/>
          </p:nvPr>
        </p:nvSpPr>
        <p:spPr>
          <a:xfrm>
            <a:off x="3055043" y="2010522"/>
            <a:ext cx="1860783" cy="9860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실무교섭 정례화 및 확대운영 * ’23년 2회 → ’25년 4회(월 1회)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실적, 사례 등 투명한 정보공유 * (使) 경영현황 등, (勞) 실제 현장사례</a:t>
            </a:r>
          </a:p>
        </p:txBody>
      </p:sp>
      <p:cxnSp>
        <p:nvCxnSpPr>
          <p:cNvPr id="33" name="Connector 23"/>
          <p:cNvCxnSpPr/>
          <p:nvPr/>
        </p:nvCxnSpPr>
        <p:spPr>
          <a:xfrm>
            <a:off x="3044087" y="2043391"/>
            <a:ext cx="0" cy="92034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4" name="칸 본문"/>
          <p:cNvSpPr>
            <a:spLocks noGrp="1"/>
          </p:cNvSpPr>
          <p:nvPr>
            <p:ph type="body" sz="quarter" idx="31"/>
          </p:nvPr>
        </p:nvSpPr>
        <p:spPr>
          <a:xfrm>
            <a:off x="4937739" y="2010522"/>
            <a:ext cx="1860783" cy="9860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실효성(내부), 적법성(외부) 차원의 교차검증 완료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(실효성) 노동이사, 직원이사회 / (적법성) 대외 전문기관 활용</a:t>
            </a:r>
          </a:p>
        </p:txBody>
      </p:sp>
      <p:cxnSp>
        <p:nvCxnSpPr>
          <p:cNvPr id="35" name="Connector 25"/>
          <p:cNvCxnSpPr/>
          <p:nvPr/>
        </p:nvCxnSpPr>
        <p:spPr>
          <a:xfrm>
            <a:off x="4926783" y="2043391"/>
            <a:ext cx="0" cy="92034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6" name="레일"/>
          <p:cNvSpPr/>
          <p:nvPr/>
        </p:nvSpPr>
        <p:spPr>
          <a:xfrm>
            <a:off x="547826" y="3018522"/>
            <a:ext cx="580696" cy="1194261"/>
          </a:xfrm>
          <a:prstGeom prst="rect">
            <a:avLst/>
          </a:prstGeom>
          <a:pattFill prst="trellis">
            <a:fgClr>
              <a:srgbClr val="00A4A8"/>
            </a:fgClr>
            <a:bgClr>
              <a:srgbClr val="008C6B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7" name="레일"/>
          <p:cNvSpPr>
            <a:spLocks noGrp="1"/>
          </p:cNvSpPr>
          <p:nvPr>
            <p:ph type="body" sz="quarter" idx="32"/>
          </p:nvPr>
        </p:nvSpPr>
        <p:spPr>
          <a:xfrm>
            <a:off x="547826" y="3018522"/>
            <a:ext cx="580696" cy="1194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8" name="배너"/>
          <p:cNvSpPr/>
          <p:nvPr/>
        </p:nvSpPr>
        <p:spPr>
          <a:xfrm>
            <a:off x="1161391" y="3040435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9" name="배너"/>
          <p:cNvSpPr>
            <a:spLocks noGrp="1"/>
          </p:cNvSpPr>
          <p:nvPr>
            <p:ph type="body" sz="quarter" idx="33"/>
          </p:nvPr>
        </p:nvSpPr>
        <p:spPr>
          <a:xfrm>
            <a:off x="1161391" y="3040435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38년 연속 無분규, 정책이행과 조합원 복지증진이 조화로운 ‘제19차 단체협약’ 개정!</a:t>
            </a:r>
          </a:p>
        </p:txBody>
      </p:sp>
      <p:sp>
        <p:nvSpPr>
          <p:cNvPr id="40" name="머리칸"/>
          <p:cNvSpPr/>
          <p:nvPr/>
        </p:nvSpPr>
        <p:spPr>
          <a:xfrm>
            <a:off x="1161391" y="327600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1" name="머리칸"/>
          <p:cNvSpPr>
            <a:spLocks noGrp="1"/>
          </p:cNvSpPr>
          <p:nvPr>
            <p:ph type="body" sz="quarter" idx="34"/>
          </p:nvPr>
        </p:nvSpPr>
        <p:spPr>
          <a:xfrm>
            <a:off x="1161391" y="327600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21건 합의</a:t>
            </a:r>
          </a:p>
        </p:txBody>
      </p:sp>
      <p:sp>
        <p:nvSpPr>
          <p:cNvPr id="42" name="머리칸"/>
          <p:cNvSpPr/>
          <p:nvPr/>
        </p:nvSpPr>
        <p:spPr>
          <a:xfrm>
            <a:off x="3985435" y="327600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3" name="머리칸"/>
          <p:cNvSpPr>
            <a:spLocks noGrp="1"/>
          </p:cNvSpPr>
          <p:nvPr>
            <p:ph type="body" sz="quarter" idx="35"/>
          </p:nvPr>
        </p:nvSpPr>
        <p:spPr>
          <a:xfrm>
            <a:off x="3985435" y="327600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21건 합의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36"/>
          </p:nvPr>
        </p:nvSpPr>
        <p:spPr>
          <a:xfrm>
            <a:off x="1172348" y="3517043"/>
            <a:ext cx="2802130" cy="690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노동존중: 노조 전임직원 활동보장, 경영참여 인사위원회 등 조합참석 확대 / 국정94 노동존중 실현 및 경영참여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37"/>
          </p:nvPr>
        </p:nvSpPr>
        <p:spPr>
          <a:xfrm>
            <a:off x="3996391" y="3517043"/>
            <a:ext cx="2802130" cy="690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일-생활 자유로운 휴가사용, 가족친화문화 조성, 권리보호 권익·개인정보 보호, 연결되지 않을 권리 / 국정95 일·생활 균형 및 갑질 없는 일터 실현</a:t>
            </a:r>
          </a:p>
        </p:txBody>
      </p:sp>
      <p:cxnSp>
        <p:nvCxnSpPr>
          <p:cNvPr id="46" name="Connector 32"/>
          <p:cNvCxnSpPr/>
          <p:nvPr/>
        </p:nvCxnSpPr>
        <p:spPr>
          <a:xfrm>
            <a:off x="3985435" y="3549913"/>
            <a:ext cx="0" cy="624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70 서사 · 가족친화경영 혁신 후 ‘직원의 목소리’ 청취(변화·성과 → 중간점검 → 한 번 더 혁신 3칸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가족과 안전은 지속가능한 근로조건의 근간, 노사가 함께 지속 혁신</a:t>
            </a:r>
          </a:p>
        </p:txBody>
      </p:sp>
      <p:sp>
        <p:nvSpPr>
          <p:cNvPr id="14" name="형광 밑줄"/>
          <p:cNvSpPr/>
          <p:nvPr/>
        </p:nvSpPr>
        <p:spPr>
          <a:xfrm>
            <a:off x="723130" y="1358609"/>
            <a:ext cx="3830769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소제목"/>
          <p:cNvSpPr>
            <a:spLocks noGrp="1"/>
          </p:cNvSpPr>
          <p:nvPr>
            <p:ph type="body" sz="quarter" idx="22"/>
          </p:nvPr>
        </p:nvSpPr>
        <p:spPr>
          <a:xfrm>
            <a:off x="723130" y="120521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가족친화경영 혁신 후, ‘직원의 목소리’를 청취하여 ‘한 번 더 혁신’</a:t>
            </a:r>
          </a:p>
        </p:txBody>
      </p:sp>
      <p:sp>
        <p:nvSpPr>
          <p:cNvPr id="16" name="태그칩"/>
          <p:cNvSpPr/>
          <p:nvPr/>
        </p:nvSpPr>
        <p:spPr>
          <a:xfrm>
            <a:off x="4652509" y="1238087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칩"/>
          <p:cNvSpPr>
            <a:spLocks noGrp="1"/>
          </p:cNvSpPr>
          <p:nvPr>
            <p:ph type="body" sz="quarter" idx="23"/>
          </p:nvPr>
        </p:nvSpPr>
        <p:spPr>
          <a:xfrm>
            <a:off x="4652509" y="1238087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8" name="표 외곽"/>
          <p:cNvSpPr/>
          <p:nvPr/>
        </p:nvSpPr>
        <p:spPr>
          <a:xfrm>
            <a:off x="723130" y="1490087"/>
            <a:ext cx="6300000" cy="227222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레일"/>
          <p:cNvSpPr/>
          <p:nvPr/>
        </p:nvSpPr>
        <p:spPr>
          <a:xfrm>
            <a:off x="734087" y="1506522"/>
            <a:ext cx="580696" cy="51918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4"/>
          </p:nvPr>
        </p:nvSpPr>
        <p:spPr>
          <a:xfrm>
            <a:off x="734087" y="1506522"/>
            <a:ext cx="580696" cy="5191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5"/>
          </p:nvPr>
        </p:nvSpPr>
        <p:spPr>
          <a:xfrm>
            <a:off x="1358609" y="1528435"/>
            <a:ext cx="2802130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변화 가족친화경영 TF를 통해 근로조건(14개) 개선(’24년)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6"/>
          </p:nvPr>
        </p:nvSpPr>
        <p:spPr>
          <a:xfrm>
            <a:off x="4182652" y="1528435"/>
            <a:ext cx="2802130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 주 4.5일제 이용자 284명 사용, 육아휴직자 13% 증가(243 → 275명), 출산장려금 수령 38% 확대(194 → 268명)</a:t>
            </a:r>
          </a:p>
        </p:txBody>
      </p:sp>
      <p:cxnSp>
        <p:nvCxnSpPr>
          <p:cNvPr id="23" name="Connector 15"/>
          <p:cNvCxnSpPr/>
          <p:nvPr/>
        </p:nvCxnSpPr>
        <p:spPr>
          <a:xfrm>
            <a:off x="4171696" y="1561304"/>
            <a:ext cx="0" cy="42605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4" name="레일"/>
          <p:cNvSpPr/>
          <p:nvPr/>
        </p:nvSpPr>
        <p:spPr>
          <a:xfrm>
            <a:off x="734087" y="2042139"/>
            <a:ext cx="580696" cy="542348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5" name="레일"/>
          <p:cNvSpPr>
            <a:spLocks noGrp="1"/>
          </p:cNvSpPr>
          <p:nvPr>
            <p:ph type="body" sz="quarter" idx="27"/>
          </p:nvPr>
        </p:nvSpPr>
        <p:spPr>
          <a:xfrm>
            <a:off x="734087" y="2042139"/>
            <a:ext cx="580696" cy="542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중간점검</a:t>
            </a:r>
          </a:p>
        </p:txBody>
      </p:sp>
      <p:sp>
        <p:nvSpPr>
          <p:cNvPr id="26" name="레일 삼각형"/>
          <p:cNvSpPr/>
          <p:nvPr/>
        </p:nvSpPr>
        <p:spPr>
          <a:xfrm>
            <a:off x="734086" y="2042139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7" name="칸 본문"/>
          <p:cNvSpPr>
            <a:spLocks noGrp="1"/>
          </p:cNvSpPr>
          <p:nvPr>
            <p:ph type="body" sz="quarter" idx="28"/>
          </p:nvPr>
        </p:nvSpPr>
        <p:spPr>
          <a:xfrm>
            <a:off x="1358609" y="2064052"/>
            <a:ext cx="2802130" cy="514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제도 경험자 “새로운 승진제도에 육아휴직자도 참여 가능하도록” “아이돌봄 3·3·6제도 사용을 더 활성화 하도록”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9"/>
          </p:nvPr>
        </p:nvSpPr>
        <p:spPr>
          <a:xfrm>
            <a:off x="4182652" y="2064052"/>
            <a:ext cx="2802130" cy="514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사각지대 “미혼자, 아이가 없는 직원들도 소외받지 않고 사용할 수 있는 제도를 만들어 주세요”</a:t>
            </a:r>
          </a:p>
        </p:txBody>
      </p:sp>
      <p:cxnSp>
        <p:nvCxnSpPr>
          <p:cNvPr id="29" name="Connector 20"/>
          <p:cNvCxnSpPr/>
          <p:nvPr/>
        </p:nvCxnSpPr>
        <p:spPr>
          <a:xfrm>
            <a:off x="4171696" y="2096922"/>
            <a:ext cx="0" cy="44921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0" name="레일"/>
          <p:cNvSpPr/>
          <p:nvPr/>
        </p:nvSpPr>
        <p:spPr>
          <a:xfrm>
            <a:off x="734087" y="2600922"/>
            <a:ext cx="580696" cy="114495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1" name="레일"/>
          <p:cNvSpPr>
            <a:spLocks noGrp="1"/>
          </p:cNvSpPr>
          <p:nvPr>
            <p:ph type="body" sz="quarter" idx="30"/>
          </p:nvPr>
        </p:nvSpPr>
        <p:spPr>
          <a:xfrm>
            <a:off x="734087" y="2600922"/>
            <a:ext cx="580696" cy="1144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한 번 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혁 신</a:t>
            </a:r>
          </a:p>
        </p:txBody>
      </p:sp>
      <p:sp>
        <p:nvSpPr>
          <p:cNvPr id="32" name="레일 삼각형"/>
          <p:cNvSpPr/>
          <p:nvPr/>
        </p:nvSpPr>
        <p:spPr>
          <a:xfrm>
            <a:off x="734086" y="2600921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3" name="머리칸"/>
          <p:cNvSpPr/>
          <p:nvPr/>
        </p:nvSpPr>
        <p:spPr>
          <a:xfrm>
            <a:off x="1347652" y="262283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4" name="머리칸"/>
          <p:cNvSpPr>
            <a:spLocks noGrp="1"/>
          </p:cNvSpPr>
          <p:nvPr>
            <p:ph type="body" sz="quarter" idx="31"/>
          </p:nvPr>
        </p:nvSpPr>
        <p:spPr>
          <a:xfrm>
            <a:off x="1347652" y="262283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육아휴직자 승진제도</a:t>
            </a:r>
          </a:p>
        </p:txBody>
      </p:sp>
      <p:sp>
        <p:nvSpPr>
          <p:cNvPr id="35" name="머리칸"/>
          <p:cNvSpPr/>
          <p:nvPr/>
        </p:nvSpPr>
        <p:spPr>
          <a:xfrm>
            <a:off x="3230348" y="262283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6" name="머리칸"/>
          <p:cNvSpPr>
            <a:spLocks noGrp="1"/>
          </p:cNvSpPr>
          <p:nvPr>
            <p:ph type="body" sz="quarter" idx="32"/>
          </p:nvPr>
        </p:nvSpPr>
        <p:spPr>
          <a:xfrm>
            <a:off x="3230348" y="262283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아이돌봄 3·3·6 활성화</a:t>
            </a:r>
          </a:p>
        </p:txBody>
      </p:sp>
      <p:sp>
        <p:nvSpPr>
          <p:cNvPr id="37" name="머리칸"/>
          <p:cNvSpPr/>
          <p:nvPr/>
        </p:nvSpPr>
        <p:spPr>
          <a:xfrm>
            <a:off x="5113043" y="262283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8" name="머리칸"/>
          <p:cNvSpPr>
            <a:spLocks noGrp="1"/>
          </p:cNvSpPr>
          <p:nvPr>
            <p:ph type="body" sz="quarter" idx="33"/>
          </p:nvPr>
        </p:nvSpPr>
        <p:spPr>
          <a:xfrm>
            <a:off x="5113043" y="262283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보편적 복지제도 확대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4"/>
          </p:nvPr>
        </p:nvSpPr>
        <p:spPr>
          <a:xfrm>
            <a:off x="1358609" y="2863878"/>
            <a:ext cx="1860783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승진시험제(’25년) 시행시, 육아휴직자 대상 포함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차별없는 승진시험제도 육아휴직자 승진자 배출(1명)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35"/>
          </p:nvPr>
        </p:nvSpPr>
        <p:spPr>
          <a:xfrm>
            <a:off x="3241304" y="2863878"/>
            <a:ext cx="1860783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내부평가 지표 신설(가점) / 캠페인(월 1회 관리자 독려메일 등)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육아시간 사무외출 사용률 12.1%p 증가(54.0 → 66.1%)</a:t>
            </a:r>
          </a:p>
        </p:txBody>
      </p:sp>
      <p:cxnSp>
        <p:nvCxnSpPr>
          <p:cNvPr id="41" name="Connector 28"/>
          <p:cNvCxnSpPr/>
          <p:nvPr/>
        </p:nvCxnSpPr>
        <p:spPr>
          <a:xfrm>
            <a:off x="3230348" y="2896748"/>
            <a:ext cx="0" cy="81078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2" name="칸 본문"/>
          <p:cNvSpPr>
            <a:spLocks noGrp="1"/>
          </p:cNvSpPr>
          <p:nvPr>
            <p:ph type="body" sz="quarter" idx="36"/>
          </p:nvPr>
        </p:nvSpPr>
        <p:spPr>
          <a:xfrm>
            <a:off x="5124000" y="2863878"/>
            <a:ext cx="1860783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유역별 문화예술행사 지원 / 가족愛 행복캠프(가족·직원간)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본부 문화행사 770명 이용, 직원간 행복캠프 194명 참여</a:t>
            </a:r>
          </a:p>
        </p:txBody>
      </p:sp>
      <p:cxnSp>
        <p:nvCxnSpPr>
          <p:cNvPr id="43" name="Connector 30"/>
          <p:cNvCxnSpPr/>
          <p:nvPr/>
        </p:nvCxnSpPr>
        <p:spPr>
          <a:xfrm>
            <a:off x="5113043" y="2896748"/>
            <a:ext cx="0" cy="81078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4" name="핵심성과 박스"/>
          <p:cNvSpPr/>
          <p:nvPr/>
        </p:nvSpPr>
        <p:spPr>
          <a:xfrm>
            <a:off x="723130" y="3849965"/>
            <a:ext cx="6300000" cy="49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5" name="핵심성과 라벨"/>
          <p:cNvSpPr/>
          <p:nvPr/>
        </p:nvSpPr>
        <p:spPr>
          <a:xfrm>
            <a:off x="756000" y="3888313"/>
            <a:ext cx="657391" cy="41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46" name="핵심성과 라벨"/>
          <p:cNvSpPr>
            <a:spLocks noGrp="1"/>
          </p:cNvSpPr>
          <p:nvPr>
            <p:ph type="body" sz="quarter" idx="37"/>
          </p:nvPr>
        </p:nvSpPr>
        <p:spPr>
          <a:xfrm>
            <a:off x="756000" y="3888313"/>
            <a:ext cx="657391" cy="41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7" name="핵심성과 문구"/>
          <p:cNvSpPr>
            <a:spLocks noGrp="1"/>
          </p:cNvSpPr>
          <p:nvPr>
            <p:ph type="body" sz="quarter" idx="38"/>
          </p:nvPr>
        </p:nvSpPr>
        <p:spPr>
          <a:xfrm>
            <a:off x="1501043" y="3866400"/>
            <a:ext cx="5456348" cy="45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대한민국 일하기 좋은 기업 Top3 및 아시아에서 가장 일하기 좋은 기업 200대 선정(GPTW 주관)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71 서사 · 안전에 타협 없는 노사, 안전 First(추진배경 → 예방강화 → 사후대응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3600743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안전에 타협 없는 노사, 예방부터 사후관리까지 안전 First</a:t>
            </a:r>
          </a:p>
        </p:txBody>
      </p:sp>
      <p:sp>
        <p:nvSpPr>
          <p:cNvPr id="12" name="태그칩"/>
          <p:cNvSpPr/>
          <p:nvPr/>
        </p:nvSpPr>
        <p:spPr>
          <a:xfrm>
            <a:off x="4236221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236221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4" name="태그칩"/>
          <p:cNvSpPr/>
          <p:nvPr/>
        </p:nvSpPr>
        <p:spPr>
          <a:xfrm>
            <a:off x="4787342" y="799826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2"/>
          </p:nvPr>
        </p:nvSpPr>
        <p:spPr>
          <a:xfrm>
            <a:off x="4787342" y="799826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6" name="태그칩"/>
          <p:cNvSpPr/>
          <p:nvPr/>
        </p:nvSpPr>
        <p:spPr>
          <a:xfrm>
            <a:off x="5558000" y="799826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칩"/>
          <p:cNvSpPr>
            <a:spLocks noGrp="1"/>
          </p:cNvSpPr>
          <p:nvPr>
            <p:ph type="body" sz="quarter" idx="23"/>
          </p:nvPr>
        </p:nvSpPr>
        <p:spPr>
          <a:xfrm>
            <a:off x="5558000" y="799826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8" name="표 외곽"/>
          <p:cNvSpPr/>
          <p:nvPr/>
        </p:nvSpPr>
        <p:spPr>
          <a:xfrm>
            <a:off x="536870" y="1051826"/>
            <a:ext cx="6300000" cy="536869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레일"/>
          <p:cNvSpPr/>
          <p:nvPr/>
        </p:nvSpPr>
        <p:spPr>
          <a:xfrm>
            <a:off x="547826" y="1068261"/>
            <a:ext cx="580696" cy="1254522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4"/>
          </p:nvPr>
        </p:nvSpPr>
        <p:spPr>
          <a:xfrm>
            <a:off x="547826" y="1068261"/>
            <a:ext cx="580696" cy="125452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5"/>
          </p:nvPr>
        </p:nvSpPr>
        <p:spPr>
          <a:xfrm>
            <a:off x="1172348" y="1090174"/>
            <a:ext cx="2802130" cy="1227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근로자 안전사고 상존, 안전관리체계 전반에 대한 보완 필요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6"/>
          </p:nvPr>
        </p:nvSpPr>
        <p:spPr>
          <a:xfrm>
            <a:off x="3996391" y="1090174"/>
            <a:ext cx="2802130" cy="1227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CEO “더 이상의 안전사고는 없도록.. 제도정비” / 위원장 “안전문화확산, 세심한 피해직원 케어까지..”</a:t>
            </a:r>
          </a:p>
        </p:txBody>
      </p:sp>
      <p:cxnSp>
        <p:nvCxnSpPr>
          <p:cNvPr id="23" name="Connector 15"/>
          <p:cNvCxnSpPr/>
          <p:nvPr/>
        </p:nvCxnSpPr>
        <p:spPr>
          <a:xfrm>
            <a:off x="3985435" y="1123043"/>
            <a:ext cx="0" cy="116139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4" name="레일"/>
          <p:cNvSpPr/>
          <p:nvPr/>
        </p:nvSpPr>
        <p:spPr>
          <a:xfrm>
            <a:off x="547826" y="2339217"/>
            <a:ext cx="580696" cy="1725652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5" name="레일 태그"/>
          <p:cNvSpPr/>
          <p:nvPr/>
        </p:nvSpPr>
        <p:spPr>
          <a:xfrm>
            <a:off x="558376" y="2503565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6" name="레일 태그"/>
          <p:cNvSpPr>
            <a:spLocks noGrp="1"/>
          </p:cNvSpPr>
          <p:nvPr>
            <p:ph type="body" sz="quarter" idx="27"/>
          </p:nvPr>
        </p:nvSpPr>
        <p:spPr>
          <a:xfrm>
            <a:off x="558376" y="2503565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예방강화</a:t>
            </a:r>
          </a:p>
        </p:txBody>
      </p:sp>
      <p:sp>
        <p:nvSpPr>
          <p:cNvPr id="27" name="레일 라벨"/>
          <p:cNvSpPr>
            <a:spLocks noGrp="1"/>
          </p:cNvSpPr>
          <p:nvPr>
            <p:ph type="body" sz="quarter" idx="28"/>
          </p:nvPr>
        </p:nvSpPr>
        <p:spPr>
          <a:xfrm>
            <a:off x="547826" y="2689826"/>
            <a:ext cx="580696" cy="135313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노사가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함께하는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안전일터</a:t>
            </a:r>
          </a:p>
        </p:txBody>
      </p:sp>
      <p:sp>
        <p:nvSpPr>
          <p:cNvPr id="28" name="레일 삼각형"/>
          <p:cNvSpPr/>
          <p:nvPr/>
        </p:nvSpPr>
        <p:spPr>
          <a:xfrm>
            <a:off x="547826" y="2339217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1172348" y="2361130"/>
            <a:ext cx="2802130" cy="1698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使 정교한 제도, 시스템 개발: 안전경영委, 안전경영책임계획 / 안전 컨설팅, 스마트 안전관리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예방적 안전관리 ‘안전기동반’(전담 16인)을 통한 상시 점검 및 현장 안전관리 컨설팅, 현장 유해 요소 120건(안전통로 확보 등) 개선 완료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스마트 안전관리 시스템 구축 및 스마트 장비 확대(스마트 안전모 등), 이동형 AI CCTV · 스마트 안전모 · 유해가스 측정기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0"/>
          </p:nvPr>
        </p:nvSpPr>
        <p:spPr>
          <a:xfrm>
            <a:off x="3996391" y="2361130"/>
            <a:ext cx="2802130" cy="169826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勞 현장의 공감, 수용성을 결합: 상시 소통채널 등 현장 니즈 / 작업중지권, 안전보호구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작업중지권 활성화 ‘찾아가는 안전교육’, 안전모 QR 부착 등 제도 활용 증가(’24년 92건 → ’25년 132건, 43.5% 증가)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안전보호구 지급 ‘심쿵(CPR) 챌린지’ 노후 보호구 교체 간소, 적기지급 / 심쿵챌린지 420명, 全직원 안전보호구 개선 5.1억원 집행</a:t>
            </a:r>
          </a:p>
        </p:txBody>
      </p:sp>
      <p:cxnSp>
        <p:nvCxnSpPr>
          <p:cNvPr id="31" name="Connector 22"/>
          <p:cNvCxnSpPr/>
          <p:nvPr/>
        </p:nvCxnSpPr>
        <p:spPr>
          <a:xfrm>
            <a:off x="3985435" y="2394000"/>
            <a:ext cx="0" cy="163252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2" name="레일"/>
          <p:cNvSpPr/>
          <p:nvPr/>
        </p:nvSpPr>
        <p:spPr>
          <a:xfrm>
            <a:off x="547826" y="4081304"/>
            <a:ext cx="580696" cy="232278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3" name="레일 태그"/>
          <p:cNvSpPr/>
          <p:nvPr/>
        </p:nvSpPr>
        <p:spPr>
          <a:xfrm>
            <a:off x="558376" y="4245652"/>
            <a:ext cx="559596" cy="18626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4" name="레일 태그"/>
          <p:cNvSpPr>
            <a:spLocks noGrp="1"/>
          </p:cNvSpPr>
          <p:nvPr>
            <p:ph type="body" sz="quarter" idx="31"/>
          </p:nvPr>
        </p:nvSpPr>
        <p:spPr>
          <a:xfrm>
            <a:off x="558376" y="4245652"/>
            <a:ext cx="559596" cy="18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사후대응</a:t>
            </a:r>
          </a:p>
        </p:txBody>
      </p:sp>
      <p:sp>
        <p:nvSpPr>
          <p:cNvPr id="35" name="레일 라벨"/>
          <p:cNvSpPr>
            <a:spLocks noGrp="1"/>
          </p:cNvSpPr>
          <p:nvPr>
            <p:ph type="body" sz="quarter" idx="32"/>
          </p:nvPr>
        </p:nvSpPr>
        <p:spPr>
          <a:xfrm>
            <a:off x="547826" y="4431913"/>
            <a:ext cx="580696" cy="1950261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더나아가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안전사고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직원케어</a:t>
            </a:r>
          </a:p>
        </p:txBody>
      </p:sp>
      <p:sp>
        <p:nvSpPr>
          <p:cNvPr id="36" name="레일 삼각형"/>
          <p:cNvSpPr/>
          <p:nvPr/>
        </p:nvSpPr>
        <p:spPr>
          <a:xfrm>
            <a:off x="547826" y="4081304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7" name="배너"/>
          <p:cNvSpPr/>
          <p:nvPr/>
        </p:nvSpPr>
        <p:spPr>
          <a:xfrm>
            <a:off x="1161391" y="4103217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8" name="배너"/>
          <p:cNvSpPr>
            <a:spLocks noGrp="1"/>
          </p:cNvSpPr>
          <p:nvPr>
            <p:ph type="body" sz="quarter" idx="33"/>
          </p:nvPr>
        </p:nvSpPr>
        <p:spPr>
          <a:xfrm>
            <a:off x="1161391" y="4103217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업무 중 사고에 든든한 비바람막이 ‘안심케어센터’ + ‘상호부조 모금제’ 신설</a:t>
            </a:r>
          </a:p>
        </p:txBody>
      </p:sp>
      <p:sp>
        <p:nvSpPr>
          <p:cNvPr id="39" name="단계"/>
          <p:cNvSpPr/>
          <p:nvPr/>
        </p:nvSpPr>
        <p:spPr>
          <a:xfrm>
            <a:off x="1161391" y="4338783"/>
            <a:ext cx="141202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0" name="단계"/>
          <p:cNvSpPr>
            <a:spLocks noGrp="1"/>
          </p:cNvSpPr>
          <p:nvPr>
            <p:ph type="body" sz="quarter" idx="34"/>
          </p:nvPr>
        </p:nvSpPr>
        <p:spPr>
          <a:xfrm>
            <a:off x="1161391" y="4338783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담당부서를 찾기쉽고</a:t>
            </a:r>
          </a:p>
        </p:txBody>
      </p:sp>
      <p:sp>
        <p:nvSpPr>
          <p:cNvPr id="41" name="단계"/>
          <p:cNvSpPr/>
          <p:nvPr/>
        </p:nvSpPr>
        <p:spPr>
          <a:xfrm>
            <a:off x="2573413" y="4338783"/>
            <a:ext cx="1412022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2" name="단계"/>
          <p:cNvSpPr>
            <a:spLocks noGrp="1"/>
          </p:cNvSpPr>
          <p:nvPr>
            <p:ph type="body" sz="quarter" idx="35"/>
          </p:nvPr>
        </p:nvSpPr>
        <p:spPr>
          <a:xfrm>
            <a:off x="2573413" y="4338783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대응은 신속하게</a:t>
            </a:r>
          </a:p>
        </p:txBody>
      </p:sp>
      <p:sp>
        <p:nvSpPr>
          <p:cNvPr id="43" name="단계"/>
          <p:cNvSpPr/>
          <p:nvPr/>
        </p:nvSpPr>
        <p:spPr>
          <a:xfrm>
            <a:off x="3985435" y="4338783"/>
            <a:ext cx="1412022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4" name="단계"/>
          <p:cNvSpPr>
            <a:spLocks noGrp="1"/>
          </p:cNvSpPr>
          <p:nvPr>
            <p:ph type="body" sz="quarter" idx="36"/>
          </p:nvPr>
        </p:nvSpPr>
        <p:spPr>
          <a:xfrm>
            <a:off x="3985435" y="4338783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감성 케어까지</a:t>
            </a:r>
          </a:p>
        </p:txBody>
      </p:sp>
      <p:sp>
        <p:nvSpPr>
          <p:cNvPr id="45" name="단계"/>
          <p:cNvSpPr/>
          <p:nvPr/>
        </p:nvSpPr>
        <p:spPr>
          <a:xfrm>
            <a:off x="5397457" y="4338783"/>
            <a:ext cx="1412022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6" name="단계"/>
          <p:cNvSpPr>
            <a:spLocks noGrp="1"/>
          </p:cNvSpPr>
          <p:nvPr>
            <p:ph type="body" sz="quarter" idx="37"/>
          </p:nvPr>
        </p:nvSpPr>
        <p:spPr>
          <a:xfrm>
            <a:off x="5397457" y="4338783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슬픔은 함께</a:t>
            </a:r>
          </a:p>
        </p:txBody>
      </p:sp>
      <p:sp>
        <p:nvSpPr>
          <p:cNvPr id="47" name="단계 삼각형"/>
          <p:cNvSpPr/>
          <p:nvPr/>
        </p:nvSpPr>
        <p:spPr>
          <a:xfrm>
            <a:off x="2573413" y="4338782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8" name="단계 삼각형"/>
          <p:cNvSpPr/>
          <p:nvPr/>
        </p:nvSpPr>
        <p:spPr>
          <a:xfrm>
            <a:off x="3985434" y="4338782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9" name="단계 삼각형"/>
          <p:cNvSpPr/>
          <p:nvPr/>
        </p:nvSpPr>
        <p:spPr>
          <a:xfrm>
            <a:off x="5397456" y="4338782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0" name="칸 본문"/>
          <p:cNvSpPr>
            <a:spLocks noGrp="1"/>
          </p:cNvSpPr>
          <p:nvPr>
            <p:ph type="body" sz="quarter" idx="38"/>
          </p:nvPr>
        </p:nvSpPr>
        <p:spPr>
          <a:xfrm>
            <a:off x="1172348" y="4590783"/>
            <a:ext cx="1390109" cy="180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분산된 기능 일원화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안전사고 연관 직원/부서 → (총괄) 안심케어센터 → 법무실 · 안전본부 · 인재경영실</a:t>
            </a:r>
          </a:p>
        </p:txBody>
      </p:sp>
      <p:sp>
        <p:nvSpPr>
          <p:cNvPr id="51" name="칸 본문"/>
          <p:cNvSpPr>
            <a:spLocks noGrp="1"/>
          </p:cNvSpPr>
          <p:nvPr>
            <p:ph type="body" sz="quarter" idx="39"/>
          </p:nvPr>
        </p:nvSpPr>
        <p:spPr>
          <a:xfrm>
            <a:off x="2584370" y="4590783"/>
            <a:ext cx="1390109" cy="180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단계별 신속·밀착지원 *안심케어 담당 사내변호사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재해발생 노동청, 경찰조사 초동대응(변호사) / 재해자(사망) 산재 행정지원 노사공동 유족케어 / 법적분쟁 수사·피의·피고시 법률 조력</a:t>
            </a:r>
          </a:p>
        </p:txBody>
      </p:sp>
      <p:cxnSp>
        <p:nvCxnSpPr>
          <p:cNvPr id="52" name="Connector 37"/>
          <p:cNvCxnSpPr/>
          <p:nvPr/>
        </p:nvCxnSpPr>
        <p:spPr>
          <a:xfrm>
            <a:off x="2573413" y="4623652"/>
            <a:ext cx="0" cy="1742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3" name="칸 본문"/>
          <p:cNvSpPr>
            <a:spLocks noGrp="1"/>
          </p:cNvSpPr>
          <p:nvPr>
            <p:ph type="body" sz="quarter" idx="40"/>
          </p:nvPr>
        </p:nvSpPr>
        <p:spPr>
          <a:xfrm>
            <a:off x="3996391" y="4590783"/>
            <a:ext cx="1390109" cy="180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감성적 직원 맞춤케어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부서상담 사고발생 부서 단위 집단상담 / 맞춤상담 ‘집중케어 대상’ PTSD 상담 안내 / 사후관리 호전여부 모니터링 고충상담 지원</a:t>
            </a:r>
          </a:p>
        </p:txBody>
      </p:sp>
      <p:cxnSp>
        <p:nvCxnSpPr>
          <p:cNvPr id="54" name="Connector 39"/>
          <p:cNvCxnSpPr/>
          <p:nvPr/>
        </p:nvCxnSpPr>
        <p:spPr>
          <a:xfrm>
            <a:off x="3985435" y="4623652"/>
            <a:ext cx="0" cy="1742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5" name="칸 본문"/>
          <p:cNvSpPr>
            <a:spLocks noGrp="1"/>
          </p:cNvSpPr>
          <p:nvPr>
            <p:ph type="body" sz="quarter" idx="41"/>
          </p:nvPr>
        </p:nvSpPr>
        <p:spPr>
          <a:xfrm>
            <a:off x="5408413" y="4590783"/>
            <a:ext cx="1390109" cy="180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노사·全직원 합심, 상호부조 개인급여 모금제 * 직원 찬성률: 63%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업무 중 사망(안전사고) → 全직원 모금(개인월봉의 0.6%) → 노사공동 모금액 유가족 지급</a:t>
            </a:r>
          </a:p>
        </p:txBody>
      </p:sp>
      <p:cxnSp>
        <p:nvCxnSpPr>
          <p:cNvPr id="56" name="Connector 41"/>
          <p:cNvCxnSpPr/>
          <p:nvPr/>
        </p:nvCxnSpPr>
        <p:spPr>
          <a:xfrm>
            <a:off x="5397457" y="4623652"/>
            <a:ext cx="0" cy="1742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7" name="핵심성과 박스"/>
          <p:cNvSpPr/>
          <p:nvPr/>
        </p:nvSpPr>
        <p:spPr>
          <a:xfrm>
            <a:off x="536870" y="6508174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8" name="핵심성과 라벨"/>
          <p:cNvSpPr/>
          <p:nvPr/>
        </p:nvSpPr>
        <p:spPr>
          <a:xfrm>
            <a:off x="569739" y="6546522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59" name="핵심성과 라벨"/>
          <p:cNvSpPr>
            <a:spLocks noGrp="1"/>
          </p:cNvSpPr>
          <p:nvPr>
            <p:ph type="body" sz="quarter" idx="42"/>
          </p:nvPr>
        </p:nvSpPr>
        <p:spPr>
          <a:xfrm>
            <a:off x="569739" y="6546522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60" name="핵심성과 문구"/>
          <p:cNvSpPr>
            <a:spLocks noGrp="1"/>
          </p:cNvSpPr>
          <p:nvPr>
            <p:ph type="body" sz="quarter" idx="43"/>
          </p:nvPr>
        </p:nvSpPr>
        <p:spPr>
          <a:xfrm>
            <a:off x="1314783" y="6524609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행정안전부 「안전문화 확산 유공」 최우수기관 선정·국무총리 표창 수상(’25년)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72 서사 · 노사협력·자율점검 기반 정부지침 체계 개선(목표 · 이행계획 → 혁신지침 관리비 100% 직원 부담 숙소 확대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노사협력과 자율점검을 기반으로 정부지침에 발맞춘 체계 개선</a:t>
            </a:r>
          </a:p>
        </p:txBody>
      </p:sp>
      <p:sp>
        <p:nvSpPr>
          <p:cNvPr id="14" name="표 외곽"/>
          <p:cNvSpPr/>
          <p:nvPr/>
        </p:nvSpPr>
        <p:spPr>
          <a:xfrm>
            <a:off x="723130" y="1128522"/>
            <a:ext cx="6300000" cy="76147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734087" y="1144957"/>
            <a:ext cx="580696" cy="7286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144957"/>
            <a:ext cx="580696" cy="72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목 표</a:t>
            </a:r>
          </a:p>
        </p:txBody>
      </p:sp>
      <p:sp>
        <p:nvSpPr>
          <p:cNvPr id="17" name="머리칸"/>
          <p:cNvSpPr/>
          <p:nvPr/>
        </p:nvSpPr>
        <p:spPr>
          <a:xfrm>
            <a:off x="1347652" y="116687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8" name="머리칸"/>
          <p:cNvSpPr>
            <a:spLocks noGrp="1"/>
          </p:cNvSpPr>
          <p:nvPr>
            <p:ph type="body" sz="quarter" idx="23"/>
          </p:nvPr>
        </p:nvSpPr>
        <p:spPr>
          <a:xfrm>
            <a:off x="1347652" y="116687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혁신지침</a:t>
            </a:r>
          </a:p>
        </p:txBody>
      </p:sp>
      <p:sp>
        <p:nvSpPr>
          <p:cNvPr id="19" name="머리칸"/>
          <p:cNvSpPr/>
          <p:nvPr/>
        </p:nvSpPr>
        <p:spPr>
          <a:xfrm>
            <a:off x="4171696" y="116687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0" name="머리칸"/>
          <p:cNvSpPr>
            <a:spLocks noGrp="1"/>
          </p:cNvSpPr>
          <p:nvPr>
            <p:ph type="body" sz="quarter" idx="24"/>
          </p:nvPr>
        </p:nvSpPr>
        <p:spPr>
          <a:xfrm>
            <a:off x="4171696" y="116687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예산운용지침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5"/>
          </p:nvPr>
        </p:nvSpPr>
        <p:spPr>
          <a:xfrm>
            <a:off x="1358609" y="1407913"/>
            <a:ext cx="2802130" cy="460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혁신지침 잔여과제(4건) 조속 이행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 합의(’24.12) 선결 개선과제 적기 달성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6"/>
          </p:nvPr>
        </p:nvSpPr>
        <p:spPr>
          <a:xfrm>
            <a:off x="4182652" y="1407913"/>
            <a:ext cx="2802130" cy="460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예산운용지침 준수 지속 유지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자체 모니터링 통한 추가 개선사항 발굴</a:t>
            </a:r>
          </a:p>
        </p:txBody>
      </p:sp>
      <p:cxnSp>
        <p:nvCxnSpPr>
          <p:cNvPr id="23" name="Connector 14"/>
          <p:cNvCxnSpPr/>
          <p:nvPr/>
        </p:nvCxnSpPr>
        <p:spPr>
          <a:xfrm>
            <a:off x="4171696" y="1440783"/>
            <a:ext cx="0" cy="39443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4" name="번호"/>
          <p:cNvSpPr>
            <a:spLocks noGrp="1"/>
          </p:cNvSpPr>
          <p:nvPr>
            <p:ph type="body" sz="quarter" idx="27"/>
          </p:nvPr>
        </p:nvSpPr>
        <p:spPr>
          <a:xfrm>
            <a:off x="723130" y="2010522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25" name="분야 박스"/>
          <p:cNvSpPr/>
          <p:nvPr/>
        </p:nvSpPr>
        <p:spPr>
          <a:xfrm>
            <a:off x="952651" y="2043391"/>
            <a:ext cx="592466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6" name="분야 박스"/>
          <p:cNvSpPr>
            <a:spLocks noGrp="1"/>
          </p:cNvSpPr>
          <p:nvPr>
            <p:ph type="body" sz="quarter" idx="28"/>
          </p:nvPr>
        </p:nvSpPr>
        <p:spPr>
          <a:xfrm>
            <a:off x="952651" y="2043391"/>
            <a:ext cx="59246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혁신지침</a:t>
            </a:r>
          </a:p>
        </p:txBody>
      </p:sp>
      <p:sp>
        <p:nvSpPr>
          <p:cNvPr id="27" name="형광 밑줄"/>
          <p:cNvSpPr/>
          <p:nvPr/>
        </p:nvSpPr>
        <p:spPr>
          <a:xfrm>
            <a:off x="1610856" y="2163913"/>
            <a:ext cx="2926052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8" name="소제목"/>
          <p:cNvSpPr>
            <a:spLocks noGrp="1"/>
          </p:cNvSpPr>
          <p:nvPr>
            <p:ph type="body" sz="quarter" idx="29"/>
          </p:nvPr>
        </p:nvSpPr>
        <p:spPr>
          <a:xfrm>
            <a:off x="1610856" y="2010522"/>
            <a:ext cx="5412275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관리비 100% 직원 부담 숙소 확대목표 초과 달성</a:t>
            </a:r>
          </a:p>
        </p:txBody>
      </p:sp>
      <p:sp>
        <p:nvSpPr>
          <p:cNvPr id="29" name="태그칩"/>
          <p:cNvSpPr/>
          <p:nvPr/>
        </p:nvSpPr>
        <p:spPr>
          <a:xfrm>
            <a:off x="4635516" y="2043391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0" name="태그칩"/>
          <p:cNvSpPr>
            <a:spLocks noGrp="1"/>
          </p:cNvSpPr>
          <p:nvPr>
            <p:ph type="body" sz="quarter" idx="30"/>
          </p:nvPr>
        </p:nvSpPr>
        <p:spPr>
          <a:xfrm>
            <a:off x="4635516" y="2043391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31" name="태그칩"/>
          <p:cNvSpPr/>
          <p:nvPr/>
        </p:nvSpPr>
        <p:spPr>
          <a:xfrm>
            <a:off x="5186637" y="2043391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2" name="태그칩"/>
          <p:cNvSpPr>
            <a:spLocks noGrp="1"/>
          </p:cNvSpPr>
          <p:nvPr>
            <p:ph type="body" sz="quarter" idx="31"/>
          </p:nvPr>
        </p:nvSpPr>
        <p:spPr>
          <a:xfrm>
            <a:off x="5186637" y="2043391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33" name="표 외곽"/>
          <p:cNvSpPr/>
          <p:nvPr/>
        </p:nvSpPr>
        <p:spPr>
          <a:xfrm>
            <a:off x="723130" y="2295391"/>
            <a:ext cx="6300000" cy="1506522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4" name="레일"/>
          <p:cNvSpPr/>
          <p:nvPr/>
        </p:nvSpPr>
        <p:spPr>
          <a:xfrm>
            <a:off x="734087" y="2311826"/>
            <a:ext cx="580696" cy="717652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5" name="레일"/>
          <p:cNvSpPr>
            <a:spLocks noGrp="1"/>
          </p:cNvSpPr>
          <p:nvPr>
            <p:ph type="body" sz="quarter" idx="32"/>
          </p:nvPr>
        </p:nvSpPr>
        <p:spPr>
          <a:xfrm>
            <a:off x="734087" y="2311826"/>
            <a:ext cx="580696" cy="71765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노사합의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(’24.12)</a:t>
            </a:r>
          </a:p>
        </p:txBody>
      </p:sp>
      <p:sp>
        <p:nvSpPr>
          <p:cNvPr id="36" name="단계"/>
          <p:cNvSpPr/>
          <p:nvPr/>
        </p:nvSpPr>
        <p:spPr>
          <a:xfrm>
            <a:off x="1347652" y="2333739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7" name="단계"/>
          <p:cNvSpPr>
            <a:spLocks noGrp="1"/>
          </p:cNvSpPr>
          <p:nvPr>
            <p:ph type="body" sz="quarter" idx="33"/>
          </p:nvPr>
        </p:nvSpPr>
        <p:spPr>
          <a:xfrm>
            <a:off x="1347652" y="233373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합숙소를 원룸형 개인숙소로 전환 * 니즈 일치 관리비 100% 직원 부담에도 휴식권 보장 위한 원룸형 숙소 확대 요구</a:t>
            </a:r>
          </a:p>
        </p:txBody>
      </p:sp>
      <p:sp>
        <p:nvSpPr>
          <p:cNvPr id="38" name="단계"/>
          <p:cNvSpPr/>
          <p:nvPr/>
        </p:nvSpPr>
        <p:spPr>
          <a:xfrm>
            <a:off x="3230348" y="2333739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9" name="단계"/>
          <p:cNvSpPr>
            <a:spLocks noGrp="1"/>
          </p:cNvSpPr>
          <p:nvPr>
            <p:ph type="body" sz="quarter" idx="34"/>
          </p:nvPr>
        </p:nvSpPr>
        <p:spPr>
          <a:xfrm>
            <a:off x="3230348" y="233373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770채(거주직원 25%) → ’25년 890채(29%)</a:t>
            </a:r>
          </a:p>
        </p:txBody>
      </p:sp>
      <p:sp>
        <p:nvSpPr>
          <p:cNvPr id="40" name="단계"/>
          <p:cNvSpPr/>
          <p:nvPr/>
        </p:nvSpPr>
        <p:spPr>
          <a:xfrm>
            <a:off x="5113043" y="2333739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1" name="단계"/>
          <p:cNvSpPr>
            <a:spLocks noGrp="1"/>
          </p:cNvSpPr>
          <p:nvPr>
            <p:ph type="body" sz="quarter" idx="35"/>
          </p:nvPr>
        </p:nvSpPr>
        <p:spPr>
          <a:xfrm>
            <a:off x="5113043" y="233373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’27년 1,165채(38%) → ’30년 1,510채(50%)</a:t>
            </a:r>
          </a:p>
        </p:txBody>
      </p:sp>
      <p:sp>
        <p:nvSpPr>
          <p:cNvPr id="42" name="단계 삼각형"/>
          <p:cNvSpPr/>
          <p:nvPr/>
        </p:nvSpPr>
        <p:spPr>
          <a:xfrm>
            <a:off x="3230347" y="2333739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3" name="단계 삼각형"/>
          <p:cNvSpPr/>
          <p:nvPr/>
        </p:nvSpPr>
        <p:spPr>
          <a:xfrm>
            <a:off x="5113043" y="2333739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4" name="칸 본문"/>
          <p:cNvSpPr txBox="1"/>
          <p:nvPr/>
        </p:nvSpPr>
        <p:spPr>
          <a:xfrm>
            <a:off x="1358609" y="2585739"/>
            <a:ext cx="1860783" cy="438261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sp>
        <p:nvSpPr>
          <p:cNvPr id="45" name="칸 본문"/>
          <p:cNvSpPr txBox="1"/>
          <p:nvPr/>
        </p:nvSpPr>
        <p:spPr>
          <a:xfrm>
            <a:off x="3241304" y="2585739"/>
            <a:ext cx="1860783" cy="438261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46" name="Connector 30"/>
          <p:cNvCxnSpPr/>
          <p:nvPr/>
        </p:nvCxnSpPr>
        <p:spPr>
          <a:xfrm>
            <a:off x="3230348" y="2618609"/>
            <a:ext cx="0" cy="37252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7" name="칸 본문"/>
          <p:cNvSpPr txBox="1"/>
          <p:nvPr/>
        </p:nvSpPr>
        <p:spPr>
          <a:xfrm>
            <a:off x="5124000" y="2585739"/>
            <a:ext cx="1860783" cy="438261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48" name="Connector 32"/>
          <p:cNvCxnSpPr/>
          <p:nvPr/>
        </p:nvCxnSpPr>
        <p:spPr>
          <a:xfrm>
            <a:off x="5113043" y="2618609"/>
            <a:ext cx="0" cy="37252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9" name="레일"/>
          <p:cNvSpPr/>
          <p:nvPr/>
        </p:nvSpPr>
        <p:spPr>
          <a:xfrm>
            <a:off x="734087" y="3045913"/>
            <a:ext cx="580696" cy="739565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0" name="레일"/>
          <p:cNvSpPr>
            <a:spLocks noGrp="1"/>
          </p:cNvSpPr>
          <p:nvPr>
            <p:ph type="body" sz="quarter" idx="36"/>
          </p:nvPr>
        </p:nvSpPr>
        <p:spPr>
          <a:xfrm>
            <a:off x="734087" y="3045913"/>
            <a:ext cx="580696" cy="739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내 용</a:t>
            </a:r>
          </a:p>
        </p:txBody>
      </p:sp>
      <p:sp>
        <p:nvSpPr>
          <p:cNvPr id="51" name="레일 삼각형"/>
          <p:cNvSpPr/>
          <p:nvPr/>
        </p:nvSpPr>
        <p:spPr>
          <a:xfrm>
            <a:off x="734086" y="3045913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2" name="칸 본문"/>
          <p:cNvSpPr>
            <a:spLocks noGrp="1"/>
          </p:cNvSpPr>
          <p:nvPr>
            <p:ph type="body" sz="quarter" idx="37"/>
          </p:nvPr>
        </p:nvSpPr>
        <p:spPr>
          <a:xfrm>
            <a:off x="1358609" y="3067826"/>
            <a:ext cx="2802130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원룸형 숙소 확보 용이성 등 지역별 여건을 고려, 2-Track 방식 제도개선 추진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대도시 신속 전환: 現 아파트형 숙소(3인 거주) 임차계약 종료 즉시 대체(98채)</a:t>
            </a:r>
          </a:p>
        </p:txBody>
      </p:sp>
      <p:sp>
        <p:nvSpPr>
          <p:cNvPr id="53" name="칸 본문"/>
          <p:cNvSpPr>
            <a:spLocks noGrp="1"/>
          </p:cNvSpPr>
          <p:nvPr>
            <p:ph type="body" sz="quarter" idx="38"/>
          </p:nvPr>
        </p:nvSpPr>
        <p:spPr>
          <a:xfrm>
            <a:off x="4182652" y="3067826"/>
            <a:ext cx="2802130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중소 시·군 거점별 대안: 거점도시 다가구주택 활용, 인근 지사 공동 사용(2채, 35세대)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’25년 원룸형 숙소 전환 목표 101.5% 달성(목표 890채(전년比 120채 증) → 실적 903채)</a:t>
            </a:r>
          </a:p>
        </p:txBody>
      </p:sp>
      <p:cxnSp>
        <p:nvCxnSpPr>
          <p:cNvPr id="54" name="Connector 37"/>
          <p:cNvCxnSpPr/>
          <p:nvPr/>
        </p:nvCxnSpPr>
        <p:spPr>
          <a:xfrm>
            <a:off x="4171696" y="3100696"/>
            <a:ext cx="0" cy="64643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5" name="핵심성과 박스"/>
          <p:cNvSpPr/>
          <p:nvPr/>
        </p:nvSpPr>
        <p:spPr>
          <a:xfrm>
            <a:off x="723130" y="3889565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6" name="핵심성과 라벨"/>
          <p:cNvSpPr/>
          <p:nvPr/>
        </p:nvSpPr>
        <p:spPr>
          <a:xfrm>
            <a:off x="756000" y="3922435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57" name="핵심성과 라벨"/>
          <p:cNvSpPr>
            <a:spLocks noGrp="1"/>
          </p:cNvSpPr>
          <p:nvPr>
            <p:ph type="body" sz="quarter" idx="39"/>
          </p:nvPr>
        </p:nvSpPr>
        <p:spPr>
          <a:xfrm>
            <a:off x="756000" y="3922435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8" name="핵심성과 문구"/>
          <p:cNvSpPr>
            <a:spLocks noGrp="1"/>
          </p:cNvSpPr>
          <p:nvPr>
            <p:ph type="body" sz="quarter" idx="40"/>
          </p:nvPr>
        </p:nvSpPr>
        <p:spPr>
          <a:xfrm>
            <a:off x="1501043" y="3911478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합숙소 관리비 100% 부담 직원 증가(770 → 903명)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연간 관리비 98백만원 감축(개인부담금 ’24년 1,116백만원 → ’25년 1,214백만원)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73 서사 · 대내외 자율통제체제 강화(통제체제 · 자율점검 제도개선 → 추진성과 → 예산운용지침 5개 항목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11" name="분야 박스"/>
          <p:cNvSpPr/>
          <p:nvPr/>
        </p:nvSpPr>
        <p:spPr>
          <a:xfrm>
            <a:off x="766390" y="799826"/>
            <a:ext cx="592466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분야 박스"/>
          <p:cNvSpPr>
            <a:spLocks noGrp="1"/>
          </p:cNvSpPr>
          <p:nvPr>
            <p:ph type="body" sz="quarter" idx="21"/>
          </p:nvPr>
        </p:nvSpPr>
        <p:spPr>
          <a:xfrm>
            <a:off x="766390" y="799826"/>
            <a:ext cx="59246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모니터링</a:t>
            </a:r>
          </a:p>
        </p:txBody>
      </p:sp>
      <p:sp>
        <p:nvSpPr>
          <p:cNvPr id="13" name="형광 밑줄"/>
          <p:cNvSpPr/>
          <p:nvPr/>
        </p:nvSpPr>
        <p:spPr>
          <a:xfrm>
            <a:off x="1424595" y="920348"/>
            <a:ext cx="3490601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소제목"/>
          <p:cNvSpPr>
            <a:spLocks noGrp="1"/>
          </p:cNvSpPr>
          <p:nvPr>
            <p:ph type="body" sz="quarter" idx="22"/>
          </p:nvPr>
        </p:nvSpPr>
        <p:spPr>
          <a:xfrm>
            <a:off x="1424595" y="766957"/>
            <a:ext cx="5412275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대내외 자율통제체제 강화로 정부기준에 부합하는 제도개선</a:t>
            </a:r>
          </a:p>
        </p:txBody>
      </p:sp>
      <p:sp>
        <p:nvSpPr>
          <p:cNvPr id="15" name="태그칩"/>
          <p:cNvSpPr/>
          <p:nvPr/>
        </p:nvSpPr>
        <p:spPr>
          <a:xfrm>
            <a:off x="5013804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태그칩"/>
          <p:cNvSpPr>
            <a:spLocks noGrp="1"/>
          </p:cNvSpPr>
          <p:nvPr>
            <p:ph type="body" sz="quarter" idx="23"/>
          </p:nvPr>
        </p:nvSpPr>
        <p:spPr>
          <a:xfrm>
            <a:off x="5013804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7" name="태그칩"/>
          <p:cNvSpPr/>
          <p:nvPr/>
        </p:nvSpPr>
        <p:spPr>
          <a:xfrm>
            <a:off x="5564925" y="799826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태그칩"/>
          <p:cNvSpPr>
            <a:spLocks noGrp="1"/>
          </p:cNvSpPr>
          <p:nvPr>
            <p:ph type="body" sz="quarter" idx="24"/>
          </p:nvPr>
        </p:nvSpPr>
        <p:spPr>
          <a:xfrm>
            <a:off x="5564925" y="799826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9" name="표 외곽"/>
          <p:cNvSpPr/>
          <p:nvPr/>
        </p:nvSpPr>
        <p:spPr>
          <a:xfrm>
            <a:off x="536870" y="1051826"/>
            <a:ext cx="6300000" cy="149556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0" name="레일"/>
          <p:cNvSpPr/>
          <p:nvPr/>
        </p:nvSpPr>
        <p:spPr>
          <a:xfrm>
            <a:off x="547826" y="1068261"/>
            <a:ext cx="580696" cy="542348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5"/>
          </p:nvPr>
        </p:nvSpPr>
        <p:spPr>
          <a:xfrm>
            <a:off x="547826" y="1068261"/>
            <a:ext cx="580696" cy="542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통 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 제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6"/>
          </p:nvPr>
        </p:nvSpPr>
        <p:spPr>
          <a:xfrm>
            <a:off x="1172348" y="1090174"/>
            <a:ext cx="2802130" cy="514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공공기관 합동 교차점검: ’25년 참여기관 확대(5 → 7개)로 기능 강화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7"/>
          </p:nvPr>
        </p:nvSpPr>
        <p:spPr>
          <a:xfrm>
            <a:off x="3996391" y="1090174"/>
            <a:ext cx="2802130" cy="51495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내부통제(자체 감사): 국가공무원 기준 개정 등 선제적 발굴</a:t>
            </a:r>
          </a:p>
        </p:txBody>
      </p:sp>
      <p:cxnSp>
        <p:nvCxnSpPr>
          <p:cNvPr id="24" name="Connector 16"/>
          <p:cNvCxnSpPr/>
          <p:nvPr/>
        </p:nvCxnSpPr>
        <p:spPr>
          <a:xfrm>
            <a:off x="3985435" y="1123043"/>
            <a:ext cx="0" cy="44921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5" name="레일"/>
          <p:cNvSpPr/>
          <p:nvPr/>
        </p:nvSpPr>
        <p:spPr>
          <a:xfrm>
            <a:off x="547826" y="1627043"/>
            <a:ext cx="580696" cy="90391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6" name="레일"/>
          <p:cNvSpPr>
            <a:spLocks noGrp="1"/>
          </p:cNvSpPr>
          <p:nvPr>
            <p:ph type="body" sz="quarter" idx="28"/>
          </p:nvPr>
        </p:nvSpPr>
        <p:spPr>
          <a:xfrm>
            <a:off x="547826" y="1627043"/>
            <a:ext cx="580696" cy="9039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자율점검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제도개선</a:t>
            </a:r>
          </a:p>
        </p:txBody>
      </p:sp>
      <p:sp>
        <p:nvSpPr>
          <p:cNvPr id="27" name="레일 삼각형"/>
          <p:cNvSpPr/>
          <p:nvPr/>
        </p:nvSpPr>
        <p:spPr>
          <a:xfrm>
            <a:off x="547826" y="1627043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9"/>
          </p:nvPr>
        </p:nvSpPr>
        <p:spPr>
          <a:xfrm>
            <a:off x="1172348" y="1648957"/>
            <a:ext cx="2802130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징계자 성과급 제한기준 정비: 음주측정 불응 관련 징계처분시 성과급 제한 / 他기관 벤치마킹으로 개선사항 발굴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성과급 ‘미지급’ 규정화(’25.12) ➡ 경영평가성과급, 내부평가급 일체 지급 제외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0"/>
          </p:nvPr>
        </p:nvSpPr>
        <p:spPr>
          <a:xfrm>
            <a:off x="3996391" y="1648957"/>
            <a:ext cx="2802130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국외근무수당 산정기준 개선: 국외근무수당 산정 부양가족 범위 조정 / 국가공무원과 수당 지급기준 일치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부양가족에서 ‘직계존속’ 제외 규정화(’25.12) ➡ 배우자 및 19세 미만 자녀로 범위 한정</a:t>
            </a:r>
          </a:p>
        </p:txBody>
      </p:sp>
      <p:cxnSp>
        <p:nvCxnSpPr>
          <p:cNvPr id="30" name="Connector 21"/>
          <p:cNvCxnSpPr/>
          <p:nvPr/>
        </p:nvCxnSpPr>
        <p:spPr>
          <a:xfrm>
            <a:off x="3985435" y="1681826"/>
            <a:ext cx="0" cy="81078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핵심성과 박스"/>
          <p:cNvSpPr/>
          <p:nvPr/>
        </p:nvSpPr>
        <p:spPr>
          <a:xfrm>
            <a:off x="536870" y="2635043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2" name="핵심성과 라벨"/>
          <p:cNvSpPr/>
          <p:nvPr/>
        </p:nvSpPr>
        <p:spPr>
          <a:xfrm>
            <a:off x="569739" y="2673391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33" name="핵심성과 라벨"/>
          <p:cNvSpPr>
            <a:spLocks noGrp="1"/>
          </p:cNvSpPr>
          <p:nvPr>
            <p:ph type="body" sz="quarter" idx="31"/>
          </p:nvPr>
        </p:nvSpPr>
        <p:spPr>
          <a:xfrm>
            <a:off x="569739" y="2673391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4" name="핵심성과 문구"/>
          <p:cNvSpPr>
            <a:spLocks noGrp="1"/>
          </p:cNvSpPr>
          <p:nvPr>
            <p:ph type="body" sz="quarter" idx="32"/>
          </p:nvPr>
        </p:nvSpPr>
        <p:spPr>
          <a:xfrm>
            <a:off x="1314783" y="2651478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체계적인 보수·복지 제도 모니터링 및 노사협력을 통해 정부지침 이행 동력 확보</a:t>
            </a:r>
          </a:p>
        </p:txBody>
      </p:sp>
      <p:sp>
        <p:nvSpPr>
          <p:cNvPr id="35" name="틀"/>
          <p:cNvSpPr/>
          <p:nvPr/>
        </p:nvSpPr>
        <p:spPr>
          <a:xfrm>
            <a:off x="536870" y="3012261"/>
            <a:ext cx="6300000" cy="1051826"/>
          </a:xfrm>
          <a:prstGeom prst="rect">
            <a:avLst/>
          </a:prstGeom>
          <a:solidFill>
            <a:srgbClr val="FFFFFF"/>
          </a:solidFill>
          <a:ln w="12700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6" name="성과 라벨"/>
          <p:cNvSpPr/>
          <p:nvPr/>
        </p:nvSpPr>
        <p:spPr>
          <a:xfrm>
            <a:off x="547826" y="3023217"/>
            <a:ext cx="580696" cy="1029913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37" name="성과 라벨"/>
          <p:cNvSpPr>
            <a:spLocks noGrp="1"/>
          </p:cNvSpPr>
          <p:nvPr>
            <p:ph type="body" sz="quarter" idx="33"/>
          </p:nvPr>
        </p:nvSpPr>
        <p:spPr>
          <a:xfrm>
            <a:off x="547826" y="3023217"/>
            <a:ext cx="580696" cy="10299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예산운용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지침</a:t>
            </a:r>
          </a:p>
        </p:txBody>
      </p:sp>
      <p:sp>
        <p:nvSpPr>
          <p:cNvPr id="38" name="성과 띠"/>
          <p:cNvSpPr/>
          <p:nvPr/>
        </p:nvSpPr>
        <p:spPr>
          <a:xfrm>
            <a:off x="1172348" y="3045130"/>
            <a:ext cx="5631652" cy="20817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39" name="성과 띠"/>
          <p:cNvSpPr>
            <a:spLocks noGrp="1"/>
          </p:cNvSpPr>
          <p:nvPr>
            <p:ph type="body" sz="quarter" idx="34"/>
          </p:nvPr>
        </p:nvSpPr>
        <p:spPr>
          <a:xfrm>
            <a:off x="1172348" y="3045130"/>
            <a:ext cx="5631652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지속 준수: 총인건비 · 복리비 · 복지 · 성과급 · 퇴직금</a:t>
            </a:r>
          </a:p>
        </p:txBody>
      </p:sp>
      <p:sp>
        <p:nvSpPr>
          <p:cNvPr id="40" name="카드"/>
          <p:cNvSpPr/>
          <p:nvPr/>
        </p:nvSpPr>
        <p:spPr>
          <a:xfrm>
            <a:off x="1172348" y="3286174"/>
            <a:ext cx="1091270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1" name="카드 문구"/>
          <p:cNvSpPr>
            <a:spLocks noGrp="1"/>
          </p:cNvSpPr>
          <p:nvPr>
            <p:ph type="body" sz="quarter" idx="35"/>
          </p:nvPr>
        </p:nvSpPr>
        <p:spPr>
          <a:xfrm>
            <a:off x="1194261" y="3297130"/>
            <a:ext cx="1069357" cy="72313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총인건비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인상률(3%) 한도 준수</a:t>
            </a:r>
          </a:p>
        </p:txBody>
      </p:sp>
      <p:sp>
        <p:nvSpPr>
          <p:cNvPr id="42" name="카드"/>
          <p:cNvSpPr/>
          <p:nvPr/>
        </p:nvSpPr>
        <p:spPr>
          <a:xfrm>
            <a:off x="2307443" y="3286174"/>
            <a:ext cx="1091270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3" name="카드 문구"/>
          <p:cNvSpPr>
            <a:spLocks noGrp="1"/>
          </p:cNvSpPr>
          <p:nvPr>
            <p:ph type="body" sz="quarter" idx="36"/>
          </p:nvPr>
        </p:nvSpPr>
        <p:spPr>
          <a:xfrm>
            <a:off x="2329357" y="3297130"/>
            <a:ext cx="1069357" cy="72313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복리비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2,850천원/인(전년比 12천원↓)</a:t>
            </a:r>
          </a:p>
        </p:txBody>
      </p:sp>
      <p:sp>
        <p:nvSpPr>
          <p:cNvPr id="44" name="카드"/>
          <p:cNvSpPr/>
          <p:nvPr/>
        </p:nvSpPr>
        <p:spPr>
          <a:xfrm>
            <a:off x="3442539" y="3286174"/>
            <a:ext cx="1091270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5" name="카드 문구"/>
          <p:cNvSpPr>
            <a:spLocks noGrp="1"/>
          </p:cNvSpPr>
          <p:nvPr>
            <p:ph type="body" sz="quarter" idx="37"/>
          </p:nvPr>
        </p:nvSpPr>
        <p:spPr>
          <a:xfrm>
            <a:off x="3464452" y="3297130"/>
            <a:ext cx="1069357" cy="72313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신설항목 Zero</a:t>
            </a:r>
          </a:p>
        </p:txBody>
      </p:sp>
      <p:sp>
        <p:nvSpPr>
          <p:cNvPr id="46" name="카드"/>
          <p:cNvSpPr/>
          <p:nvPr/>
        </p:nvSpPr>
        <p:spPr>
          <a:xfrm>
            <a:off x="4577635" y="3286174"/>
            <a:ext cx="1091270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7" name="카드 문구"/>
          <p:cNvSpPr>
            <a:spLocks noGrp="1"/>
          </p:cNvSpPr>
          <p:nvPr>
            <p:ph type="body" sz="quarter" idx="38"/>
          </p:nvPr>
        </p:nvSpPr>
        <p:spPr>
          <a:xfrm>
            <a:off x="4599548" y="3297130"/>
            <a:ext cx="1069357" cy="72313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중징계, 음주불응자 미지급</a:t>
            </a:r>
          </a:p>
        </p:txBody>
      </p:sp>
      <p:sp>
        <p:nvSpPr>
          <p:cNvPr id="48" name="카드"/>
          <p:cNvSpPr/>
          <p:nvPr/>
        </p:nvSpPr>
        <p:spPr>
          <a:xfrm>
            <a:off x="5712730" y="3286174"/>
            <a:ext cx="1091270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9" name="카드 문구"/>
          <p:cNvSpPr>
            <a:spLocks noGrp="1"/>
          </p:cNvSpPr>
          <p:nvPr>
            <p:ph type="body" sz="quarter" idx="39"/>
          </p:nvPr>
        </p:nvSpPr>
        <p:spPr>
          <a:xfrm>
            <a:off x="5734643" y="3297130"/>
            <a:ext cx="1069357" cy="72313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퇴직금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누진제 및 산재 가산 미운영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74 서사 · 목표 · 이행계획 두 칸(번호 띠 바로 아래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국민 공감과 직원 만족이 함께하는 균형 잡힌 복지 실현</a:t>
            </a:r>
          </a:p>
        </p:txBody>
      </p:sp>
      <p:sp>
        <p:nvSpPr>
          <p:cNvPr id="14" name="표 외곽"/>
          <p:cNvSpPr/>
          <p:nvPr/>
        </p:nvSpPr>
        <p:spPr>
          <a:xfrm>
            <a:off x="723130" y="1128522"/>
            <a:ext cx="6300000" cy="85742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734087" y="1144957"/>
            <a:ext cx="580696" cy="26843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144957"/>
            <a:ext cx="580696" cy="268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목 표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3"/>
          </p:nvPr>
        </p:nvSpPr>
        <p:spPr>
          <a:xfrm>
            <a:off x="1358609" y="1166870"/>
            <a:ext cx="2802130" cy="241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복지만족도 제고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4"/>
          </p:nvPr>
        </p:nvSpPr>
        <p:spPr>
          <a:xfrm>
            <a:off x="4182652" y="1166870"/>
            <a:ext cx="2802130" cy="241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한정된 복리후생 재원의 효율적 운영</a:t>
            </a:r>
          </a:p>
        </p:txBody>
      </p:sp>
      <p:cxnSp>
        <p:nvCxnSpPr>
          <p:cNvPr id="19" name="Connector 12"/>
          <p:cNvCxnSpPr/>
          <p:nvPr/>
        </p:nvCxnSpPr>
        <p:spPr>
          <a:xfrm>
            <a:off x="4171696" y="1199739"/>
            <a:ext cx="0" cy="17530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0" name="레일"/>
          <p:cNvSpPr/>
          <p:nvPr/>
        </p:nvSpPr>
        <p:spPr>
          <a:xfrm>
            <a:off x="734087" y="1429826"/>
            <a:ext cx="580696" cy="5396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5"/>
          </p:nvPr>
        </p:nvSpPr>
        <p:spPr>
          <a:xfrm>
            <a:off x="734087" y="1429826"/>
            <a:ext cx="580696" cy="5396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이행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계획</a:t>
            </a:r>
          </a:p>
        </p:txBody>
      </p:sp>
      <p:sp>
        <p:nvSpPr>
          <p:cNvPr id="22" name="레일 삼각형"/>
          <p:cNvSpPr/>
          <p:nvPr/>
        </p:nvSpPr>
        <p:spPr>
          <a:xfrm>
            <a:off x="734086" y="1429826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6"/>
          </p:nvPr>
        </p:nvSpPr>
        <p:spPr>
          <a:xfrm>
            <a:off x="1358609" y="1451739"/>
            <a:ext cx="2802130" cy="241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중장기(’24~’30) 복지 개선계획 고도화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7"/>
          </p:nvPr>
        </p:nvSpPr>
        <p:spPr>
          <a:xfrm>
            <a:off x="4182652" y="1451739"/>
            <a:ext cx="2802130" cy="241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 눈높이에 부합하는 제도개선·운용</a:t>
            </a:r>
          </a:p>
        </p:txBody>
      </p:sp>
      <p:cxnSp>
        <p:nvCxnSpPr>
          <p:cNvPr id="25" name="Connector 17"/>
          <p:cNvCxnSpPr/>
          <p:nvPr/>
        </p:nvCxnSpPr>
        <p:spPr>
          <a:xfrm>
            <a:off x="4171696" y="1484609"/>
            <a:ext cx="0" cy="17530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75 서사 · 추진배경(성과 환류 + 정부정책) → 계획 롤링 → 과제 4영역 → 핵심 제도 2건 → 추진성과(연도 비교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3216590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정책·경영방향·직원 수요 조화 속 합리적 복지제도 개선</a:t>
            </a:r>
          </a:p>
        </p:txBody>
      </p:sp>
      <p:sp>
        <p:nvSpPr>
          <p:cNvPr id="12" name="태그칩"/>
          <p:cNvSpPr/>
          <p:nvPr/>
        </p:nvSpPr>
        <p:spPr>
          <a:xfrm>
            <a:off x="3852068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3852068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태그칩"/>
          <p:cNvSpPr/>
          <p:nvPr/>
        </p:nvSpPr>
        <p:spPr>
          <a:xfrm>
            <a:off x="4403189" y="799826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2"/>
          </p:nvPr>
        </p:nvSpPr>
        <p:spPr>
          <a:xfrm>
            <a:off x="4403189" y="799826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6" name="태그칩"/>
          <p:cNvSpPr/>
          <p:nvPr/>
        </p:nvSpPr>
        <p:spPr>
          <a:xfrm>
            <a:off x="5173847" y="799826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칩"/>
          <p:cNvSpPr>
            <a:spLocks noGrp="1"/>
          </p:cNvSpPr>
          <p:nvPr>
            <p:ph type="body" sz="quarter" idx="23"/>
          </p:nvPr>
        </p:nvSpPr>
        <p:spPr>
          <a:xfrm>
            <a:off x="5173847" y="799826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8" name="표 외곽"/>
          <p:cNvSpPr/>
          <p:nvPr/>
        </p:nvSpPr>
        <p:spPr>
          <a:xfrm>
            <a:off x="536870" y="1051826"/>
            <a:ext cx="6300000" cy="1383339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레일"/>
          <p:cNvSpPr/>
          <p:nvPr/>
        </p:nvSpPr>
        <p:spPr>
          <a:xfrm>
            <a:off x="547826" y="1068261"/>
            <a:ext cx="580696" cy="794348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4"/>
          </p:nvPr>
        </p:nvSpPr>
        <p:spPr>
          <a:xfrm>
            <a:off x="547826" y="1068261"/>
            <a:ext cx="580696" cy="79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21" name="머리칸"/>
          <p:cNvSpPr/>
          <p:nvPr/>
        </p:nvSpPr>
        <p:spPr>
          <a:xfrm>
            <a:off x="1161391" y="109017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2" name="머리칸"/>
          <p:cNvSpPr>
            <a:spLocks noGrp="1"/>
          </p:cNvSpPr>
          <p:nvPr>
            <p:ph type="body" sz="quarter" idx="25"/>
          </p:nvPr>
        </p:nvSpPr>
        <p:spPr>
          <a:xfrm>
            <a:off x="1161391" y="109017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직원니즈  성과 환류(’24년 만족도 조사)</a:t>
            </a:r>
          </a:p>
        </p:txBody>
      </p:sp>
      <p:sp>
        <p:nvSpPr>
          <p:cNvPr id="23" name="머리칸"/>
          <p:cNvSpPr/>
          <p:nvPr/>
        </p:nvSpPr>
        <p:spPr>
          <a:xfrm>
            <a:off x="3985435" y="109017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4" name="머리칸"/>
          <p:cNvSpPr>
            <a:spLocks noGrp="1"/>
          </p:cNvSpPr>
          <p:nvPr>
            <p:ph type="body" sz="quarter" idx="26"/>
          </p:nvPr>
        </p:nvSpPr>
        <p:spPr>
          <a:xfrm>
            <a:off x="3985435" y="109017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정부정책  안전한 일터 + 행복한 일터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1172348" y="1331217"/>
            <a:ext cx="2802130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보건분야 및 근무환경 형평성 제고 등 개선 필요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8"/>
          </p:nvPr>
        </p:nvSpPr>
        <p:spPr>
          <a:xfrm>
            <a:off x="3996391" y="1331217"/>
            <a:ext cx="2802130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 최우선 경영 + 가족친화경영 추진</a:t>
            </a:r>
          </a:p>
        </p:txBody>
      </p:sp>
      <p:cxnSp>
        <p:nvCxnSpPr>
          <p:cNvPr id="27" name="Connector 17"/>
          <p:cNvCxnSpPr/>
          <p:nvPr/>
        </p:nvCxnSpPr>
        <p:spPr>
          <a:xfrm>
            <a:off x="3985435" y="1364087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8" name="레일"/>
          <p:cNvSpPr/>
          <p:nvPr/>
        </p:nvSpPr>
        <p:spPr>
          <a:xfrm>
            <a:off x="547826" y="1879043"/>
            <a:ext cx="580696" cy="5396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9" name="레일"/>
          <p:cNvSpPr>
            <a:spLocks noGrp="1"/>
          </p:cNvSpPr>
          <p:nvPr>
            <p:ph type="body" sz="quarter" idx="29"/>
          </p:nvPr>
        </p:nvSpPr>
        <p:spPr>
          <a:xfrm>
            <a:off x="547826" y="1879043"/>
            <a:ext cx="580696" cy="5396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계획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롤링</a:t>
            </a:r>
          </a:p>
        </p:txBody>
      </p:sp>
      <p:sp>
        <p:nvSpPr>
          <p:cNvPr id="30" name="레일 삼각형"/>
          <p:cNvSpPr/>
          <p:nvPr/>
        </p:nvSpPr>
        <p:spPr>
          <a:xfrm>
            <a:off x="547826" y="1879043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1" name="배너"/>
          <p:cNvSpPr/>
          <p:nvPr/>
        </p:nvSpPr>
        <p:spPr>
          <a:xfrm>
            <a:off x="1161391" y="1900957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2" name="배너"/>
          <p:cNvSpPr>
            <a:spLocks noGrp="1"/>
          </p:cNvSpPr>
          <p:nvPr>
            <p:ph type="body" sz="quarter" idx="30"/>
          </p:nvPr>
        </p:nvSpPr>
        <p:spPr>
          <a:xfrm>
            <a:off x="1161391" y="1900957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중장기(’24~’30) 복지 개선계획 내 신규 단기과제(4건), 중점(안전)과제(3건) 추가</a:t>
            </a:r>
          </a:p>
        </p:txBody>
      </p:sp>
      <p:sp>
        <p:nvSpPr>
          <p:cNvPr id="33" name="아이콘 칸"/>
          <p:cNvSpPr/>
          <p:nvPr/>
        </p:nvSpPr>
        <p:spPr>
          <a:xfrm>
            <a:off x="536870" y="2533774"/>
            <a:ext cx="175304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3600" rIns="3600" tIns="0" bIns="0" wrap="square"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/>
            </a:r>
          </a:p>
        </p:txBody>
      </p:sp>
      <p:sp>
        <p:nvSpPr>
          <p:cNvPr id="34" name="태그"/>
          <p:cNvSpPr/>
          <p:nvPr/>
        </p:nvSpPr>
        <p:spPr>
          <a:xfrm>
            <a:off x="756000" y="2533774"/>
            <a:ext cx="329103" cy="175304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35" name="태그"/>
          <p:cNvSpPr>
            <a:spLocks noGrp="1"/>
          </p:cNvSpPr>
          <p:nvPr>
            <p:ph type="body" sz="quarter" idx="31"/>
          </p:nvPr>
        </p:nvSpPr>
        <p:spPr>
          <a:xfrm>
            <a:off x="756000" y="2533774"/>
            <a:ext cx="329103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과제</a:t>
            </a:r>
          </a:p>
        </p:txBody>
      </p:sp>
      <p:sp>
        <p:nvSpPr>
          <p:cNvPr id="36" name="그룹 제목"/>
          <p:cNvSpPr>
            <a:spLocks noGrp="1"/>
          </p:cNvSpPr>
          <p:nvPr>
            <p:ph type="body" sz="quarter" idx="32"/>
          </p:nvPr>
        </p:nvSpPr>
        <p:spPr>
          <a:xfrm>
            <a:off x="1128929" y="2511861"/>
            <a:ext cx="5686028" cy="21913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안심일터 · 가정친화 · 효율적 복지 · 직원 만족도 4영역</a:t>
            </a:r>
          </a:p>
        </p:txBody>
      </p:sp>
      <p:sp>
        <p:nvSpPr>
          <p:cNvPr id="37" name="그룹 틀"/>
          <p:cNvSpPr/>
          <p:nvPr/>
        </p:nvSpPr>
        <p:spPr>
          <a:xfrm>
            <a:off x="536870" y="2752904"/>
            <a:ext cx="6300000" cy="2268000"/>
          </a:xfrm>
          <a:prstGeom prst="rect">
            <a:avLst/>
          </a:prstGeom>
          <a:solidFill>
            <a:srgbClr val="FFFFFF"/>
          </a:solidFill>
          <a:ln w="1587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8" name="카드 머리"/>
          <p:cNvSpPr/>
          <p:nvPr/>
        </p:nvSpPr>
        <p:spPr>
          <a:xfrm>
            <a:off x="569739" y="2774817"/>
            <a:ext cx="3095217" cy="208174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9" name="태그"/>
          <p:cNvSpPr/>
          <p:nvPr/>
        </p:nvSpPr>
        <p:spPr>
          <a:xfrm>
            <a:off x="613565" y="2796730"/>
            <a:ext cx="548640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0" name="태그"/>
          <p:cNvSpPr>
            <a:spLocks noGrp="1"/>
          </p:cNvSpPr>
          <p:nvPr>
            <p:ph type="body" sz="quarter" idx="33"/>
          </p:nvPr>
        </p:nvSpPr>
        <p:spPr>
          <a:xfrm>
            <a:off x="613565" y="2796730"/>
            <a:ext cx="548640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안심일터</a:t>
            </a:r>
          </a:p>
        </p:txBody>
      </p:sp>
      <p:sp>
        <p:nvSpPr>
          <p:cNvPr id="41" name="카드 제목"/>
          <p:cNvSpPr>
            <a:spLocks noGrp="1"/>
          </p:cNvSpPr>
          <p:nvPr>
            <p:ph type="body" sz="quarter" idx="34"/>
          </p:nvPr>
        </p:nvSpPr>
        <p:spPr>
          <a:xfrm>
            <a:off x="1195075" y="2774817"/>
            <a:ext cx="2447969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안심케어센터 조직 신설</a:t>
            </a:r>
          </a:p>
        </p:txBody>
      </p:sp>
      <p:sp>
        <p:nvSpPr>
          <p:cNvPr id="42" name="카드 본문"/>
          <p:cNvSpPr>
            <a:spLocks noGrp="1"/>
          </p:cNvSpPr>
          <p:nvPr>
            <p:ph type="body" sz="quarter" idx="35"/>
          </p:nvPr>
        </p:nvSpPr>
        <p:spPr>
          <a:xfrm>
            <a:off x="569739" y="2993948"/>
            <a:ext cx="3073304" cy="843652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업무 관련 재해 직원 심리·법률 등 밀착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EAP 지원 및 건강증진 활동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노사공동 상호부조 모금제도 도입</a:t>
            </a:r>
          </a:p>
        </p:txBody>
      </p:sp>
      <p:cxnSp>
        <p:nvCxnSpPr>
          <p:cNvPr id="43" name="Connector 29"/>
          <p:cNvCxnSpPr/>
          <p:nvPr/>
        </p:nvCxnSpPr>
        <p:spPr>
          <a:xfrm>
            <a:off x="3675913" y="2807687"/>
            <a:ext cx="0" cy="1018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4" name="카드 머리"/>
          <p:cNvSpPr/>
          <p:nvPr/>
        </p:nvSpPr>
        <p:spPr>
          <a:xfrm>
            <a:off x="3686870" y="2774817"/>
            <a:ext cx="3095217" cy="208174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5" name="태그"/>
          <p:cNvSpPr/>
          <p:nvPr/>
        </p:nvSpPr>
        <p:spPr>
          <a:xfrm>
            <a:off x="3730696" y="2796730"/>
            <a:ext cx="548640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46" name="태그"/>
          <p:cNvSpPr>
            <a:spLocks noGrp="1"/>
          </p:cNvSpPr>
          <p:nvPr>
            <p:ph type="body" sz="quarter" idx="36"/>
          </p:nvPr>
        </p:nvSpPr>
        <p:spPr>
          <a:xfrm>
            <a:off x="3730696" y="2796730"/>
            <a:ext cx="548640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가정친화</a:t>
            </a:r>
          </a:p>
        </p:txBody>
      </p:sp>
      <p:sp>
        <p:nvSpPr>
          <p:cNvPr id="47" name="카드 제목"/>
          <p:cNvSpPr>
            <a:spLocks noGrp="1"/>
          </p:cNvSpPr>
          <p:nvPr>
            <p:ph type="body" sz="quarter" idx="37"/>
          </p:nvPr>
        </p:nvSpPr>
        <p:spPr>
          <a:xfrm>
            <a:off x="4312205" y="2774817"/>
            <a:ext cx="2447969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유역별 보육시설 확대 추진</a:t>
            </a:r>
          </a:p>
        </p:txBody>
      </p:sp>
      <p:sp>
        <p:nvSpPr>
          <p:cNvPr id="48" name="카드 본문"/>
          <p:cNvSpPr>
            <a:spLocks noGrp="1"/>
          </p:cNvSpPr>
          <p:nvPr>
            <p:ph type="body" sz="quarter" idx="38"/>
          </p:nvPr>
        </p:nvSpPr>
        <p:spPr>
          <a:xfrm>
            <a:off x="3686870" y="2993948"/>
            <a:ext cx="3073304" cy="843652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K-water형 워케이션 시범운영 시행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가족친화 휴가제도 개선(임신검진 동행 10일 등)</a:t>
            </a:r>
          </a:p>
        </p:txBody>
      </p:sp>
      <p:sp>
        <p:nvSpPr>
          <p:cNvPr id="49" name="카드 머리"/>
          <p:cNvSpPr/>
          <p:nvPr/>
        </p:nvSpPr>
        <p:spPr>
          <a:xfrm>
            <a:off x="569739" y="3870470"/>
            <a:ext cx="3095217" cy="208174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0" name="태그"/>
          <p:cNvSpPr/>
          <p:nvPr/>
        </p:nvSpPr>
        <p:spPr>
          <a:xfrm>
            <a:off x="613565" y="3892383"/>
            <a:ext cx="687680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51" name="태그"/>
          <p:cNvSpPr>
            <a:spLocks noGrp="1"/>
          </p:cNvSpPr>
          <p:nvPr>
            <p:ph type="body" sz="quarter" idx="39"/>
          </p:nvPr>
        </p:nvSpPr>
        <p:spPr>
          <a:xfrm>
            <a:off x="613565" y="3892383"/>
            <a:ext cx="687680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효율적 복지</a:t>
            </a:r>
          </a:p>
        </p:txBody>
      </p:sp>
      <p:sp>
        <p:nvSpPr>
          <p:cNvPr id="52" name="카드 제목"/>
          <p:cNvSpPr>
            <a:spLocks noGrp="1"/>
          </p:cNvSpPr>
          <p:nvPr>
            <p:ph type="body" sz="quarter" idx="40"/>
          </p:nvPr>
        </p:nvSpPr>
        <p:spPr>
          <a:xfrm>
            <a:off x="1334115" y="3870470"/>
            <a:ext cx="2308929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생활 밀착형 기업제휴 협약 확대</a:t>
            </a:r>
          </a:p>
        </p:txBody>
      </p:sp>
      <p:sp>
        <p:nvSpPr>
          <p:cNvPr id="53" name="카드 본문"/>
          <p:cNvSpPr>
            <a:spLocks noGrp="1"/>
          </p:cNvSpPr>
          <p:nvPr>
            <p:ph type="body" sz="quarter" idx="41"/>
          </p:nvPr>
        </p:nvSpPr>
        <p:spPr>
          <a:xfrm>
            <a:off x="569739" y="4089600"/>
            <a:ext cx="3073304" cy="843652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공유차량, 숙박, 쇼핑몰 등 제휴 할인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수기관리 특근식대 제도 개선</a:t>
            </a:r>
          </a:p>
        </p:txBody>
      </p:sp>
      <p:cxnSp>
        <p:nvCxnSpPr>
          <p:cNvPr id="54" name="Connector 38"/>
          <p:cNvCxnSpPr/>
          <p:nvPr/>
        </p:nvCxnSpPr>
        <p:spPr>
          <a:xfrm>
            <a:off x="3675913" y="3903339"/>
            <a:ext cx="0" cy="101895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5" name="카드 머리"/>
          <p:cNvSpPr/>
          <p:nvPr/>
        </p:nvSpPr>
        <p:spPr>
          <a:xfrm>
            <a:off x="3686870" y="3870470"/>
            <a:ext cx="3095217" cy="208174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6" name="태그"/>
          <p:cNvSpPr/>
          <p:nvPr/>
        </p:nvSpPr>
        <p:spPr>
          <a:xfrm>
            <a:off x="3730696" y="3892383"/>
            <a:ext cx="687680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57" name="태그"/>
          <p:cNvSpPr>
            <a:spLocks noGrp="1"/>
          </p:cNvSpPr>
          <p:nvPr>
            <p:ph type="body" sz="quarter" idx="42"/>
          </p:nvPr>
        </p:nvSpPr>
        <p:spPr>
          <a:xfrm>
            <a:off x="3730696" y="3892383"/>
            <a:ext cx="687680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직원 만족도</a:t>
            </a:r>
          </a:p>
        </p:txBody>
      </p:sp>
      <p:sp>
        <p:nvSpPr>
          <p:cNvPr id="58" name="카드 제목"/>
          <p:cNvSpPr>
            <a:spLocks noGrp="1"/>
          </p:cNvSpPr>
          <p:nvPr>
            <p:ph type="body" sz="quarter" idx="43"/>
          </p:nvPr>
        </p:nvSpPr>
        <p:spPr>
          <a:xfrm>
            <a:off x="4451245" y="3870470"/>
            <a:ext cx="2308929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전사 휴게·위생·복지공간 개선</a:t>
            </a:r>
          </a:p>
        </p:txBody>
      </p:sp>
      <p:sp>
        <p:nvSpPr>
          <p:cNvPr id="59" name="카드 본문"/>
          <p:cNvSpPr>
            <a:spLocks noGrp="1"/>
          </p:cNvSpPr>
          <p:nvPr>
            <p:ph type="body" sz="quarter" idx="44"/>
          </p:nvPr>
        </p:nvSpPr>
        <p:spPr>
          <a:xfrm>
            <a:off x="3686870" y="4089600"/>
            <a:ext cx="3073304" cy="843652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휴게·화장실 151개소, 구내식당 등 285개소 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통합 복지포털 구축</a:t>
            </a:r>
          </a:p>
        </p:txBody>
      </p:sp>
      <p:sp>
        <p:nvSpPr>
          <p:cNvPr id="60" name="아이콘 칸"/>
          <p:cNvSpPr/>
          <p:nvPr/>
        </p:nvSpPr>
        <p:spPr>
          <a:xfrm>
            <a:off x="536870" y="5119513"/>
            <a:ext cx="175304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3600" rIns="3600" tIns="0" bIns="0" wrap="square"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/>
            </a:r>
          </a:p>
        </p:txBody>
      </p:sp>
      <p:sp>
        <p:nvSpPr>
          <p:cNvPr id="61" name="태그"/>
          <p:cNvSpPr/>
          <p:nvPr/>
        </p:nvSpPr>
        <p:spPr>
          <a:xfrm>
            <a:off x="756000" y="5119513"/>
            <a:ext cx="577911" cy="175304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62" name="태그"/>
          <p:cNvSpPr>
            <a:spLocks noGrp="1"/>
          </p:cNvSpPr>
          <p:nvPr>
            <p:ph type="body" sz="quarter" idx="45"/>
          </p:nvPr>
        </p:nvSpPr>
        <p:spPr>
          <a:xfrm>
            <a:off x="756000" y="5119513"/>
            <a:ext cx="577911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핵심 제도</a:t>
            </a:r>
          </a:p>
        </p:txBody>
      </p:sp>
      <p:sp>
        <p:nvSpPr>
          <p:cNvPr id="63" name="그룹 제목"/>
          <p:cNvSpPr>
            <a:spLocks noGrp="1"/>
          </p:cNvSpPr>
          <p:nvPr>
            <p:ph type="body" sz="quarter" idx="46"/>
          </p:nvPr>
        </p:nvSpPr>
        <p:spPr>
          <a:xfrm>
            <a:off x="1377737" y="5097600"/>
            <a:ext cx="5437219" cy="21913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재원 효율화와 직원 편의를 함께 높이는 핵심 제도 2건</a:t>
            </a:r>
          </a:p>
        </p:txBody>
      </p:sp>
      <p:sp>
        <p:nvSpPr>
          <p:cNvPr id="64" name="카드 틀"/>
          <p:cNvSpPr/>
          <p:nvPr/>
        </p:nvSpPr>
        <p:spPr>
          <a:xfrm>
            <a:off x="536870" y="5349600"/>
            <a:ext cx="3128087" cy="1040870"/>
          </a:xfrm>
          <a:prstGeom prst="rect">
            <a:avLst/>
          </a:prstGeom>
          <a:solidFill>
            <a:srgbClr val="FFFFFF"/>
          </a:solidFill>
          <a:ln w="12700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5" name="탭"/>
          <p:cNvSpPr/>
          <p:nvPr/>
        </p:nvSpPr>
        <p:spPr>
          <a:xfrm>
            <a:off x="536870" y="5349600"/>
            <a:ext cx="416348" cy="208174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66" name="탭"/>
          <p:cNvSpPr>
            <a:spLocks noGrp="1"/>
          </p:cNvSpPr>
          <p:nvPr>
            <p:ph type="body" sz="quarter" idx="47"/>
          </p:nvPr>
        </p:nvSpPr>
        <p:spPr>
          <a:xfrm>
            <a:off x="536870" y="5349600"/>
            <a:ext cx="416348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투명성</a:t>
            </a:r>
          </a:p>
        </p:txBody>
      </p:sp>
      <p:sp>
        <p:nvSpPr>
          <p:cNvPr id="67" name="카드 제목"/>
          <p:cNvSpPr>
            <a:spLocks noGrp="1"/>
          </p:cNvSpPr>
          <p:nvPr>
            <p:ph type="body" sz="quarter" idx="48"/>
          </p:nvPr>
        </p:nvSpPr>
        <p:spPr>
          <a:xfrm>
            <a:off x="986087" y="5349600"/>
            <a:ext cx="2646000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특근식대 시스템 도입</a:t>
            </a:r>
          </a:p>
        </p:txBody>
      </p:sp>
      <p:sp>
        <p:nvSpPr>
          <p:cNvPr id="68" name="카드 본문"/>
          <p:cNvSpPr>
            <a:spLocks noGrp="1"/>
          </p:cNvSpPr>
          <p:nvPr>
            <p:ph type="body" sz="quarter" idx="49"/>
          </p:nvPr>
        </p:nvSpPr>
        <p:spPr>
          <a:xfrm>
            <a:off x="558783" y="5579687"/>
            <a:ext cx="3084261" cy="525913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근태와 연계한 모바일 식권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복지축소 우려 노조 협의 중단(’24.6) → 소통·합의(’24.11) → 도입(’25.1~3) → 확산(’25.4~)</a:t>
            </a:r>
          </a:p>
        </p:txBody>
      </p:sp>
      <p:sp>
        <p:nvSpPr>
          <p:cNvPr id="69" name="카드 요약"/>
          <p:cNvSpPr/>
          <p:nvPr/>
        </p:nvSpPr>
        <p:spPr>
          <a:xfrm>
            <a:off x="536870" y="6138470"/>
            <a:ext cx="3128087" cy="252000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70" name="카드 요약"/>
          <p:cNvSpPr>
            <a:spLocks noGrp="1"/>
          </p:cNvSpPr>
          <p:nvPr>
            <p:ph type="body" sz="quarter" idx="50"/>
          </p:nvPr>
        </p:nvSpPr>
        <p:spPr>
          <a:xfrm>
            <a:off x="536870" y="6138470"/>
            <a:ext cx="3128087" cy="25200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전년比 특근식대 5억원 절감(19 → 14억원)</a:t>
            </a:r>
          </a:p>
        </p:txBody>
      </p:sp>
      <p:sp>
        <p:nvSpPr>
          <p:cNvPr id="71" name="카드 틀"/>
          <p:cNvSpPr/>
          <p:nvPr/>
        </p:nvSpPr>
        <p:spPr>
          <a:xfrm>
            <a:off x="3708783" y="5349600"/>
            <a:ext cx="3128087" cy="1040870"/>
          </a:xfrm>
          <a:prstGeom prst="rect">
            <a:avLst/>
          </a:prstGeom>
          <a:solidFill>
            <a:srgbClr val="FFFFFF"/>
          </a:solidFill>
          <a:ln w="12700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2" name="탭"/>
          <p:cNvSpPr/>
          <p:nvPr/>
        </p:nvSpPr>
        <p:spPr>
          <a:xfrm>
            <a:off x="3708783" y="5349600"/>
            <a:ext cx="416348" cy="208174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73" name="탭"/>
          <p:cNvSpPr>
            <a:spLocks noGrp="1"/>
          </p:cNvSpPr>
          <p:nvPr>
            <p:ph type="body" sz="quarter" idx="51"/>
          </p:nvPr>
        </p:nvSpPr>
        <p:spPr>
          <a:xfrm>
            <a:off x="3708783" y="5349600"/>
            <a:ext cx="416348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효율성</a:t>
            </a:r>
          </a:p>
        </p:txBody>
      </p:sp>
      <p:sp>
        <p:nvSpPr>
          <p:cNvPr id="74" name="카드 제목"/>
          <p:cNvSpPr>
            <a:spLocks noGrp="1"/>
          </p:cNvSpPr>
          <p:nvPr>
            <p:ph type="body" sz="quarter" idx="52"/>
          </p:nvPr>
        </p:nvSpPr>
        <p:spPr>
          <a:xfrm>
            <a:off x="4158000" y="5349600"/>
            <a:ext cx="2646000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통합 복지포털 구축</a:t>
            </a:r>
          </a:p>
        </p:txBody>
      </p:sp>
      <p:sp>
        <p:nvSpPr>
          <p:cNvPr id="75" name="카드 본문"/>
          <p:cNvSpPr>
            <a:spLocks noGrp="1"/>
          </p:cNvSpPr>
          <p:nvPr>
            <p:ph type="body" sz="quarter" idx="53"/>
          </p:nvPr>
        </p:nvSpPr>
        <p:spPr>
          <a:xfrm>
            <a:off x="3730696" y="5579687"/>
            <a:ext cx="3084261" cy="525913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산재한 정보 창구 일원화 및 연계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수기관리 → 신청·관리 시스템 구축, 복지예산 집행현황 실시간 모니터링</a:t>
            </a:r>
          </a:p>
        </p:txBody>
      </p:sp>
      <p:sp>
        <p:nvSpPr>
          <p:cNvPr id="76" name="카드 요약"/>
          <p:cNvSpPr/>
          <p:nvPr/>
        </p:nvSpPr>
        <p:spPr>
          <a:xfrm>
            <a:off x="3708783" y="6138470"/>
            <a:ext cx="3128087" cy="252000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77" name="카드 요약"/>
          <p:cNvSpPr>
            <a:spLocks noGrp="1"/>
          </p:cNvSpPr>
          <p:nvPr>
            <p:ph type="body" sz="quarter" idx="54"/>
          </p:nvPr>
        </p:nvSpPr>
        <p:spPr>
          <a:xfrm>
            <a:off x="3708783" y="6138470"/>
            <a:ext cx="3128087" cy="25200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복지포털 만족도 4.39점 달성(’25년)</a:t>
            </a:r>
          </a:p>
        </p:txBody>
      </p:sp>
      <p:sp>
        <p:nvSpPr>
          <p:cNvPr id="78" name="틀"/>
          <p:cNvSpPr/>
          <p:nvPr/>
        </p:nvSpPr>
        <p:spPr>
          <a:xfrm>
            <a:off x="536870" y="6521948"/>
            <a:ext cx="6300000" cy="1051826"/>
          </a:xfrm>
          <a:prstGeom prst="rect">
            <a:avLst/>
          </a:prstGeom>
          <a:solidFill>
            <a:srgbClr val="FFFFFF"/>
          </a:solidFill>
          <a:ln w="12700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9" name="성과 라벨"/>
          <p:cNvSpPr/>
          <p:nvPr/>
        </p:nvSpPr>
        <p:spPr>
          <a:xfrm>
            <a:off x="547826" y="6532904"/>
            <a:ext cx="580696" cy="1029913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80" name="성과 라벨"/>
          <p:cNvSpPr>
            <a:spLocks noGrp="1"/>
          </p:cNvSpPr>
          <p:nvPr>
            <p:ph type="body" sz="quarter" idx="55"/>
          </p:nvPr>
        </p:nvSpPr>
        <p:spPr>
          <a:xfrm>
            <a:off x="547826" y="6532904"/>
            <a:ext cx="580696" cy="10299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성과</a:t>
            </a:r>
          </a:p>
        </p:txBody>
      </p:sp>
      <p:sp>
        <p:nvSpPr>
          <p:cNvPr id="81" name="성과 띠"/>
          <p:cNvSpPr/>
          <p:nvPr/>
        </p:nvSpPr>
        <p:spPr>
          <a:xfrm>
            <a:off x="1172348" y="6554817"/>
            <a:ext cx="5631652" cy="20817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82" name="성과 띠"/>
          <p:cNvSpPr>
            <a:spLocks noGrp="1"/>
          </p:cNvSpPr>
          <p:nvPr>
            <p:ph type="body" sz="quarter" idx="56"/>
          </p:nvPr>
        </p:nvSpPr>
        <p:spPr>
          <a:xfrm>
            <a:off x="1172348" y="6554817"/>
            <a:ext cx="5631652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1인당 복리후생비 감축 + 직원 복지만족도 향상</a:t>
            </a:r>
          </a:p>
        </p:txBody>
      </p:sp>
      <p:sp>
        <p:nvSpPr>
          <p:cNvPr id="83" name="카드"/>
          <p:cNvSpPr/>
          <p:nvPr/>
        </p:nvSpPr>
        <p:spPr>
          <a:xfrm>
            <a:off x="1172348" y="6795861"/>
            <a:ext cx="2793913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4" name="카드 문구"/>
          <p:cNvSpPr>
            <a:spLocks noGrp="1"/>
          </p:cNvSpPr>
          <p:nvPr>
            <p:ph type="body" sz="quarter" idx="57"/>
          </p:nvPr>
        </p:nvSpPr>
        <p:spPr>
          <a:xfrm>
            <a:off x="1194261" y="6806817"/>
            <a:ext cx="1263287" cy="72313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1인당 복리후생비(천원)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12천원 감축</a:t>
            </a:r>
          </a:p>
        </p:txBody>
      </p:sp>
      <p:sp>
        <p:nvSpPr>
          <p:cNvPr id="85" name="막대"/>
          <p:cNvSpPr/>
          <p:nvPr/>
        </p:nvSpPr>
        <p:spPr>
          <a:xfrm>
            <a:off x="2512330" y="7168383"/>
            <a:ext cx="164348" cy="219130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6" name="값"/>
          <p:cNvSpPr>
            <a:spLocks noGrp="1"/>
          </p:cNvSpPr>
          <p:nvPr>
            <p:ph type="body" sz="quarter" idx="58"/>
          </p:nvPr>
        </p:nvSpPr>
        <p:spPr>
          <a:xfrm>
            <a:off x="2424678" y="6993078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2,862</a:t>
            </a:r>
          </a:p>
        </p:txBody>
      </p:sp>
      <p:sp>
        <p:nvSpPr>
          <p:cNvPr id="87" name="연도"/>
          <p:cNvSpPr>
            <a:spLocks noGrp="1"/>
          </p:cNvSpPr>
          <p:nvPr>
            <p:ph type="body" sz="quarter" idx="59"/>
          </p:nvPr>
        </p:nvSpPr>
        <p:spPr>
          <a:xfrm>
            <a:off x="2424678" y="7398470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88" name="막대"/>
          <p:cNvSpPr/>
          <p:nvPr/>
        </p:nvSpPr>
        <p:spPr>
          <a:xfrm>
            <a:off x="3211904" y="7170817"/>
            <a:ext cx="164348" cy="216696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9" name="값"/>
          <p:cNvSpPr>
            <a:spLocks noGrp="1"/>
          </p:cNvSpPr>
          <p:nvPr>
            <p:ph type="body" sz="quarter" idx="60"/>
          </p:nvPr>
        </p:nvSpPr>
        <p:spPr>
          <a:xfrm>
            <a:off x="3124252" y="6995513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2,850</a:t>
            </a:r>
          </a:p>
        </p:txBody>
      </p:sp>
      <p:sp>
        <p:nvSpPr>
          <p:cNvPr id="90" name="연도"/>
          <p:cNvSpPr>
            <a:spLocks noGrp="1"/>
          </p:cNvSpPr>
          <p:nvPr>
            <p:ph type="body" sz="quarter" idx="61"/>
          </p:nvPr>
        </p:nvSpPr>
        <p:spPr>
          <a:xfrm>
            <a:off x="3124252" y="7398470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91" name="카드"/>
          <p:cNvSpPr/>
          <p:nvPr/>
        </p:nvSpPr>
        <p:spPr>
          <a:xfrm>
            <a:off x="4010087" y="6795861"/>
            <a:ext cx="2793913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2" name="카드 문구"/>
          <p:cNvSpPr>
            <a:spLocks noGrp="1"/>
          </p:cNvSpPr>
          <p:nvPr>
            <p:ph type="body" sz="quarter" idx="62"/>
          </p:nvPr>
        </p:nvSpPr>
        <p:spPr>
          <a:xfrm>
            <a:off x="4032000" y="6806817"/>
            <a:ext cx="1263287" cy="72313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직원 복지만족도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0.03점 향상</a:t>
            </a:r>
          </a:p>
        </p:txBody>
      </p:sp>
      <p:sp>
        <p:nvSpPr>
          <p:cNvPr id="93" name="막대"/>
          <p:cNvSpPr/>
          <p:nvPr/>
        </p:nvSpPr>
        <p:spPr>
          <a:xfrm>
            <a:off x="5350070" y="7170961"/>
            <a:ext cx="164348" cy="216552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4" name="값"/>
          <p:cNvSpPr>
            <a:spLocks noGrp="1"/>
          </p:cNvSpPr>
          <p:nvPr>
            <p:ph type="body" sz="quarter" idx="63"/>
          </p:nvPr>
        </p:nvSpPr>
        <p:spPr>
          <a:xfrm>
            <a:off x="5262417" y="6995656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4.18점</a:t>
            </a:r>
          </a:p>
        </p:txBody>
      </p:sp>
      <p:sp>
        <p:nvSpPr>
          <p:cNvPr id="95" name="연도"/>
          <p:cNvSpPr>
            <a:spLocks noGrp="1"/>
          </p:cNvSpPr>
          <p:nvPr>
            <p:ph type="body" sz="quarter" idx="64"/>
          </p:nvPr>
        </p:nvSpPr>
        <p:spPr>
          <a:xfrm>
            <a:off x="5262417" y="7398470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96" name="막대"/>
          <p:cNvSpPr/>
          <p:nvPr/>
        </p:nvSpPr>
        <p:spPr>
          <a:xfrm>
            <a:off x="6049643" y="7168383"/>
            <a:ext cx="164348" cy="219130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7" name="값"/>
          <p:cNvSpPr>
            <a:spLocks noGrp="1"/>
          </p:cNvSpPr>
          <p:nvPr>
            <p:ph type="body" sz="quarter" idx="65"/>
          </p:nvPr>
        </p:nvSpPr>
        <p:spPr>
          <a:xfrm>
            <a:off x="5961991" y="6993078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4.21점</a:t>
            </a:r>
          </a:p>
        </p:txBody>
      </p:sp>
      <p:sp>
        <p:nvSpPr>
          <p:cNvPr id="98" name="연도"/>
          <p:cNvSpPr>
            <a:spLocks noGrp="1"/>
          </p:cNvSpPr>
          <p:nvPr>
            <p:ph type="body" sz="quarter" idx="66"/>
          </p:nvPr>
        </p:nvSpPr>
        <p:spPr>
          <a:xfrm>
            <a:off x="5961991" y="7398470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76 서사 · 통상임금 변경 가능성 → 사전 영향진단 → 대응체계 3칸 → 제도개선 2칸 → 추진성과(연도 비교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직무중심 보수체계 기반으로 통상임금 판례 변경 파고(波高) 극복</a:t>
            </a:r>
          </a:p>
        </p:txBody>
      </p:sp>
      <p:sp>
        <p:nvSpPr>
          <p:cNvPr id="14" name="번호 띠 칩"/>
          <p:cNvSpPr/>
          <p:nvPr/>
        </p:nvSpPr>
        <p:spPr>
          <a:xfrm>
            <a:off x="6428183" y="843652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번호 띠 칩"/>
          <p:cNvSpPr>
            <a:spLocks noGrp="1"/>
          </p:cNvSpPr>
          <p:nvPr>
            <p:ph type="body" sz="quarter" idx="22"/>
          </p:nvPr>
        </p:nvSpPr>
        <p:spPr>
          <a:xfrm>
            <a:off x="6428183" y="843652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표 외곽"/>
          <p:cNvSpPr/>
          <p:nvPr/>
        </p:nvSpPr>
        <p:spPr>
          <a:xfrm>
            <a:off x="723130" y="1128522"/>
            <a:ext cx="6300000" cy="500603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734087" y="1144957"/>
            <a:ext cx="580696" cy="5630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3"/>
          </p:nvPr>
        </p:nvSpPr>
        <p:spPr>
          <a:xfrm>
            <a:off x="734087" y="1144957"/>
            <a:ext cx="580696" cy="5630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통상임금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변경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가능성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4"/>
          </p:nvPr>
        </p:nvSpPr>
        <p:spPr>
          <a:xfrm>
            <a:off x="1358609" y="1166870"/>
            <a:ext cx="5626174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통상임금 ‘고정성’ 쟁점 사건 대법원 전원합의체 회부로 해석변경 가능성 증가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고정성 요건 완화(제외)시 통상임금 확대로 법정초과수당 증가</a:t>
            </a:r>
          </a:p>
        </p:txBody>
      </p:sp>
      <p:sp>
        <p:nvSpPr>
          <p:cNvPr id="20" name="레일"/>
          <p:cNvSpPr/>
          <p:nvPr/>
        </p:nvSpPr>
        <p:spPr>
          <a:xfrm>
            <a:off x="734087" y="1724400"/>
            <a:ext cx="580696" cy="980609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5"/>
          </p:nvPr>
        </p:nvSpPr>
        <p:spPr>
          <a:xfrm>
            <a:off x="734087" y="1724400"/>
            <a:ext cx="580696" cy="980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 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영향진단</a:t>
            </a:r>
          </a:p>
        </p:txBody>
      </p:sp>
      <p:sp>
        <p:nvSpPr>
          <p:cNvPr id="22" name="레일 삼각형"/>
          <p:cNvSpPr/>
          <p:nvPr/>
        </p:nvSpPr>
        <p:spPr>
          <a:xfrm>
            <a:off x="734086" y="1724400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3" name="머리칸"/>
          <p:cNvSpPr/>
          <p:nvPr/>
        </p:nvSpPr>
        <p:spPr>
          <a:xfrm>
            <a:off x="1347652" y="174631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4" name="머리칸"/>
          <p:cNvSpPr>
            <a:spLocks noGrp="1"/>
          </p:cNvSpPr>
          <p:nvPr>
            <p:ph type="body" sz="quarter" idx="26"/>
          </p:nvPr>
        </p:nvSpPr>
        <p:spPr>
          <a:xfrm>
            <a:off x="1347652" y="174631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총인건비</a:t>
            </a:r>
          </a:p>
        </p:txBody>
      </p:sp>
      <p:sp>
        <p:nvSpPr>
          <p:cNvPr id="25" name="머리칸"/>
          <p:cNvSpPr/>
          <p:nvPr/>
        </p:nvSpPr>
        <p:spPr>
          <a:xfrm>
            <a:off x="4171696" y="174631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6" name="머리칸"/>
          <p:cNvSpPr>
            <a:spLocks noGrp="1"/>
          </p:cNvSpPr>
          <p:nvPr>
            <p:ph type="body" sz="quarter" idx="27"/>
          </p:nvPr>
        </p:nvSpPr>
        <p:spPr>
          <a:xfrm>
            <a:off x="4171696" y="174631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보수체계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28"/>
          </p:nvPr>
        </p:nvSpPr>
        <p:spPr>
          <a:xfrm>
            <a:off x="1358609" y="1987357"/>
            <a:ext cx="2802130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수당 증가 규모는 총인건비 내 해소 가능하나, 증가 최소화 필요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9"/>
          </p:nvPr>
        </p:nvSpPr>
        <p:spPr>
          <a:xfrm>
            <a:off x="4182652" y="1987357"/>
            <a:ext cx="2802130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수행직무에 따른 보수영향 차이 발생으로 직원 수용성 저하 우려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통상직무: 수당 미증가 → 보상휴가제 / 교대직무: 수당 증가 → 보상휴가제 적용 불가</a:t>
            </a:r>
          </a:p>
        </p:txBody>
      </p:sp>
      <p:cxnSp>
        <p:nvCxnSpPr>
          <p:cNvPr id="29" name="Connector 18"/>
          <p:cNvCxnSpPr/>
          <p:nvPr/>
        </p:nvCxnSpPr>
        <p:spPr>
          <a:xfrm>
            <a:off x="4171696" y="2020226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0" name="레일"/>
          <p:cNvSpPr/>
          <p:nvPr/>
        </p:nvSpPr>
        <p:spPr>
          <a:xfrm>
            <a:off x="734087" y="2721443"/>
            <a:ext cx="580696" cy="408209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1" name="레일"/>
          <p:cNvSpPr>
            <a:spLocks noGrp="1"/>
          </p:cNvSpPr>
          <p:nvPr>
            <p:ph type="body" sz="quarter" idx="30"/>
          </p:nvPr>
        </p:nvSpPr>
        <p:spPr>
          <a:xfrm>
            <a:off x="734087" y="2721443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진단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결과</a:t>
            </a:r>
          </a:p>
        </p:txBody>
      </p:sp>
      <p:sp>
        <p:nvSpPr>
          <p:cNvPr id="32" name="배너"/>
          <p:cNvSpPr/>
          <p:nvPr/>
        </p:nvSpPr>
        <p:spPr>
          <a:xfrm>
            <a:off x="1347652" y="2743357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3" name="배너"/>
          <p:cNvSpPr>
            <a:spLocks noGrp="1"/>
          </p:cNvSpPr>
          <p:nvPr>
            <p:ph type="body" sz="quarter" idx="31"/>
          </p:nvPr>
        </p:nvSpPr>
        <p:spPr>
          <a:xfrm>
            <a:off x="1347652" y="2743357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진단 결과에 기반하여 변경판례 확정(’24.12)에 따른 신속한 대응체계 마련</a:t>
            </a:r>
          </a:p>
        </p:txBody>
      </p:sp>
      <p:sp>
        <p:nvSpPr>
          <p:cNvPr id="34" name="레일"/>
          <p:cNvSpPr/>
          <p:nvPr/>
        </p:nvSpPr>
        <p:spPr>
          <a:xfrm>
            <a:off x="734087" y="3146087"/>
            <a:ext cx="580696" cy="1309304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5" name="레일"/>
          <p:cNvSpPr>
            <a:spLocks noGrp="1"/>
          </p:cNvSpPr>
          <p:nvPr>
            <p:ph type="body" sz="quarter" idx="32"/>
          </p:nvPr>
        </p:nvSpPr>
        <p:spPr>
          <a:xfrm>
            <a:off x="734087" y="3146087"/>
            <a:ext cx="580696" cy="1309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대 응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 계</a:t>
            </a:r>
          </a:p>
        </p:txBody>
      </p:sp>
      <p:sp>
        <p:nvSpPr>
          <p:cNvPr id="36" name="머리칸"/>
          <p:cNvSpPr/>
          <p:nvPr/>
        </p:nvSpPr>
        <p:spPr>
          <a:xfrm>
            <a:off x="1347652" y="316800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7" name="머리칸"/>
          <p:cNvSpPr>
            <a:spLocks noGrp="1"/>
          </p:cNvSpPr>
          <p:nvPr>
            <p:ph type="body" sz="quarter" idx="33"/>
          </p:nvPr>
        </p:nvSpPr>
        <p:spPr>
          <a:xfrm>
            <a:off x="1347652" y="316800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법·제도 불확실성 해소</a:t>
            </a:r>
          </a:p>
        </p:txBody>
      </p:sp>
      <p:sp>
        <p:nvSpPr>
          <p:cNvPr id="38" name="머리칸"/>
          <p:cNvSpPr/>
          <p:nvPr/>
        </p:nvSpPr>
        <p:spPr>
          <a:xfrm>
            <a:off x="3230348" y="316800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9" name="머리칸"/>
          <p:cNvSpPr>
            <a:spLocks noGrp="1"/>
          </p:cNvSpPr>
          <p:nvPr>
            <p:ph type="body" sz="quarter" idx="34"/>
          </p:nvPr>
        </p:nvSpPr>
        <p:spPr>
          <a:xfrm>
            <a:off x="3230348" y="316800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직원니즈 수렴 및 소통</a:t>
            </a:r>
          </a:p>
        </p:txBody>
      </p:sp>
      <p:sp>
        <p:nvSpPr>
          <p:cNvPr id="40" name="머리칸"/>
          <p:cNvSpPr/>
          <p:nvPr/>
        </p:nvSpPr>
        <p:spPr>
          <a:xfrm>
            <a:off x="5113043" y="316800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1" name="머리칸"/>
          <p:cNvSpPr>
            <a:spLocks noGrp="1"/>
          </p:cNvSpPr>
          <p:nvPr>
            <p:ph type="body" sz="quarter" idx="35"/>
          </p:nvPr>
        </p:nvSpPr>
        <p:spPr>
          <a:xfrm>
            <a:off x="5113043" y="316800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❸ 노사협의체 운영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36"/>
          </p:nvPr>
        </p:nvSpPr>
        <p:spPr>
          <a:xfrm>
            <a:off x="1358609" y="3409043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통상임금 산입여부 확인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노무전문가 자문(’25.3), 고용노동부 유권해석(’25.8)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37"/>
          </p:nvPr>
        </p:nvSpPr>
        <p:spPr>
          <a:xfrm>
            <a:off x="3241304" y="3409043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직무가치의 합리적 평가 및 보상 연계 강화 요구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노사공동 전직원 설명회(5회)</a:t>
            </a:r>
          </a:p>
        </p:txBody>
      </p:sp>
      <p:cxnSp>
        <p:nvCxnSpPr>
          <p:cNvPr id="44" name="Connector 27"/>
          <p:cNvCxnSpPr/>
          <p:nvPr/>
        </p:nvCxnSpPr>
        <p:spPr>
          <a:xfrm>
            <a:off x="3230348" y="3441913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5" name="칸 본문"/>
          <p:cNvSpPr>
            <a:spLocks noGrp="1"/>
          </p:cNvSpPr>
          <p:nvPr>
            <p:ph type="body" sz="quarter" idx="38"/>
          </p:nvPr>
        </p:nvSpPr>
        <p:spPr>
          <a:xfrm>
            <a:off x="5124000" y="3409043"/>
            <a:ext cx="1860783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보수체계 개편 대안 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임금협약(’25.6~12), 노사 교대근무 TF(’25.5~12)</a:t>
            </a:r>
          </a:p>
        </p:txBody>
      </p:sp>
      <p:cxnSp>
        <p:nvCxnSpPr>
          <p:cNvPr id="46" name="Connector 29"/>
          <p:cNvCxnSpPr/>
          <p:nvPr/>
        </p:nvCxnSpPr>
        <p:spPr>
          <a:xfrm>
            <a:off x="5113043" y="3441913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7" name="레일"/>
          <p:cNvSpPr/>
          <p:nvPr/>
        </p:nvSpPr>
        <p:spPr>
          <a:xfrm>
            <a:off x="734087" y="4471826"/>
            <a:ext cx="580696" cy="1090174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8" name="레일"/>
          <p:cNvSpPr>
            <a:spLocks noGrp="1"/>
          </p:cNvSpPr>
          <p:nvPr>
            <p:ph type="body" sz="quarter" idx="39"/>
          </p:nvPr>
        </p:nvSpPr>
        <p:spPr>
          <a:xfrm>
            <a:off x="734087" y="4471826"/>
            <a:ext cx="580696" cy="1090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제 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 선</a:t>
            </a:r>
          </a:p>
        </p:txBody>
      </p:sp>
      <p:sp>
        <p:nvSpPr>
          <p:cNvPr id="49" name="머리칸"/>
          <p:cNvSpPr/>
          <p:nvPr/>
        </p:nvSpPr>
        <p:spPr>
          <a:xfrm>
            <a:off x="1347652" y="4493739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0" name="머리칸"/>
          <p:cNvSpPr>
            <a:spLocks noGrp="1"/>
          </p:cNvSpPr>
          <p:nvPr>
            <p:ph type="body" sz="quarter" idx="40"/>
          </p:nvPr>
        </p:nvSpPr>
        <p:spPr>
          <a:xfrm>
            <a:off x="1347652" y="4493739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임금협약  직무급 재설계</a:t>
            </a:r>
          </a:p>
        </p:txBody>
      </p:sp>
      <p:sp>
        <p:nvSpPr>
          <p:cNvPr id="51" name="머리칸"/>
          <p:cNvSpPr/>
          <p:nvPr/>
        </p:nvSpPr>
        <p:spPr>
          <a:xfrm>
            <a:off x="4171696" y="4493739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2" name="머리칸"/>
          <p:cNvSpPr>
            <a:spLocks noGrp="1"/>
          </p:cNvSpPr>
          <p:nvPr>
            <p:ph type="body" sz="quarter" idx="41"/>
          </p:nvPr>
        </p:nvSpPr>
        <p:spPr>
          <a:xfrm>
            <a:off x="4171696" y="4493739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교대근무TF  초과근무 축소 및 휴식권 향상</a:t>
            </a:r>
          </a:p>
        </p:txBody>
      </p:sp>
      <p:sp>
        <p:nvSpPr>
          <p:cNvPr id="53" name="칸 본문"/>
          <p:cNvSpPr>
            <a:spLocks noGrp="1"/>
          </p:cNvSpPr>
          <p:nvPr>
            <p:ph type="body" sz="quarter" idx="42"/>
          </p:nvPr>
        </p:nvSpPr>
        <p:spPr>
          <a:xfrm>
            <a:off x="1358609" y="4734783"/>
            <a:ext cx="2802130" cy="821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직무가치 재진단으로 직무급 재설계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통상·교대 직무급 불균형 보완, 직무급 비중 확대(21.42% → 21.97% → 22.88%)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43"/>
          </p:nvPr>
        </p:nvSpPr>
        <p:spPr>
          <a:xfrm>
            <a:off x="4182652" y="4734783"/>
            <a:ext cx="2802130" cy="821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‘운영관리 지원반’ 운영: 주간 근무일 휴가·외출 사용시 교체 투입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초과근무 축소(수당 축소), 휴가사용 제약 완화</a:t>
            </a:r>
          </a:p>
        </p:txBody>
      </p:sp>
      <p:cxnSp>
        <p:nvCxnSpPr>
          <p:cNvPr id="55" name="Connector 35"/>
          <p:cNvCxnSpPr/>
          <p:nvPr/>
        </p:nvCxnSpPr>
        <p:spPr>
          <a:xfrm>
            <a:off x="4171696" y="4767652"/>
            <a:ext cx="0" cy="75600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6" name="레일"/>
          <p:cNvSpPr/>
          <p:nvPr/>
        </p:nvSpPr>
        <p:spPr>
          <a:xfrm>
            <a:off x="734087" y="5578435"/>
            <a:ext cx="580696" cy="5396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7" name="레일"/>
          <p:cNvSpPr>
            <a:spLocks noGrp="1"/>
          </p:cNvSpPr>
          <p:nvPr>
            <p:ph type="body" sz="quarter" idx="44"/>
          </p:nvPr>
        </p:nvSpPr>
        <p:spPr>
          <a:xfrm>
            <a:off x="734087" y="5578435"/>
            <a:ext cx="580696" cy="5396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개편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방향</a:t>
            </a:r>
          </a:p>
        </p:txBody>
      </p:sp>
      <p:sp>
        <p:nvSpPr>
          <p:cNvPr id="58" name="레일 삼각형"/>
          <p:cNvSpPr/>
          <p:nvPr/>
        </p:nvSpPr>
        <p:spPr>
          <a:xfrm>
            <a:off x="734086" y="5578434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9" name="배너"/>
          <p:cNvSpPr/>
          <p:nvPr/>
        </p:nvSpPr>
        <p:spPr>
          <a:xfrm>
            <a:off x="1347652" y="5600348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60" name="배너"/>
          <p:cNvSpPr>
            <a:spLocks noGrp="1"/>
          </p:cNvSpPr>
          <p:nvPr>
            <p:ph type="body" sz="quarter" idx="45"/>
          </p:nvPr>
        </p:nvSpPr>
        <p:spPr>
          <a:xfrm>
            <a:off x="1347652" y="5600348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노사협력·소통에 기반하여 총인건비 제도 내에서 수용성 높은 보수체계로 개편</a:t>
            </a:r>
          </a:p>
        </p:txBody>
      </p:sp>
      <p:sp>
        <p:nvSpPr>
          <p:cNvPr id="61" name="틀"/>
          <p:cNvSpPr/>
          <p:nvPr/>
        </p:nvSpPr>
        <p:spPr>
          <a:xfrm>
            <a:off x="723130" y="6200296"/>
            <a:ext cx="6300000" cy="1051826"/>
          </a:xfrm>
          <a:prstGeom prst="rect">
            <a:avLst/>
          </a:prstGeom>
          <a:solidFill>
            <a:srgbClr val="FFFFFF"/>
          </a:solidFill>
          <a:ln w="12700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2" name="성과 라벨"/>
          <p:cNvSpPr/>
          <p:nvPr/>
        </p:nvSpPr>
        <p:spPr>
          <a:xfrm>
            <a:off x="734087" y="6211252"/>
            <a:ext cx="580696" cy="1029913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63" name="성과 라벨"/>
          <p:cNvSpPr>
            <a:spLocks noGrp="1"/>
          </p:cNvSpPr>
          <p:nvPr>
            <p:ph type="body" sz="quarter" idx="46"/>
          </p:nvPr>
        </p:nvSpPr>
        <p:spPr>
          <a:xfrm>
            <a:off x="734087" y="6211252"/>
            <a:ext cx="580696" cy="10299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성과</a:t>
            </a:r>
          </a:p>
        </p:txBody>
      </p:sp>
      <p:sp>
        <p:nvSpPr>
          <p:cNvPr id="64" name="성과 띠"/>
          <p:cNvSpPr/>
          <p:nvPr/>
        </p:nvSpPr>
        <p:spPr>
          <a:xfrm>
            <a:off x="1358609" y="6233165"/>
            <a:ext cx="5631652" cy="20817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65" name="성과 띠"/>
          <p:cNvSpPr>
            <a:spLocks noGrp="1"/>
          </p:cNvSpPr>
          <p:nvPr>
            <p:ph type="body" sz="quarter" idx="47"/>
          </p:nvPr>
        </p:nvSpPr>
        <p:spPr>
          <a:xfrm>
            <a:off x="1358609" y="6233165"/>
            <a:ext cx="5631652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 및 업무 성과 기반 공정한 보상체계에 대한 조직 수용성 제고(’25년 신뢰경영지수)</a:t>
            </a:r>
          </a:p>
        </p:txBody>
      </p:sp>
      <p:sp>
        <p:nvSpPr>
          <p:cNvPr id="66" name="카드"/>
          <p:cNvSpPr/>
          <p:nvPr/>
        </p:nvSpPr>
        <p:spPr>
          <a:xfrm>
            <a:off x="1358609" y="6474209"/>
            <a:ext cx="2793913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7" name="카드 문구"/>
          <p:cNvSpPr>
            <a:spLocks noGrp="1"/>
          </p:cNvSpPr>
          <p:nvPr>
            <p:ph type="body" sz="quarter" idx="48"/>
          </p:nvPr>
        </p:nvSpPr>
        <p:spPr>
          <a:xfrm>
            <a:off x="1380522" y="6485165"/>
            <a:ext cx="1263287" cy="72313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존중: 업무성과와 노력에 대한 인정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3점 향상</a:t>
            </a:r>
          </a:p>
        </p:txBody>
      </p:sp>
      <p:sp>
        <p:nvSpPr>
          <p:cNvPr id="68" name="막대"/>
          <p:cNvSpPr/>
          <p:nvPr/>
        </p:nvSpPr>
        <p:spPr>
          <a:xfrm>
            <a:off x="2698591" y="6853876"/>
            <a:ext cx="164348" cy="211985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9" name="값"/>
          <p:cNvSpPr>
            <a:spLocks noGrp="1"/>
          </p:cNvSpPr>
          <p:nvPr>
            <p:ph type="body" sz="quarter" idx="49"/>
          </p:nvPr>
        </p:nvSpPr>
        <p:spPr>
          <a:xfrm>
            <a:off x="2610939" y="6678572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89점</a:t>
            </a:r>
          </a:p>
        </p:txBody>
      </p:sp>
      <p:sp>
        <p:nvSpPr>
          <p:cNvPr id="70" name="연도"/>
          <p:cNvSpPr>
            <a:spLocks noGrp="1"/>
          </p:cNvSpPr>
          <p:nvPr>
            <p:ph type="body" sz="quarter" idx="50"/>
          </p:nvPr>
        </p:nvSpPr>
        <p:spPr>
          <a:xfrm>
            <a:off x="2610939" y="7076817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71" name="막대"/>
          <p:cNvSpPr/>
          <p:nvPr/>
        </p:nvSpPr>
        <p:spPr>
          <a:xfrm>
            <a:off x="3398165" y="6846730"/>
            <a:ext cx="164348" cy="219130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2" name="값"/>
          <p:cNvSpPr>
            <a:spLocks noGrp="1"/>
          </p:cNvSpPr>
          <p:nvPr>
            <p:ph type="body" sz="quarter" idx="51"/>
          </p:nvPr>
        </p:nvSpPr>
        <p:spPr>
          <a:xfrm>
            <a:off x="3310513" y="6671426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92점</a:t>
            </a:r>
          </a:p>
        </p:txBody>
      </p:sp>
      <p:sp>
        <p:nvSpPr>
          <p:cNvPr id="73" name="연도"/>
          <p:cNvSpPr>
            <a:spLocks noGrp="1"/>
          </p:cNvSpPr>
          <p:nvPr>
            <p:ph type="body" sz="quarter" idx="52"/>
          </p:nvPr>
        </p:nvSpPr>
        <p:spPr>
          <a:xfrm>
            <a:off x="3310513" y="7076817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74" name="카드"/>
          <p:cNvSpPr/>
          <p:nvPr/>
        </p:nvSpPr>
        <p:spPr>
          <a:xfrm>
            <a:off x="4196348" y="6474209"/>
            <a:ext cx="2793913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5" name="카드 문구"/>
          <p:cNvSpPr>
            <a:spLocks noGrp="1"/>
          </p:cNvSpPr>
          <p:nvPr>
            <p:ph type="body" sz="quarter" idx="53"/>
          </p:nvPr>
        </p:nvSpPr>
        <p:spPr>
          <a:xfrm>
            <a:off x="4218261" y="6485165"/>
            <a:ext cx="1263287" cy="72313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공정성: 자신의 업무에 대한 공정한 보상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6점 향상</a:t>
            </a:r>
          </a:p>
        </p:txBody>
      </p:sp>
      <p:sp>
        <p:nvSpPr>
          <p:cNvPr id="76" name="막대"/>
          <p:cNvSpPr/>
          <p:nvPr/>
        </p:nvSpPr>
        <p:spPr>
          <a:xfrm>
            <a:off x="5536330" y="6861843"/>
            <a:ext cx="164348" cy="204018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77" name="값"/>
          <p:cNvSpPr>
            <a:spLocks noGrp="1"/>
          </p:cNvSpPr>
          <p:nvPr>
            <p:ph type="body" sz="quarter" idx="54"/>
          </p:nvPr>
        </p:nvSpPr>
        <p:spPr>
          <a:xfrm>
            <a:off x="5448678" y="6686539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81점</a:t>
            </a:r>
          </a:p>
        </p:txBody>
      </p:sp>
      <p:sp>
        <p:nvSpPr>
          <p:cNvPr id="78" name="연도"/>
          <p:cNvSpPr>
            <a:spLocks noGrp="1"/>
          </p:cNvSpPr>
          <p:nvPr>
            <p:ph type="body" sz="quarter" idx="55"/>
          </p:nvPr>
        </p:nvSpPr>
        <p:spPr>
          <a:xfrm>
            <a:off x="5448678" y="7076817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79" name="막대"/>
          <p:cNvSpPr/>
          <p:nvPr/>
        </p:nvSpPr>
        <p:spPr>
          <a:xfrm>
            <a:off x="6235904" y="6846730"/>
            <a:ext cx="164348" cy="219130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0" name="값"/>
          <p:cNvSpPr>
            <a:spLocks noGrp="1"/>
          </p:cNvSpPr>
          <p:nvPr>
            <p:ph type="body" sz="quarter" idx="56"/>
          </p:nvPr>
        </p:nvSpPr>
        <p:spPr>
          <a:xfrm>
            <a:off x="6148252" y="6671426"/>
            <a:ext cx="339652" cy="16434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b="1" spc="-4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87점</a:t>
            </a:r>
          </a:p>
        </p:txBody>
      </p:sp>
      <p:sp>
        <p:nvSpPr>
          <p:cNvPr id="81" name="연도"/>
          <p:cNvSpPr>
            <a:spLocks noGrp="1"/>
          </p:cNvSpPr>
          <p:nvPr>
            <p:ph type="body" sz="quarter" idx="57"/>
          </p:nvPr>
        </p:nvSpPr>
        <p:spPr>
          <a:xfrm>
            <a:off x="6148252" y="7076817"/>
            <a:ext cx="339652" cy="13147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900" spc="-45">
                <a:solidFill>
                  <a:srgbClr val="3B4951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77 서사 · 사업영역 개요(그림 + 관리체계 · 공급체계 두 패널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4208898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사업영역 · 물순환 체계 전반과 에너지·도시사업을 아우르는 종합 물기업</a:t>
            </a:r>
          </a:p>
        </p:txBody>
      </p:sp>
      <p:sp>
        <p:nvSpPr>
          <p:cNvPr id="12" name="표 외곽"/>
          <p:cNvSpPr/>
          <p:nvPr/>
        </p:nvSpPr>
        <p:spPr>
          <a:xfrm>
            <a:off x="536870" y="1051826"/>
            <a:ext cx="6300000" cy="121069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3" name="레일"/>
          <p:cNvSpPr/>
          <p:nvPr/>
        </p:nvSpPr>
        <p:spPr>
          <a:xfrm>
            <a:off x="547826" y="1068261"/>
            <a:ext cx="580696" cy="1177826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4" name="레일"/>
          <p:cNvSpPr>
            <a:spLocks noGrp="1"/>
          </p:cNvSpPr>
          <p:nvPr>
            <p:ph type="body" sz="quarter" idx="21"/>
          </p:nvPr>
        </p:nvSpPr>
        <p:spPr>
          <a:xfrm>
            <a:off x="547826" y="1068261"/>
            <a:ext cx="580696" cy="1177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개념도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2"/>
          </p:nvPr>
        </p:nvSpPr>
        <p:spPr>
          <a:xfrm>
            <a:off x="1172348" y="1090174"/>
            <a:ext cx="4514087" cy="115043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물순환 체계 전반: 유역 물환경 관리 · 용수확보 · 물재해 대응 · 수돗물 생산·공급 · 하수 재이용 · 물에너지 발전 · 수변공간 조성 · 글로벌 물산업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주요사업 ① 수도 ② 수자원 ③ 융합</a:t>
            </a:r>
          </a:p>
        </p:txBody>
      </p:sp>
      <p:sp>
        <p:nvSpPr>
          <p:cNvPr id="16" name="사진 칸"/>
          <p:cNvSpPr/>
          <p:nvPr/>
        </p:nvSpPr>
        <p:spPr>
          <a:xfrm>
            <a:off x="5730261" y="1095652"/>
            <a:ext cx="1079217" cy="1139478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17" name="사진 칸"/>
          <p:cNvSpPr>
            <a:spLocks noGrp="1"/>
          </p:cNvSpPr>
          <p:nvPr>
            <p:ph type="body" sz="quarter" idx="23"/>
          </p:nvPr>
        </p:nvSpPr>
        <p:spPr>
          <a:xfrm>
            <a:off x="5730261" y="1095652"/>
            <a:ext cx="1079217" cy="113947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사업영역 개념도</a:t>
            </a:r>
          </a:p>
        </p:txBody>
      </p:sp>
      <p:sp>
        <p:nvSpPr>
          <p:cNvPr id="18" name="패널 외곽"/>
          <p:cNvSpPr/>
          <p:nvPr/>
        </p:nvSpPr>
        <p:spPr>
          <a:xfrm>
            <a:off x="536870" y="2317304"/>
            <a:ext cx="3128087" cy="986087"/>
          </a:xfrm>
          <a:prstGeom prst="rect">
            <a:avLst/>
          </a:prstGeom>
          <a:solidFill>
            <a:srgbClr val="FFFFFF"/>
          </a:solidFill>
          <a:ln w="12700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패널 머리"/>
          <p:cNvSpPr/>
          <p:nvPr/>
        </p:nvSpPr>
        <p:spPr>
          <a:xfrm>
            <a:off x="536870" y="2317304"/>
            <a:ext cx="3128087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0" name="패널 머리"/>
          <p:cNvSpPr>
            <a:spLocks noGrp="1"/>
          </p:cNvSpPr>
          <p:nvPr>
            <p:ph type="body" sz="quarter" idx="24"/>
          </p:nvPr>
        </p:nvSpPr>
        <p:spPr>
          <a:xfrm>
            <a:off x="536870" y="2317304"/>
            <a:ext cx="31280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수자원 관리체계</a:t>
            </a:r>
          </a:p>
        </p:txBody>
      </p:sp>
      <p:sp>
        <p:nvSpPr>
          <p:cNvPr id="21" name="패널 본문"/>
          <p:cNvSpPr>
            <a:spLocks noGrp="1"/>
          </p:cNvSpPr>
          <p:nvPr>
            <p:ph type="body" sz="quarter" idx="25"/>
          </p:nvPr>
        </p:nvSpPr>
        <p:spPr>
          <a:xfrm>
            <a:off x="558783" y="2558348"/>
            <a:ext cx="3084261" cy="4820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및 하천의 종류에 따라 관리주체 분절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K-water는 다목적댐과 그 직상하류만 관리</a:t>
            </a:r>
          </a:p>
        </p:txBody>
      </p:sp>
      <p:sp>
        <p:nvSpPr>
          <p:cNvPr id="22" name="요약 바"/>
          <p:cNvSpPr/>
          <p:nvPr/>
        </p:nvSpPr>
        <p:spPr>
          <a:xfrm>
            <a:off x="558783" y="3062348"/>
            <a:ext cx="3084261" cy="219130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3" name="요약 바"/>
          <p:cNvSpPr>
            <a:spLocks noGrp="1"/>
          </p:cNvSpPr>
          <p:nvPr>
            <p:ph type="body" sz="quarter" idx="26"/>
          </p:nvPr>
        </p:nvSpPr>
        <p:spPr>
          <a:xfrm>
            <a:off x="558783" y="3062348"/>
            <a:ext cx="3084261" cy="219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다목적댐 · 발전댐 · 농업용 저수지 · 국가하천 · 지방하천</a:t>
            </a:r>
          </a:p>
        </p:txBody>
      </p:sp>
      <p:sp>
        <p:nvSpPr>
          <p:cNvPr id="24" name="패널 외곽"/>
          <p:cNvSpPr/>
          <p:nvPr/>
        </p:nvSpPr>
        <p:spPr>
          <a:xfrm>
            <a:off x="3708783" y="2317304"/>
            <a:ext cx="3128087" cy="986087"/>
          </a:xfrm>
          <a:prstGeom prst="rect">
            <a:avLst/>
          </a:prstGeom>
          <a:solidFill>
            <a:srgbClr val="FFFFFF"/>
          </a:solidFill>
          <a:ln w="12700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5" name="패널 머리"/>
          <p:cNvSpPr/>
          <p:nvPr/>
        </p:nvSpPr>
        <p:spPr>
          <a:xfrm>
            <a:off x="3708783" y="2317304"/>
            <a:ext cx="3128087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6" name="패널 머리"/>
          <p:cNvSpPr>
            <a:spLocks noGrp="1"/>
          </p:cNvSpPr>
          <p:nvPr>
            <p:ph type="body" sz="quarter" idx="27"/>
          </p:nvPr>
        </p:nvSpPr>
        <p:spPr>
          <a:xfrm>
            <a:off x="3708783" y="2317304"/>
            <a:ext cx="31280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수돗물 공급체계</a:t>
            </a:r>
          </a:p>
        </p:txBody>
      </p:sp>
      <p:sp>
        <p:nvSpPr>
          <p:cNvPr id="27" name="패널 본문"/>
          <p:cNvSpPr>
            <a:spLocks noGrp="1"/>
          </p:cNvSpPr>
          <p:nvPr>
            <p:ph type="body" sz="quarter" idx="28"/>
          </p:nvPr>
        </p:nvSpPr>
        <p:spPr>
          <a:xfrm>
            <a:off x="3730696" y="2558348"/>
            <a:ext cx="3084261" cy="4820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광역상수도(K-water)와 지방상수도(지자체)로 분절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K-water는 물을 생산해 지자체에 공급하는 역할</a:t>
            </a:r>
          </a:p>
        </p:txBody>
      </p:sp>
      <p:sp>
        <p:nvSpPr>
          <p:cNvPr id="28" name="요약 바"/>
          <p:cNvSpPr/>
          <p:nvPr/>
        </p:nvSpPr>
        <p:spPr>
          <a:xfrm>
            <a:off x="3730696" y="3062348"/>
            <a:ext cx="3084261" cy="219130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9" name="요약 바"/>
          <p:cNvSpPr>
            <a:spLocks noGrp="1"/>
          </p:cNvSpPr>
          <p:nvPr>
            <p:ph type="body" sz="quarter" idx="29"/>
          </p:nvPr>
        </p:nvSpPr>
        <p:spPr>
          <a:xfrm>
            <a:off x="3730696" y="3062348"/>
            <a:ext cx="3084261" cy="219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취수장 → 정수장 → 배수지 → 급수관 → 국민 · 기업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78 서사 · 사업 분야 소개(미션 한 줄 → 사업구성 → 대상사업 · 사업범위 · 주요 미션 표 + 도식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수도서비스 사업</a:t>
            </a:r>
          </a:p>
        </p:txBody>
      </p:sp>
      <p:sp>
        <p:nvSpPr>
          <p:cNvPr id="14" name="배너"/>
          <p:cNvSpPr/>
          <p:nvPr/>
        </p:nvSpPr>
        <p:spPr>
          <a:xfrm>
            <a:off x="723130" y="1139478"/>
            <a:ext cx="6300000" cy="536870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cxnSp>
        <p:nvCxnSpPr>
          <p:cNvPr id="15" name="Connector 9"/>
          <p:cNvCxnSpPr/>
          <p:nvPr/>
        </p:nvCxnSpPr>
        <p:spPr>
          <a:xfrm>
            <a:off x="723130" y="1139478"/>
            <a:ext cx="6300000" cy="0"/>
          </a:xfrm>
          <a:prstGeom prst="line">
            <a:avLst/>
          </a:prstGeom>
          <a:ln w="12700">
            <a:solidFill>
              <a:srgbClr val="BDE0FF"/>
            </a:solidFill>
          </a:ln>
        </p:spPr>
      </p:cxnSp>
      <p:sp>
        <p:nvSpPr>
          <p:cNvPr id="16" name="배너 글"/>
          <p:cNvSpPr>
            <a:spLocks noGrp="1"/>
          </p:cNvSpPr>
          <p:nvPr>
            <p:ph type="body" sz="quarter" idx="22"/>
          </p:nvPr>
        </p:nvSpPr>
        <p:spPr>
          <a:xfrm>
            <a:off x="723130" y="1194261"/>
            <a:ext cx="6300000" cy="19721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국민·기업이 만족하는 고품질 물공급으로 물복지 제고 및 산업 경쟁력 강화</a:t>
            </a:r>
          </a:p>
        </p:txBody>
      </p:sp>
      <p:sp>
        <p:nvSpPr>
          <p:cNvPr id="17" name="배너 글"/>
          <p:cNvSpPr>
            <a:spLocks noGrp="1"/>
          </p:cNvSpPr>
          <p:nvPr>
            <p:ph type="body" sz="quarter" idx="23"/>
          </p:nvPr>
        </p:nvSpPr>
        <p:spPr>
          <a:xfrm>
            <a:off x="723130" y="1402435"/>
            <a:ext cx="6300000" cy="19721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전국 수돗물의 51% 공급 및 지방상수도 운영 선진화 지원 등</a:t>
            </a:r>
          </a:p>
        </p:txBody>
      </p:sp>
      <p:sp>
        <p:nvSpPr>
          <p:cNvPr id="18" name="형광 밑줄"/>
          <p:cNvSpPr/>
          <p:nvPr/>
        </p:nvSpPr>
        <p:spPr>
          <a:xfrm>
            <a:off x="723130" y="1950261"/>
            <a:ext cx="4783191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소제목"/>
          <p:cNvSpPr>
            <a:spLocks noGrp="1"/>
          </p:cNvSpPr>
          <p:nvPr>
            <p:ph type="body" sz="quarter" idx="24"/>
          </p:nvPr>
        </p:nvSpPr>
        <p:spPr>
          <a:xfrm>
            <a:off x="723130" y="1796870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사업구성 · 수돗물 공급 혁신, 포용적 물복지 강화, 국민체감 서비스 개선, 안전관리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79 서사 · 주요사업 정의 및 평가대상 사업 선정(설립목적 → 비전 → 전략 → 주요사업 정의·대표성 → 평가대상사업 → 성과목표·지표·실행과제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주요사업 정의 및 평가대상 사업 선정</a:t>
            </a:r>
          </a:p>
        </p:txBody>
      </p:sp>
      <p:sp>
        <p:nvSpPr>
          <p:cNvPr id="15" name="표 외곽"/>
          <p:cNvSpPr/>
          <p:nvPr/>
        </p:nvSpPr>
        <p:spPr>
          <a:xfrm>
            <a:off x="536870" y="1117565"/>
            <a:ext cx="6300000" cy="6776139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레일"/>
          <p:cNvSpPr/>
          <p:nvPr/>
        </p:nvSpPr>
        <p:spPr>
          <a:xfrm>
            <a:off x="547826" y="1134000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134000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설 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목 적</a:t>
            </a:r>
          </a:p>
        </p:txBody>
      </p:sp>
      <p:sp>
        <p:nvSpPr>
          <p:cNvPr id="18" name="단계"/>
          <p:cNvSpPr/>
          <p:nvPr/>
        </p:nvSpPr>
        <p:spPr>
          <a:xfrm>
            <a:off x="1161391" y="1155913"/>
            <a:ext cx="112961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9" name="단계"/>
          <p:cNvSpPr>
            <a:spLocks noGrp="1"/>
          </p:cNvSpPr>
          <p:nvPr>
            <p:ph type="body" sz="quarter" idx="23"/>
          </p:nvPr>
        </p:nvSpPr>
        <p:spPr>
          <a:xfrm>
            <a:off x="1161391" y="1155913"/>
            <a:ext cx="112961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수자원 개발·관리</a:t>
            </a:r>
          </a:p>
        </p:txBody>
      </p:sp>
      <p:sp>
        <p:nvSpPr>
          <p:cNvPr id="20" name="단계"/>
          <p:cNvSpPr/>
          <p:nvPr/>
        </p:nvSpPr>
        <p:spPr>
          <a:xfrm>
            <a:off x="2291009" y="1155913"/>
            <a:ext cx="1129617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1" name="단계"/>
          <p:cNvSpPr>
            <a:spLocks noGrp="1"/>
          </p:cNvSpPr>
          <p:nvPr>
            <p:ph type="body" sz="quarter" idx="24"/>
          </p:nvPr>
        </p:nvSpPr>
        <p:spPr>
          <a:xfrm>
            <a:off x="2291009" y="1155913"/>
            <a:ext cx="112961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수질 개선</a:t>
            </a:r>
          </a:p>
        </p:txBody>
      </p:sp>
      <p:sp>
        <p:nvSpPr>
          <p:cNvPr id="22" name="단계"/>
          <p:cNvSpPr/>
          <p:nvPr/>
        </p:nvSpPr>
        <p:spPr>
          <a:xfrm>
            <a:off x="3420626" y="1155913"/>
            <a:ext cx="1129617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3" name="단계"/>
          <p:cNvSpPr>
            <a:spLocks noGrp="1"/>
          </p:cNvSpPr>
          <p:nvPr>
            <p:ph type="body" sz="quarter" idx="25"/>
          </p:nvPr>
        </p:nvSpPr>
        <p:spPr>
          <a:xfrm>
            <a:off x="3420626" y="1155913"/>
            <a:ext cx="112961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안정적 용수공급</a:t>
            </a:r>
          </a:p>
        </p:txBody>
      </p:sp>
      <p:sp>
        <p:nvSpPr>
          <p:cNvPr id="24" name="단계"/>
          <p:cNvSpPr/>
          <p:nvPr/>
        </p:nvSpPr>
        <p:spPr>
          <a:xfrm>
            <a:off x="4550243" y="1155913"/>
            <a:ext cx="1129617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5" name="단계"/>
          <p:cNvSpPr>
            <a:spLocks noGrp="1"/>
          </p:cNvSpPr>
          <p:nvPr>
            <p:ph type="body" sz="quarter" idx="26"/>
          </p:nvPr>
        </p:nvSpPr>
        <p:spPr>
          <a:xfrm>
            <a:off x="4550243" y="1155913"/>
            <a:ext cx="112961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국민생활 향상</a:t>
            </a:r>
          </a:p>
        </p:txBody>
      </p:sp>
      <p:sp>
        <p:nvSpPr>
          <p:cNvPr id="26" name="단계"/>
          <p:cNvSpPr/>
          <p:nvPr/>
        </p:nvSpPr>
        <p:spPr>
          <a:xfrm>
            <a:off x="5679861" y="1155913"/>
            <a:ext cx="1129617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7" name="단계"/>
          <p:cNvSpPr>
            <a:spLocks noGrp="1"/>
          </p:cNvSpPr>
          <p:nvPr>
            <p:ph type="body" sz="quarter" idx="27"/>
          </p:nvPr>
        </p:nvSpPr>
        <p:spPr>
          <a:xfrm>
            <a:off x="5679861" y="1155913"/>
            <a:ext cx="112961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공공복리 증진</a:t>
            </a:r>
          </a:p>
        </p:txBody>
      </p:sp>
      <p:sp>
        <p:nvSpPr>
          <p:cNvPr id="28" name="단계 삼각형"/>
          <p:cNvSpPr/>
          <p:nvPr/>
        </p:nvSpPr>
        <p:spPr>
          <a:xfrm>
            <a:off x="2291008" y="115591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단계 삼각형"/>
          <p:cNvSpPr/>
          <p:nvPr/>
        </p:nvSpPr>
        <p:spPr>
          <a:xfrm>
            <a:off x="3420626" y="115591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0" name="단계 삼각형"/>
          <p:cNvSpPr/>
          <p:nvPr/>
        </p:nvSpPr>
        <p:spPr>
          <a:xfrm>
            <a:off x="4550243" y="115591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1" name="단계 삼각형"/>
          <p:cNvSpPr/>
          <p:nvPr/>
        </p:nvSpPr>
        <p:spPr>
          <a:xfrm>
            <a:off x="5679860" y="1155913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2" name="칸 본문"/>
          <p:cNvSpPr txBox="1"/>
          <p:nvPr/>
        </p:nvSpPr>
        <p:spPr>
          <a:xfrm>
            <a:off x="1172348" y="1407913"/>
            <a:ext cx="1107704" cy="5478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sp>
        <p:nvSpPr>
          <p:cNvPr id="33" name="칸 본문"/>
          <p:cNvSpPr txBox="1"/>
          <p:nvPr/>
        </p:nvSpPr>
        <p:spPr>
          <a:xfrm>
            <a:off x="2301965" y="1407913"/>
            <a:ext cx="1107704" cy="5478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34" name="Connector 24"/>
          <p:cNvCxnSpPr/>
          <p:nvPr/>
        </p:nvCxnSpPr>
        <p:spPr>
          <a:xfrm flipV="1">
            <a:off x="2291009" y="1429826"/>
            <a:ext cx="0" cy="1095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5" name="칸 본문"/>
          <p:cNvSpPr txBox="1"/>
          <p:nvPr/>
        </p:nvSpPr>
        <p:spPr>
          <a:xfrm>
            <a:off x="3431583" y="1407913"/>
            <a:ext cx="1107704" cy="5478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36" name="Connector 26"/>
          <p:cNvCxnSpPr/>
          <p:nvPr/>
        </p:nvCxnSpPr>
        <p:spPr>
          <a:xfrm flipV="1">
            <a:off x="3420626" y="1429826"/>
            <a:ext cx="0" cy="1095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7" name="칸 본문"/>
          <p:cNvSpPr txBox="1"/>
          <p:nvPr/>
        </p:nvSpPr>
        <p:spPr>
          <a:xfrm>
            <a:off x="4561200" y="1407913"/>
            <a:ext cx="1107704" cy="5478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38" name="Connector 28"/>
          <p:cNvCxnSpPr/>
          <p:nvPr/>
        </p:nvCxnSpPr>
        <p:spPr>
          <a:xfrm flipV="1">
            <a:off x="4550243" y="1429826"/>
            <a:ext cx="0" cy="1095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9" name="칸 본문"/>
          <p:cNvSpPr txBox="1"/>
          <p:nvPr/>
        </p:nvSpPr>
        <p:spPr>
          <a:xfrm>
            <a:off x="5690817" y="1407913"/>
            <a:ext cx="1107704" cy="5478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40" name="Connector 30"/>
          <p:cNvCxnSpPr/>
          <p:nvPr/>
        </p:nvCxnSpPr>
        <p:spPr>
          <a:xfrm flipV="1">
            <a:off x="5679861" y="1429826"/>
            <a:ext cx="0" cy="1095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1" name="레일"/>
          <p:cNvSpPr/>
          <p:nvPr/>
        </p:nvSpPr>
        <p:spPr>
          <a:xfrm>
            <a:off x="547826" y="1558643"/>
            <a:ext cx="580696" cy="38488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2" name="레일"/>
          <p:cNvSpPr>
            <a:spLocks noGrp="1"/>
          </p:cNvSpPr>
          <p:nvPr>
            <p:ph type="body" sz="quarter" idx="28"/>
          </p:nvPr>
        </p:nvSpPr>
        <p:spPr>
          <a:xfrm>
            <a:off x="547826" y="1558643"/>
            <a:ext cx="580696" cy="3848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비 전</a:t>
            </a:r>
          </a:p>
        </p:txBody>
      </p:sp>
      <p:sp>
        <p:nvSpPr>
          <p:cNvPr id="43" name="레일 삼각형"/>
          <p:cNvSpPr/>
          <p:nvPr/>
        </p:nvSpPr>
        <p:spPr>
          <a:xfrm>
            <a:off x="547826" y="1558643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4" name="배너"/>
          <p:cNvSpPr/>
          <p:nvPr/>
        </p:nvSpPr>
        <p:spPr>
          <a:xfrm>
            <a:off x="1161391" y="1580557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5" name="배너"/>
          <p:cNvSpPr>
            <a:spLocks noGrp="1"/>
          </p:cNvSpPr>
          <p:nvPr>
            <p:ph type="body" sz="quarter" idx="29"/>
          </p:nvPr>
        </p:nvSpPr>
        <p:spPr>
          <a:xfrm>
            <a:off x="1161391" y="1580557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기후위기 대응을 선도하는 글로벌 물기업 / AI 특화비전: 기후위기를 극복하는 AI 물관리 세계 1위 기업</a:t>
            </a:r>
          </a:p>
        </p:txBody>
      </p:sp>
      <p:sp>
        <p:nvSpPr>
          <p:cNvPr id="46" name="레일"/>
          <p:cNvSpPr/>
          <p:nvPr/>
        </p:nvSpPr>
        <p:spPr>
          <a:xfrm>
            <a:off x="547826" y="1959965"/>
            <a:ext cx="580696" cy="408209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7" name="레일"/>
          <p:cNvSpPr>
            <a:spLocks noGrp="1"/>
          </p:cNvSpPr>
          <p:nvPr>
            <p:ph type="body" sz="quarter" idx="30"/>
          </p:nvPr>
        </p:nvSpPr>
        <p:spPr>
          <a:xfrm>
            <a:off x="547826" y="1959965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 략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목 표</a:t>
            </a:r>
          </a:p>
        </p:txBody>
      </p:sp>
      <p:sp>
        <p:nvSpPr>
          <p:cNvPr id="48" name="배너"/>
          <p:cNvSpPr/>
          <p:nvPr/>
        </p:nvSpPr>
        <p:spPr>
          <a:xfrm>
            <a:off x="1161391" y="1981878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9" name="배너"/>
          <p:cNvSpPr>
            <a:spLocks noGrp="1"/>
          </p:cNvSpPr>
          <p:nvPr>
            <p:ph type="body" sz="quarter" idx="31"/>
          </p:nvPr>
        </p:nvSpPr>
        <p:spPr>
          <a:xfrm>
            <a:off x="1161391" y="1981878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새로운 물의 시대를 개척하는 기후위기 대응 솔루션 구현(~2030년 Water Storage 20% 확충 및 녹색수출 20조원)</a:t>
            </a:r>
          </a:p>
        </p:txBody>
      </p:sp>
      <p:sp>
        <p:nvSpPr>
          <p:cNvPr id="50" name="레일"/>
          <p:cNvSpPr/>
          <p:nvPr/>
        </p:nvSpPr>
        <p:spPr>
          <a:xfrm>
            <a:off x="547826" y="2384609"/>
            <a:ext cx="580696" cy="408209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1" name="레일"/>
          <p:cNvSpPr>
            <a:spLocks noGrp="1"/>
          </p:cNvSpPr>
          <p:nvPr>
            <p:ph type="body" sz="quarter" idx="32"/>
          </p:nvPr>
        </p:nvSpPr>
        <p:spPr>
          <a:xfrm>
            <a:off x="547826" y="2384609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 략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 향</a:t>
            </a:r>
          </a:p>
        </p:txBody>
      </p:sp>
      <p:sp>
        <p:nvSpPr>
          <p:cNvPr id="52" name="단계"/>
          <p:cNvSpPr/>
          <p:nvPr/>
        </p:nvSpPr>
        <p:spPr>
          <a:xfrm>
            <a:off x="1161391" y="2406522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3" name="단계"/>
          <p:cNvSpPr>
            <a:spLocks noGrp="1"/>
          </p:cNvSpPr>
          <p:nvPr>
            <p:ph type="body" sz="quarter" idx="33"/>
          </p:nvPr>
        </p:nvSpPr>
        <p:spPr>
          <a:xfrm>
            <a:off x="1161391" y="2406522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고품질 물공급 실현</a:t>
            </a:r>
          </a:p>
        </p:txBody>
      </p:sp>
      <p:sp>
        <p:nvSpPr>
          <p:cNvPr id="54" name="단계"/>
          <p:cNvSpPr/>
          <p:nvPr/>
        </p:nvSpPr>
        <p:spPr>
          <a:xfrm>
            <a:off x="3044087" y="2406522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5" name="단계"/>
          <p:cNvSpPr>
            <a:spLocks noGrp="1"/>
          </p:cNvSpPr>
          <p:nvPr>
            <p:ph type="body" sz="quarter" idx="34"/>
          </p:nvPr>
        </p:nvSpPr>
        <p:spPr>
          <a:xfrm>
            <a:off x="3044087" y="2406522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물관리 시스템 구축</a:t>
            </a:r>
          </a:p>
        </p:txBody>
      </p:sp>
      <p:sp>
        <p:nvSpPr>
          <p:cNvPr id="56" name="단계"/>
          <p:cNvSpPr/>
          <p:nvPr/>
        </p:nvSpPr>
        <p:spPr>
          <a:xfrm>
            <a:off x="4926783" y="2406522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7" name="단계"/>
          <p:cNvSpPr>
            <a:spLocks noGrp="1"/>
          </p:cNvSpPr>
          <p:nvPr>
            <p:ph type="body" sz="quarter" idx="35"/>
          </p:nvPr>
        </p:nvSpPr>
        <p:spPr>
          <a:xfrm>
            <a:off x="4926783" y="2406522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물가치 창출</a:t>
            </a:r>
          </a:p>
        </p:txBody>
      </p:sp>
      <p:sp>
        <p:nvSpPr>
          <p:cNvPr id="58" name="단계 삼각형"/>
          <p:cNvSpPr/>
          <p:nvPr/>
        </p:nvSpPr>
        <p:spPr>
          <a:xfrm>
            <a:off x="3044086" y="2406521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9" name="단계 삼각형"/>
          <p:cNvSpPr/>
          <p:nvPr/>
        </p:nvSpPr>
        <p:spPr>
          <a:xfrm>
            <a:off x="4926782" y="2406521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0" name="칸 본문"/>
          <p:cNvSpPr txBox="1"/>
          <p:nvPr/>
        </p:nvSpPr>
        <p:spPr>
          <a:xfrm>
            <a:off x="1172348" y="2658522"/>
            <a:ext cx="1860783" cy="5478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sp>
        <p:nvSpPr>
          <p:cNvPr id="61" name="칸 본문"/>
          <p:cNvSpPr txBox="1"/>
          <p:nvPr/>
        </p:nvSpPr>
        <p:spPr>
          <a:xfrm>
            <a:off x="3055043" y="2658522"/>
            <a:ext cx="1860783" cy="5478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62" name="Connector 44"/>
          <p:cNvCxnSpPr/>
          <p:nvPr/>
        </p:nvCxnSpPr>
        <p:spPr>
          <a:xfrm flipV="1">
            <a:off x="3044087" y="2680435"/>
            <a:ext cx="0" cy="10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3" name="칸 본문"/>
          <p:cNvSpPr txBox="1"/>
          <p:nvPr/>
        </p:nvSpPr>
        <p:spPr>
          <a:xfrm>
            <a:off x="4937739" y="2658522"/>
            <a:ext cx="1860783" cy="5478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64" name="Connector 46"/>
          <p:cNvCxnSpPr/>
          <p:nvPr/>
        </p:nvCxnSpPr>
        <p:spPr>
          <a:xfrm flipV="1">
            <a:off x="4926783" y="2680435"/>
            <a:ext cx="0" cy="10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5" name="레일"/>
          <p:cNvSpPr/>
          <p:nvPr/>
        </p:nvSpPr>
        <p:spPr>
          <a:xfrm>
            <a:off x="547826" y="2809252"/>
            <a:ext cx="580696" cy="84521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6" name="레일"/>
          <p:cNvSpPr>
            <a:spLocks noGrp="1"/>
          </p:cNvSpPr>
          <p:nvPr>
            <p:ph type="body" sz="quarter" idx="36"/>
          </p:nvPr>
        </p:nvSpPr>
        <p:spPr>
          <a:xfrm>
            <a:off x="547826" y="2809252"/>
            <a:ext cx="580696" cy="84521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 략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 제</a:t>
            </a:r>
          </a:p>
        </p:txBody>
      </p:sp>
      <p:sp>
        <p:nvSpPr>
          <p:cNvPr id="67" name="칸 본문"/>
          <p:cNvSpPr>
            <a:spLocks noGrp="1"/>
          </p:cNvSpPr>
          <p:nvPr>
            <p:ph type="body" sz="quarter" idx="37"/>
          </p:nvPr>
        </p:nvSpPr>
        <p:spPr>
          <a:xfrm>
            <a:off x="1172348" y="2831165"/>
            <a:ext cx="1860783" cy="81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물공급 全프로세스 고도화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첨단기술 기반 상수도 혁신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지방 지원 상수도 패키지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국민·기업 안심 물공급 서비스</a:t>
            </a:r>
          </a:p>
        </p:txBody>
      </p:sp>
      <p:sp>
        <p:nvSpPr>
          <p:cNvPr id="68" name="칸 본문"/>
          <p:cNvSpPr>
            <a:spLocks noGrp="1"/>
          </p:cNvSpPr>
          <p:nvPr>
            <p:ph type="body" sz="quarter" idx="38"/>
          </p:nvPr>
        </p:nvSpPr>
        <p:spPr>
          <a:xfrm>
            <a:off x="3055043" y="2831165"/>
            <a:ext cx="1860783" cy="81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기후위기 대응 물안전 확보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스마트 기반 물관리 혁신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수자원 확보·물이용 효율 제고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댐주변활성화, 물환경 건전성 향상</a:t>
            </a:r>
          </a:p>
        </p:txBody>
      </p:sp>
      <p:cxnSp>
        <p:nvCxnSpPr>
          <p:cNvPr id="69" name="Connector 50"/>
          <p:cNvCxnSpPr/>
          <p:nvPr/>
        </p:nvCxnSpPr>
        <p:spPr>
          <a:xfrm>
            <a:off x="3044087" y="2864035"/>
            <a:ext cx="0" cy="752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0" name="칸 본문"/>
          <p:cNvSpPr>
            <a:spLocks noGrp="1"/>
          </p:cNvSpPr>
          <p:nvPr>
            <p:ph type="body" sz="quarter" idx="39"/>
          </p:nvPr>
        </p:nvSpPr>
        <p:spPr>
          <a:xfrm>
            <a:off x="4937739" y="2831165"/>
            <a:ext cx="1860783" cy="81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물에너지 활용 저탄소 전환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특화도시 조성 및 혁신모델 창출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기후테크 생태계 확장 및 수출지원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협력 기반 물 시장 개척</a:t>
            </a:r>
          </a:p>
        </p:txBody>
      </p:sp>
      <p:cxnSp>
        <p:nvCxnSpPr>
          <p:cNvPr id="71" name="Connector 52"/>
          <p:cNvCxnSpPr/>
          <p:nvPr/>
        </p:nvCxnSpPr>
        <p:spPr>
          <a:xfrm>
            <a:off x="4926783" y="2864035"/>
            <a:ext cx="0" cy="752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2" name="레일"/>
          <p:cNvSpPr/>
          <p:nvPr/>
        </p:nvSpPr>
        <p:spPr>
          <a:xfrm>
            <a:off x="547826" y="3670904"/>
            <a:ext cx="580696" cy="408209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3" name="레일"/>
          <p:cNvSpPr>
            <a:spLocks noGrp="1"/>
          </p:cNvSpPr>
          <p:nvPr>
            <p:ph type="body" sz="quarter" idx="40"/>
          </p:nvPr>
        </p:nvSpPr>
        <p:spPr>
          <a:xfrm>
            <a:off x="547826" y="3670904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주 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 업</a:t>
            </a:r>
          </a:p>
        </p:txBody>
      </p:sp>
      <p:sp>
        <p:nvSpPr>
          <p:cNvPr id="74" name="단계"/>
          <p:cNvSpPr/>
          <p:nvPr/>
        </p:nvSpPr>
        <p:spPr>
          <a:xfrm>
            <a:off x="1161391" y="3692817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5" name="단계"/>
          <p:cNvSpPr>
            <a:spLocks noGrp="1"/>
          </p:cNvSpPr>
          <p:nvPr>
            <p:ph type="body" sz="quarter" idx="41"/>
          </p:nvPr>
        </p:nvSpPr>
        <p:spPr>
          <a:xfrm>
            <a:off x="1161391" y="3692817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수도서비스 사업</a:t>
            </a:r>
          </a:p>
        </p:txBody>
      </p:sp>
      <p:sp>
        <p:nvSpPr>
          <p:cNvPr id="76" name="단계"/>
          <p:cNvSpPr/>
          <p:nvPr/>
        </p:nvSpPr>
        <p:spPr>
          <a:xfrm>
            <a:off x="3044087" y="3692817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7" name="단계"/>
          <p:cNvSpPr>
            <a:spLocks noGrp="1"/>
          </p:cNvSpPr>
          <p:nvPr>
            <p:ph type="body" sz="quarter" idx="42"/>
          </p:nvPr>
        </p:nvSpPr>
        <p:spPr>
          <a:xfrm>
            <a:off x="3044087" y="3692817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수자원서비스 사업</a:t>
            </a:r>
          </a:p>
        </p:txBody>
      </p:sp>
      <p:sp>
        <p:nvSpPr>
          <p:cNvPr id="78" name="단계"/>
          <p:cNvSpPr/>
          <p:nvPr/>
        </p:nvSpPr>
        <p:spPr>
          <a:xfrm>
            <a:off x="4926783" y="3692817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79" name="단계"/>
          <p:cNvSpPr>
            <a:spLocks noGrp="1"/>
          </p:cNvSpPr>
          <p:nvPr>
            <p:ph type="body" sz="quarter" idx="43"/>
          </p:nvPr>
        </p:nvSpPr>
        <p:spPr>
          <a:xfrm>
            <a:off x="4926783" y="3692817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융합서비스 사업</a:t>
            </a:r>
          </a:p>
        </p:txBody>
      </p:sp>
      <p:sp>
        <p:nvSpPr>
          <p:cNvPr id="80" name="단계 삼각형"/>
          <p:cNvSpPr/>
          <p:nvPr/>
        </p:nvSpPr>
        <p:spPr>
          <a:xfrm>
            <a:off x="3044086" y="3692817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81" name="단계 삼각형"/>
          <p:cNvSpPr/>
          <p:nvPr/>
        </p:nvSpPr>
        <p:spPr>
          <a:xfrm>
            <a:off x="4926782" y="3692817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82" name="칸 본문"/>
          <p:cNvSpPr txBox="1"/>
          <p:nvPr/>
        </p:nvSpPr>
        <p:spPr>
          <a:xfrm>
            <a:off x="1172348" y="3944817"/>
            <a:ext cx="1860783" cy="5478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sp>
        <p:nvSpPr>
          <p:cNvPr id="83" name="칸 본문"/>
          <p:cNvSpPr txBox="1"/>
          <p:nvPr/>
        </p:nvSpPr>
        <p:spPr>
          <a:xfrm>
            <a:off x="3055043" y="3944817"/>
            <a:ext cx="1860783" cy="5478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84" name="Connector 61"/>
          <p:cNvCxnSpPr/>
          <p:nvPr/>
        </p:nvCxnSpPr>
        <p:spPr>
          <a:xfrm flipV="1">
            <a:off x="3044087" y="3966730"/>
            <a:ext cx="0" cy="1095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5" name="칸 본문"/>
          <p:cNvSpPr txBox="1"/>
          <p:nvPr/>
        </p:nvSpPr>
        <p:spPr>
          <a:xfrm>
            <a:off x="4937739" y="3944817"/>
            <a:ext cx="1860783" cy="5478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86" name="Connector 63"/>
          <p:cNvCxnSpPr/>
          <p:nvPr/>
        </p:nvCxnSpPr>
        <p:spPr>
          <a:xfrm flipV="1">
            <a:off x="4926783" y="3966730"/>
            <a:ext cx="0" cy="1095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7" name="레일"/>
          <p:cNvSpPr/>
          <p:nvPr/>
        </p:nvSpPr>
        <p:spPr>
          <a:xfrm>
            <a:off x="547826" y="4095548"/>
            <a:ext cx="580696" cy="723130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88" name="레일"/>
          <p:cNvSpPr>
            <a:spLocks noGrp="1"/>
          </p:cNvSpPr>
          <p:nvPr>
            <p:ph type="body" sz="quarter" idx="44"/>
          </p:nvPr>
        </p:nvSpPr>
        <p:spPr>
          <a:xfrm>
            <a:off x="547826" y="4095548"/>
            <a:ext cx="580696" cy="723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정의 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대표성</a:t>
            </a:r>
          </a:p>
        </p:txBody>
      </p:sp>
      <p:sp>
        <p:nvSpPr>
          <p:cNvPr id="89" name="배너"/>
          <p:cNvSpPr/>
          <p:nvPr/>
        </p:nvSpPr>
        <p:spPr>
          <a:xfrm>
            <a:off x="1161391" y="4117461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90" name="배너"/>
          <p:cNvSpPr>
            <a:spLocks noGrp="1"/>
          </p:cNvSpPr>
          <p:nvPr>
            <p:ph type="body" sz="quarter" idx="45"/>
          </p:nvPr>
        </p:nvSpPr>
        <p:spPr>
          <a:xfrm>
            <a:off x="1161391" y="4117461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깨끗하고 효율적인 수돗물의 생산과 중단 없는 공급을 통해 건강하고 쾌적한 생활환경을 조성하는 사업</a:t>
            </a:r>
          </a:p>
        </p:txBody>
      </p:sp>
      <p:sp>
        <p:nvSpPr>
          <p:cNvPr id="91" name="머리칸"/>
          <p:cNvSpPr/>
          <p:nvPr/>
        </p:nvSpPr>
        <p:spPr>
          <a:xfrm>
            <a:off x="1161391" y="435302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92" name="머리칸"/>
          <p:cNvSpPr>
            <a:spLocks noGrp="1"/>
          </p:cNvSpPr>
          <p:nvPr>
            <p:ph type="body" sz="quarter" idx="46"/>
          </p:nvPr>
        </p:nvSpPr>
        <p:spPr>
          <a:xfrm>
            <a:off x="1161391" y="435302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인력 비중</a:t>
            </a:r>
          </a:p>
        </p:txBody>
      </p:sp>
      <p:sp>
        <p:nvSpPr>
          <p:cNvPr id="93" name="머리칸"/>
          <p:cNvSpPr/>
          <p:nvPr/>
        </p:nvSpPr>
        <p:spPr>
          <a:xfrm>
            <a:off x="3044087" y="435302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94" name="머리칸"/>
          <p:cNvSpPr>
            <a:spLocks noGrp="1"/>
          </p:cNvSpPr>
          <p:nvPr>
            <p:ph type="body" sz="quarter" idx="47"/>
          </p:nvPr>
        </p:nvSpPr>
        <p:spPr>
          <a:xfrm>
            <a:off x="3044087" y="435302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사업비 비중</a:t>
            </a:r>
          </a:p>
        </p:txBody>
      </p:sp>
      <p:sp>
        <p:nvSpPr>
          <p:cNvPr id="95" name="머리칸"/>
          <p:cNvSpPr/>
          <p:nvPr/>
        </p:nvSpPr>
        <p:spPr>
          <a:xfrm>
            <a:off x="4926783" y="435302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96" name="머리칸"/>
          <p:cNvSpPr>
            <a:spLocks noGrp="1"/>
          </p:cNvSpPr>
          <p:nvPr>
            <p:ph type="body" sz="quarter" idx="48"/>
          </p:nvPr>
        </p:nvSpPr>
        <p:spPr>
          <a:xfrm>
            <a:off x="4926783" y="435302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정책우선 비중</a:t>
            </a:r>
          </a:p>
        </p:txBody>
      </p:sp>
      <p:sp>
        <p:nvSpPr>
          <p:cNvPr id="97" name="칸 본문"/>
          <p:cNvSpPr>
            <a:spLocks noGrp="1"/>
          </p:cNvSpPr>
          <p:nvPr>
            <p:ph type="body" sz="quarter" idx="49"/>
          </p:nvPr>
        </p:nvSpPr>
        <p:spPr>
          <a:xfrm>
            <a:off x="1172348" y="4594070"/>
            <a:ext cx="1860783" cy="21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58.5%(3,049명)</a:t>
            </a:r>
          </a:p>
        </p:txBody>
      </p:sp>
      <p:sp>
        <p:nvSpPr>
          <p:cNvPr id="98" name="칸 본문"/>
          <p:cNvSpPr>
            <a:spLocks noGrp="1"/>
          </p:cNvSpPr>
          <p:nvPr>
            <p:ph type="body" sz="quarter" idx="50"/>
          </p:nvPr>
        </p:nvSpPr>
        <p:spPr>
          <a:xfrm>
            <a:off x="3055043" y="4594070"/>
            <a:ext cx="1860783" cy="21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56.8%(25,670억원)</a:t>
            </a:r>
          </a:p>
        </p:txBody>
      </p:sp>
      <p:cxnSp>
        <p:nvCxnSpPr>
          <p:cNvPr id="99" name="Connector 71"/>
          <p:cNvCxnSpPr/>
          <p:nvPr/>
        </p:nvCxnSpPr>
        <p:spPr>
          <a:xfrm>
            <a:off x="3044087" y="4626939"/>
            <a:ext cx="0" cy="15339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00" name="칸 본문"/>
          <p:cNvSpPr>
            <a:spLocks noGrp="1"/>
          </p:cNvSpPr>
          <p:nvPr>
            <p:ph type="body" sz="quarter" idx="51"/>
          </p:nvPr>
        </p:nvSpPr>
        <p:spPr>
          <a:xfrm>
            <a:off x="4937739" y="4594070"/>
            <a:ext cx="1860783" cy="21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39.5%</a:t>
            </a:r>
          </a:p>
        </p:txBody>
      </p:sp>
      <p:cxnSp>
        <p:nvCxnSpPr>
          <p:cNvPr id="101" name="Connector 73"/>
          <p:cNvCxnSpPr/>
          <p:nvPr/>
        </p:nvCxnSpPr>
        <p:spPr>
          <a:xfrm>
            <a:off x="4926783" y="4626939"/>
            <a:ext cx="0" cy="15339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02" name="레일"/>
          <p:cNvSpPr/>
          <p:nvPr/>
        </p:nvSpPr>
        <p:spPr>
          <a:xfrm>
            <a:off x="547826" y="4835113"/>
            <a:ext cx="580696" cy="73408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03" name="레일"/>
          <p:cNvSpPr>
            <a:spLocks noGrp="1"/>
          </p:cNvSpPr>
          <p:nvPr>
            <p:ph type="body" sz="quarter" idx="52"/>
          </p:nvPr>
        </p:nvSpPr>
        <p:spPr>
          <a:xfrm>
            <a:off x="547826" y="4835113"/>
            <a:ext cx="580696" cy="734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평가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대상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사업</a:t>
            </a:r>
          </a:p>
        </p:txBody>
      </p:sp>
      <p:sp>
        <p:nvSpPr>
          <p:cNvPr id="104" name="배너"/>
          <p:cNvSpPr/>
          <p:nvPr/>
        </p:nvSpPr>
        <p:spPr>
          <a:xfrm>
            <a:off x="1161391" y="4857026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105" name="배너"/>
          <p:cNvSpPr>
            <a:spLocks noGrp="1"/>
          </p:cNvSpPr>
          <p:nvPr>
            <p:ph type="body" sz="quarter" idx="53"/>
          </p:nvPr>
        </p:nvSpPr>
        <p:spPr>
          <a:xfrm>
            <a:off x="1161391" y="4857026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사업별 우선순위 설정: 외부환경 변화를 고려한 STEEP 분석 및 AHP 기법 적용</a:t>
            </a:r>
          </a:p>
        </p:txBody>
      </p:sp>
      <p:sp>
        <p:nvSpPr>
          <p:cNvPr id="106" name="단계"/>
          <p:cNvSpPr/>
          <p:nvPr/>
        </p:nvSpPr>
        <p:spPr>
          <a:xfrm>
            <a:off x="1161391" y="5092591"/>
            <a:ext cx="141202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07" name="단계"/>
          <p:cNvSpPr>
            <a:spLocks noGrp="1"/>
          </p:cNvSpPr>
          <p:nvPr>
            <p:ph type="body" sz="quarter" idx="54"/>
          </p:nvPr>
        </p:nvSpPr>
        <p:spPr>
          <a:xfrm>
            <a:off x="1161391" y="5092591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수돗물 공급 혁신</a:t>
            </a:r>
          </a:p>
        </p:txBody>
      </p:sp>
      <p:sp>
        <p:nvSpPr>
          <p:cNvPr id="108" name="단계"/>
          <p:cNvSpPr/>
          <p:nvPr/>
        </p:nvSpPr>
        <p:spPr>
          <a:xfrm>
            <a:off x="2573413" y="5092591"/>
            <a:ext cx="1412022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09" name="단계"/>
          <p:cNvSpPr>
            <a:spLocks noGrp="1"/>
          </p:cNvSpPr>
          <p:nvPr>
            <p:ph type="body" sz="quarter" idx="55"/>
          </p:nvPr>
        </p:nvSpPr>
        <p:spPr>
          <a:xfrm>
            <a:off x="2573413" y="5092591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포용적 물복지 강화</a:t>
            </a:r>
          </a:p>
        </p:txBody>
      </p:sp>
      <p:sp>
        <p:nvSpPr>
          <p:cNvPr id="110" name="단계"/>
          <p:cNvSpPr/>
          <p:nvPr/>
        </p:nvSpPr>
        <p:spPr>
          <a:xfrm>
            <a:off x="3985435" y="5092591"/>
            <a:ext cx="1412022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11" name="단계"/>
          <p:cNvSpPr>
            <a:spLocks noGrp="1"/>
          </p:cNvSpPr>
          <p:nvPr>
            <p:ph type="body" sz="quarter" idx="56"/>
          </p:nvPr>
        </p:nvSpPr>
        <p:spPr>
          <a:xfrm>
            <a:off x="3985435" y="5092591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국민체감 서비스 개선</a:t>
            </a:r>
          </a:p>
        </p:txBody>
      </p:sp>
      <p:sp>
        <p:nvSpPr>
          <p:cNvPr id="112" name="단계"/>
          <p:cNvSpPr/>
          <p:nvPr/>
        </p:nvSpPr>
        <p:spPr>
          <a:xfrm>
            <a:off x="5397457" y="5092591"/>
            <a:ext cx="1412022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13" name="단계"/>
          <p:cNvSpPr>
            <a:spLocks noGrp="1"/>
          </p:cNvSpPr>
          <p:nvPr>
            <p:ph type="body" sz="quarter" idx="57"/>
          </p:nvPr>
        </p:nvSpPr>
        <p:spPr>
          <a:xfrm>
            <a:off x="5397457" y="5092591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수도서비스 안전관리</a:t>
            </a:r>
          </a:p>
        </p:txBody>
      </p:sp>
      <p:sp>
        <p:nvSpPr>
          <p:cNvPr id="114" name="단계 삼각형"/>
          <p:cNvSpPr/>
          <p:nvPr/>
        </p:nvSpPr>
        <p:spPr>
          <a:xfrm>
            <a:off x="2573413" y="5092591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5" name="단계 삼각형"/>
          <p:cNvSpPr/>
          <p:nvPr/>
        </p:nvSpPr>
        <p:spPr>
          <a:xfrm>
            <a:off x="3985434" y="5092591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6" name="단계 삼각형"/>
          <p:cNvSpPr/>
          <p:nvPr/>
        </p:nvSpPr>
        <p:spPr>
          <a:xfrm>
            <a:off x="5397456" y="5092591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7" name="칸 본문"/>
          <p:cNvSpPr>
            <a:spLocks noGrp="1"/>
          </p:cNvSpPr>
          <p:nvPr>
            <p:ph type="body" sz="quarter" idx="58"/>
          </p:nvPr>
        </p:nvSpPr>
        <p:spPr>
          <a:xfrm>
            <a:off x="1172348" y="5344591"/>
            <a:ext cx="1390109" cy="21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(광역상수도)</a:t>
            </a:r>
          </a:p>
        </p:txBody>
      </p:sp>
      <p:sp>
        <p:nvSpPr>
          <p:cNvPr id="118" name="칸 본문"/>
          <p:cNvSpPr>
            <a:spLocks noGrp="1"/>
          </p:cNvSpPr>
          <p:nvPr>
            <p:ph type="body" sz="quarter" idx="59"/>
          </p:nvPr>
        </p:nvSpPr>
        <p:spPr>
          <a:xfrm>
            <a:off x="2584370" y="5344591"/>
            <a:ext cx="1390109" cy="21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(지방상수도)</a:t>
            </a:r>
          </a:p>
        </p:txBody>
      </p:sp>
      <p:cxnSp>
        <p:nvCxnSpPr>
          <p:cNvPr id="119" name="Connector 85"/>
          <p:cNvCxnSpPr/>
          <p:nvPr/>
        </p:nvCxnSpPr>
        <p:spPr>
          <a:xfrm>
            <a:off x="2573413" y="5377461"/>
            <a:ext cx="0" cy="15339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20" name="칸 본문"/>
          <p:cNvSpPr>
            <a:spLocks noGrp="1"/>
          </p:cNvSpPr>
          <p:nvPr>
            <p:ph type="body" sz="quarter" idx="60"/>
          </p:nvPr>
        </p:nvSpPr>
        <p:spPr>
          <a:xfrm>
            <a:off x="3996391" y="5344591"/>
            <a:ext cx="1390109" cy="21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(국민과 기업 니즈 대응)</a:t>
            </a:r>
          </a:p>
        </p:txBody>
      </p:sp>
      <p:cxnSp>
        <p:nvCxnSpPr>
          <p:cNvPr id="121" name="Connector 87"/>
          <p:cNvCxnSpPr/>
          <p:nvPr/>
        </p:nvCxnSpPr>
        <p:spPr>
          <a:xfrm>
            <a:off x="3985435" y="5377461"/>
            <a:ext cx="0" cy="15339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22" name="칸 본문"/>
          <p:cNvSpPr>
            <a:spLocks noGrp="1"/>
          </p:cNvSpPr>
          <p:nvPr>
            <p:ph type="body" sz="quarter" idx="61"/>
          </p:nvPr>
        </p:nvSpPr>
        <p:spPr>
          <a:xfrm>
            <a:off x="5408413" y="5344591"/>
            <a:ext cx="1390109" cy="219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(근로자·시민 안전 강화)</a:t>
            </a:r>
          </a:p>
        </p:txBody>
      </p:sp>
      <p:cxnSp>
        <p:nvCxnSpPr>
          <p:cNvPr id="123" name="Connector 89"/>
          <p:cNvCxnSpPr/>
          <p:nvPr/>
        </p:nvCxnSpPr>
        <p:spPr>
          <a:xfrm>
            <a:off x="5397457" y="5377461"/>
            <a:ext cx="0" cy="15339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24" name="레일"/>
          <p:cNvSpPr/>
          <p:nvPr/>
        </p:nvSpPr>
        <p:spPr>
          <a:xfrm>
            <a:off x="547826" y="5585635"/>
            <a:ext cx="580696" cy="51918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5" name="레일"/>
          <p:cNvSpPr>
            <a:spLocks noGrp="1"/>
          </p:cNvSpPr>
          <p:nvPr>
            <p:ph type="body" sz="quarter" idx="62"/>
          </p:nvPr>
        </p:nvSpPr>
        <p:spPr>
          <a:xfrm>
            <a:off x="547826" y="5585635"/>
            <a:ext cx="580696" cy="5191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 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목 표</a:t>
            </a:r>
          </a:p>
        </p:txBody>
      </p:sp>
      <p:sp>
        <p:nvSpPr>
          <p:cNvPr id="126" name="칸 본문"/>
          <p:cNvSpPr>
            <a:spLocks noGrp="1"/>
          </p:cNvSpPr>
          <p:nvPr>
            <p:ph type="body" sz="quarter" idx="63"/>
          </p:nvPr>
        </p:nvSpPr>
        <p:spPr>
          <a:xfrm>
            <a:off x="1172348" y="5607548"/>
            <a:ext cx="1390109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기후위기에 강한 안정적인 고품질 수돗물 생산 및 공급</a:t>
            </a:r>
          </a:p>
        </p:txBody>
      </p:sp>
      <p:sp>
        <p:nvSpPr>
          <p:cNvPr id="127" name="칸 본문"/>
          <p:cNvSpPr>
            <a:spLocks noGrp="1"/>
          </p:cNvSpPr>
          <p:nvPr>
            <p:ph type="body" sz="quarter" idx="64"/>
          </p:nvPr>
        </p:nvSpPr>
        <p:spPr>
          <a:xfrm>
            <a:off x="2584370" y="5607548"/>
            <a:ext cx="1390109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간 차별 없는 국민 물복지 혜택 확산</a:t>
            </a:r>
          </a:p>
        </p:txBody>
      </p:sp>
      <p:cxnSp>
        <p:nvCxnSpPr>
          <p:cNvPr id="128" name="Connector 93"/>
          <p:cNvCxnSpPr/>
          <p:nvPr/>
        </p:nvCxnSpPr>
        <p:spPr>
          <a:xfrm>
            <a:off x="2573413" y="5640417"/>
            <a:ext cx="0" cy="42605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29" name="칸 본문"/>
          <p:cNvSpPr>
            <a:spLocks noGrp="1"/>
          </p:cNvSpPr>
          <p:nvPr>
            <p:ph type="body" sz="quarter" idx="65"/>
          </p:nvPr>
        </p:nvSpPr>
        <p:spPr>
          <a:xfrm>
            <a:off x="3996391" y="5607548"/>
            <a:ext cx="1390109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대국민 서비스 향상 및 첨단산업 경쟁력 제고</a:t>
            </a:r>
          </a:p>
        </p:txBody>
      </p:sp>
      <p:cxnSp>
        <p:nvCxnSpPr>
          <p:cNvPr id="130" name="Connector 95"/>
          <p:cNvCxnSpPr/>
          <p:nvPr/>
        </p:nvCxnSpPr>
        <p:spPr>
          <a:xfrm>
            <a:off x="3985435" y="5640417"/>
            <a:ext cx="0" cy="42605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31" name="칸 본문"/>
          <p:cNvSpPr>
            <a:spLocks noGrp="1"/>
          </p:cNvSpPr>
          <p:nvPr>
            <p:ph type="body" sz="quarter" idx="66"/>
          </p:nvPr>
        </p:nvSpPr>
        <p:spPr>
          <a:xfrm>
            <a:off x="5408413" y="5607548"/>
            <a:ext cx="1390109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근로자와 국민 모두 안전한 수도사업장 조성</a:t>
            </a:r>
          </a:p>
        </p:txBody>
      </p:sp>
      <p:cxnSp>
        <p:nvCxnSpPr>
          <p:cNvPr id="132" name="Connector 97"/>
          <p:cNvCxnSpPr/>
          <p:nvPr/>
        </p:nvCxnSpPr>
        <p:spPr>
          <a:xfrm>
            <a:off x="5397457" y="5640417"/>
            <a:ext cx="0" cy="42605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33" name="레일"/>
          <p:cNvSpPr/>
          <p:nvPr/>
        </p:nvSpPr>
        <p:spPr>
          <a:xfrm>
            <a:off x="547826" y="6121252"/>
            <a:ext cx="580696" cy="100001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4" name="레일"/>
          <p:cNvSpPr>
            <a:spLocks noGrp="1"/>
          </p:cNvSpPr>
          <p:nvPr>
            <p:ph type="body" sz="quarter" idx="67"/>
          </p:nvPr>
        </p:nvSpPr>
        <p:spPr>
          <a:xfrm>
            <a:off x="547826" y="6121252"/>
            <a:ext cx="580696" cy="100001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핵심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지표</a:t>
            </a:r>
          </a:p>
        </p:txBody>
      </p:sp>
      <p:sp>
        <p:nvSpPr>
          <p:cNvPr id="135" name="칸 본문"/>
          <p:cNvSpPr>
            <a:spLocks noGrp="1"/>
          </p:cNvSpPr>
          <p:nvPr>
            <p:ph type="body" sz="quarter" idx="68"/>
          </p:nvPr>
        </p:nvSpPr>
        <p:spPr>
          <a:xfrm>
            <a:off x="1172348" y="6143165"/>
            <a:ext cx="1390109" cy="9726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단수시 비상공급률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AX기반 기후대응력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고도정수처리 도입률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국민기대수질 달성률</a:t>
            </a:r>
          </a:p>
        </p:txBody>
      </p:sp>
      <p:sp>
        <p:nvSpPr>
          <p:cNvPr id="136" name="칸 본문"/>
          <p:cNvSpPr>
            <a:spLocks noGrp="1"/>
          </p:cNvSpPr>
          <p:nvPr>
            <p:ph type="body" sz="quarter" idx="69"/>
          </p:nvPr>
        </p:nvSpPr>
        <p:spPr>
          <a:xfrm>
            <a:off x="2584370" y="6143165"/>
            <a:ext cx="1390109" cy="9726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지방상수도 유수율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노후상수도 정비사업 달성도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지방상수도 선진화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급수 취약지역 인구해소</a:t>
            </a:r>
          </a:p>
        </p:txBody>
      </p:sp>
      <p:cxnSp>
        <p:nvCxnSpPr>
          <p:cNvPr id="137" name="Connector 101"/>
          <p:cNvCxnSpPr/>
          <p:nvPr/>
        </p:nvCxnSpPr>
        <p:spPr>
          <a:xfrm>
            <a:off x="2573413" y="6176035"/>
            <a:ext cx="0" cy="9068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38" name="칸 본문"/>
          <p:cNvSpPr>
            <a:spLocks noGrp="1"/>
          </p:cNvSpPr>
          <p:nvPr>
            <p:ph type="body" sz="quarter" idx="70"/>
          </p:nvPr>
        </p:nvSpPr>
        <p:spPr>
          <a:xfrm>
            <a:off x="3996391" y="6143165"/>
            <a:ext cx="1390109" cy="9726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국민친화 물서비스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지방상수도 고객만족도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상수도정보서비스 이용만족도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산업 맞춤형 서비스 강화</a:t>
            </a:r>
          </a:p>
        </p:txBody>
      </p:sp>
      <p:cxnSp>
        <p:nvCxnSpPr>
          <p:cNvPr id="139" name="Connector 103"/>
          <p:cNvCxnSpPr/>
          <p:nvPr/>
        </p:nvCxnSpPr>
        <p:spPr>
          <a:xfrm>
            <a:off x="3985435" y="6176035"/>
            <a:ext cx="0" cy="9068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40" name="칸 본문"/>
          <p:cNvSpPr>
            <a:spLocks noGrp="1"/>
          </p:cNvSpPr>
          <p:nvPr>
            <p:ph type="body" sz="quarter" idx="71"/>
          </p:nvPr>
        </p:nvSpPr>
        <p:spPr>
          <a:xfrm>
            <a:off x="5408413" y="6143165"/>
            <a:ext cx="1390109" cy="9726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 특화 안전관리 강화</a:t>
            </a:r>
          </a:p>
        </p:txBody>
      </p:sp>
      <p:cxnSp>
        <p:nvCxnSpPr>
          <p:cNvPr id="141" name="Connector 105"/>
          <p:cNvCxnSpPr/>
          <p:nvPr/>
        </p:nvCxnSpPr>
        <p:spPr>
          <a:xfrm>
            <a:off x="5397457" y="6176035"/>
            <a:ext cx="0" cy="9068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42" name="레일"/>
          <p:cNvSpPr/>
          <p:nvPr/>
        </p:nvSpPr>
        <p:spPr>
          <a:xfrm>
            <a:off x="547826" y="7137704"/>
            <a:ext cx="580696" cy="739565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43" name="레일"/>
          <p:cNvSpPr>
            <a:spLocks noGrp="1"/>
          </p:cNvSpPr>
          <p:nvPr>
            <p:ph type="body" sz="quarter" idx="72"/>
          </p:nvPr>
        </p:nvSpPr>
        <p:spPr>
          <a:xfrm>
            <a:off x="547826" y="7137704"/>
            <a:ext cx="580696" cy="739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 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 제</a:t>
            </a:r>
          </a:p>
        </p:txBody>
      </p:sp>
      <p:sp>
        <p:nvSpPr>
          <p:cNvPr id="144" name="레일 삼각형"/>
          <p:cNvSpPr/>
          <p:nvPr/>
        </p:nvSpPr>
        <p:spPr>
          <a:xfrm>
            <a:off x="547826" y="7137704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45" name="칸 본문"/>
          <p:cNvSpPr>
            <a:spLocks noGrp="1"/>
          </p:cNvSpPr>
          <p:nvPr>
            <p:ph type="body" sz="quarter" idx="73"/>
          </p:nvPr>
        </p:nvSpPr>
        <p:spPr>
          <a:xfrm>
            <a:off x="1172348" y="7159617"/>
            <a:ext cx="1390109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안정적 고품질 물공급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AX기반 자율운영 전환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운영혁신 및 원가절감</a:t>
            </a:r>
          </a:p>
        </p:txBody>
      </p:sp>
      <p:sp>
        <p:nvSpPr>
          <p:cNvPr id="146" name="칸 본문"/>
          <p:cNvSpPr>
            <a:spLocks noGrp="1"/>
          </p:cNvSpPr>
          <p:nvPr>
            <p:ph type="body" sz="quarter" idx="74"/>
          </p:nvPr>
        </p:nvSpPr>
        <p:spPr>
          <a:xfrm>
            <a:off x="2584370" y="7159617"/>
            <a:ext cx="1390109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유수율 관리효율 향상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노후상수도 정비와 확산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재난지원 및 물복지</a:t>
            </a:r>
          </a:p>
        </p:txBody>
      </p:sp>
      <p:cxnSp>
        <p:nvCxnSpPr>
          <p:cNvPr id="147" name="Connector 110"/>
          <p:cNvCxnSpPr/>
          <p:nvPr/>
        </p:nvCxnSpPr>
        <p:spPr>
          <a:xfrm>
            <a:off x="2573413" y="7192487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48" name="칸 본문"/>
          <p:cNvSpPr>
            <a:spLocks noGrp="1"/>
          </p:cNvSpPr>
          <p:nvPr>
            <p:ph type="body" sz="quarter" idx="75"/>
          </p:nvPr>
        </p:nvSpPr>
        <p:spPr>
          <a:xfrm>
            <a:off x="3996391" y="7159617"/>
            <a:ext cx="1390109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물문제 해소, 서비스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첨단산업용수 안정공급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초순수 해외의존 극복</a:t>
            </a:r>
          </a:p>
        </p:txBody>
      </p:sp>
      <p:cxnSp>
        <p:nvCxnSpPr>
          <p:cNvPr id="149" name="Connector 112"/>
          <p:cNvCxnSpPr/>
          <p:nvPr/>
        </p:nvCxnSpPr>
        <p:spPr>
          <a:xfrm>
            <a:off x="3985435" y="7192487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50" name="칸 본문"/>
          <p:cNvSpPr>
            <a:spLocks noGrp="1"/>
          </p:cNvSpPr>
          <p:nvPr>
            <p:ph type="body" sz="quarter" idx="76"/>
          </p:nvPr>
        </p:nvSpPr>
        <p:spPr>
          <a:xfrm>
            <a:off x="5408413" y="7159617"/>
            <a:ext cx="1390109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 특화 맞춤 대책으로 근로자 안전확보, 시민 안전일상 수호</a:t>
            </a:r>
          </a:p>
        </p:txBody>
      </p:sp>
      <p:cxnSp>
        <p:nvCxnSpPr>
          <p:cNvPr id="151" name="Connector 114"/>
          <p:cNvCxnSpPr/>
          <p:nvPr/>
        </p:nvCxnSpPr>
        <p:spPr>
          <a:xfrm>
            <a:off x="5397457" y="7192487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80 서사 · 경영환경 변화를 반영한 성과목표 정의(4열 표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성과목표 및 성과지표 설정(생산성 향상, 서비스 질 제고, 공공성 강화)</a:t>
            </a:r>
          </a:p>
        </p:txBody>
      </p:sp>
      <p:sp>
        <p:nvSpPr>
          <p:cNvPr id="14" name="형광 밑줄"/>
          <p:cNvSpPr/>
          <p:nvPr/>
        </p:nvSpPr>
        <p:spPr>
          <a:xfrm>
            <a:off x="723130" y="1358609"/>
            <a:ext cx="2269974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소제목"/>
          <p:cNvSpPr>
            <a:spLocks noGrp="1"/>
          </p:cNvSpPr>
          <p:nvPr>
            <p:ph type="body" sz="quarter" idx="22"/>
          </p:nvPr>
        </p:nvSpPr>
        <p:spPr>
          <a:xfrm>
            <a:off x="723130" y="120521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경영환경 변화를 반영한 성과목표 정의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81 서사 · 성과지표 개발·선정(검토 4단계 띠 → 지표 pool 적합성 평가표 → 변경 사유표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2444711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성과목표 달성을 위한 성과지표 개발·선정</a:t>
            </a:r>
          </a:p>
        </p:txBody>
      </p:sp>
      <p:sp>
        <p:nvSpPr>
          <p:cNvPr id="12" name="형광 밑줄"/>
          <p:cNvSpPr/>
          <p:nvPr/>
        </p:nvSpPr>
        <p:spPr>
          <a:xfrm>
            <a:off x="536870" y="1281913"/>
            <a:ext cx="3644201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3" name="소제목"/>
          <p:cNvSpPr>
            <a:spLocks noGrp="1"/>
          </p:cNvSpPr>
          <p:nvPr>
            <p:ph type="body" sz="quarter" idx="21"/>
          </p:nvPr>
        </p:nvSpPr>
        <p:spPr>
          <a:xfrm>
            <a:off x="536870" y="1128522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성과지표 pool에 대한 적합성 평가를 통해 최종 성과지표 도출</a:t>
            </a:r>
          </a:p>
        </p:txBody>
      </p:sp>
      <p:sp>
        <p:nvSpPr>
          <p:cNvPr id="14" name="표 외곽"/>
          <p:cNvSpPr/>
          <p:nvPr/>
        </p:nvSpPr>
        <p:spPr>
          <a:xfrm>
            <a:off x="536870" y="1413391"/>
            <a:ext cx="6300000" cy="135313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547826" y="1429826"/>
            <a:ext cx="580696" cy="1320261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429826"/>
            <a:ext cx="580696" cy="1320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검토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단계</a:t>
            </a:r>
          </a:p>
        </p:txBody>
      </p:sp>
      <p:sp>
        <p:nvSpPr>
          <p:cNvPr id="17" name="단계"/>
          <p:cNvSpPr/>
          <p:nvPr/>
        </p:nvSpPr>
        <p:spPr>
          <a:xfrm>
            <a:off x="1161391" y="1451739"/>
            <a:ext cx="141202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8" name="단계"/>
          <p:cNvSpPr>
            <a:spLocks noGrp="1"/>
          </p:cNvSpPr>
          <p:nvPr>
            <p:ph type="body" sz="quarter" idx="23"/>
          </p:nvPr>
        </p:nvSpPr>
        <p:spPr>
          <a:xfrm>
            <a:off x="1161391" y="1451739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유효성 검토 및 Pool 구성</a:t>
            </a:r>
          </a:p>
        </p:txBody>
      </p:sp>
      <p:sp>
        <p:nvSpPr>
          <p:cNvPr id="19" name="단계"/>
          <p:cNvSpPr/>
          <p:nvPr/>
        </p:nvSpPr>
        <p:spPr>
          <a:xfrm>
            <a:off x="2573413" y="1451739"/>
            <a:ext cx="1412022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0" name="단계"/>
          <p:cNvSpPr>
            <a:spLocks noGrp="1"/>
          </p:cNvSpPr>
          <p:nvPr>
            <p:ph type="body" sz="quarter" idx="24"/>
          </p:nvPr>
        </p:nvSpPr>
        <p:spPr>
          <a:xfrm>
            <a:off x="2573413" y="1451739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성과지표 선정(적합성 평가)</a:t>
            </a:r>
          </a:p>
        </p:txBody>
      </p:sp>
      <p:sp>
        <p:nvSpPr>
          <p:cNvPr id="21" name="단계"/>
          <p:cNvSpPr/>
          <p:nvPr/>
        </p:nvSpPr>
        <p:spPr>
          <a:xfrm>
            <a:off x="3985435" y="1451739"/>
            <a:ext cx="1412022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2" name="단계"/>
          <p:cNvSpPr>
            <a:spLocks noGrp="1"/>
          </p:cNvSpPr>
          <p:nvPr>
            <p:ph type="body" sz="quarter" idx="25"/>
          </p:nvPr>
        </p:nvSpPr>
        <p:spPr>
          <a:xfrm>
            <a:off x="3985435" y="1451739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성과지표 선정 결과</a:t>
            </a:r>
          </a:p>
        </p:txBody>
      </p:sp>
      <p:sp>
        <p:nvSpPr>
          <p:cNvPr id="23" name="단계"/>
          <p:cNvSpPr/>
          <p:nvPr/>
        </p:nvSpPr>
        <p:spPr>
          <a:xfrm>
            <a:off x="5397457" y="1451739"/>
            <a:ext cx="1412022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4" name="단계"/>
          <p:cNvSpPr>
            <a:spLocks noGrp="1"/>
          </p:cNvSpPr>
          <p:nvPr>
            <p:ph type="body" sz="quarter" idx="26"/>
          </p:nvPr>
        </p:nvSpPr>
        <p:spPr>
          <a:xfrm>
            <a:off x="5397457" y="1451739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연중 환류</a:t>
            </a:r>
          </a:p>
        </p:txBody>
      </p:sp>
      <p:sp>
        <p:nvSpPr>
          <p:cNvPr id="25" name="단계 삼각형"/>
          <p:cNvSpPr/>
          <p:nvPr/>
        </p:nvSpPr>
        <p:spPr>
          <a:xfrm>
            <a:off x="2573413" y="1451739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6" name="단계 삼각형"/>
          <p:cNvSpPr/>
          <p:nvPr/>
        </p:nvSpPr>
        <p:spPr>
          <a:xfrm>
            <a:off x="3985434" y="1451739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7" name="단계 삼각형"/>
          <p:cNvSpPr/>
          <p:nvPr/>
        </p:nvSpPr>
        <p:spPr>
          <a:xfrm>
            <a:off x="5397456" y="1451739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7"/>
          </p:nvPr>
        </p:nvSpPr>
        <p:spPr>
          <a:xfrm>
            <a:off x="1172348" y="1703739"/>
            <a:ext cx="1390109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경영전략: 전략과제 및 KPI 설정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평가환류: 지적사항 등 반영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28"/>
          </p:nvPr>
        </p:nvSpPr>
        <p:spPr>
          <a:xfrm>
            <a:off x="2584370" y="1703739"/>
            <a:ext cx="1390109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1단계 정책연계·전략부합 우선고려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2단계 정책+전략+SMART 득점</a:t>
            </a:r>
          </a:p>
        </p:txBody>
      </p:sp>
      <p:cxnSp>
        <p:nvCxnSpPr>
          <p:cNvPr id="30" name="Connector 21"/>
          <p:cNvCxnSpPr/>
          <p:nvPr/>
        </p:nvCxnSpPr>
        <p:spPr>
          <a:xfrm>
            <a:off x="2573413" y="1736609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칸 본문"/>
          <p:cNvSpPr>
            <a:spLocks noGrp="1"/>
          </p:cNvSpPr>
          <p:nvPr>
            <p:ph type="body" sz="quarter" idx="29"/>
          </p:nvPr>
        </p:nvSpPr>
        <p:spPr>
          <a:xfrm>
            <a:off x="3996391" y="1703739"/>
            <a:ext cx="1390109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총 12개 성과지표 선정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2개, 계량 6개, 비계량 4개</a:t>
            </a:r>
          </a:p>
        </p:txBody>
      </p:sp>
      <p:cxnSp>
        <p:nvCxnSpPr>
          <p:cNvPr id="32" name="Connector 23"/>
          <p:cNvCxnSpPr/>
          <p:nvPr/>
        </p:nvCxnSpPr>
        <p:spPr>
          <a:xfrm>
            <a:off x="3985435" y="1736609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칸 본문"/>
          <p:cNvSpPr>
            <a:spLocks noGrp="1"/>
          </p:cNvSpPr>
          <p:nvPr>
            <p:ph type="body" sz="quarter" idx="30"/>
          </p:nvPr>
        </p:nvSpPr>
        <p:spPr>
          <a:xfrm>
            <a:off x="5408413" y="1703739"/>
            <a:ext cx="1390109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비계량 신규 1개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2개</a:t>
            </a:r>
          </a:p>
        </p:txBody>
      </p:sp>
      <p:cxnSp>
        <p:nvCxnSpPr>
          <p:cNvPr id="34" name="Connector 25"/>
          <p:cNvCxnSpPr/>
          <p:nvPr/>
        </p:nvCxnSpPr>
        <p:spPr>
          <a:xfrm>
            <a:off x="5397457" y="1736609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82 서사 · 전략과제에 따른 평가대상 사업별 중장기계획(연도 3구간 표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2665141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전략과제에 따른 평가대상 사업별 중장기계획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83 서사 · 자원배분 계획(기본방향 → 재무예산 배분표 → 조직·인력 배분표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성과목표 달성을 위한 자원배분 계획, 모니터링 및 평가 계획</a:t>
            </a:r>
          </a:p>
        </p:txBody>
      </p:sp>
      <p:sp>
        <p:nvSpPr>
          <p:cNvPr id="15" name="형광 밑줄"/>
          <p:cNvSpPr/>
          <p:nvPr/>
        </p:nvSpPr>
        <p:spPr>
          <a:xfrm>
            <a:off x="536870" y="1347652"/>
            <a:ext cx="2568544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소제목"/>
          <p:cNvSpPr>
            <a:spLocks noGrp="1"/>
          </p:cNvSpPr>
          <p:nvPr>
            <p:ph type="body" sz="quarter" idx="22"/>
          </p:nvPr>
        </p:nvSpPr>
        <p:spPr>
          <a:xfrm>
            <a:off x="536870" y="1194261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사업별 성과목표 달성을 위한 자원배분 계획</a:t>
            </a:r>
          </a:p>
        </p:txBody>
      </p:sp>
      <p:sp>
        <p:nvSpPr>
          <p:cNvPr id="17" name="형광 밑줄"/>
          <p:cNvSpPr/>
          <p:nvPr/>
        </p:nvSpPr>
        <p:spPr>
          <a:xfrm>
            <a:off x="536870" y="1709217"/>
            <a:ext cx="1110818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소제목"/>
          <p:cNvSpPr>
            <a:spLocks noGrp="1"/>
          </p:cNvSpPr>
          <p:nvPr>
            <p:ph type="body" sz="quarter" idx="23"/>
          </p:nvPr>
        </p:nvSpPr>
        <p:spPr>
          <a:xfrm>
            <a:off x="536870" y="1555826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자원배분 기본방향</a:t>
            </a:r>
          </a:p>
        </p:txBody>
      </p:sp>
      <p:sp>
        <p:nvSpPr>
          <p:cNvPr id="19" name="표 외곽"/>
          <p:cNvSpPr/>
          <p:nvPr/>
        </p:nvSpPr>
        <p:spPr>
          <a:xfrm>
            <a:off x="536870" y="1840696"/>
            <a:ext cx="6300000" cy="1939461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0" name="레일"/>
          <p:cNvSpPr/>
          <p:nvPr/>
        </p:nvSpPr>
        <p:spPr>
          <a:xfrm>
            <a:off x="547826" y="1857130"/>
            <a:ext cx="580696" cy="794348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4"/>
          </p:nvPr>
        </p:nvSpPr>
        <p:spPr>
          <a:xfrm>
            <a:off x="547826" y="1857130"/>
            <a:ext cx="580696" cy="79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주요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이슈</a:t>
            </a:r>
          </a:p>
        </p:txBody>
      </p:sp>
      <p:sp>
        <p:nvSpPr>
          <p:cNvPr id="22" name="머리칸"/>
          <p:cNvSpPr/>
          <p:nvPr/>
        </p:nvSpPr>
        <p:spPr>
          <a:xfrm>
            <a:off x="1161391" y="1879043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3" name="머리칸"/>
          <p:cNvSpPr>
            <a:spLocks noGrp="1"/>
          </p:cNvSpPr>
          <p:nvPr>
            <p:ph type="body" sz="quarter" idx="25"/>
          </p:nvPr>
        </p:nvSpPr>
        <p:spPr>
          <a:xfrm>
            <a:off x="1161391" y="1879043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물공급 혁신</a:t>
            </a:r>
          </a:p>
        </p:txBody>
      </p:sp>
      <p:sp>
        <p:nvSpPr>
          <p:cNvPr id="24" name="머리칸"/>
          <p:cNvSpPr/>
          <p:nvPr/>
        </p:nvSpPr>
        <p:spPr>
          <a:xfrm>
            <a:off x="3044087" y="1879043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5" name="머리칸"/>
          <p:cNvSpPr>
            <a:spLocks noGrp="1"/>
          </p:cNvSpPr>
          <p:nvPr>
            <p:ph type="body" sz="quarter" idx="26"/>
          </p:nvPr>
        </p:nvSpPr>
        <p:spPr>
          <a:xfrm>
            <a:off x="3044087" y="1879043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물복지 강화</a:t>
            </a:r>
          </a:p>
        </p:txBody>
      </p:sp>
      <p:sp>
        <p:nvSpPr>
          <p:cNvPr id="26" name="머리칸"/>
          <p:cNvSpPr/>
          <p:nvPr/>
        </p:nvSpPr>
        <p:spPr>
          <a:xfrm>
            <a:off x="4926783" y="1879043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7" name="머리칸"/>
          <p:cNvSpPr>
            <a:spLocks noGrp="1"/>
          </p:cNvSpPr>
          <p:nvPr>
            <p:ph type="body" sz="quarter" idx="27"/>
          </p:nvPr>
        </p:nvSpPr>
        <p:spPr>
          <a:xfrm>
            <a:off x="4926783" y="1879043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서비스 개선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8"/>
          </p:nvPr>
        </p:nvSpPr>
        <p:spPr>
          <a:xfrm>
            <a:off x="1172348" y="2120087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노후화 가속, 원가 상승 지속 등 전년보다 수돗물 공급여건 악화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3055043" y="2120087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균형성장 이행과 인력 한계를 극복하는 수탁사업 개선 필요</a:t>
            </a:r>
          </a:p>
        </p:txBody>
      </p:sp>
      <p:cxnSp>
        <p:nvCxnSpPr>
          <p:cNvPr id="30" name="Connector 22"/>
          <p:cNvCxnSpPr/>
          <p:nvPr/>
        </p:nvCxnSpPr>
        <p:spPr>
          <a:xfrm>
            <a:off x="3044087" y="2152957"/>
            <a:ext cx="0" cy="46017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4937739" y="2120087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국가 첨단산업 현안(수량, 수질)에 대한 K-water 역할 대두</a:t>
            </a:r>
          </a:p>
        </p:txBody>
      </p:sp>
      <p:cxnSp>
        <p:nvCxnSpPr>
          <p:cNvPr id="32" name="Connector 24"/>
          <p:cNvCxnSpPr/>
          <p:nvPr/>
        </p:nvCxnSpPr>
        <p:spPr>
          <a:xfrm>
            <a:off x="4926783" y="2152957"/>
            <a:ext cx="0" cy="46017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레일"/>
          <p:cNvSpPr/>
          <p:nvPr/>
        </p:nvSpPr>
        <p:spPr>
          <a:xfrm>
            <a:off x="547826" y="2667913"/>
            <a:ext cx="580696" cy="53968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4" name="레일"/>
          <p:cNvSpPr>
            <a:spLocks noGrp="1"/>
          </p:cNvSpPr>
          <p:nvPr>
            <p:ph type="body" sz="quarter" idx="31"/>
          </p:nvPr>
        </p:nvSpPr>
        <p:spPr>
          <a:xfrm>
            <a:off x="547826" y="2667913"/>
            <a:ext cx="580696" cy="5396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예산</a:t>
            </a:r>
          </a:p>
        </p:txBody>
      </p:sp>
      <p:sp>
        <p:nvSpPr>
          <p:cNvPr id="35" name="레일 삼각형"/>
          <p:cNvSpPr/>
          <p:nvPr/>
        </p:nvSpPr>
        <p:spPr>
          <a:xfrm>
            <a:off x="547826" y="2667913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2"/>
          </p:nvPr>
        </p:nvSpPr>
        <p:spPr>
          <a:xfrm>
            <a:off x="1172348" y="2689826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고품질 수돗물 공급을 위한 혁신과 전략적 예산배분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3"/>
          </p:nvPr>
        </p:nvSpPr>
        <p:spPr>
          <a:xfrm>
            <a:off x="3055043" y="2689826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취약 지자체 중심 사업확대와 적극적 재원 확보</a:t>
            </a:r>
          </a:p>
        </p:txBody>
      </p:sp>
      <p:cxnSp>
        <p:nvCxnSpPr>
          <p:cNvPr id="38" name="Connector 29"/>
          <p:cNvCxnSpPr/>
          <p:nvPr/>
        </p:nvCxnSpPr>
        <p:spPr>
          <a:xfrm>
            <a:off x="3044087" y="2722696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9" name="칸 본문"/>
          <p:cNvSpPr>
            <a:spLocks noGrp="1"/>
          </p:cNvSpPr>
          <p:nvPr>
            <p:ph type="body" sz="quarter" idx="34"/>
          </p:nvPr>
        </p:nvSpPr>
        <p:spPr>
          <a:xfrm>
            <a:off x="4937739" y="2689826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기술중심 서비스 혁신으로 예산 효율성 제고</a:t>
            </a:r>
          </a:p>
        </p:txBody>
      </p:sp>
      <p:cxnSp>
        <p:nvCxnSpPr>
          <p:cNvPr id="40" name="Connector 31"/>
          <p:cNvCxnSpPr/>
          <p:nvPr/>
        </p:nvCxnSpPr>
        <p:spPr>
          <a:xfrm>
            <a:off x="4926783" y="2722696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1" name="레일"/>
          <p:cNvSpPr/>
          <p:nvPr/>
        </p:nvSpPr>
        <p:spPr>
          <a:xfrm>
            <a:off x="547826" y="3224035"/>
            <a:ext cx="580696" cy="5396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2" name="레일"/>
          <p:cNvSpPr>
            <a:spLocks noGrp="1"/>
          </p:cNvSpPr>
          <p:nvPr>
            <p:ph type="body" sz="quarter" idx="35"/>
          </p:nvPr>
        </p:nvSpPr>
        <p:spPr>
          <a:xfrm>
            <a:off x="547826" y="3224035"/>
            <a:ext cx="580696" cy="5396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인력</a:t>
            </a:r>
          </a:p>
        </p:txBody>
      </p:sp>
      <p:sp>
        <p:nvSpPr>
          <p:cNvPr id="43" name="레일 삼각형"/>
          <p:cNvSpPr/>
          <p:nvPr/>
        </p:nvSpPr>
        <p:spPr>
          <a:xfrm>
            <a:off x="547826" y="3224034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4" name="칸 본문"/>
          <p:cNvSpPr>
            <a:spLocks noGrp="1"/>
          </p:cNvSpPr>
          <p:nvPr>
            <p:ph type="body" sz="quarter" idx="36"/>
          </p:nvPr>
        </p:nvSpPr>
        <p:spPr>
          <a:xfrm>
            <a:off x="1172348" y="3245948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물공급 안전망 강화를 위한 인력 효율적 재배치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37"/>
          </p:nvPr>
        </p:nvSpPr>
        <p:spPr>
          <a:xfrm>
            <a:off x="3055043" y="3245948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통합수탁 등 사업 다각화로 조직·인력 최적배분</a:t>
            </a:r>
          </a:p>
        </p:txBody>
      </p:sp>
      <p:cxnSp>
        <p:nvCxnSpPr>
          <p:cNvPr id="46" name="Connector 36"/>
          <p:cNvCxnSpPr/>
          <p:nvPr/>
        </p:nvCxnSpPr>
        <p:spPr>
          <a:xfrm>
            <a:off x="3044087" y="3278817"/>
            <a:ext cx="0" cy="27125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7" name="칸 본문"/>
          <p:cNvSpPr>
            <a:spLocks noGrp="1"/>
          </p:cNvSpPr>
          <p:nvPr>
            <p:ph type="body" sz="quarter" idx="38"/>
          </p:nvPr>
        </p:nvSpPr>
        <p:spPr>
          <a:xfrm>
            <a:off x="4937739" y="3245948"/>
            <a:ext cx="1860783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국가 첨단산업 지원을 위한 조직·인력 강화</a:t>
            </a:r>
          </a:p>
        </p:txBody>
      </p:sp>
      <p:cxnSp>
        <p:nvCxnSpPr>
          <p:cNvPr id="48" name="Connector 38"/>
          <p:cNvCxnSpPr/>
          <p:nvPr/>
        </p:nvCxnSpPr>
        <p:spPr>
          <a:xfrm>
            <a:off x="4926783" y="3278817"/>
            <a:ext cx="0" cy="27125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9" name="형광 밑줄"/>
          <p:cNvSpPr/>
          <p:nvPr/>
        </p:nvSpPr>
        <p:spPr>
          <a:xfrm>
            <a:off x="536870" y="4054070"/>
            <a:ext cx="1869748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0" name="소제목"/>
          <p:cNvSpPr>
            <a:spLocks noGrp="1"/>
          </p:cNvSpPr>
          <p:nvPr>
            <p:ph type="body" sz="quarter" idx="39"/>
          </p:nvPr>
        </p:nvSpPr>
        <p:spPr>
          <a:xfrm>
            <a:off x="536870" y="3900678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재무예산 배분 계획(단위: 억원)</a:t>
            </a:r>
          </a:p>
        </p:txBody>
      </p:sp>
      <p:sp>
        <p:nvSpPr>
          <p:cNvPr id="51" name="형광 밑줄"/>
          <p:cNvSpPr/>
          <p:nvPr/>
        </p:nvSpPr>
        <p:spPr>
          <a:xfrm>
            <a:off x="536870" y="5881304"/>
            <a:ext cx="1781041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2" name="소제목"/>
          <p:cNvSpPr>
            <a:spLocks noGrp="1"/>
          </p:cNvSpPr>
          <p:nvPr>
            <p:ph type="body" sz="quarter" idx="40"/>
          </p:nvPr>
        </p:nvSpPr>
        <p:spPr>
          <a:xfrm>
            <a:off x="536870" y="572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조직·인력 배분 계획(단위: 명)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84 서사 · 모니터링 및 평가 계획(성과지표 · 주기 · 모니터링 방법 표 → 평가·환류 순환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2603670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성과목표 관리를 위한 모니터링 및 평가 계획</a:t>
            </a:r>
          </a:p>
        </p:txBody>
      </p:sp>
      <p:sp>
        <p:nvSpPr>
          <p:cNvPr id="11" name="표 외곽"/>
          <p:cNvSpPr/>
          <p:nvPr/>
        </p:nvSpPr>
        <p:spPr>
          <a:xfrm>
            <a:off x="723130" y="3684209"/>
            <a:ext cx="6300000" cy="1553322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2" name="레일"/>
          <p:cNvSpPr/>
          <p:nvPr/>
        </p:nvSpPr>
        <p:spPr>
          <a:xfrm>
            <a:off x="734087" y="3700643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레일"/>
          <p:cNvSpPr>
            <a:spLocks noGrp="1"/>
          </p:cNvSpPr>
          <p:nvPr>
            <p:ph type="body" sz="quarter" idx="21"/>
          </p:nvPr>
        </p:nvSpPr>
        <p:spPr>
          <a:xfrm>
            <a:off x="734087" y="3700643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평가·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환류</a:t>
            </a:r>
          </a:p>
        </p:txBody>
      </p:sp>
      <p:sp>
        <p:nvSpPr>
          <p:cNvPr id="14" name="단계"/>
          <p:cNvSpPr/>
          <p:nvPr/>
        </p:nvSpPr>
        <p:spPr>
          <a:xfrm>
            <a:off x="1347652" y="3722557"/>
            <a:ext cx="141202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5" name="단계"/>
          <p:cNvSpPr>
            <a:spLocks noGrp="1"/>
          </p:cNvSpPr>
          <p:nvPr>
            <p:ph type="body" sz="quarter" idx="22"/>
          </p:nvPr>
        </p:nvSpPr>
        <p:spPr>
          <a:xfrm>
            <a:off x="1347652" y="3722557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실행계획</a:t>
            </a:r>
          </a:p>
        </p:txBody>
      </p:sp>
      <p:sp>
        <p:nvSpPr>
          <p:cNvPr id="16" name="단계"/>
          <p:cNvSpPr/>
          <p:nvPr/>
        </p:nvSpPr>
        <p:spPr>
          <a:xfrm>
            <a:off x="2759674" y="3722557"/>
            <a:ext cx="1412022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7" name="단계"/>
          <p:cNvSpPr>
            <a:spLocks noGrp="1"/>
          </p:cNvSpPr>
          <p:nvPr>
            <p:ph type="body" sz="quarter" idx="23"/>
          </p:nvPr>
        </p:nvSpPr>
        <p:spPr>
          <a:xfrm>
            <a:off x="2759674" y="3722557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중간평가</a:t>
            </a:r>
          </a:p>
        </p:txBody>
      </p:sp>
      <p:sp>
        <p:nvSpPr>
          <p:cNvPr id="18" name="단계"/>
          <p:cNvSpPr/>
          <p:nvPr/>
        </p:nvSpPr>
        <p:spPr>
          <a:xfrm>
            <a:off x="4171696" y="3722557"/>
            <a:ext cx="1412022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9" name="단계"/>
          <p:cNvSpPr>
            <a:spLocks noGrp="1"/>
          </p:cNvSpPr>
          <p:nvPr>
            <p:ph type="body" sz="quarter" idx="24"/>
          </p:nvPr>
        </p:nvSpPr>
        <p:spPr>
          <a:xfrm>
            <a:off x="4171696" y="3722557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최종평가</a:t>
            </a:r>
          </a:p>
        </p:txBody>
      </p:sp>
      <p:sp>
        <p:nvSpPr>
          <p:cNvPr id="20" name="단계"/>
          <p:cNvSpPr/>
          <p:nvPr/>
        </p:nvSpPr>
        <p:spPr>
          <a:xfrm>
            <a:off x="5583717" y="3722557"/>
            <a:ext cx="1412022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1" name="단계"/>
          <p:cNvSpPr>
            <a:spLocks noGrp="1"/>
          </p:cNvSpPr>
          <p:nvPr>
            <p:ph type="body" sz="quarter" idx="25"/>
          </p:nvPr>
        </p:nvSpPr>
        <p:spPr>
          <a:xfrm>
            <a:off x="5583717" y="3722557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피드백</a:t>
            </a:r>
          </a:p>
        </p:txBody>
      </p:sp>
      <p:sp>
        <p:nvSpPr>
          <p:cNvPr id="22" name="단계 삼각형"/>
          <p:cNvSpPr/>
          <p:nvPr/>
        </p:nvSpPr>
        <p:spPr>
          <a:xfrm>
            <a:off x="2759673" y="3722556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3" name="단계 삼각형"/>
          <p:cNvSpPr/>
          <p:nvPr/>
        </p:nvSpPr>
        <p:spPr>
          <a:xfrm>
            <a:off x="4171695" y="3722556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4" name="단계 삼각형"/>
          <p:cNvSpPr/>
          <p:nvPr/>
        </p:nvSpPr>
        <p:spPr>
          <a:xfrm>
            <a:off x="5583717" y="3722556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5" name="칸 본문"/>
          <p:cNvSpPr txBox="1"/>
          <p:nvPr/>
        </p:nvSpPr>
        <p:spPr>
          <a:xfrm>
            <a:off x="1358609" y="3974557"/>
            <a:ext cx="1390109" cy="5478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sp>
        <p:nvSpPr>
          <p:cNvPr id="26" name="칸 본문"/>
          <p:cNvSpPr txBox="1"/>
          <p:nvPr/>
        </p:nvSpPr>
        <p:spPr>
          <a:xfrm>
            <a:off x="2770630" y="3974557"/>
            <a:ext cx="1390109" cy="5478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27" name="Connector 17"/>
          <p:cNvCxnSpPr/>
          <p:nvPr/>
        </p:nvCxnSpPr>
        <p:spPr>
          <a:xfrm flipV="1">
            <a:off x="2759674" y="3996470"/>
            <a:ext cx="0" cy="10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8" name="칸 본문"/>
          <p:cNvSpPr txBox="1"/>
          <p:nvPr/>
        </p:nvSpPr>
        <p:spPr>
          <a:xfrm>
            <a:off x="4182652" y="3974557"/>
            <a:ext cx="1390109" cy="5478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29" name="Connector 19"/>
          <p:cNvCxnSpPr/>
          <p:nvPr/>
        </p:nvCxnSpPr>
        <p:spPr>
          <a:xfrm flipV="1">
            <a:off x="4171696" y="3996470"/>
            <a:ext cx="0" cy="10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0" name="칸 본문"/>
          <p:cNvSpPr txBox="1"/>
          <p:nvPr/>
        </p:nvSpPr>
        <p:spPr>
          <a:xfrm>
            <a:off x="5594674" y="3974557"/>
            <a:ext cx="1390109" cy="5478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31" name="Connector 21"/>
          <p:cNvCxnSpPr/>
          <p:nvPr/>
        </p:nvCxnSpPr>
        <p:spPr>
          <a:xfrm flipV="1">
            <a:off x="5583717" y="3996470"/>
            <a:ext cx="0" cy="10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2" name="레일"/>
          <p:cNvSpPr/>
          <p:nvPr/>
        </p:nvSpPr>
        <p:spPr>
          <a:xfrm>
            <a:off x="734087" y="4125287"/>
            <a:ext cx="580696" cy="53968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3" name="레일"/>
          <p:cNvSpPr>
            <a:spLocks noGrp="1"/>
          </p:cNvSpPr>
          <p:nvPr>
            <p:ph type="body" sz="quarter" idx="26"/>
          </p:nvPr>
        </p:nvSpPr>
        <p:spPr>
          <a:xfrm>
            <a:off x="734087" y="4125287"/>
            <a:ext cx="580696" cy="5396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관리</a:t>
            </a:r>
          </a:p>
        </p:txBody>
      </p:sp>
      <p:sp>
        <p:nvSpPr>
          <p:cNvPr id="34" name="레일 삼각형"/>
          <p:cNvSpPr/>
          <p:nvPr/>
        </p:nvSpPr>
        <p:spPr>
          <a:xfrm>
            <a:off x="734086" y="4125286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5" name="배너"/>
          <p:cNvSpPr/>
          <p:nvPr/>
        </p:nvSpPr>
        <p:spPr>
          <a:xfrm>
            <a:off x="1347652" y="4147200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6" name="배너"/>
          <p:cNvSpPr>
            <a:spLocks noGrp="1"/>
          </p:cNvSpPr>
          <p:nvPr>
            <p:ph type="body" sz="quarter" idx="27"/>
          </p:nvPr>
        </p:nvSpPr>
        <p:spPr>
          <a:xfrm>
            <a:off x="1347652" y="4147200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내부성과관리체계: ESG경영위원회 성과관리회의 · 국민소통 플랫폼 · 경영목표·ESG지표</a:t>
            </a:r>
          </a:p>
        </p:txBody>
      </p:sp>
      <p:sp>
        <p:nvSpPr>
          <p:cNvPr id="37" name="레일"/>
          <p:cNvSpPr/>
          <p:nvPr/>
        </p:nvSpPr>
        <p:spPr>
          <a:xfrm>
            <a:off x="734087" y="4681409"/>
            <a:ext cx="580696" cy="5396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8" name="레일"/>
          <p:cNvSpPr>
            <a:spLocks noGrp="1"/>
          </p:cNvSpPr>
          <p:nvPr>
            <p:ph type="body" sz="quarter" idx="28"/>
          </p:nvPr>
        </p:nvSpPr>
        <p:spPr>
          <a:xfrm>
            <a:off x="734087" y="4681409"/>
            <a:ext cx="580696" cy="5396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공유·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확산</a:t>
            </a:r>
          </a:p>
        </p:txBody>
      </p:sp>
      <p:sp>
        <p:nvSpPr>
          <p:cNvPr id="39" name="레일 삼각형"/>
          <p:cNvSpPr/>
          <p:nvPr/>
        </p:nvSpPr>
        <p:spPr>
          <a:xfrm>
            <a:off x="734086" y="4681408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0" name="단계"/>
          <p:cNvSpPr/>
          <p:nvPr/>
        </p:nvSpPr>
        <p:spPr>
          <a:xfrm>
            <a:off x="1347652" y="4703322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1" name="단계"/>
          <p:cNvSpPr>
            <a:spLocks noGrp="1"/>
          </p:cNvSpPr>
          <p:nvPr>
            <p:ph type="body" sz="quarter" idx="29"/>
          </p:nvPr>
        </p:nvSpPr>
        <p:spPr>
          <a:xfrm>
            <a:off x="1347652" y="4703322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혁신챌린지</a:t>
            </a:r>
          </a:p>
        </p:txBody>
      </p:sp>
      <p:sp>
        <p:nvSpPr>
          <p:cNvPr id="42" name="단계"/>
          <p:cNvSpPr/>
          <p:nvPr/>
        </p:nvSpPr>
        <p:spPr>
          <a:xfrm>
            <a:off x="3230348" y="4703322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3" name="단계"/>
          <p:cNvSpPr>
            <a:spLocks noGrp="1"/>
          </p:cNvSpPr>
          <p:nvPr>
            <p:ph type="body" sz="quarter" idx="30"/>
          </p:nvPr>
        </p:nvSpPr>
        <p:spPr>
          <a:xfrm>
            <a:off x="3230348" y="4703322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문제해결 CoP</a:t>
            </a:r>
          </a:p>
        </p:txBody>
      </p:sp>
      <p:sp>
        <p:nvSpPr>
          <p:cNvPr id="44" name="단계"/>
          <p:cNvSpPr/>
          <p:nvPr/>
        </p:nvSpPr>
        <p:spPr>
          <a:xfrm>
            <a:off x="5113043" y="4703322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5" name="단계"/>
          <p:cNvSpPr>
            <a:spLocks noGrp="1"/>
          </p:cNvSpPr>
          <p:nvPr>
            <p:ph type="body" sz="quarter" idx="31"/>
          </p:nvPr>
        </p:nvSpPr>
        <p:spPr>
          <a:xfrm>
            <a:off x="5113043" y="4703322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성과홍보</a:t>
            </a:r>
          </a:p>
        </p:txBody>
      </p:sp>
      <p:sp>
        <p:nvSpPr>
          <p:cNvPr id="46" name="단계 삼각형"/>
          <p:cNvSpPr/>
          <p:nvPr/>
        </p:nvSpPr>
        <p:spPr>
          <a:xfrm>
            <a:off x="3230347" y="4703321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7" name="단계 삼각형"/>
          <p:cNvSpPr/>
          <p:nvPr/>
        </p:nvSpPr>
        <p:spPr>
          <a:xfrm>
            <a:off x="5113043" y="4703321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8" name="칸 본문"/>
          <p:cNvSpPr txBox="1"/>
          <p:nvPr/>
        </p:nvSpPr>
        <p:spPr>
          <a:xfrm>
            <a:off x="1358609" y="4955322"/>
            <a:ext cx="1860783" cy="5478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sp>
        <p:nvSpPr>
          <p:cNvPr id="49" name="칸 본문"/>
          <p:cNvSpPr txBox="1"/>
          <p:nvPr/>
        </p:nvSpPr>
        <p:spPr>
          <a:xfrm>
            <a:off x="3241304" y="4955322"/>
            <a:ext cx="1860783" cy="5478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50" name="Connector 34"/>
          <p:cNvCxnSpPr/>
          <p:nvPr/>
        </p:nvCxnSpPr>
        <p:spPr>
          <a:xfrm flipV="1">
            <a:off x="3230348" y="4977235"/>
            <a:ext cx="0" cy="10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1" name="칸 본문"/>
          <p:cNvSpPr txBox="1"/>
          <p:nvPr/>
        </p:nvSpPr>
        <p:spPr>
          <a:xfrm>
            <a:off x="5124000" y="4955322"/>
            <a:ext cx="1860783" cy="5478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52" name="Connector 36"/>
          <p:cNvCxnSpPr/>
          <p:nvPr/>
        </p:nvCxnSpPr>
        <p:spPr>
          <a:xfrm flipV="1">
            <a:off x="5113043" y="4977235"/>
            <a:ext cx="0" cy="10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85 서사 · 전략 실행 원년 Action Plan(환경변화 → 로드맵 → 4대 실행계획 → 실행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미래 상수도 전략 실행 원년, 전략목표 달성을 위한 Action Plan</a:t>
            </a:r>
          </a:p>
        </p:txBody>
      </p:sp>
      <p:sp>
        <p:nvSpPr>
          <p:cNvPr id="15" name="표 외곽"/>
          <p:cNvSpPr/>
          <p:nvPr/>
        </p:nvSpPr>
        <p:spPr>
          <a:xfrm>
            <a:off x="536870" y="1117565"/>
            <a:ext cx="6300000" cy="5520835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레일"/>
          <p:cNvSpPr/>
          <p:nvPr/>
        </p:nvSpPr>
        <p:spPr>
          <a:xfrm>
            <a:off x="547826" y="1134000"/>
            <a:ext cx="580696" cy="1090174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134000"/>
            <a:ext cx="580696" cy="1090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변 화</a:t>
            </a:r>
          </a:p>
        </p:txBody>
      </p:sp>
      <p:sp>
        <p:nvSpPr>
          <p:cNvPr id="18" name="머리칸"/>
          <p:cNvSpPr/>
          <p:nvPr/>
        </p:nvSpPr>
        <p:spPr>
          <a:xfrm>
            <a:off x="1161391" y="115591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9" name="머리칸"/>
          <p:cNvSpPr>
            <a:spLocks noGrp="1"/>
          </p:cNvSpPr>
          <p:nvPr>
            <p:ph type="body" sz="quarter" idx="23"/>
          </p:nvPr>
        </p:nvSpPr>
        <p:spPr>
          <a:xfrm>
            <a:off x="1161391" y="115591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해마다 어려워지는 수돗물 공급 여건</a:t>
            </a:r>
          </a:p>
        </p:txBody>
      </p:sp>
      <p:sp>
        <p:nvSpPr>
          <p:cNvPr id="20" name="머리칸"/>
          <p:cNvSpPr/>
          <p:nvPr/>
        </p:nvSpPr>
        <p:spPr>
          <a:xfrm>
            <a:off x="3985435" y="115591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1" name="머리칸"/>
          <p:cNvSpPr>
            <a:spLocks noGrp="1"/>
          </p:cNvSpPr>
          <p:nvPr>
            <p:ph type="body" sz="quarter" idx="24"/>
          </p:nvPr>
        </p:nvSpPr>
        <p:spPr>
          <a:xfrm>
            <a:off x="3985435" y="115591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新정부 국정과제 선도체계로 물관리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5"/>
          </p:nvPr>
        </p:nvSpPr>
        <p:spPr>
          <a:xfrm>
            <a:off x="1172348" y="1396957"/>
            <a:ext cx="2802130" cy="821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역대 최장 조류경보 발령(14개 지점 961일), 시설노후 티핑포인트 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10년간 요금동결로 투자재원 부족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한정된 자원 최적배분으로 선제적 대비 필요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6"/>
          </p:nvPr>
        </p:nvSpPr>
        <p:spPr>
          <a:xfrm>
            <a:off x="3996391" y="1396957"/>
            <a:ext cx="2802130" cy="821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강국 · 국민 안전 · 균형발전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AI정수장 등 글로벌 시장 선도와 예방적 재난관리, 지역물문제 해소로 정책 부합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미래상수도 적기 실행이 곧 국정과제 이행의 지름길</a:t>
            </a:r>
          </a:p>
        </p:txBody>
      </p:sp>
      <p:cxnSp>
        <p:nvCxnSpPr>
          <p:cNvPr id="24" name="Connector 17"/>
          <p:cNvCxnSpPr/>
          <p:nvPr/>
        </p:nvCxnSpPr>
        <p:spPr>
          <a:xfrm>
            <a:off x="3985435" y="1429826"/>
            <a:ext cx="0" cy="75600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5" name="레일"/>
          <p:cNvSpPr/>
          <p:nvPr/>
        </p:nvSpPr>
        <p:spPr>
          <a:xfrm>
            <a:off x="547826" y="2240609"/>
            <a:ext cx="580696" cy="38488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6" name="레일"/>
          <p:cNvSpPr>
            <a:spLocks noGrp="1"/>
          </p:cNvSpPr>
          <p:nvPr>
            <p:ph type="body" sz="quarter" idx="27"/>
          </p:nvPr>
        </p:nvSpPr>
        <p:spPr>
          <a:xfrm>
            <a:off x="547826" y="2240609"/>
            <a:ext cx="580696" cy="3848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로드맵</a:t>
            </a:r>
          </a:p>
        </p:txBody>
      </p:sp>
      <p:sp>
        <p:nvSpPr>
          <p:cNvPr id="27" name="레일 삼각형"/>
          <p:cNvSpPr/>
          <p:nvPr/>
        </p:nvSpPr>
        <p:spPr>
          <a:xfrm>
            <a:off x="547826" y="2240608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배너"/>
          <p:cNvSpPr/>
          <p:nvPr/>
        </p:nvSpPr>
        <p:spPr>
          <a:xfrm>
            <a:off x="1161391" y="2262522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9" name="배너"/>
          <p:cNvSpPr>
            <a:spLocks noGrp="1"/>
          </p:cNvSpPr>
          <p:nvPr>
            <p:ph type="body" sz="quarter" idx="28"/>
          </p:nvPr>
        </p:nvSpPr>
        <p:spPr>
          <a:xfrm>
            <a:off x="1161391" y="2262522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전략수립에서 나아가 ’25년 변화된 환경·정책을 반영한 ‘실행중심 체계’로 전환</a:t>
            </a:r>
          </a:p>
        </p:txBody>
      </p:sp>
      <p:sp>
        <p:nvSpPr>
          <p:cNvPr id="30" name="레일"/>
          <p:cNvSpPr/>
          <p:nvPr/>
        </p:nvSpPr>
        <p:spPr>
          <a:xfrm>
            <a:off x="547826" y="2641930"/>
            <a:ext cx="580696" cy="77243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1" name="레일"/>
          <p:cNvSpPr>
            <a:spLocks noGrp="1"/>
          </p:cNvSpPr>
          <p:nvPr>
            <p:ph type="body" sz="quarter" idx="29"/>
          </p:nvPr>
        </p:nvSpPr>
        <p:spPr>
          <a:xfrm>
            <a:off x="547826" y="2641930"/>
            <a:ext cx="580696" cy="772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미 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상수도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로드맵</a:t>
            </a:r>
          </a:p>
        </p:txBody>
      </p:sp>
      <p:sp>
        <p:nvSpPr>
          <p:cNvPr id="32" name="단계"/>
          <p:cNvSpPr/>
          <p:nvPr/>
        </p:nvSpPr>
        <p:spPr>
          <a:xfrm>
            <a:off x="1161391" y="2663843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3" name="단계"/>
          <p:cNvSpPr>
            <a:spLocks noGrp="1"/>
          </p:cNvSpPr>
          <p:nvPr>
            <p:ph type="body" sz="quarter" idx="30"/>
          </p:nvPr>
        </p:nvSpPr>
        <p:spPr>
          <a:xfrm>
            <a:off x="1161391" y="266384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전략(Strategy)</a:t>
            </a:r>
          </a:p>
        </p:txBody>
      </p:sp>
      <p:sp>
        <p:nvSpPr>
          <p:cNvPr id="34" name="단계"/>
          <p:cNvSpPr/>
          <p:nvPr/>
        </p:nvSpPr>
        <p:spPr>
          <a:xfrm>
            <a:off x="3044087" y="2663843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5" name="단계"/>
          <p:cNvSpPr>
            <a:spLocks noGrp="1"/>
          </p:cNvSpPr>
          <p:nvPr>
            <p:ph type="body" sz="quarter" idx="31"/>
          </p:nvPr>
        </p:nvSpPr>
        <p:spPr>
          <a:xfrm>
            <a:off x="3044087" y="266384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실행(Action Plan)</a:t>
            </a:r>
          </a:p>
        </p:txBody>
      </p:sp>
      <p:sp>
        <p:nvSpPr>
          <p:cNvPr id="36" name="단계"/>
          <p:cNvSpPr/>
          <p:nvPr/>
        </p:nvSpPr>
        <p:spPr>
          <a:xfrm>
            <a:off x="4926783" y="2663843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7" name="단계"/>
          <p:cNvSpPr>
            <a:spLocks noGrp="1"/>
          </p:cNvSpPr>
          <p:nvPr>
            <p:ph type="body" sz="quarter" idx="32"/>
          </p:nvPr>
        </p:nvSpPr>
        <p:spPr>
          <a:xfrm>
            <a:off x="4926783" y="266384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’26년~ 신속 추진(Execution)</a:t>
            </a:r>
          </a:p>
        </p:txBody>
      </p:sp>
      <p:sp>
        <p:nvSpPr>
          <p:cNvPr id="38" name="단계 삼각형"/>
          <p:cNvSpPr/>
          <p:nvPr/>
        </p:nvSpPr>
        <p:spPr>
          <a:xfrm>
            <a:off x="3044086" y="2663843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9" name="단계 삼각형"/>
          <p:cNvSpPr/>
          <p:nvPr/>
        </p:nvSpPr>
        <p:spPr>
          <a:xfrm>
            <a:off x="4926782" y="266384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0" name="칸 본문"/>
          <p:cNvSpPr>
            <a:spLocks noGrp="1"/>
          </p:cNvSpPr>
          <p:nvPr>
            <p:ph type="body" sz="quarter" idx="33"/>
          </p:nvPr>
        </p:nvSpPr>
        <p:spPr>
          <a:xfrm>
            <a:off x="1172348" y="2915843"/>
            <a:ext cx="1860783" cy="493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국민안심을 위한 미래 수도 4대 전략 수립 · 안정화, 스마트, 고품질, 운영혁신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34"/>
          </p:nvPr>
        </p:nvSpPr>
        <p:spPr>
          <a:xfrm>
            <a:off x="3055043" y="2915843"/>
            <a:ext cx="1860783" cy="493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전략목표 달성을 위한 실행과제 구체화 및 이행</a:t>
            </a:r>
          </a:p>
        </p:txBody>
      </p:sp>
      <p:cxnSp>
        <p:nvCxnSpPr>
          <p:cNvPr id="42" name="Connector 29"/>
          <p:cNvCxnSpPr/>
          <p:nvPr/>
        </p:nvCxnSpPr>
        <p:spPr>
          <a:xfrm>
            <a:off x="3044087" y="2948713"/>
            <a:ext cx="0" cy="42730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3" name="칸 본문"/>
          <p:cNvSpPr>
            <a:spLocks noGrp="1"/>
          </p:cNvSpPr>
          <p:nvPr>
            <p:ph type="body" sz="quarter" idx="35"/>
          </p:nvPr>
        </p:nvSpPr>
        <p:spPr>
          <a:xfrm>
            <a:off x="4937739" y="2915843"/>
            <a:ext cx="1860783" cy="493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물공급 全과정 전략과제 실행 가속화 성과창출</a:t>
            </a:r>
          </a:p>
        </p:txBody>
      </p:sp>
      <p:cxnSp>
        <p:nvCxnSpPr>
          <p:cNvPr id="44" name="Connector 31"/>
          <p:cNvCxnSpPr/>
          <p:nvPr/>
        </p:nvCxnSpPr>
        <p:spPr>
          <a:xfrm>
            <a:off x="4926783" y="2948713"/>
            <a:ext cx="0" cy="42730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5" name="레일"/>
          <p:cNvSpPr/>
          <p:nvPr/>
        </p:nvSpPr>
        <p:spPr>
          <a:xfrm>
            <a:off x="547826" y="3430800"/>
            <a:ext cx="580696" cy="1309304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6" name="레일"/>
          <p:cNvSpPr>
            <a:spLocks noGrp="1"/>
          </p:cNvSpPr>
          <p:nvPr>
            <p:ph type="body" sz="quarter" idx="36"/>
          </p:nvPr>
        </p:nvSpPr>
        <p:spPr>
          <a:xfrm>
            <a:off x="547826" y="3430800"/>
            <a:ext cx="580696" cy="1309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4대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계획</a:t>
            </a:r>
          </a:p>
        </p:txBody>
      </p:sp>
      <p:sp>
        <p:nvSpPr>
          <p:cNvPr id="47" name="머리칸"/>
          <p:cNvSpPr/>
          <p:nvPr/>
        </p:nvSpPr>
        <p:spPr>
          <a:xfrm>
            <a:off x="1161391" y="345271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8" name="머리칸"/>
          <p:cNvSpPr>
            <a:spLocks noGrp="1"/>
          </p:cNvSpPr>
          <p:nvPr>
            <p:ph type="body" sz="quarter" idx="37"/>
          </p:nvPr>
        </p:nvSpPr>
        <p:spPr>
          <a:xfrm>
            <a:off x="1161391" y="345271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안정화 · 스마트</a:t>
            </a:r>
          </a:p>
        </p:txBody>
      </p:sp>
      <p:sp>
        <p:nvSpPr>
          <p:cNvPr id="49" name="머리칸"/>
          <p:cNvSpPr/>
          <p:nvPr/>
        </p:nvSpPr>
        <p:spPr>
          <a:xfrm>
            <a:off x="3985435" y="345271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0" name="머리칸"/>
          <p:cNvSpPr>
            <a:spLocks noGrp="1"/>
          </p:cNvSpPr>
          <p:nvPr>
            <p:ph type="body" sz="quarter" idx="38"/>
          </p:nvPr>
        </p:nvSpPr>
        <p:spPr>
          <a:xfrm>
            <a:off x="3985435" y="345271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고품질 · 운영혁신</a:t>
            </a:r>
          </a:p>
        </p:txBody>
      </p:sp>
      <p:sp>
        <p:nvSpPr>
          <p:cNvPr id="51" name="칸 본문"/>
          <p:cNvSpPr>
            <a:spLocks noGrp="1"/>
          </p:cNvSpPr>
          <p:nvPr>
            <p:ph type="body" sz="quarter" idx="39"/>
          </p:nvPr>
        </p:nvSpPr>
        <p:spPr>
          <a:xfrm>
            <a:off x="1172348" y="3693757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재난·사고에 대비한 안정적인 수돗물: 취약요인(밸브, 하천) 발굴·해소로 선제적 개선, 사고 예방 중심의 관로 안정화 실행계획(~’40, 17조원)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미래상: 단수시 비상공급률 100%, 실 단수 Zero 수준 유지</a:t>
            </a:r>
          </a:p>
        </p:txBody>
      </p:sp>
      <p:sp>
        <p:nvSpPr>
          <p:cNvPr id="52" name="칸 본문"/>
          <p:cNvSpPr>
            <a:spLocks noGrp="1"/>
          </p:cNvSpPr>
          <p:nvPr>
            <p:ph type="body" sz="quarter" idx="40"/>
          </p:nvPr>
        </p:nvSpPr>
        <p:spPr>
          <a:xfrm>
            <a:off x="3996391" y="3693757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 특화 AX 기반 스마트한 수돗물: AI 기술 사업화(8건)·ISO 표준화로 국내외 선도, 수도서비스 全과정 AX 사업화(~’30, 0.1조원)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미래상: 물 공급 全과정 AX전환, 全사업장 완전자율운영</a:t>
            </a:r>
          </a:p>
        </p:txBody>
      </p:sp>
      <p:cxnSp>
        <p:nvCxnSpPr>
          <p:cNvPr id="53" name="Connector 37"/>
          <p:cNvCxnSpPr/>
          <p:nvPr/>
        </p:nvCxnSpPr>
        <p:spPr>
          <a:xfrm>
            <a:off x="3985435" y="3726626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4" name="레일"/>
          <p:cNvSpPr/>
          <p:nvPr/>
        </p:nvSpPr>
        <p:spPr>
          <a:xfrm>
            <a:off x="547826" y="4756539"/>
            <a:ext cx="580696" cy="1309304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/>
            </a:r>
          </a:p>
        </p:txBody>
      </p:sp>
      <p:sp>
        <p:nvSpPr>
          <p:cNvPr id="55" name="머리칸"/>
          <p:cNvSpPr/>
          <p:nvPr/>
        </p:nvSpPr>
        <p:spPr>
          <a:xfrm>
            <a:off x="1161391" y="4778452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6" name="머리칸"/>
          <p:cNvSpPr>
            <a:spLocks noGrp="1"/>
          </p:cNvSpPr>
          <p:nvPr>
            <p:ph type="body" sz="quarter" idx="41"/>
          </p:nvPr>
        </p:nvSpPr>
        <p:spPr>
          <a:xfrm>
            <a:off x="1161391" y="4778452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고품질: 국민이 안심할 수 있는 고품질 수돗물</a:t>
            </a:r>
          </a:p>
        </p:txBody>
      </p:sp>
      <p:sp>
        <p:nvSpPr>
          <p:cNvPr id="57" name="머리칸"/>
          <p:cNvSpPr/>
          <p:nvPr/>
        </p:nvSpPr>
        <p:spPr>
          <a:xfrm>
            <a:off x="3985435" y="4778452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8" name="머리칸"/>
          <p:cNvSpPr>
            <a:spLocks noGrp="1"/>
          </p:cNvSpPr>
          <p:nvPr>
            <p:ph type="body" sz="quarter" idx="42"/>
          </p:nvPr>
        </p:nvSpPr>
        <p:spPr>
          <a:xfrm>
            <a:off x="3985435" y="4778452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운영혁신: 低원가, 高효율의 지속가능한 수돗물</a:t>
            </a:r>
          </a:p>
        </p:txBody>
      </p:sp>
      <p:sp>
        <p:nvSpPr>
          <p:cNvPr id="59" name="칸 본문"/>
          <p:cNvSpPr>
            <a:spLocks noGrp="1"/>
          </p:cNvSpPr>
          <p:nvPr>
            <p:ph type="body" sz="quarter" idx="43"/>
          </p:nvPr>
        </p:nvSpPr>
        <p:spPr>
          <a:xfrm>
            <a:off x="1172348" y="5019496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계절별 취약요소 관리 및 신종오염물질 대비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복합수질 대응을 위한 정수장 종합개선 계획(~’40, 5조원)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미래상: 고도정수처리 100% 도입, 초고도 시범도입</a:t>
            </a:r>
          </a:p>
        </p:txBody>
      </p:sp>
      <p:sp>
        <p:nvSpPr>
          <p:cNvPr id="60" name="칸 본문"/>
          <p:cNvSpPr>
            <a:spLocks noGrp="1"/>
          </p:cNvSpPr>
          <p:nvPr>
            <p:ph type="body" sz="quarter" idx="44"/>
          </p:nvPr>
        </p:nvSpPr>
        <p:spPr>
          <a:xfrm>
            <a:off x="3996391" y="5019496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고효율 설비, 운영 혁신 중심 원가절감 확대(~’30)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자산관리체계 고도화 및 한강유역 확대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미래상: 수돗물 생산원가 절감 484억원/연, 에너지 자립</a:t>
            </a:r>
          </a:p>
        </p:txBody>
      </p:sp>
      <p:cxnSp>
        <p:nvCxnSpPr>
          <p:cNvPr id="61" name="Connector 43"/>
          <p:cNvCxnSpPr/>
          <p:nvPr/>
        </p:nvCxnSpPr>
        <p:spPr>
          <a:xfrm>
            <a:off x="3985435" y="5052365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2" name="레일"/>
          <p:cNvSpPr/>
          <p:nvPr/>
        </p:nvSpPr>
        <p:spPr>
          <a:xfrm>
            <a:off x="547826" y="6082278"/>
            <a:ext cx="580696" cy="5396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3" name="레일"/>
          <p:cNvSpPr>
            <a:spLocks noGrp="1"/>
          </p:cNvSpPr>
          <p:nvPr>
            <p:ph type="body" sz="quarter" idx="45"/>
          </p:nvPr>
        </p:nvSpPr>
        <p:spPr>
          <a:xfrm>
            <a:off x="547826" y="6082278"/>
            <a:ext cx="580696" cy="5396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 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 과</a:t>
            </a:r>
          </a:p>
        </p:txBody>
      </p:sp>
      <p:sp>
        <p:nvSpPr>
          <p:cNvPr id="64" name="레일 삼각형"/>
          <p:cNvSpPr/>
          <p:nvPr/>
        </p:nvSpPr>
        <p:spPr>
          <a:xfrm>
            <a:off x="547826" y="6082278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5" name="칸 본문"/>
          <p:cNvSpPr>
            <a:spLocks noGrp="1"/>
          </p:cNvSpPr>
          <p:nvPr>
            <p:ph type="body" sz="quarter" idx="46"/>
          </p:nvPr>
        </p:nvSpPr>
        <p:spPr>
          <a:xfrm>
            <a:off x="1172348" y="6104191"/>
            <a:ext cx="1390109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단수 취약요인 선제개선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안정화 사업계획 재수립</a:t>
            </a:r>
          </a:p>
        </p:txBody>
      </p:sp>
      <p:sp>
        <p:nvSpPr>
          <p:cNvPr id="66" name="칸 본문"/>
          <p:cNvSpPr>
            <a:spLocks noGrp="1"/>
          </p:cNvSpPr>
          <p:nvPr>
            <p:ph type="body" sz="quarter" idx="47"/>
          </p:nvPr>
        </p:nvSpPr>
        <p:spPr>
          <a:xfrm>
            <a:off x="2584370" y="6104191"/>
            <a:ext cx="1390109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ISO 인증 등 글로벌 선도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 AX 추진계획</a:t>
            </a:r>
          </a:p>
        </p:txBody>
      </p:sp>
      <p:cxnSp>
        <p:nvCxnSpPr>
          <p:cNvPr id="67" name="Connector 48"/>
          <p:cNvCxnSpPr/>
          <p:nvPr/>
        </p:nvCxnSpPr>
        <p:spPr>
          <a:xfrm>
            <a:off x="2573413" y="6137061"/>
            <a:ext cx="0" cy="4315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8" name="칸 본문"/>
          <p:cNvSpPr>
            <a:spLocks noGrp="1"/>
          </p:cNvSpPr>
          <p:nvPr>
            <p:ph type="body" sz="quarter" idx="48"/>
          </p:nvPr>
        </p:nvSpPr>
        <p:spPr>
          <a:xfrm>
            <a:off x="3996391" y="6104191"/>
            <a:ext cx="1390109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국민기대수질 98.3%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PFAS OUT 로드맵 마련</a:t>
            </a:r>
          </a:p>
        </p:txBody>
      </p:sp>
      <p:cxnSp>
        <p:nvCxnSpPr>
          <p:cNvPr id="69" name="Connector 50"/>
          <p:cNvCxnSpPr/>
          <p:nvPr/>
        </p:nvCxnSpPr>
        <p:spPr>
          <a:xfrm>
            <a:off x="3985435" y="6137061"/>
            <a:ext cx="0" cy="4315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0" name="칸 본문"/>
          <p:cNvSpPr>
            <a:spLocks noGrp="1"/>
          </p:cNvSpPr>
          <p:nvPr>
            <p:ph type="body" sz="quarter" idx="49"/>
          </p:nvPr>
        </p:nvSpPr>
        <p:spPr>
          <a:xfrm>
            <a:off x="5408413" y="6104191"/>
            <a:ext cx="1390109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원가절감 목표 比 105%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자산체계 활용 의사결정</a:t>
            </a:r>
          </a:p>
        </p:txBody>
      </p:sp>
      <p:cxnSp>
        <p:nvCxnSpPr>
          <p:cNvPr id="71" name="Connector 52"/>
          <p:cNvCxnSpPr/>
          <p:nvPr/>
        </p:nvCxnSpPr>
        <p:spPr>
          <a:xfrm>
            <a:off x="5397457" y="6137061"/>
            <a:ext cx="0" cy="4315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86 서사 · 추진배경(현황 · 한계 두 칸 + 세부 3줄) → 개선 방향 배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사고 환류와 실행력이 담보된 안정화 계획 이행으로 비상공급률 향상</a:t>
            </a:r>
          </a:p>
        </p:txBody>
      </p:sp>
      <p:sp>
        <p:nvSpPr>
          <p:cNvPr id="14" name="표 외곽"/>
          <p:cNvSpPr/>
          <p:nvPr/>
        </p:nvSpPr>
        <p:spPr>
          <a:xfrm>
            <a:off x="723130" y="1128522"/>
            <a:ext cx="6300000" cy="1349061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734087" y="1144957"/>
            <a:ext cx="580696" cy="91487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144957"/>
            <a:ext cx="580696" cy="91487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7" name="머리칸"/>
          <p:cNvSpPr/>
          <p:nvPr/>
        </p:nvSpPr>
        <p:spPr>
          <a:xfrm>
            <a:off x="1347652" y="116687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8" name="머리칸"/>
          <p:cNvSpPr>
            <a:spLocks noGrp="1"/>
          </p:cNvSpPr>
          <p:nvPr>
            <p:ph type="body" sz="quarter" idx="23"/>
          </p:nvPr>
        </p:nvSpPr>
        <p:spPr>
          <a:xfrm>
            <a:off x="1347652" y="116687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현황  연평균 50㎞ 사업에도</a:t>
            </a:r>
          </a:p>
        </p:txBody>
      </p:sp>
      <p:sp>
        <p:nvSpPr>
          <p:cNvPr id="19" name="머리칸"/>
          <p:cNvSpPr/>
          <p:nvPr/>
        </p:nvSpPr>
        <p:spPr>
          <a:xfrm>
            <a:off x="4171696" y="116687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0" name="머리칸"/>
          <p:cNvSpPr>
            <a:spLocks noGrp="1"/>
          </p:cNvSpPr>
          <p:nvPr>
            <p:ph type="body" sz="quarter" idx="24"/>
          </p:nvPr>
        </p:nvSpPr>
        <p:spPr>
          <a:xfrm>
            <a:off x="4171696" y="116687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한계  다양한 요인으로 인한 단수사고 발생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5"/>
          </p:nvPr>
        </p:nvSpPr>
        <p:spPr>
          <a:xfrm>
            <a:off x="1358609" y="1407913"/>
            <a:ext cx="2802130" cy="64643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단수시 비상공급률 87.3%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연평균 약 0.5조원 안정화 투자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6"/>
          </p:nvPr>
        </p:nvSpPr>
        <p:spPr>
          <a:xfrm>
            <a:off x="4182652" y="1407913"/>
            <a:ext cx="2802130" cy="64643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사고: 숨은 사각지대 존재 → 예기치 못한 사고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사업비: 건설원가 상승 → 사업비 부족 → 사업지연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우선순위: 공급량 중심 → 단수위험 반영 부족</a:t>
            </a:r>
          </a:p>
        </p:txBody>
      </p:sp>
      <p:cxnSp>
        <p:nvCxnSpPr>
          <p:cNvPr id="23" name="Connector 14"/>
          <p:cNvCxnSpPr/>
          <p:nvPr/>
        </p:nvCxnSpPr>
        <p:spPr>
          <a:xfrm>
            <a:off x="4171696" y="1440783"/>
            <a:ext cx="0" cy="58069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4" name="레일"/>
          <p:cNvSpPr/>
          <p:nvPr/>
        </p:nvSpPr>
        <p:spPr>
          <a:xfrm>
            <a:off x="734087" y="2076261"/>
            <a:ext cx="580696" cy="3848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5" name="레일"/>
          <p:cNvSpPr>
            <a:spLocks noGrp="1"/>
          </p:cNvSpPr>
          <p:nvPr>
            <p:ph type="body" sz="quarter" idx="27"/>
          </p:nvPr>
        </p:nvSpPr>
        <p:spPr>
          <a:xfrm>
            <a:off x="734087" y="2076261"/>
            <a:ext cx="580696" cy="3848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 향</a:t>
            </a:r>
          </a:p>
        </p:txBody>
      </p:sp>
      <p:sp>
        <p:nvSpPr>
          <p:cNvPr id="26" name="레일 삼각형"/>
          <p:cNvSpPr/>
          <p:nvPr/>
        </p:nvSpPr>
        <p:spPr>
          <a:xfrm>
            <a:off x="734086" y="2076260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7" name="배너"/>
          <p:cNvSpPr/>
          <p:nvPr/>
        </p:nvSpPr>
        <p:spPr>
          <a:xfrm>
            <a:off x="1347652" y="2098174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8" name="배너"/>
          <p:cNvSpPr>
            <a:spLocks noGrp="1"/>
          </p:cNvSpPr>
          <p:nvPr>
            <p:ph type="body" sz="quarter" idx="28"/>
          </p:nvPr>
        </p:nvSpPr>
        <p:spPr>
          <a:xfrm>
            <a:off x="1347652" y="2098174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성과는 유지, 한계는 보완하여 속도와 효율을 높인 안정화 실행계획 전면 재수립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87 서사 · 취약요인 개선(시사점 → 사례·한계 3칸 → 개선 방안 3칸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11" name="분야 박스"/>
          <p:cNvSpPr/>
          <p:nvPr/>
        </p:nvSpPr>
        <p:spPr>
          <a:xfrm>
            <a:off x="766390" y="799826"/>
            <a:ext cx="841275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분야 박스"/>
          <p:cNvSpPr>
            <a:spLocks noGrp="1"/>
          </p:cNvSpPr>
          <p:nvPr>
            <p:ph type="body" sz="quarter" idx="21"/>
          </p:nvPr>
        </p:nvSpPr>
        <p:spPr>
          <a:xfrm>
            <a:off x="766390" y="799826"/>
            <a:ext cx="84127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취약요인 개선</a:t>
            </a:r>
          </a:p>
        </p:txBody>
      </p:sp>
      <p:sp>
        <p:nvSpPr>
          <p:cNvPr id="13" name="형광 밑줄"/>
          <p:cNvSpPr/>
          <p:nvPr/>
        </p:nvSpPr>
        <p:spPr>
          <a:xfrm>
            <a:off x="1673403" y="920348"/>
            <a:ext cx="3336329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소제목"/>
          <p:cNvSpPr>
            <a:spLocks noGrp="1"/>
          </p:cNvSpPr>
          <p:nvPr>
            <p:ph type="body" sz="quarter" idx="22"/>
          </p:nvPr>
        </p:nvSpPr>
        <p:spPr>
          <a:xfrm>
            <a:off x="1673403" y="766957"/>
            <a:ext cx="5163466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예기치 못한 단수, 사고원인 환류로 선제적 개선대책 마련</a:t>
            </a:r>
          </a:p>
        </p:txBody>
      </p:sp>
      <p:sp>
        <p:nvSpPr>
          <p:cNvPr id="15" name="태그칩"/>
          <p:cNvSpPr/>
          <p:nvPr/>
        </p:nvSpPr>
        <p:spPr>
          <a:xfrm>
            <a:off x="5108341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태그칩"/>
          <p:cNvSpPr>
            <a:spLocks noGrp="1"/>
          </p:cNvSpPr>
          <p:nvPr>
            <p:ph type="body" sz="quarter" idx="23"/>
          </p:nvPr>
        </p:nvSpPr>
        <p:spPr>
          <a:xfrm>
            <a:off x="5108341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7" name="배너"/>
          <p:cNvSpPr/>
          <p:nvPr/>
        </p:nvSpPr>
        <p:spPr>
          <a:xfrm>
            <a:off x="536869" y="1051826"/>
            <a:ext cx="6300000" cy="273913"/>
          </a:xfrm>
          <a:custGeom>
            <a:avLst/>
            <a:gdLst/>
            <a:ahLst/>
            <a:cxnLst/>
            <a:rect l="l" t="t" r="r" b="b"/>
            <a:pathLst>
              <a:path w="6300000" h="273913">
                <a:moveTo>
                  <a:pt x="0" y="0"/>
                </a:moveTo>
                <a:lnTo>
                  <a:pt x="6300000" y="0"/>
                </a:lnTo>
                <a:lnTo>
                  <a:pt x="6234261" y="273913"/>
                </a:lnTo>
                <a:lnTo>
                  <a:pt x="65739" y="273913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8" name="태그"/>
          <p:cNvSpPr/>
          <p:nvPr/>
        </p:nvSpPr>
        <p:spPr>
          <a:xfrm>
            <a:off x="756000" y="1106609"/>
            <a:ext cx="438871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19" name="태그"/>
          <p:cNvSpPr>
            <a:spLocks noGrp="1"/>
          </p:cNvSpPr>
          <p:nvPr>
            <p:ph type="body" sz="quarter" idx="24"/>
          </p:nvPr>
        </p:nvSpPr>
        <p:spPr>
          <a:xfrm>
            <a:off x="756000" y="1106609"/>
            <a:ext cx="438871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20" name="배너 글"/>
          <p:cNvSpPr>
            <a:spLocks noGrp="1"/>
          </p:cNvSpPr>
          <p:nvPr>
            <p:ph type="body" sz="quarter" idx="25"/>
          </p:nvPr>
        </p:nvSpPr>
        <p:spPr>
          <a:xfrm>
            <a:off x="1249654" y="1051826"/>
            <a:ext cx="5422868" cy="273913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400" b="1" spc="-7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사고의 원인을 복기하여 시스템 근본적 개선 도모</a:t>
            </a:r>
          </a:p>
        </p:txBody>
      </p:sp>
      <p:sp>
        <p:nvSpPr>
          <p:cNvPr id="21" name="표 외곽"/>
          <p:cNvSpPr/>
          <p:nvPr/>
        </p:nvSpPr>
        <p:spPr>
          <a:xfrm>
            <a:off x="536870" y="1369565"/>
            <a:ext cx="6300000" cy="2196783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2" name="레일"/>
          <p:cNvSpPr/>
          <p:nvPr/>
        </p:nvSpPr>
        <p:spPr>
          <a:xfrm>
            <a:off x="547826" y="1386000"/>
            <a:ext cx="580696" cy="118878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3" name="레일"/>
          <p:cNvSpPr>
            <a:spLocks noGrp="1"/>
          </p:cNvSpPr>
          <p:nvPr>
            <p:ph type="body" sz="quarter" idx="26"/>
          </p:nvPr>
        </p:nvSpPr>
        <p:spPr>
          <a:xfrm>
            <a:off x="547826" y="1386000"/>
            <a:ext cx="580696" cy="1188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사례 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한 계</a:t>
            </a:r>
          </a:p>
        </p:txBody>
      </p:sp>
      <p:sp>
        <p:nvSpPr>
          <p:cNvPr id="24" name="머리칸"/>
          <p:cNvSpPr/>
          <p:nvPr/>
        </p:nvSpPr>
        <p:spPr>
          <a:xfrm>
            <a:off x="1161391" y="1407913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5" name="머리칸"/>
          <p:cNvSpPr>
            <a:spLocks noGrp="1"/>
          </p:cNvSpPr>
          <p:nvPr>
            <p:ph type="body" sz="quarter" idx="27"/>
          </p:nvPr>
        </p:nvSpPr>
        <p:spPr>
          <a:xfrm>
            <a:off x="1161391" y="1407913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잠재적 단수위험 노후 밸브</a:t>
            </a:r>
          </a:p>
        </p:txBody>
      </p:sp>
      <p:sp>
        <p:nvSpPr>
          <p:cNvPr id="26" name="머리칸"/>
          <p:cNvSpPr/>
          <p:nvPr/>
        </p:nvSpPr>
        <p:spPr>
          <a:xfrm>
            <a:off x="3044087" y="1407913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7" name="머리칸"/>
          <p:cNvSpPr>
            <a:spLocks noGrp="1"/>
          </p:cNvSpPr>
          <p:nvPr>
            <p:ph type="body" sz="quarter" idx="28"/>
          </p:nvPr>
        </p:nvSpPr>
        <p:spPr>
          <a:xfrm>
            <a:off x="3044087" y="1407913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강물로 복구가 어려운 하천관로</a:t>
            </a:r>
          </a:p>
        </p:txBody>
      </p:sp>
      <p:sp>
        <p:nvSpPr>
          <p:cNvPr id="28" name="머리칸"/>
          <p:cNvSpPr/>
          <p:nvPr/>
        </p:nvSpPr>
        <p:spPr>
          <a:xfrm>
            <a:off x="4926783" y="1407913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9" name="머리칸"/>
          <p:cNvSpPr>
            <a:spLocks noGrp="1"/>
          </p:cNvSpPr>
          <p:nvPr>
            <p:ph type="body" sz="quarter" idx="29"/>
          </p:nvPr>
        </p:nvSpPr>
        <p:spPr>
          <a:xfrm>
            <a:off x="4926783" y="1407913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부단수공법 사고대비 미흡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0"/>
          </p:nvPr>
        </p:nvSpPr>
        <p:spPr>
          <a:xfrm>
            <a:off x="1172348" y="1648957"/>
            <a:ext cx="1860783" cy="920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서산 등 31만명 단수(’24.11) (원인: 노후 밸브 작동불량)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4만개 밸브 상태 불확실 및 노후(20년이상 66%)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1"/>
          </p:nvPr>
        </p:nvSpPr>
        <p:spPr>
          <a:xfrm>
            <a:off x="3055043" y="1648957"/>
            <a:ext cx="1860783" cy="920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증평군 3.7만명 단수(’25.8) (원인: 집중호우로 관 주변 세굴)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집중호우로 하상변동 심하고, 복구 지난(전체 313㎞)</a:t>
            </a:r>
          </a:p>
        </p:txBody>
      </p:sp>
      <p:cxnSp>
        <p:nvCxnSpPr>
          <p:cNvPr id="32" name="Connector 21"/>
          <p:cNvCxnSpPr/>
          <p:nvPr/>
        </p:nvCxnSpPr>
        <p:spPr>
          <a:xfrm>
            <a:off x="3044087" y="1681826"/>
            <a:ext cx="0" cy="854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칸 본문"/>
          <p:cNvSpPr>
            <a:spLocks noGrp="1"/>
          </p:cNvSpPr>
          <p:nvPr>
            <p:ph type="body" sz="quarter" idx="32"/>
          </p:nvPr>
        </p:nvSpPr>
        <p:spPr>
          <a:xfrm>
            <a:off x="4937739" y="1648957"/>
            <a:ext cx="1860783" cy="920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파주시 29만명 단수(’25.11) (원인: 연약지반, 고수압 등 복합원인)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고수압·노후·연약지반 등 잠재 위험 대비 부족, 지자체 미협의</a:t>
            </a:r>
          </a:p>
        </p:txBody>
      </p:sp>
      <p:cxnSp>
        <p:nvCxnSpPr>
          <p:cNvPr id="34" name="Connector 23"/>
          <p:cNvCxnSpPr/>
          <p:nvPr/>
        </p:nvCxnSpPr>
        <p:spPr>
          <a:xfrm>
            <a:off x="4926783" y="1681826"/>
            <a:ext cx="0" cy="854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5" name="레일"/>
          <p:cNvSpPr/>
          <p:nvPr/>
        </p:nvSpPr>
        <p:spPr>
          <a:xfrm>
            <a:off x="547826" y="2591217"/>
            <a:ext cx="580696" cy="958696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6" name="레일"/>
          <p:cNvSpPr>
            <a:spLocks noGrp="1"/>
          </p:cNvSpPr>
          <p:nvPr>
            <p:ph type="body" sz="quarter" idx="33"/>
          </p:nvPr>
        </p:nvSpPr>
        <p:spPr>
          <a:xfrm>
            <a:off x="547826" y="2591217"/>
            <a:ext cx="580696" cy="95869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방안</a:t>
            </a:r>
          </a:p>
        </p:txBody>
      </p:sp>
      <p:sp>
        <p:nvSpPr>
          <p:cNvPr id="37" name="레일 삼각형"/>
          <p:cNvSpPr/>
          <p:nvPr/>
        </p:nvSpPr>
        <p:spPr>
          <a:xfrm>
            <a:off x="547826" y="2591217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4"/>
          </p:nvPr>
        </p:nvSpPr>
        <p:spPr>
          <a:xfrm>
            <a:off x="1172348" y="2613130"/>
            <a:ext cx="1860783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체계: 전수조사 및 신뢰지수 개발 → 교체 대상 선정 및 우선교체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밸브상태 자산 DB화 → 자산체계 활용 순차 교체(1만개)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5"/>
          </p:nvPr>
        </p:nvSpPr>
        <p:spPr>
          <a:xfrm>
            <a:off x="3055043" y="2613130"/>
            <a:ext cx="1860783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우선: 임시관로(265m) 설치로 2일만에 용수공급 개시, 680m 복선화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하천 취약시설 관리 체계화 및 복선화 등 설계지침 개정</a:t>
            </a:r>
          </a:p>
        </p:txBody>
      </p:sp>
      <p:cxnSp>
        <p:nvCxnSpPr>
          <p:cNvPr id="40" name="Connector 28"/>
          <p:cNvCxnSpPr/>
          <p:nvPr/>
        </p:nvCxnSpPr>
        <p:spPr>
          <a:xfrm>
            <a:off x="3044087" y="2646000"/>
            <a:ext cx="0" cy="865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1" name="칸 본문"/>
          <p:cNvSpPr>
            <a:spLocks noGrp="1"/>
          </p:cNvSpPr>
          <p:nvPr>
            <p:ph type="body" sz="quarter" idx="36"/>
          </p:nvPr>
        </p:nvSpPr>
        <p:spPr>
          <a:xfrm>
            <a:off x="4937739" y="2613130"/>
            <a:ext cx="1860783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기준: 잠재 위험 선제적 제거를 위한 시방서, 설계기준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절차: 계획단수 절차 개선 → 지자체 사전협의, 공법검토 강화</a:t>
            </a:r>
          </a:p>
        </p:txBody>
      </p:sp>
      <p:cxnSp>
        <p:nvCxnSpPr>
          <p:cNvPr id="42" name="Connector 30"/>
          <p:cNvCxnSpPr/>
          <p:nvPr/>
        </p:nvCxnSpPr>
        <p:spPr>
          <a:xfrm>
            <a:off x="4926783" y="2646000"/>
            <a:ext cx="0" cy="865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88 서사 · 실행력 강화(시사점 → 사업비 · 사업계획 · 우선순위 재조정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10" name="분야 박스"/>
          <p:cNvSpPr/>
          <p:nvPr/>
        </p:nvSpPr>
        <p:spPr>
          <a:xfrm>
            <a:off x="952651" y="810783"/>
            <a:ext cx="731506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1" name="분야 박스"/>
          <p:cNvSpPr>
            <a:spLocks noGrp="1"/>
          </p:cNvSpPr>
          <p:nvPr>
            <p:ph type="body" sz="quarter" idx="21"/>
          </p:nvPr>
        </p:nvSpPr>
        <p:spPr>
          <a:xfrm>
            <a:off x="952651" y="810783"/>
            <a:ext cx="73150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실행력 강화</a:t>
            </a:r>
          </a:p>
        </p:txBody>
      </p:sp>
      <p:sp>
        <p:nvSpPr>
          <p:cNvPr id="12" name="형광 밑줄"/>
          <p:cNvSpPr/>
          <p:nvPr/>
        </p:nvSpPr>
        <p:spPr>
          <a:xfrm>
            <a:off x="1749896" y="931304"/>
            <a:ext cx="3503325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3" name="소제목"/>
          <p:cNvSpPr>
            <a:spLocks noGrp="1"/>
          </p:cNvSpPr>
          <p:nvPr>
            <p:ph type="body" sz="quarter" idx="22"/>
          </p:nvPr>
        </p:nvSpPr>
        <p:spPr>
          <a:xfrm>
            <a:off x="1749896" y="777913"/>
            <a:ext cx="5273235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안정화 시행 15년, 실행력과 형평성을 높인 계획으로 재탄생</a:t>
            </a:r>
          </a:p>
        </p:txBody>
      </p:sp>
      <p:sp>
        <p:nvSpPr>
          <p:cNvPr id="14" name="태그칩"/>
          <p:cNvSpPr/>
          <p:nvPr/>
        </p:nvSpPr>
        <p:spPr>
          <a:xfrm>
            <a:off x="5351829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3"/>
          </p:nvPr>
        </p:nvSpPr>
        <p:spPr>
          <a:xfrm>
            <a:off x="5351829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배너"/>
          <p:cNvSpPr/>
          <p:nvPr/>
        </p:nvSpPr>
        <p:spPr>
          <a:xfrm>
            <a:off x="723130" y="1062782"/>
            <a:ext cx="6300000" cy="273913"/>
          </a:xfrm>
          <a:custGeom>
            <a:avLst/>
            <a:gdLst/>
            <a:ahLst/>
            <a:cxnLst/>
            <a:rect l="l" t="t" r="r" b="b"/>
            <a:pathLst>
              <a:path w="6300000" h="273913">
                <a:moveTo>
                  <a:pt x="0" y="0"/>
                </a:moveTo>
                <a:lnTo>
                  <a:pt x="6300000" y="0"/>
                </a:lnTo>
                <a:lnTo>
                  <a:pt x="6234261" y="273913"/>
                </a:lnTo>
                <a:lnTo>
                  <a:pt x="65739" y="273913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7" name="태그"/>
          <p:cNvSpPr/>
          <p:nvPr/>
        </p:nvSpPr>
        <p:spPr>
          <a:xfrm>
            <a:off x="942261" y="1117565"/>
            <a:ext cx="438871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18" name="태그"/>
          <p:cNvSpPr>
            <a:spLocks noGrp="1"/>
          </p:cNvSpPr>
          <p:nvPr>
            <p:ph type="body" sz="quarter" idx="24"/>
          </p:nvPr>
        </p:nvSpPr>
        <p:spPr>
          <a:xfrm>
            <a:off x="942261" y="1117565"/>
            <a:ext cx="438871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19" name="배너 글"/>
          <p:cNvSpPr>
            <a:spLocks noGrp="1"/>
          </p:cNvSpPr>
          <p:nvPr>
            <p:ph type="body" sz="quarter" idx="25"/>
          </p:nvPr>
        </p:nvSpPr>
        <p:spPr>
          <a:xfrm>
            <a:off x="1435915" y="1062783"/>
            <a:ext cx="5422868" cy="273913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400" b="1" spc="-7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실행력이 담보된 사업계획 재수립이 필요한 시점</a:t>
            </a:r>
          </a:p>
        </p:txBody>
      </p:sp>
      <p:sp>
        <p:nvSpPr>
          <p:cNvPr id="20" name="표 외곽"/>
          <p:cNvSpPr/>
          <p:nvPr/>
        </p:nvSpPr>
        <p:spPr>
          <a:xfrm>
            <a:off x="723130" y="1380522"/>
            <a:ext cx="6300000" cy="294182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1" name="레일"/>
          <p:cNvSpPr/>
          <p:nvPr/>
        </p:nvSpPr>
        <p:spPr>
          <a:xfrm>
            <a:off x="734087" y="1396957"/>
            <a:ext cx="580696" cy="94773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레일"/>
          <p:cNvSpPr>
            <a:spLocks noGrp="1"/>
          </p:cNvSpPr>
          <p:nvPr>
            <p:ph type="body" sz="quarter" idx="26"/>
          </p:nvPr>
        </p:nvSpPr>
        <p:spPr>
          <a:xfrm>
            <a:off x="734087" y="1396957"/>
            <a:ext cx="580696" cy="947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충분한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사업비</a:t>
            </a:r>
          </a:p>
        </p:txBody>
      </p:sp>
      <p:sp>
        <p:nvSpPr>
          <p:cNvPr id="23" name="단계"/>
          <p:cNvSpPr/>
          <p:nvPr/>
        </p:nvSpPr>
        <p:spPr>
          <a:xfrm>
            <a:off x="1347652" y="1418870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4" name="단계"/>
          <p:cNvSpPr>
            <a:spLocks noGrp="1"/>
          </p:cNvSpPr>
          <p:nvPr>
            <p:ph type="body" sz="quarter" idx="27"/>
          </p:nvPr>
        </p:nvSpPr>
        <p:spPr>
          <a:xfrm>
            <a:off x="1347652" y="141887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비효율은 줄이고</a:t>
            </a:r>
          </a:p>
        </p:txBody>
      </p:sp>
      <p:sp>
        <p:nvSpPr>
          <p:cNvPr id="25" name="단계"/>
          <p:cNvSpPr/>
          <p:nvPr/>
        </p:nvSpPr>
        <p:spPr>
          <a:xfrm>
            <a:off x="3230348" y="1418870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6" name="단계"/>
          <p:cNvSpPr>
            <a:spLocks noGrp="1"/>
          </p:cNvSpPr>
          <p:nvPr>
            <p:ph type="body" sz="quarter" idx="28"/>
          </p:nvPr>
        </p:nvSpPr>
        <p:spPr>
          <a:xfrm>
            <a:off x="3230348" y="141887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지연 원인분석 및 환류로</a:t>
            </a:r>
          </a:p>
        </p:txBody>
      </p:sp>
      <p:sp>
        <p:nvSpPr>
          <p:cNvPr id="27" name="단계"/>
          <p:cNvSpPr/>
          <p:nvPr/>
        </p:nvSpPr>
        <p:spPr>
          <a:xfrm>
            <a:off x="5113043" y="1418870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8" name="단계"/>
          <p:cNvSpPr>
            <a:spLocks noGrp="1"/>
          </p:cNvSpPr>
          <p:nvPr>
            <p:ph type="body" sz="quarter" idx="29"/>
          </p:nvPr>
        </p:nvSpPr>
        <p:spPr>
          <a:xfrm>
            <a:off x="5113043" y="141887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신속 사업지연요인 해소</a:t>
            </a:r>
          </a:p>
        </p:txBody>
      </p:sp>
      <p:sp>
        <p:nvSpPr>
          <p:cNvPr id="29" name="단계 삼각형"/>
          <p:cNvSpPr/>
          <p:nvPr/>
        </p:nvSpPr>
        <p:spPr>
          <a:xfrm>
            <a:off x="3230347" y="1418869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0" name="단계 삼각형"/>
          <p:cNvSpPr/>
          <p:nvPr/>
        </p:nvSpPr>
        <p:spPr>
          <a:xfrm>
            <a:off x="5113043" y="1418869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1358609" y="1670870"/>
            <a:ext cx="1860783" cy="668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시기 조정 등 중복사업 통합으로 사업비(2.2조원) 절감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추가 투자예산 확보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1"/>
          </p:nvPr>
        </p:nvSpPr>
        <p:spPr>
          <a:xfrm>
            <a:off x="3241304" y="1670870"/>
            <a:ext cx="1860783" cy="668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 가시설, 추진공사 등 총사업비 증가요인 최소화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현실화: 준공수준 사업비</a:t>
            </a:r>
          </a:p>
        </p:txBody>
      </p:sp>
      <p:cxnSp>
        <p:nvCxnSpPr>
          <p:cNvPr id="33" name="Connector 20"/>
          <p:cNvCxnSpPr/>
          <p:nvPr/>
        </p:nvCxnSpPr>
        <p:spPr>
          <a:xfrm>
            <a:off x="3230348" y="1703739"/>
            <a:ext cx="0" cy="602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4" name="칸 본문"/>
          <p:cNvSpPr>
            <a:spLocks noGrp="1"/>
          </p:cNvSpPr>
          <p:nvPr>
            <p:ph type="body" sz="quarter" idx="32"/>
          </p:nvPr>
        </p:nvSpPr>
        <p:spPr>
          <a:xfrm>
            <a:off x="5124000" y="1670870"/>
            <a:ext cx="1860783" cy="668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총사업비 현실화(12.4 → 17.4조원, 증 5조원)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사업지연, 비용증가 요인 선제 반영 → 실행력 강화</a:t>
            </a:r>
          </a:p>
        </p:txBody>
      </p:sp>
      <p:cxnSp>
        <p:nvCxnSpPr>
          <p:cNvPr id="35" name="Connector 22"/>
          <p:cNvCxnSpPr/>
          <p:nvPr/>
        </p:nvCxnSpPr>
        <p:spPr>
          <a:xfrm>
            <a:off x="5113043" y="1703739"/>
            <a:ext cx="0" cy="602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6" name="레일"/>
          <p:cNvSpPr/>
          <p:nvPr/>
        </p:nvSpPr>
        <p:spPr>
          <a:xfrm>
            <a:off x="734087" y="2361130"/>
            <a:ext cx="580696" cy="980609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7" name="레일"/>
          <p:cNvSpPr>
            <a:spLocks noGrp="1"/>
          </p:cNvSpPr>
          <p:nvPr>
            <p:ph type="body" sz="quarter" idx="33"/>
          </p:nvPr>
        </p:nvSpPr>
        <p:spPr>
          <a:xfrm>
            <a:off x="734087" y="2361130"/>
            <a:ext cx="580696" cy="980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효율적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사업계획</a:t>
            </a:r>
          </a:p>
        </p:txBody>
      </p:sp>
      <p:sp>
        <p:nvSpPr>
          <p:cNvPr id="38" name="레일 삼각형"/>
          <p:cNvSpPr/>
          <p:nvPr/>
        </p:nvSpPr>
        <p:spPr>
          <a:xfrm>
            <a:off x="734086" y="2361130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9" name="머리칸"/>
          <p:cNvSpPr/>
          <p:nvPr/>
        </p:nvSpPr>
        <p:spPr>
          <a:xfrm>
            <a:off x="1347652" y="238304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0" name="머리칸"/>
          <p:cNvSpPr>
            <a:spLocks noGrp="1"/>
          </p:cNvSpPr>
          <p:nvPr>
            <p:ph type="body" sz="quarter" idx="34"/>
          </p:nvPr>
        </p:nvSpPr>
        <p:spPr>
          <a:xfrm>
            <a:off x="1347652" y="238304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직접조사 한계</a:t>
            </a:r>
          </a:p>
        </p:txBody>
      </p:sp>
      <p:sp>
        <p:nvSpPr>
          <p:cNvPr id="41" name="머리칸"/>
          <p:cNvSpPr/>
          <p:nvPr/>
        </p:nvSpPr>
        <p:spPr>
          <a:xfrm>
            <a:off x="4171696" y="238304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2" name="머리칸"/>
          <p:cNvSpPr>
            <a:spLocks noGrp="1"/>
          </p:cNvSpPr>
          <p:nvPr>
            <p:ph type="body" sz="quarter" idx="35"/>
          </p:nvPr>
        </p:nvSpPr>
        <p:spPr>
          <a:xfrm>
            <a:off x="4171696" y="238304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취약요인 + 인력부족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36"/>
          </p:nvPr>
        </p:nvSpPr>
        <p:spPr>
          <a:xfrm>
            <a:off x="1358609" y="2624087"/>
            <a:ext cx="2802130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단수, 안전 문제로 직접조사 제한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6,970개소 중 457개소 조사(6.6%)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정확: AI 노후도 예측, 영상판독 등 기술도입으로 극복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37"/>
          </p:nvPr>
        </p:nvSpPr>
        <p:spPr>
          <a:xfrm>
            <a:off x="4182652" y="2624087"/>
            <a:ext cx="2802130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본관 중심 개량으로 취약요인 잔존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밸브, 분기관 등에서 연평균 9.9건 사고발생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선제: 부속시설 포함 개량 → 잠재적 취약요인 최소화 / 전담조직 2배(4→8개)</a:t>
            </a:r>
          </a:p>
        </p:txBody>
      </p:sp>
      <p:cxnSp>
        <p:nvCxnSpPr>
          <p:cNvPr id="45" name="Connector 29"/>
          <p:cNvCxnSpPr/>
          <p:nvPr/>
        </p:nvCxnSpPr>
        <p:spPr>
          <a:xfrm>
            <a:off x="4171696" y="2656957"/>
            <a:ext cx="0" cy="64643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6" name="레일"/>
          <p:cNvSpPr/>
          <p:nvPr/>
        </p:nvSpPr>
        <p:spPr>
          <a:xfrm>
            <a:off x="734087" y="3358174"/>
            <a:ext cx="580696" cy="947739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7" name="레일"/>
          <p:cNvSpPr>
            <a:spLocks noGrp="1"/>
          </p:cNvSpPr>
          <p:nvPr>
            <p:ph type="body" sz="quarter" idx="38"/>
          </p:nvPr>
        </p:nvSpPr>
        <p:spPr>
          <a:xfrm>
            <a:off x="734087" y="3358174"/>
            <a:ext cx="580696" cy="947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우선순위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재조정</a:t>
            </a:r>
          </a:p>
        </p:txBody>
      </p:sp>
      <p:sp>
        <p:nvSpPr>
          <p:cNvPr id="48" name="레일 삼각형"/>
          <p:cNvSpPr/>
          <p:nvPr/>
        </p:nvSpPr>
        <p:spPr>
          <a:xfrm>
            <a:off x="734086" y="3358173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9" name="단계"/>
          <p:cNvSpPr/>
          <p:nvPr/>
        </p:nvSpPr>
        <p:spPr>
          <a:xfrm>
            <a:off x="1347652" y="3380087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0" name="단계"/>
          <p:cNvSpPr>
            <a:spLocks noGrp="1"/>
          </p:cNvSpPr>
          <p:nvPr>
            <p:ph type="body" sz="quarter" idx="39"/>
          </p:nvPr>
        </p:nvSpPr>
        <p:spPr>
          <a:xfrm>
            <a:off x="1347652" y="3380087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시설규모 중심</a:t>
            </a:r>
          </a:p>
        </p:txBody>
      </p:sp>
      <p:sp>
        <p:nvSpPr>
          <p:cNvPr id="51" name="단계"/>
          <p:cNvSpPr/>
          <p:nvPr/>
        </p:nvSpPr>
        <p:spPr>
          <a:xfrm>
            <a:off x="3230348" y="3380087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2" name="단계"/>
          <p:cNvSpPr>
            <a:spLocks noGrp="1"/>
          </p:cNvSpPr>
          <p:nvPr>
            <p:ph type="body" sz="quarter" idx="40"/>
          </p:nvPr>
        </p:nvSpPr>
        <p:spPr>
          <a:xfrm>
            <a:off x="3230348" y="3380087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금회 단수발생 확률 중심</a:t>
            </a:r>
          </a:p>
        </p:txBody>
      </p:sp>
      <p:sp>
        <p:nvSpPr>
          <p:cNvPr id="53" name="단계"/>
          <p:cNvSpPr/>
          <p:nvPr/>
        </p:nvSpPr>
        <p:spPr>
          <a:xfrm>
            <a:off x="5113043" y="3380087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4" name="단계"/>
          <p:cNvSpPr>
            <a:spLocks noGrp="1"/>
          </p:cNvSpPr>
          <p:nvPr>
            <p:ph type="body" sz="quarter" idx="41"/>
          </p:nvPr>
        </p:nvSpPr>
        <p:spPr>
          <a:xfrm>
            <a:off x="5113043" y="3380087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효율 취약시설 우선시행</a:t>
            </a:r>
          </a:p>
        </p:txBody>
      </p:sp>
      <p:sp>
        <p:nvSpPr>
          <p:cNvPr id="55" name="단계 삼각형"/>
          <p:cNvSpPr/>
          <p:nvPr/>
        </p:nvSpPr>
        <p:spPr>
          <a:xfrm>
            <a:off x="3230347" y="3380086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6" name="단계 삼각형"/>
          <p:cNvSpPr/>
          <p:nvPr/>
        </p:nvSpPr>
        <p:spPr>
          <a:xfrm>
            <a:off x="5113043" y="3380086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57" name="칸 본문"/>
          <p:cNvSpPr>
            <a:spLocks noGrp="1"/>
          </p:cNvSpPr>
          <p:nvPr>
            <p:ph type="body" sz="quarter" idx="42"/>
          </p:nvPr>
        </p:nvSpPr>
        <p:spPr>
          <a:xfrm>
            <a:off x="1358609" y="3632087"/>
            <a:ext cx="1860783" cy="668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기법: 그룹화 방식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공급량이 많을수록 유리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한계: 노후관 개량과 복선화 동일기준 → 사업특성 미반영</a:t>
            </a:r>
          </a:p>
        </p:txBody>
      </p:sp>
      <p:sp>
        <p:nvSpPr>
          <p:cNvPr id="58" name="칸 본문"/>
          <p:cNvSpPr>
            <a:spLocks noGrp="1"/>
          </p:cNvSpPr>
          <p:nvPr>
            <p:ph type="body" sz="quarter" idx="43"/>
          </p:nvPr>
        </p:nvSpPr>
        <p:spPr>
          <a:xfrm>
            <a:off x="3241304" y="3632087"/>
            <a:ext cx="1860783" cy="668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기법: AHP 가중치 방식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노후도와 단수위험도 우선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개선: 사업별 별도 기준 마련 → 우선순위 의사결정 정교화</a:t>
            </a:r>
          </a:p>
        </p:txBody>
      </p:sp>
      <p:cxnSp>
        <p:nvCxnSpPr>
          <p:cNvPr id="59" name="Connector 39"/>
          <p:cNvCxnSpPr/>
          <p:nvPr/>
        </p:nvCxnSpPr>
        <p:spPr>
          <a:xfrm>
            <a:off x="3230348" y="3664957"/>
            <a:ext cx="0" cy="60260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0" name="칸 본문"/>
          <p:cNvSpPr>
            <a:spLocks noGrp="1"/>
          </p:cNvSpPr>
          <p:nvPr>
            <p:ph type="body" sz="quarter" idx="44"/>
          </p:nvPr>
        </p:nvSpPr>
        <p:spPr>
          <a:xfrm>
            <a:off x="5124000" y="3632087"/>
            <a:ext cx="1860783" cy="668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단수 위험이 높은 시설에 선투자하여 투자 효율성 제고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지역사업 포함 30건 우선순위 상향 조정</a:t>
            </a:r>
          </a:p>
        </p:txBody>
      </p:sp>
      <p:cxnSp>
        <p:nvCxnSpPr>
          <p:cNvPr id="61" name="Connector 41"/>
          <p:cNvCxnSpPr/>
          <p:nvPr/>
        </p:nvCxnSpPr>
        <p:spPr>
          <a:xfrm>
            <a:off x="5113043" y="3664957"/>
            <a:ext cx="0" cy="60260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2" name="핵심성과 박스"/>
          <p:cNvSpPr/>
          <p:nvPr/>
        </p:nvSpPr>
        <p:spPr>
          <a:xfrm>
            <a:off x="723130" y="4410000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63" name="핵심성과 라벨"/>
          <p:cNvSpPr/>
          <p:nvPr/>
        </p:nvSpPr>
        <p:spPr>
          <a:xfrm>
            <a:off x="756000" y="4448348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64" name="핵심성과 라벨"/>
          <p:cNvSpPr>
            <a:spLocks noGrp="1"/>
          </p:cNvSpPr>
          <p:nvPr>
            <p:ph type="body" sz="quarter" idx="45"/>
          </p:nvPr>
        </p:nvSpPr>
        <p:spPr>
          <a:xfrm>
            <a:off x="756000" y="4448348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65" name="핵심성과 문구"/>
          <p:cNvSpPr>
            <a:spLocks noGrp="1"/>
          </p:cNvSpPr>
          <p:nvPr>
            <p:ph type="body" sz="quarter" idx="46"/>
          </p:nvPr>
        </p:nvSpPr>
        <p:spPr>
          <a:xfrm>
            <a:off x="1501043" y="4426435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어려운 여건에서 노후관 개량, 복선화 등 60.8km 및 비상공급률 87.6%(목표 대비 100%) 달성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89 서사 · AI 정수장 Step-up(필요성 → 그간의 성과 | 한번 더 혁신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AI 정수장 Step-up, 상수도 全과정 AX 실현으로 자율운영체계 전환</a:t>
            </a:r>
          </a:p>
        </p:txBody>
      </p:sp>
      <p:sp>
        <p:nvSpPr>
          <p:cNvPr id="15" name="배너"/>
          <p:cNvSpPr/>
          <p:nvPr/>
        </p:nvSpPr>
        <p:spPr>
          <a:xfrm>
            <a:off x="536869" y="1117565"/>
            <a:ext cx="6300000" cy="273913"/>
          </a:xfrm>
          <a:custGeom>
            <a:avLst/>
            <a:gdLst/>
            <a:ahLst/>
            <a:cxnLst/>
            <a:rect l="l" t="t" r="r" b="b"/>
            <a:pathLst>
              <a:path w="6300000" h="273913">
                <a:moveTo>
                  <a:pt x="0" y="0"/>
                </a:moveTo>
                <a:lnTo>
                  <a:pt x="6300000" y="0"/>
                </a:lnTo>
                <a:lnTo>
                  <a:pt x="6234261" y="273913"/>
                </a:lnTo>
                <a:lnTo>
                  <a:pt x="65739" y="273913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6" name="태그"/>
          <p:cNvSpPr/>
          <p:nvPr/>
        </p:nvSpPr>
        <p:spPr>
          <a:xfrm>
            <a:off x="756000" y="1172348"/>
            <a:ext cx="438871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17" name="태그"/>
          <p:cNvSpPr>
            <a:spLocks noGrp="1"/>
          </p:cNvSpPr>
          <p:nvPr>
            <p:ph type="body" sz="quarter" idx="22"/>
          </p:nvPr>
        </p:nvSpPr>
        <p:spPr>
          <a:xfrm>
            <a:off x="756000" y="1172348"/>
            <a:ext cx="438871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필요성</a:t>
            </a:r>
          </a:p>
        </p:txBody>
      </p:sp>
      <p:sp>
        <p:nvSpPr>
          <p:cNvPr id="18" name="배너 글"/>
          <p:cNvSpPr>
            <a:spLocks noGrp="1"/>
          </p:cNvSpPr>
          <p:nvPr>
            <p:ph type="body" sz="quarter" idx="23"/>
          </p:nvPr>
        </p:nvSpPr>
        <p:spPr>
          <a:xfrm>
            <a:off x="1249654" y="1117565"/>
            <a:ext cx="5422868" cy="273913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400" b="1" spc="-7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인력 중심 대응의 한계 → AI 활용 의사결정 필요</a:t>
            </a:r>
          </a:p>
        </p:txBody>
      </p:sp>
      <p:sp>
        <p:nvSpPr>
          <p:cNvPr id="19" name="표 외곽"/>
          <p:cNvSpPr/>
          <p:nvPr/>
        </p:nvSpPr>
        <p:spPr>
          <a:xfrm>
            <a:off x="536870" y="1435304"/>
            <a:ext cx="6300000" cy="134217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0" name="레일"/>
          <p:cNvSpPr/>
          <p:nvPr/>
        </p:nvSpPr>
        <p:spPr>
          <a:xfrm>
            <a:off x="547826" y="1451739"/>
            <a:ext cx="580696" cy="1309304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4"/>
          </p:nvPr>
        </p:nvSpPr>
        <p:spPr>
          <a:xfrm>
            <a:off x="547826" y="1451739"/>
            <a:ext cx="580696" cy="1309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혁신</a:t>
            </a:r>
          </a:p>
        </p:txBody>
      </p:sp>
      <p:sp>
        <p:nvSpPr>
          <p:cNvPr id="22" name="머리칸"/>
          <p:cNvSpPr/>
          <p:nvPr/>
        </p:nvSpPr>
        <p:spPr>
          <a:xfrm>
            <a:off x="1161391" y="1473652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3" name="머리칸"/>
          <p:cNvSpPr>
            <a:spLocks noGrp="1"/>
          </p:cNvSpPr>
          <p:nvPr>
            <p:ph type="body" sz="quarter" idx="25"/>
          </p:nvPr>
        </p:nvSpPr>
        <p:spPr>
          <a:xfrm>
            <a:off x="1161391" y="1473652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그간의 성과  AI정수장(43개소) 구축</a:t>
            </a:r>
          </a:p>
        </p:txBody>
      </p:sp>
      <p:sp>
        <p:nvSpPr>
          <p:cNvPr id="24" name="머리칸"/>
          <p:cNvSpPr/>
          <p:nvPr/>
        </p:nvSpPr>
        <p:spPr>
          <a:xfrm>
            <a:off x="3985435" y="1473652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5" name="머리칸"/>
          <p:cNvSpPr>
            <a:spLocks noGrp="1"/>
          </p:cNvSpPr>
          <p:nvPr>
            <p:ph type="body" sz="quarter" idx="26"/>
          </p:nvPr>
        </p:nvSpPr>
        <p:spPr>
          <a:xfrm>
            <a:off x="3985435" y="1473652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한번 더 혁신!  글로벌 선도체계 확립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7"/>
          </p:nvPr>
        </p:nvSpPr>
        <p:spPr>
          <a:xfrm>
            <a:off x="1172348" y="1714696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AI정수장 AI자율운영 등 기술 도입·검증 주력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WEF 등대공장 선정(’23), 인도네시아 첫 사업(’24)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디지털전환: 관망·정수장 DT 구현, 자산관리체계(7개소) 시범구축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28"/>
          </p:nvPr>
        </p:nvSpPr>
        <p:spPr>
          <a:xfrm>
            <a:off x="3996391" y="1714696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앞선 기술인 AI정수장은 고도화·사업화로 격차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CEO 메시지: 새로운 기준을 만드는 선도자가 되는 것 AI 정수장은 첫 대답입니다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DX 성과는 AI와 접목, AX로 성장 가속 → 수도 특화 AX 계획을 국가 정책사업에 반영</a:t>
            </a:r>
          </a:p>
        </p:txBody>
      </p:sp>
      <p:cxnSp>
        <p:nvCxnSpPr>
          <p:cNvPr id="28" name="Connector 20"/>
          <p:cNvCxnSpPr/>
          <p:nvPr/>
        </p:nvCxnSpPr>
        <p:spPr>
          <a:xfrm>
            <a:off x="3985435" y="1747565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90 서사 · AI(정) 고도화와 기술 사업화(로드맵 → 고도화 두 패널 → 성과 → 사업화 표준선도 · 국내외 확산 → 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3829507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AI(정) 고도화와 기술 사업화를 통해 글로벌 선도기술로 자리매김</a:t>
            </a:r>
          </a:p>
        </p:txBody>
      </p:sp>
      <p:sp>
        <p:nvSpPr>
          <p:cNvPr id="11" name="태그칩"/>
          <p:cNvSpPr/>
          <p:nvPr/>
        </p:nvSpPr>
        <p:spPr>
          <a:xfrm>
            <a:off x="4651246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4651246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태그칩"/>
          <p:cNvSpPr/>
          <p:nvPr/>
        </p:nvSpPr>
        <p:spPr>
          <a:xfrm>
            <a:off x="5202367" y="810783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4" name="태그칩"/>
          <p:cNvSpPr>
            <a:spLocks noGrp="1"/>
          </p:cNvSpPr>
          <p:nvPr>
            <p:ph type="body" sz="quarter" idx="22"/>
          </p:nvPr>
        </p:nvSpPr>
        <p:spPr>
          <a:xfrm>
            <a:off x="5202367" y="810783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5" name="표 외곽"/>
          <p:cNvSpPr/>
          <p:nvPr/>
        </p:nvSpPr>
        <p:spPr>
          <a:xfrm>
            <a:off x="723130" y="1062783"/>
            <a:ext cx="6300000" cy="86008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레일"/>
          <p:cNvSpPr/>
          <p:nvPr/>
        </p:nvSpPr>
        <p:spPr>
          <a:xfrm>
            <a:off x="734087" y="1079217"/>
            <a:ext cx="580696" cy="827217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레일"/>
          <p:cNvSpPr>
            <a:spLocks noGrp="1"/>
          </p:cNvSpPr>
          <p:nvPr>
            <p:ph type="body" sz="quarter" idx="23"/>
          </p:nvPr>
        </p:nvSpPr>
        <p:spPr>
          <a:xfrm>
            <a:off x="734087" y="1079217"/>
            <a:ext cx="580696" cy="82721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AI정수장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로드맵</a:t>
            </a:r>
          </a:p>
        </p:txBody>
      </p:sp>
      <p:sp>
        <p:nvSpPr>
          <p:cNvPr id="18" name="단계"/>
          <p:cNvSpPr/>
          <p:nvPr/>
        </p:nvSpPr>
        <p:spPr>
          <a:xfrm>
            <a:off x="1347652" y="1101130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9" name="단계"/>
          <p:cNvSpPr>
            <a:spLocks noGrp="1"/>
          </p:cNvSpPr>
          <p:nvPr>
            <p:ph type="body" sz="quarter" idx="24"/>
          </p:nvPr>
        </p:nvSpPr>
        <p:spPr>
          <a:xfrm>
            <a:off x="1347652" y="110113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~’24년 AI기술 도입·검증 2.0</a:t>
            </a:r>
          </a:p>
        </p:txBody>
      </p:sp>
      <p:sp>
        <p:nvSpPr>
          <p:cNvPr id="20" name="단계"/>
          <p:cNvSpPr/>
          <p:nvPr/>
        </p:nvSpPr>
        <p:spPr>
          <a:xfrm>
            <a:off x="3230348" y="1101130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1" name="단계"/>
          <p:cNvSpPr>
            <a:spLocks noGrp="1"/>
          </p:cNvSpPr>
          <p:nvPr>
            <p:ph type="body" sz="quarter" idx="25"/>
          </p:nvPr>
        </p:nvSpPr>
        <p:spPr>
          <a:xfrm>
            <a:off x="3230348" y="110113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고도화·사업화 확대 2.0+</a:t>
            </a:r>
          </a:p>
        </p:txBody>
      </p:sp>
      <p:sp>
        <p:nvSpPr>
          <p:cNvPr id="22" name="단계"/>
          <p:cNvSpPr/>
          <p:nvPr/>
        </p:nvSpPr>
        <p:spPr>
          <a:xfrm>
            <a:off x="5113043" y="1101130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3" name="단계"/>
          <p:cNvSpPr>
            <a:spLocks noGrp="1"/>
          </p:cNvSpPr>
          <p:nvPr>
            <p:ph type="body" sz="quarter" idx="26"/>
          </p:nvPr>
        </p:nvSpPr>
        <p:spPr>
          <a:xfrm>
            <a:off x="5113043" y="110113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~’30년 완전 자율운영 3.0</a:t>
            </a:r>
          </a:p>
        </p:txBody>
      </p:sp>
      <p:sp>
        <p:nvSpPr>
          <p:cNvPr id="24" name="단계 삼각형"/>
          <p:cNvSpPr/>
          <p:nvPr/>
        </p:nvSpPr>
        <p:spPr>
          <a:xfrm>
            <a:off x="3230347" y="1101130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5" name="단계 삼각형"/>
          <p:cNvSpPr/>
          <p:nvPr/>
        </p:nvSpPr>
        <p:spPr>
          <a:xfrm>
            <a:off x="5113043" y="1101130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7"/>
          </p:nvPr>
        </p:nvSpPr>
        <p:spPr>
          <a:xfrm>
            <a:off x="1358609" y="1353130"/>
            <a:ext cx="1860783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예측 기반 의사결정(설명 한계)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정수공정 중심 AI 운영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28"/>
          </p:nvPr>
        </p:nvSpPr>
        <p:spPr>
          <a:xfrm>
            <a:off x="3241304" y="1353130"/>
            <a:ext cx="1860783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근거를 설명하는 eXplainable AI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취수, 관망포함 피지컬 AI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국제표준 및 사업화(8건) 확대</a:t>
            </a:r>
          </a:p>
        </p:txBody>
      </p:sp>
      <p:cxnSp>
        <p:nvCxnSpPr>
          <p:cNvPr id="28" name="Connector 16"/>
          <p:cNvCxnSpPr/>
          <p:nvPr/>
        </p:nvCxnSpPr>
        <p:spPr>
          <a:xfrm>
            <a:off x="3230348" y="1386000"/>
            <a:ext cx="0" cy="482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5124000" y="1353130"/>
            <a:ext cx="1860783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AI·DT·로봇 융합운영으로 全 수도시설 완전자율운영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국제표준 제정, 글로벌 확대</a:t>
            </a:r>
          </a:p>
        </p:txBody>
      </p:sp>
      <p:cxnSp>
        <p:nvCxnSpPr>
          <p:cNvPr id="30" name="Connector 18"/>
          <p:cNvCxnSpPr/>
          <p:nvPr/>
        </p:nvCxnSpPr>
        <p:spPr>
          <a:xfrm>
            <a:off x="5113043" y="1386000"/>
            <a:ext cx="0" cy="482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번호"/>
          <p:cNvSpPr>
            <a:spLocks noGrp="1"/>
          </p:cNvSpPr>
          <p:nvPr>
            <p:ph type="body" sz="quarter" idx="30"/>
          </p:nvPr>
        </p:nvSpPr>
        <p:spPr>
          <a:xfrm>
            <a:off x="723130" y="2043391"/>
            <a:ext cx="191118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■</a:t>
            </a:r>
          </a:p>
        </p:txBody>
      </p:sp>
      <p:sp>
        <p:nvSpPr>
          <p:cNvPr id="32" name="분야 박스"/>
          <p:cNvSpPr/>
          <p:nvPr/>
        </p:nvSpPr>
        <p:spPr>
          <a:xfrm>
            <a:off x="914248" y="2076261"/>
            <a:ext cx="482697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3" name="분야 박스"/>
          <p:cNvSpPr>
            <a:spLocks noGrp="1"/>
          </p:cNvSpPr>
          <p:nvPr>
            <p:ph type="body" sz="quarter" idx="31"/>
          </p:nvPr>
        </p:nvSpPr>
        <p:spPr>
          <a:xfrm>
            <a:off x="914248" y="2076261"/>
            <a:ext cx="48269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고도화</a:t>
            </a:r>
          </a:p>
        </p:txBody>
      </p:sp>
      <p:sp>
        <p:nvSpPr>
          <p:cNvPr id="34" name="형광 밑줄"/>
          <p:cNvSpPr/>
          <p:nvPr/>
        </p:nvSpPr>
        <p:spPr>
          <a:xfrm>
            <a:off x="1462685" y="2196783"/>
            <a:ext cx="4566479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5" name="소제목"/>
          <p:cNvSpPr>
            <a:spLocks noGrp="1"/>
          </p:cNvSpPr>
          <p:nvPr>
            <p:ph type="body" sz="quarter" idx="32"/>
          </p:nvPr>
        </p:nvSpPr>
        <p:spPr>
          <a:xfrm>
            <a:off x="1462685" y="2043391"/>
            <a:ext cx="5560446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분석/의사결정 지원을 넘어 행동하는 ‘AI 정수장 2.0+’ 현안 해결형 AI로 진화</a:t>
            </a:r>
          </a:p>
        </p:txBody>
      </p:sp>
      <p:sp>
        <p:nvSpPr>
          <p:cNvPr id="36" name="패널 외곽"/>
          <p:cNvSpPr/>
          <p:nvPr/>
        </p:nvSpPr>
        <p:spPr>
          <a:xfrm>
            <a:off x="723130" y="2339217"/>
            <a:ext cx="3128087" cy="986087"/>
          </a:xfrm>
          <a:prstGeom prst="rect">
            <a:avLst/>
          </a:prstGeom>
          <a:solidFill>
            <a:srgbClr val="FFFFFF"/>
          </a:solidFill>
          <a:ln w="12700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7" name="패널 머리"/>
          <p:cNvSpPr/>
          <p:nvPr/>
        </p:nvSpPr>
        <p:spPr>
          <a:xfrm>
            <a:off x="723130" y="2339217"/>
            <a:ext cx="3128087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8" name="패널 머리"/>
          <p:cNvSpPr>
            <a:spLocks noGrp="1"/>
          </p:cNvSpPr>
          <p:nvPr>
            <p:ph type="body" sz="quarter" idx="33"/>
          </p:nvPr>
        </p:nvSpPr>
        <p:spPr>
          <a:xfrm>
            <a:off x="723130" y="2339217"/>
            <a:ext cx="31280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설명가능 AI(XAI) 도입</a:t>
            </a:r>
          </a:p>
        </p:txBody>
      </p:sp>
      <p:sp>
        <p:nvSpPr>
          <p:cNvPr id="39" name="패널 본문"/>
          <p:cNvSpPr>
            <a:spLocks noGrp="1"/>
          </p:cNvSpPr>
          <p:nvPr>
            <p:ph type="body" sz="quarter" idx="34"/>
          </p:nvPr>
        </p:nvSpPr>
        <p:spPr>
          <a:xfrm>
            <a:off x="745043" y="2580261"/>
            <a:ext cx="3084261" cy="4820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XAI 개발·시범운영(4개 정수장), 국제발명전시회 금상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운영 가이드라인 제정 → 운영 표준화</a:t>
            </a:r>
          </a:p>
        </p:txBody>
      </p:sp>
      <p:sp>
        <p:nvSpPr>
          <p:cNvPr id="40" name="요약 바"/>
          <p:cNvSpPr/>
          <p:nvPr/>
        </p:nvSpPr>
        <p:spPr>
          <a:xfrm>
            <a:off x="745043" y="3084261"/>
            <a:ext cx="3084261" cy="219130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1" name="요약 바"/>
          <p:cNvSpPr>
            <a:spLocks noGrp="1"/>
          </p:cNvSpPr>
          <p:nvPr>
            <p:ph type="body" sz="quarter" idx="35"/>
          </p:nvPr>
        </p:nvSpPr>
        <p:spPr>
          <a:xfrm>
            <a:off x="745043" y="3084261"/>
            <a:ext cx="3084261" cy="219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XAI 도입 후 약품량을 4ppm 상향</a:t>
            </a:r>
          </a:p>
        </p:txBody>
      </p:sp>
      <p:sp>
        <p:nvSpPr>
          <p:cNvPr id="42" name="패널 외곽"/>
          <p:cNvSpPr/>
          <p:nvPr/>
        </p:nvSpPr>
        <p:spPr>
          <a:xfrm>
            <a:off x="3895043" y="2339217"/>
            <a:ext cx="3128087" cy="986087"/>
          </a:xfrm>
          <a:prstGeom prst="rect">
            <a:avLst/>
          </a:prstGeom>
          <a:solidFill>
            <a:srgbClr val="FFFFFF"/>
          </a:solidFill>
          <a:ln w="12700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3" name="패널 머리"/>
          <p:cNvSpPr/>
          <p:nvPr/>
        </p:nvSpPr>
        <p:spPr>
          <a:xfrm>
            <a:off x="3895043" y="2339217"/>
            <a:ext cx="3128087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4" name="패널 머리"/>
          <p:cNvSpPr>
            <a:spLocks noGrp="1"/>
          </p:cNvSpPr>
          <p:nvPr>
            <p:ph type="body" sz="quarter" idx="36"/>
          </p:nvPr>
        </p:nvSpPr>
        <p:spPr>
          <a:xfrm>
            <a:off x="3895043" y="2339217"/>
            <a:ext cx="31280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Physical AI 확대</a:t>
            </a:r>
          </a:p>
        </p:txBody>
      </p:sp>
      <p:sp>
        <p:nvSpPr>
          <p:cNvPr id="45" name="패널 본문"/>
          <p:cNvSpPr>
            <a:spLocks noGrp="1"/>
          </p:cNvSpPr>
          <p:nvPr>
            <p:ph type="body" sz="quarter" idx="37"/>
          </p:nvPr>
        </p:nvSpPr>
        <p:spPr>
          <a:xfrm>
            <a:off x="3916957" y="2580261"/>
            <a:ext cx="3084261" cy="482087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정수장 → 全 공정(취수장+관망) AI 예측·연계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드론·로봇의 시범운영 확대 및 성능검증</a:t>
            </a:r>
          </a:p>
        </p:txBody>
      </p:sp>
      <p:sp>
        <p:nvSpPr>
          <p:cNvPr id="46" name="요약 바"/>
          <p:cNvSpPr/>
          <p:nvPr/>
        </p:nvSpPr>
        <p:spPr>
          <a:xfrm>
            <a:off x="3916957" y="3084261"/>
            <a:ext cx="3084261" cy="219130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7" name="요약 바"/>
          <p:cNvSpPr>
            <a:spLocks noGrp="1"/>
          </p:cNvSpPr>
          <p:nvPr>
            <p:ph type="body" sz="quarter" idx="38"/>
          </p:nvPr>
        </p:nvSpPr>
        <p:spPr>
          <a:xfrm>
            <a:off x="3916957" y="3084261"/>
            <a:ext cx="3084261" cy="219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AI취수원 · AI정수장 · AI관망</a:t>
            </a:r>
          </a:p>
        </p:txBody>
      </p:sp>
      <p:sp>
        <p:nvSpPr>
          <p:cNvPr id="48" name="핵심성과 박스"/>
          <p:cNvSpPr/>
          <p:nvPr/>
        </p:nvSpPr>
        <p:spPr>
          <a:xfrm>
            <a:off x="723130" y="3412957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9" name="핵심성과 라벨"/>
          <p:cNvSpPr/>
          <p:nvPr/>
        </p:nvSpPr>
        <p:spPr>
          <a:xfrm>
            <a:off x="756000" y="3451304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50" name="핵심성과 라벨"/>
          <p:cNvSpPr>
            <a:spLocks noGrp="1"/>
          </p:cNvSpPr>
          <p:nvPr>
            <p:ph type="body" sz="quarter" idx="39"/>
          </p:nvPr>
        </p:nvSpPr>
        <p:spPr>
          <a:xfrm>
            <a:off x="756000" y="3451304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1" name="핵심성과 문구"/>
          <p:cNvSpPr>
            <a:spLocks noGrp="1"/>
          </p:cNvSpPr>
          <p:nvPr>
            <p:ph type="body" sz="quarter" idx="40"/>
          </p:nvPr>
        </p:nvSpPr>
        <p:spPr>
          <a:xfrm>
            <a:off x="1501043" y="3429391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AI 정수장 고도화로 운영원가 110억원/연 절감, 운영 표준화를 통해 사업화 기반 강화</a:t>
            </a:r>
          </a:p>
        </p:txBody>
      </p:sp>
      <p:sp>
        <p:nvSpPr>
          <p:cNvPr id="52" name="번호"/>
          <p:cNvSpPr>
            <a:spLocks noGrp="1"/>
          </p:cNvSpPr>
          <p:nvPr>
            <p:ph type="body" sz="quarter" idx="41"/>
          </p:nvPr>
        </p:nvSpPr>
        <p:spPr>
          <a:xfrm>
            <a:off x="723130" y="3844957"/>
            <a:ext cx="191118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■</a:t>
            </a:r>
          </a:p>
        </p:txBody>
      </p:sp>
      <p:sp>
        <p:nvSpPr>
          <p:cNvPr id="53" name="분야 박스"/>
          <p:cNvSpPr/>
          <p:nvPr/>
        </p:nvSpPr>
        <p:spPr>
          <a:xfrm>
            <a:off x="914248" y="3877826"/>
            <a:ext cx="482697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4" name="분야 박스"/>
          <p:cNvSpPr>
            <a:spLocks noGrp="1"/>
          </p:cNvSpPr>
          <p:nvPr>
            <p:ph type="body" sz="quarter" idx="42"/>
          </p:nvPr>
        </p:nvSpPr>
        <p:spPr>
          <a:xfrm>
            <a:off x="914248" y="3877826"/>
            <a:ext cx="48269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사업화</a:t>
            </a:r>
          </a:p>
        </p:txBody>
      </p:sp>
      <p:sp>
        <p:nvSpPr>
          <p:cNvPr id="55" name="형광 밑줄"/>
          <p:cNvSpPr/>
          <p:nvPr/>
        </p:nvSpPr>
        <p:spPr>
          <a:xfrm>
            <a:off x="1462685" y="3998348"/>
            <a:ext cx="4381921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6" name="소제목"/>
          <p:cNvSpPr>
            <a:spLocks noGrp="1"/>
          </p:cNvSpPr>
          <p:nvPr>
            <p:ph type="body" sz="quarter" idx="43"/>
          </p:nvPr>
        </p:nvSpPr>
        <p:spPr>
          <a:xfrm>
            <a:off x="1462685" y="3844957"/>
            <a:ext cx="5560446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세계가 인정한 AI 정수장, 핵심 기술력을 기반으로 글로벌 기술 사업화 확대</a:t>
            </a:r>
          </a:p>
        </p:txBody>
      </p:sp>
      <p:sp>
        <p:nvSpPr>
          <p:cNvPr id="57" name="표 외곽"/>
          <p:cNvSpPr/>
          <p:nvPr/>
        </p:nvSpPr>
        <p:spPr>
          <a:xfrm>
            <a:off x="723130" y="4129826"/>
            <a:ext cx="6300000" cy="192287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8" name="레일"/>
          <p:cNvSpPr/>
          <p:nvPr/>
        </p:nvSpPr>
        <p:spPr>
          <a:xfrm>
            <a:off x="734087" y="4146261"/>
            <a:ext cx="580696" cy="93678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9" name="레일"/>
          <p:cNvSpPr>
            <a:spLocks noGrp="1"/>
          </p:cNvSpPr>
          <p:nvPr>
            <p:ph type="body" sz="quarter" idx="44"/>
          </p:nvPr>
        </p:nvSpPr>
        <p:spPr>
          <a:xfrm>
            <a:off x="734087" y="4146261"/>
            <a:ext cx="580696" cy="936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표준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선도</a:t>
            </a:r>
          </a:p>
        </p:txBody>
      </p:sp>
      <p:sp>
        <p:nvSpPr>
          <p:cNvPr id="60" name="머리칸"/>
          <p:cNvSpPr/>
          <p:nvPr/>
        </p:nvSpPr>
        <p:spPr>
          <a:xfrm>
            <a:off x="1347652" y="4168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61" name="머리칸"/>
          <p:cNvSpPr>
            <a:spLocks noGrp="1"/>
          </p:cNvSpPr>
          <p:nvPr>
            <p:ph type="body" sz="quarter" idx="45"/>
          </p:nvPr>
        </p:nvSpPr>
        <p:spPr>
          <a:xfrm>
            <a:off x="1347652" y="4168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국제 규범으로 채택</a:t>
            </a:r>
          </a:p>
        </p:txBody>
      </p:sp>
      <p:sp>
        <p:nvSpPr>
          <p:cNvPr id="62" name="머리칸"/>
          <p:cNvSpPr/>
          <p:nvPr/>
        </p:nvSpPr>
        <p:spPr>
          <a:xfrm>
            <a:off x="3230348" y="4168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63" name="머리칸"/>
          <p:cNvSpPr>
            <a:spLocks noGrp="1"/>
          </p:cNvSpPr>
          <p:nvPr>
            <p:ph type="body" sz="quarter" idx="46"/>
          </p:nvPr>
        </p:nvSpPr>
        <p:spPr>
          <a:xfrm>
            <a:off x="3230348" y="4168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정부10대 AI선도기관 선정!</a:t>
            </a:r>
          </a:p>
        </p:txBody>
      </p:sp>
      <p:sp>
        <p:nvSpPr>
          <p:cNvPr id="64" name="머리칸"/>
          <p:cNvSpPr/>
          <p:nvPr/>
        </p:nvSpPr>
        <p:spPr>
          <a:xfrm>
            <a:off x="5113043" y="4168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65" name="머리칸"/>
          <p:cNvSpPr>
            <a:spLocks noGrp="1"/>
          </p:cNvSpPr>
          <p:nvPr>
            <p:ph type="body" sz="quarter" idx="47"/>
          </p:nvPr>
        </p:nvSpPr>
        <p:spPr>
          <a:xfrm>
            <a:off x="5113043" y="4168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Biz 모델 우수성 국제 인증</a:t>
            </a:r>
          </a:p>
        </p:txBody>
      </p:sp>
      <p:sp>
        <p:nvSpPr>
          <p:cNvPr id="66" name="칸 본문"/>
          <p:cNvSpPr>
            <a:spLocks noGrp="1"/>
          </p:cNvSpPr>
          <p:nvPr>
            <p:ph type="body" sz="quarter" idx="48"/>
          </p:nvPr>
        </p:nvSpPr>
        <p:spPr>
          <a:xfrm>
            <a:off x="1358609" y="4409217"/>
            <a:ext cx="1860783" cy="668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제안(’23) → 개발(’24) → 심의(’25) → 위원회 승인(’26.1) → 최종안 → 제정(’27)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국제표준특허 2건 출원</a:t>
            </a:r>
          </a:p>
        </p:txBody>
      </p:sp>
      <p:sp>
        <p:nvSpPr>
          <p:cNvPr id="67" name="칸 본문"/>
          <p:cNvSpPr>
            <a:spLocks noGrp="1"/>
          </p:cNvSpPr>
          <p:nvPr>
            <p:ph type="body" sz="quarter" idx="49"/>
          </p:nvPr>
        </p:nvSpPr>
        <p:spPr>
          <a:xfrm>
            <a:off x="3241304" y="4409217"/>
            <a:ext cx="1860783" cy="668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확산 주도·기준점 제시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동반성장 기업기술이전 35건</a:t>
            </a:r>
          </a:p>
        </p:txBody>
      </p:sp>
      <p:cxnSp>
        <p:nvCxnSpPr>
          <p:cNvPr id="68" name="Connector 45"/>
          <p:cNvCxnSpPr/>
          <p:nvPr/>
        </p:nvCxnSpPr>
        <p:spPr>
          <a:xfrm>
            <a:off x="3230348" y="4442087"/>
            <a:ext cx="0" cy="602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9" name="칸 본문"/>
          <p:cNvSpPr>
            <a:spLocks noGrp="1"/>
          </p:cNvSpPr>
          <p:nvPr>
            <p:ph type="body" sz="quarter" idx="50"/>
          </p:nvPr>
        </p:nvSpPr>
        <p:spPr>
          <a:xfrm>
            <a:off x="5124000" y="4409217"/>
            <a:ext cx="1860783" cy="668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투자가치 OECD 인증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 수요 활성화</a:t>
            </a:r>
          </a:p>
        </p:txBody>
      </p:sp>
      <p:cxnSp>
        <p:nvCxnSpPr>
          <p:cNvPr id="70" name="Connector 47"/>
          <p:cNvCxnSpPr/>
          <p:nvPr/>
        </p:nvCxnSpPr>
        <p:spPr>
          <a:xfrm>
            <a:off x="5113043" y="4442087"/>
            <a:ext cx="0" cy="602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1" name="레일"/>
          <p:cNvSpPr/>
          <p:nvPr/>
        </p:nvSpPr>
        <p:spPr>
          <a:xfrm>
            <a:off x="734087" y="5099478"/>
            <a:ext cx="580696" cy="93678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2" name="레일"/>
          <p:cNvSpPr>
            <a:spLocks noGrp="1"/>
          </p:cNvSpPr>
          <p:nvPr>
            <p:ph type="body" sz="quarter" idx="51"/>
          </p:nvPr>
        </p:nvSpPr>
        <p:spPr>
          <a:xfrm>
            <a:off x="734087" y="5099478"/>
            <a:ext cx="580696" cy="936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국내외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확산</a:t>
            </a:r>
          </a:p>
        </p:txBody>
      </p:sp>
      <p:sp>
        <p:nvSpPr>
          <p:cNvPr id="73" name="레일 삼각형"/>
          <p:cNvSpPr/>
          <p:nvPr/>
        </p:nvSpPr>
        <p:spPr>
          <a:xfrm>
            <a:off x="734086" y="5099478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4" name="머리칸"/>
          <p:cNvSpPr/>
          <p:nvPr/>
        </p:nvSpPr>
        <p:spPr>
          <a:xfrm>
            <a:off x="1347652" y="512139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5" name="머리칸"/>
          <p:cNvSpPr>
            <a:spLocks noGrp="1"/>
          </p:cNvSpPr>
          <p:nvPr>
            <p:ph type="body" sz="quarter" idx="52"/>
          </p:nvPr>
        </p:nvSpPr>
        <p:spPr>
          <a:xfrm>
            <a:off x="1347652" y="512139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인정  ‘First Mover’ 위상 제고</a:t>
            </a:r>
          </a:p>
        </p:txBody>
      </p:sp>
      <p:sp>
        <p:nvSpPr>
          <p:cNvPr id="76" name="머리칸"/>
          <p:cNvSpPr/>
          <p:nvPr/>
        </p:nvSpPr>
        <p:spPr>
          <a:xfrm>
            <a:off x="3230348" y="512139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7" name="머리칸"/>
          <p:cNvSpPr>
            <a:spLocks noGrp="1"/>
          </p:cNvSpPr>
          <p:nvPr>
            <p:ph type="body" sz="quarter" idx="53"/>
          </p:nvPr>
        </p:nvSpPr>
        <p:spPr>
          <a:xfrm>
            <a:off x="3230348" y="512139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국내  국가 상수도 선진화</a:t>
            </a:r>
          </a:p>
        </p:txBody>
      </p:sp>
      <p:sp>
        <p:nvSpPr>
          <p:cNvPr id="78" name="머리칸"/>
          <p:cNvSpPr/>
          <p:nvPr/>
        </p:nvSpPr>
        <p:spPr>
          <a:xfrm>
            <a:off x="5113043" y="512139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9" name="머리칸"/>
          <p:cNvSpPr>
            <a:spLocks noGrp="1"/>
          </p:cNvSpPr>
          <p:nvPr>
            <p:ph type="body" sz="quarter" idx="54"/>
          </p:nvPr>
        </p:nvSpPr>
        <p:spPr>
          <a:xfrm>
            <a:off x="5113043" y="512139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국외  글로벌 시장 개척</a:t>
            </a:r>
          </a:p>
        </p:txBody>
      </p:sp>
      <p:sp>
        <p:nvSpPr>
          <p:cNvPr id="80" name="칸 본문"/>
          <p:cNvSpPr>
            <a:spLocks noGrp="1"/>
          </p:cNvSpPr>
          <p:nvPr>
            <p:ph type="body" sz="quarter" idx="55"/>
          </p:nvPr>
        </p:nvSpPr>
        <p:spPr>
          <a:xfrm>
            <a:off x="1358609" y="5362435"/>
            <a:ext cx="1860783" cy="668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국내 최고권위 산업 기술상 ‘장영실상’ 수상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물관리 혁신을 국가 핵심기술력으로 평가</a:t>
            </a:r>
          </a:p>
        </p:txBody>
      </p:sp>
      <p:sp>
        <p:nvSpPr>
          <p:cNvPr id="81" name="칸 본문"/>
          <p:cNvSpPr>
            <a:spLocks noGrp="1"/>
          </p:cNvSpPr>
          <p:nvPr>
            <p:ph type="body" sz="quarter" idx="56"/>
          </p:nvPr>
        </p:nvSpPr>
        <p:spPr>
          <a:xfrm>
            <a:off x="3241304" y="5362435"/>
            <a:ext cx="1860783" cy="668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부산시 수도 AX MOU 체결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수원시·함평군·광해공단(타분야) AI 기술 지원</a:t>
            </a:r>
          </a:p>
        </p:txBody>
      </p:sp>
      <p:cxnSp>
        <p:nvCxnSpPr>
          <p:cNvPr id="82" name="Connector 55"/>
          <p:cNvCxnSpPr/>
          <p:nvPr/>
        </p:nvCxnSpPr>
        <p:spPr>
          <a:xfrm>
            <a:off x="3230348" y="5395304"/>
            <a:ext cx="0" cy="602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3" name="칸 본문"/>
          <p:cNvSpPr>
            <a:spLocks noGrp="1"/>
          </p:cNvSpPr>
          <p:nvPr>
            <p:ph type="body" sz="quarter" idx="57"/>
          </p:nvPr>
        </p:nvSpPr>
        <p:spPr>
          <a:xfrm>
            <a:off x="5124000" y="5362435"/>
            <a:ext cx="1860783" cy="668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‘베트남 켄동 정수장’ 기술 수출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기술 컨설팅 3건</a:t>
            </a:r>
          </a:p>
        </p:txBody>
      </p:sp>
      <p:cxnSp>
        <p:nvCxnSpPr>
          <p:cNvPr id="84" name="Connector 57"/>
          <p:cNvCxnSpPr/>
          <p:nvPr/>
        </p:nvCxnSpPr>
        <p:spPr>
          <a:xfrm>
            <a:off x="5113043" y="5395304"/>
            <a:ext cx="0" cy="602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5" name="핵심성과 박스"/>
          <p:cNvSpPr/>
          <p:nvPr/>
        </p:nvSpPr>
        <p:spPr>
          <a:xfrm>
            <a:off x="723130" y="6140348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6" name="핵심성과 라벨"/>
          <p:cNvSpPr/>
          <p:nvPr/>
        </p:nvSpPr>
        <p:spPr>
          <a:xfrm>
            <a:off x="756000" y="6178696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87" name="핵심성과 라벨"/>
          <p:cNvSpPr>
            <a:spLocks noGrp="1"/>
          </p:cNvSpPr>
          <p:nvPr>
            <p:ph type="body" sz="quarter" idx="58"/>
          </p:nvPr>
        </p:nvSpPr>
        <p:spPr>
          <a:xfrm>
            <a:off x="756000" y="6178696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88" name="핵심성과 문구"/>
          <p:cNvSpPr>
            <a:spLocks noGrp="1"/>
          </p:cNvSpPr>
          <p:nvPr>
            <p:ph type="body" sz="quarter" idx="59"/>
          </p:nvPr>
        </p:nvSpPr>
        <p:spPr>
          <a:xfrm>
            <a:off x="1501043" y="6156783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사업화 8건+국제 표준화(ISO)로 글로벌 사업화 기반 강화, 지자체 확대로 서비스 격차 해소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91 서사 · 수도 AX 슬로건 도약(AI 전환계획: 목표·비전·공정 → 로드맵 → 주요과제 → AI 개발성과 4카드 → 특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5441129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디지털 전환(DX)을 넘어, AI가 융합된 미래 상수도 ‘AI for water’ 수도AX 슬로건으로 도약</a:t>
            </a:r>
          </a:p>
        </p:txBody>
      </p:sp>
      <p:sp>
        <p:nvSpPr>
          <p:cNvPr id="12" name="태그칩"/>
          <p:cNvSpPr/>
          <p:nvPr/>
        </p:nvSpPr>
        <p:spPr>
          <a:xfrm>
            <a:off x="6076608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6076608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번호"/>
          <p:cNvSpPr>
            <a:spLocks noGrp="1"/>
          </p:cNvSpPr>
          <p:nvPr>
            <p:ph type="body" sz="quarter" idx="22"/>
          </p:nvPr>
        </p:nvSpPr>
        <p:spPr>
          <a:xfrm>
            <a:off x="536870" y="1128522"/>
            <a:ext cx="191118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■</a:t>
            </a:r>
          </a:p>
        </p:txBody>
      </p:sp>
      <p:sp>
        <p:nvSpPr>
          <p:cNvPr id="15" name="분야 박스"/>
          <p:cNvSpPr/>
          <p:nvPr/>
        </p:nvSpPr>
        <p:spPr>
          <a:xfrm>
            <a:off x="727987" y="1161391"/>
            <a:ext cx="746638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분야 박스"/>
          <p:cNvSpPr>
            <a:spLocks noGrp="1"/>
          </p:cNvSpPr>
          <p:nvPr>
            <p:ph type="body" sz="quarter" idx="23"/>
          </p:nvPr>
        </p:nvSpPr>
        <p:spPr>
          <a:xfrm>
            <a:off x="727987" y="1161391"/>
            <a:ext cx="74663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전환계획</a:t>
            </a:r>
          </a:p>
        </p:txBody>
      </p:sp>
      <p:sp>
        <p:nvSpPr>
          <p:cNvPr id="17" name="형광 밑줄"/>
          <p:cNvSpPr/>
          <p:nvPr/>
        </p:nvSpPr>
        <p:spPr>
          <a:xfrm>
            <a:off x="1540364" y="1281913"/>
            <a:ext cx="4332357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소제목"/>
          <p:cNvSpPr>
            <a:spLocks noGrp="1"/>
          </p:cNvSpPr>
          <p:nvPr>
            <p:ph type="body" sz="quarter" idx="24"/>
          </p:nvPr>
        </p:nvSpPr>
        <p:spPr>
          <a:xfrm>
            <a:off x="1540364" y="1128522"/>
            <a:ext cx="5296505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취수원부터 관말까지, 물공급 전과정 AI 내재화를 위한 수도 AX 계획 마련</a:t>
            </a:r>
          </a:p>
        </p:txBody>
      </p:sp>
      <p:sp>
        <p:nvSpPr>
          <p:cNvPr id="19" name="표 외곽"/>
          <p:cNvSpPr/>
          <p:nvPr/>
        </p:nvSpPr>
        <p:spPr>
          <a:xfrm>
            <a:off x="536870" y="1413391"/>
            <a:ext cx="6300000" cy="331450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0" name="레일"/>
          <p:cNvSpPr/>
          <p:nvPr/>
        </p:nvSpPr>
        <p:spPr>
          <a:xfrm>
            <a:off x="547826" y="1429826"/>
            <a:ext cx="580696" cy="2534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1" name="레일"/>
          <p:cNvSpPr>
            <a:spLocks noGrp="1"/>
          </p:cNvSpPr>
          <p:nvPr>
            <p:ph type="body" sz="quarter" idx="25"/>
          </p:nvPr>
        </p:nvSpPr>
        <p:spPr>
          <a:xfrm>
            <a:off x="547826" y="1429826"/>
            <a:ext cx="580696" cy="2534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목 표</a:t>
            </a:r>
          </a:p>
        </p:txBody>
      </p:sp>
      <p:sp>
        <p:nvSpPr>
          <p:cNvPr id="22" name="배너"/>
          <p:cNvSpPr/>
          <p:nvPr/>
        </p:nvSpPr>
        <p:spPr>
          <a:xfrm>
            <a:off x="1161391" y="1451739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3" name="배너"/>
          <p:cNvSpPr>
            <a:spLocks noGrp="1"/>
          </p:cNvSpPr>
          <p:nvPr>
            <p:ph type="body" sz="quarter" idx="26"/>
          </p:nvPr>
        </p:nvSpPr>
        <p:spPr>
          <a:xfrm>
            <a:off x="1161391" y="1451739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수도 생애주기(Life Cycle) 전반, AI·DT 기반의 종합적인 의사결정 체계 완성</a:t>
            </a:r>
          </a:p>
        </p:txBody>
      </p:sp>
      <p:sp>
        <p:nvSpPr>
          <p:cNvPr id="24" name="레일"/>
          <p:cNvSpPr/>
          <p:nvPr/>
        </p:nvSpPr>
        <p:spPr>
          <a:xfrm>
            <a:off x="547826" y="1699670"/>
            <a:ext cx="580696" cy="162704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5" name="레일"/>
          <p:cNvSpPr>
            <a:spLocks noGrp="1"/>
          </p:cNvSpPr>
          <p:nvPr>
            <p:ph type="body" sz="quarter" idx="27"/>
          </p:nvPr>
        </p:nvSpPr>
        <p:spPr>
          <a:xfrm>
            <a:off x="547826" y="1699670"/>
            <a:ext cx="580696" cy="162704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수도 AX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중장기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비 전</a:t>
            </a:r>
          </a:p>
        </p:txBody>
      </p:sp>
      <p:sp>
        <p:nvSpPr>
          <p:cNvPr id="26" name="레일 삼각형"/>
          <p:cNvSpPr/>
          <p:nvPr/>
        </p:nvSpPr>
        <p:spPr>
          <a:xfrm>
            <a:off x="547826" y="1699669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7" name="단계"/>
          <p:cNvSpPr/>
          <p:nvPr/>
        </p:nvSpPr>
        <p:spPr>
          <a:xfrm>
            <a:off x="1161391" y="1721583"/>
            <a:ext cx="112961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8" name="단계"/>
          <p:cNvSpPr>
            <a:spLocks noGrp="1"/>
          </p:cNvSpPr>
          <p:nvPr>
            <p:ph type="body" sz="quarter" idx="28"/>
          </p:nvPr>
        </p:nvSpPr>
        <p:spPr>
          <a:xfrm>
            <a:off x="1161391" y="1721583"/>
            <a:ext cx="112961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취수·정수장</a:t>
            </a:r>
          </a:p>
        </p:txBody>
      </p:sp>
      <p:sp>
        <p:nvSpPr>
          <p:cNvPr id="29" name="단계"/>
          <p:cNvSpPr/>
          <p:nvPr/>
        </p:nvSpPr>
        <p:spPr>
          <a:xfrm>
            <a:off x="2291009" y="1721583"/>
            <a:ext cx="1129617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0" name="단계"/>
          <p:cNvSpPr>
            <a:spLocks noGrp="1"/>
          </p:cNvSpPr>
          <p:nvPr>
            <p:ph type="body" sz="quarter" idx="29"/>
          </p:nvPr>
        </p:nvSpPr>
        <p:spPr>
          <a:xfrm>
            <a:off x="2291009" y="1721583"/>
            <a:ext cx="112961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가압장</a:t>
            </a:r>
          </a:p>
        </p:txBody>
      </p:sp>
      <p:sp>
        <p:nvSpPr>
          <p:cNvPr id="31" name="단계"/>
          <p:cNvSpPr/>
          <p:nvPr/>
        </p:nvSpPr>
        <p:spPr>
          <a:xfrm>
            <a:off x="3420626" y="1721583"/>
            <a:ext cx="1129617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2" name="단계"/>
          <p:cNvSpPr>
            <a:spLocks noGrp="1"/>
          </p:cNvSpPr>
          <p:nvPr>
            <p:ph type="body" sz="quarter" idx="30"/>
          </p:nvPr>
        </p:nvSpPr>
        <p:spPr>
          <a:xfrm>
            <a:off x="3420626" y="1721583"/>
            <a:ext cx="112961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배수지</a:t>
            </a:r>
          </a:p>
        </p:txBody>
      </p:sp>
      <p:sp>
        <p:nvSpPr>
          <p:cNvPr id="33" name="단계"/>
          <p:cNvSpPr/>
          <p:nvPr/>
        </p:nvSpPr>
        <p:spPr>
          <a:xfrm>
            <a:off x="4550243" y="1721583"/>
            <a:ext cx="1129617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4" name="단계"/>
          <p:cNvSpPr>
            <a:spLocks noGrp="1"/>
          </p:cNvSpPr>
          <p:nvPr>
            <p:ph type="body" sz="quarter" idx="31"/>
          </p:nvPr>
        </p:nvSpPr>
        <p:spPr>
          <a:xfrm>
            <a:off x="4550243" y="1721583"/>
            <a:ext cx="112961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 망</a:t>
            </a:r>
          </a:p>
        </p:txBody>
      </p:sp>
      <p:sp>
        <p:nvSpPr>
          <p:cNvPr id="35" name="단계"/>
          <p:cNvSpPr/>
          <p:nvPr/>
        </p:nvSpPr>
        <p:spPr>
          <a:xfrm>
            <a:off x="5679861" y="1721583"/>
            <a:ext cx="1129617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6" name="단계"/>
          <p:cNvSpPr>
            <a:spLocks noGrp="1"/>
          </p:cNvSpPr>
          <p:nvPr>
            <p:ph type="body" sz="quarter" idx="32"/>
          </p:nvPr>
        </p:nvSpPr>
        <p:spPr>
          <a:xfrm>
            <a:off x="5679861" y="1721583"/>
            <a:ext cx="112961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수요자</a:t>
            </a:r>
          </a:p>
        </p:txBody>
      </p:sp>
      <p:sp>
        <p:nvSpPr>
          <p:cNvPr id="37" name="단계 삼각형"/>
          <p:cNvSpPr/>
          <p:nvPr/>
        </p:nvSpPr>
        <p:spPr>
          <a:xfrm>
            <a:off x="2291008" y="1721582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8" name="단계 삼각형"/>
          <p:cNvSpPr/>
          <p:nvPr/>
        </p:nvSpPr>
        <p:spPr>
          <a:xfrm>
            <a:off x="3420626" y="1721582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9" name="단계 삼각형"/>
          <p:cNvSpPr/>
          <p:nvPr/>
        </p:nvSpPr>
        <p:spPr>
          <a:xfrm>
            <a:off x="4550243" y="1721582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0" name="단계 삼각형"/>
          <p:cNvSpPr/>
          <p:nvPr/>
        </p:nvSpPr>
        <p:spPr>
          <a:xfrm>
            <a:off x="5679860" y="1721582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0051BC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1" name="칸 본문"/>
          <p:cNvSpPr txBox="1"/>
          <p:nvPr/>
        </p:nvSpPr>
        <p:spPr>
          <a:xfrm>
            <a:off x="1172348" y="1973583"/>
            <a:ext cx="1107704" cy="5478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sp>
        <p:nvSpPr>
          <p:cNvPr id="42" name="칸 본문"/>
          <p:cNvSpPr txBox="1"/>
          <p:nvPr/>
        </p:nvSpPr>
        <p:spPr>
          <a:xfrm>
            <a:off x="2301965" y="1973583"/>
            <a:ext cx="1107704" cy="5478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43" name="Connector 29"/>
          <p:cNvCxnSpPr/>
          <p:nvPr/>
        </p:nvCxnSpPr>
        <p:spPr>
          <a:xfrm flipV="1">
            <a:off x="2291009" y="1995496"/>
            <a:ext cx="0" cy="10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4" name="칸 본문"/>
          <p:cNvSpPr txBox="1"/>
          <p:nvPr/>
        </p:nvSpPr>
        <p:spPr>
          <a:xfrm>
            <a:off x="3431583" y="1973583"/>
            <a:ext cx="1107704" cy="5478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45" name="Connector 31"/>
          <p:cNvCxnSpPr/>
          <p:nvPr/>
        </p:nvCxnSpPr>
        <p:spPr>
          <a:xfrm flipV="1">
            <a:off x="3420626" y="1995496"/>
            <a:ext cx="0" cy="10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6" name="칸 본문"/>
          <p:cNvSpPr txBox="1"/>
          <p:nvPr/>
        </p:nvSpPr>
        <p:spPr>
          <a:xfrm>
            <a:off x="4561200" y="1973583"/>
            <a:ext cx="1107704" cy="5478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47" name="Connector 33"/>
          <p:cNvCxnSpPr/>
          <p:nvPr/>
        </p:nvCxnSpPr>
        <p:spPr>
          <a:xfrm flipV="1">
            <a:off x="4550243" y="1995496"/>
            <a:ext cx="0" cy="10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8" name="칸 본문"/>
          <p:cNvSpPr txBox="1"/>
          <p:nvPr/>
        </p:nvSpPr>
        <p:spPr>
          <a:xfrm>
            <a:off x="5690817" y="1973583"/>
            <a:ext cx="1107704" cy="54783"/>
          </a:xfrm>
          <a:prstGeom prst="rect">
            <a:avLst/>
          </a:prstGeom>
          <a:noFill/>
        </p:spPr>
        <p:txBody>
          <a:bodyPr wrap="square" lIns="50400" tIns="7200" rIns="21600" bIns="7200" anchor="ctr">
            <a:noAutofit/>
          </a:bodyPr>
          <a:lstStyle/>
        </p:txBody>
      </p:sp>
      <p:cxnSp>
        <p:nvCxnSpPr>
          <p:cNvPr id="49" name="Connector 35"/>
          <p:cNvCxnSpPr/>
          <p:nvPr/>
        </p:nvCxnSpPr>
        <p:spPr>
          <a:xfrm flipV="1">
            <a:off x="5679861" y="1995496"/>
            <a:ext cx="0" cy="10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0" name="칸 본문"/>
          <p:cNvSpPr>
            <a:spLocks noGrp="1"/>
          </p:cNvSpPr>
          <p:nvPr>
            <p:ph type="body" sz="quarter" idx="33"/>
          </p:nvPr>
        </p:nvSpPr>
        <p:spPr>
          <a:xfrm>
            <a:off x="1172348" y="2044800"/>
            <a:ext cx="4514087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AI·DT 기반 통합플랫폼 · Agent AI · 수질예측 · 공정최적화 · 무인점검 · 최적투자 · 실시간 운영 · 진단 고도화</a:t>
            </a:r>
          </a:p>
        </p:txBody>
      </p:sp>
      <p:sp>
        <p:nvSpPr>
          <p:cNvPr id="51" name="사진 칸"/>
          <p:cNvSpPr/>
          <p:nvPr/>
        </p:nvSpPr>
        <p:spPr>
          <a:xfrm>
            <a:off x="5730261" y="2050278"/>
            <a:ext cx="1079217" cy="1029913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52" name="사진 칸"/>
          <p:cNvSpPr>
            <a:spLocks noGrp="1"/>
          </p:cNvSpPr>
          <p:nvPr>
            <p:ph type="body" sz="quarter" idx="34"/>
          </p:nvPr>
        </p:nvSpPr>
        <p:spPr>
          <a:xfrm>
            <a:off x="5730261" y="2050278"/>
            <a:ext cx="1079217" cy="10299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수도 AX 개념도</a:t>
            </a:r>
          </a:p>
        </p:txBody>
      </p:sp>
      <p:sp>
        <p:nvSpPr>
          <p:cNvPr id="53" name="배너"/>
          <p:cNvSpPr/>
          <p:nvPr/>
        </p:nvSpPr>
        <p:spPr>
          <a:xfrm>
            <a:off x="1161391" y="3102104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54" name="배너"/>
          <p:cNvSpPr>
            <a:spLocks noGrp="1"/>
          </p:cNvSpPr>
          <p:nvPr>
            <p:ph type="body" sz="quarter" idx="35"/>
          </p:nvPr>
        </p:nvSpPr>
        <p:spPr>
          <a:xfrm>
            <a:off x="1161391" y="3102104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미래상: 현실과 동일한 AI·DT 통합플랫폼, 스스로 판단·행동하는 Agent AI</a:t>
            </a:r>
          </a:p>
        </p:txBody>
      </p:sp>
      <p:sp>
        <p:nvSpPr>
          <p:cNvPr id="55" name="레일"/>
          <p:cNvSpPr/>
          <p:nvPr/>
        </p:nvSpPr>
        <p:spPr>
          <a:xfrm>
            <a:off x="547826" y="3343148"/>
            <a:ext cx="580696" cy="776661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6" name="레일"/>
          <p:cNvSpPr>
            <a:spLocks noGrp="1"/>
          </p:cNvSpPr>
          <p:nvPr>
            <p:ph type="body" sz="quarter" idx="36"/>
          </p:nvPr>
        </p:nvSpPr>
        <p:spPr>
          <a:xfrm>
            <a:off x="547826" y="3343148"/>
            <a:ext cx="580696" cy="7766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로드맵</a:t>
            </a:r>
          </a:p>
        </p:txBody>
      </p:sp>
      <p:sp>
        <p:nvSpPr>
          <p:cNvPr id="57" name="단계"/>
          <p:cNvSpPr/>
          <p:nvPr/>
        </p:nvSpPr>
        <p:spPr>
          <a:xfrm>
            <a:off x="1161391" y="3365061"/>
            <a:ext cx="141202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8" name="단계"/>
          <p:cNvSpPr>
            <a:spLocks noGrp="1"/>
          </p:cNvSpPr>
          <p:nvPr>
            <p:ph type="body" sz="quarter" idx="37"/>
          </p:nvPr>
        </p:nvSpPr>
        <p:spPr>
          <a:xfrm>
            <a:off x="1161391" y="3365061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~’24년 Digital 전환</a:t>
            </a:r>
          </a:p>
        </p:txBody>
      </p:sp>
      <p:sp>
        <p:nvSpPr>
          <p:cNvPr id="59" name="단계"/>
          <p:cNvSpPr/>
          <p:nvPr/>
        </p:nvSpPr>
        <p:spPr>
          <a:xfrm>
            <a:off x="2573413" y="3365061"/>
            <a:ext cx="1412022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0" name="단계"/>
          <p:cNvSpPr>
            <a:spLocks noGrp="1"/>
          </p:cNvSpPr>
          <p:nvPr>
            <p:ph type="body" sz="quarter" idx="38"/>
          </p:nvPr>
        </p:nvSpPr>
        <p:spPr>
          <a:xfrm>
            <a:off x="2573413" y="3365061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AX 추진계획</a:t>
            </a:r>
          </a:p>
        </p:txBody>
      </p:sp>
      <p:sp>
        <p:nvSpPr>
          <p:cNvPr id="61" name="단계"/>
          <p:cNvSpPr/>
          <p:nvPr/>
        </p:nvSpPr>
        <p:spPr>
          <a:xfrm>
            <a:off x="3985435" y="3365061"/>
            <a:ext cx="1412022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2" name="단계"/>
          <p:cNvSpPr>
            <a:spLocks noGrp="1"/>
          </p:cNvSpPr>
          <p:nvPr>
            <p:ph type="body" sz="quarter" idx="39"/>
          </p:nvPr>
        </p:nvSpPr>
        <p:spPr>
          <a:xfrm>
            <a:off x="3985435" y="3365061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’28년 AI·DT 통합연계</a:t>
            </a:r>
          </a:p>
        </p:txBody>
      </p:sp>
      <p:sp>
        <p:nvSpPr>
          <p:cNvPr id="63" name="단계"/>
          <p:cNvSpPr/>
          <p:nvPr/>
        </p:nvSpPr>
        <p:spPr>
          <a:xfrm>
            <a:off x="5397457" y="3365061"/>
            <a:ext cx="1412022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4" name="단계"/>
          <p:cNvSpPr>
            <a:spLocks noGrp="1"/>
          </p:cNvSpPr>
          <p:nvPr>
            <p:ph type="body" sz="quarter" idx="40"/>
          </p:nvPr>
        </p:nvSpPr>
        <p:spPr>
          <a:xfrm>
            <a:off x="5397457" y="3365061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’30년 AI 내재화</a:t>
            </a:r>
          </a:p>
        </p:txBody>
      </p:sp>
      <p:sp>
        <p:nvSpPr>
          <p:cNvPr id="65" name="단계 삼각형"/>
          <p:cNvSpPr/>
          <p:nvPr/>
        </p:nvSpPr>
        <p:spPr>
          <a:xfrm>
            <a:off x="2573413" y="3365060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6" name="단계 삼각형"/>
          <p:cNvSpPr/>
          <p:nvPr/>
        </p:nvSpPr>
        <p:spPr>
          <a:xfrm>
            <a:off x="3985434" y="3365060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7" name="단계 삼각형"/>
          <p:cNvSpPr/>
          <p:nvPr/>
        </p:nvSpPr>
        <p:spPr>
          <a:xfrm>
            <a:off x="5397456" y="3365060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8" name="칸 본문"/>
          <p:cNvSpPr>
            <a:spLocks noGrp="1"/>
          </p:cNvSpPr>
          <p:nvPr>
            <p:ph type="body" sz="quarter" idx="41"/>
          </p:nvPr>
        </p:nvSpPr>
        <p:spPr>
          <a:xfrm>
            <a:off x="1172348" y="3617061"/>
            <a:ext cx="1390109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디지털 요소기술 개발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관망·정수장 DT(시범)</a:t>
            </a:r>
          </a:p>
        </p:txBody>
      </p:sp>
      <p:sp>
        <p:nvSpPr>
          <p:cNvPr id="69" name="칸 본문"/>
          <p:cNvSpPr>
            <a:spLocks noGrp="1"/>
          </p:cNvSpPr>
          <p:nvPr>
            <p:ph type="body" sz="quarter" idx="42"/>
          </p:nvPr>
        </p:nvSpPr>
        <p:spPr>
          <a:xfrm>
            <a:off x="2584370" y="3617061"/>
            <a:ext cx="1390109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디지털 요소기술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수도AX 과제 발굴(27개)</a:t>
            </a:r>
          </a:p>
        </p:txBody>
      </p:sp>
      <p:cxnSp>
        <p:nvCxnSpPr>
          <p:cNvPr id="70" name="Connector 49"/>
          <p:cNvCxnSpPr/>
          <p:nvPr/>
        </p:nvCxnSpPr>
        <p:spPr>
          <a:xfrm>
            <a:off x="2573413" y="3649930"/>
            <a:ext cx="0" cy="4315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1" name="칸 본문"/>
          <p:cNvSpPr>
            <a:spLocks noGrp="1"/>
          </p:cNvSpPr>
          <p:nvPr>
            <p:ph type="body" sz="quarter" idx="43"/>
          </p:nvPr>
        </p:nvSpPr>
        <p:spPr>
          <a:xfrm>
            <a:off x="3996391" y="3617061"/>
            <a:ext cx="1390109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요소기술 기반 자율운영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AI·DT 통합플랫폼 확대</a:t>
            </a:r>
          </a:p>
        </p:txBody>
      </p:sp>
      <p:cxnSp>
        <p:nvCxnSpPr>
          <p:cNvPr id="72" name="Connector 51"/>
          <p:cNvCxnSpPr/>
          <p:nvPr/>
        </p:nvCxnSpPr>
        <p:spPr>
          <a:xfrm>
            <a:off x="3985435" y="3649930"/>
            <a:ext cx="0" cy="4315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3" name="칸 본문"/>
          <p:cNvSpPr>
            <a:spLocks noGrp="1"/>
          </p:cNvSpPr>
          <p:nvPr>
            <p:ph type="body" sz="quarter" idx="44"/>
          </p:nvPr>
        </p:nvSpPr>
        <p:spPr>
          <a:xfrm>
            <a:off x="5408413" y="3617061"/>
            <a:ext cx="1390109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완전 자율운영 정착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AI·DT 통합플랫폼 완성</a:t>
            </a:r>
          </a:p>
        </p:txBody>
      </p:sp>
      <p:cxnSp>
        <p:nvCxnSpPr>
          <p:cNvPr id="74" name="Connector 53"/>
          <p:cNvCxnSpPr/>
          <p:nvPr/>
        </p:nvCxnSpPr>
        <p:spPr>
          <a:xfrm>
            <a:off x="5397457" y="3649930"/>
            <a:ext cx="0" cy="4315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5" name="레일"/>
          <p:cNvSpPr/>
          <p:nvPr/>
        </p:nvSpPr>
        <p:spPr>
          <a:xfrm>
            <a:off x="547826" y="4136243"/>
            <a:ext cx="580696" cy="57521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6" name="레일"/>
          <p:cNvSpPr>
            <a:spLocks noGrp="1"/>
          </p:cNvSpPr>
          <p:nvPr>
            <p:ph type="body" sz="quarter" idx="45"/>
          </p:nvPr>
        </p:nvSpPr>
        <p:spPr>
          <a:xfrm>
            <a:off x="547826" y="4136243"/>
            <a:ext cx="580696" cy="57521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주 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 제</a:t>
            </a:r>
          </a:p>
        </p:txBody>
      </p:sp>
      <p:sp>
        <p:nvSpPr>
          <p:cNvPr id="77" name="레일 삼각형"/>
          <p:cNvSpPr/>
          <p:nvPr/>
        </p:nvSpPr>
        <p:spPr>
          <a:xfrm>
            <a:off x="547826" y="4136243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78" name="칸 본문"/>
          <p:cNvSpPr>
            <a:spLocks noGrp="1"/>
          </p:cNvSpPr>
          <p:nvPr>
            <p:ph type="body" sz="quarter" idx="46"/>
          </p:nvPr>
        </p:nvSpPr>
        <p:spPr>
          <a:xfrm>
            <a:off x="1172348" y="4158157"/>
            <a:ext cx="2802130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설계·시공: BIM 확대, 디지털 트윈 기반 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운영관리: AI운영 고도화, Agent/Physical AI 확대</a:t>
            </a:r>
          </a:p>
        </p:txBody>
      </p:sp>
      <p:sp>
        <p:nvSpPr>
          <p:cNvPr id="79" name="칸 본문"/>
          <p:cNvSpPr>
            <a:spLocks noGrp="1"/>
          </p:cNvSpPr>
          <p:nvPr>
            <p:ph type="body" sz="quarter" idx="47"/>
          </p:nvPr>
        </p:nvSpPr>
        <p:spPr>
          <a:xfrm>
            <a:off x="3996391" y="4158157"/>
            <a:ext cx="2802130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유지관리: 진단 기술 혁신, 관망·정수장 진단 AI 결합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자산관리: 투자 최적화, 자산평가 기반 의사결정</a:t>
            </a:r>
          </a:p>
        </p:txBody>
      </p:sp>
      <p:cxnSp>
        <p:nvCxnSpPr>
          <p:cNvPr id="80" name="Connector 58"/>
          <p:cNvCxnSpPr/>
          <p:nvPr/>
        </p:nvCxnSpPr>
        <p:spPr>
          <a:xfrm>
            <a:off x="3985435" y="4191026"/>
            <a:ext cx="0" cy="482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1" name="번호"/>
          <p:cNvSpPr>
            <a:spLocks noGrp="1"/>
          </p:cNvSpPr>
          <p:nvPr>
            <p:ph type="body" sz="quarter" idx="48"/>
          </p:nvPr>
        </p:nvSpPr>
        <p:spPr>
          <a:xfrm>
            <a:off x="536870" y="4848417"/>
            <a:ext cx="191118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■</a:t>
            </a:r>
          </a:p>
        </p:txBody>
      </p:sp>
      <p:sp>
        <p:nvSpPr>
          <p:cNvPr id="82" name="분야 박스"/>
          <p:cNvSpPr/>
          <p:nvPr/>
        </p:nvSpPr>
        <p:spPr>
          <a:xfrm>
            <a:off x="727987" y="4881287"/>
            <a:ext cx="746638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83" name="분야 박스"/>
          <p:cNvSpPr>
            <a:spLocks noGrp="1"/>
          </p:cNvSpPr>
          <p:nvPr>
            <p:ph type="body" sz="quarter" idx="49"/>
          </p:nvPr>
        </p:nvSpPr>
        <p:spPr>
          <a:xfrm>
            <a:off x="727987" y="4881287"/>
            <a:ext cx="74663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개발성과</a:t>
            </a:r>
          </a:p>
        </p:txBody>
      </p:sp>
      <p:sp>
        <p:nvSpPr>
          <p:cNvPr id="84" name="형광 밑줄"/>
          <p:cNvSpPr/>
          <p:nvPr/>
        </p:nvSpPr>
        <p:spPr>
          <a:xfrm>
            <a:off x="1540364" y="5001809"/>
            <a:ext cx="3804798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85" name="소제목"/>
          <p:cNvSpPr>
            <a:spLocks noGrp="1"/>
          </p:cNvSpPr>
          <p:nvPr>
            <p:ph type="body" sz="quarter" idx="50"/>
          </p:nvPr>
        </p:nvSpPr>
        <p:spPr>
          <a:xfrm>
            <a:off x="1540364" y="4848417"/>
            <a:ext cx="5296505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2025 수도 특화 AX를 위한 요소기술을 지속적으로 발굴·내재화</a:t>
            </a:r>
          </a:p>
        </p:txBody>
      </p:sp>
      <p:sp>
        <p:nvSpPr>
          <p:cNvPr id="86" name="아이콘 칸"/>
          <p:cNvSpPr/>
          <p:nvPr/>
        </p:nvSpPr>
        <p:spPr>
          <a:xfrm>
            <a:off x="536870" y="5188070"/>
            <a:ext cx="175304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3600" rIns="3600" tIns="0" bIns="0" wrap="square"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/>
            </a:r>
          </a:p>
        </p:txBody>
      </p:sp>
      <p:sp>
        <p:nvSpPr>
          <p:cNvPr id="87" name="태그"/>
          <p:cNvSpPr/>
          <p:nvPr/>
        </p:nvSpPr>
        <p:spPr>
          <a:xfrm>
            <a:off x="756000" y="5188070"/>
            <a:ext cx="437010" cy="175304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88" name="태그"/>
          <p:cNvSpPr>
            <a:spLocks noGrp="1"/>
          </p:cNvSpPr>
          <p:nvPr>
            <p:ph type="body" sz="quarter" idx="51"/>
          </p:nvPr>
        </p:nvSpPr>
        <p:spPr>
          <a:xfrm>
            <a:off x="756000" y="5188070"/>
            <a:ext cx="437010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AI·DT</a:t>
            </a:r>
          </a:p>
        </p:txBody>
      </p:sp>
      <p:sp>
        <p:nvSpPr>
          <p:cNvPr id="89" name="그룹 제목"/>
          <p:cNvSpPr>
            <a:spLocks noGrp="1"/>
          </p:cNvSpPr>
          <p:nvPr>
            <p:ph type="body" sz="quarter" idx="52"/>
          </p:nvPr>
        </p:nvSpPr>
        <p:spPr>
          <a:xfrm>
            <a:off x="1236836" y="5166157"/>
            <a:ext cx="5578121" cy="21913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현안 해결형 요소기술 4건</a:t>
            </a:r>
          </a:p>
        </p:txBody>
      </p:sp>
      <p:sp>
        <p:nvSpPr>
          <p:cNvPr id="90" name="그룹 틀"/>
          <p:cNvSpPr/>
          <p:nvPr/>
        </p:nvSpPr>
        <p:spPr>
          <a:xfrm>
            <a:off x="536870" y="5407200"/>
            <a:ext cx="6300000" cy="2268000"/>
          </a:xfrm>
          <a:prstGeom prst="rect">
            <a:avLst/>
          </a:prstGeom>
          <a:solidFill>
            <a:srgbClr val="FFFFFF"/>
          </a:solidFill>
          <a:ln w="1587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1" name="카드 머리"/>
          <p:cNvSpPr/>
          <p:nvPr/>
        </p:nvSpPr>
        <p:spPr>
          <a:xfrm>
            <a:off x="569739" y="5429113"/>
            <a:ext cx="3095217" cy="208174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2" name="태그"/>
          <p:cNvSpPr/>
          <p:nvPr/>
        </p:nvSpPr>
        <p:spPr>
          <a:xfrm>
            <a:off x="613565" y="5451026"/>
            <a:ext cx="593043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93" name="태그"/>
          <p:cNvSpPr>
            <a:spLocks noGrp="1"/>
          </p:cNvSpPr>
          <p:nvPr>
            <p:ph type="body" sz="quarter" idx="53"/>
          </p:nvPr>
        </p:nvSpPr>
        <p:spPr>
          <a:xfrm>
            <a:off x="613565" y="5451026"/>
            <a:ext cx="593043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딥러닝</a:t>
            </a:r>
          </a:p>
        </p:txBody>
      </p:sp>
      <p:sp>
        <p:nvSpPr>
          <p:cNvPr id="94" name="카드 제목"/>
          <p:cNvSpPr>
            <a:spLocks noGrp="1"/>
          </p:cNvSpPr>
          <p:nvPr>
            <p:ph type="body" sz="quarter" idx="54"/>
          </p:nvPr>
        </p:nvSpPr>
        <p:spPr>
          <a:xfrm>
            <a:off x="1239478" y="5429113"/>
            <a:ext cx="2403566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보이지 않는 싱크홀, 지반침하 AI 분석</a:t>
            </a:r>
          </a:p>
        </p:txBody>
      </p:sp>
      <p:sp>
        <p:nvSpPr>
          <p:cNvPr id="95" name="카드 본문"/>
          <p:cNvSpPr>
            <a:spLocks noGrp="1"/>
          </p:cNvSpPr>
          <p:nvPr>
            <p:ph type="body" sz="quarter" idx="55"/>
          </p:nvPr>
        </p:nvSpPr>
        <p:spPr>
          <a:xfrm>
            <a:off x="569739" y="5648243"/>
            <a:ext cx="3073304" cy="843652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현황: 5년 주기 점검, 적기 포착 한계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개선: 관로 주변 AI 침하 예측 → 선제적 싱크홀 사고 대응</a:t>
            </a:r>
          </a:p>
        </p:txBody>
      </p:sp>
      <p:cxnSp>
        <p:nvCxnSpPr>
          <p:cNvPr id="96" name="Connector 71"/>
          <p:cNvCxnSpPr/>
          <p:nvPr/>
        </p:nvCxnSpPr>
        <p:spPr>
          <a:xfrm>
            <a:off x="3675913" y="5461983"/>
            <a:ext cx="0" cy="1018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97" name="카드 머리"/>
          <p:cNvSpPr/>
          <p:nvPr/>
        </p:nvSpPr>
        <p:spPr>
          <a:xfrm>
            <a:off x="3686870" y="5429113"/>
            <a:ext cx="3095217" cy="208174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98" name="태그"/>
          <p:cNvSpPr/>
          <p:nvPr/>
        </p:nvSpPr>
        <p:spPr>
          <a:xfrm>
            <a:off x="3730696" y="5451026"/>
            <a:ext cx="276263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99" name="태그"/>
          <p:cNvSpPr>
            <a:spLocks noGrp="1"/>
          </p:cNvSpPr>
          <p:nvPr>
            <p:ph type="body" sz="quarter" idx="56"/>
          </p:nvPr>
        </p:nvSpPr>
        <p:spPr>
          <a:xfrm>
            <a:off x="3730696" y="5451026"/>
            <a:ext cx="276263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DT</a:t>
            </a:r>
          </a:p>
        </p:txBody>
      </p:sp>
      <p:sp>
        <p:nvSpPr>
          <p:cNvPr id="100" name="카드 제목"/>
          <p:cNvSpPr>
            <a:spLocks noGrp="1"/>
          </p:cNvSpPr>
          <p:nvPr>
            <p:ph type="body" sz="quarter" idx="57"/>
          </p:nvPr>
        </p:nvSpPr>
        <p:spPr>
          <a:xfrm>
            <a:off x="4039828" y="5429113"/>
            <a:ext cx="2720345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현장관리를 위한 全광역 water-NET Field 확대</a:t>
            </a:r>
          </a:p>
        </p:txBody>
      </p:sp>
      <p:sp>
        <p:nvSpPr>
          <p:cNvPr id="101" name="카드 본문"/>
          <p:cNvSpPr>
            <a:spLocks noGrp="1"/>
          </p:cNvSpPr>
          <p:nvPr>
            <p:ph type="body" sz="quarter" idx="58"/>
          </p:nvPr>
        </p:nvSpPr>
        <p:spPr>
          <a:xfrm>
            <a:off x="3686870" y="5648243"/>
            <a:ext cx="3073304" cy="843652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현황: 사무실 위주 정보·2D 관리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개선: 모바일·AR 구현 → 시설관리 효율↑, 성과 확산(지방)</a:t>
            </a:r>
          </a:p>
        </p:txBody>
      </p:sp>
      <p:sp>
        <p:nvSpPr>
          <p:cNvPr id="102" name="카드 머리"/>
          <p:cNvSpPr/>
          <p:nvPr/>
        </p:nvSpPr>
        <p:spPr>
          <a:xfrm>
            <a:off x="569739" y="6524765"/>
            <a:ext cx="3095217" cy="208174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3" name="태그"/>
          <p:cNvSpPr/>
          <p:nvPr/>
        </p:nvSpPr>
        <p:spPr>
          <a:xfrm>
            <a:off x="613565" y="6546678"/>
            <a:ext cx="593043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104" name="태그"/>
          <p:cNvSpPr>
            <a:spLocks noGrp="1"/>
          </p:cNvSpPr>
          <p:nvPr>
            <p:ph type="body" sz="quarter" idx="59"/>
          </p:nvPr>
        </p:nvSpPr>
        <p:spPr>
          <a:xfrm>
            <a:off x="613565" y="6546678"/>
            <a:ext cx="593043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생성형 AI</a:t>
            </a:r>
          </a:p>
        </p:txBody>
      </p:sp>
      <p:sp>
        <p:nvSpPr>
          <p:cNvPr id="105" name="카드 제목"/>
          <p:cNvSpPr>
            <a:spLocks noGrp="1"/>
          </p:cNvSpPr>
          <p:nvPr>
            <p:ph type="body" sz="quarter" idx="60"/>
          </p:nvPr>
        </p:nvSpPr>
        <p:spPr>
          <a:xfrm>
            <a:off x="1239478" y="6524765"/>
            <a:ext cx="2403566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CCTV-AI 기반 지능형 건설 안전관리</a:t>
            </a:r>
          </a:p>
        </p:txBody>
      </p:sp>
      <p:sp>
        <p:nvSpPr>
          <p:cNvPr id="106" name="카드 본문"/>
          <p:cNvSpPr>
            <a:spLocks noGrp="1"/>
          </p:cNvSpPr>
          <p:nvPr>
            <p:ph type="body" sz="quarter" idx="61"/>
          </p:nvPr>
        </p:nvSpPr>
        <p:spPr>
          <a:xfrm>
            <a:off x="569739" y="6743896"/>
            <a:ext cx="3073304" cy="843652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현황: 인력 점검, 사고 인지 지연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개선: 위험요인 자동탐지·예측 → 중대재해↓, 자율형 예방체계</a:t>
            </a:r>
          </a:p>
        </p:txBody>
      </p:sp>
      <p:cxnSp>
        <p:nvCxnSpPr>
          <p:cNvPr id="107" name="Connector 80"/>
          <p:cNvCxnSpPr/>
          <p:nvPr/>
        </p:nvCxnSpPr>
        <p:spPr>
          <a:xfrm>
            <a:off x="3675913" y="6557635"/>
            <a:ext cx="0" cy="101895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08" name="카드 머리"/>
          <p:cNvSpPr/>
          <p:nvPr/>
        </p:nvSpPr>
        <p:spPr>
          <a:xfrm>
            <a:off x="3686870" y="6524765"/>
            <a:ext cx="3095217" cy="208174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9" name="태그"/>
          <p:cNvSpPr/>
          <p:nvPr/>
        </p:nvSpPr>
        <p:spPr>
          <a:xfrm>
            <a:off x="3730696" y="6546678"/>
            <a:ext cx="764083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110" name="태그"/>
          <p:cNvSpPr>
            <a:spLocks noGrp="1"/>
          </p:cNvSpPr>
          <p:nvPr>
            <p:ph type="body" sz="quarter" idx="62"/>
          </p:nvPr>
        </p:nvSpPr>
        <p:spPr>
          <a:xfrm>
            <a:off x="3730696" y="6546678"/>
            <a:ext cx="764083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Physical AI</a:t>
            </a:r>
          </a:p>
        </p:txBody>
      </p:sp>
      <p:sp>
        <p:nvSpPr>
          <p:cNvPr id="111" name="카드 제목"/>
          <p:cNvSpPr>
            <a:spLocks noGrp="1"/>
          </p:cNvSpPr>
          <p:nvPr>
            <p:ph type="body" sz="quarter" idx="63"/>
          </p:nvPr>
        </p:nvSpPr>
        <p:spPr>
          <a:xfrm>
            <a:off x="4527648" y="6524765"/>
            <a:ext cx="2232526" cy="208174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드론 기반 무인 자율점검체계 시범적용</a:t>
            </a:r>
          </a:p>
        </p:txBody>
      </p:sp>
      <p:sp>
        <p:nvSpPr>
          <p:cNvPr id="112" name="카드 본문"/>
          <p:cNvSpPr>
            <a:spLocks noGrp="1"/>
          </p:cNvSpPr>
          <p:nvPr>
            <p:ph type="body" sz="quarter" idx="64"/>
          </p:nvPr>
        </p:nvSpPr>
        <p:spPr>
          <a:xfrm>
            <a:off x="3686870" y="6743896"/>
            <a:ext cx="3073304" cy="843652"/>
          </a:xfrm>
          <a:prstGeom prst="rect">
            <a:avLst/>
          </a:prstGeom>
          <a:noFill/>
          <a:ln>
            <a:noFill/>
          </a:ln>
        </p:spPr>
        <p:txBody>
          <a:bodyPr wrap="square" lIns="432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현황: 취약구간(교량 등) 인력점검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개선: 드론 무인점검, AI 분석 → 점검효율↑, 점검자 안전성↑</a:t>
            </a:r>
          </a:p>
        </p:txBody>
      </p:sp>
      <p:sp>
        <p:nvSpPr>
          <p:cNvPr id="113" name="틀"/>
          <p:cNvSpPr/>
          <p:nvPr/>
        </p:nvSpPr>
        <p:spPr>
          <a:xfrm>
            <a:off x="536870" y="7740939"/>
            <a:ext cx="6300000" cy="1051826"/>
          </a:xfrm>
          <a:prstGeom prst="rect">
            <a:avLst/>
          </a:prstGeom>
          <a:solidFill>
            <a:srgbClr val="FFFFFF"/>
          </a:solidFill>
          <a:ln w="12700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4" name="성과 라벨"/>
          <p:cNvSpPr/>
          <p:nvPr/>
        </p:nvSpPr>
        <p:spPr>
          <a:xfrm>
            <a:off x="547826" y="7751896"/>
            <a:ext cx="580696" cy="1029913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14400" rIns="14400" tIns="0" bIns="0" wrap="square"/>
          <a:lstStyle/>
          <a:p/>
        </p:txBody>
      </p:sp>
      <p:sp>
        <p:nvSpPr>
          <p:cNvPr id="115" name="성과 라벨"/>
          <p:cNvSpPr>
            <a:spLocks noGrp="1"/>
          </p:cNvSpPr>
          <p:nvPr>
            <p:ph type="body" sz="quarter" idx="65"/>
          </p:nvPr>
        </p:nvSpPr>
        <p:spPr>
          <a:xfrm>
            <a:off x="547826" y="7751896"/>
            <a:ext cx="580696" cy="102991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4400" rIns="14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특별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성과</a:t>
            </a:r>
          </a:p>
        </p:txBody>
      </p:sp>
      <p:sp>
        <p:nvSpPr>
          <p:cNvPr id="116" name="성과 띠"/>
          <p:cNvSpPr/>
          <p:nvPr/>
        </p:nvSpPr>
        <p:spPr>
          <a:xfrm>
            <a:off x="1172348" y="7773809"/>
            <a:ext cx="5631652" cy="208174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0" bIns="0" wrap="square"/>
          <a:lstStyle/>
          <a:p/>
        </p:txBody>
      </p:sp>
      <p:sp>
        <p:nvSpPr>
          <p:cNvPr id="117" name="성과 띠"/>
          <p:cNvSpPr>
            <a:spLocks noGrp="1"/>
          </p:cNvSpPr>
          <p:nvPr>
            <p:ph type="body" sz="quarter" idx="66"/>
          </p:nvPr>
        </p:nvSpPr>
        <p:spPr>
          <a:xfrm>
            <a:off x="1172348" y="7773809"/>
            <a:ext cx="5631652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광역상수도 SWM 고도화 사업(’26~’30, 955억원), 국가 정책사업 반영으로 AX 추진동력 확보</a:t>
            </a:r>
          </a:p>
        </p:txBody>
      </p:sp>
      <p:sp>
        <p:nvSpPr>
          <p:cNvPr id="118" name="카드"/>
          <p:cNvSpPr/>
          <p:nvPr/>
        </p:nvSpPr>
        <p:spPr>
          <a:xfrm>
            <a:off x="1172348" y="8014852"/>
            <a:ext cx="1375043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9" name="카드 문구"/>
          <p:cNvSpPr>
            <a:spLocks noGrp="1"/>
          </p:cNvSpPr>
          <p:nvPr>
            <p:ph type="body" sz="quarter" idx="67"/>
          </p:nvPr>
        </p:nvSpPr>
        <p:spPr>
          <a:xfrm>
            <a:off x="1194261" y="8025809"/>
            <a:ext cx="1353130" cy="72313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취수원 AI 수질 예측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이상수질 등 예측으로 선제적 대응체계 구축</a:t>
            </a:r>
          </a:p>
        </p:txBody>
      </p:sp>
      <p:sp>
        <p:nvSpPr>
          <p:cNvPr id="120" name="카드"/>
          <p:cNvSpPr/>
          <p:nvPr/>
        </p:nvSpPr>
        <p:spPr>
          <a:xfrm>
            <a:off x="2591217" y="8014852"/>
            <a:ext cx="1375043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21" name="카드 문구"/>
          <p:cNvSpPr>
            <a:spLocks noGrp="1"/>
          </p:cNvSpPr>
          <p:nvPr>
            <p:ph type="body" sz="quarter" idx="68"/>
          </p:nvPr>
        </p:nvSpPr>
        <p:spPr>
          <a:xfrm>
            <a:off x="2613130" y="8025809"/>
            <a:ext cx="1353130" cy="72313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AI정수장 고도화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자율운영 완성을 위한 인프라 확충·로직 최적화</a:t>
            </a:r>
          </a:p>
        </p:txBody>
      </p:sp>
      <p:sp>
        <p:nvSpPr>
          <p:cNvPr id="122" name="카드"/>
          <p:cNvSpPr/>
          <p:nvPr/>
        </p:nvSpPr>
        <p:spPr>
          <a:xfrm>
            <a:off x="4010087" y="8014852"/>
            <a:ext cx="1375043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23" name="카드 문구"/>
          <p:cNvSpPr>
            <a:spLocks noGrp="1"/>
          </p:cNvSpPr>
          <p:nvPr>
            <p:ph type="body" sz="quarter" idx="69"/>
          </p:nvPr>
        </p:nvSpPr>
        <p:spPr>
          <a:xfrm>
            <a:off x="4032000" y="8025809"/>
            <a:ext cx="1353130" cy="72313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점검로봇 도입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무인자율점검을 통한 사고예방·점검효율화</a:t>
            </a:r>
          </a:p>
        </p:txBody>
      </p:sp>
      <p:sp>
        <p:nvSpPr>
          <p:cNvPr id="124" name="카드"/>
          <p:cNvSpPr/>
          <p:nvPr/>
        </p:nvSpPr>
        <p:spPr>
          <a:xfrm>
            <a:off x="5428957" y="8014852"/>
            <a:ext cx="1375043" cy="745043"/>
          </a:xfrm>
          <a:prstGeom prst="rect">
            <a:avLst/>
          </a:prstGeom>
          <a:solidFill>
            <a:srgbClr val="FFFFFF"/>
          </a:solidFill>
          <a:ln w="9525">
            <a:solidFill>
              <a:srgbClr val="30C2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25" name="카드 문구"/>
          <p:cNvSpPr>
            <a:spLocks noGrp="1"/>
          </p:cNvSpPr>
          <p:nvPr>
            <p:ph type="body" sz="quarter" idx="70"/>
          </p:nvPr>
        </p:nvSpPr>
        <p:spPr>
          <a:xfrm>
            <a:off x="5450870" y="8025809"/>
            <a:ext cx="1353130" cy="723130"/>
          </a:xfrm>
          <a:prstGeom prst="rect">
            <a:avLst/>
          </a:prstGeom>
          <a:noFill/>
          <a:ln>
            <a:noFill/>
          </a:ln>
        </p:spPr>
        <p:txBody>
          <a:bodyPr wrap="square" lIns="10800" tIns="0" rIns="1080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AI·DT 통합플랫폼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AI, 데이터 기반 종합의사결정 지원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92 서사 · 기후리스크 · 정책강화 두 칸(번호 띠 바로 아래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취약 수질 핀셋관리와 신종 유해물질 선제 대비</a:t>
            </a:r>
          </a:p>
        </p:txBody>
      </p:sp>
      <p:sp>
        <p:nvSpPr>
          <p:cNvPr id="14" name="표 외곽"/>
          <p:cNvSpPr/>
          <p:nvPr/>
        </p:nvSpPr>
        <p:spPr>
          <a:xfrm>
            <a:off x="723130" y="1128522"/>
            <a:ext cx="6300000" cy="999861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734087" y="1144957"/>
            <a:ext cx="580696" cy="41087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144957"/>
            <a:ext cx="580696" cy="41087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 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리스크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3"/>
          </p:nvPr>
        </p:nvSpPr>
        <p:spPr>
          <a:xfrm>
            <a:off x="1358609" y="1166870"/>
            <a:ext cx="5626174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전국 폭염일수 최근 10년간 2배 증가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12월 겨울한파에도 지속된 조류경보 등 수처리 여건 악화로 기후리스크 일상화</a:t>
            </a:r>
          </a:p>
        </p:txBody>
      </p:sp>
      <p:sp>
        <p:nvSpPr>
          <p:cNvPr id="18" name="레일"/>
          <p:cNvSpPr/>
          <p:nvPr/>
        </p:nvSpPr>
        <p:spPr>
          <a:xfrm>
            <a:off x="734087" y="1572261"/>
            <a:ext cx="580696" cy="53968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레일"/>
          <p:cNvSpPr>
            <a:spLocks noGrp="1"/>
          </p:cNvSpPr>
          <p:nvPr>
            <p:ph type="body" sz="quarter" idx="24"/>
          </p:nvPr>
        </p:nvSpPr>
        <p:spPr>
          <a:xfrm>
            <a:off x="734087" y="1572261"/>
            <a:ext cx="580696" cy="5396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 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화</a:t>
            </a:r>
          </a:p>
        </p:txBody>
      </p:sp>
      <p:sp>
        <p:nvSpPr>
          <p:cNvPr id="20" name="레일 삼각형"/>
          <p:cNvSpPr/>
          <p:nvPr/>
        </p:nvSpPr>
        <p:spPr>
          <a:xfrm>
            <a:off x="734086" y="1572260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5"/>
          </p:nvPr>
        </p:nvSpPr>
        <p:spPr>
          <a:xfrm>
            <a:off x="1358609" y="1594174"/>
            <a:ext cx="5626174" cy="5027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물공급 전 과정 인프라 고도화 필요성 대두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기후부 과불화화합물(PFAS) 규제강화 예고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핵심산업 자원안보 강조, 자원순환 활성화 촉구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93 서사 · 국민기대수질(체감도 높은 5대 항목 → 계절별 취약요소 4칸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11" name="분야 박스"/>
          <p:cNvSpPr/>
          <p:nvPr/>
        </p:nvSpPr>
        <p:spPr>
          <a:xfrm>
            <a:off x="766390" y="799826"/>
            <a:ext cx="592466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분야 박스"/>
          <p:cNvSpPr>
            <a:spLocks noGrp="1"/>
          </p:cNvSpPr>
          <p:nvPr>
            <p:ph type="body" sz="quarter" idx="21"/>
          </p:nvPr>
        </p:nvSpPr>
        <p:spPr>
          <a:xfrm>
            <a:off x="766390" y="799826"/>
            <a:ext cx="59246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국민기대</a:t>
            </a:r>
          </a:p>
        </p:txBody>
      </p:sp>
      <p:sp>
        <p:nvSpPr>
          <p:cNvPr id="13" name="형광 밑줄"/>
          <p:cNvSpPr/>
          <p:nvPr/>
        </p:nvSpPr>
        <p:spPr>
          <a:xfrm>
            <a:off x="1424595" y="920348"/>
            <a:ext cx="4030066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소제목"/>
          <p:cNvSpPr>
            <a:spLocks noGrp="1"/>
          </p:cNvSpPr>
          <p:nvPr>
            <p:ph type="body" sz="quarter" idx="22"/>
          </p:nvPr>
        </p:nvSpPr>
        <p:spPr>
          <a:xfrm>
            <a:off x="1424595" y="766957"/>
            <a:ext cx="5412275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야열대화 여건을 기후적응 기술로 극복, 역대 최고 국민기대수질 달성</a:t>
            </a:r>
          </a:p>
        </p:txBody>
      </p:sp>
      <p:sp>
        <p:nvSpPr>
          <p:cNvPr id="15" name="태그칩"/>
          <p:cNvSpPr/>
          <p:nvPr/>
        </p:nvSpPr>
        <p:spPr>
          <a:xfrm>
            <a:off x="5553270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태그칩"/>
          <p:cNvSpPr>
            <a:spLocks noGrp="1"/>
          </p:cNvSpPr>
          <p:nvPr>
            <p:ph type="body" sz="quarter" idx="23"/>
          </p:nvPr>
        </p:nvSpPr>
        <p:spPr>
          <a:xfrm>
            <a:off x="5553270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7" name="배너"/>
          <p:cNvSpPr/>
          <p:nvPr/>
        </p:nvSpPr>
        <p:spPr>
          <a:xfrm>
            <a:off x="536870" y="1062783"/>
            <a:ext cx="6300000" cy="328696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cxnSp>
        <p:nvCxnSpPr>
          <p:cNvPr id="18" name="Connector 12"/>
          <p:cNvCxnSpPr/>
          <p:nvPr/>
        </p:nvCxnSpPr>
        <p:spPr>
          <a:xfrm>
            <a:off x="536870" y="1062783"/>
            <a:ext cx="6300000" cy="0"/>
          </a:xfrm>
          <a:prstGeom prst="line">
            <a:avLst/>
          </a:prstGeom>
          <a:ln w="12700">
            <a:solidFill>
              <a:srgbClr val="BDE0FF"/>
            </a:solidFill>
          </a:ln>
        </p:spPr>
      </p:cxnSp>
      <p:sp>
        <p:nvSpPr>
          <p:cNvPr id="19" name="배너 글"/>
          <p:cNvSpPr>
            <a:spLocks noGrp="1"/>
          </p:cNvSpPr>
          <p:nvPr>
            <p:ph type="body" sz="quarter" idx="24"/>
          </p:nvPr>
        </p:nvSpPr>
        <p:spPr>
          <a:xfrm>
            <a:off x="536870" y="1117565"/>
            <a:ext cx="6300000" cy="19721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국민기대수질: 체감도가 높은 5대 항목(조류독소, 냄새, 소독부산물, 망간), ‘불검출’ 수준 관리</a:t>
            </a:r>
          </a:p>
        </p:txBody>
      </p:sp>
      <p:sp>
        <p:nvSpPr>
          <p:cNvPr id="20" name="표 외곽"/>
          <p:cNvSpPr/>
          <p:nvPr/>
        </p:nvSpPr>
        <p:spPr>
          <a:xfrm>
            <a:off x="536870" y="1435304"/>
            <a:ext cx="6300000" cy="134217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1" name="레일"/>
          <p:cNvSpPr/>
          <p:nvPr/>
        </p:nvSpPr>
        <p:spPr>
          <a:xfrm>
            <a:off x="547826" y="1451739"/>
            <a:ext cx="580696" cy="1309304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레일"/>
          <p:cNvSpPr>
            <a:spLocks noGrp="1"/>
          </p:cNvSpPr>
          <p:nvPr>
            <p:ph type="body" sz="quarter" idx="25"/>
          </p:nvPr>
        </p:nvSpPr>
        <p:spPr>
          <a:xfrm>
            <a:off x="547826" y="1451739"/>
            <a:ext cx="580696" cy="1309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취약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요소</a:t>
            </a:r>
          </a:p>
        </p:txBody>
      </p:sp>
      <p:sp>
        <p:nvSpPr>
          <p:cNvPr id="23" name="머리칸"/>
          <p:cNvSpPr/>
          <p:nvPr/>
        </p:nvSpPr>
        <p:spPr>
          <a:xfrm>
            <a:off x="1161391" y="1473652"/>
            <a:ext cx="139558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4" name="머리칸"/>
          <p:cNvSpPr>
            <a:spLocks noGrp="1"/>
          </p:cNvSpPr>
          <p:nvPr>
            <p:ph type="body" sz="quarter" idx="26"/>
          </p:nvPr>
        </p:nvSpPr>
        <p:spPr>
          <a:xfrm>
            <a:off x="1161391" y="1473652"/>
            <a:ext cx="13955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봄~가을 조류독소·냄새</a:t>
            </a:r>
          </a:p>
        </p:txBody>
      </p:sp>
      <p:sp>
        <p:nvSpPr>
          <p:cNvPr id="25" name="머리칸"/>
          <p:cNvSpPr/>
          <p:nvPr/>
        </p:nvSpPr>
        <p:spPr>
          <a:xfrm>
            <a:off x="2573413" y="1473652"/>
            <a:ext cx="139558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6" name="머리칸"/>
          <p:cNvSpPr>
            <a:spLocks noGrp="1"/>
          </p:cNvSpPr>
          <p:nvPr>
            <p:ph type="body" sz="quarter" idx="27"/>
          </p:nvPr>
        </p:nvSpPr>
        <p:spPr>
          <a:xfrm>
            <a:off x="2573413" y="1473652"/>
            <a:ext cx="13955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여름 소독부산물</a:t>
            </a:r>
          </a:p>
        </p:txBody>
      </p:sp>
      <p:sp>
        <p:nvSpPr>
          <p:cNvPr id="27" name="머리칸"/>
          <p:cNvSpPr/>
          <p:nvPr/>
        </p:nvSpPr>
        <p:spPr>
          <a:xfrm>
            <a:off x="3985435" y="1473652"/>
            <a:ext cx="139558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8" name="머리칸"/>
          <p:cNvSpPr>
            <a:spLocks noGrp="1"/>
          </p:cNvSpPr>
          <p:nvPr>
            <p:ph type="body" sz="quarter" idx="28"/>
          </p:nvPr>
        </p:nvSpPr>
        <p:spPr>
          <a:xfrm>
            <a:off x="3985435" y="1473652"/>
            <a:ext cx="13955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가을~겨울 망간</a:t>
            </a:r>
          </a:p>
        </p:txBody>
      </p:sp>
      <p:sp>
        <p:nvSpPr>
          <p:cNvPr id="29" name="머리칸"/>
          <p:cNvSpPr/>
          <p:nvPr/>
        </p:nvSpPr>
        <p:spPr>
          <a:xfrm>
            <a:off x="5397457" y="1473652"/>
            <a:ext cx="139558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0" name="머리칸"/>
          <p:cNvSpPr>
            <a:spLocks noGrp="1"/>
          </p:cNvSpPr>
          <p:nvPr>
            <p:ph type="body" sz="quarter" idx="29"/>
          </p:nvPr>
        </p:nvSpPr>
        <p:spPr>
          <a:xfrm>
            <a:off x="5397457" y="1473652"/>
            <a:ext cx="13955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연중 깔따구 유충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1172348" y="1714696"/>
            <a:ext cx="1390109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분말활성탄 투입 자동화: 휴일 등 취약시기 즉각 대응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독소 불검출, 냄새민원 Zero(’25년 他 지자체 민원 80건)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1"/>
          </p:nvPr>
        </p:nvSpPr>
        <p:spPr>
          <a:xfrm>
            <a:off x="2584370" y="1714696"/>
            <a:ext cx="1390109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수도꼭지까지 수질예측 확대: 소독공정 AI 시뮬레이션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無염소 국가 수준 운영(국내 수질기준보다 4배 강화)</a:t>
            </a:r>
          </a:p>
        </p:txBody>
      </p:sp>
      <p:cxnSp>
        <p:nvCxnSpPr>
          <p:cNvPr id="33" name="Connector 22"/>
          <p:cNvCxnSpPr/>
          <p:nvPr/>
        </p:nvCxnSpPr>
        <p:spPr>
          <a:xfrm>
            <a:off x="2573413" y="1747565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4" name="칸 본문"/>
          <p:cNvSpPr>
            <a:spLocks noGrp="1"/>
          </p:cNvSpPr>
          <p:nvPr>
            <p:ph type="body" sz="quarter" idx="32"/>
          </p:nvPr>
        </p:nvSpPr>
        <p:spPr>
          <a:xfrm>
            <a:off x="3996391" y="1714696"/>
            <a:ext cx="1390109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가정용필터 감시 병행: 필터변색 징후 사전감지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망간 민원 Zero(’25년 他 지자체 민원 180건)</a:t>
            </a:r>
          </a:p>
        </p:txBody>
      </p:sp>
      <p:cxnSp>
        <p:nvCxnSpPr>
          <p:cNvPr id="35" name="Connector 24"/>
          <p:cNvCxnSpPr/>
          <p:nvPr/>
        </p:nvCxnSpPr>
        <p:spPr>
          <a:xfrm>
            <a:off x="3985435" y="1747565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6" name="칸 본문"/>
          <p:cNvSpPr>
            <a:spLocks noGrp="1"/>
          </p:cNvSpPr>
          <p:nvPr>
            <p:ph type="body" sz="quarter" idx="33"/>
          </p:nvPr>
        </p:nvSpPr>
        <p:spPr>
          <a:xfrm>
            <a:off x="5408413" y="1714696"/>
            <a:ext cx="1390109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다채널 유충계측기 기술개발: 원수~정수 24시간 감시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全 정수장 유충 미발생(’25년 3개 지자체 발생)</a:t>
            </a:r>
          </a:p>
        </p:txBody>
      </p:sp>
      <p:cxnSp>
        <p:nvCxnSpPr>
          <p:cNvPr id="37" name="Connector 26"/>
          <p:cNvCxnSpPr/>
          <p:nvPr/>
        </p:nvCxnSpPr>
        <p:spPr>
          <a:xfrm>
            <a:off x="5397457" y="1747565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8" name="핵심성과 박스"/>
          <p:cNvSpPr/>
          <p:nvPr/>
        </p:nvSpPr>
        <p:spPr>
          <a:xfrm>
            <a:off x="536870" y="2865130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9" name="핵심성과 라벨"/>
          <p:cNvSpPr/>
          <p:nvPr/>
        </p:nvSpPr>
        <p:spPr>
          <a:xfrm>
            <a:off x="569739" y="2903478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40" name="핵심성과 라벨"/>
          <p:cNvSpPr>
            <a:spLocks noGrp="1"/>
          </p:cNvSpPr>
          <p:nvPr>
            <p:ph type="body" sz="quarter" idx="34"/>
          </p:nvPr>
        </p:nvSpPr>
        <p:spPr>
          <a:xfrm>
            <a:off x="569739" y="2903478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1" name="핵심성과 문구"/>
          <p:cNvSpPr>
            <a:spLocks noGrp="1"/>
          </p:cNvSpPr>
          <p:nvPr>
            <p:ph type="body" sz="quarter" idx="35"/>
          </p:nvPr>
        </p:nvSpPr>
        <p:spPr>
          <a:xfrm>
            <a:off x="1314783" y="2881565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선진국 최고 수질기준 대비 최대 2배 상회한 ‘국민기대수질’ 설정, 달성률 98.3%(역대 최고)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94 서사 · 인프라 강화(정수 · 배출수 × 기존 → 추진실적 → 개선계획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10" name="분야 박스"/>
          <p:cNvSpPr/>
          <p:nvPr/>
        </p:nvSpPr>
        <p:spPr>
          <a:xfrm>
            <a:off x="952651" y="810783"/>
            <a:ext cx="731506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1" name="분야 박스"/>
          <p:cNvSpPr>
            <a:spLocks noGrp="1"/>
          </p:cNvSpPr>
          <p:nvPr>
            <p:ph type="body" sz="quarter" idx="21"/>
          </p:nvPr>
        </p:nvSpPr>
        <p:spPr>
          <a:xfrm>
            <a:off x="952651" y="810783"/>
            <a:ext cx="73150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인프라 강화</a:t>
            </a:r>
          </a:p>
        </p:txBody>
      </p:sp>
      <p:sp>
        <p:nvSpPr>
          <p:cNvPr id="12" name="형광 밑줄"/>
          <p:cNvSpPr/>
          <p:nvPr/>
        </p:nvSpPr>
        <p:spPr>
          <a:xfrm>
            <a:off x="1749896" y="931304"/>
            <a:ext cx="4172877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3" name="소제목"/>
          <p:cNvSpPr>
            <a:spLocks noGrp="1"/>
          </p:cNvSpPr>
          <p:nvPr>
            <p:ph type="body" sz="quarter" idx="22"/>
          </p:nvPr>
        </p:nvSpPr>
        <p:spPr>
          <a:xfrm>
            <a:off x="1749896" y="777913"/>
            <a:ext cx="5273235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미래 수질이슈 및 규제강화 대비, 정수장 종합계획(Master Plan) 추진</a:t>
            </a:r>
          </a:p>
        </p:txBody>
      </p:sp>
      <p:sp>
        <p:nvSpPr>
          <p:cNvPr id="14" name="태그칩"/>
          <p:cNvSpPr/>
          <p:nvPr/>
        </p:nvSpPr>
        <p:spPr>
          <a:xfrm>
            <a:off x="6021381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3"/>
          </p:nvPr>
        </p:nvSpPr>
        <p:spPr>
          <a:xfrm>
            <a:off x="6021381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표 외곽"/>
          <p:cNvSpPr/>
          <p:nvPr/>
        </p:nvSpPr>
        <p:spPr>
          <a:xfrm>
            <a:off x="723130" y="1062783"/>
            <a:ext cx="6300000" cy="116687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734087" y="1079217"/>
            <a:ext cx="580696" cy="113400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4"/>
          </p:nvPr>
        </p:nvSpPr>
        <p:spPr>
          <a:xfrm>
            <a:off x="734087" y="1079217"/>
            <a:ext cx="580696" cy="113400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정수 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배출수</a:t>
            </a:r>
          </a:p>
        </p:txBody>
      </p:sp>
      <p:sp>
        <p:nvSpPr>
          <p:cNvPr id="19" name="단계"/>
          <p:cNvSpPr/>
          <p:nvPr/>
        </p:nvSpPr>
        <p:spPr>
          <a:xfrm>
            <a:off x="1347652" y="1101130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0" name="단계"/>
          <p:cNvSpPr>
            <a:spLocks noGrp="1"/>
          </p:cNvSpPr>
          <p:nvPr>
            <p:ph type="body" sz="quarter" idx="25"/>
          </p:nvPr>
        </p:nvSpPr>
        <p:spPr>
          <a:xfrm>
            <a:off x="1347652" y="110113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~’24년 기존</a:t>
            </a:r>
          </a:p>
        </p:txBody>
      </p:sp>
      <p:sp>
        <p:nvSpPr>
          <p:cNvPr id="21" name="단계"/>
          <p:cNvSpPr/>
          <p:nvPr/>
        </p:nvSpPr>
        <p:spPr>
          <a:xfrm>
            <a:off x="3230348" y="1101130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2" name="단계"/>
          <p:cNvSpPr>
            <a:spLocks noGrp="1"/>
          </p:cNvSpPr>
          <p:nvPr>
            <p:ph type="body" sz="quarter" idx="26"/>
          </p:nvPr>
        </p:nvSpPr>
        <p:spPr>
          <a:xfrm>
            <a:off x="3230348" y="110113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추진실적</a:t>
            </a:r>
          </a:p>
        </p:txBody>
      </p:sp>
      <p:sp>
        <p:nvSpPr>
          <p:cNvPr id="23" name="단계"/>
          <p:cNvSpPr/>
          <p:nvPr/>
        </p:nvSpPr>
        <p:spPr>
          <a:xfrm>
            <a:off x="5113043" y="1101130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4" name="단계"/>
          <p:cNvSpPr>
            <a:spLocks noGrp="1"/>
          </p:cNvSpPr>
          <p:nvPr>
            <p:ph type="body" sz="quarter" idx="27"/>
          </p:nvPr>
        </p:nvSpPr>
        <p:spPr>
          <a:xfrm>
            <a:off x="5113043" y="1101130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~’40년 개선계획</a:t>
            </a:r>
          </a:p>
        </p:txBody>
      </p:sp>
      <p:sp>
        <p:nvSpPr>
          <p:cNvPr id="25" name="단계 삼각형"/>
          <p:cNvSpPr/>
          <p:nvPr/>
        </p:nvSpPr>
        <p:spPr>
          <a:xfrm>
            <a:off x="3230347" y="1101130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6" name="단계 삼각형"/>
          <p:cNvSpPr/>
          <p:nvPr/>
        </p:nvSpPr>
        <p:spPr>
          <a:xfrm>
            <a:off x="5113043" y="1101130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7" name="칸 본문"/>
          <p:cNvSpPr>
            <a:spLocks noGrp="1"/>
          </p:cNvSpPr>
          <p:nvPr>
            <p:ph type="body" sz="quarter" idx="28"/>
          </p:nvPr>
        </p:nvSpPr>
        <p:spPr>
          <a:xfrm>
            <a:off x="1358609" y="1353130"/>
            <a:ext cx="1860783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표준 공정중심 + 고도확대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한강·낙동강 고도도입(13개소)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고형물 중심 표준 1차 처리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9"/>
          </p:nvPr>
        </p:nvSpPr>
        <p:spPr>
          <a:xfrm>
            <a:off x="3241304" y="1353130"/>
            <a:ext cx="1860783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미래형 혁신정수장 시범도입(5개소)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공주(정) 등 8개소 설계·타당성 조사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미량물질 제거 2차 처리시설 확대</a:t>
            </a:r>
          </a:p>
        </p:txBody>
      </p:sp>
      <p:cxnSp>
        <p:nvCxnSpPr>
          <p:cNvPr id="29" name="Connector 17"/>
          <p:cNvCxnSpPr/>
          <p:nvPr/>
        </p:nvCxnSpPr>
        <p:spPr>
          <a:xfrm>
            <a:off x="3230348" y="1386000"/>
            <a:ext cx="0" cy="788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0" name="칸 본문"/>
          <p:cNvSpPr>
            <a:spLocks noGrp="1"/>
          </p:cNvSpPr>
          <p:nvPr>
            <p:ph type="body" sz="quarter" idx="30"/>
          </p:nvPr>
        </p:nvSpPr>
        <p:spPr>
          <a:xfrm>
            <a:off x="5124000" y="1353130"/>
            <a:ext cx="1860783" cy="854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초고도 도입(활성탄+미세막)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全 유역 고도 100% 확대(39개소)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친환경 수처리로 폐수 재이용</a:t>
            </a:r>
          </a:p>
        </p:txBody>
      </p:sp>
      <p:cxnSp>
        <p:nvCxnSpPr>
          <p:cNvPr id="31" name="Connector 19"/>
          <p:cNvCxnSpPr/>
          <p:nvPr/>
        </p:nvCxnSpPr>
        <p:spPr>
          <a:xfrm>
            <a:off x="5113043" y="1386000"/>
            <a:ext cx="0" cy="788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2" name="핵심성과 박스"/>
          <p:cNvSpPr/>
          <p:nvPr/>
        </p:nvSpPr>
        <p:spPr>
          <a:xfrm>
            <a:off x="723130" y="2317304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3" name="핵심성과 라벨"/>
          <p:cNvSpPr/>
          <p:nvPr/>
        </p:nvSpPr>
        <p:spPr>
          <a:xfrm>
            <a:off x="756000" y="2355652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34" name="핵심성과 라벨"/>
          <p:cNvSpPr>
            <a:spLocks noGrp="1"/>
          </p:cNvSpPr>
          <p:nvPr>
            <p:ph type="body" sz="quarter" idx="31"/>
          </p:nvPr>
        </p:nvSpPr>
        <p:spPr>
          <a:xfrm>
            <a:off x="756000" y="2355652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5" name="핵심성과 문구"/>
          <p:cNvSpPr>
            <a:spLocks noGrp="1"/>
          </p:cNvSpPr>
          <p:nvPr>
            <p:ph type="body" sz="quarter" idx="32"/>
          </p:nvPr>
        </p:nvSpPr>
        <p:spPr>
          <a:xfrm>
            <a:off x="1501043" y="2333739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고품질 수돗물 생산 기반 고도정수처리 도입률 56.6%, ’25년 성과목표 101% 초과 달성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95 서사 · 규제대비 PFAS OUT 로드맵(과불화화합물 4대 대응 → 고도처리 핵심자원 활성탄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</a:t>
            </a:r>
          </a:p>
        </p:txBody>
      </p:sp>
      <p:sp>
        <p:nvSpPr>
          <p:cNvPr id="11" name="분야 박스"/>
          <p:cNvSpPr/>
          <p:nvPr/>
        </p:nvSpPr>
        <p:spPr>
          <a:xfrm>
            <a:off x="766390" y="799826"/>
            <a:ext cx="592466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분야 박스"/>
          <p:cNvSpPr>
            <a:spLocks noGrp="1"/>
          </p:cNvSpPr>
          <p:nvPr>
            <p:ph type="body" sz="quarter" idx="21"/>
          </p:nvPr>
        </p:nvSpPr>
        <p:spPr>
          <a:xfrm>
            <a:off x="766390" y="799826"/>
            <a:ext cx="59246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규제대비</a:t>
            </a:r>
          </a:p>
        </p:txBody>
      </p:sp>
      <p:sp>
        <p:nvSpPr>
          <p:cNvPr id="13" name="형광 밑줄"/>
          <p:cNvSpPr/>
          <p:nvPr/>
        </p:nvSpPr>
        <p:spPr>
          <a:xfrm>
            <a:off x="1424595" y="920348"/>
            <a:ext cx="3672778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소제목"/>
          <p:cNvSpPr>
            <a:spLocks noGrp="1"/>
          </p:cNvSpPr>
          <p:nvPr>
            <p:ph type="body" sz="quarter" idx="22"/>
          </p:nvPr>
        </p:nvSpPr>
        <p:spPr>
          <a:xfrm>
            <a:off x="1424595" y="766957"/>
            <a:ext cx="5412275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‘PFAS OUT’ 로드맵과 활성탄 순환체계 구축으로 선제적 대비</a:t>
            </a:r>
          </a:p>
        </p:txBody>
      </p:sp>
      <p:sp>
        <p:nvSpPr>
          <p:cNvPr id="15" name="태그칩"/>
          <p:cNvSpPr/>
          <p:nvPr/>
        </p:nvSpPr>
        <p:spPr>
          <a:xfrm>
            <a:off x="5195981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태그칩"/>
          <p:cNvSpPr>
            <a:spLocks noGrp="1"/>
          </p:cNvSpPr>
          <p:nvPr>
            <p:ph type="body" sz="quarter" idx="23"/>
          </p:nvPr>
        </p:nvSpPr>
        <p:spPr>
          <a:xfrm>
            <a:off x="5195981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7" name="배너"/>
          <p:cNvSpPr/>
          <p:nvPr/>
        </p:nvSpPr>
        <p:spPr>
          <a:xfrm>
            <a:off x="536870" y="1062783"/>
            <a:ext cx="6300000" cy="328696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cxnSp>
        <p:nvCxnSpPr>
          <p:cNvPr id="18" name="Connector 12"/>
          <p:cNvCxnSpPr/>
          <p:nvPr/>
        </p:nvCxnSpPr>
        <p:spPr>
          <a:xfrm>
            <a:off x="536870" y="1062783"/>
            <a:ext cx="6300000" cy="0"/>
          </a:xfrm>
          <a:prstGeom prst="line">
            <a:avLst/>
          </a:prstGeom>
          <a:ln w="12700">
            <a:solidFill>
              <a:srgbClr val="BDE0FF"/>
            </a:solidFill>
          </a:ln>
        </p:spPr>
      </p:cxnSp>
      <p:sp>
        <p:nvSpPr>
          <p:cNvPr id="19" name="배너 글"/>
          <p:cNvSpPr>
            <a:spLocks noGrp="1"/>
          </p:cNvSpPr>
          <p:nvPr>
            <p:ph type="body" sz="quarter" idx="24"/>
          </p:nvPr>
        </p:nvSpPr>
        <p:spPr>
          <a:xfrm>
            <a:off x="536870" y="1117565"/>
            <a:ext cx="6300000" cy="19721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과불화화합물(PFAS): WHO 신규 발암물질, ‘Forever Chemical’</a:t>
            </a:r>
          </a:p>
        </p:txBody>
      </p:sp>
      <p:sp>
        <p:nvSpPr>
          <p:cNvPr id="20" name="표 외곽"/>
          <p:cNvSpPr/>
          <p:nvPr/>
        </p:nvSpPr>
        <p:spPr>
          <a:xfrm>
            <a:off x="536870" y="1435304"/>
            <a:ext cx="6300000" cy="2799391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1" name="레일"/>
          <p:cNvSpPr/>
          <p:nvPr/>
        </p:nvSpPr>
        <p:spPr>
          <a:xfrm>
            <a:off x="547826" y="1451739"/>
            <a:ext cx="580696" cy="1769478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2" name="레일"/>
          <p:cNvSpPr>
            <a:spLocks noGrp="1"/>
          </p:cNvSpPr>
          <p:nvPr>
            <p:ph type="body" sz="quarter" idx="25"/>
          </p:nvPr>
        </p:nvSpPr>
        <p:spPr>
          <a:xfrm>
            <a:off x="547826" y="1451739"/>
            <a:ext cx="580696" cy="176947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4대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대응</a:t>
            </a:r>
          </a:p>
        </p:txBody>
      </p:sp>
      <p:sp>
        <p:nvSpPr>
          <p:cNvPr id="23" name="머리칸"/>
          <p:cNvSpPr/>
          <p:nvPr/>
        </p:nvSpPr>
        <p:spPr>
          <a:xfrm>
            <a:off x="1161391" y="1473652"/>
            <a:ext cx="139558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4" name="머리칸"/>
          <p:cNvSpPr>
            <a:spLocks noGrp="1"/>
          </p:cNvSpPr>
          <p:nvPr>
            <p:ph type="body" sz="quarter" idx="26"/>
          </p:nvPr>
        </p:nvSpPr>
        <p:spPr>
          <a:xfrm>
            <a:off x="1161391" y="1473652"/>
            <a:ext cx="13955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모니터링 항목·범위 확대</a:t>
            </a:r>
          </a:p>
        </p:txBody>
      </p:sp>
      <p:sp>
        <p:nvSpPr>
          <p:cNvPr id="25" name="머리칸"/>
          <p:cNvSpPr/>
          <p:nvPr/>
        </p:nvSpPr>
        <p:spPr>
          <a:xfrm>
            <a:off x="2573413" y="1473652"/>
            <a:ext cx="139558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6" name="머리칸"/>
          <p:cNvSpPr>
            <a:spLocks noGrp="1"/>
          </p:cNvSpPr>
          <p:nvPr>
            <p:ph type="body" sz="quarter" idx="27"/>
          </p:nvPr>
        </p:nvSpPr>
        <p:spPr>
          <a:xfrm>
            <a:off x="2573413" y="1473652"/>
            <a:ext cx="13955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정수처리 고도처리 강화</a:t>
            </a:r>
          </a:p>
        </p:txBody>
      </p:sp>
      <p:sp>
        <p:nvSpPr>
          <p:cNvPr id="27" name="머리칸"/>
          <p:cNvSpPr/>
          <p:nvPr/>
        </p:nvSpPr>
        <p:spPr>
          <a:xfrm>
            <a:off x="3985435" y="1473652"/>
            <a:ext cx="139558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8" name="머리칸"/>
          <p:cNvSpPr>
            <a:spLocks noGrp="1"/>
          </p:cNvSpPr>
          <p:nvPr>
            <p:ph type="body" sz="quarter" idx="28"/>
          </p:nvPr>
        </p:nvSpPr>
        <p:spPr>
          <a:xfrm>
            <a:off x="3985435" y="1473652"/>
            <a:ext cx="13955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무해화 배출원 관리</a:t>
            </a:r>
          </a:p>
        </p:txBody>
      </p:sp>
      <p:sp>
        <p:nvSpPr>
          <p:cNvPr id="29" name="머리칸"/>
          <p:cNvSpPr/>
          <p:nvPr/>
        </p:nvSpPr>
        <p:spPr>
          <a:xfrm>
            <a:off x="5397457" y="1473652"/>
            <a:ext cx="139558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0" name="머리칸"/>
          <p:cNvSpPr>
            <a:spLocks noGrp="1"/>
          </p:cNvSpPr>
          <p:nvPr>
            <p:ph type="body" sz="quarter" idx="29"/>
          </p:nvPr>
        </p:nvSpPr>
        <p:spPr>
          <a:xfrm>
            <a:off x="5397457" y="1473652"/>
            <a:ext cx="13955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정책선도 선제적 R&amp;D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1172348" y="1714696"/>
            <a:ext cx="1390109" cy="1501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이슈: PFAS 검출빈도↑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항목 3 → 40(정수 · 원수 확대)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’26년~ 분기 1회 → 월 1회, 선제적 감시 강화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1"/>
          </p:nvPr>
        </p:nvSpPr>
        <p:spPr>
          <a:xfrm>
            <a:off x="2584370" y="1714696"/>
            <a:ext cx="1390109" cy="1501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이슈: 활성탄 수급 불안정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운영고도화 · 전 유역 재생시설 · 고도도입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’40년 고도100%, 초고도 3개 → 순환형 수급체계 준비</a:t>
            </a:r>
          </a:p>
        </p:txBody>
      </p:sp>
      <p:cxnSp>
        <p:nvCxnSpPr>
          <p:cNvPr id="33" name="Connector 22"/>
          <p:cNvCxnSpPr/>
          <p:nvPr/>
        </p:nvCxnSpPr>
        <p:spPr>
          <a:xfrm>
            <a:off x="2573413" y="1747565"/>
            <a:ext cx="0" cy="143530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4" name="칸 본문"/>
          <p:cNvSpPr>
            <a:spLocks noGrp="1"/>
          </p:cNvSpPr>
          <p:nvPr>
            <p:ph type="body" sz="quarter" idx="32"/>
          </p:nvPr>
        </p:nvSpPr>
        <p:spPr>
          <a:xfrm>
            <a:off x="3996391" y="1714696"/>
            <a:ext cx="1390109" cy="1501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이슈: PFAS 함유 폐수처리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활성탄 재생 시 고농도 응축 폐수 생성 가능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’30년 자체처리로 無배출 → PFAS 배출경로 차단</a:t>
            </a:r>
          </a:p>
        </p:txBody>
      </p:sp>
      <p:cxnSp>
        <p:nvCxnSpPr>
          <p:cNvPr id="35" name="Connector 24"/>
          <p:cNvCxnSpPr/>
          <p:nvPr/>
        </p:nvCxnSpPr>
        <p:spPr>
          <a:xfrm>
            <a:off x="3985435" y="1747565"/>
            <a:ext cx="0" cy="143530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6" name="칸 본문"/>
          <p:cNvSpPr>
            <a:spLocks noGrp="1"/>
          </p:cNvSpPr>
          <p:nvPr>
            <p:ph type="body" sz="quarter" idx="33"/>
          </p:nvPr>
        </p:nvSpPr>
        <p:spPr>
          <a:xfrm>
            <a:off x="5408413" y="1714696"/>
            <a:ext cx="1390109" cy="1501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이슈: 중장기적 대응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기후부 대응 협의체 참여로 국가 R&amp;D 정책 견인(384억원 규모 예산 확보)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’30년 대체재 등 기술확보 → 국가 PFAS 대응 선도</a:t>
            </a:r>
          </a:p>
        </p:txBody>
      </p:sp>
      <p:cxnSp>
        <p:nvCxnSpPr>
          <p:cNvPr id="37" name="Connector 26"/>
          <p:cNvCxnSpPr/>
          <p:nvPr/>
        </p:nvCxnSpPr>
        <p:spPr>
          <a:xfrm>
            <a:off x="5397457" y="1747565"/>
            <a:ext cx="0" cy="143530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8" name="레일"/>
          <p:cNvSpPr/>
          <p:nvPr/>
        </p:nvSpPr>
        <p:spPr>
          <a:xfrm>
            <a:off x="547826" y="3237652"/>
            <a:ext cx="580696" cy="980609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9" name="레일"/>
          <p:cNvSpPr>
            <a:spLocks noGrp="1"/>
          </p:cNvSpPr>
          <p:nvPr>
            <p:ph type="body" sz="quarter" idx="34"/>
          </p:nvPr>
        </p:nvSpPr>
        <p:spPr>
          <a:xfrm>
            <a:off x="547826" y="3237652"/>
            <a:ext cx="580696" cy="980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핵심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자원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활성탄</a:t>
            </a:r>
          </a:p>
        </p:txBody>
      </p:sp>
      <p:sp>
        <p:nvSpPr>
          <p:cNvPr id="40" name="레일 삼각형"/>
          <p:cNvSpPr/>
          <p:nvPr/>
        </p:nvSpPr>
        <p:spPr>
          <a:xfrm>
            <a:off x="547826" y="3237652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1" name="머리칸"/>
          <p:cNvSpPr/>
          <p:nvPr/>
        </p:nvSpPr>
        <p:spPr>
          <a:xfrm>
            <a:off x="1161391" y="325956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2" name="머리칸"/>
          <p:cNvSpPr>
            <a:spLocks noGrp="1"/>
          </p:cNvSpPr>
          <p:nvPr>
            <p:ph type="body" sz="quarter" idx="35"/>
          </p:nvPr>
        </p:nvSpPr>
        <p:spPr>
          <a:xfrm>
            <a:off x="1161391" y="325956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비축 1년치 구매량 비축</a:t>
            </a:r>
          </a:p>
        </p:txBody>
      </p:sp>
      <p:sp>
        <p:nvSpPr>
          <p:cNvPr id="43" name="머리칸"/>
          <p:cNvSpPr/>
          <p:nvPr/>
        </p:nvSpPr>
        <p:spPr>
          <a:xfrm>
            <a:off x="3044087" y="325956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4" name="머리칸"/>
          <p:cNvSpPr>
            <a:spLocks noGrp="1"/>
          </p:cNvSpPr>
          <p:nvPr>
            <p:ph type="body" sz="quarter" idx="36"/>
          </p:nvPr>
        </p:nvSpPr>
        <p:spPr>
          <a:xfrm>
            <a:off x="3044087" y="325956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재생 교체량의 85% 재생</a:t>
            </a:r>
          </a:p>
        </p:txBody>
      </p:sp>
      <p:sp>
        <p:nvSpPr>
          <p:cNvPr id="45" name="머리칸"/>
          <p:cNvSpPr/>
          <p:nvPr/>
        </p:nvSpPr>
        <p:spPr>
          <a:xfrm>
            <a:off x="4926783" y="3259565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6" name="머리칸"/>
          <p:cNvSpPr>
            <a:spLocks noGrp="1"/>
          </p:cNvSpPr>
          <p:nvPr>
            <p:ph type="body" sz="quarter" idx="37"/>
          </p:nvPr>
        </p:nvSpPr>
        <p:spPr>
          <a:xfrm>
            <a:off x="4926783" y="3259565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대비 선제 준비로 대응강화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38"/>
          </p:nvPr>
        </p:nvSpPr>
        <p:spPr>
          <a:xfrm>
            <a:off x="1172348" y="3500609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한강 준공, 낙동강 공사중 조달청 합동비축(군산)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8천㎥ 규모(1년 구매량)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39"/>
          </p:nvPr>
        </p:nvSpPr>
        <p:spPr>
          <a:xfrm>
            <a:off x="3055043" y="3500609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全유역 재생시설 도입: 한강·낙동강 공사 중, 금강·영섭 계획 완료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126㎥/일(연 교체량 85%)</a:t>
            </a:r>
          </a:p>
        </p:txBody>
      </p:sp>
      <p:cxnSp>
        <p:nvCxnSpPr>
          <p:cNvPr id="49" name="Connector 34"/>
          <p:cNvCxnSpPr/>
          <p:nvPr/>
        </p:nvCxnSpPr>
        <p:spPr>
          <a:xfrm>
            <a:off x="3044087" y="3533478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0" name="칸 본문"/>
          <p:cNvSpPr>
            <a:spLocks noGrp="1"/>
          </p:cNvSpPr>
          <p:nvPr>
            <p:ph type="body" sz="quarter" idx="40"/>
          </p:nvPr>
        </p:nvSpPr>
        <p:spPr>
          <a:xfrm>
            <a:off x="4937739" y="3500609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활성탄 자급체계 구축: 신탄 구매 85%(355억원/연) 절감효과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재생기술 수출로 우수성 입증(美 실증 MOU, 태국 성능평가)</a:t>
            </a:r>
          </a:p>
        </p:txBody>
      </p:sp>
      <p:cxnSp>
        <p:nvCxnSpPr>
          <p:cNvPr id="51" name="Connector 36"/>
          <p:cNvCxnSpPr/>
          <p:nvPr/>
        </p:nvCxnSpPr>
        <p:spPr>
          <a:xfrm>
            <a:off x="4926783" y="3533478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96 서사 · 현황 분석(두 칸 + 시사점) → 개선 방향(기존 → 개선, 연도 3단 + 막대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5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지능형 AI 기반 운영혁신과 자산 데이터 기반 투자 최적화로 원가 저감</a:t>
            </a:r>
          </a:p>
        </p:txBody>
      </p:sp>
      <p:sp>
        <p:nvSpPr>
          <p:cNvPr id="14" name="표 외곽"/>
          <p:cNvSpPr/>
          <p:nvPr/>
        </p:nvSpPr>
        <p:spPr>
          <a:xfrm>
            <a:off x="723130" y="1128522"/>
            <a:ext cx="6300000" cy="164347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734087" y="1144957"/>
            <a:ext cx="580696" cy="646435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144957"/>
            <a:ext cx="580696" cy="64643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 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분 석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3"/>
          </p:nvPr>
        </p:nvSpPr>
        <p:spPr>
          <a:xfrm>
            <a:off x="1358609" y="1166870"/>
            <a:ext cx="2802130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수도원가 상승을 극복하기 위해 디지털 혁신·저에너지 운영체계 추진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4"/>
          </p:nvPr>
        </p:nvSpPr>
        <p:spPr>
          <a:xfrm>
            <a:off x="4182652" y="1166870"/>
            <a:ext cx="2802130" cy="38347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에너지 전환 정책, 전력수요 증가 대응을 위한 운영혁신 및 자산관리 기반 원가절감 필요</a:t>
            </a:r>
          </a:p>
        </p:txBody>
      </p:sp>
      <p:cxnSp>
        <p:nvCxnSpPr>
          <p:cNvPr id="19" name="Connector 12"/>
          <p:cNvCxnSpPr/>
          <p:nvPr/>
        </p:nvCxnSpPr>
        <p:spPr>
          <a:xfrm>
            <a:off x="4171696" y="1199739"/>
            <a:ext cx="0" cy="31773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0" name="배너"/>
          <p:cNvSpPr/>
          <p:nvPr/>
        </p:nvSpPr>
        <p:spPr>
          <a:xfrm>
            <a:off x="1347652" y="1566783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1" name="배너"/>
          <p:cNvSpPr>
            <a:spLocks noGrp="1"/>
          </p:cNvSpPr>
          <p:nvPr>
            <p:ph type="body" sz="quarter" idx="25"/>
          </p:nvPr>
        </p:nvSpPr>
        <p:spPr>
          <a:xfrm>
            <a:off x="1347652" y="1566783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시사점: 비용 저감 중심의 단기 목표를 넘어, 효율 기반의 중장기 관리체계로 전환(당초 ’26년 → ’30년 확대)</a:t>
            </a:r>
          </a:p>
        </p:txBody>
      </p:sp>
      <p:sp>
        <p:nvSpPr>
          <p:cNvPr id="22" name="레일"/>
          <p:cNvSpPr/>
          <p:nvPr/>
        </p:nvSpPr>
        <p:spPr>
          <a:xfrm>
            <a:off x="734087" y="1807826"/>
            <a:ext cx="580696" cy="947739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3" name="레일"/>
          <p:cNvSpPr>
            <a:spLocks noGrp="1"/>
          </p:cNvSpPr>
          <p:nvPr>
            <p:ph type="body" sz="quarter" idx="26"/>
          </p:nvPr>
        </p:nvSpPr>
        <p:spPr>
          <a:xfrm>
            <a:off x="734087" y="1807826"/>
            <a:ext cx="580696" cy="947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 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 향</a:t>
            </a:r>
          </a:p>
        </p:txBody>
      </p:sp>
      <p:sp>
        <p:nvSpPr>
          <p:cNvPr id="24" name="레일 삼각형"/>
          <p:cNvSpPr/>
          <p:nvPr/>
        </p:nvSpPr>
        <p:spPr>
          <a:xfrm>
            <a:off x="734086" y="1807826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5" name="단계"/>
          <p:cNvSpPr/>
          <p:nvPr/>
        </p:nvSpPr>
        <p:spPr>
          <a:xfrm>
            <a:off x="1347652" y="1829739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6" name="단계"/>
          <p:cNvSpPr>
            <a:spLocks noGrp="1"/>
          </p:cNvSpPr>
          <p:nvPr>
            <p:ph type="body" sz="quarter" idx="27"/>
          </p:nvPr>
        </p:nvSpPr>
        <p:spPr>
          <a:xfrm>
            <a:off x="1347652" y="182973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’24~’26 생산원가 저감</a:t>
            </a:r>
          </a:p>
        </p:txBody>
      </p:sp>
      <p:sp>
        <p:nvSpPr>
          <p:cNvPr id="27" name="단계"/>
          <p:cNvSpPr/>
          <p:nvPr/>
        </p:nvSpPr>
        <p:spPr>
          <a:xfrm>
            <a:off x="3230348" y="1829739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8" name="단계"/>
          <p:cNvSpPr>
            <a:spLocks noGrp="1"/>
          </p:cNvSpPr>
          <p:nvPr>
            <p:ph type="body" sz="quarter" idx="28"/>
          </p:nvPr>
        </p:nvSpPr>
        <p:spPr>
          <a:xfrm>
            <a:off x="3230348" y="182973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미래 전환 대응</a:t>
            </a:r>
          </a:p>
        </p:txBody>
      </p:sp>
      <p:sp>
        <p:nvSpPr>
          <p:cNvPr id="29" name="단계"/>
          <p:cNvSpPr/>
          <p:nvPr/>
        </p:nvSpPr>
        <p:spPr>
          <a:xfrm>
            <a:off x="5113043" y="1829739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0" name="단계"/>
          <p:cNvSpPr>
            <a:spLocks noGrp="1"/>
          </p:cNvSpPr>
          <p:nvPr>
            <p:ph type="body" sz="quarter" idx="29"/>
          </p:nvPr>
        </p:nvSpPr>
        <p:spPr>
          <a:xfrm>
            <a:off x="5113043" y="182973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~’30년 운영혁신 완성</a:t>
            </a:r>
          </a:p>
        </p:txBody>
      </p:sp>
      <p:sp>
        <p:nvSpPr>
          <p:cNvPr id="31" name="단계 삼각형"/>
          <p:cNvSpPr/>
          <p:nvPr/>
        </p:nvSpPr>
        <p:spPr>
          <a:xfrm>
            <a:off x="3230347" y="1829739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2" name="단계 삼각형"/>
          <p:cNvSpPr/>
          <p:nvPr/>
        </p:nvSpPr>
        <p:spPr>
          <a:xfrm>
            <a:off x="5113043" y="1829739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0"/>
          </p:nvPr>
        </p:nvSpPr>
        <p:spPr>
          <a:xfrm>
            <a:off x="1358609" y="2081739"/>
            <a:ext cx="1860783" cy="668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디지털·고효율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생산공급 全과정 에너지효율화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원가절감 목표 55 → 172 → 225억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1"/>
          </p:nvPr>
        </p:nvSpPr>
        <p:spPr>
          <a:xfrm>
            <a:off x="3241304" y="2081739"/>
            <a:ext cx="1860783" cy="668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AI운영·미래 환경 대응 운영체계 고도화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자립형 e체계 전환</a:t>
            </a:r>
          </a:p>
        </p:txBody>
      </p:sp>
      <p:cxnSp>
        <p:nvCxnSpPr>
          <p:cNvPr id="35" name="Connector 23"/>
          <p:cNvCxnSpPr/>
          <p:nvPr/>
        </p:nvCxnSpPr>
        <p:spPr>
          <a:xfrm>
            <a:off x="3230348" y="2114609"/>
            <a:ext cx="0" cy="60260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6" name="칸 본문"/>
          <p:cNvSpPr>
            <a:spLocks noGrp="1"/>
          </p:cNvSpPr>
          <p:nvPr>
            <p:ph type="body" sz="quarter" idx="32"/>
          </p:nvPr>
        </p:nvSpPr>
        <p:spPr>
          <a:xfrm>
            <a:off x="5124000" y="2081739"/>
            <a:ext cx="1860783" cy="668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지능형 AI 운영 확립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에너지 효율화 선순환 구조 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2030 원가절감 목표 484억</a:t>
            </a:r>
          </a:p>
        </p:txBody>
      </p:sp>
      <p:cxnSp>
        <p:nvCxnSpPr>
          <p:cNvPr id="37" name="Connector 25"/>
          <p:cNvCxnSpPr/>
          <p:nvPr/>
        </p:nvCxnSpPr>
        <p:spPr>
          <a:xfrm>
            <a:off x="5113043" y="2114609"/>
            <a:ext cx="0" cy="602608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97 서사 · 운영 고도화 인프라(’24 디지털·저에너지 → ’25 지능형 AI → 추진실적 3칸 → 신규과제 3칸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11" name="분야 박스"/>
          <p:cNvSpPr/>
          <p:nvPr/>
        </p:nvSpPr>
        <p:spPr>
          <a:xfrm>
            <a:off x="766390" y="799826"/>
            <a:ext cx="731506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분야 박스"/>
          <p:cNvSpPr>
            <a:spLocks noGrp="1"/>
          </p:cNvSpPr>
          <p:nvPr>
            <p:ph type="body" sz="quarter" idx="21"/>
          </p:nvPr>
        </p:nvSpPr>
        <p:spPr>
          <a:xfrm>
            <a:off x="766390" y="799826"/>
            <a:ext cx="731506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운영 고도화</a:t>
            </a:r>
          </a:p>
        </p:txBody>
      </p:sp>
      <p:sp>
        <p:nvSpPr>
          <p:cNvPr id="13" name="형광 밑줄"/>
          <p:cNvSpPr/>
          <p:nvPr/>
        </p:nvSpPr>
        <p:spPr>
          <a:xfrm>
            <a:off x="1563635" y="920348"/>
            <a:ext cx="3679627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소제목"/>
          <p:cNvSpPr>
            <a:spLocks noGrp="1"/>
          </p:cNvSpPr>
          <p:nvPr>
            <p:ph type="body" sz="quarter" idx="22"/>
          </p:nvPr>
        </p:nvSpPr>
        <p:spPr>
          <a:xfrm>
            <a:off x="1563635" y="766957"/>
            <a:ext cx="5273235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인프라 운영에 지능과 효율을 더하여 생산원가 저감 Scale-up</a:t>
            </a:r>
          </a:p>
        </p:txBody>
      </p:sp>
      <p:sp>
        <p:nvSpPr>
          <p:cNvPr id="15" name="태그칩"/>
          <p:cNvSpPr/>
          <p:nvPr/>
        </p:nvSpPr>
        <p:spPr>
          <a:xfrm>
            <a:off x="5341870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태그칩"/>
          <p:cNvSpPr>
            <a:spLocks noGrp="1"/>
          </p:cNvSpPr>
          <p:nvPr>
            <p:ph type="body" sz="quarter" idx="23"/>
          </p:nvPr>
        </p:nvSpPr>
        <p:spPr>
          <a:xfrm>
            <a:off x="5341870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7" name="표 외곽"/>
          <p:cNvSpPr/>
          <p:nvPr/>
        </p:nvSpPr>
        <p:spPr>
          <a:xfrm>
            <a:off x="536870" y="1051826"/>
            <a:ext cx="6300000" cy="3303391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레일"/>
          <p:cNvSpPr/>
          <p:nvPr/>
        </p:nvSpPr>
        <p:spPr>
          <a:xfrm>
            <a:off x="547826" y="1068261"/>
            <a:ext cx="580696" cy="1112087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레일"/>
          <p:cNvSpPr>
            <a:spLocks noGrp="1"/>
          </p:cNvSpPr>
          <p:nvPr>
            <p:ph type="body" sz="quarter" idx="24"/>
          </p:nvPr>
        </p:nvSpPr>
        <p:spPr>
          <a:xfrm>
            <a:off x="547826" y="1068261"/>
            <a:ext cx="580696" cy="1112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 적</a:t>
            </a:r>
          </a:p>
        </p:txBody>
      </p:sp>
      <p:sp>
        <p:nvSpPr>
          <p:cNvPr id="20" name="머리칸"/>
          <p:cNvSpPr/>
          <p:nvPr/>
        </p:nvSpPr>
        <p:spPr>
          <a:xfrm>
            <a:off x="1161391" y="109017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1" name="머리칸"/>
          <p:cNvSpPr>
            <a:spLocks noGrp="1"/>
          </p:cNvSpPr>
          <p:nvPr>
            <p:ph type="body" sz="quarter" idx="25"/>
          </p:nvPr>
        </p:nvSpPr>
        <p:spPr>
          <a:xfrm>
            <a:off x="1161391" y="109017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디지털·저에너지 전환으로 원가저감</a:t>
            </a:r>
          </a:p>
        </p:txBody>
      </p:sp>
      <p:sp>
        <p:nvSpPr>
          <p:cNvPr id="22" name="머리칸"/>
          <p:cNvSpPr/>
          <p:nvPr/>
        </p:nvSpPr>
        <p:spPr>
          <a:xfrm>
            <a:off x="3985435" y="109017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3" name="머리칸"/>
          <p:cNvSpPr>
            <a:spLocks noGrp="1"/>
          </p:cNvSpPr>
          <p:nvPr>
            <p:ph type="body" sz="quarter" idx="26"/>
          </p:nvPr>
        </p:nvSpPr>
        <p:spPr>
          <a:xfrm>
            <a:off x="3985435" y="109017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실적 지능형 AI기반 e소비 체질 개선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7"/>
          </p:nvPr>
        </p:nvSpPr>
        <p:spPr>
          <a:xfrm>
            <a:off x="1172348" y="1331217"/>
            <a:ext cx="2802130" cy="84365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디지털운영 혁신 ’29억원/연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고효율 도입 ’11억원/연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재생에너지 활용 ’16억원/연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목표 55억원 대비 56억원 저감 달성(102%)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8"/>
          </p:nvPr>
        </p:nvSpPr>
        <p:spPr>
          <a:xfrm>
            <a:off x="3996391" y="1331217"/>
            <a:ext cx="2802130" cy="84365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주요 과제 전략 고도화+신규과제 발굴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최적 운영, 고효율설비 확대, 재생e 추가발굴로 미래 대응 기반 확보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전년 대비 320%(182억원) 절감(목표 대비 105% 달성)</a:t>
            </a:r>
          </a:p>
        </p:txBody>
      </p:sp>
      <p:cxnSp>
        <p:nvCxnSpPr>
          <p:cNvPr id="26" name="Connector 17"/>
          <p:cNvCxnSpPr/>
          <p:nvPr/>
        </p:nvCxnSpPr>
        <p:spPr>
          <a:xfrm>
            <a:off x="3985435" y="1364087"/>
            <a:ext cx="0" cy="77791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7" name="레일"/>
          <p:cNvSpPr/>
          <p:nvPr/>
        </p:nvSpPr>
        <p:spPr>
          <a:xfrm>
            <a:off x="547826" y="2196783"/>
            <a:ext cx="580696" cy="1199739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8" name="레일"/>
          <p:cNvSpPr>
            <a:spLocks noGrp="1"/>
          </p:cNvSpPr>
          <p:nvPr>
            <p:ph type="body" sz="quarter" idx="29"/>
          </p:nvPr>
        </p:nvSpPr>
        <p:spPr>
          <a:xfrm>
            <a:off x="547826" y="2196783"/>
            <a:ext cx="580696" cy="1199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실적</a:t>
            </a:r>
          </a:p>
        </p:txBody>
      </p:sp>
      <p:sp>
        <p:nvSpPr>
          <p:cNvPr id="29" name="레일 삼각형"/>
          <p:cNvSpPr/>
          <p:nvPr/>
        </p:nvSpPr>
        <p:spPr>
          <a:xfrm>
            <a:off x="547826" y="2196782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0" name="머리칸"/>
          <p:cNvSpPr/>
          <p:nvPr/>
        </p:nvSpPr>
        <p:spPr>
          <a:xfrm>
            <a:off x="1161391" y="221869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1" name="머리칸"/>
          <p:cNvSpPr>
            <a:spLocks noGrp="1"/>
          </p:cNvSpPr>
          <p:nvPr>
            <p:ph type="body" sz="quarter" idx="30"/>
          </p:nvPr>
        </p:nvSpPr>
        <p:spPr>
          <a:xfrm>
            <a:off x="1161391" y="221869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AI정수장 최적 운영</a:t>
            </a:r>
          </a:p>
        </p:txBody>
      </p:sp>
      <p:sp>
        <p:nvSpPr>
          <p:cNvPr id="32" name="머리칸"/>
          <p:cNvSpPr/>
          <p:nvPr/>
        </p:nvSpPr>
        <p:spPr>
          <a:xfrm>
            <a:off x="3044087" y="221869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3" name="머리칸"/>
          <p:cNvSpPr>
            <a:spLocks noGrp="1"/>
          </p:cNvSpPr>
          <p:nvPr>
            <p:ph type="body" sz="quarter" idx="31"/>
          </p:nvPr>
        </p:nvSpPr>
        <p:spPr>
          <a:xfrm>
            <a:off x="3044087" y="221869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고효율설비 확대</a:t>
            </a:r>
          </a:p>
        </p:txBody>
      </p:sp>
      <p:sp>
        <p:nvSpPr>
          <p:cNvPr id="34" name="머리칸"/>
          <p:cNvSpPr/>
          <p:nvPr/>
        </p:nvSpPr>
        <p:spPr>
          <a:xfrm>
            <a:off x="4926783" y="2218696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5" name="머리칸"/>
          <p:cNvSpPr>
            <a:spLocks noGrp="1"/>
          </p:cNvSpPr>
          <p:nvPr>
            <p:ph type="body" sz="quarter" idx="32"/>
          </p:nvPr>
        </p:nvSpPr>
        <p:spPr>
          <a:xfrm>
            <a:off x="4926783" y="2218696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미래에너지 확보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3"/>
          </p:nvPr>
        </p:nvSpPr>
        <p:spPr>
          <a:xfrm>
            <a:off x="1172348" y="2459739"/>
            <a:ext cx="1860783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기술 고도화 전략 추진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맞춤 공정 알고리즘 개선 및 AI정수장 운영 정착(43개소)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최적운영으로 110억원 저감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4"/>
          </p:nvPr>
        </p:nvSpPr>
        <p:spPr>
          <a:xfrm>
            <a:off x="3055043" y="2459739"/>
            <a:ext cx="1860783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수도설비 고도화 MP 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고효율설비 체계적 도입 확대(427대) 및 촉진제도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효율개선으로 46억원 저감</a:t>
            </a:r>
          </a:p>
        </p:txBody>
      </p:sp>
      <p:cxnSp>
        <p:nvCxnSpPr>
          <p:cNvPr id="38" name="Connector 25"/>
          <p:cNvCxnSpPr/>
          <p:nvPr/>
        </p:nvCxnSpPr>
        <p:spPr>
          <a:xfrm>
            <a:off x="3044087" y="2492609"/>
            <a:ext cx="0" cy="865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9" name="칸 본문"/>
          <p:cNvSpPr>
            <a:spLocks noGrp="1"/>
          </p:cNvSpPr>
          <p:nvPr>
            <p:ph type="body" sz="quarter" idx="35"/>
          </p:nvPr>
        </p:nvSpPr>
        <p:spPr>
          <a:xfrm>
            <a:off x="4937739" y="2459739"/>
            <a:ext cx="1860783" cy="931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신재생에너지 개발 전략 추진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태양광(8개소), ESS 도입(2개소), 추가 잠재e 발굴(52개소)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에너지 공급개선 26억원 저감</a:t>
            </a:r>
          </a:p>
        </p:txBody>
      </p:sp>
      <p:cxnSp>
        <p:nvCxnSpPr>
          <p:cNvPr id="40" name="Connector 27"/>
          <p:cNvCxnSpPr/>
          <p:nvPr/>
        </p:nvCxnSpPr>
        <p:spPr>
          <a:xfrm>
            <a:off x="4926783" y="2492609"/>
            <a:ext cx="0" cy="865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1" name="레일"/>
          <p:cNvSpPr/>
          <p:nvPr/>
        </p:nvSpPr>
        <p:spPr>
          <a:xfrm>
            <a:off x="547826" y="3412957"/>
            <a:ext cx="580696" cy="925826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2" name="레일"/>
          <p:cNvSpPr>
            <a:spLocks noGrp="1"/>
          </p:cNvSpPr>
          <p:nvPr>
            <p:ph type="body" sz="quarter" idx="36"/>
          </p:nvPr>
        </p:nvSpPr>
        <p:spPr>
          <a:xfrm>
            <a:off x="547826" y="3412957"/>
            <a:ext cx="580696" cy="925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신규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과제</a:t>
            </a:r>
          </a:p>
        </p:txBody>
      </p:sp>
      <p:sp>
        <p:nvSpPr>
          <p:cNvPr id="43" name="레일 삼각형"/>
          <p:cNvSpPr/>
          <p:nvPr/>
        </p:nvSpPr>
        <p:spPr>
          <a:xfrm>
            <a:off x="547826" y="3412956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4" name="머리칸"/>
          <p:cNvSpPr/>
          <p:nvPr/>
        </p:nvSpPr>
        <p:spPr>
          <a:xfrm>
            <a:off x="1161391" y="343487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5" name="머리칸"/>
          <p:cNvSpPr>
            <a:spLocks noGrp="1"/>
          </p:cNvSpPr>
          <p:nvPr>
            <p:ph type="body" sz="quarter" idx="37"/>
          </p:nvPr>
        </p:nvSpPr>
        <p:spPr>
          <a:xfrm>
            <a:off x="1161391" y="343487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디지털 운영관리</a:t>
            </a:r>
          </a:p>
        </p:txBody>
      </p:sp>
      <p:sp>
        <p:nvSpPr>
          <p:cNvPr id="46" name="머리칸"/>
          <p:cNvSpPr/>
          <p:nvPr/>
        </p:nvSpPr>
        <p:spPr>
          <a:xfrm>
            <a:off x="3044087" y="343487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7" name="머리칸"/>
          <p:cNvSpPr>
            <a:spLocks noGrp="1"/>
          </p:cNvSpPr>
          <p:nvPr>
            <p:ph type="body" sz="quarter" idx="38"/>
          </p:nvPr>
        </p:nvSpPr>
        <p:spPr>
          <a:xfrm>
            <a:off x="3044087" y="343487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에너지 절감형 운영개선</a:t>
            </a:r>
          </a:p>
        </p:txBody>
      </p:sp>
      <p:sp>
        <p:nvSpPr>
          <p:cNvPr id="48" name="머리칸"/>
          <p:cNvSpPr/>
          <p:nvPr/>
        </p:nvSpPr>
        <p:spPr>
          <a:xfrm>
            <a:off x="4926783" y="343487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9" name="머리칸"/>
          <p:cNvSpPr>
            <a:spLocks noGrp="1"/>
          </p:cNvSpPr>
          <p:nvPr>
            <p:ph type="body" sz="quarter" idx="39"/>
          </p:nvPr>
        </p:nvSpPr>
        <p:spPr>
          <a:xfrm>
            <a:off x="4926783" y="343487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재생e 신기술 개발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40"/>
          </p:nvPr>
        </p:nvSpPr>
        <p:spPr>
          <a:xfrm>
            <a:off x="1172348" y="3675913"/>
            <a:ext cx="1860783" cy="657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점검 로봇 도입 실증 완료(’25) 및 확대 추진(’26~’30년)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점검비 22억원/연 절감 효과 기대</a:t>
            </a:r>
          </a:p>
        </p:txBody>
      </p:sp>
      <p:sp>
        <p:nvSpPr>
          <p:cNvPr id="51" name="칸 본문"/>
          <p:cNvSpPr>
            <a:spLocks noGrp="1"/>
          </p:cNvSpPr>
          <p:nvPr>
            <p:ph type="body" sz="quarter" idx="41"/>
          </p:nvPr>
        </p:nvSpPr>
        <p:spPr>
          <a:xfrm>
            <a:off x="3055043" y="3675913"/>
            <a:ext cx="1860783" cy="657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분석 기반 공급체계 재구성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전력비 1.7억원/연 절감 효과 기대</a:t>
            </a:r>
          </a:p>
        </p:txBody>
      </p:sp>
      <p:cxnSp>
        <p:nvCxnSpPr>
          <p:cNvPr id="52" name="Connector 35"/>
          <p:cNvCxnSpPr/>
          <p:nvPr/>
        </p:nvCxnSpPr>
        <p:spPr>
          <a:xfrm>
            <a:off x="3044087" y="3708783"/>
            <a:ext cx="0" cy="5916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3" name="칸 본문"/>
          <p:cNvSpPr>
            <a:spLocks noGrp="1"/>
          </p:cNvSpPr>
          <p:nvPr>
            <p:ph type="body" sz="quarter" idx="42"/>
          </p:nvPr>
        </p:nvSpPr>
        <p:spPr>
          <a:xfrm>
            <a:off x="4937739" y="3675913"/>
            <a:ext cx="1860783" cy="6573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 생산시 폐열·가스 Re-Cycling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운영비 56백만원/연+α 절감 효과 기대</a:t>
            </a:r>
          </a:p>
        </p:txBody>
      </p:sp>
      <p:cxnSp>
        <p:nvCxnSpPr>
          <p:cNvPr id="54" name="Connector 37"/>
          <p:cNvCxnSpPr/>
          <p:nvPr/>
        </p:nvCxnSpPr>
        <p:spPr>
          <a:xfrm>
            <a:off x="4926783" y="3708783"/>
            <a:ext cx="0" cy="5916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198 서사 · 자산관리 확대 K-AMS(성과와 한계 | 활용과 확대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22952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10" name="분야 박스"/>
          <p:cNvSpPr/>
          <p:nvPr/>
        </p:nvSpPr>
        <p:spPr>
          <a:xfrm>
            <a:off x="952651" y="810783"/>
            <a:ext cx="841275" cy="175304"/>
          </a:xfrm>
          <a:prstGeom prst="rect">
            <a:avLst/>
          </a:prstGeom>
          <a:solidFill>
            <a:srgbClr val="DEEEFF"/>
          </a:solidFill>
          <a:ln w="9525">
            <a:solidFill>
              <a:srgbClr val="BDE0FF"/>
            </a:solidFill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1" name="분야 박스"/>
          <p:cNvSpPr>
            <a:spLocks noGrp="1"/>
          </p:cNvSpPr>
          <p:nvPr>
            <p:ph type="body" sz="quarter" idx="21"/>
          </p:nvPr>
        </p:nvSpPr>
        <p:spPr>
          <a:xfrm>
            <a:off x="952651" y="810783"/>
            <a:ext cx="84127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자산관리 확대</a:t>
            </a:r>
          </a:p>
        </p:txBody>
      </p:sp>
      <p:sp>
        <p:nvSpPr>
          <p:cNvPr id="12" name="형광 밑줄"/>
          <p:cNvSpPr/>
          <p:nvPr/>
        </p:nvSpPr>
        <p:spPr>
          <a:xfrm>
            <a:off x="1859664" y="931304"/>
            <a:ext cx="3598135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3" name="소제목"/>
          <p:cNvSpPr>
            <a:spLocks noGrp="1"/>
          </p:cNvSpPr>
          <p:nvPr>
            <p:ph type="body" sz="quarter" idx="22"/>
          </p:nvPr>
        </p:nvSpPr>
        <p:spPr>
          <a:xfrm>
            <a:off x="1859664" y="777913"/>
            <a:ext cx="5163466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K-AMS 자산관리시스템 확대로 자산체계중심 의사결정 강화</a:t>
            </a:r>
          </a:p>
        </p:txBody>
      </p:sp>
      <p:sp>
        <p:nvSpPr>
          <p:cNvPr id="14" name="태그칩"/>
          <p:cNvSpPr/>
          <p:nvPr/>
        </p:nvSpPr>
        <p:spPr>
          <a:xfrm>
            <a:off x="5556408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3"/>
          </p:nvPr>
        </p:nvSpPr>
        <p:spPr>
          <a:xfrm>
            <a:off x="5556408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태그칩"/>
          <p:cNvSpPr/>
          <p:nvPr/>
        </p:nvSpPr>
        <p:spPr>
          <a:xfrm>
            <a:off x="6107529" y="810783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태그칩"/>
          <p:cNvSpPr>
            <a:spLocks noGrp="1"/>
          </p:cNvSpPr>
          <p:nvPr>
            <p:ph type="body" sz="quarter" idx="24"/>
          </p:nvPr>
        </p:nvSpPr>
        <p:spPr>
          <a:xfrm>
            <a:off x="6107529" y="810783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8" name="표 외곽"/>
          <p:cNvSpPr/>
          <p:nvPr/>
        </p:nvSpPr>
        <p:spPr>
          <a:xfrm>
            <a:off x="723130" y="1062783"/>
            <a:ext cx="6300000" cy="1451739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9" name="레일"/>
          <p:cNvSpPr/>
          <p:nvPr/>
        </p:nvSpPr>
        <p:spPr>
          <a:xfrm>
            <a:off x="734087" y="1079217"/>
            <a:ext cx="580696" cy="141887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5"/>
          </p:nvPr>
        </p:nvSpPr>
        <p:spPr>
          <a:xfrm>
            <a:off x="734087" y="1079217"/>
            <a:ext cx="580696" cy="141887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활용</a:t>
            </a:r>
          </a:p>
        </p:txBody>
      </p:sp>
      <p:sp>
        <p:nvSpPr>
          <p:cNvPr id="21" name="머리칸"/>
          <p:cNvSpPr/>
          <p:nvPr/>
        </p:nvSpPr>
        <p:spPr>
          <a:xfrm>
            <a:off x="1347652" y="110113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2" name="머리칸"/>
          <p:cNvSpPr>
            <a:spLocks noGrp="1"/>
          </p:cNvSpPr>
          <p:nvPr>
            <p:ph type="body" sz="quarter" idx="26"/>
          </p:nvPr>
        </p:nvSpPr>
        <p:spPr>
          <a:xfrm>
            <a:off x="1347652" y="110113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성과와 한계  수도시설 맞춤, 자산시스템 시범구축</a:t>
            </a:r>
          </a:p>
        </p:txBody>
      </p:sp>
      <p:sp>
        <p:nvSpPr>
          <p:cNvPr id="23" name="머리칸"/>
          <p:cNvSpPr/>
          <p:nvPr/>
        </p:nvSpPr>
        <p:spPr>
          <a:xfrm>
            <a:off x="4171696" y="110113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4" name="머리칸"/>
          <p:cNvSpPr>
            <a:spLocks noGrp="1"/>
          </p:cNvSpPr>
          <p:nvPr>
            <p:ph type="body" sz="quarter" idx="27"/>
          </p:nvPr>
        </p:nvSpPr>
        <p:spPr>
          <a:xfrm>
            <a:off x="4171696" y="110113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활용과 확대  개대체 의사결정 활용 및 도입확대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8"/>
          </p:nvPr>
        </p:nvSpPr>
        <p:spPr>
          <a:xfrm>
            <a:off x="1358609" y="1342174"/>
            <a:ext cx="2802130" cy="115043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7개 사업장 시범사업(27,967개 자산에 대한 DB 구축)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한계점: 의사결정 즉시 활용 곤란(일부 사업장만 적용 연계데이터 부족)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DB부족 · DB신뢰도(일부상이) · 투자계획 차이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9"/>
          </p:nvPr>
        </p:nvSpPr>
        <p:spPr>
          <a:xfrm>
            <a:off x="4182652" y="1342174"/>
            <a:ext cx="2802130" cy="115043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시범사업 성과 보완 및 활용: 신규 자산·진단결과 DB 보완, 자산시스템 활용 의사결정 의무화 → 개대체 일치율 91.1%(전년비 102.2%)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확대구축: 한강 유역 8개소 확대 구축 · ’26년 낙동강(13개소) → ’27년 금영섭(22개소) 확대 / 공기업 최초 자산 Biz모델 특허등록 / 개방형 R&amp;D로 자산관리체계 강화</a:t>
            </a:r>
          </a:p>
        </p:txBody>
      </p:sp>
      <p:cxnSp>
        <p:nvCxnSpPr>
          <p:cNvPr id="27" name="Connector 15"/>
          <p:cNvCxnSpPr/>
          <p:nvPr/>
        </p:nvCxnSpPr>
        <p:spPr>
          <a:xfrm>
            <a:off x="4171696" y="1375043"/>
            <a:ext cx="0" cy="108469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8" name="핵심성과 박스"/>
          <p:cNvSpPr/>
          <p:nvPr/>
        </p:nvSpPr>
        <p:spPr>
          <a:xfrm>
            <a:off x="723130" y="2602174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9" name="핵심성과 라벨"/>
          <p:cNvSpPr/>
          <p:nvPr/>
        </p:nvSpPr>
        <p:spPr>
          <a:xfrm>
            <a:off x="756000" y="2640522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30" name="핵심성과 라벨"/>
          <p:cNvSpPr>
            <a:spLocks noGrp="1"/>
          </p:cNvSpPr>
          <p:nvPr>
            <p:ph type="body" sz="quarter" idx="30"/>
          </p:nvPr>
        </p:nvSpPr>
        <p:spPr>
          <a:xfrm>
            <a:off x="756000" y="2640522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1" name="핵심성과 문구"/>
          <p:cNvSpPr>
            <a:spLocks noGrp="1"/>
          </p:cNvSpPr>
          <p:nvPr>
            <p:ph type="body" sz="quarter" idx="31"/>
          </p:nvPr>
        </p:nvSpPr>
        <p:spPr>
          <a:xfrm>
            <a:off x="1501043" y="2618609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생산원가 절감 182억원/연 달성(목표 172억원/연 比 105%) 및 데이터 기반 투자 최적화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199 서사 · Restart 추진전략 재정립(4대 분야 전략 → 그간의 성과 → 환경변화 → 로드맵 재정립 → 4대 실행과제 → 실행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지방상수도 Restart 추진전략, 변화된 환경에 맞춰 로드맵 재정립</a:t>
            </a:r>
          </a:p>
        </p:txBody>
      </p:sp>
      <p:sp>
        <p:nvSpPr>
          <p:cNvPr id="15" name="표 외곽"/>
          <p:cNvSpPr/>
          <p:nvPr/>
        </p:nvSpPr>
        <p:spPr>
          <a:xfrm>
            <a:off x="536870" y="1117565"/>
            <a:ext cx="6300000" cy="570161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레일"/>
          <p:cNvSpPr/>
          <p:nvPr/>
        </p:nvSpPr>
        <p:spPr>
          <a:xfrm>
            <a:off x="547826" y="1134000"/>
            <a:ext cx="580696" cy="794348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134000"/>
            <a:ext cx="580696" cy="79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’24년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Restart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추진전략</a:t>
            </a:r>
          </a:p>
        </p:txBody>
      </p:sp>
      <p:sp>
        <p:nvSpPr>
          <p:cNvPr id="18" name="머리칸"/>
          <p:cNvSpPr/>
          <p:nvPr/>
        </p:nvSpPr>
        <p:spPr>
          <a:xfrm>
            <a:off x="1161391" y="1155913"/>
            <a:ext cx="139558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9" name="머리칸"/>
          <p:cNvSpPr>
            <a:spLocks noGrp="1"/>
          </p:cNvSpPr>
          <p:nvPr>
            <p:ph type="body" sz="quarter" idx="23"/>
          </p:nvPr>
        </p:nvSpPr>
        <p:spPr>
          <a:xfrm>
            <a:off x="1161391" y="1155913"/>
            <a:ext cx="13955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운영  상수도 운영관리</a:t>
            </a:r>
          </a:p>
        </p:txBody>
      </p:sp>
      <p:sp>
        <p:nvSpPr>
          <p:cNvPr id="20" name="머리칸"/>
          <p:cNvSpPr/>
          <p:nvPr/>
        </p:nvSpPr>
        <p:spPr>
          <a:xfrm>
            <a:off x="2573413" y="1155913"/>
            <a:ext cx="139558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1" name="머리칸"/>
          <p:cNvSpPr>
            <a:spLocks noGrp="1"/>
          </p:cNvSpPr>
          <p:nvPr>
            <p:ph type="body" sz="quarter" idx="24"/>
          </p:nvPr>
        </p:nvSpPr>
        <p:spPr>
          <a:xfrm>
            <a:off x="2573413" y="1155913"/>
            <a:ext cx="13955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건설  노후상수도 정비</a:t>
            </a:r>
          </a:p>
        </p:txBody>
      </p:sp>
      <p:sp>
        <p:nvSpPr>
          <p:cNvPr id="22" name="머리칸"/>
          <p:cNvSpPr/>
          <p:nvPr/>
        </p:nvSpPr>
        <p:spPr>
          <a:xfrm>
            <a:off x="3985435" y="1155913"/>
            <a:ext cx="139558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3" name="머리칸"/>
          <p:cNvSpPr>
            <a:spLocks noGrp="1"/>
          </p:cNvSpPr>
          <p:nvPr>
            <p:ph type="body" sz="quarter" idx="25"/>
          </p:nvPr>
        </p:nvSpPr>
        <p:spPr>
          <a:xfrm>
            <a:off x="3985435" y="1155913"/>
            <a:ext cx="13955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지원  유역수도지원</a:t>
            </a:r>
          </a:p>
        </p:txBody>
      </p:sp>
      <p:sp>
        <p:nvSpPr>
          <p:cNvPr id="24" name="머리칸"/>
          <p:cNvSpPr/>
          <p:nvPr/>
        </p:nvSpPr>
        <p:spPr>
          <a:xfrm>
            <a:off x="5397457" y="1155913"/>
            <a:ext cx="139558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5" name="머리칸"/>
          <p:cNvSpPr>
            <a:spLocks noGrp="1"/>
          </p:cNvSpPr>
          <p:nvPr>
            <p:ph type="body" sz="quarter" idx="26"/>
          </p:nvPr>
        </p:nvSpPr>
        <p:spPr>
          <a:xfrm>
            <a:off x="5397457" y="1155913"/>
            <a:ext cx="13955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복지  취약지역 물복지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7"/>
          </p:nvPr>
        </p:nvSpPr>
        <p:spPr>
          <a:xfrm>
            <a:off x="1172348" y="1396957"/>
            <a:ext cx="1390109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❶ 사업모델 다각화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❷ 첨단 물기술 확보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❸ 운영·서비스 개선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28"/>
          </p:nvPr>
        </p:nvSpPr>
        <p:spPr>
          <a:xfrm>
            <a:off x="2584370" y="1396957"/>
            <a:ext cx="1390109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❹ 유수율 제고 지원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❺ 성과유지체계 강화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❻ 초격차기술 확산</a:t>
            </a:r>
          </a:p>
        </p:txBody>
      </p:sp>
      <p:cxnSp>
        <p:nvCxnSpPr>
          <p:cNvPr id="28" name="Connector 19"/>
          <p:cNvCxnSpPr/>
          <p:nvPr/>
        </p:nvCxnSpPr>
        <p:spPr>
          <a:xfrm>
            <a:off x="2573413" y="1429826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3996391" y="1396957"/>
            <a:ext cx="1390109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❼ 통합운영체계 구축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❽ 체감형서비스 창출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❾ 사고대응역량 강화</a:t>
            </a:r>
          </a:p>
        </p:txBody>
      </p:sp>
      <p:cxnSp>
        <p:nvCxnSpPr>
          <p:cNvPr id="30" name="Connector 21"/>
          <p:cNvCxnSpPr/>
          <p:nvPr/>
        </p:nvCxnSpPr>
        <p:spPr>
          <a:xfrm>
            <a:off x="3985435" y="1429826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5408413" y="1396957"/>
            <a:ext cx="1390109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❿ 지역맞춤사업 이행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⓫ 군부대 물문제 해결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⓬ 글로벌 기술 확산</a:t>
            </a:r>
          </a:p>
        </p:txBody>
      </p:sp>
      <p:cxnSp>
        <p:nvCxnSpPr>
          <p:cNvPr id="32" name="Connector 23"/>
          <p:cNvCxnSpPr/>
          <p:nvPr/>
        </p:nvCxnSpPr>
        <p:spPr>
          <a:xfrm>
            <a:off x="5397457" y="1429826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레일"/>
          <p:cNvSpPr/>
          <p:nvPr/>
        </p:nvSpPr>
        <p:spPr>
          <a:xfrm>
            <a:off x="547826" y="1944783"/>
            <a:ext cx="580696" cy="53968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4" name="레일"/>
          <p:cNvSpPr>
            <a:spLocks noGrp="1"/>
          </p:cNvSpPr>
          <p:nvPr>
            <p:ph type="body" sz="quarter" idx="31"/>
          </p:nvPr>
        </p:nvSpPr>
        <p:spPr>
          <a:xfrm>
            <a:off x="547826" y="1944783"/>
            <a:ext cx="580696" cy="5396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그간의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</a:t>
            </a:r>
          </a:p>
        </p:txBody>
      </p:sp>
      <p:sp>
        <p:nvSpPr>
          <p:cNvPr id="35" name="레일 삼각형"/>
          <p:cNvSpPr/>
          <p:nvPr/>
        </p:nvSpPr>
        <p:spPr>
          <a:xfrm>
            <a:off x="547826" y="1944782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2"/>
          </p:nvPr>
        </p:nvSpPr>
        <p:spPr>
          <a:xfrm>
            <a:off x="1172348" y="1966696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운영: 전국 23개 지자체, 유수율 60.1 → 85.3%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건설: 수탁 92개, 성과판정(유수율 85% 달성) 34개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3"/>
          </p:nvPr>
        </p:nvSpPr>
        <p:spPr>
          <a:xfrm>
            <a:off x="3996391" y="1966696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지원: 기술지원 6천건(누계), 운영지원시스템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복지: 취약지역 25.2천명 물공급</a:t>
            </a:r>
          </a:p>
        </p:txBody>
      </p:sp>
      <p:cxnSp>
        <p:nvCxnSpPr>
          <p:cNvPr id="38" name="Connector 28"/>
          <p:cNvCxnSpPr/>
          <p:nvPr/>
        </p:nvCxnSpPr>
        <p:spPr>
          <a:xfrm>
            <a:off x="3985435" y="1999565"/>
            <a:ext cx="0" cy="284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9" name="레일"/>
          <p:cNvSpPr/>
          <p:nvPr/>
        </p:nvSpPr>
        <p:spPr>
          <a:xfrm>
            <a:off x="547826" y="2500904"/>
            <a:ext cx="580696" cy="794348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0" name="레일"/>
          <p:cNvSpPr>
            <a:spLocks noGrp="1"/>
          </p:cNvSpPr>
          <p:nvPr>
            <p:ph type="body" sz="quarter" idx="34"/>
          </p:nvPr>
        </p:nvSpPr>
        <p:spPr>
          <a:xfrm>
            <a:off x="547826" y="2500904"/>
            <a:ext cx="580696" cy="79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변 화</a:t>
            </a:r>
          </a:p>
        </p:txBody>
      </p:sp>
      <p:sp>
        <p:nvSpPr>
          <p:cNvPr id="41" name="머리칸"/>
          <p:cNvSpPr/>
          <p:nvPr/>
        </p:nvSpPr>
        <p:spPr>
          <a:xfrm>
            <a:off x="1161391" y="2522817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2" name="머리칸"/>
          <p:cNvSpPr>
            <a:spLocks noGrp="1"/>
          </p:cNvSpPr>
          <p:nvPr>
            <p:ph type="body" sz="quarter" idx="35"/>
          </p:nvPr>
        </p:nvSpPr>
        <p:spPr>
          <a:xfrm>
            <a:off x="1161391" y="2522817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新정부정책</a:t>
            </a:r>
          </a:p>
        </p:txBody>
      </p:sp>
      <p:sp>
        <p:nvSpPr>
          <p:cNvPr id="43" name="머리칸"/>
          <p:cNvSpPr/>
          <p:nvPr/>
        </p:nvSpPr>
        <p:spPr>
          <a:xfrm>
            <a:off x="3044087" y="2522817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4" name="머리칸"/>
          <p:cNvSpPr>
            <a:spLocks noGrp="1"/>
          </p:cNvSpPr>
          <p:nvPr>
            <p:ph type="body" sz="quarter" idx="36"/>
          </p:nvPr>
        </p:nvSpPr>
        <p:spPr>
          <a:xfrm>
            <a:off x="3044087" y="2522817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여전한 물공급 격차</a:t>
            </a:r>
          </a:p>
        </p:txBody>
      </p:sp>
      <p:sp>
        <p:nvSpPr>
          <p:cNvPr id="45" name="머리칸"/>
          <p:cNvSpPr/>
          <p:nvPr/>
        </p:nvSpPr>
        <p:spPr>
          <a:xfrm>
            <a:off x="4926783" y="2522817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6" name="머리칸"/>
          <p:cNvSpPr>
            <a:spLocks noGrp="1"/>
          </p:cNvSpPr>
          <p:nvPr>
            <p:ph type="body" sz="quarter" idx="37"/>
          </p:nvPr>
        </p:nvSpPr>
        <p:spPr>
          <a:xfrm>
            <a:off x="4926783" y="2522817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극한의 자연재해 빈번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38"/>
          </p:nvPr>
        </p:nvSpPr>
        <p:spPr>
          <a:xfrm>
            <a:off x="1172348" y="2763861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강국 · 국민안전 · 균형발전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39"/>
          </p:nvPr>
        </p:nvSpPr>
        <p:spPr>
          <a:xfrm>
            <a:off x="3055043" y="2763861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시·군평균 81.6% vs 특·광역시 93.1%, 유수율 차이 大</a:t>
            </a:r>
          </a:p>
        </p:txBody>
      </p:sp>
      <p:cxnSp>
        <p:nvCxnSpPr>
          <p:cNvPr id="49" name="Connector 35"/>
          <p:cNvCxnSpPr/>
          <p:nvPr/>
        </p:nvCxnSpPr>
        <p:spPr>
          <a:xfrm>
            <a:off x="3044087" y="2796730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0" name="칸 본문"/>
          <p:cNvSpPr>
            <a:spLocks noGrp="1"/>
          </p:cNvSpPr>
          <p:nvPr>
            <p:ph type="body" sz="quarter" idx="40"/>
          </p:nvPr>
        </p:nvSpPr>
        <p:spPr>
          <a:xfrm>
            <a:off x="4937739" y="2763861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초대형 경북 산불, 강릉 가뭄 등 주민 피해 심각</a:t>
            </a:r>
          </a:p>
        </p:txBody>
      </p:sp>
      <p:cxnSp>
        <p:nvCxnSpPr>
          <p:cNvPr id="51" name="Connector 37"/>
          <p:cNvCxnSpPr/>
          <p:nvPr/>
        </p:nvCxnSpPr>
        <p:spPr>
          <a:xfrm>
            <a:off x="4926783" y="2796730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2" name="레일"/>
          <p:cNvSpPr/>
          <p:nvPr/>
        </p:nvSpPr>
        <p:spPr>
          <a:xfrm>
            <a:off x="547826" y="3311687"/>
            <a:ext cx="580696" cy="253409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3" name="레일"/>
          <p:cNvSpPr>
            <a:spLocks noGrp="1"/>
          </p:cNvSpPr>
          <p:nvPr>
            <p:ph type="body" sz="quarter" idx="41"/>
          </p:nvPr>
        </p:nvSpPr>
        <p:spPr>
          <a:xfrm>
            <a:off x="547826" y="3311687"/>
            <a:ext cx="580696" cy="2534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 향</a:t>
            </a:r>
          </a:p>
        </p:txBody>
      </p:sp>
      <p:sp>
        <p:nvSpPr>
          <p:cNvPr id="54" name="배너"/>
          <p:cNvSpPr/>
          <p:nvPr/>
        </p:nvSpPr>
        <p:spPr>
          <a:xfrm>
            <a:off x="1161391" y="3333600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55" name="배너"/>
          <p:cNvSpPr>
            <a:spLocks noGrp="1"/>
          </p:cNvSpPr>
          <p:nvPr>
            <p:ph type="body" sz="quarter" idx="42"/>
          </p:nvPr>
        </p:nvSpPr>
        <p:spPr>
          <a:xfrm>
            <a:off x="1161391" y="3333600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20년 노하우와 미래를 담은 ‘지방상수도 Restart 추진전략’ 토대로 사업방향 재정립</a:t>
            </a:r>
          </a:p>
        </p:txBody>
      </p:sp>
      <p:sp>
        <p:nvSpPr>
          <p:cNvPr id="56" name="레일"/>
          <p:cNvSpPr/>
          <p:nvPr/>
        </p:nvSpPr>
        <p:spPr>
          <a:xfrm>
            <a:off x="547826" y="3581530"/>
            <a:ext cx="580696" cy="82721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57" name="레일"/>
          <p:cNvSpPr>
            <a:spLocks noGrp="1"/>
          </p:cNvSpPr>
          <p:nvPr>
            <p:ph type="body" sz="quarter" idx="43"/>
          </p:nvPr>
        </p:nvSpPr>
        <p:spPr>
          <a:xfrm>
            <a:off x="547826" y="3581530"/>
            <a:ext cx="580696" cy="82721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’25년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로드맵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재정립</a:t>
            </a:r>
          </a:p>
        </p:txBody>
      </p:sp>
      <p:sp>
        <p:nvSpPr>
          <p:cNvPr id="58" name="단계"/>
          <p:cNvSpPr/>
          <p:nvPr/>
        </p:nvSpPr>
        <p:spPr>
          <a:xfrm>
            <a:off x="1161391" y="3603443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59" name="단계"/>
          <p:cNvSpPr>
            <a:spLocks noGrp="1"/>
          </p:cNvSpPr>
          <p:nvPr>
            <p:ph type="body" sz="quarter" idx="44"/>
          </p:nvPr>
        </p:nvSpPr>
        <p:spPr>
          <a:xfrm>
            <a:off x="1161391" y="360344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전략 수립</a:t>
            </a:r>
          </a:p>
        </p:txBody>
      </p:sp>
      <p:sp>
        <p:nvSpPr>
          <p:cNvPr id="60" name="단계"/>
          <p:cNvSpPr/>
          <p:nvPr/>
        </p:nvSpPr>
        <p:spPr>
          <a:xfrm>
            <a:off x="3044087" y="3603443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1" name="단계"/>
          <p:cNvSpPr>
            <a:spLocks noGrp="1"/>
          </p:cNvSpPr>
          <p:nvPr>
            <p:ph type="body" sz="quarter" idx="45"/>
          </p:nvPr>
        </p:nvSpPr>
        <p:spPr>
          <a:xfrm>
            <a:off x="3044087" y="360344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환경변화 연계 재정립</a:t>
            </a:r>
          </a:p>
        </p:txBody>
      </p:sp>
      <p:sp>
        <p:nvSpPr>
          <p:cNvPr id="62" name="단계"/>
          <p:cNvSpPr/>
          <p:nvPr/>
        </p:nvSpPr>
        <p:spPr>
          <a:xfrm>
            <a:off x="4926783" y="3603443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63" name="단계"/>
          <p:cNvSpPr>
            <a:spLocks noGrp="1"/>
          </p:cNvSpPr>
          <p:nvPr>
            <p:ph type="body" sz="quarter" idx="46"/>
          </p:nvPr>
        </p:nvSpPr>
        <p:spPr>
          <a:xfrm>
            <a:off x="4926783" y="3603443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~’29년 Restart 정착</a:t>
            </a:r>
          </a:p>
        </p:txBody>
      </p:sp>
      <p:sp>
        <p:nvSpPr>
          <p:cNvPr id="64" name="단계 삼각형"/>
          <p:cNvSpPr/>
          <p:nvPr/>
        </p:nvSpPr>
        <p:spPr>
          <a:xfrm>
            <a:off x="3044086" y="3603443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5" name="단계 삼각형"/>
          <p:cNvSpPr/>
          <p:nvPr/>
        </p:nvSpPr>
        <p:spPr>
          <a:xfrm>
            <a:off x="4926782" y="3603443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66" name="칸 본문"/>
          <p:cNvSpPr>
            <a:spLocks noGrp="1"/>
          </p:cNvSpPr>
          <p:nvPr>
            <p:ph type="body" sz="quarter" idx="47"/>
          </p:nvPr>
        </p:nvSpPr>
        <p:spPr>
          <a:xfrm>
            <a:off x="1172348" y="3855443"/>
            <a:ext cx="1860783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20년 지방상수도 운영성과 기반 업역 확장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Restart 추진전략 수립</a:t>
            </a:r>
          </a:p>
        </p:txBody>
      </p:sp>
      <p:sp>
        <p:nvSpPr>
          <p:cNvPr id="67" name="칸 본문"/>
          <p:cNvSpPr>
            <a:spLocks noGrp="1"/>
          </p:cNvSpPr>
          <p:nvPr>
            <p:ph type="body" sz="quarter" idx="48"/>
          </p:nvPr>
        </p:nvSpPr>
        <p:spPr>
          <a:xfrm>
            <a:off x="3055043" y="3855443"/>
            <a:ext cx="1860783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특화 AI도입 운영효율 향상 및 맞춤형 사업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재난, 취약지역 공적역할 강화</a:t>
            </a:r>
          </a:p>
        </p:txBody>
      </p:sp>
      <p:cxnSp>
        <p:nvCxnSpPr>
          <p:cNvPr id="68" name="Connector 48"/>
          <p:cNvCxnSpPr/>
          <p:nvPr/>
        </p:nvCxnSpPr>
        <p:spPr>
          <a:xfrm>
            <a:off x="3044087" y="3888313"/>
            <a:ext cx="0" cy="482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69" name="칸 본문"/>
          <p:cNvSpPr>
            <a:spLocks noGrp="1"/>
          </p:cNvSpPr>
          <p:nvPr>
            <p:ph type="body" sz="quarter" idx="49"/>
          </p:nvPr>
        </p:nvSpPr>
        <p:spPr>
          <a:xfrm>
            <a:off x="4937739" y="3855443"/>
            <a:ext cx="1860783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고품질 포용적 물복지 실현 위한 전략과제 이행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지역간 물복지 격차 해소</a:t>
            </a:r>
          </a:p>
        </p:txBody>
      </p:sp>
      <p:cxnSp>
        <p:nvCxnSpPr>
          <p:cNvPr id="70" name="Connector 50"/>
          <p:cNvCxnSpPr/>
          <p:nvPr/>
        </p:nvCxnSpPr>
        <p:spPr>
          <a:xfrm>
            <a:off x="4926783" y="3888313"/>
            <a:ext cx="0" cy="482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1" name="레일"/>
          <p:cNvSpPr/>
          <p:nvPr/>
        </p:nvSpPr>
        <p:spPr>
          <a:xfrm>
            <a:off x="547826" y="4425183"/>
            <a:ext cx="580696" cy="1621565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2" name="레일"/>
          <p:cNvSpPr>
            <a:spLocks noGrp="1"/>
          </p:cNvSpPr>
          <p:nvPr>
            <p:ph type="body" sz="quarter" idx="50"/>
          </p:nvPr>
        </p:nvSpPr>
        <p:spPr>
          <a:xfrm>
            <a:off x="547826" y="4425183"/>
            <a:ext cx="580696" cy="1621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4대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과제</a:t>
            </a:r>
          </a:p>
        </p:txBody>
      </p:sp>
      <p:sp>
        <p:nvSpPr>
          <p:cNvPr id="73" name="머리칸"/>
          <p:cNvSpPr/>
          <p:nvPr/>
        </p:nvSpPr>
        <p:spPr>
          <a:xfrm>
            <a:off x="1161391" y="4447096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4" name="머리칸"/>
          <p:cNvSpPr>
            <a:spLocks noGrp="1"/>
          </p:cNvSpPr>
          <p:nvPr>
            <p:ph type="body" sz="quarter" idx="51"/>
          </p:nvPr>
        </p:nvSpPr>
        <p:spPr>
          <a:xfrm>
            <a:off x="1161391" y="4447096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운영관리  작지만 강한 AI, 운영효율 및 서비스 고도화</a:t>
            </a:r>
          </a:p>
        </p:txBody>
      </p:sp>
      <p:sp>
        <p:nvSpPr>
          <p:cNvPr id="75" name="머리칸"/>
          <p:cNvSpPr/>
          <p:nvPr/>
        </p:nvSpPr>
        <p:spPr>
          <a:xfrm>
            <a:off x="3985435" y="4447096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76" name="머리칸"/>
          <p:cNvSpPr>
            <a:spLocks noGrp="1"/>
          </p:cNvSpPr>
          <p:nvPr>
            <p:ph type="body" sz="quarter" idx="52"/>
          </p:nvPr>
        </p:nvSpPr>
        <p:spPr>
          <a:xfrm>
            <a:off x="3985435" y="4447096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노후상수도  사업 성과달성으로 물 복지 및 해외 확산</a:t>
            </a:r>
          </a:p>
        </p:txBody>
      </p:sp>
      <p:sp>
        <p:nvSpPr>
          <p:cNvPr id="77" name="칸 본문"/>
          <p:cNvSpPr>
            <a:spLocks noGrp="1"/>
          </p:cNvSpPr>
          <p:nvPr>
            <p:ph type="body" sz="quarter" idx="53"/>
          </p:nvPr>
        </p:nvSpPr>
        <p:spPr>
          <a:xfrm>
            <a:off x="1172348" y="4688139"/>
            <a:ext cx="2802130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기술을 접목한 관망·안전관리 효율성 제고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 기대를 충족하는 수질관리, 서비스 개선</a:t>
            </a:r>
          </a:p>
        </p:txBody>
      </p:sp>
      <p:sp>
        <p:nvSpPr>
          <p:cNvPr id="78" name="칸 본문"/>
          <p:cNvSpPr>
            <a:spLocks noGrp="1"/>
          </p:cNvSpPr>
          <p:nvPr>
            <p:ph type="body" sz="quarter" idx="54"/>
          </p:nvPr>
        </p:nvSpPr>
        <p:spPr>
          <a:xfrm>
            <a:off x="3996391" y="4688139"/>
            <a:ext cx="2802130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취약 지자체 수탁 확대 및 사업 수행체계 내실화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SWNM 기술 표준화 및 Biz 모델 개발로 글로벌 진출</a:t>
            </a:r>
          </a:p>
        </p:txBody>
      </p:sp>
      <p:cxnSp>
        <p:nvCxnSpPr>
          <p:cNvPr id="79" name="Connector 56"/>
          <p:cNvCxnSpPr/>
          <p:nvPr/>
        </p:nvCxnSpPr>
        <p:spPr>
          <a:xfrm>
            <a:off x="3985435" y="4721009"/>
            <a:ext cx="0" cy="482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0" name="머리칸"/>
          <p:cNvSpPr/>
          <p:nvPr/>
        </p:nvSpPr>
        <p:spPr>
          <a:xfrm>
            <a:off x="1161391" y="525240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81" name="머리칸"/>
          <p:cNvSpPr>
            <a:spLocks noGrp="1"/>
          </p:cNvSpPr>
          <p:nvPr>
            <p:ph type="body" sz="quarter" idx="55"/>
          </p:nvPr>
        </p:nvSpPr>
        <p:spPr>
          <a:xfrm>
            <a:off x="1161391" y="525240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유역수도  국가적 재난 지원과 지자체 역량 향상</a:t>
            </a:r>
          </a:p>
        </p:txBody>
      </p:sp>
      <p:sp>
        <p:nvSpPr>
          <p:cNvPr id="82" name="머리칸"/>
          <p:cNvSpPr/>
          <p:nvPr/>
        </p:nvSpPr>
        <p:spPr>
          <a:xfrm>
            <a:off x="3985435" y="525240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83" name="머리칸"/>
          <p:cNvSpPr>
            <a:spLocks noGrp="1"/>
          </p:cNvSpPr>
          <p:nvPr>
            <p:ph type="body" sz="quarter" idx="56"/>
          </p:nvPr>
        </p:nvSpPr>
        <p:spPr>
          <a:xfrm>
            <a:off x="3985435" y="525240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 복지  군부대, 도서·산간까지 빈틈없는 물복지 실현</a:t>
            </a:r>
          </a:p>
        </p:txBody>
      </p:sp>
      <p:sp>
        <p:nvSpPr>
          <p:cNvPr id="84" name="칸 본문"/>
          <p:cNvSpPr>
            <a:spLocks noGrp="1"/>
          </p:cNvSpPr>
          <p:nvPr>
            <p:ph type="body" sz="quarter" idx="57"/>
          </p:nvPr>
        </p:nvSpPr>
        <p:spPr>
          <a:xfrm>
            <a:off x="1172348" y="5493443"/>
            <a:ext cx="2802130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물공급 중단 지자체 총력지원, 국민불편 단축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시스템 개선·확대를 통한 지자체 역량 육성 지원</a:t>
            </a:r>
          </a:p>
        </p:txBody>
      </p:sp>
      <p:sp>
        <p:nvSpPr>
          <p:cNvPr id="85" name="칸 본문"/>
          <p:cNvSpPr>
            <a:spLocks noGrp="1"/>
          </p:cNvSpPr>
          <p:nvPr>
            <p:ph type="body" sz="quarter" idx="58"/>
          </p:nvPr>
        </p:nvSpPr>
        <p:spPr>
          <a:xfrm>
            <a:off x="3996391" y="5493443"/>
            <a:ext cx="2802130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도서지역 수원개발 및 중점현안사항 기술지원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마지막 남은 0.5%까지 소외없는 전국민 혜택 실현</a:t>
            </a:r>
          </a:p>
        </p:txBody>
      </p:sp>
      <p:cxnSp>
        <p:nvCxnSpPr>
          <p:cNvPr id="86" name="Connector 61"/>
          <p:cNvCxnSpPr/>
          <p:nvPr/>
        </p:nvCxnSpPr>
        <p:spPr>
          <a:xfrm>
            <a:off x="3985435" y="5526313"/>
            <a:ext cx="0" cy="482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7" name="레일"/>
          <p:cNvSpPr/>
          <p:nvPr/>
        </p:nvSpPr>
        <p:spPr>
          <a:xfrm>
            <a:off x="547826" y="6063183"/>
            <a:ext cx="580696" cy="739565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88" name="레일"/>
          <p:cNvSpPr>
            <a:spLocks noGrp="1"/>
          </p:cNvSpPr>
          <p:nvPr>
            <p:ph type="body" sz="quarter" idx="59"/>
          </p:nvPr>
        </p:nvSpPr>
        <p:spPr>
          <a:xfrm>
            <a:off x="547826" y="6063183"/>
            <a:ext cx="580696" cy="739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’25년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실행성과</a:t>
            </a:r>
          </a:p>
        </p:txBody>
      </p:sp>
      <p:sp>
        <p:nvSpPr>
          <p:cNvPr id="89" name="레일 삼각형"/>
          <p:cNvSpPr/>
          <p:nvPr/>
        </p:nvSpPr>
        <p:spPr>
          <a:xfrm>
            <a:off x="547826" y="6063182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90" name="칸 본문"/>
          <p:cNvSpPr>
            <a:spLocks noGrp="1"/>
          </p:cNvSpPr>
          <p:nvPr>
            <p:ph type="body" sz="quarter" idx="60"/>
          </p:nvPr>
        </p:nvSpPr>
        <p:spPr>
          <a:xfrm>
            <a:off x="1172348" y="6085096"/>
            <a:ext cx="1390109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유수율 85.4%(수탁前 60.1%)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수질기준 100% 만족</a:t>
            </a:r>
          </a:p>
        </p:txBody>
      </p:sp>
      <p:sp>
        <p:nvSpPr>
          <p:cNvPr id="91" name="칸 본문"/>
          <p:cNvSpPr>
            <a:spLocks noGrp="1"/>
          </p:cNvSpPr>
          <p:nvPr>
            <p:ph type="body" sz="quarter" idx="61"/>
          </p:nvPr>
        </p:nvSpPr>
        <p:spPr>
          <a:xfrm>
            <a:off x="2584370" y="6085096"/>
            <a:ext cx="1390109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신규사업 최다 협약(24개)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성과판정 13개(누적 47개) 합격</a:t>
            </a:r>
          </a:p>
        </p:txBody>
      </p:sp>
      <p:cxnSp>
        <p:nvCxnSpPr>
          <p:cNvPr id="92" name="Connector 66"/>
          <p:cNvCxnSpPr/>
          <p:nvPr/>
        </p:nvCxnSpPr>
        <p:spPr>
          <a:xfrm>
            <a:off x="2573413" y="6117965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93" name="칸 본문"/>
          <p:cNvSpPr>
            <a:spLocks noGrp="1"/>
          </p:cNvSpPr>
          <p:nvPr>
            <p:ph type="body" sz="quarter" idx="62"/>
          </p:nvPr>
        </p:nvSpPr>
        <p:spPr>
          <a:xfrm>
            <a:off x="3996391" y="6085096"/>
            <a:ext cx="1390109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재난대응 등 지원 1천건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AI기반 위기감시·대응 확대</a:t>
            </a:r>
          </a:p>
        </p:txBody>
      </p:sp>
      <p:cxnSp>
        <p:nvCxnSpPr>
          <p:cNvPr id="94" name="Connector 68"/>
          <p:cNvCxnSpPr/>
          <p:nvPr/>
        </p:nvCxnSpPr>
        <p:spPr>
          <a:xfrm>
            <a:off x="3985435" y="6117965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95" name="칸 본문"/>
          <p:cNvSpPr>
            <a:spLocks noGrp="1"/>
          </p:cNvSpPr>
          <p:nvPr>
            <p:ph type="body" sz="quarter" idx="63"/>
          </p:nvPr>
        </p:nvSpPr>
        <p:spPr>
          <a:xfrm>
            <a:off x="5408413" y="6085096"/>
            <a:ext cx="1390109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급수취약 10.2천명 해소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지역별 맞춤형 물복지 확대</a:t>
            </a:r>
          </a:p>
        </p:txBody>
      </p:sp>
      <p:cxnSp>
        <p:nvCxnSpPr>
          <p:cNvPr id="96" name="Connector 70"/>
          <p:cNvCxnSpPr/>
          <p:nvPr/>
        </p:nvCxnSpPr>
        <p:spPr>
          <a:xfrm>
            <a:off x="5397457" y="6117965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200 서사 · 스마트 기술 기반 운영관리 혁신(운영관리 혁신 2칸 → 시사점 → AI 전환 로드맵 → AI 기술 개발·실증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4295445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스마트 기술 기반 운영관리를 지속 혁신하고, ‘지방상수도 AI 전환’을 준비</a:t>
            </a:r>
          </a:p>
        </p:txBody>
      </p:sp>
      <p:sp>
        <p:nvSpPr>
          <p:cNvPr id="11" name="태그칩"/>
          <p:cNvSpPr/>
          <p:nvPr/>
        </p:nvSpPr>
        <p:spPr>
          <a:xfrm>
            <a:off x="5117184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5117184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표 외곽"/>
          <p:cNvSpPr/>
          <p:nvPr/>
        </p:nvSpPr>
        <p:spPr>
          <a:xfrm>
            <a:off x="723130" y="1062783"/>
            <a:ext cx="6300000" cy="3458191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레일"/>
          <p:cNvSpPr/>
          <p:nvPr/>
        </p:nvSpPr>
        <p:spPr>
          <a:xfrm>
            <a:off x="734087" y="1079217"/>
            <a:ext cx="580696" cy="9806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079217"/>
            <a:ext cx="580696" cy="980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운영관리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혁 신</a:t>
            </a:r>
          </a:p>
        </p:txBody>
      </p:sp>
      <p:sp>
        <p:nvSpPr>
          <p:cNvPr id="16" name="머리칸"/>
          <p:cNvSpPr/>
          <p:nvPr/>
        </p:nvSpPr>
        <p:spPr>
          <a:xfrm>
            <a:off x="1347652" y="110113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7" name="머리칸"/>
          <p:cNvSpPr>
            <a:spLocks noGrp="1"/>
          </p:cNvSpPr>
          <p:nvPr>
            <p:ph type="body" sz="quarter" idx="23"/>
          </p:nvPr>
        </p:nvSpPr>
        <p:spPr>
          <a:xfrm>
            <a:off x="1347652" y="110113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시설안전  침수 예·경보시스템 구축(논산시)</a:t>
            </a:r>
          </a:p>
        </p:txBody>
      </p:sp>
      <p:sp>
        <p:nvSpPr>
          <p:cNvPr id="18" name="머리칸"/>
          <p:cNvSpPr/>
          <p:nvPr/>
        </p:nvSpPr>
        <p:spPr>
          <a:xfrm>
            <a:off x="4171696" y="110113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9" name="머리칸"/>
          <p:cNvSpPr>
            <a:spLocks noGrp="1"/>
          </p:cNvSpPr>
          <p:nvPr>
            <p:ph type="body" sz="quarter" idx="24"/>
          </p:nvPr>
        </p:nvSpPr>
        <p:spPr>
          <a:xfrm>
            <a:off x="4171696" y="110113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민원처리  One-Stop 모바일 업무처리(공통)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5"/>
          </p:nvPr>
        </p:nvSpPr>
        <p:spPr>
          <a:xfrm>
            <a:off x="1358609" y="1342174"/>
            <a:ext cx="2802130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배경: 논산가압장 침수로 단수위기(’23~’24, 3회)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개선: 영상분석·모델링으로 침수 예측(3시간前)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침수 사전예측·대응으로 용수공급 중단예방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6"/>
          </p:nvPr>
        </p:nvSpPr>
        <p:spPr>
          <a:xfrm>
            <a:off x="4182652" y="1342174"/>
            <a:ext cx="2802130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배경: 접수 ↔ 현장조치 이원화로 처리시간 과다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개선: 현장에서 접속하는 모바일시스템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조회 · 입력 · 공유를 통한 신속 응대</a:t>
            </a:r>
          </a:p>
        </p:txBody>
      </p:sp>
      <p:cxnSp>
        <p:nvCxnSpPr>
          <p:cNvPr id="22" name="Connector 12"/>
          <p:cNvCxnSpPr/>
          <p:nvPr/>
        </p:nvCxnSpPr>
        <p:spPr>
          <a:xfrm>
            <a:off x="4171696" y="1375043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3" name="레일"/>
          <p:cNvSpPr/>
          <p:nvPr/>
        </p:nvSpPr>
        <p:spPr>
          <a:xfrm>
            <a:off x="734087" y="2076261"/>
            <a:ext cx="580696" cy="38488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4" name="레일"/>
          <p:cNvSpPr>
            <a:spLocks noGrp="1"/>
          </p:cNvSpPr>
          <p:nvPr>
            <p:ph type="body" sz="quarter" idx="27"/>
          </p:nvPr>
        </p:nvSpPr>
        <p:spPr>
          <a:xfrm>
            <a:off x="734087" y="2076261"/>
            <a:ext cx="580696" cy="3848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25" name="레일 삼각형"/>
          <p:cNvSpPr/>
          <p:nvPr/>
        </p:nvSpPr>
        <p:spPr>
          <a:xfrm>
            <a:off x="734086" y="2076260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6" name="배너"/>
          <p:cNvSpPr/>
          <p:nvPr/>
        </p:nvSpPr>
        <p:spPr>
          <a:xfrm>
            <a:off x="1347652" y="2098174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7" name="배너"/>
          <p:cNvSpPr>
            <a:spLocks noGrp="1"/>
          </p:cNvSpPr>
          <p:nvPr>
            <p:ph type="body" sz="quarter" idx="28"/>
          </p:nvPr>
        </p:nvSpPr>
        <p:spPr>
          <a:xfrm>
            <a:off x="1347652" y="2098174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新정부의 ‘AI 3대 강국’ 정책에 발맞춰 ‘지방상수도 운영’과 ‘AI’ 접목을 통한 한단계 더 도약</a:t>
            </a:r>
          </a:p>
        </p:txBody>
      </p:sp>
      <p:sp>
        <p:nvSpPr>
          <p:cNvPr id="28" name="레일"/>
          <p:cNvSpPr/>
          <p:nvPr/>
        </p:nvSpPr>
        <p:spPr>
          <a:xfrm>
            <a:off x="734087" y="2477583"/>
            <a:ext cx="580696" cy="958696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9" name="레일"/>
          <p:cNvSpPr>
            <a:spLocks noGrp="1"/>
          </p:cNvSpPr>
          <p:nvPr>
            <p:ph type="body" sz="quarter" idx="29"/>
          </p:nvPr>
        </p:nvSpPr>
        <p:spPr>
          <a:xfrm>
            <a:off x="734087" y="2477583"/>
            <a:ext cx="580696" cy="95869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AI 전환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로 드 맵</a:t>
            </a:r>
          </a:p>
        </p:txBody>
      </p:sp>
      <p:sp>
        <p:nvSpPr>
          <p:cNvPr id="30" name="단계"/>
          <p:cNvSpPr/>
          <p:nvPr/>
        </p:nvSpPr>
        <p:spPr>
          <a:xfrm>
            <a:off x="1347652" y="2499496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1" name="단계"/>
          <p:cNvSpPr>
            <a:spLocks noGrp="1"/>
          </p:cNvSpPr>
          <p:nvPr>
            <p:ph type="body" sz="quarter" idx="30"/>
          </p:nvPr>
        </p:nvSpPr>
        <p:spPr>
          <a:xfrm>
            <a:off x="1347652" y="249949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~’24년 데이터인프라 구축</a:t>
            </a:r>
          </a:p>
        </p:txBody>
      </p:sp>
      <p:sp>
        <p:nvSpPr>
          <p:cNvPr id="32" name="단계"/>
          <p:cNvSpPr/>
          <p:nvPr/>
        </p:nvSpPr>
        <p:spPr>
          <a:xfrm>
            <a:off x="3230348" y="2499496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3" name="단계"/>
          <p:cNvSpPr>
            <a:spLocks noGrp="1"/>
          </p:cNvSpPr>
          <p:nvPr>
            <p:ph type="body" sz="quarter" idx="31"/>
          </p:nvPr>
        </p:nvSpPr>
        <p:spPr>
          <a:xfrm>
            <a:off x="3230348" y="249949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요소기술 개발·실증</a:t>
            </a:r>
          </a:p>
        </p:txBody>
      </p:sp>
      <p:sp>
        <p:nvSpPr>
          <p:cNvPr id="34" name="단계"/>
          <p:cNvSpPr/>
          <p:nvPr/>
        </p:nvSpPr>
        <p:spPr>
          <a:xfrm>
            <a:off x="5113043" y="2499496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5" name="단계"/>
          <p:cNvSpPr>
            <a:spLocks noGrp="1"/>
          </p:cNvSpPr>
          <p:nvPr>
            <p:ph type="body" sz="quarter" idx="32"/>
          </p:nvPr>
        </p:nvSpPr>
        <p:spPr>
          <a:xfrm>
            <a:off x="5113043" y="249949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’26년~ AX 전략수립·확산</a:t>
            </a:r>
          </a:p>
        </p:txBody>
      </p:sp>
      <p:sp>
        <p:nvSpPr>
          <p:cNvPr id="36" name="단계 삼각형"/>
          <p:cNvSpPr/>
          <p:nvPr/>
        </p:nvSpPr>
        <p:spPr>
          <a:xfrm>
            <a:off x="3230347" y="2499495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7" name="단계 삼각형"/>
          <p:cNvSpPr/>
          <p:nvPr/>
        </p:nvSpPr>
        <p:spPr>
          <a:xfrm>
            <a:off x="5113043" y="2499495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3"/>
          </p:nvPr>
        </p:nvSpPr>
        <p:spPr>
          <a:xfrm>
            <a:off x="1358609" y="2751496"/>
            <a:ext cx="1860783" cy="679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스마트 관망관리 기반, 운영데이터 확보체계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통합관리시스템 구축 및 고도화(분석기능 추가 등)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4"/>
          </p:nvPr>
        </p:nvSpPr>
        <p:spPr>
          <a:xfrm>
            <a:off x="3241304" y="2751496"/>
            <a:ext cx="1860783" cy="679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활용 파일럿 프로젝트 개발 및 실사업장 실증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실증 기반 모델 최적화</a:t>
            </a:r>
          </a:p>
        </p:txBody>
      </p:sp>
      <p:cxnSp>
        <p:nvCxnSpPr>
          <p:cNvPr id="40" name="Connector 24"/>
          <p:cNvCxnSpPr/>
          <p:nvPr/>
        </p:nvCxnSpPr>
        <p:spPr>
          <a:xfrm>
            <a:off x="3230348" y="2784365"/>
            <a:ext cx="0" cy="613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1" name="칸 본문"/>
          <p:cNvSpPr>
            <a:spLocks noGrp="1"/>
          </p:cNvSpPr>
          <p:nvPr>
            <p:ph type="body" sz="quarter" idx="35"/>
          </p:nvPr>
        </p:nvSpPr>
        <p:spPr>
          <a:xfrm>
            <a:off x="5124000" y="2751496"/>
            <a:ext cx="1860783" cy="679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생산·공급·서비스 全과정 AI 전환 전략 수립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지방(상) AI 정책 정책화</a:t>
            </a:r>
          </a:p>
        </p:txBody>
      </p:sp>
      <p:cxnSp>
        <p:nvCxnSpPr>
          <p:cNvPr id="42" name="Connector 26"/>
          <p:cNvCxnSpPr/>
          <p:nvPr/>
        </p:nvCxnSpPr>
        <p:spPr>
          <a:xfrm>
            <a:off x="5113043" y="2784365"/>
            <a:ext cx="0" cy="613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3" name="레일"/>
          <p:cNvSpPr/>
          <p:nvPr/>
        </p:nvSpPr>
        <p:spPr>
          <a:xfrm>
            <a:off x="734087" y="3452713"/>
            <a:ext cx="580696" cy="1051826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4" name="레일"/>
          <p:cNvSpPr>
            <a:spLocks noGrp="1"/>
          </p:cNvSpPr>
          <p:nvPr>
            <p:ph type="body" sz="quarter" idx="36"/>
          </p:nvPr>
        </p:nvSpPr>
        <p:spPr>
          <a:xfrm>
            <a:off x="734087" y="3452713"/>
            <a:ext cx="580696" cy="1051826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AI 기술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개발·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 증</a:t>
            </a:r>
          </a:p>
        </p:txBody>
      </p:sp>
      <p:sp>
        <p:nvSpPr>
          <p:cNvPr id="45" name="레일 삼각형"/>
          <p:cNvSpPr/>
          <p:nvPr/>
        </p:nvSpPr>
        <p:spPr>
          <a:xfrm>
            <a:off x="734086" y="3452713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6" name="배너"/>
          <p:cNvSpPr/>
          <p:nvPr/>
        </p:nvSpPr>
        <p:spPr>
          <a:xfrm>
            <a:off x="1347652" y="3474626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7" name="배너"/>
          <p:cNvSpPr>
            <a:spLocks noGrp="1"/>
          </p:cNvSpPr>
          <p:nvPr>
            <p:ph type="body" sz="quarter" idx="37"/>
          </p:nvPr>
        </p:nvSpPr>
        <p:spPr>
          <a:xfrm>
            <a:off x="1347652" y="3474626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인력 중심 수동적 관망운영 → AI 연계 능동적 관망운영으로 누수시간 최소화 및 신속대응</a:t>
            </a:r>
          </a:p>
        </p:txBody>
      </p:sp>
      <p:sp>
        <p:nvSpPr>
          <p:cNvPr id="48" name="머리칸"/>
          <p:cNvSpPr/>
          <p:nvPr/>
        </p:nvSpPr>
        <p:spPr>
          <a:xfrm>
            <a:off x="1347652" y="371019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9" name="머리칸"/>
          <p:cNvSpPr>
            <a:spLocks noGrp="1"/>
          </p:cNvSpPr>
          <p:nvPr>
            <p:ph type="body" sz="quarter" idx="38"/>
          </p:nvPr>
        </p:nvSpPr>
        <p:spPr>
          <a:xfrm>
            <a:off x="1347652" y="371019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데이터 분석</a:t>
            </a:r>
          </a:p>
        </p:txBody>
      </p:sp>
      <p:sp>
        <p:nvSpPr>
          <p:cNvPr id="50" name="머리칸"/>
          <p:cNvSpPr/>
          <p:nvPr/>
        </p:nvSpPr>
        <p:spPr>
          <a:xfrm>
            <a:off x="3230348" y="371019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1" name="머리칸"/>
          <p:cNvSpPr>
            <a:spLocks noGrp="1"/>
          </p:cNvSpPr>
          <p:nvPr>
            <p:ph type="body" sz="quarter" idx="39"/>
          </p:nvPr>
        </p:nvSpPr>
        <p:spPr>
          <a:xfrm>
            <a:off x="3230348" y="371019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사고인지</a:t>
            </a:r>
          </a:p>
        </p:txBody>
      </p:sp>
      <p:sp>
        <p:nvSpPr>
          <p:cNvPr id="52" name="머리칸"/>
          <p:cNvSpPr/>
          <p:nvPr/>
        </p:nvSpPr>
        <p:spPr>
          <a:xfrm>
            <a:off x="5113043" y="3710191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3" name="머리칸"/>
          <p:cNvSpPr>
            <a:spLocks noGrp="1"/>
          </p:cNvSpPr>
          <p:nvPr>
            <p:ph type="body" sz="quarter" idx="40"/>
          </p:nvPr>
        </p:nvSpPr>
        <p:spPr>
          <a:xfrm>
            <a:off x="5113043" y="3710191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누수저감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41"/>
          </p:nvPr>
        </p:nvSpPr>
        <p:spPr>
          <a:xfrm>
            <a:off x="1358609" y="3951235"/>
            <a:ext cx="1860783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생성형 AI 활용, 관망데이터 자동분석(부여군)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신속한 분석과 이상감지</a:t>
            </a:r>
          </a:p>
        </p:txBody>
      </p:sp>
      <p:sp>
        <p:nvSpPr>
          <p:cNvPr id="55" name="칸 본문"/>
          <p:cNvSpPr>
            <a:spLocks noGrp="1"/>
          </p:cNvSpPr>
          <p:nvPr>
            <p:ph type="body" sz="quarter" idx="42"/>
          </p:nvPr>
        </p:nvSpPr>
        <p:spPr>
          <a:xfrm>
            <a:off x="3241304" y="3951235"/>
            <a:ext cx="1860783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수압데이터 활용, AI예측과 실측치 비교로 사고인지(장흥군)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누수시간 최소화로 누수량 저감</a:t>
            </a:r>
          </a:p>
        </p:txBody>
      </p:sp>
      <p:cxnSp>
        <p:nvCxnSpPr>
          <p:cNvPr id="56" name="Connector 35"/>
          <p:cNvCxnSpPr/>
          <p:nvPr/>
        </p:nvCxnSpPr>
        <p:spPr>
          <a:xfrm>
            <a:off x="3230348" y="3984104"/>
            <a:ext cx="0" cy="482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7" name="칸 본문"/>
          <p:cNvSpPr>
            <a:spLocks noGrp="1"/>
          </p:cNvSpPr>
          <p:nvPr>
            <p:ph type="body" sz="quarter" idx="43"/>
          </p:nvPr>
        </p:nvSpPr>
        <p:spPr>
          <a:xfrm>
            <a:off x="5124000" y="3951235"/>
            <a:ext cx="1860783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구역별 유량 모니터링 및 분석을 통한 누수 사전예측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선제적 누수탐사·복구 가능</a:t>
            </a:r>
          </a:p>
        </p:txBody>
      </p:sp>
      <p:cxnSp>
        <p:nvCxnSpPr>
          <p:cNvPr id="58" name="Connector 37"/>
          <p:cNvCxnSpPr/>
          <p:nvPr/>
        </p:nvCxnSpPr>
        <p:spPr>
          <a:xfrm>
            <a:off x="5113043" y="3984104"/>
            <a:ext cx="0" cy="482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201 서사 · 글로벌 수질기준을 충족하는 수돗물 품질관리(실태조사 → VOC · 수질이슈 두 갈래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4386312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글로벌 수질기준을 충족하는 철저한 수돗물 품질관리로 국민 눈높이에 부응</a:t>
            </a:r>
          </a:p>
        </p:txBody>
      </p:sp>
      <p:sp>
        <p:nvSpPr>
          <p:cNvPr id="12" name="태그칩"/>
          <p:cNvSpPr/>
          <p:nvPr/>
        </p:nvSpPr>
        <p:spPr>
          <a:xfrm>
            <a:off x="5021790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5021790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표 외곽"/>
          <p:cNvSpPr/>
          <p:nvPr/>
        </p:nvSpPr>
        <p:spPr>
          <a:xfrm>
            <a:off x="536870" y="1051826"/>
            <a:ext cx="6300000" cy="1577739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547826" y="1068261"/>
            <a:ext cx="580696" cy="154487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068261"/>
            <a:ext cx="580696" cy="154487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맞춤형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수질관리</a:t>
            </a:r>
          </a:p>
        </p:txBody>
      </p:sp>
      <p:sp>
        <p:nvSpPr>
          <p:cNvPr id="17" name="배너"/>
          <p:cNvSpPr/>
          <p:nvPr/>
        </p:nvSpPr>
        <p:spPr>
          <a:xfrm>
            <a:off x="1161391" y="1090174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18" name="배너"/>
          <p:cNvSpPr>
            <a:spLocks noGrp="1"/>
          </p:cNvSpPr>
          <p:nvPr>
            <p:ph type="body" sz="quarter" idx="23"/>
          </p:nvPr>
        </p:nvSpPr>
        <p:spPr>
          <a:xfrm>
            <a:off x="1161391" y="1090174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수돗물 먹는 실태조사 → 수돗물 수질 이용불편 경험, 원수 수질관리 정책 응답</a:t>
            </a:r>
          </a:p>
        </p:txBody>
      </p:sp>
      <p:sp>
        <p:nvSpPr>
          <p:cNvPr id="19" name="머리칸"/>
          <p:cNvSpPr/>
          <p:nvPr/>
        </p:nvSpPr>
        <p:spPr>
          <a:xfrm>
            <a:off x="1161391" y="1325739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0" name="머리칸"/>
          <p:cNvSpPr>
            <a:spLocks noGrp="1"/>
          </p:cNvSpPr>
          <p:nvPr>
            <p:ph type="body" sz="quarter" idx="24"/>
          </p:nvPr>
        </p:nvSpPr>
        <p:spPr>
          <a:xfrm>
            <a:off x="1161391" y="1325739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VOC 연계, 가정 방문 수질검사 서비스 개선</a:t>
            </a:r>
          </a:p>
        </p:txBody>
      </p:sp>
      <p:sp>
        <p:nvSpPr>
          <p:cNvPr id="21" name="머리칸"/>
          <p:cNvSpPr/>
          <p:nvPr/>
        </p:nvSpPr>
        <p:spPr>
          <a:xfrm>
            <a:off x="3985435" y="1325739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2" name="머리칸"/>
          <p:cNvSpPr>
            <a:spLocks noGrp="1"/>
          </p:cNvSpPr>
          <p:nvPr>
            <p:ph type="body" sz="quarter" idx="25"/>
          </p:nvPr>
        </p:nvSpPr>
        <p:spPr>
          <a:xfrm>
            <a:off x="3985435" y="1325739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상수원수 및 정수 수질이슈 대응 강화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6"/>
          </p:nvPr>
        </p:nvSpPr>
        <p:spPr>
          <a:xfrm>
            <a:off x="1172348" y="1566783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VOC: “싱크대에 하얀 자국이 남아요”(석회·경도 증가), “수도꼭지 필터 색깔이 변해요”(망간 검출), “수돗물이 너무 뜨거워요”(수온 상승)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고객수용성 제고, 지역별 수질 특성 고려, 수질 검사항목 탄력적 확대(5→8개)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7"/>
          </p:nvPr>
        </p:nvSpPr>
        <p:spPr>
          <a:xfrm>
            <a:off x="3996391" y="1566783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수질데이터 지역·시기별 분석, 이슈 도출 → 3대 이슈 항목(냄새, 알루미늄, 망간) 선정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냄새: 방선균 발생(동절기) 대비 활성탄 선제주입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알루미늄: pH 관리목표 도출, 취약시기 CO₂ 주입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망간: 취약시기 선택 취수, 염소 소독강화 등</a:t>
            </a:r>
          </a:p>
        </p:txBody>
      </p:sp>
      <p:cxnSp>
        <p:nvCxnSpPr>
          <p:cNvPr id="25" name="Connector 16"/>
          <p:cNvCxnSpPr/>
          <p:nvPr/>
        </p:nvCxnSpPr>
        <p:spPr>
          <a:xfrm>
            <a:off x="3985435" y="1599652"/>
            <a:ext cx="0" cy="97513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6" name="핵심성과 박스"/>
          <p:cNvSpPr/>
          <p:nvPr/>
        </p:nvSpPr>
        <p:spPr>
          <a:xfrm>
            <a:off x="536870" y="2717217"/>
            <a:ext cx="6300000" cy="49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7" name="핵심성과 라벨"/>
          <p:cNvSpPr/>
          <p:nvPr/>
        </p:nvSpPr>
        <p:spPr>
          <a:xfrm>
            <a:off x="569739" y="2755565"/>
            <a:ext cx="657391" cy="41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28" name="핵심성과 라벨"/>
          <p:cNvSpPr>
            <a:spLocks noGrp="1"/>
          </p:cNvSpPr>
          <p:nvPr>
            <p:ph type="body" sz="quarter" idx="28"/>
          </p:nvPr>
        </p:nvSpPr>
        <p:spPr>
          <a:xfrm>
            <a:off x="569739" y="2755565"/>
            <a:ext cx="657391" cy="41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29" name="핵심성과 문구"/>
          <p:cNvSpPr>
            <a:spLocks noGrp="1"/>
          </p:cNvSpPr>
          <p:nvPr>
            <p:ph type="body" sz="quarter" idx="29"/>
          </p:nvPr>
        </p:nvSpPr>
        <p:spPr>
          <a:xfrm>
            <a:off x="1314783" y="2733652"/>
            <a:ext cx="5456348" cy="45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지방정수장 글로벌 수질기준 100% 만족 최초 달성(기준초과 ’23년 9건 → ’24년 3건 → ’25년 0건)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202 서사 · 규모는 키우고 효율성은 높여 서비스 격차 해소(신규협약 지자체 맞춤형 모델 → 수행체계 효율성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4100318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규모는 키우고, 효율성은 높여 보다 빠른 성과 창출로 서비스 격차 해소</a:t>
            </a:r>
          </a:p>
        </p:txBody>
      </p:sp>
      <p:sp>
        <p:nvSpPr>
          <p:cNvPr id="11" name="태그칩"/>
          <p:cNvSpPr/>
          <p:nvPr/>
        </p:nvSpPr>
        <p:spPr>
          <a:xfrm>
            <a:off x="4922057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4922057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태그칩"/>
          <p:cNvSpPr/>
          <p:nvPr/>
        </p:nvSpPr>
        <p:spPr>
          <a:xfrm>
            <a:off x="5473178" y="810783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4" name="태그칩"/>
          <p:cNvSpPr>
            <a:spLocks noGrp="1"/>
          </p:cNvSpPr>
          <p:nvPr>
            <p:ph type="body" sz="quarter" idx="22"/>
          </p:nvPr>
        </p:nvSpPr>
        <p:spPr>
          <a:xfrm>
            <a:off x="5473178" y="810783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5" name="표 외곽"/>
          <p:cNvSpPr/>
          <p:nvPr/>
        </p:nvSpPr>
        <p:spPr>
          <a:xfrm>
            <a:off x="723130" y="1062783"/>
            <a:ext cx="6300000" cy="290347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레일"/>
          <p:cNvSpPr/>
          <p:nvPr/>
        </p:nvSpPr>
        <p:spPr>
          <a:xfrm>
            <a:off x="734087" y="1079217"/>
            <a:ext cx="580696" cy="154487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레일"/>
          <p:cNvSpPr>
            <a:spLocks noGrp="1"/>
          </p:cNvSpPr>
          <p:nvPr>
            <p:ph type="body" sz="quarter" idx="23"/>
          </p:nvPr>
        </p:nvSpPr>
        <p:spPr>
          <a:xfrm>
            <a:off x="734087" y="1079217"/>
            <a:ext cx="580696" cy="154487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신규협약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지자체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맞춤형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사업모델</a:t>
            </a:r>
          </a:p>
        </p:txBody>
      </p:sp>
      <p:sp>
        <p:nvSpPr>
          <p:cNvPr id="18" name="배너"/>
          <p:cNvSpPr/>
          <p:nvPr/>
        </p:nvSpPr>
        <p:spPr>
          <a:xfrm>
            <a:off x="1347652" y="1101130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19" name="배너"/>
          <p:cNvSpPr>
            <a:spLocks noGrp="1"/>
          </p:cNvSpPr>
          <p:nvPr>
            <p:ph type="body" sz="quarter" idx="24"/>
          </p:nvPr>
        </p:nvSpPr>
        <p:spPr>
          <a:xfrm>
            <a:off x="1347652" y="1101130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‘건설 6년(유수율제고) + 운영 4년(성과유지)’ 복합모델 개발 → ’25년 통합형·일괄형 新모델로 진화</a:t>
            </a:r>
          </a:p>
        </p:txBody>
      </p:sp>
      <p:sp>
        <p:nvSpPr>
          <p:cNvPr id="20" name="머리칸"/>
          <p:cNvSpPr/>
          <p:nvPr/>
        </p:nvSpPr>
        <p:spPr>
          <a:xfrm>
            <a:off x="1347652" y="1336696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1" name="머리칸"/>
          <p:cNvSpPr>
            <a:spLocks noGrp="1"/>
          </p:cNvSpPr>
          <p:nvPr>
            <p:ph type="body" sz="quarter" idx="25"/>
          </p:nvPr>
        </p:nvSpPr>
        <p:spPr>
          <a:xfrm>
            <a:off x="1347652" y="1336696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충남서부  인근 지자체 동시 요청 → 통합형</a:t>
            </a:r>
          </a:p>
        </p:txBody>
      </p:sp>
      <p:sp>
        <p:nvSpPr>
          <p:cNvPr id="22" name="머리칸"/>
          <p:cNvSpPr/>
          <p:nvPr/>
        </p:nvSpPr>
        <p:spPr>
          <a:xfrm>
            <a:off x="4171696" y="1336696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3" name="머리칸"/>
          <p:cNvSpPr>
            <a:spLocks noGrp="1"/>
          </p:cNvSpPr>
          <p:nvPr>
            <p:ph type="body" sz="quarter" idx="26"/>
          </p:nvPr>
        </p:nvSpPr>
        <p:spPr>
          <a:xfrm>
            <a:off x="4171696" y="1336696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제주도  同지자체 다수 사업 → 일괄형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7"/>
          </p:nvPr>
        </p:nvSpPr>
        <p:spPr>
          <a:xfrm>
            <a:off x="1358609" y="1577739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이슈: 성과유지 복합모델 위탁요구 지자체↑ → K-water 인력 부족, 전체 개별수탁 수용불가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제안: 인근 지자체 간 통합형 모델 수탁 → 충남서부 5개 지자체(개별) → 2개 권역(’25.7)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8"/>
          </p:nvPr>
        </p:nvSpPr>
        <p:spPr>
          <a:xfrm>
            <a:off x="4182652" y="1577739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이슈: 유수율 전국 최저지역이나, K-water 시범사업의 유수율 제고 가능성 확인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요청: 신규 정비사업 일괄 수탁(4→14개) → 全지역 집중관리로 단기간 유수율 제고 계획(’24년 55% → ’31년 81%)</a:t>
            </a:r>
          </a:p>
        </p:txBody>
      </p:sp>
      <p:cxnSp>
        <p:nvCxnSpPr>
          <p:cNvPr id="26" name="Connector 14"/>
          <p:cNvCxnSpPr/>
          <p:nvPr/>
        </p:nvCxnSpPr>
        <p:spPr>
          <a:xfrm>
            <a:off x="4171696" y="1610609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7" name="레일"/>
          <p:cNvSpPr/>
          <p:nvPr/>
        </p:nvSpPr>
        <p:spPr>
          <a:xfrm>
            <a:off x="734087" y="2640522"/>
            <a:ext cx="580696" cy="1309304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8" name="레일"/>
          <p:cNvSpPr>
            <a:spLocks noGrp="1"/>
          </p:cNvSpPr>
          <p:nvPr>
            <p:ph type="body" sz="quarter" idx="29"/>
          </p:nvPr>
        </p:nvSpPr>
        <p:spPr>
          <a:xfrm>
            <a:off x="734087" y="2640522"/>
            <a:ext cx="580696" cy="1309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수행체계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효율성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화</a:t>
            </a:r>
          </a:p>
        </p:txBody>
      </p:sp>
      <p:sp>
        <p:nvSpPr>
          <p:cNvPr id="29" name="레일 삼각형"/>
          <p:cNvSpPr/>
          <p:nvPr/>
        </p:nvSpPr>
        <p:spPr>
          <a:xfrm>
            <a:off x="734086" y="2640521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0" name="머리칸"/>
          <p:cNvSpPr/>
          <p:nvPr/>
        </p:nvSpPr>
        <p:spPr>
          <a:xfrm>
            <a:off x="1347652" y="2662435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1" name="머리칸"/>
          <p:cNvSpPr>
            <a:spLocks noGrp="1"/>
          </p:cNvSpPr>
          <p:nvPr>
            <p:ph type="body" sz="quarter" idx="30"/>
          </p:nvPr>
        </p:nvSpPr>
        <p:spPr>
          <a:xfrm>
            <a:off x="1347652" y="2662435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사업기간</a:t>
            </a:r>
          </a:p>
        </p:txBody>
      </p:sp>
      <p:sp>
        <p:nvSpPr>
          <p:cNvPr id="32" name="머리칸"/>
          <p:cNvSpPr/>
          <p:nvPr/>
        </p:nvSpPr>
        <p:spPr>
          <a:xfrm>
            <a:off x="4171696" y="2662435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3" name="머리칸"/>
          <p:cNvSpPr>
            <a:spLocks noGrp="1"/>
          </p:cNvSpPr>
          <p:nvPr>
            <p:ph type="body" sz="quarter" idx="31"/>
          </p:nvPr>
        </p:nvSpPr>
        <p:spPr>
          <a:xfrm>
            <a:off x="4171696" y="2662435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사업비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2"/>
          </p:nvPr>
        </p:nvSpPr>
        <p:spPr>
          <a:xfrm>
            <a:off x="1358609" y="2903478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수행절차 개선으로 성과 조기 창출: 협약체결(4개월 단축) → 지자체협의 → 예산확정 → 내부절차 → 협약체결 / 설계용역 착수(3개월 단축)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기존: 예산확정 후 협의+설계 개별 발주 → 개선: 예산확정 전 협의+설계 일괄 발주 → 사업기간 7개월 단축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3"/>
          </p:nvPr>
        </p:nvSpPr>
        <p:spPr>
          <a:xfrm>
            <a:off x="4182652" y="2903478"/>
            <a:ext cx="2802130" cy="10408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기후부 협업, 총사업비 체계 개편: 건설사업관리비 확보 9.2억원 ▲/사업당(24.7 → 33.9억원), 우수기술 예산 확대 15억원 ▲/사업당(5 → 20억원)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이슈: 법·제도 강화 불구, 안전·기술 예산 부족 → 개선: 예산 확대 근거 마련, 재원 추가확보 → 38개 사업 감리 351억원, 우수기술 570억원 증액</a:t>
            </a:r>
          </a:p>
        </p:txBody>
      </p:sp>
      <p:cxnSp>
        <p:nvCxnSpPr>
          <p:cNvPr id="36" name="Connector 21"/>
          <p:cNvCxnSpPr/>
          <p:nvPr/>
        </p:nvCxnSpPr>
        <p:spPr>
          <a:xfrm>
            <a:off x="4171696" y="2936348"/>
            <a:ext cx="0" cy="9751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7" name="핵심성과 박스"/>
          <p:cNvSpPr/>
          <p:nvPr/>
        </p:nvSpPr>
        <p:spPr>
          <a:xfrm>
            <a:off x="723130" y="4053913"/>
            <a:ext cx="6300000" cy="70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8" name="핵심성과 라벨"/>
          <p:cNvSpPr/>
          <p:nvPr/>
        </p:nvSpPr>
        <p:spPr>
          <a:xfrm>
            <a:off x="756000" y="4086783"/>
            <a:ext cx="657391" cy="63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9" name="핵심성과 라벨"/>
          <p:cNvSpPr>
            <a:spLocks noGrp="1"/>
          </p:cNvSpPr>
          <p:nvPr>
            <p:ph type="body" sz="quarter" idx="34"/>
          </p:nvPr>
        </p:nvSpPr>
        <p:spPr>
          <a:xfrm>
            <a:off x="756000" y="4086783"/>
            <a:ext cx="657391" cy="63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0" name="핵심성과 문구"/>
          <p:cNvSpPr>
            <a:spLocks noGrp="1"/>
          </p:cNvSpPr>
          <p:nvPr>
            <p:ph type="body" sz="quarter" idx="35"/>
          </p:nvPr>
        </p:nvSpPr>
        <p:spPr>
          <a:xfrm>
            <a:off x="1501043" y="4075826"/>
            <a:ext cx="5456348" cy="66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신규 협약 역대 최다 24개 체결(전체 43개, 55.8%)로 공적 역할 집중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성과판정 100% 13개(누적 47개) 합격 → 유수율 89.6% 달성(수탁 前 대비 35.6%p↑, 목표 대비 4.6%p↑)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203 서사 · SWNM 기술 표준화 및 Biz모델 개발을 통한 글로벌 진출(SWNM 정의 → 기술 표준화 · 맞춤형 Biz모델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4113487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SWNM 기술 표준화 및 맞춤형 Biz모델 개발을 통한 글로벌 진출 확대</a:t>
            </a:r>
          </a:p>
        </p:txBody>
      </p:sp>
      <p:sp>
        <p:nvSpPr>
          <p:cNvPr id="12" name="태그칩"/>
          <p:cNvSpPr/>
          <p:nvPr/>
        </p:nvSpPr>
        <p:spPr>
          <a:xfrm>
            <a:off x="4748965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748965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표 외곽"/>
          <p:cNvSpPr/>
          <p:nvPr/>
        </p:nvSpPr>
        <p:spPr>
          <a:xfrm>
            <a:off x="536870" y="1051826"/>
            <a:ext cx="6300000" cy="180782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547826" y="1068261"/>
            <a:ext cx="580696" cy="1774957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068261"/>
            <a:ext cx="580696" cy="1774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스마트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관망관리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글로벌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진출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체계화</a:t>
            </a:r>
          </a:p>
        </p:txBody>
      </p:sp>
      <p:sp>
        <p:nvSpPr>
          <p:cNvPr id="17" name="배너"/>
          <p:cNvSpPr/>
          <p:nvPr/>
        </p:nvSpPr>
        <p:spPr>
          <a:xfrm>
            <a:off x="1161391" y="1090174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18" name="배너"/>
          <p:cNvSpPr>
            <a:spLocks noGrp="1"/>
          </p:cNvSpPr>
          <p:nvPr>
            <p:ph type="body" sz="quarter" idx="23"/>
          </p:nvPr>
        </p:nvSpPr>
        <p:spPr>
          <a:xfrm>
            <a:off x="1161391" y="1090174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 관망관리에 스마트기술을 결합한 SWNM, 글로벌 진출의 핵심수단으로 전략화</a:t>
            </a:r>
          </a:p>
        </p:txBody>
      </p:sp>
      <p:sp>
        <p:nvSpPr>
          <p:cNvPr id="19" name="배너"/>
          <p:cNvSpPr/>
          <p:nvPr/>
        </p:nvSpPr>
        <p:spPr>
          <a:xfrm>
            <a:off x="1161391" y="1325739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0" name="배너"/>
          <p:cNvSpPr>
            <a:spLocks noGrp="1"/>
          </p:cNvSpPr>
          <p:nvPr>
            <p:ph type="body" sz="quarter" idx="24"/>
          </p:nvPr>
        </p:nvSpPr>
        <p:spPr>
          <a:xfrm>
            <a:off x="1161391" y="1325739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SWNM: 수돗물 공급 全과정에 IoT·AI기술 결합, 평상시 운영효율 제고 및 사고시 선제·능동적 대처 가능한 시스템</a:t>
            </a:r>
          </a:p>
        </p:txBody>
      </p:sp>
      <p:sp>
        <p:nvSpPr>
          <p:cNvPr id="21" name="머리칸"/>
          <p:cNvSpPr/>
          <p:nvPr/>
        </p:nvSpPr>
        <p:spPr>
          <a:xfrm>
            <a:off x="1161391" y="156130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2" name="머리칸"/>
          <p:cNvSpPr>
            <a:spLocks noGrp="1"/>
          </p:cNvSpPr>
          <p:nvPr>
            <p:ph type="body" sz="quarter" idx="25"/>
          </p:nvPr>
        </p:nvSpPr>
        <p:spPr>
          <a:xfrm>
            <a:off x="1161391" y="156130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요소기술 정립</a:t>
            </a:r>
          </a:p>
        </p:txBody>
      </p:sp>
      <p:sp>
        <p:nvSpPr>
          <p:cNvPr id="23" name="머리칸"/>
          <p:cNvSpPr/>
          <p:nvPr/>
        </p:nvSpPr>
        <p:spPr>
          <a:xfrm>
            <a:off x="3985435" y="156130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4" name="머리칸"/>
          <p:cNvSpPr>
            <a:spLocks noGrp="1"/>
          </p:cNvSpPr>
          <p:nvPr>
            <p:ph type="body" sz="quarter" idx="26"/>
          </p:nvPr>
        </p:nvSpPr>
        <p:spPr>
          <a:xfrm>
            <a:off x="3985435" y="156130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사업비 표준화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1172348" y="1802348"/>
            <a:ext cx="2802130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기술정의서(45개) 도출(해외 제안 활용)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8"/>
          </p:nvPr>
        </p:nvSpPr>
        <p:spPr>
          <a:xfrm>
            <a:off x="3996391" y="1802348"/>
            <a:ext cx="2802130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국가별 표준사업비 산출 Tool 구축</a:t>
            </a:r>
          </a:p>
        </p:txBody>
      </p:sp>
      <p:cxnSp>
        <p:nvCxnSpPr>
          <p:cNvPr id="27" name="Connector 17"/>
          <p:cNvCxnSpPr/>
          <p:nvPr/>
        </p:nvCxnSpPr>
        <p:spPr>
          <a:xfrm>
            <a:off x="3985435" y="1835217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8" name="칸 본문"/>
          <p:cNvSpPr>
            <a:spLocks noGrp="1"/>
          </p:cNvSpPr>
          <p:nvPr>
            <p:ph type="body" sz="quarter" idx="29"/>
          </p:nvPr>
        </p:nvSpPr>
        <p:spPr>
          <a:xfrm>
            <a:off x="1172348" y="2235130"/>
            <a:ext cx="4514087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필요한 것만 골라 담는 국가 기술수준(Lv1~3) 맞춤형 요소기술 패키지화(솔루션 제시)</a:t>
            </a:r>
          </a:p>
        </p:txBody>
      </p:sp>
      <p:sp>
        <p:nvSpPr>
          <p:cNvPr id="29" name="사진 칸"/>
          <p:cNvSpPr/>
          <p:nvPr/>
        </p:nvSpPr>
        <p:spPr>
          <a:xfrm>
            <a:off x="5730261" y="2240609"/>
            <a:ext cx="1079217" cy="591652"/>
          </a:xfrm>
          <a:prstGeom prst="rect">
            <a:avLst/>
          </a:prstGeom>
          <a:solidFill>
            <a:srgbClr val="DEEE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 wrap="square"/>
          <a:lstStyle/>
          <a:p/>
        </p:txBody>
      </p:sp>
      <p:sp>
        <p:nvSpPr>
          <p:cNvPr id="30" name="사진 칸"/>
          <p:cNvSpPr>
            <a:spLocks noGrp="1"/>
          </p:cNvSpPr>
          <p:nvPr>
            <p:ph type="body" sz="quarter" idx="30"/>
          </p:nvPr>
        </p:nvSpPr>
        <p:spPr>
          <a:xfrm>
            <a:off x="5730261" y="2240609"/>
            <a:ext cx="1079217" cy="591652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0" rIns="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spc="-5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SWNM 기술정의서 · Biz 모델</a:t>
            </a:r>
          </a:p>
        </p:txBody>
      </p:sp>
      <p:sp>
        <p:nvSpPr>
          <p:cNvPr id="31" name="핵심성과 박스"/>
          <p:cNvSpPr/>
          <p:nvPr/>
        </p:nvSpPr>
        <p:spPr>
          <a:xfrm>
            <a:off x="536870" y="2947304"/>
            <a:ext cx="6300000" cy="49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2" name="핵심성과 라벨"/>
          <p:cNvSpPr/>
          <p:nvPr/>
        </p:nvSpPr>
        <p:spPr>
          <a:xfrm>
            <a:off x="569739" y="2985652"/>
            <a:ext cx="657391" cy="41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33" name="핵심성과 라벨"/>
          <p:cNvSpPr>
            <a:spLocks noGrp="1"/>
          </p:cNvSpPr>
          <p:nvPr>
            <p:ph type="body" sz="quarter" idx="31"/>
          </p:nvPr>
        </p:nvSpPr>
        <p:spPr>
          <a:xfrm>
            <a:off x="569739" y="2985652"/>
            <a:ext cx="657391" cy="41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4" name="핵심성과 문구"/>
          <p:cNvSpPr>
            <a:spLocks noGrp="1"/>
          </p:cNvSpPr>
          <p:nvPr>
            <p:ph type="body" sz="quarter" idx="32"/>
          </p:nvPr>
        </p:nvSpPr>
        <p:spPr>
          <a:xfrm>
            <a:off x="1314783" y="2963739"/>
            <a:ext cx="5456348" cy="45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필리핀 등 5개국 사업개발·검증 및 엘살바도르·과테말라 사업 발굴(’26~’30년, 사업비 1,068억원)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204 서사 · 국가적 재난 속 지원군(경북산불 · 강릉가뭄 지원: 위기 상황 → 비상 대응 → 대응 성과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4024708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국가적 재난 속 국민·지자체 물 위기 극복의 든든한 지원군, K-water</a:t>
            </a:r>
          </a:p>
        </p:txBody>
      </p:sp>
      <p:sp>
        <p:nvSpPr>
          <p:cNvPr id="11" name="태그칩"/>
          <p:cNvSpPr/>
          <p:nvPr/>
        </p:nvSpPr>
        <p:spPr>
          <a:xfrm>
            <a:off x="4846447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4846447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3" name="태그칩"/>
          <p:cNvSpPr/>
          <p:nvPr/>
        </p:nvSpPr>
        <p:spPr>
          <a:xfrm>
            <a:off x="5397568" y="810783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4" name="태그칩"/>
          <p:cNvSpPr>
            <a:spLocks noGrp="1"/>
          </p:cNvSpPr>
          <p:nvPr>
            <p:ph type="body" sz="quarter" idx="22"/>
          </p:nvPr>
        </p:nvSpPr>
        <p:spPr>
          <a:xfrm>
            <a:off x="5397568" y="810783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5" name="표 외곽"/>
          <p:cNvSpPr/>
          <p:nvPr/>
        </p:nvSpPr>
        <p:spPr>
          <a:xfrm>
            <a:off x="723130" y="1062783"/>
            <a:ext cx="6300000" cy="2766522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레일"/>
          <p:cNvSpPr/>
          <p:nvPr/>
        </p:nvSpPr>
        <p:spPr>
          <a:xfrm>
            <a:off x="734087" y="1079217"/>
            <a:ext cx="580696" cy="13586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레일"/>
          <p:cNvSpPr>
            <a:spLocks noGrp="1"/>
          </p:cNvSpPr>
          <p:nvPr>
            <p:ph type="body" sz="quarter" idx="23"/>
          </p:nvPr>
        </p:nvSpPr>
        <p:spPr>
          <a:xfrm>
            <a:off x="734087" y="1079217"/>
            <a:ext cx="580696" cy="13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경북산불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복구지원</a:t>
            </a:r>
          </a:p>
        </p:txBody>
      </p:sp>
      <p:sp>
        <p:nvSpPr>
          <p:cNvPr id="18" name="배너"/>
          <p:cNvSpPr/>
          <p:nvPr/>
        </p:nvSpPr>
        <p:spPr>
          <a:xfrm>
            <a:off x="1347652" y="1101130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19" name="배너"/>
          <p:cNvSpPr>
            <a:spLocks noGrp="1"/>
          </p:cNvSpPr>
          <p:nvPr>
            <p:ph type="body" sz="quarter" idx="24"/>
          </p:nvPr>
        </p:nvSpPr>
        <p:spPr>
          <a:xfrm>
            <a:off x="1347652" y="1101130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화마에 휩싸이고 전력공급 중단 상황에서도 멈추지 않은 수돗물 공급!</a:t>
            </a:r>
          </a:p>
        </p:txBody>
      </p:sp>
      <p:sp>
        <p:nvSpPr>
          <p:cNvPr id="20" name="단계"/>
          <p:cNvSpPr/>
          <p:nvPr/>
        </p:nvSpPr>
        <p:spPr>
          <a:xfrm>
            <a:off x="1347652" y="1336696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1" name="단계"/>
          <p:cNvSpPr>
            <a:spLocks noGrp="1"/>
          </p:cNvSpPr>
          <p:nvPr>
            <p:ph type="body" sz="quarter" idx="25"/>
          </p:nvPr>
        </p:nvSpPr>
        <p:spPr>
          <a:xfrm>
            <a:off x="1347652" y="133669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위기 상황</a:t>
            </a:r>
          </a:p>
        </p:txBody>
      </p:sp>
      <p:sp>
        <p:nvSpPr>
          <p:cNvPr id="22" name="단계"/>
          <p:cNvSpPr/>
          <p:nvPr/>
        </p:nvSpPr>
        <p:spPr>
          <a:xfrm>
            <a:off x="3230348" y="1336696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3" name="단계"/>
          <p:cNvSpPr>
            <a:spLocks noGrp="1"/>
          </p:cNvSpPr>
          <p:nvPr>
            <p:ph type="body" sz="quarter" idx="26"/>
          </p:nvPr>
        </p:nvSpPr>
        <p:spPr>
          <a:xfrm>
            <a:off x="3230348" y="133669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비상 대응</a:t>
            </a:r>
          </a:p>
        </p:txBody>
      </p:sp>
      <p:sp>
        <p:nvSpPr>
          <p:cNvPr id="24" name="단계"/>
          <p:cNvSpPr/>
          <p:nvPr/>
        </p:nvSpPr>
        <p:spPr>
          <a:xfrm>
            <a:off x="5113043" y="1336696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5" name="단계"/>
          <p:cNvSpPr>
            <a:spLocks noGrp="1"/>
          </p:cNvSpPr>
          <p:nvPr>
            <p:ph type="body" sz="quarter" idx="27"/>
          </p:nvPr>
        </p:nvSpPr>
        <p:spPr>
          <a:xfrm>
            <a:off x="5113043" y="1336696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대응 성과</a:t>
            </a:r>
          </a:p>
        </p:txBody>
      </p:sp>
      <p:sp>
        <p:nvSpPr>
          <p:cNvPr id="26" name="단계 삼각형"/>
          <p:cNvSpPr/>
          <p:nvPr/>
        </p:nvSpPr>
        <p:spPr>
          <a:xfrm>
            <a:off x="3230347" y="1336695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7" name="단계 삼각형"/>
          <p:cNvSpPr/>
          <p:nvPr/>
        </p:nvSpPr>
        <p:spPr>
          <a:xfrm>
            <a:off x="5113043" y="1336695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8"/>
          </p:nvPr>
        </p:nvSpPr>
        <p:spPr>
          <a:xfrm>
            <a:off x="1358609" y="1588696"/>
            <a:ext cx="1860783" cy="84365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물공급: 청송군 단전으로 정수장(2개) 공급중단 위기 → 중단시 8,000세대 단수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상수도: 불에 탄 수도관, 누수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3241304" y="1588696"/>
            <a:ext cx="1860783" cy="84365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비상발전기 가동 후 긴급대피 → 정수장 무중단 가동으로 단수 최소화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긴급 시설복구반 투입(132명) 및 2차피해 예방 음용안전 수질검사</a:t>
            </a:r>
          </a:p>
        </p:txBody>
      </p:sp>
      <p:cxnSp>
        <p:nvCxnSpPr>
          <p:cNvPr id="30" name="Connector 17"/>
          <p:cNvCxnSpPr/>
          <p:nvPr/>
        </p:nvCxnSpPr>
        <p:spPr>
          <a:xfrm>
            <a:off x="3230348" y="1621565"/>
            <a:ext cx="0" cy="77791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5124000" y="1588696"/>
            <a:ext cx="1860783" cy="84365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6일만에 청송군 수도 공급 조기 정상화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산불영향 지자체(5개, 20만명) 수질안전 확보</a:t>
            </a:r>
          </a:p>
        </p:txBody>
      </p:sp>
      <p:cxnSp>
        <p:nvCxnSpPr>
          <p:cNvPr id="32" name="Connector 19"/>
          <p:cNvCxnSpPr/>
          <p:nvPr/>
        </p:nvCxnSpPr>
        <p:spPr>
          <a:xfrm>
            <a:off x="5113043" y="1621565"/>
            <a:ext cx="0" cy="77791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레일"/>
          <p:cNvSpPr/>
          <p:nvPr/>
        </p:nvSpPr>
        <p:spPr>
          <a:xfrm>
            <a:off x="734087" y="2454261"/>
            <a:ext cx="580696" cy="1358609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4" name="레일"/>
          <p:cNvSpPr>
            <a:spLocks noGrp="1"/>
          </p:cNvSpPr>
          <p:nvPr>
            <p:ph type="body" sz="quarter" idx="31"/>
          </p:nvPr>
        </p:nvSpPr>
        <p:spPr>
          <a:xfrm>
            <a:off x="734087" y="2454261"/>
            <a:ext cx="580696" cy="13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강릉가뭄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극복지원</a:t>
            </a:r>
          </a:p>
        </p:txBody>
      </p:sp>
      <p:sp>
        <p:nvSpPr>
          <p:cNvPr id="35" name="레일 삼각형"/>
          <p:cNvSpPr/>
          <p:nvPr/>
        </p:nvSpPr>
        <p:spPr>
          <a:xfrm>
            <a:off x="734086" y="2454260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6" name="배너"/>
          <p:cNvSpPr/>
          <p:nvPr/>
        </p:nvSpPr>
        <p:spPr>
          <a:xfrm>
            <a:off x="1347652" y="2476174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7" name="배너"/>
          <p:cNvSpPr>
            <a:spLocks noGrp="1"/>
          </p:cNvSpPr>
          <p:nvPr>
            <p:ph type="body" sz="quarter" idx="32"/>
          </p:nvPr>
        </p:nvSpPr>
        <p:spPr>
          <a:xfrm>
            <a:off x="1347652" y="2476174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강릉시민 18만명의 물공급 중단 위기, 가용가능한 모든 지원대책 총동원</a:t>
            </a:r>
          </a:p>
        </p:txBody>
      </p:sp>
      <p:sp>
        <p:nvSpPr>
          <p:cNvPr id="38" name="단계"/>
          <p:cNvSpPr/>
          <p:nvPr/>
        </p:nvSpPr>
        <p:spPr>
          <a:xfrm>
            <a:off x="1347652" y="2711739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9" name="단계"/>
          <p:cNvSpPr>
            <a:spLocks noGrp="1"/>
          </p:cNvSpPr>
          <p:nvPr>
            <p:ph type="body" sz="quarter" idx="33"/>
          </p:nvPr>
        </p:nvSpPr>
        <p:spPr>
          <a:xfrm>
            <a:off x="1347652" y="271173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위기 상황 및 여건</a:t>
            </a:r>
          </a:p>
        </p:txBody>
      </p:sp>
      <p:sp>
        <p:nvSpPr>
          <p:cNvPr id="40" name="단계"/>
          <p:cNvSpPr/>
          <p:nvPr/>
        </p:nvSpPr>
        <p:spPr>
          <a:xfrm>
            <a:off x="3230348" y="2711739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1" name="단계"/>
          <p:cNvSpPr>
            <a:spLocks noGrp="1"/>
          </p:cNvSpPr>
          <p:nvPr>
            <p:ph type="body" sz="quarter" idx="34"/>
          </p:nvPr>
        </p:nvSpPr>
        <p:spPr>
          <a:xfrm>
            <a:off x="3230348" y="271173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비상 대응</a:t>
            </a:r>
          </a:p>
        </p:txBody>
      </p:sp>
      <p:sp>
        <p:nvSpPr>
          <p:cNvPr id="42" name="단계"/>
          <p:cNvSpPr/>
          <p:nvPr/>
        </p:nvSpPr>
        <p:spPr>
          <a:xfrm>
            <a:off x="5113043" y="2711739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3" name="단계"/>
          <p:cNvSpPr>
            <a:spLocks noGrp="1"/>
          </p:cNvSpPr>
          <p:nvPr>
            <p:ph type="body" sz="quarter" idx="35"/>
          </p:nvPr>
        </p:nvSpPr>
        <p:spPr>
          <a:xfrm>
            <a:off x="5113043" y="2711739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대응 성과</a:t>
            </a:r>
          </a:p>
        </p:txBody>
      </p:sp>
      <p:sp>
        <p:nvSpPr>
          <p:cNvPr id="44" name="단계 삼각형"/>
          <p:cNvSpPr/>
          <p:nvPr/>
        </p:nvSpPr>
        <p:spPr>
          <a:xfrm>
            <a:off x="3230347" y="2711739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5" name="단계 삼각형"/>
          <p:cNvSpPr/>
          <p:nvPr/>
        </p:nvSpPr>
        <p:spPr>
          <a:xfrm>
            <a:off x="5113043" y="2711739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6" name="칸 본문"/>
          <p:cNvSpPr>
            <a:spLocks noGrp="1"/>
          </p:cNvSpPr>
          <p:nvPr>
            <p:ph type="body" sz="quarter" idx="36"/>
          </p:nvPr>
        </p:nvSpPr>
        <p:spPr>
          <a:xfrm>
            <a:off x="1358609" y="2963739"/>
            <a:ext cx="1860783" cy="84365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물부족: 핵심상수원 오봉댐 저수율 11%로 취수중단 위기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대체수원: 도암댐 수질 불신 지역의 취수반대여론 大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37"/>
          </p:nvPr>
        </p:nvSpPr>
        <p:spPr>
          <a:xfrm>
            <a:off x="3241304" y="2963739"/>
            <a:ext cx="1860783" cy="84365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강릉시 운휴정수장 재가동 지원, 관로 누수(30%) 저감방안 제시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도암댐 수질검증위원회 참여 → 수질검사 &amp; 안정성 검증(취수 결정)</a:t>
            </a:r>
          </a:p>
        </p:txBody>
      </p:sp>
      <p:cxnSp>
        <p:nvCxnSpPr>
          <p:cNvPr id="48" name="Connector 30"/>
          <p:cNvCxnSpPr/>
          <p:nvPr/>
        </p:nvCxnSpPr>
        <p:spPr>
          <a:xfrm>
            <a:off x="3230348" y="2996609"/>
            <a:ext cx="0" cy="77791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9" name="칸 본문"/>
          <p:cNvSpPr>
            <a:spLocks noGrp="1"/>
          </p:cNvSpPr>
          <p:nvPr>
            <p:ph type="body" sz="quarter" idx="38"/>
          </p:nvPr>
        </p:nvSpPr>
        <p:spPr>
          <a:xfrm>
            <a:off x="5124000" y="2963739"/>
            <a:ext cx="1860783" cy="84365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비상용수공급 대안 마련(14천㎥/일)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강릉시 인구 13%(2.6만명) 사용분(유사시 활용 가능)</a:t>
            </a:r>
          </a:p>
        </p:txBody>
      </p:sp>
      <p:cxnSp>
        <p:nvCxnSpPr>
          <p:cNvPr id="50" name="Connector 32"/>
          <p:cNvCxnSpPr/>
          <p:nvPr/>
        </p:nvCxnSpPr>
        <p:spPr>
          <a:xfrm>
            <a:off x="5113043" y="2996609"/>
            <a:ext cx="0" cy="77791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1" name="핵심성과 박스"/>
          <p:cNvSpPr/>
          <p:nvPr/>
        </p:nvSpPr>
        <p:spPr>
          <a:xfrm>
            <a:off x="723130" y="3916957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52" name="핵심성과 라벨"/>
          <p:cNvSpPr/>
          <p:nvPr/>
        </p:nvSpPr>
        <p:spPr>
          <a:xfrm>
            <a:off x="756000" y="3955304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53" name="핵심성과 라벨"/>
          <p:cNvSpPr>
            <a:spLocks noGrp="1"/>
          </p:cNvSpPr>
          <p:nvPr>
            <p:ph type="body" sz="quarter" idx="39"/>
          </p:nvPr>
        </p:nvSpPr>
        <p:spPr>
          <a:xfrm>
            <a:off x="756000" y="3955304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4" name="핵심성과 문구"/>
          <p:cNvSpPr>
            <a:spLocks noGrp="1"/>
          </p:cNvSpPr>
          <p:nvPr>
            <p:ph type="body" sz="quarter" idx="40"/>
          </p:nvPr>
        </p:nvSpPr>
        <p:spPr>
          <a:xfrm>
            <a:off x="1501043" y="3933391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K-water 전문가 178명 지자체 투입, 피해 영향지역(6개 지자체) 수돗물 공급 정상화 촉진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205 서사 · 전국 수도사업자 기술지원 시스템 개선(위기대응 강화 · 선제적 기술지원 각 두 칸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3560852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전국 수도사업자 업무효율 제고를 위한 기술지원 시스템 개선</a:t>
            </a:r>
          </a:p>
        </p:txBody>
      </p:sp>
      <p:sp>
        <p:nvSpPr>
          <p:cNvPr id="12" name="태그칩"/>
          <p:cNvSpPr/>
          <p:nvPr/>
        </p:nvSpPr>
        <p:spPr>
          <a:xfrm>
            <a:off x="4196330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196330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태그칩"/>
          <p:cNvSpPr/>
          <p:nvPr/>
        </p:nvSpPr>
        <p:spPr>
          <a:xfrm>
            <a:off x="4747451" y="799826"/>
            <a:ext cx="726832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태그칩"/>
          <p:cNvSpPr>
            <a:spLocks noGrp="1"/>
          </p:cNvSpPr>
          <p:nvPr>
            <p:ph type="body" sz="quarter" idx="22"/>
          </p:nvPr>
        </p:nvSpPr>
        <p:spPr>
          <a:xfrm>
            <a:off x="4747451" y="799826"/>
            <a:ext cx="726832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6" name="표 외곽"/>
          <p:cNvSpPr/>
          <p:nvPr/>
        </p:nvSpPr>
        <p:spPr>
          <a:xfrm>
            <a:off x="536870" y="1051826"/>
            <a:ext cx="6300000" cy="1681826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7" name="레일"/>
          <p:cNvSpPr/>
          <p:nvPr/>
        </p:nvSpPr>
        <p:spPr>
          <a:xfrm>
            <a:off x="547826" y="1068261"/>
            <a:ext cx="580696" cy="816261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8" name="레일"/>
          <p:cNvSpPr>
            <a:spLocks noGrp="1"/>
          </p:cNvSpPr>
          <p:nvPr>
            <p:ph type="body" sz="quarter" idx="23"/>
          </p:nvPr>
        </p:nvSpPr>
        <p:spPr>
          <a:xfrm>
            <a:off x="547826" y="1068261"/>
            <a:ext cx="580696" cy="81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위기대응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화</a:t>
            </a:r>
          </a:p>
        </p:txBody>
      </p:sp>
      <p:sp>
        <p:nvSpPr>
          <p:cNvPr id="19" name="머리칸"/>
          <p:cNvSpPr/>
          <p:nvPr/>
        </p:nvSpPr>
        <p:spPr>
          <a:xfrm>
            <a:off x="1161391" y="109017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0" name="머리칸"/>
          <p:cNvSpPr>
            <a:spLocks noGrp="1"/>
          </p:cNvSpPr>
          <p:nvPr>
            <p:ph type="body" sz="quarter" idx="24"/>
          </p:nvPr>
        </p:nvSpPr>
        <p:spPr>
          <a:xfrm>
            <a:off x="1161391" y="109017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공동대응  유역수도 운영지원시스템 공유 확대</a:t>
            </a:r>
          </a:p>
        </p:txBody>
      </p:sp>
      <p:sp>
        <p:nvSpPr>
          <p:cNvPr id="21" name="머리칸"/>
          <p:cNvSpPr/>
          <p:nvPr/>
        </p:nvSpPr>
        <p:spPr>
          <a:xfrm>
            <a:off x="3985435" y="109017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2" name="머리칸"/>
          <p:cNvSpPr>
            <a:spLocks noGrp="1"/>
          </p:cNvSpPr>
          <p:nvPr>
            <p:ph type="body" sz="quarter" idx="25"/>
          </p:nvPr>
        </p:nvSpPr>
        <p:spPr>
          <a:xfrm>
            <a:off x="3985435" y="109017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실시간 감시  저수조 모니터링 도입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6"/>
          </p:nvPr>
        </p:nvSpPr>
        <p:spPr>
          <a:xfrm>
            <a:off x="1172348" y="1331217"/>
            <a:ext cx="2802130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지자체 사고 공동대응 가능한 데이터감시체계 전국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금강유역(31개) → ’25년 전국(114개)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7"/>
          </p:nvPr>
        </p:nvSpPr>
        <p:spPr>
          <a:xfrm>
            <a:off x="3996391" y="1331217"/>
            <a:ext cx="2802130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대수용가 저수조(민간데이터) 실시간 감시체계 시범구축·운영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금산군 대수용가 유량·수위 모니터링</a:t>
            </a:r>
          </a:p>
        </p:txBody>
      </p:sp>
      <p:cxnSp>
        <p:nvCxnSpPr>
          <p:cNvPr id="25" name="Connector 16"/>
          <p:cNvCxnSpPr/>
          <p:nvPr/>
        </p:nvCxnSpPr>
        <p:spPr>
          <a:xfrm>
            <a:off x="3985435" y="1364087"/>
            <a:ext cx="0" cy="482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6" name="레일"/>
          <p:cNvSpPr/>
          <p:nvPr/>
        </p:nvSpPr>
        <p:spPr>
          <a:xfrm>
            <a:off x="547826" y="1900957"/>
            <a:ext cx="580696" cy="816261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7" name="레일"/>
          <p:cNvSpPr>
            <a:spLocks noGrp="1"/>
          </p:cNvSpPr>
          <p:nvPr>
            <p:ph type="body" sz="quarter" idx="28"/>
          </p:nvPr>
        </p:nvSpPr>
        <p:spPr>
          <a:xfrm>
            <a:off x="547826" y="1900957"/>
            <a:ext cx="580696" cy="81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선제적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기술지원</a:t>
            </a:r>
          </a:p>
        </p:txBody>
      </p:sp>
      <p:sp>
        <p:nvSpPr>
          <p:cNvPr id="28" name="레일 삼각형"/>
          <p:cNvSpPr/>
          <p:nvPr/>
        </p:nvSpPr>
        <p:spPr>
          <a:xfrm>
            <a:off x="547826" y="1900956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머리칸"/>
          <p:cNvSpPr/>
          <p:nvPr/>
        </p:nvSpPr>
        <p:spPr>
          <a:xfrm>
            <a:off x="1161391" y="192287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0" name="머리칸"/>
          <p:cNvSpPr>
            <a:spLocks noGrp="1"/>
          </p:cNvSpPr>
          <p:nvPr>
            <p:ph type="body" sz="quarter" idx="29"/>
          </p:nvPr>
        </p:nvSpPr>
        <p:spPr>
          <a:xfrm>
            <a:off x="1161391" y="192287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수질 이슈 발생  기술지원 자동 안내</a:t>
            </a:r>
          </a:p>
        </p:txBody>
      </p:sp>
      <p:sp>
        <p:nvSpPr>
          <p:cNvPr id="31" name="머리칸"/>
          <p:cNvSpPr/>
          <p:nvPr/>
        </p:nvSpPr>
        <p:spPr>
          <a:xfrm>
            <a:off x="3985435" y="192287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2" name="머리칸"/>
          <p:cNvSpPr>
            <a:spLocks noGrp="1"/>
          </p:cNvSpPr>
          <p:nvPr>
            <p:ph type="body" sz="quarter" idx="30"/>
          </p:nvPr>
        </p:nvSpPr>
        <p:spPr>
          <a:xfrm>
            <a:off x="3985435" y="192287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수질기준 초과  법적 절차 이행 조건부 안내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1"/>
          </p:nvPr>
        </p:nvSpPr>
        <p:spPr>
          <a:xfrm>
            <a:off x="1172348" y="2163913"/>
            <a:ext cx="2802130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상시안내 팝업 외 추가안내 팝업 신설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소형생물, 조류경보 등 수질이슈 발생시 운영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2"/>
          </p:nvPr>
        </p:nvSpPr>
        <p:spPr>
          <a:xfrm>
            <a:off x="3996391" y="2163913"/>
            <a:ext cx="2802130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수질기준 초과시, 조치사항 자동안내(조치가이드, 기술지원 이력, 수질트렌드 등)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수도담당자의 법적 절차 미이행 방지 지원</a:t>
            </a:r>
          </a:p>
        </p:txBody>
      </p:sp>
      <p:cxnSp>
        <p:nvCxnSpPr>
          <p:cNvPr id="35" name="Connector 23"/>
          <p:cNvCxnSpPr/>
          <p:nvPr/>
        </p:nvCxnSpPr>
        <p:spPr>
          <a:xfrm>
            <a:off x="3985435" y="2196783"/>
            <a:ext cx="0" cy="482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6" name="핵심성과 박스"/>
          <p:cNvSpPr/>
          <p:nvPr/>
        </p:nvSpPr>
        <p:spPr>
          <a:xfrm>
            <a:off x="536870" y="2821304"/>
            <a:ext cx="6300000" cy="31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7" name="핵심성과 라벨"/>
          <p:cNvSpPr/>
          <p:nvPr/>
        </p:nvSpPr>
        <p:spPr>
          <a:xfrm>
            <a:off x="569739" y="2859652"/>
            <a:ext cx="657391" cy="23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38" name="핵심성과 라벨"/>
          <p:cNvSpPr>
            <a:spLocks noGrp="1"/>
          </p:cNvSpPr>
          <p:nvPr>
            <p:ph type="body" sz="quarter" idx="33"/>
          </p:nvPr>
        </p:nvSpPr>
        <p:spPr>
          <a:xfrm>
            <a:off x="569739" y="2859652"/>
            <a:ext cx="657391" cy="23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9" name="핵심성과 문구"/>
          <p:cNvSpPr>
            <a:spLocks noGrp="1"/>
          </p:cNvSpPr>
          <p:nvPr>
            <p:ph type="body" sz="quarter" idx="34"/>
          </p:nvPr>
        </p:nvSpPr>
        <p:spPr>
          <a:xfrm>
            <a:off x="1314783" y="2837739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데이터와 AI를 활용, 수도종사자 역량 향상과 수도사업자 간 소통으로 위기대응체계 강화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206 서사 · 국민체감서비스 정의 → 환경변화 → 발굴과정 → 니즈 도출 → 실행과제 → 추진성과(5칸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‘국민에게는 안심을, 기업·지자체에게는 든든한’ K-water 물관리</a:t>
            </a:r>
          </a:p>
        </p:txBody>
      </p:sp>
      <p:sp>
        <p:nvSpPr>
          <p:cNvPr id="14" name="표 외곽"/>
          <p:cNvSpPr/>
          <p:nvPr/>
        </p:nvSpPr>
        <p:spPr>
          <a:xfrm>
            <a:off x="723130" y="1128522"/>
            <a:ext cx="6300000" cy="3974713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734087" y="1144957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144957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국민체감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서 비 스</a:t>
            </a:r>
          </a:p>
        </p:txBody>
      </p:sp>
      <p:sp>
        <p:nvSpPr>
          <p:cNvPr id="17" name="배너"/>
          <p:cNvSpPr/>
          <p:nvPr/>
        </p:nvSpPr>
        <p:spPr>
          <a:xfrm>
            <a:off x="1347652" y="1166870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18" name="배너"/>
          <p:cNvSpPr>
            <a:spLocks noGrp="1"/>
          </p:cNvSpPr>
          <p:nvPr>
            <p:ph type="body" sz="quarter" idx="23"/>
          </p:nvPr>
        </p:nvSpPr>
        <p:spPr>
          <a:xfrm>
            <a:off x="1347652" y="1166870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물공급을 넘어 국민·지자체·기업의 개별적 고충을 선제적으로 발굴·해소하는 체감 가치 제공</a:t>
            </a:r>
          </a:p>
        </p:txBody>
      </p:sp>
      <p:sp>
        <p:nvSpPr>
          <p:cNvPr id="19" name="레일"/>
          <p:cNvSpPr/>
          <p:nvPr/>
        </p:nvSpPr>
        <p:spPr>
          <a:xfrm>
            <a:off x="734087" y="1569600"/>
            <a:ext cx="580696" cy="38488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4"/>
          </p:nvPr>
        </p:nvSpPr>
        <p:spPr>
          <a:xfrm>
            <a:off x="734087" y="1569600"/>
            <a:ext cx="580696" cy="3848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 향</a:t>
            </a:r>
          </a:p>
        </p:txBody>
      </p:sp>
      <p:sp>
        <p:nvSpPr>
          <p:cNvPr id="21" name="레일 삼각형"/>
          <p:cNvSpPr/>
          <p:nvPr/>
        </p:nvSpPr>
        <p:spPr>
          <a:xfrm>
            <a:off x="734086" y="1569600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2" name="배너"/>
          <p:cNvSpPr/>
          <p:nvPr/>
        </p:nvSpPr>
        <p:spPr>
          <a:xfrm>
            <a:off x="1347652" y="1591513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3" name="배너"/>
          <p:cNvSpPr>
            <a:spLocks noGrp="1"/>
          </p:cNvSpPr>
          <p:nvPr>
            <p:ph type="body" sz="quarter" idx="25"/>
          </p:nvPr>
        </p:nvSpPr>
        <p:spPr>
          <a:xfrm>
            <a:off x="1347652" y="1591513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변화하는 환경을 고려, 국민·지자체·기업 관점에서의 니즈를 발굴·신속 이행</a:t>
            </a:r>
          </a:p>
        </p:txBody>
      </p:sp>
      <p:sp>
        <p:nvSpPr>
          <p:cNvPr id="24" name="레일"/>
          <p:cNvSpPr/>
          <p:nvPr/>
        </p:nvSpPr>
        <p:spPr>
          <a:xfrm>
            <a:off x="734087" y="1970922"/>
            <a:ext cx="580696" cy="61904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5" name="레일"/>
          <p:cNvSpPr>
            <a:spLocks noGrp="1"/>
          </p:cNvSpPr>
          <p:nvPr>
            <p:ph type="body" sz="quarter" idx="26"/>
          </p:nvPr>
        </p:nvSpPr>
        <p:spPr>
          <a:xfrm>
            <a:off x="734087" y="1970922"/>
            <a:ext cx="580696" cy="61904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변 화</a:t>
            </a:r>
          </a:p>
        </p:txBody>
      </p:sp>
      <p:sp>
        <p:nvSpPr>
          <p:cNvPr id="26" name="머리칸"/>
          <p:cNvSpPr/>
          <p:nvPr/>
        </p:nvSpPr>
        <p:spPr>
          <a:xfrm>
            <a:off x="1347652" y="1992835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7" name="머리칸"/>
          <p:cNvSpPr>
            <a:spLocks noGrp="1"/>
          </p:cNvSpPr>
          <p:nvPr>
            <p:ph type="body" sz="quarter" idx="27"/>
          </p:nvPr>
        </p:nvSpPr>
        <p:spPr>
          <a:xfrm>
            <a:off x="1347652" y="1992835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新정부 국정방향</a:t>
            </a:r>
          </a:p>
        </p:txBody>
      </p:sp>
      <p:sp>
        <p:nvSpPr>
          <p:cNvPr id="28" name="머리칸"/>
          <p:cNvSpPr/>
          <p:nvPr/>
        </p:nvSpPr>
        <p:spPr>
          <a:xfrm>
            <a:off x="4171696" y="1992835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9" name="머리칸"/>
          <p:cNvSpPr>
            <a:spLocks noGrp="1"/>
          </p:cNvSpPr>
          <p:nvPr>
            <p:ph type="body" sz="quarter" idx="28"/>
          </p:nvPr>
        </p:nvSpPr>
        <p:spPr>
          <a:xfrm>
            <a:off x="4171696" y="1992835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복합적 외부 이슈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29"/>
          </p:nvPr>
        </p:nvSpPr>
        <p:spPr>
          <a:xfrm>
            <a:off x="1358609" y="2233878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국민안전 · 혁신경제 · 기후위기 대응 · 균형발전 · 민생안정 · 공공혁신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0"/>
          </p:nvPr>
        </p:nvSpPr>
        <p:spPr>
          <a:xfrm>
            <a:off x="4182652" y="2233878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기후위기 심화에 따른 물 부족·불균형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첨단기술 중심 산업전환으로 물수요 변화</a:t>
            </a:r>
          </a:p>
        </p:txBody>
      </p:sp>
      <p:cxnSp>
        <p:nvCxnSpPr>
          <p:cNvPr id="32" name="Connector 19"/>
          <p:cNvCxnSpPr/>
          <p:nvPr/>
        </p:nvCxnSpPr>
        <p:spPr>
          <a:xfrm>
            <a:off x="4171696" y="2266748"/>
            <a:ext cx="0" cy="28486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3" name="레일"/>
          <p:cNvSpPr/>
          <p:nvPr/>
        </p:nvSpPr>
        <p:spPr>
          <a:xfrm>
            <a:off x="734087" y="2606400"/>
            <a:ext cx="580696" cy="68478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4" name="레일"/>
          <p:cNvSpPr>
            <a:spLocks noGrp="1"/>
          </p:cNvSpPr>
          <p:nvPr>
            <p:ph type="body" sz="quarter" idx="31"/>
          </p:nvPr>
        </p:nvSpPr>
        <p:spPr>
          <a:xfrm>
            <a:off x="734087" y="2606400"/>
            <a:ext cx="580696" cy="684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발 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 정</a:t>
            </a:r>
          </a:p>
        </p:txBody>
      </p:sp>
      <p:sp>
        <p:nvSpPr>
          <p:cNvPr id="35" name="머리칸"/>
          <p:cNvSpPr/>
          <p:nvPr/>
        </p:nvSpPr>
        <p:spPr>
          <a:xfrm>
            <a:off x="1347652" y="2628313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6" name="머리칸"/>
          <p:cNvSpPr>
            <a:spLocks noGrp="1"/>
          </p:cNvSpPr>
          <p:nvPr>
            <p:ph type="body" sz="quarter" idx="32"/>
          </p:nvPr>
        </p:nvSpPr>
        <p:spPr>
          <a:xfrm>
            <a:off x="1347652" y="2628313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현황 진단</a:t>
            </a:r>
          </a:p>
        </p:txBody>
      </p:sp>
      <p:sp>
        <p:nvSpPr>
          <p:cNvPr id="37" name="머리칸"/>
          <p:cNvSpPr/>
          <p:nvPr/>
        </p:nvSpPr>
        <p:spPr>
          <a:xfrm>
            <a:off x="3230348" y="2628313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8" name="머리칸"/>
          <p:cNvSpPr>
            <a:spLocks noGrp="1"/>
          </p:cNvSpPr>
          <p:nvPr>
            <p:ph type="body" sz="quarter" idx="33"/>
          </p:nvPr>
        </p:nvSpPr>
        <p:spPr>
          <a:xfrm>
            <a:off x="3230348" y="2628313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소통채널 운영</a:t>
            </a:r>
          </a:p>
        </p:txBody>
      </p:sp>
      <p:sp>
        <p:nvSpPr>
          <p:cNvPr id="39" name="머리칸"/>
          <p:cNvSpPr/>
          <p:nvPr/>
        </p:nvSpPr>
        <p:spPr>
          <a:xfrm>
            <a:off x="5113043" y="2628313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0" name="머리칸"/>
          <p:cNvSpPr>
            <a:spLocks noGrp="1"/>
          </p:cNvSpPr>
          <p:nvPr>
            <p:ph type="body" sz="quarter" idx="34"/>
          </p:nvPr>
        </p:nvSpPr>
        <p:spPr>
          <a:xfrm>
            <a:off x="5113043" y="2628313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사내 전문가 워크숍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35"/>
          </p:nvPr>
        </p:nvSpPr>
        <p:spPr>
          <a:xfrm>
            <a:off x="1358609" y="2869357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고객만족도, VOC 분석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대국민 설문·제안 분석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36"/>
          </p:nvPr>
        </p:nvSpPr>
        <p:spPr>
          <a:xfrm>
            <a:off x="3241304" y="2869357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국민소통센터(국민디자인단 등)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지자체·기업소통채널</a:t>
            </a:r>
          </a:p>
        </p:txBody>
      </p:sp>
      <p:cxnSp>
        <p:nvCxnSpPr>
          <p:cNvPr id="43" name="Connector 26"/>
          <p:cNvCxnSpPr/>
          <p:nvPr/>
        </p:nvCxnSpPr>
        <p:spPr>
          <a:xfrm>
            <a:off x="3230348" y="2902226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4" name="칸 본문"/>
          <p:cNvSpPr>
            <a:spLocks noGrp="1"/>
          </p:cNvSpPr>
          <p:nvPr>
            <p:ph type="body" sz="quarter" idx="37"/>
          </p:nvPr>
        </p:nvSpPr>
        <p:spPr>
          <a:xfrm>
            <a:off x="5124000" y="2869357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정책, 요금, 고객만족분야 전문가 및 담당·연계부서</a:t>
            </a:r>
          </a:p>
        </p:txBody>
      </p:sp>
      <p:cxnSp>
        <p:nvCxnSpPr>
          <p:cNvPr id="45" name="Connector 28"/>
          <p:cNvCxnSpPr/>
          <p:nvPr/>
        </p:nvCxnSpPr>
        <p:spPr>
          <a:xfrm>
            <a:off x="5113043" y="2902226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6" name="레일"/>
          <p:cNvSpPr/>
          <p:nvPr/>
        </p:nvSpPr>
        <p:spPr>
          <a:xfrm>
            <a:off x="734087" y="3307617"/>
            <a:ext cx="580696" cy="684783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7" name="레일"/>
          <p:cNvSpPr>
            <a:spLocks noGrp="1"/>
          </p:cNvSpPr>
          <p:nvPr>
            <p:ph type="body" sz="quarter" idx="38"/>
          </p:nvPr>
        </p:nvSpPr>
        <p:spPr>
          <a:xfrm>
            <a:off x="734087" y="3307617"/>
            <a:ext cx="580696" cy="684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니 즈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도 출</a:t>
            </a:r>
          </a:p>
        </p:txBody>
      </p:sp>
      <p:sp>
        <p:nvSpPr>
          <p:cNvPr id="48" name="머리칸"/>
          <p:cNvSpPr/>
          <p:nvPr/>
        </p:nvSpPr>
        <p:spPr>
          <a:xfrm>
            <a:off x="1347652" y="332953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9" name="머리칸"/>
          <p:cNvSpPr>
            <a:spLocks noGrp="1"/>
          </p:cNvSpPr>
          <p:nvPr>
            <p:ph type="body" sz="quarter" idx="39"/>
          </p:nvPr>
        </p:nvSpPr>
        <p:spPr>
          <a:xfrm>
            <a:off x="1347652" y="332953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</a:t>
            </a:r>
          </a:p>
        </p:txBody>
      </p:sp>
      <p:sp>
        <p:nvSpPr>
          <p:cNvPr id="50" name="머리칸"/>
          <p:cNvSpPr/>
          <p:nvPr/>
        </p:nvSpPr>
        <p:spPr>
          <a:xfrm>
            <a:off x="3230348" y="332953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1" name="머리칸"/>
          <p:cNvSpPr>
            <a:spLocks noGrp="1"/>
          </p:cNvSpPr>
          <p:nvPr>
            <p:ph type="body" sz="quarter" idx="40"/>
          </p:nvPr>
        </p:nvSpPr>
        <p:spPr>
          <a:xfrm>
            <a:off x="3230348" y="332953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지자체</a:t>
            </a:r>
          </a:p>
        </p:txBody>
      </p:sp>
      <p:sp>
        <p:nvSpPr>
          <p:cNvPr id="52" name="머리칸"/>
          <p:cNvSpPr/>
          <p:nvPr/>
        </p:nvSpPr>
        <p:spPr>
          <a:xfrm>
            <a:off x="5113043" y="332953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53" name="머리칸"/>
          <p:cNvSpPr>
            <a:spLocks noGrp="1"/>
          </p:cNvSpPr>
          <p:nvPr>
            <p:ph type="body" sz="quarter" idx="41"/>
          </p:nvPr>
        </p:nvSpPr>
        <p:spPr>
          <a:xfrm>
            <a:off x="5113043" y="332953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42"/>
          </p:nvPr>
        </p:nvSpPr>
        <p:spPr>
          <a:xfrm>
            <a:off x="1358609" y="3570574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막연한 수돗물 불신 상존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사회안전망 등 눈높이 상향</a:t>
            </a:r>
          </a:p>
        </p:txBody>
      </p:sp>
      <p:sp>
        <p:nvSpPr>
          <p:cNvPr id="55" name="칸 본문"/>
          <p:cNvSpPr>
            <a:spLocks noGrp="1"/>
          </p:cNvSpPr>
          <p:nvPr>
            <p:ph type="body" sz="quarter" idx="43"/>
          </p:nvPr>
        </p:nvSpPr>
        <p:spPr>
          <a:xfrm>
            <a:off x="3241304" y="3570574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현안해소 기술·재원 부족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기후위기, 물복지 불균형 대응</a:t>
            </a:r>
          </a:p>
        </p:txBody>
      </p:sp>
      <p:cxnSp>
        <p:nvCxnSpPr>
          <p:cNvPr id="56" name="Connector 35"/>
          <p:cNvCxnSpPr/>
          <p:nvPr/>
        </p:nvCxnSpPr>
        <p:spPr>
          <a:xfrm>
            <a:off x="3230348" y="3603443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7" name="칸 본문"/>
          <p:cNvSpPr>
            <a:spLocks noGrp="1"/>
          </p:cNvSpPr>
          <p:nvPr>
            <p:ph type="body" sz="quarter" idx="44"/>
          </p:nvPr>
        </p:nvSpPr>
        <p:spPr>
          <a:xfrm>
            <a:off x="5124000" y="3570574"/>
            <a:ext cx="1860783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지역간 용수확보 경쟁 심화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첨단 산업용수 수요 급증</a:t>
            </a:r>
          </a:p>
        </p:txBody>
      </p:sp>
      <p:cxnSp>
        <p:nvCxnSpPr>
          <p:cNvPr id="58" name="Connector 37"/>
          <p:cNvCxnSpPr/>
          <p:nvPr/>
        </p:nvCxnSpPr>
        <p:spPr>
          <a:xfrm>
            <a:off x="5113043" y="3603443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9" name="레일"/>
          <p:cNvSpPr/>
          <p:nvPr/>
        </p:nvSpPr>
        <p:spPr>
          <a:xfrm>
            <a:off x="734087" y="4008835"/>
            <a:ext cx="580696" cy="542348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60" name="레일"/>
          <p:cNvSpPr>
            <a:spLocks noGrp="1"/>
          </p:cNvSpPr>
          <p:nvPr>
            <p:ph type="body" sz="quarter" idx="45"/>
          </p:nvPr>
        </p:nvSpPr>
        <p:spPr>
          <a:xfrm>
            <a:off x="734087" y="4008835"/>
            <a:ext cx="580696" cy="542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 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 제</a:t>
            </a:r>
          </a:p>
        </p:txBody>
      </p:sp>
      <p:sp>
        <p:nvSpPr>
          <p:cNvPr id="61" name="머리칸"/>
          <p:cNvSpPr/>
          <p:nvPr/>
        </p:nvSpPr>
        <p:spPr>
          <a:xfrm>
            <a:off x="1347652" y="4030748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62" name="머리칸"/>
          <p:cNvSpPr>
            <a:spLocks noGrp="1"/>
          </p:cNvSpPr>
          <p:nvPr>
            <p:ph type="body" sz="quarter" idx="46"/>
          </p:nvPr>
        </p:nvSpPr>
        <p:spPr>
          <a:xfrm>
            <a:off x="1347652" y="4030748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수돗물 신뢰 증대</a:t>
            </a:r>
          </a:p>
        </p:txBody>
      </p:sp>
      <p:sp>
        <p:nvSpPr>
          <p:cNvPr id="63" name="머리칸"/>
          <p:cNvSpPr/>
          <p:nvPr/>
        </p:nvSpPr>
        <p:spPr>
          <a:xfrm>
            <a:off x="3230348" y="4030748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64" name="머리칸"/>
          <p:cNvSpPr>
            <a:spLocks noGrp="1"/>
          </p:cNvSpPr>
          <p:nvPr>
            <p:ph type="body" sz="quarter" idx="47"/>
          </p:nvPr>
        </p:nvSpPr>
        <p:spPr>
          <a:xfrm>
            <a:off x="3230348" y="4030748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물위기 선제 대응</a:t>
            </a:r>
          </a:p>
        </p:txBody>
      </p:sp>
      <p:sp>
        <p:nvSpPr>
          <p:cNvPr id="65" name="머리칸"/>
          <p:cNvSpPr/>
          <p:nvPr/>
        </p:nvSpPr>
        <p:spPr>
          <a:xfrm>
            <a:off x="5113043" y="4030748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66" name="머리칸"/>
          <p:cNvSpPr>
            <a:spLocks noGrp="1"/>
          </p:cNvSpPr>
          <p:nvPr>
            <p:ph type="body" sz="quarter" idx="48"/>
          </p:nvPr>
        </p:nvSpPr>
        <p:spPr>
          <a:xfrm>
            <a:off x="5113043" y="4030748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다각적 공급방안 마련</a:t>
            </a:r>
          </a:p>
        </p:txBody>
      </p:sp>
      <p:sp>
        <p:nvSpPr>
          <p:cNvPr id="67" name="칸 본문"/>
          <p:cNvSpPr>
            <a:spLocks noGrp="1"/>
          </p:cNvSpPr>
          <p:nvPr>
            <p:ph type="body" sz="quarter" idx="49"/>
          </p:nvPr>
        </p:nvSpPr>
        <p:spPr>
          <a:xfrm>
            <a:off x="1358609" y="4271791"/>
            <a:ext cx="1860783" cy="273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민생경제 안정, 수돗물 안심 정보</a:t>
            </a:r>
          </a:p>
        </p:txBody>
      </p:sp>
      <p:sp>
        <p:nvSpPr>
          <p:cNvPr id="68" name="칸 본문"/>
          <p:cNvSpPr>
            <a:spLocks noGrp="1"/>
          </p:cNvSpPr>
          <p:nvPr>
            <p:ph type="body" sz="quarter" idx="50"/>
          </p:nvPr>
        </p:nvSpPr>
        <p:spPr>
          <a:xfrm>
            <a:off x="3241304" y="4271791"/>
            <a:ext cx="1860783" cy="273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지자체 이슈 해소 지원</a:t>
            </a:r>
          </a:p>
        </p:txBody>
      </p:sp>
      <p:cxnSp>
        <p:nvCxnSpPr>
          <p:cNvPr id="69" name="Connector 44"/>
          <p:cNvCxnSpPr/>
          <p:nvPr/>
        </p:nvCxnSpPr>
        <p:spPr>
          <a:xfrm>
            <a:off x="3230348" y="4304661"/>
            <a:ext cx="0" cy="208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0" name="칸 본문"/>
          <p:cNvSpPr>
            <a:spLocks noGrp="1"/>
          </p:cNvSpPr>
          <p:nvPr>
            <p:ph type="body" sz="quarter" idx="51"/>
          </p:nvPr>
        </p:nvSpPr>
        <p:spPr>
          <a:xfrm>
            <a:off x="5124000" y="4271791"/>
            <a:ext cx="1860783" cy="273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첨단용수 국가차원 검토</a:t>
            </a:r>
          </a:p>
        </p:txBody>
      </p:sp>
      <p:cxnSp>
        <p:nvCxnSpPr>
          <p:cNvPr id="71" name="Connector 46"/>
          <p:cNvCxnSpPr/>
          <p:nvPr/>
        </p:nvCxnSpPr>
        <p:spPr>
          <a:xfrm>
            <a:off x="5113043" y="4304661"/>
            <a:ext cx="0" cy="208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2" name="레일"/>
          <p:cNvSpPr/>
          <p:nvPr/>
        </p:nvSpPr>
        <p:spPr>
          <a:xfrm>
            <a:off x="734087" y="4567617"/>
            <a:ext cx="580696" cy="519183"/>
          </a:xfrm>
          <a:prstGeom prst="rect">
            <a:avLst/>
          </a:prstGeom>
          <a:pattFill prst="trellis">
            <a:fgClr>
              <a:srgbClr val="00A4A8"/>
            </a:fgClr>
            <a:bgClr>
              <a:srgbClr val="008C6B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73" name="레일"/>
          <p:cNvSpPr>
            <a:spLocks noGrp="1"/>
          </p:cNvSpPr>
          <p:nvPr>
            <p:ph type="body" sz="quarter" idx="52"/>
          </p:nvPr>
        </p:nvSpPr>
        <p:spPr>
          <a:xfrm>
            <a:off x="734087" y="4567617"/>
            <a:ext cx="580696" cy="5191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74" name="칸 본문"/>
          <p:cNvSpPr>
            <a:spLocks noGrp="1"/>
          </p:cNvSpPr>
          <p:nvPr>
            <p:ph type="body" sz="quarter" idx="53"/>
          </p:nvPr>
        </p:nvSpPr>
        <p:spPr>
          <a:xfrm>
            <a:off x="1358609" y="4589530"/>
            <a:ext cx="1107704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역대 최고 고객만족(85.27점 → 87.03점)</a:t>
            </a:r>
          </a:p>
        </p:txBody>
      </p:sp>
      <p:sp>
        <p:nvSpPr>
          <p:cNvPr id="75" name="칸 본문"/>
          <p:cNvSpPr>
            <a:spLocks noGrp="1"/>
          </p:cNvSpPr>
          <p:nvPr>
            <p:ph type="body" sz="quarter" idx="54"/>
          </p:nvPr>
        </p:nvSpPr>
        <p:spPr>
          <a:xfrm>
            <a:off x="2488226" y="4589530"/>
            <a:ext cx="1107704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국가상수도정보시스템 역대 최고 만족 96.6점</a:t>
            </a:r>
          </a:p>
        </p:txBody>
      </p:sp>
      <p:cxnSp>
        <p:nvCxnSpPr>
          <p:cNvPr id="76" name="Connector 50"/>
          <p:cNvCxnSpPr/>
          <p:nvPr/>
        </p:nvCxnSpPr>
        <p:spPr>
          <a:xfrm>
            <a:off x="2477270" y="4622400"/>
            <a:ext cx="0" cy="4260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7" name="칸 본문"/>
          <p:cNvSpPr>
            <a:spLocks noGrp="1"/>
          </p:cNvSpPr>
          <p:nvPr>
            <p:ph type="body" sz="quarter" idx="55"/>
          </p:nvPr>
        </p:nvSpPr>
        <p:spPr>
          <a:xfrm>
            <a:off x="3617843" y="4589530"/>
            <a:ext cx="1107704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낙동강 맑은 물 공급 사업화 등 현안 해소</a:t>
            </a:r>
          </a:p>
        </p:txBody>
      </p:sp>
      <p:cxnSp>
        <p:nvCxnSpPr>
          <p:cNvPr id="78" name="Connector 52"/>
          <p:cNvCxnSpPr/>
          <p:nvPr/>
        </p:nvCxnSpPr>
        <p:spPr>
          <a:xfrm>
            <a:off x="3606887" y="4622400"/>
            <a:ext cx="0" cy="4260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79" name="칸 본문"/>
          <p:cNvSpPr>
            <a:spLocks noGrp="1"/>
          </p:cNvSpPr>
          <p:nvPr>
            <p:ph type="body" sz="quarter" idx="56"/>
          </p:nvPr>
        </p:nvSpPr>
        <p:spPr>
          <a:xfrm>
            <a:off x="4747461" y="4589530"/>
            <a:ext cx="1107704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첨단산업 최적 공급방안 마련·사업 추진</a:t>
            </a:r>
          </a:p>
        </p:txBody>
      </p:sp>
      <p:cxnSp>
        <p:nvCxnSpPr>
          <p:cNvPr id="80" name="Connector 54"/>
          <p:cNvCxnSpPr/>
          <p:nvPr/>
        </p:nvCxnSpPr>
        <p:spPr>
          <a:xfrm>
            <a:off x="4736504" y="4622400"/>
            <a:ext cx="0" cy="4260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81" name="칸 본문"/>
          <p:cNvSpPr>
            <a:spLocks noGrp="1"/>
          </p:cNvSpPr>
          <p:nvPr>
            <p:ph type="body" sz="quarter" idx="57"/>
          </p:nvPr>
        </p:nvSpPr>
        <p:spPr>
          <a:xfrm>
            <a:off x="5877078" y="4589530"/>
            <a:ext cx="1107704" cy="4917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SKhynix 초순수 공급 해외 독점시장 타파</a:t>
            </a:r>
          </a:p>
        </p:txBody>
      </p:sp>
      <p:cxnSp>
        <p:nvCxnSpPr>
          <p:cNvPr id="82" name="Connector 56"/>
          <p:cNvCxnSpPr/>
          <p:nvPr/>
        </p:nvCxnSpPr>
        <p:spPr>
          <a:xfrm>
            <a:off x="5866122" y="4622400"/>
            <a:ext cx="0" cy="4260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207 서사 · 실질적 도움이 되는 정보와 요금부담 완화(요금부담 경감 3칸 → 대화형 수도정보서비스 → 추진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실질적 도움이 되는 정보와 요금부담 완화로 안정된 일상 지원</a:t>
            </a:r>
          </a:p>
        </p:txBody>
      </p:sp>
      <p:sp>
        <p:nvSpPr>
          <p:cNvPr id="15" name="번호 띠 칩"/>
          <p:cNvSpPr/>
          <p:nvPr/>
        </p:nvSpPr>
        <p:spPr>
          <a:xfrm>
            <a:off x="6241922" y="832696"/>
            <a:ext cx="529208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번호 띠 칩"/>
          <p:cNvSpPr>
            <a:spLocks noGrp="1"/>
          </p:cNvSpPr>
          <p:nvPr>
            <p:ph type="body" sz="quarter" idx="22"/>
          </p:nvPr>
        </p:nvSpPr>
        <p:spPr>
          <a:xfrm>
            <a:off x="6241922" y="832696"/>
            <a:ext cx="529208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7" name="표 외곽"/>
          <p:cNvSpPr/>
          <p:nvPr/>
        </p:nvSpPr>
        <p:spPr>
          <a:xfrm>
            <a:off x="536870" y="1117565"/>
            <a:ext cx="6300000" cy="183521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레일"/>
          <p:cNvSpPr/>
          <p:nvPr/>
        </p:nvSpPr>
        <p:spPr>
          <a:xfrm>
            <a:off x="547826" y="1134000"/>
            <a:ext cx="580696" cy="794348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레일"/>
          <p:cNvSpPr>
            <a:spLocks noGrp="1"/>
          </p:cNvSpPr>
          <p:nvPr>
            <p:ph type="body" sz="quarter" idx="23"/>
          </p:nvPr>
        </p:nvSpPr>
        <p:spPr>
          <a:xfrm>
            <a:off x="547826" y="1134000"/>
            <a:ext cx="580696" cy="79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요금부담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경 감</a:t>
            </a:r>
          </a:p>
        </p:txBody>
      </p:sp>
      <p:sp>
        <p:nvSpPr>
          <p:cNvPr id="20" name="머리칸"/>
          <p:cNvSpPr/>
          <p:nvPr/>
        </p:nvSpPr>
        <p:spPr>
          <a:xfrm>
            <a:off x="1161391" y="1155913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1" name="머리칸"/>
          <p:cNvSpPr>
            <a:spLocks noGrp="1"/>
          </p:cNvSpPr>
          <p:nvPr>
            <p:ph type="body" sz="quarter" idx="24"/>
          </p:nvPr>
        </p:nvSpPr>
        <p:spPr>
          <a:xfrm>
            <a:off x="1161391" y="1155913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장기간 요금동결 지속(’16~)</a:t>
            </a:r>
          </a:p>
        </p:txBody>
      </p:sp>
      <p:sp>
        <p:nvSpPr>
          <p:cNvPr id="22" name="머리칸"/>
          <p:cNvSpPr/>
          <p:nvPr/>
        </p:nvSpPr>
        <p:spPr>
          <a:xfrm>
            <a:off x="3044087" y="1155913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3" name="머리칸"/>
          <p:cNvSpPr>
            <a:spLocks noGrp="1"/>
          </p:cNvSpPr>
          <p:nvPr>
            <p:ph type="body" sz="quarter" idx="25"/>
          </p:nvPr>
        </p:nvSpPr>
        <p:spPr>
          <a:xfrm>
            <a:off x="3044087" y="1155913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사회적배려계층 감면</a:t>
            </a:r>
          </a:p>
        </p:txBody>
      </p:sp>
      <p:sp>
        <p:nvSpPr>
          <p:cNvPr id="24" name="머리칸"/>
          <p:cNvSpPr/>
          <p:nvPr/>
        </p:nvSpPr>
        <p:spPr>
          <a:xfrm>
            <a:off x="4926783" y="1155913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5" name="머리칸"/>
          <p:cNvSpPr>
            <a:spLocks noGrp="1"/>
          </p:cNvSpPr>
          <p:nvPr>
            <p:ph type="body" sz="quarter" idx="26"/>
          </p:nvPr>
        </p:nvSpPr>
        <p:spPr>
          <a:xfrm>
            <a:off x="4926783" y="1155913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재난지역 감면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7"/>
          </p:nvPr>
        </p:nvSpPr>
        <p:spPr>
          <a:xfrm>
            <a:off x="1172348" y="1396957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연간 1,483억원 인하 효과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원가절감 지속(’25년 182억원)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28"/>
          </p:nvPr>
        </p:nvSpPr>
        <p:spPr>
          <a:xfrm>
            <a:off x="3055043" y="1396957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지자체의 先감면액 정산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99개 지자체, 8.2억원 감면</a:t>
            </a:r>
          </a:p>
        </p:txBody>
      </p:sp>
      <p:cxnSp>
        <p:nvCxnSpPr>
          <p:cNvPr id="28" name="Connector 19"/>
          <p:cNvCxnSpPr/>
          <p:nvPr/>
        </p:nvCxnSpPr>
        <p:spPr>
          <a:xfrm>
            <a:off x="3044087" y="1429826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4937739" y="1396957"/>
            <a:ext cx="1860783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산불, 집중호우 피해지역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19개 지자체, 0.8억원 감면</a:t>
            </a:r>
          </a:p>
        </p:txBody>
      </p:sp>
      <p:cxnSp>
        <p:nvCxnSpPr>
          <p:cNvPr id="30" name="Connector 21"/>
          <p:cNvCxnSpPr/>
          <p:nvPr/>
        </p:nvCxnSpPr>
        <p:spPr>
          <a:xfrm>
            <a:off x="4926783" y="1429826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레일"/>
          <p:cNvSpPr/>
          <p:nvPr/>
        </p:nvSpPr>
        <p:spPr>
          <a:xfrm>
            <a:off x="547826" y="1944783"/>
            <a:ext cx="580696" cy="991565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2" name="레일"/>
          <p:cNvSpPr>
            <a:spLocks noGrp="1"/>
          </p:cNvSpPr>
          <p:nvPr>
            <p:ph type="body" sz="quarter" idx="30"/>
          </p:nvPr>
        </p:nvSpPr>
        <p:spPr>
          <a:xfrm>
            <a:off x="547826" y="1944783"/>
            <a:ext cx="580696" cy="991565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대화형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수도정보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서비스</a:t>
            </a:r>
          </a:p>
        </p:txBody>
      </p:sp>
      <p:sp>
        <p:nvSpPr>
          <p:cNvPr id="33" name="레일 삼각형"/>
          <p:cNvSpPr/>
          <p:nvPr/>
        </p:nvSpPr>
        <p:spPr>
          <a:xfrm>
            <a:off x="547826" y="1944782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4" name="머리칸"/>
          <p:cNvSpPr/>
          <p:nvPr/>
        </p:nvSpPr>
        <p:spPr>
          <a:xfrm>
            <a:off x="1161391" y="1966696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5" name="머리칸"/>
          <p:cNvSpPr>
            <a:spLocks noGrp="1"/>
          </p:cNvSpPr>
          <p:nvPr>
            <p:ph type="body" sz="quarter" idx="31"/>
          </p:nvPr>
        </p:nvSpPr>
        <p:spPr>
          <a:xfrm>
            <a:off x="1161391" y="1966696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사용자 소통·의견 수렴</a:t>
            </a:r>
          </a:p>
        </p:txBody>
      </p:sp>
      <p:sp>
        <p:nvSpPr>
          <p:cNvPr id="36" name="머리칸"/>
          <p:cNvSpPr/>
          <p:nvPr/>
        </p:nvSpPr>
        <p:spPr>
          <a:xfrm>
            <a:off x="3985435" y="1966696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7" name="머리칸"/>
          <p:cNvSpPr>
            <a:spLocks noGrp="1"/>
          </p:cNvSpPr>
          <p:nvPr>
            <p:ph type="body" sz="quarter" idx="32"/>
          </p:nvPr>
        </p:nvSpPr>
        <p:spPr>
          <a:xfrm>
            <a:off x="3985435" y="1966696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국가수도정보시스템 내 대화형 AI 플랫폼 도입 및 확대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3"/>
          </p:nvPr>
        </p:nvSpPr>
        <p:spPr>
          <a:xfrm>
            <a:off x="1172348" y="2207739"/>
            <a:ext cx="2802130" cy="723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참여: 국민디자인단 + 만족도조사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국민: “수돗물 어디서 오는지 쉽게 찾고 싶어요”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지자체: “민원관련 수도기술자료 어디있죠?”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4"/>
          </p:nvPr>
        </p:nvSpPr>
        <p:spPr>
          <a:xfrm>
            <a:off x="3996391" y="2207739"/>
            <a:ext cx="2802130" cy="723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워터365 ‘런칭’: 사용자 위치 자동 인식 기반 우리집 수돗물 공급경로, 수질정보 등 시각화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워터챗 ‘확대’: 총 1,093건 최신정보 학습·제공 / ’24년 런칭(낙동강) → ’25년 전국(2천명 활용)</a:t>
            </a:r>
          </a:p>
        </p:txBody>
      </p:sp>
      <p:cxnSp>
        <p:nvCxnSpPr>
          <p:cNvPr id="40" name="Connector 28"/>
          <p:cNvCxnSpPr/>
          <p:nvPr/>
        </p:nvCxnSpPr>
        <p:spPr>
          <a:xfrm>
            <a:off x="3985435" y="2240609"/>
            <a:ext cx="0" cy="65739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1" name="핵심성과 박스"/>
          <p:cNvSpPr/>
          <p:nvPr/>
        </p:nvSpPr>
        <p:spPr>
          <a:xfrm>
            <a:off x="536870" y="3040435"/>
            <a:ext cx="6300000" cy="52434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2" name="핵심성과 라벨"/>
          <p:cNvSpPr/>
          <p:nvPr/>
        </p:nvSpPr>
        <p:spPr>
          <a:xfrm>
            <a:off x="569739" y="3073304"/>
            <a:ext cx="657391" cy="458609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43" name="핵심성과 라벨"/>
          <p:cNvSpPr>
            <a:spLocks noGrp="1"/>
          </p:cNvSpPr>
          <p:nvPr>
            <p:ph type="body" sz="quarter" idx="35"/>
          </p:nvPr>
        </p:nvSpPr>
        <p:spPr>
          <a:xfrm>
            <a:off x="569739" y="3073304"/>
            <a:ext cx="657391" cy="458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4" name="핵심성과 문구"/>
          <p:cNvSpPr>
            <a:spLocks noGrp="1"/>
          </p:cNvSpPr>
          <p:nvPr>
            <p:ph type="body" sz="quarter" idx="36"/>
          </p:nvPr>
        </p:nvSpPr>
        <p:spPr>
          <a:xfrm>
            <a:off x="1314783" y="3062348"/>
            <a:ext cx="5456348" cy="480522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고객만족도 87.03점(역대 최고) 획득(3년 연속 상승, ’23년 84.16점 → ’24년 85.27점)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국가수도정보시스템 이용자 76만명, 상수도정보서비스 이용만족도 96.6점 달성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208 서사 · 지자체가 해결하기 어려운 물 문제(대응 방향 3칸 → 사례 4건: 배경 · 해결 · 효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4210012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지자체가 해결하기 어려운 물 문제, K-water의 아이디어와 기술로 해결</a:t>
            </a:r>
          </a:p>
        </p:txBody>
      </p:sp>
      <p:sp>
        <p:nvSpPr>
          <p:cNvPr id="11" name="태그칩"/>
          <p:cNvSpPr/>
          <p:nvPr/>
        </p:nvSpPr>
        <p:spPr>
          <a:xfrm>
            <a:off x="5031751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5031751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표 외곽"/>
          <p:cNvSpPr/>
          <p:nvPr/>
        </p:nvSpPr>
        <p:spPr>
          <a:xfrm>
            <a:off x="723130" y="1062783"/>
            <a:ext cx="6300000" cy="4152522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레일"/>
          <p:cNvSpPr/>
          <p:nvPr/>
        </p:nvSpPr>
        <p:spPr>
          <a:xfrm>
            <a:off x="734087" y="1079217"/>
            <a:ext cx="580696" cy="81078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079217"/>
            <a:ext cx="580696" cy="81078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대 응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 향</a:t>
            </a:r>
          </a:p>
        </p:txBody>
      </p:sp>
      <p:sp>
        <p:nvSpPr>
          <p:cNvPr id="16" name="머리칸"/>
          <p:cNvSpPr/>
          <p:nvPr/>
        </p:nvSpPr>
        <p:spPr>
          <a:xfrm>
            <a:off x="1347652" y="110113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7" name="머리칸"/>
          <p:cNvSpPr>
            <a:spLocks noGrp="1"/>
          </p:cNvSpPr>
          <p:nvPr>
            <p:ph type="body" sz="quarter" idx="23"/>
          </p:nvPr>
        </p:nvSpPr>
        <p:spPr>
          <a:xfrm>
            <a:off x="1347652" y="110113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지역맞춤형 대안</a:t>
            </a:r>
          </a:p>
        </p:txBody>
      </p:sp>
      <p:sp>
        <p:nvSpPr>
          <p:cNvPr id="18" name="머리칸"/>
          <p:cNvSpPr/>
          <p:nvPr/>
        </p:nvSpPr>
        <p:spPr>
          <a:xfrm>
            <a:off x="3230348" y="110113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9" name="머리칸"/>
          <p:cNvSpPr>
            <a:spLocks noGrp="1"/>
          </p:cNvSpPr>
          <p:nvPr>
            <p:ph type="body" sz="quarter" idx="24"/>
          </p:nvPr>
        </p:nvSpPr>
        <p:spPr>
          <a:xfrm>
            <a:off x="3230348" y="110113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수원 다변화</a:t>
            </a:r>
          </a:p>
        </p:txBody>
      </p:sp>
      <p:sp>
        <p:nvSpPr>
          <p:cNvPr id="20" name="머리칸"/>
          <p:cNvSpPr/>
          <p:nvPr/>
        </p:nvSpPr>
        <p:spPr>
          <a:xfrm>
            <a:off x="5113043" y="110113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1" name="머리칸"/>
          <p:cNvSpPr>
            <a:spLocks noGrp="1"/>
          </p:cNvSpPr>
          <p:nvPr>
            <p:ph type="body" sz="quarter" idx="25"/>
          </p:nvPr>
        </p:nvSpPr>
        <p:spPr>
          <a:xfrm>
            <a:off x="5113043" y="110113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발상의 전환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6"/>
          </p:nvPr>
        </p:nvSpPr>
        <p:spPr>
          <a:xfrm>
            <a:off x="1358609" y="1342174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정서·니즈의 충족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7"/>
          </p:nvPr>
        </p:nvSpPr>
        <p:spPr>
          <a:xfrm>
            <a:off x="3241304" y="1342174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댐·하천 非의존형 수원 발굴</a:t>
            </a:r>
          </a:p>
        </p:txBody>
      </p:sp>
      <p:cxnSp>
        <p:nvCxnSpPr>
          <p:cNvPr id="24" name="Connector 13"/>
          <p:cNvCxnSpPr/>
          <p:nvPr/>
        </p:nvCxnSpPr>
        <p:spPr>
          <a:xfrm>
            <a:off x="3230348" y="1375043"/>
            <a:ext cx="0" cy="24104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5" name="칸 본문"/>
          <p:cNvSpPr>
            <a:spLocks noGrp="1"/>
          </p:cNvSpPr>
          <p:nvPr>
            <p:ph type="body" sz="quarter" idx="28"/>
          </p:nvPr>
        </p:nvSpPr>
        <p:spPr>
          <a:xfrm>
            <a:off x="5124000" y="1342174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독보적 기술의 융합·활용</a:t>
            </a:r>
          </a:p>
        </p:txBody>
      </p:sp>
      <p:cxnSp>
        <p:nvCxnSpPr>
          <p:cNvPr id="26" name="Connector 15"/>
          <p:cNvCxnSpPr/>
          <p:nvPr/>
        </p:nvCxnSpPr>
        <p:spPr>
          <a:xfrm>
            <a:off x="5113043" y="1375043"/>
            <a:ext cx="0" cy="24104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7" name="배너"/>
          <p:cNvSpPr/>
          <p:nvPr/>
        </p:nvSpPr>
        <p:spPr>
          <a:xfrm>
            <a:off x="1347652" y="1665391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8" name="배너"/>
          <p:cNvSpPr>
            <a:spLocks noGrp="1"/>
          </p:cNvSpPr>
          <p:nvPr>
            <p:ph type="body" sz="quarter" idx="29"/>
          </p:nvPr>
        </p:nvSpPr>
        <p:spPr>
          <a:xfrm>
            <a:off x="1347652" y="1665391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지자체의 물 관리 어려움에 때로는 해결사로! 때로는 중재자로! 맞춤형 대응</a:t>
            </a:r>
          </a:p>
        </p:txBody>
      </p:sp>
      <p:sp>
        <p:nvSpPr>
          <p:cNvPr id="29" name="레일"/>
          <p:cNvSpPr/>
          <p:nvPr/>
        </p:nvSpPr>
        <p:spPr>
          <a:xfrm>
            <a:off x="734087" y="1906435"/>
            <a:ext cx="580696" cy="1638000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0" name="레일"/>
          <p:cNvSpPr>
            <a:spLocks noGrp="1"/>
          </p:cNvSpPr>
          <p:nvPr>
            <p:ph type="body" sz="quarter" idx="30"/>
          </p:nvPr>
        </p:nvSpPr>
        <p:spPr>
          <a:xfrm>
            <a:off x="734087" y="1906435"/>
            <a:ext cx="580696" cy="163800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1·2</a:t>
            </a:r>
          </a:p>
        </p:txBody>
      </p:sp>
      <p:sp>
        <p:nvSpPr>
          <p:cNvPr id="31" name="레일 삼각형"/>
          <p:cNvSpPr/>
          <p:nvPr/>
        </p:nvSpPr>
        <p:spPr>
          <a:xfrm>
            <a:off x="734086" y="1906434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2" name="머리칸"/>
          <p:cNvSpPr/>
          <p:nvPr/>
        </p:nvSpPr>
        <p:spPr>
          <a:xfrm>
            <a:off x="1347652" y="1928348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3" name="머리칸"/>
          <p:cNvSpPr>
            <a:spLocks noGrp="1"/>
          </p:cNvSpPr>
          <p:nvPr>
            <p:ph type="body" sz="quarter" idx="31"/>
          </p:nvPr>
        </p:nvSpPr>
        <p:spPr>
          <a:xfrm>
            <a:off x="1347652" y="1928348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대구 맑은 물 공급</a:t>
            </a:r>
          </a:p>
        </p:txBody>
      </p:sp>
      <p:sp>
        <p:nvSpPr>
          <p:cNvPr id="34" name="머리칸"/>
          <p:cNvSpPr/>
          <p:nvPr/>
        </p:nvSpPr>
        <p:spPr>
          <a:xfrm>
            <a:off x="4171696" y="1928348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5" name="머리칸"/>
          <p:cNvSpPr>
            <a:spLocks noGrp="1"/>
          </p:cNvSpPr>
          <p:nvPr>
            <p:ph type="body" sz="quarter" idx="32"/>
          </p:nvPr>
        </p:nvSpPr>
        <p:spPr>
          <a:xfrm>
            <a:off x="4171696" y="1928348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강릉 가뭄 대응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3"/>
          </p:nvPr>
        </p:nvSpPr>
        <p:spPr>
          <a:xfrm>
            <a:off x="1358609" y="2169391"/>
            <a:ext cx="2802130" cy="136956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수원 다변화(하천 복류수) 제안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배경: ’91년 페놀사건 이후 대구시는 취수원 이전 지속 추진 중, 최근 안동댐 활용 검토 요청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해결: 現취수원 인근 복류수 도입 제안·정책화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→ 복류수 공급사업 시행근거 확보(타당성조사 용역비 국고 45억원 반영)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4"/>
          </p:nvPr>
        </p:nvSpPr>
        <p:spPr>
          <a:xfrm>
            <a:off x="4182652" y="2169391"/>
            <a:ext cx="2802130" cy="136956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인력·기술·비상식수 지원 + 대책 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배경: 단일 수원 저수율 11%↓, ‘재난사태’ 선포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해결: 단기대응 지원 및 항구대책 마련·수행(운휴시설 재가동 기술지원, 지하수저류댐 건설)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→ 가뭄 적극 대응 노력 인정, 재난관리평가 ‘국무총리 표창’(’25.12)</a:t>
            </a:r>
          </a:p>
        </p:txBody>
      </p:sp>
      <p:cxnSp>
        <p:nvCxnSpPr>
          <p:cNvPr id="38" name="Connector 23"/>
          <p:cNvCxnSpPr/>
          <p:nvPr/>
        </p:nvCxnSpPr>
        <p:spPr>
          <a:xfrm>
            <a:off x="4171696" y="2202261"/>
            <a:ext cx="0" cy="130382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9" name="레일"/>
          <p:cNvSpPr/>
          <p:nvPr/>
        </p:nvSpPr>
        <p:spPr>
          <a:xfrm>
            <a:off x="734087" y="3560870"/>
            <a:ext cx="580696" cy="1638000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40" name="레일"/>
          <p:cNvSpPr>
            <a:spLocks noGrp="1"/>
          </p:cNvSpPr>
          <p:nvPr>
            <p:ph type="body" sz="quarter" idx="35"/>
          </p:nvPr>
        </p:nvSpPr>
        <p:spPr>
          <a:xfrm>
            <a:off x="734087" y="3560870"/>
            <a:ext cx="580696" cy="163800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3·4</a:t>
            </a:r>
          </a:p>
        </p:txBody>
      </p:sp>
      <p:sp>
        <p:nvSpPr>
          <p:cNvPr id="41" name="레일 삼각형"/>
          <p:cNvSpPr/>
          <p:nvPr/>
        </p:nvSpPr>
        <p:spPr>
          <a:xfrm>
            <a:off x="734086" y="3560869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2" name="머리칸"/>
          <p:cNvSpPr/>
          <p:nvPr/>
        </p:nvSpPr>
        <p:spPr>
          <a:xfrm>
            <a:off x="1347652" y="358278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3" name="머리칸"/>
          <p:cNvSpPr>
            <a:spLocks noGrp="1"/>
          </p:cNvSpPr>
          <p:nvPr>
            <p:ph type="body" sz="quarter" idx="36"/>
          </p:nvPr>
        </p:nvSpPr>
        <p:spPr>
          <a:xfrm>
            <a:off x="1347652" y="358278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대산 산단 해수담수화 도입</a:t>
            </a:r>
          </a:p>
        </p:txBody>
      </p:sp>
      <p:sp>
        <p:nvSpPr>
          <p:cNvPr id="44" name="머리칸"/>
          <p:cNvSpPr/>
          <p:nvPr/>
        </p:nvSpPr>
        <p:spPr>
          <a:xfrm>
            <a:off x="4171696" y="3582783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45" name="머리칸"/>
          <p:cNvSpPr>
            <a:spLocks noGrp="1"/>
          </p:cNvSpPr>
          <p:nvPr>
            <p:ph type="body" sz="quarter" idx="37"/>
          </p:nvPr>
        </p:nvSpPr>
        <p:spPr>
          <a:xfrm>
            <a:off x="4171696" y="3582783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부산 산단 공업용수 공급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38"/>
          </p:nvPr>
        </p:nvSpPr>
        <p:spPr>
          <a:xfrm>
            <a:off x="1358609" y="3823826"/>
            <a:ext cx="2802130" cy="136956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수원 다변화(해수담수화) 성공적 완수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배경: 충남서부지역 가뭄 반복, 대산석유화학단지 공업용수 수요 증대로 만성적 물 부족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해결: 국내최대(10만 톤/일) 해수담수화 준공(’25.12)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→ (대산 산단) 無限 수원 확보, (충남서부지역) 만성적 물 부족 문제 해소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39"/>
          </p:nvPr>
        </p:nvSpPr>
        <p:spPr>
          <a:xfrm>
            <a:off x="4182652" y="3823826"/>
            <a:ext cx="2802130" cy="1369565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첨단 수처리기술 활용, 현안 해소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배경: 방사능 우려로 해수담수화시설(부산 기장)을 활용한 식수공급 반대로 10년간 시설 방치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해결: 해·담 시설을 하수재이용 시설로 전환, 공업용수 공급에 기술지원 및 운영 참여 추진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→ 동부산 산단 공업용수 공급 MOU 체결(’25.9)</a:t>
            </a:r>
          </a:p>
        </p:txBody>
      </p:sp>
      <p:cxnSp>
        <p:nvCxnSpPr>
          <p:cNvPr id="48" name="Connector 30"/>
          <p:cNvCxnSpPr/>
          <p:nvPr/>
        </p:nvCxnSpPr>
        <p:spPr>
          <a:xfrm>
            <a:off x="4171696" y="3856696"/>
            <a:ext cx="0" cy="1303826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209 서사 · 근본적 지역 물 문제 해결을 위한 물 이용 개선방안(관리체계 혁신 · 극한가뭄 대응 · 워터믹스 3칸 → 기후부 방안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4053061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근본적인 지역 물 문제 해결을 위한 ‘물 이용 개선방안’ 수립·정부 제안</a:t>
            </a:r>
          </a:p>
        </p:txBody>
      </p:sp>
      <p:sp>
        <p:nvSpPr>
          <p:cNvPr id="12" name="태그칩"/>
          <p:cNvSpPr/>
          <p:nvPr/>
        </p:nvSpPr>
        <p:spPr>
          <a:xfrm>
            <a:off x="4688539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688539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4" name="표 외곽"/>
          <p:cNvSpPr/>
          <p:nvPr/>
        </p:nvSpPr>
        <p:spPr>
          <a:xfrm>
            <a:off x="536870" y="1051826"/>
            <a:ext cx="6300000" cy="1533913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547826" y="1068261"/>
            <a:ext cx="580696" cy="1501043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068261"/>
            <a:ext cx="580696" cy="150104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방안</a:t>
            </a:r>
          </a:p>
        </p:txBody>
      </p:sp>
      <p:sp>
        <p:nvSpPr>
          <p:cNvPr id="17" name="머리칸"/>
          <p:cNvSpPr/>
          <p:nvPr/>
        </p:nvSpPr>
        <p:spPr>
          <a:xfrm>
            <a:off x="1161391" y="1090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8" name="머리칸"/>
          <p:cNvSpPr>
            <a:spLocks noGrp="1"/>
          </p:cNvSpPr>
          <p:nvPr>
            <p:ph type="body" sz="quarter" idx="23"/>
          </p:nvPr>
        </p:nvSpPr>
        <p:spPr>
          <a:xfrm>
            <a:off x="1161391" y="1090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 이용 관리체계 혁신</a:t>
            </a:r>
          </a:p>
        </p:txBody>
      </p:sp>
      <p:sp>
        <p:nvSpPr>
          <p:cNvPr id="19" name="머리칸"/>
          <p:cNvSpPr/>
          <p:nvPr/>
        </p:nvSpPr>
        <p:spPr>
          <a:xfrm>
            <a:off x="3044087" y="1090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0" name="머리칸"/>
          <p:cNvSpPr>
            <a:spLocks noGrp="1"/>
          </p:cNvSpPr>
          <p:nvPr>
            <p:ph type="body" sz="quarter" idx="24"/>
          </p:nvPr>
        </p:nvSpPr>
        <p:spPr>
          <a:xfrm>
            <a:off x="3044087" y="1090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극한가뭄 대응 기반 조성</a:t>
            </a:r>
          </a:p>
        </p:txBody>
      </p:sp>
      <p:sp>
        <p:nvSpPr>
          <p:cNvPr id="21" name="머리칸"/>
          <p:cNvSpPr/>
          <p:nvPr/>
        </p:nvSpPr>
        <p:spPr>
          <a:xfrm>
            <a:off x="4926783" y="1090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2" name="머리칸"/>
          <p:cNvSpPr>
            <a:spLocks noGrp="1"/>
          </p:cNvSpPr>
          <p:nvPr>
            <p:ph type="body" sz="quarter" idx="25"/>
          </p:nvPr>
        </p:nvSpPr>
        <p:spPr>
          <a:xfrm>
            <a:off x="4926783" y="1090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워터믹스로 댐 의존도↓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6"/>
          </p:nvPr>
        </p:nvSpPr>
        <p:spPr>
          <a:xfrm>
            <a:off x="1172348" y="1331217"/>
            <a:ext cx="1860783" cy="997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국가계획 주기(5→2년), 지자체계획 연계 + 물수급협의체 신설(정부·지자체·산업)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수요변화 대응 적시성·유연성 제고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7"/>
          </p:nvPr>
        </p:nvSpPr>
        <p:spPr>
          <a:xfrm>
            <a:off x="3055043" y="1331217"/>
            <a:ext cx="1860783" cy="997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가뭄취약지역 평가 고도화: 다양한 가뭄 시나리오, 물 수급 여건 등을 반영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지자체 계획: 가뭄대책 반영 의무화 / 워터그리드: 기존 수원 간 연계체계</a:t>
            </a:r>
          </a:p>
        </p:txBody>
      </p:sp>
      <p:cxnSp>
        <p:nvCxnSpPr>
          <p:cNvPr id="25" name="Connector 16"/>
          <p:cNvCxnSpPr/>
          <p:nvPr/>
        </p:nvCxnSpPr>
        <p:spPr>
          <a:xfrm>
            <a:off x="3044087" y="1364087"/>
            <a:ext cx="0" cy="93130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6" name="칸 본문"/>
          <p:cNvSpPr>
            <a:spLocks noGrp="1"/>
          </p:cNvSpPr>
          <p:nvPr>
            <p:ph type="body" sz="quarter" idx="28"/>
          </p:nvPr>
        </p:nvSpPr>
        <p:spPr>
          <a:xfrm>
            <a:off x="4937739" y="1331217"/>
            <a:ext cx="1860783" cy="99704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다목적댐·발전용댐·지하수저류댐·농업용저수지를 연계하는 워터믹스(watermix)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수요처별 최적 수원 연계</a:t>
            </a:r>
          </a:p>
        </p:txBody>
      </p:sp>
      <p:cxnSp>
        <p:nvCxnSpPr>
          <p:cNvPr id="27" name="Connector 18"/>
          <p:cNvCxnSpPr/>
          <p:nvPr/>
        </p:nvCxnSpPr>
        <p:spPr>
          <a:xfrm>
            <a:off x="4926783" y="1364087"/>
            <a:ext cx="0" cy="93130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8" name="배너"/>
          <p:cNvSpPr/>
          <p:nvPr/>
        </p:nvSpPr>
        <p:spPr>
          <a:xfrm>
            <a:off x="1161391" y="2344696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9" name="배너"/>
          <p:cNvSpPr>
            <a:spLocks noGrp="1"/>
          </p:cNvSpPr>
          <p:nvPr>
            <p:ph type="body" sz="quarter" idx="29"/>
          </p:nvPr>
        </p:nvSpPr>
        <p:spPr>
          <a:xfrm>
            <a:off x="1161391" y="2344696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K-water가 제안한 ‘물 이용 개선방안’ 기반, 기후부 ‘물 이용 체계 혁신방안’ 수립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210 서사 · 기업니즈 → K-water 역할(번호 띠 바로 아래 한 줄 + 역할 배너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첨단산업 성장을 뒷받침하는 안정적인 용수공급으로 국가경쟁력 제고</a:t>
            </a:r>
          </a:p>
        </p:txBody>
      </p:sp>
      <p:sp>
        <p:nvSpPr>
          <p:cNvPr id="14" name="표 외곽"/>
          <p:cNvSpPr/>
          <p:nvPr/>
        </p:nvSpPr>
        <p:spPr>
          <a:xfrm>
            <a:off x="723130" y="1128522"/>
            <a:ext cx="6300000" cy="441078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734087" y="1144957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144957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니 즈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3"/>
          </p:nvPr>
        </p:nvSpPr>
        <p:spPr>
          <a:xfrm>
            <a:off x="1358609" y="1166870"/>
            <a:ext cx="5626174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첨단기술 패권경쟁 우위 선점은 ‘규모의 경제’와 ‘속도’가 결정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대규모 ‘용수’가 필수적인 첨단산업 기업은 신속한 인프라 확충에 갈증</a:t>
            </a:r>
          </a:p>
        </p:txBody>
      </p:sp>
      <p:sp>
        <p:nvSpPr>
          <p:cNvPr id="18" name="배너"/>
          <p:cNvSpPr/>
          <p:nvPr/>
        </p:nvSpPr>
        <p:spPr>
          <a:xfrm>
            <a:off x="723130" y="1613426"/>
            <a:ext cx="6300000" cy="273913"/>
          </a:xfrm>
          <a:custGeom>
            <a:avLst/>
            <a:gdLst/>
            <a:ahLst/>
            <a:cxnLst/>
            <a:rect l="l" t="t" r="r" b="b"/>
            <a:pathLst>
              <a:path w="6300000" h="273913">
                <a:moveTo>
                  <a:pt x="0" y="0"/>
                </a:moveTo>
                <a:lnTo>
                  <a:pt x="6300000" y="0"/>
                </a:lnTo>
                <a:lnTo>
                  <a:pt x="6234261" y="273913"/>
                </a:lnTo>
                <a:lnTo>
                  <a:pt x="65739" y="273913"/>
                </a:lnTo>
                <a:close/>
              </a:path>
            </a:pathLst>
          </a:custGeom>
          <a:gradFill rotWithShape="1">
            <a:gsLst>
              <a:gs pos="0">
                <a:srgbClr val="BDE0FF"/>
              </a:gs>
              <a:gs pos="100000">
                <a:srgbClr val="FFFFFF"/>
              </a:gs>
            </a:gsLst>
            <a:lin scaled="0" ang="1620000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9" name="태그"/>
          <p:cNvSpPr/>
          <p:nvPr/>
        </p:nvSpPr>
        <p:spPr>
          <a:xfrm>
            <a:off x="942261" y="1668209"/>
            <a:ext cx="837635" cy="164348"/>
          </a:xfrm>
          <a:prstGeom prst="rect">
            <a:avLst/>
          </a:prstGeom>
          <a:solidFill>
            <a:srgbClr val="FFFFFF"/>
          </a:solidFill>
          <a:ln w="12700">
            <a:solidFill>
              <a:srgbClr val="0051BC"/>
            </a:solidFill>
          </a:ln>
          <a:effectLst/>
        </p:spPr>
        <p:txBody>
          <a:bodyPr rtlCol="0" anchor="ctr" lIns="7200" rIns="7200" tIns="0" bIns="0" wrap="square"/>
          <a:lstStyle/>
          <a:p/>
        </p:txBody>
      </p:sp>
      <p:sp>
        <p:nvSpPr>
          <p:cNvPr id="20" name="태그"/>
          <p:cNvSpPr>
            <a:spLocks noGrp="1"/>
          </p:cNvSpPr>
          <p:nvPr>
            <p:ph type="body" sz="quarter" idx="24"/>
          </p:nvPr>
        </p:nvSpPr>
        <p:spPr>
          <a:xfrm>
            <a:off x="942261" y="1668209"/>
            <a:ext cx="837635" cy="16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7200" rIns="7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 역할</a:t>
            </a:r>
          </a:p>
        </p:txBody>
      </p:sp>
      <p:sp>
        <p:nvSpPr>
          <p:cNvPr id="21" name="배너 글"/>
          <p:cNvSpPr>
            <a:spLocks noGrp="1"/>
          </p:cNvSpPr>
          <p:nvPr>
            <p:ph type="body" sz="quarter" idx="25"/>
          </p:nvPr>
        </p:nvSpPr>
        <p:spPr>
          <a:xfrm>
            <a:off x="1834678" y="1613426"/>
            <a:ext cx="5024105" cy="273913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400" b="1" spc="-7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합리적 수요산정·체계적 공급여건 마련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211 서사 · 첨단산단 최적 용수공급방안(그간의 성과 → 확대 배너 → 지방권 첨단산단 4건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4037956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첨단산단 특성과 입지여건을 고려, 최적 용수공급방안 마련·사업 추진</a:t>
            </a:r>
          </a:p>
        </p:txBody>
      </p:sp>
      <p:sp>
        <p:nvSpPr>
          <p:cNvPr id="12" name="태그칩"/>
          <p:cNvSpPr/>
          <p:nvPr/>
        </p:nvSpPr>
        <p:spPr>
          <a:xfrm>
            <a:off x="4673434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673434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표 외곽"/>
          <p:cNvSpPr/>
          <p:nvPr/>
        </p:nvSpPr>
        <p:spPr>
          <a:xfrm>
            <a:off x="536870" y="1051826"/>
            <a:ext cx="6300000" cy="343487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547826" y="1068261"/>
            <a:ext cx="580696" cy="11066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068261"/>
            <a:ext cx="580696" cy="11066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그간의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 과</a:t>
            </a:r>
          </a:p>
        </p:txBody>
      </p:sp>
      <p:sp>
        <p:nvSpPr>
          <p:cNvPr id="17" name="머리칸"/>
          <p:cNvSpPr/>
          <p:nvPr/>
        </p:nvSpPr>
        <p:spPr>
          <a:xfrm>
            <a:off x="1161391" y="109017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8" name="머리칸"/>
          <p:cNvSpPr>
            <a:spLocks noGrp="1"/>
          </p:cNvSpPr>
          <p:nvPr>
            <p:ph type="body" sz="quarter" idx="23"/>
          </p:nvPr>
        </p:nvSpPr>
        <p:spPr>
          <a:xfrm>
            <a:off x="1161391" y="109017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’23년 정부  첨단산업 육성전략 발표</a:t>
            </a:r>
          </a:p>
        </p:txBody>
      </p:sp>
      <p:sp>
        <p:nvSpPr>
          <p:cNvPr id="19" name="머리칸"/>
          <p:cNvSpPr/>
          <p:nvPr/>
        </p:nvSpPr>
        <p:spPr>
          <a:xfrm>
            <a:off x="3985435" y="1090174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0" name="머리칸"/>
          <p:cNvSpPr>
            <a:spLocks noGrp="1"/>
          </p:cNvSpPr>
          <p:nvPr>
            <p:ph type="body" sz="quarter" idx="24"/>
          </p:nvPr>
        </p:nvSpPr>
        <p:spPr>
          <a:xfrm>
            <a:off x="3985435" y="1090174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~’24년 선도  용인반도체 첨단산단 조성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5"/>
          </p:nvPr>
        </p:nvSpPr>
        <p:spPr>
          <a:xfrm>
            <a:off x="1172348" y="1331217"/>
            <a:ext cx="2802130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정부는 ‘용수 확보’ 계획없이 첨단산단(27개소) 지정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→ 적기 인프라 구축 어려움 가중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6"/>
          </p:nvPr>
        </p:nvSpPr>
        <p:spPr>
          <a:xfrm>
            <a:off x="3996391" y="1331217"/>
            <a:ext cx="2802130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발전댐(화천댐) 연계, 용수공급방안 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반도체클러스터 용수공급 사업 신속 추진 → 국가산단(삼성), 일반산단(SK hynix) 통합기반 마련</a:t>
            </a:r>
          </a:p>
        </p:txBody>
      </p:sp>
      <p:cxnSp>
        <p:nvCxnSpPr>
          <p:cNvPr id="23" name="Connector 15"/>
          <p:cNvCxnSpPr/>
          <p:nvPr/>
        </p:nvCxnSpPr>
        <p:spPr>
          <a:xfrm>
            <a:off x="3985435" y="1364087"/>
            <a:ext cx="0" cy="536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4" name="배너"/>
          <p:cNvSpPr/>
          <p:nvPr/>
        </p:nvSpPr>
        <p:spPr>
          <a:xfrm>
            <a:off x="1161391" y="1950261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5" name="배너"/>
          <p:cNvSpPr>
            <a:spLocks noGrp="1"/>
          </p:cNvSpPr>
          <p:nvPr>
            <p:ph type="body" sz="quarter" idx="27"/>
          </p:nvPr>
        </p:nvSpPr>
        <p:spPr>
          <a:xfrm>
            <a:off x="1161391" y="1950261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확대: 용인반도체 통합용수공급방안 확정에 이어 ‘지방권 첨단산단’ 공급방안 선제적 대응</a:t>
            </a:r>
          </a:p>
        </p:txBody>
      </p:sp>
      <p:sp>
        <p:nvSpPr>
          <p:cNvPr id="26" name="레일"/>
          <p:cNvSpPr/>
          <p:nvPr/>
        </p:nvSpPr>
        <p:spPr>
          <a:xfrm>
            <a:off x="547826" y="2191304"/>
            <a:ext cx="580696" cy="2278957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7" name="레일"/>
          <p:cNvSpPr>
            <a:spLocks noGrp="1"/>
          </p:cNvSpPr>
          <p:nvPr>
            <p:ph type="body" sz="quarter" idx="28"/>
          </p:nvPr>
        </p:nvSpPr>
        <p:spPr>
          <a:xfrm>
            <a:off x="547826" y="2191304"/>
            <a:ext cx="580696" cy="227895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지방권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첨단산단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용수공급</a:t>
            </a:r>
          </a:p>
        </p:txBody>
      </p:sp>
      <p:sp>
        <p:nvSpPr>
          <p:cNvPr id="28" name="레일 삼각형"/>
          <p:cNvSpPr/>
          <p:nvPr/>
        </p:nvSpPr>
        <p:spPr>
          <a:xfrm>
            <a:off x="547826" y="2191304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머리칸"/>
          <p:cNvSpPr/>
          <p:nvPr/>
        </p:nvSpPr>
        <p:spPr>
          <a:xfrm>
            <a:off x="1161391" y="2213217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0" name="머리칸"/>
          <p:cNvSpPr>
            <a:spLocks noGrp="1"/>
          </p:cNvSpPr>
          <p:nvPr>
            <p:ph type="body" sz="quarter" idx="29"/>
          </p:nvPr>
        </p:nvSpPr>
        <p:spPr>
          <a:xfrm>
            <a:off x="1161391" y="2213217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용인 반도체 클러스터(’25년 추진계획 변경)</a:t>
            </a:r>
          </a:p>
        </p:txBody>
      </p:sp>
      <p:sp>
        <p:nvSpPr>
          <p:cNvPr id="31" name="머리칸"/>
          <p:cNvSpPr/>
          <p:nvPr/>
        </p:nvSpPr>
        <p:spPr>
          <a:xfrm>
            <a:off x="3985435" y="2213217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2" name="머리칸"/>
          <p:cNvSpPr>
            <a:spLocks noGrp="1"/>
          </p:cNvSpPr>
          <p:nvPr>
            <p:ph type="body" sz="quarter" idx="30"/>
          </p:nvPr>
        </p:nvSpPr>
        <p:spPr>
          <a:xfrm>
            <a:off x="3985435" y="2213217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고흥 우주항공 산단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1"/>
          </p:nvPr>
        </p:nvSpPr>
        <p:spPr>
          <a:xfrm>
            <a:off x="1172348" y="2454261"/>
            <a:ext cx="2802130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반도체 산업 적기 추진 기반 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관로통합: 관로위치 조정 및 3→2열로 통합, 사업비 0.25조원 절감(타당성조사 완료)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2"/>
          </p:nvPr>
        </p:nvSpPr>
        <p:spPr>
          <a:xfrm>
            <a:off x="3996391" y="2454261"/>
            <a:ext cx="2802130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사업기간 2년 단축 + 사업비 363억원 절감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기업니즈: 원거리의 광역(상) 공급(사업기간 7년, 767억원) / 개선: 인근의 지방(상) 개량·공급(사업기간 5년, 404억원)</a:t>
            </a:r>
          </a:p>
        </p:txBody>
      </p:sp>
      <p:cxnSp>
        <p:nvCxnSpPr>
          <p:cNvPr id="35" name="Connector 23"/>
          <p:cNvCxnSpPr/>
          <p:nvPr/>
        </p:nvCxnSpPr>
        <p:spPr>
          <a:xfrm>
            <a:off x="3985435" y="2487130"/>
            <a:ext cx="0" cy="81078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6" name="머리칸"/>
          <p:cNvSpPr/>
          <p:nvPr/>
        </p:nvSpPr>
        <p:spPr>
          <a:xfrm>
            <a:off x="1161391" y="3347217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7" name="머리칸"/>
          <p:cNvSpPr>
            <a:spLocks noGrp="1"/>
          </p:cNvSpPr>
          <p:nvPr>
            <p:ph type="body" sz="quarter" idx="33"/>
          </p:nvPr>
        </p:nvSpPr>
        <p:spPr>
          <a:xfrm>
            <a:off x="1161391" y="3347217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울진 원자력수소 산단</a:t>
            </a:r>
          </a:p>
        </p:txBody>
      </p:sp>
      <p:sp>
        <p:nvSpPr>
          <p:cNvPr id="38" name="머리칸"/>
          <p:cNvSpPr/>
          <p:nvPr/>
        </p:nvSpPr>
        <p:spPr>
          <a:xfrm>
            <a:off x="3985435" y="3347217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39" name="머리칸"/>
          <p:cNvSpPr>
            <a:spLocks noGrp="1"/>
          </p:cNvSpPr>
          <p:nvPr>
            <p:ph type="body" sz="quarter" idx="34"/>
          </p:nvPr>
        </p:nvSpPr>
        <p:spPr>
          <a:xfrm>
            <a:off x="3985435" y="3347217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울산 샤힌 프로젝트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35"/>
          </p:nvPr>
        </p:nvSpPr>
        <p:spPr>
          <a:xfrm>
            <a:off x="1172348" y="3588261"/>
            <a:ext cx="2802130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수소원료인 물 단가 절감, 산업경쟁력 제고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기업니즈: 해수담수화 공급(고비용) 수요량 40천톤/일, 사업비 1,554억원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개선: 수요 재추정, 지방수원 공급활용 수요량 28천톤/일, 1,268억원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36"/>
          </p:nvPr>
        </p:nvSpPr>
        <p:spPr>
          <a:xfrm>
            <a:off x="3996391" y="3588261"/>
            <a:ext cx="2802130" cy="87652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 니즈 반영, 산업시설 적기 가동 가능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기업니즈: 첨단석유화학 플랜트 조기 가동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개선: 국가계획 반영·국고 조기 확보 → 공급시기 1년 단축</a:t>
            </a:r>
          </a:p>
        </p:txBody>
      </p:sp>
      <p:cxnSp>
        <p:nvCxnSpPr>
          <p:cNvPr id="42" name="Connector 28"/>
          <p:cNvCxnSpPr/>
          <p:nvPr/>
        </p:nvCxnSpPr>
        <p:spPr>
          <a:xfrm>
            <a:off x="3985435" y="3621130"/>
            <a:ext cx="0" cy="81078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212 서사 · 산업단지 물공급 인프라 사전 검토 가이드라인(현황 분석 → 제도개선 + 추진성과 → 기대효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4030066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산업단지 출발은 물길부터, 물공급 인프라 사전 검토 가이드라인 마련</a:t>
            </a:r>
          </a:p>
        </p:txBody>
      </p:sp>
      <p:sp>
        <p:nvSpPr>
          <p:cNvPr id="11" name="태그칩"/>
          <p:cNvSpPr/>
          <p:nvPr/>
        </p:nvSpPr>
        <p:spPr>
          <a:xfrm>
            <a:off x="4851806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4851806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표 외곽"/>
          <p:cNvSpPr/>
          <p:nvPr/>
        </p:nvSpPr>
        <p:spPr>
          <a:xfrm>
            <a:off x="723130" y="1062783"/>
            <a:ext cx="6300000" cy="1684643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레일"/>
          <p:cNvSpPr/>
          <p:nvPr/>
        </p:nvSpPr>
        <p:spPr>
          <a:xfrm>
            <a:off x="734087" y="1079217"/>
            <a:ext cx="580696" cy="40820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079217"/>
            <a:ext cx="580696" cy="40820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 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분 석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3"/>
          </p:nvPr>
        </p:nvSpPr>
        <p:spPr>
          <a:xfrm>
            <a:off x="1358609" y="1101130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용인 반도체산단 조성에서 얻은 교훈 → 산업단지 조성의 핵심은 ‘인프라’ 확보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4"/>
          </p:nvPr>
        </p:nvSpPr>
        <p:spPr>
          <a:xfrm>
            <a:off x="4182652" y="1101130"/>
            <a:ext cx="2802130" cy="350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현실: 先산단지정·後인프라 검토 방식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용수 확보 불가시, 산단 조성에 난항</a:t>
            </a:r>
          </a:p>
        </p:txBody>
      </p:sp>
      <p:cxnSp>
        <p:nvCxnSpPr>
          <p:cNvPr id="18" name="Connector 10"/>
          <p:cNvCxnSpPr/>
          <p:nvPr/>
        </p:nvCxnSpPr>
        <p:spPr>
          <a:xfrm>
            <a:off x="4171696" y="1134000"/>
            <a:ext cx="0" cy="28487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19" name="레일"/>
          <p:cNvSpPr/>
          <p:nvPr/>
        </p:nvSpPr>
        <p:spPr>
          <a:xfrm>
            <a:off x="734087" y="1503861"/>
            <a:ext cx="580696" cy="1227130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20" name="레일"/>
          <p:cNvSpPr>
            <a:spLocks noGrp="1"/>
          </p:cNvSpPr>
          <p:nvPr>
            <p:ph type="body" sz="quarter" idx="25"/>
          </p:nvPr>
        </p:nvSpPr>
        <p:spPr>
          <a:xfrm>
            <a:off x="734087" y="1503861"/>
            <a:ext cx="580696" cy="122713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제도개선</a:t>
            </a:r>
          </a:p>
        </p:txBody>
      </p:sp>
      <p:sp>
        <p:nvSpPr>
          <p:cNvPr id="21" name="레일 삼각형"/>
          <p:cNvSpPr/>
          <p:nvPr/>
        </p:nvSpPr>
        <p:spPr>
          <a:xfrm>
            <a:off x="734086" y="1503860"/>
            <a:ext cx="580696" cy="131479"/>
          </a:xfrm>
          <a:custGeom>
            <a:avLst/>
            <a:gdLst/>
            <a:ahLst/>
            <a:cxnLst/>
            <a:rect l="l" t="t" r="r" b="b"/>
            <a:pathLst>
              <a:path w="580696" h="131479">
                <a:moveTo>
                  <a:pt x="0" y="0"/>
                </a:moveTo>
                <a:lnTo>
                  <a:pt x="580696" y="0"/>
                </a:lnTo>
                <a:lnTo>
                  <a:pt x="290348" y="131479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2" name="배너"/>
          <p:cNvSpPr/>
          <p:nvPr/>
        </p:nvSpPr>
        <p:spPr>
          <a:xfrm>
            <a:off x="1347652" y="1525774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3" name="배너"/>
          <p:cNvSpPr>
            <a:spLocks noGrp="1"/>
          </p:cNvSpPr>
          <p:nvPr>
            <p:ph type="body" sz="quarter" idx="26"/>
          </p:nvPr>
        </p:nvSpPr>
        <p:spPr>
          <a:xfrm>
            <a:off x="1347652" y="1525774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산단 계획부터 인프라를 검토하도록 ‘산업입지 수급계획 수립 국가기준’ 마련(’25.10)</a:t>
            </a:r>
          </a:p>
        </p:txBody>
      </p:sp>
      <p:sp>
        <p:nvSpPr>
          <p:cNvPr id="24" name="머리칸"/>
          <p:cNvSpPr/>
          <p:nvPr/>
        </p:nvSpPr>
        <p:spPr>
          <a:xfrm>
            <a:off x="1347652" y="1761339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5" name="머리칸"/>
          <p:cNvSpPr>
            <a:spLocks noGrp="1"/>
          </p:cNvSpPr>
          <p:nvPr>
            <p:ph type="body" sz="quarter" idx="27"/>
          </p:nvPr>
        </p:nvSpPr>
        <p:spPr>
          <a:xfrm>
            <a:off x="1347652" y="1761339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산업입지별 용수 수요산정 방법 + 시기 제안(→국토부)</a:t>
            </a:r>
          </a:p>
        </p:txBody>
      </p:sp>
      <p:sp>
        <p:nvSpPr>
          <p:cNvPr id="26" name="머리칸"/>
          <p:cNvSpPr/>
          <p:nvPr/>
        </p:nvSpPr>
        <p:spPr>
          <a:xfrm>
            <a:off x="4171696" y="1761339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7" name="머리칸"/>
          <p:cNvSpPr>
            <a:spLocks noGrp="1"/>
          </p:cNvSpPr>
          <p:nvPr>
            <p:ph type="body" sz="quarter" idx="28"/>
          </p:nvPr>
        </p:nvSpPr>
        <p:spPr>
          <a:xfrm>
            <a:off x="4171696" y="1761339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29"/>
          </p:nvPr>
        </p:nvSpPr>
        <p:spPr>
          <a:xfrm>
            <a:off x="1358609" y="2002383"/>
            <a:ext cx="2802130" cy="723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용수수요: 업종별 추정(업종별 원단위 × 부지 면적)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확보계획: 수요량 ↔ 지역 물여유량 비교(부족시 수립)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산정시기: 산업단지 조성 최초 계획 수립시 검토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0"/>
          </p:nvPr>
        </p:nvSpPr>
        <p:spPr>
          <a:xfrm>
            <a:off x="4182652" y="2002383"/>
            <a:ext cx="2802130" cy="72313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전국 17개 시·도 제5차 산업입지 수급계획 즉시 반영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산업단지 수급계획 수립(용수·전력 인프라 검토) → 산업단지 지정 → 산업단지 계획승인</a:t>
            </a:r>
          </a:p>
        </p:txBody>
      </p:sp>
      <p:cxnSp>
        <p:nvCxnSpPr>
          <p:cNvPr id="30" name="Connector 18"/>
          <p:cNvCxnSpPr/>
          <p:nvPr/>
        </p:nvCxnSpPr>
        <p:spPr>
          <a:xfrm>
            <a:off x="4171696" y="2035252"/>
            <a:ext cx="0" cy="657391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주요성과 박스"/>
          <p:cNvSpPr/>
          <p:nvPr/>
        </p:nvSpPr>
        <p:spPr>
          <a:xfrm>
            <a:off x="723130" y="2824122"/>
            <a:ext cx="6300000" cy="311478"/>
          </a:xfrm>
          <a:prstGeom prst="rect">
            <a:avLst/>
          </a:prstGeom>
          <a:solidFill>
            <a:srgbClr val="EFF9FF"/>
          </a:solidFill>
          <a:ln w="12700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32" name="주요성과 라벨"/>
          <p:cNvSpPr/>
          <p:nvPr/>
        </p:nvSpPr>
        <p:spPr>
          <a:xfrm>
            <a:off x="756000" y="2856991"/>
            <a:ext cx="657391" cy="245739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3" name="주요성과 라벨"/>
          <p:cNvSpPr>
            <a:spLocks noGrp="1"/>
          </p:cNvSpPr>
          <p:nvPr>
            <p:ph type="body" sz="quarter" idx="31"/>
          </p:nvPr>
        </p:nvSpPr>
        <p:spPr>
          <a:xfrm>
            <a:off x="756000" y="2856991"/>
            <a:ext cx="657391" cy="245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기대효과</a:t>
            </a:r>
          </a:p>
        </p:txBody>
      </p:sp>
      <p:sp>
        <p:nvSpPr>
          <p:cNvPr id="34" name="주요성과 문구"/>
          <p:cNvSpPr>
            <a:spLocks noGrp="1"/>
          </p:cNvSpPr>
          <p:nvPr>
            <p:ph type="body" sz="quarter" idx="32"/>
          </p:nvPr>
        </p:nvSpPr>
        <p:spPr>
          <a:xfrm>
            <a:off x="1501043" y="2840557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인프라 적기 구축을 통한 첨단산단의 원활한 조성으로 국가 산업경쟁력 강화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213 서사 · 니즈의 일치 → 신정부 정책 → 로드맵(초순수 3자 협력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5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글로벌 기업이 독점한 초순수 분야, K-water 중심으로 개척</a:t>
            </a:r>
          </a:p>
        </p:txBody>
      </p:sp>
      <p:sp>
        <p:nvSpPr>
          <p:cNvPr id="15" name="번호 띠 칩"/>
          <p:cNvSpPr/>
          <p:nvPr/>
        </p:nvSpPr>
        <p:spPr>
          <a:xfrm>
            <a:off x="6265613" y="832696"/>
            <a:ext cx="505517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번호 띠 칩"/>
          <p:cNvSpPr>
            <a:spLocks noGrp="1"/>
          </p:cNvSpPr>
          <p:nvPr>
            <p:ph type="body" sz="quarter" idx="22"/>
          </p:nvPr>
        </p:nvSpPr>
        <p:spPr>
          <a:xfrm>
            <a:off x="6265613" y="832696"/>
            <a:ext cx="505517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7" name="표 외곽"/>
          <p:cNvSpPr/>
          <p:nvPr/>
        </p:nvSpPr>
        <p:spPr>
          <a:xfrm>
            <a:off x="536870" y="1117565"/>
            <a:ext cx="6300000" cy="1802504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레일"/>
          <p:cNvSpPr/>
          <p:nvPr/>
        </p:nvSpPr>
        <p:spPr>
          <a:xfrm>
            <a:off x="547826" y="1134000"/>
            <a:ext cx="580696" cy="575217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9" name="레일"/>
          <p:cNvSpPr>
            <a:spLocks noGrp="1"/>
          </p:cNvSpPr>
          <p:nvPr>
            <p:ph type="body" sz="quarter" idx="23"/>
          </p:nvPr>
        </p:nvSpPr>
        <p:spPr>
          <a:xfrm>
            <a:off x="547826" y="1134000"/>
            <a:ext cx="580696" cy="57521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니즈의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일 치</a:t>
            </a:r>
          </a:p>
        </p:txBody>
      </p:sp>
      <p:sp>
        <p:nvSpPr>
          <p:cNvPr id="20" name="머리칸"/>
          <p:cNvSpPr/>
          <p:nvPr/>
        </p:nvSpPr>
        <p:spPr>
          <a:xfrm>
            <a:off x="1161391" y="1155913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1" name="머리칸"/>
          <p:cNvSpPr>
            <a:spLocks noGrp="1"/>
          </p:cNvSpPr>
          <p:nvPr>
            <p:ph type="body" sz="quarter" idx="24"/>
          </p:nvPr>
        </p:nvSpPr>
        <p:spPr>
          <a:xfrm>
            <a:off x="1161391" y="1155913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초순수 수요기업(반도체 등)</a:t>
            </a:r>
          </a:p>
        </p:txBody>
      </p:sp>
      <p:sp>
        <p:nvSpPr>
          <p:cNvPr id="22" name="머리칸"/>
          <p:cNvSpPr/>
          <p:nvPr/>
        </p:nvSpPr>
        <p:spPr>
          <a:xfrm>
            <a:off x="3044087" y="1155913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3" name="머리칸"/>
          <p:cNvSpPr>
            <a:spLocks noGrp="1"/>
          </p:cNvSpPr>
          <p:nvPr>
            <p:ph type="body" sz="quarter" idx="25"/>
          </p:nvPr>
        </p:nvSpPr>
        <p:spPr>
          <a:xfrm>
            <a:off x="3044087" y="1155913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초순수 협력기업(시공·장비 등)</a:t>
            </a:r>
          </a:p>
        </p:txBody>
      </p:sp>
      <p:sp>
        <p:nvSpPr>
          <p:cNvPr id="24" name="머리칸"/>
          <p:cNvSpPr/>
          <p:nvPr/>
        </p:nvSpPr>
        <p:spPr>
          <a:xfrm>
            <a:off x="4926783" y="1155913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5" name="머리칸"/>
          <p:cNvSpPr>
            <a:spLocks noGrp="1"/>
          </p:cNvSpPr>
          <p:nvPr>
            <p:ph type="body" sz="quarter" idx="26"/>
          </p:nvPr>
        </p:nvSpPr>
        <p:spPr>
          <a:xfrm>
            <a:off x="4926783" y="1155913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7"/>
          </p:nvPr>
        </p:nvSpPr>
        <p:spPr>
          <a:xfrm>
            <a:off x="1172348" y="1396957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안정적 공급망 확보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28"/>
          </p:nvPr>
        </p:nvSpPr>
        <p:spPr>
          <a:xfrm>
            <a:off x="3055043" y="1396957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개발기술 검증·실증</a:t>
            </a:r>
          </a:p>
        </p:txBody>
      </p:sp>
      <p:cxnSp>
        <p:nvCxnSpPr>
          <p:cNvPr id="28" name="Connector 19"/>
          <p:cNvCxnSpPr/>
          <p:nvPr/>
        </p:nvCxnSpPr>
        <p:spPr>
          <a:xfrm>
            <a:off x="3044087" y="1429826"/>
            <a:ext cx="0" cy="24104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9" name="칸 본문"/>
          <p:cNvSpPr>
            <a:spLocks noGrp="1"/>
          </p:cNvSpPr>
          <p:nvPr>
            <p:ph type="body" sz="quarter" idx="29"/>
          </p:nvPr>
        </p:nvSpPr>
        <p:spPr>
          <a:xfrm>
            <a:off x="4937739" y="1396957"/>
            <a:ext cx="1860783" cy="30678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통합물관리 업역 확대</a:t>
            </a:r>
          </a:p>
        </p:txBody>
      </p:sp>
      <p:cxnSp>
        <p:nvCxnSpPr>
          <p:cNvPr id="30" name="Connector 21"/>
          <p:cNvCxnSpPr/>
          <p:nvPr/>
        </p:nvCxnSpPr>
        <p:spPr>
          <a:xfrm>
            <a:off x="4926783" y="1429826"/>
            <a:ext cx="0" cy="24104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1" name="레일"/>
          <p:cNvSpPr/>
          <p:nvPr/>
        </p:nvSpPr>
        <p:spPr>
          <a:xfrm>
            <a:off x="547826" y="1725652"/>
            <a:ext cx="580696" cy="384887"/>
          </a:xfrm>
          <a:prstGeom prst="rect">
            <a:avLst/>
          </a:prstGeom>
          <a:pattFill prst="trellis">
            <a:fgClr>
              <a:srgbClr val="00BEC2"/>
            </a:fgClr>
            <a:bgClr>
              <a:srgbClr val="00B0B4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2" name="레일"/>
          <p:cNvSpPr>
            <a:spLocks noGrp="1"/>
          </p:cNvSpPr>
          <p:nvPr>
            <p:ph type="body" sz="quarter" idx="30"/>
          </p:nvPr>
        </p:nvSpPr>
        <p:spPr>
          <a:xfrm>
            <a:off x="547826" y="1725652"/>
            <a:ext cx="580696" cy="3848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 향</a:t>
            </a:r>
          </a:p>
        </p:txBody>
      </p:sp>
      <p:sp>
        <p:nvSpPr>
          <p:cNvPr id="33" name="레일 삼각형"/>
          <p:cNvSpPr/>
          <p:nvPr/>
        </p:nvSpPr>
        <p:spPr>
          <a:xfrm>
            <a:off x="547826" y="1725652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4" name="배너"/>
          <p:cNvSpPr/>
          <p:nvPr/>
        </p:nvSpPr>
        <p:spPr>
          <a:xfrm>
            <a:off x="1161391" y="1747565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5" name="배너"/>
          <p:cNvSpPr>
            <a:spLocks noGrp="1"/>
          </p:cNvSpPr>
          <p:nvPr>
            <p:ph type="body" sz="quarter" idx="31"/>
          </p:nvPr>
        </p:nvSpPr>
        <p:spPr>
          <a:xfrm>
            <a:off x="1161391" y="1747565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新정부의 ‘안정적인 반도체 초순수 공급체계 구축’으로 사업 가속화(국정과제 43 국가 경제 적응력 강화)</a:t>
            </a:r>
          </a:p>
        </p:txBody>
      </p:sp>
      <p:sp>
        <p:nvSpPr>
          <p:cNvPr id="36" name="레일"/>
          <p:cNvSpPr/>
          <p:nvPr/>
        </p:nvSpPr>
        <p:spPr>
          <a:xfrm>
            <a:off x="547826" y="2126974"/>
            <a:ext cx="580696" cy="776661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7" name="레일"/>
          <p:cNvSpPr>
            <a:spLocks noGrp="1"/>
          </p:cNvSpPr>
          <p:nvPr>
            <p:ph type="body" sz="quarter" idx="32"/>
          </p:nvPr>
        </p:nvSpPr>
        <p:spPr>
          <a:xfrm>
            <a:off x="547826" y="2126974"/>
            <a:ext cx="580696" cy="7766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로드맵</a:t>
            </a:r>
          </a:p>
        </p:txBody>
      </p:sp>
      <p:sp>
        <p:nvSpPr>
          <p:cNvPr id="38" name="레일 삼각형"/>
          <p:cNvSpPr/>
          <p:nvPr/>
        </p:nvSpPr>
        <p:spPr>
          <a:xfrm>
            <a:off x="547826" y="2126973"/>
            <a:ext cx="580695" cy="131479"/>
          </a:xfrm>
          <a:custGeom>
            <a:avLst/>
            <a:gdLst/>
            <a:ahLst/>
            <a:cxnLst/>
            <a:rect l="l" t="t" r="r" b="b"/>
            <a:pathLst>
              <a:path w="580695" h="131479">
                <a:moveTo>
                  <a:pt x="0" y="0"/>
                </a:moveTo>
                <a:lnTo>
                  <a:pt x="580695" y="0"/>
                </a:lnTo>
                <a:lnTo>
                  <a:pt x="290347" y="131479"/>
                </a:lnTo>
                <a:close/>
              </a:path>
            </a:pathLst>
          </a:custGeom>
          <a:solidFill>
            <a:srgbClr val="00B0B4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9" name="단계"/>
          <p:cNvSpPr/>
          <p:nvPr/>
        </p:nvSpPr>
        <p:spPr>
          <a:xfrm>
            <a:off x="1161391" y="2148887"/>
            <a:ext cx="1882696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0" name="단계"/>
          <p:cNvSpPr>
            <a:spLocks noGrp="1"/>
          </p:cNvSpPr>
          <p:nvPr>
            <p:ph type="body" sz="quarter" idx="33"/>
          </p:nvPr>
        </p:nvSpPr>
        <p:spPr>
          <a:xfrm>
            <a:off x="1161391" y="2148887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~’24 기술완성·사업기반조성</a:t>
            </a:r>
          </a:p>
        </p:txBody>
      </p:sp>
      <p:sp>
        <p:nvSpPr>
          <p:cNvPr id="41" name="단계"/>
          <p:cNvSpPr/>
          <p:nvPr/>
        </p:nvSpPr>
        <p:spPr>
          <a:xfrm>
            <a:off x="3044087" y="2148887"/>
            <a:ext cx="1882696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2" name="단계"/>
          <p:cNvSpPr>
            <a:spLocks noGrp="1"/>
          </p:cNvSpPr>
          <p:nvPr>
            <p:ph type="body" sz="quarter" idx="34"/>
          </p:nvPr>
        </p:nvSpPr>
        <p:spPr>
          <a:xfrm>
            <a:off x="3044087" y="2148887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 성능검증·사업진출</a:t>
            </a:r>
          </a:p>
        </p:txBody>
      </p:sp>
      <p:sp>
        <p:nvSpPr>
          <p:cNvPr id="43" name="단계"/>
          <p:cNvSpPr/>
          <p:nvPr/>
        </p:nvSpPr>
        <p:spPr>
          <a:xfrm>
            <a:off x="4926783" y="2148887"/>
            <a:ext cx="1882696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44" name="단계"/>
          <p:cNvSpPr>
            <a:spLocks noGrp="1"/>
          </p:cNvSpPr>
          <p:nvPr>
            <p:ph type="body" sz="quarter" idx="35"/>
          </p:nvPr>
        </p:nvSpPr>
        <p:spPr>
          <a:xfrm>
            <a:off x="4926783" y="2148887"/>
            <a:ext cx="1882696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’26~ 기술고도화·사업확대</a:t>
            </a:r>
          </a:p>
        </p:txBody>
      </p:sp>
      <p:sp>
        <p:nvSpPr>
          <p:cNvPr id="45" name="단계 삼각형"/>
          <p:cNvSpPr/>
          <p:nvPr/>
        </p:nvSpPr>
        <p:spPr>
          <a:xfrm>
            <a:off x="3044086" y="2148886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6" name="단계 삼각형"/>
          <p:cNvSpPr/>
          <p:nvPr/>
        </p:nvSpPr>
        <p:spPr>
          <a:xfrm>
            <a:off x="4926782" y="2148886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47" name="칸 본문"/>
          <p:cNvSpPr>
            <a:spLocks noGrp="1"/>
          </p:cNvSpPr>
          <p:nvPr>
            <p:ph type="body" sz="quarter" idx="36"/>
          </p:nvPr>
        </p:nvSpPr>
        <p:spPr>
          <a:xfrm>
            <a:off x="1172348" y="2400887"/>
            <a:ext cx="1860783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R&amp;D: 국산화(설계·시공·운영·장비)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사업화: 사업진출 협약 체결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37"/>
          </p:nvPr>
        </p:nvSpPr>
        <p:spPr>
          <a:xfrm>
            <a:off x="3055043" y="2400887"/>
            <a:ext cx="1860783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實공급 기반 장기성능 검증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초순수 운영사업 최초 진출</a:t>
            </a:r>
          </a:p>
        </p:txBody>
      </p:sp>
      <p:cxnSp>
        <p:nvCxnSpPr>
          <p:cNvPr id="49" name="Connector 34"/>
          <p:cNvCxnSpPr/>
          <p:nvPr/>
        </p:nvCxnSpPr>
        <p:spPr>
          <a:xfrm>
            <a:off x="3044087" y="2433757"/>
            <a:ext cx="0" cy="4315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50" name="칸 본문"/>
          <p:cNvSpPr>
            <a:spLocks noGrp="1"/>
          </p:cNvSpPr>
          <p:nvPr>
            <p:ph type="body" sz="quarter" idx="38"/>
          </p:nvPr>
        </p:nvSpPr>
        <p:spPr>
          <a:xfrm>
            <a:off x="4937739" y="2400887"/>
            <a:ext cx="1860783" cy="497270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국산장비 고도화 R&amp;D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용인산단 통합 물서비스</a:t>
            </a:r>
          </a:p>
        </p:txBody>
      </p:sp>
      <p:cxnSp>
        <p:nvCxnSpPr>
          <p:cNvPr id="51" name="Connector 36"/>
          <p:cNvCxnSpPr/>
          <p:nvPr/>
        </p:nvCxnSpPr>
        <p:spPr>
          <a:xfrm>
            <a:off x="4926783" y="2433757"/>
            <a:ext cx="0" cy="43153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214 서사 · 1차 국산화 R&amp;D 성공 → 새로운 도전(기술자립 주도: 마무리 → 참여기업 성과 → 2차 기획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4730350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1차 국산화 R&amp;D(’21~’25) 성공을 통한 확신, 완전 기술자립을 위한 새로운 도전</a:t>
            </a:r>
          </a:p>
        </p:txBody>
      </p:sp>
      <p:sp>
        <p:nvSpPr>
          <p:cNvPr id="11" name="태그칩"/>
          <p:cNvSpPr/>
          <p:nvPr/>
        </p:nvSpPr>
        <p:spPr>
          <a:xfrm>
            <a:off x="5552090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5552090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3" name="표 외곽"/>
          <p:cNvSpPr/>
          <p:nvPr/>
        </p:nvSpPr>
        <p:spPr>
          <a:xfrm>
            <a:off x="723130" y="1062783"/>
            <a:ext cx="6300000" cy="1358609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레일"/>
          <p:cNvSpPr/>
          <p:nvPr/>
        </p:nvSpPr>
        <p:spPr>
          <a:xfrm>
            <a:off x="734087" y="1079217"/>
            <a:ext cx="580696" cy="1325739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079217"/>
            <a:ext cx="580696" cy="1325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기술자립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주 도</a:t>
            </a:r>
          </a:p>
        </p:txBody>
      </p:sp>
      <p:sp>
        <p:nvSpPr>
          <p:cNvPr id="16" name="머리칸"/>
          <p:cNvSpPr/>
          <p:nvPr/>
        </p:nvSpPr>
        <p:spPr>
          <a:xfrm>
            <a:off x="1347652" y="110113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7" name="머리칸"/>
          <p:cNvSpPr>
            <a:spLocks noGrp="1"/>
          </p:cNvSpPr>
          <p:nvPr>
            <p:ph type="body" sz="quarter" idx="23"/>
          </p:nvPr>
        </p:nvSpPr>
        <p:spPr>
          <a:xfrm>
            <a:off x="1347652" y="110113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1차 국산화 R&amp;D 성공적 마무리(’21~’25)</a:t>
            </a:r>
          </a:p>
        </p:txBody>
      </p:sp>
      <p:sp>
        <p:nvSpPr>
          <p:cNvPr id="18" name="머리칸"/>
          <p:cNvSpPr/>
          <p:nvPr/>
        </p:nvSpPr>
        <p:spPr>
          <a:xfrm>
            <a:off x="4171696" y="1101130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9" name="머리칸"/>
          <p:cNvSpPr>
            <a:spLocks noGrp="1"/>
          </p:cNvSpPr>
          <p:nvPr>
            <p:ph type="body" sz="quarter" idx="24"/>
          </p:nvPr>
        </p:nvSpPr>
        <p:spPr>
          <a:xfrm>
            <a:off x="4171696" y="1101130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 R&amp;D 참여기업 가시적 성과 창출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5"/>
          </p:nvPr>
        </p:nvSpPr>
        <p:spPr>
          <a:xfrm>
            <a:off x="1358609" y="1342174"/>
            <a:ext cx="2802130" cy="821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국산화 목표: 장비 70% + 설계·시공·운영 100%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SK실트론內 R&amp;D 시설 활용, 초순수 實공급 및 웨이퍼 생산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장기운전 신뢰 검증, 노하우 축적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6"/>
          </p:nvPr>
        </p:nvSpPr>
        <p:spPr>
          <a:xfrm>
            <a:off x="4182652" y="1342174"/>
            <a:ext cx="2802130" cy="82173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한성크린텍 — 설계+시공: 삼성전자 EPC사업 수주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SAMYANG — 장비: 군산에 300억원 시설투자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SepraTek — 장비: 삼양社와 탈기막 공동사업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— 총괄+운영: R&amp;D 연계, 전문인력 양성</a:t>
            </a:r>
          </a:p>
        </p:txBody>
      </p:sp>
      <p:cxnSp>
        <p:nvCxnSpPr>
          <p:cNvPr id="22" name="Connector 12"/>
          <p:cNvCxnSpPr/>
          <p:nvPr/>
        </p:nvCxnSpPr>
        <p:spPr>
          <a:xfrm>
            <a:off x="4171696" y="1375043"/>
            <a:ext cx="0" cy="756000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3" name="배너"/>
          <p:cNvSpPr/>
          <p:nvPr/>
        </p:nvSpPr>
        <p:spPr>
          <a:xfrm>
            <a:off x="1347652" y="2180348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24" name="배너"/>
          <p:cNvSpPr>
            <a:spLocks noGrp="1"/>
          </p:cNvSpPr>
          <p:nvPr>
            <p:ph type="body" sz="quarter" idx="27"/>
          </p:nvPr>
        </p:nvSpPr>
        <p:spPr>
          <a:xfrm>
            <a:off x="1347652" y="2180348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1차 성과 기반으로 2차 국산화 R&amp;D 기획(반도체급 실증플랜트 구축 + 장비 국산화 90% 확대)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215 서사 · 국가 초순수 생태계 육성 로드맵(정책선도: 국가전략 → 실행체계 → 전략-실행 연계 체계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4363762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반도체와 함께 커가는 물산업 경쟁력, 국가 초순수 생태계 육성 로드맵 구축</a:t>
            </a:r>
          </a:p>
        </p:txBody>
      </p:sp>
      <p:sp>
        <p:nvSpPr>
          <p:cNvPr id="12" name="태그칩"/>
          <p:cNvSpPr/>
          <p:nvPr/>
        </p:nvSpPr>
        <p:spPr>
          <a:xfrm>
            <a:off x="4999241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999241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4" name="표 외곽"/>
          <p:cNvSpPr/>
          <p:nvPr/>
        </p:nvSpPr>
        <p:spPr>
          <a:xfrm>
            <a:off x="536870" y="1051826"/>
            <a:ext cx="6300000" cy="1558643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547826" y="1068261"/>
            <a:ext cx="580696" cy="1525774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068261"/>
            <a:ext cx="580696" cy="15257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 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선 도</a:t>
            </a:r>
          </a:p>
        </p:txBody>
      </p:sp>
      <p:sp>
        <p:nvSpPr>
          <p:cNvPr id="17" name="배너"/>
          <p:cNvSpPr/>
          <p:nvPr/>
        </p:nvSpPr>
        <p:spPr>
          <a:xfrm>
            <a:off x="1161391" y="1090174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18" name="배너"/>
          <p:cNvSpPr>
            <a:spLocks noGrp="1"/>
          </p:cNvSpPr>
          <p:nvPr>
            <p:ph type="body" sz="quarter" idx="23"/>
          </p:nvPr>
        </p:nvSpPr>
        <p:spPr>
          <a:xfrm>
            <a:off x="1161391" y="1090174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반도체 산업 급부상으로 뒤늦게 발견된 ‘초순수 산업’의 가치, 국가 전략화 추진(’24.11~)</a:t>
            </a:r>
          </a:p>
        </p:txBody>
      </p:sp>
      <p:sp>
        <p:nvSpPr>
          <p:cNvPr id="19" name="머리칸"/>
          <p:cNvSpPr/>
          <p:nvPr/>
        </p:nvSpPr>
        <p:spPr>
          <a:xfrm>
            <a:off x="1161391" y="1325739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0" name="머리칸"/>
          <p:cNvSpPr>
            <a:spLocks noGrp="1"/>
          </p:cNvSpPr>
          <p:nvPr>
            <p:ph type="body" sz="quarter" idx="24"/>
          </p:nvPr>
        </p:nvSpPr>
        <p:spPr>
          <a:xfrm>
            <a:off x="1161391" y="1325739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국가전략  산업 全주기 지원 청사진 제시</a:t>
            </a:r>
          </a:p>
        </p:txBody>
      </p:sp>
      <p:sp>
        <p:nvSpPr>
          <p:cNvPr id="21" name="머리칸"/>
          <p:cNvSpPr/>
          <p:nvPr/>
        </p:nvSpPr>
        <p:spPr>
          <a:xfrm>
            <a:off x="3985435" y="1325739"/>
            <a:ext cx="2807609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2" name="머리칸"/>
          <p:cNvSpPr>
            <a:spLocks noGrp="1"/>
          </p:cNvSpPr>
          <p:nvPr>
            <p:ph type="body" sz="quarter" idx="25"/>
          </p:nvPr>
        </p:nvSpPr>
        <p:spPr>
          <a:xfrm>
            <a:off x="3985435" y="1325739"/>
            <a:ext cx="2807609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실행체계  초순수 산업 활성화 Action Plan 마련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6"/>
          </p:nvPr>
        </p:nvSpPr>
        <p:spPr>
          <a:xfrm>
            <a:off x="1172348" y="1566783"/>
            <a:ext cx="2802130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정부정책, 산·학·연 니즈 분석 기반, 「국가 초순수 전략 수립」 직접 참여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7"/>
          </p:nvPr>
        </p:nvSpPr>
        <p:spPr>
          <a:xfrm>
            <a:off x="3996391" y="1566783"/>
            <a:ext cx="2802130" cy="416348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자체TF(산업용수 활성화) 운영, 국가전략과 연계한 종합 실행계획 수립</a:t>
            </a:r>
          </a:p>
        </p:txBody>
      </p:sp>
      <p:cxnSp>
        <p:nvCxnSpPr>
          <p:cNvPr id="25" name="Connector 16"/>
          <p:cNvCxnSpPr/>
          <p:nvPr/>
        </p:nvCxnSpPr>
        <p:spPr>
          <a:xfrm>
            <a:off x="3985435" y="1599652"/>
            <a:ext cx="0" cy="350609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6" name="단계"/>
          <p:cNvSpPr/>
          <p:nvPr/>
        </p:nvSpPr>
        <p:spPr>
          <a:xfrm>
            <a:off x="1161391" y="1999565"/>
            <a:ext cx="141202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7" name="단계"/>
          <p:cNvSpPr>
            <a:spLocks noGrp="1"/>
          </p:cNvSpPr>
          <p:nvPr>
            <p:ph type="body" sz="quarter" idx="28"/>
          </p:nvPr>
        </p:nvSpPr>
        <p:spPr>
          <a:xfrm>
            <a:off x="1161391" y="1999565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자립화 및 고도화</a:t>
            </a:r>
          </a:p>
        </p:txBody>
      </p:sp>
      <p:sp>
        <p:nvSpPr>
          <p:cNvPr id="28" name="단계"/>
          <p:cNvSpPr/>
          <p:nvPr/>
        </p:nvSpPr>
        <p:spPr>
          <a:xfrm>
            <a:off x="2573413" y="1999565"/>
            <a:ext cx="1412022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9" name="단계"/>
          <p:cNvSpPr>
            <a:spLocks noGrp="1"/>
          </p:cNvSpPr>
          <p:nvPr>
            <p:ph type="body" sz="quarter" idx="29"/>
          </p:nvPr>
        </p:nvSpPr>
        <p:spPr>
          <a:xfrm>
            <a:off x="2573413" y="1999565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산업 경쟁력 강화</a:t>
            </a:r>
          </a:p>
        </p:txBody>
      </p:sp>
      <p:sp>
        <p:nvSpPr>
          <p:cNvPr id="30" name="단계"/>
          <p:cNvSpPr/>
          <p:nvPr/>
        </p:nvSpPr>
        <p:spPr>
          <a:xfrm>
            <a:off x="3985435" y="1999565"/>
            <a:ext cx="1412022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1" name="단계"/>
          <p:cNvSpPr>
            <a:spLocks noGrp="1"/>
          </p:cNvSpPr>
          <p:nvPr>
            <p:ph type="body" sz="quarter" idx="30"/>
          </p:nvPr>
        </p:nvSpPr>
        <p:spPr>
          <a:xfrm>
            <a:off x="3985435" y="1999565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❸ 시장·판로지원</a:t>
            </a:r>
          </a:p>
        </p:txBody>
      </p:sp>
      <p:sp>
        <p:nvSpPr>
          <p:cNvPr id="32" name="단계"/>
          <p:cNvSpPr/>
          <p:nvPr/>
        </p:nvSpPr>
        <p:spPr>
          <a:xfrm>
            <a:off x="5397457" y="1999565"/>
            <a:ext cx="1412022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33" name="단계"/>
          <p:cNvSpPr>
            <a:spLocks noGrp="1"/>
          </p:cNvSpPr>
          <p:nvPr>
            <p:ph type="body" sz="quarter" idx="31"/>
          </p:nvPr>
        </p:nvSpPr>
        <p:spPr>
          <a:xfrm>
            <a:off x="5397457" y="1999565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❹ 지속성장 기반구축</a:t>
            </a:r>
          </a:p>
        </p:txBody>
      </p:sp>
      <p:sp>
        <p:nvSpPr>
          <p:cNvPr id="34" name="단계 삼각형"/>
          <p:cNvSpPr/>
          <p:nvPr/>
        </p:nvSpPr>
        <p:spPr>
          <a:xfrm>
            <a:off x="2573413" y="1999565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5" name="단계 삼각형"/>
          <p:cNvSpPr/>
          <p:nvPr/>
        </p:nvSpPr>
        <p:spPr>
          <a:xfrm>
            <a:off x="3985434" y="1999565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6" name="단계 삼각형"/>
          <p:cNvSpPr/>
          <p:nvPr/>
        </p:nvSpPr>
        <p:spPr>
          <a:xfrm>
            <a:off x="5397456" y="1999565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3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2"/>
          </p:nvPr>
        </p:nvSpPr>
        <p:spPr>
          <a:xfrm>
            <a:off x="1172348" y="2251565"/>
            <a:ext cx="1390109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공공랩 구축 · 진단기술 확보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3"/>
          </p:nvPr>
        </p:nvSpPr>
        <p:spPr>
          <a:xfrm>
            <a:off x="2584370" y="2251565"/>
            <a:ext cx="1390109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전문인력 양성 · 민간기업 지원</a:t>
            </a:r>
          </a:p>
        </p:txBody>
      </p:sp>
      <p:cxnSp>
        <p:nvCxnSpPr>
          <p:cNvPr id="39" name="Connector 26"/>
          <p:cNvCxnSpPr/>
          <p:nvPr/>
        </p:nvCxnSpPr>
        <p:spPr>
          <a:xfrm>
            <a:off x="2573413" y="2284435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0" name="칸 본문"/>
          <p:cNvSpPr>
            <a:spLocks noGrp="1"/>
          </p:cNvSpPr>
          <p:nvPr>
            <p:ph type="body" sz="quarter" idx="34"/>
          </p:nvPr>
        </p:nvSpPr>
        <p:spPr>
          <a:xfrm>
            <a:off x="3996391" y="2251565"/>
            <a:ext cx="1390109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사업추진·협력</a:t>
            </a:r>
          </a:p>
        </p:txBody>
      </p:sp>
      <p:cxnSp>
        <p:nvCxnSpPr>
          <p:cNvPr id="41" name="Connector 28"/>
          <p:cNvCxnSpPr/>
          <p:nvPr/>
        </p:nvCxnSpPr>
        <p:spPr>
          <a:xfrm>
            <a:off x="3985435" y="2284435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42" name="칸 본문"/>
          <p:cNvSpPr>
            <a:spLocks noGrp="1"/>
          </p:cNvSpPr>
          <p:nvPr>
            <p:ph type="body" sz="quarter" idx="35"/>
          </p:nvPr>
        </p:nvSpPr>
        <p:spPr>
          <a:xfrm>
            <a:off x="5408413" y="2251565"/>
            <a:ext cx="1390109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국가R&amp;D 참여</a:t>
            </a:r>
          </a:p>
        </p:txBody>
      </p:sp>
      <p:cxnSp>
        <p:nvCxnSpPr>
          <p:cNvPr id="43" name="Connector 30"/>
          <p:cNvCxnSpPr/>
          <p:nvPr/>
        </p:nvCxnSpPr>
        <p:spPr>
          <a:xfrm>
            <a:off x="5397457" y="2284435"/>
            <a:ext cx="0" cy="271252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216 서사 · 국내기업 최초 초순수 운영관리 사업 진출(12년 연구 → 반도체 플랜트 → 추진성과 3칩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4030066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모두가 불가능이라 했지만, 국내기업 최초 초순수 운영관리 사업 진출</a:t>
            </a:r>
          </a:p>
        </p:txBody>
      </p:sp>
      <p:sp>
        <p:nvSpPr>
          <p:cNvPr id="11" name="태그칩"/>
          <p:cNvSpPr/>
          <p:nvPr/>
        </p:nvSpPr>
        <p:spPr>
          <a:xfrm>
            <a:off x="4851806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4851806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3" name="표 외곽"/>
          <p:cNvSpPr/>
          <p:nvPr/>
        </p:nvSpPr>
        <p:spPr>
          <a:xfrm>
            <a:off x="723130" y="1062783"/>
            <a:ext cx="6300000" cy="1580557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4" name="레일"/>
          <p:cNvSpPr/>
          <p:nvPr/>
        </p:nvSpPr>
        <p:spPr>
          <a:xfrm>
            <a:off x="734087" y="1079217"/>
            <a:ext cx="580696" cy="1547687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레일"/>
          <p:cNvSpPr>
            <a:spLocks noGrp="1"/>
          </p:cNvSpPr>
          <p:nvPr>
            <p:ph type="body" sz="quarter" idx="22"/>
          </p:nvPr>
        </p:nvSpPr>
        <p:spPr>
          <a:xfrm>
            <a:off x="734087" y="1079217"/>
            <a:ext cx="580696" cy="15476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SK hynix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초순수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운영관리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사업진출</a:t>
            </a:r>
          </a:p>
        </p:txBody>
      </p:sp>
      <p:sp>
        <p:nvSpPr>
          <p:cNvPr id="16" name="배너"/>
          <p:cNvSpPr/>
          <p:nvPr/>
        </p:nvSpPr>
        <p:spPr>
          <a:xfrm>
            <a:off x="1347652" y="1101130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17" name="배너"/>
          <p:cNvSpPr>
            <a:spLocks noGrp="1"/>
          </p:cNvSpPr>
          <p:nvPr>
            <p:ph type="body" sz="quarter" idx="23"/>
          </p:nvPr>
        </p:nvSpPr>
        <p:spPr>
          <a:xfrm>
            <a:off x="1347652" y="1101130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2012년 첫발을 디딘 K-water 초순수 연구, 13년만에 국내 반도체 기업의 파트너로 성장</a:t>
            </a:r>
          </a:p>
        </p:txBody>
      </p:sp>
      <p:sp>
        <p:nvSpPr>
          <p:cNvPr id="18" name="단계"/>
          <p:cNvSpPr/>
          <p:nvPr/>
        </p:nvSpPr>
        <p:spPr>
          <a:xfrm>
            <a:off x="1347652" y="1336696"/>
            <a:ext cx="1412022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19" name="단계"/>
          <p:cNvSpPr>
            <a:spLocks noGrp="1"/>
          </p:cNvSpPr>
          <p:nvPr>
            <p:ph type="body" sz="quarter" idx="24"/>
          </p:nvPr>
        </p:nvSpPr>
        <p:spPr>
          <a:xfrm>
            <a:off x="1347652" y="1336696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’12년 요소기술 확보</a:t>
            </a:r>
          </a:p>
        </p:txBody>
      </p:sp>
      <p:sp>
        <p:nvSpPr>
          <p:cNvPr id="20" name="단계"/>
          <p:cNvSpPr/>
          <p:nvPr/>
        </p:nvSpPr>
        <p:spPr>
          <a:xfrm>
            <a:off x="2759674" y="1336696"/>
            <a:ext cx="1412022" cy="230087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1" name="단계"/>
          <p:cNvSpPr>
            <a:spLocks noGrp="1"/>
          </p:cNvSpPr>
          <p:nvPr>
            <p:ph type="body" sz="quarter" idx="25"/>
          </p:nvPr>
        </p:nvSpPr>
        <p:spPr>
          <a:xfrm>
            <a:off x="2759674" y="1336696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’21년 생산능력 검증</a:t>
            </a:r>
          </a:p>
        </p:txBody>
      </p:sp>
      <p:sp>
        <p:nvSpPr>
          <p:cNvPr id="22" name="단계"/>
          <p:cNvSpPr/>
          <p:nvPr/>
        </p:nvSpPr>
        <p:spPr>
          <a:xfrm>
            <a:off x="4171696" y="1336696"/>
            <a:ext cx="1412022" cy="230087"/>
          </a:xfrm>
          <a:prstGeom prst="rect">
            <a:avLst/>
          </a:prstGeom>
          <a:solidFill>
            <a:srgbClr val="30C2FF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3" name="단계"/>
          <p:cNvSpPr>
            <a:spLocks noGrp="1"/>
          </p:cNvSpPr>
          <p:nvPr>
            <p:ph type="body" sz="quarter" idx="26"/>
          </p:nvPr>
        </p:nvSpPr>
        <p:spPr>
          <a:xfrm>
            <a:off x="4171696" y="1336696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사업진출</a:t>
            </a:r>
          </a:p>
        </p:txBody>
      </p:sp>
      <p:sp>
        <p:nvSpPr>
          <p:cNvPr id="24" name="단계"/>
          <p:cNvSpPr/>
          <p:nvPr/>
        </p:nvSpPr>
        <p:spPr>
          <a:xfrm>
            <a:off x="5583717" y="1336696"/>
            <a:ext cx="1412022" cy="230087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86400" rIns="86400" tIns="0" bIns="0" wrap="square"/>
          <a:lstStyle/>
          <a:p/>
        </p:txBody>
      </p:sp>
      <p:sp>
        <p:nvSpPr>
          <p:cNvPr id="25" name="단계"/>
          <p:cNvSpPr>
            <a:spLocks noGrp="1"/>
          </p:cNvSpPr>
          <p:nvPr>
            <p:ph type="body" sz="quarter" idx="27"/>
          </p:nvPr>
        </p:nvSpPr>
        <p:spPr>
          <a:xfrm>
            <a:off x="5583717" y="1336696"/>
            <a:ext cx="1412022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86400" rIns="864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’25년~ 반도체 플랜트</a:t>
            </a:r>
          </a:p>
        </p:txBody>
      </p:sp>
      <p:sp>
        <p:nvSpPr>
          <p:cNvPr id="26" name="단계 삼각형"/>
          <p:cNvSpPr/>
          <p:nvPr/>
        </p:nvSpPr>
        <p:spPr>
          <a:xfrm>
            <a:off x="2759673" y="1336695"/>
            <a:ext cx="109566" cy="230087"/>
          </a:xfrm>
          <a:custGeom>
            <a:avLst/>
            <a:gdLst/>
            <a:ahLst/>
            <a:cxnLst/>
            <a:rect l="l" t="t" r="r" b="b"/>
            <a:pathLst>
              <a:path w="109566" h="230087">
                <a:moveTo>
                  <a:pt x="0" y="0"/>
                </a:moveTo>
                <a:lnTo>
                  <a:pt x="109566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DEEE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7" name="단계 삼각형"/>
          <p:cNvSpPr/>
          <p:nvPr/>
        </p:nvSpPr>
        <p:spPr>
          <a:xfrm>
            <a:off x="4171695" y="1336695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8" name="단계 삼각형"/>
          <p:cNvSpPr/>
          <p:nvPr/>
        </p:nvSpPr>
        <p:spPr>
          <a:xfrm>
            <a:off x="5583717" y="1336695"/>
            <a:ext cx="109565" cy="230087"/>
          </a:xfrm>
          <a:custGeom>
            <a:avLst/>
            <a:gdLst/>
            <a:ahLst/>
            <a:cxnLst/>
            <a:rect l="l" t="t" r="r" b="b"/>
            <a:pathLst>
              <a:path w="109565" h="230087">
                <a:moveTo>
                  <a:pt x="0" y="0"/>
                </a:moveTo>
                <a:lnTo>
                  <a:pt x="109565" y="115044"/>
                </a:lnTo>
                <a:lnTo>
                  <a:pt x="0" y="230087"/>
                </a:lnTo>
                <a:close/>
              </a:path>
            </a:pathLst>
          </a:custGeom>
          <a:solidFill>
            <a:srgbClr val="30C2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29" name="칸 본문"/>
          <p:cNvSpPr>
            <a:spLocks noGrp="1"/>
          </p:cNvSpPr>
          <p:nvPr>
            <p:ph type="body" sz="quarter" idx="28"/>
          </p:nvPr>
        </p:nvSpPr>
        <p:spPr>
          <a:xfrm>
            <a:off x="1358609" y="1588696"/>
            <a:ext cx="1390109" cy="679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24㎥/일 → X100배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29"/>
          </p:nvPr>
        </p:nvSpPr>
        <p:spPr>
          <a:xfrm>
            <a:off x="2770630" y="1588696"/>
            <a:ext cx="1390109" cy="679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2,400㎥/일 → X10배</a:t>
            </a:r>
          </a:p>
        </p:txBody>
      </p:sp>
      <p:cxnSp>
        <p:nvCxnSpPr>
          <p:cNvPr id="31" name="Connector 18"/>
          <p:cNvCxnSpPr/>
          <p:nvPr/>
        </p:nvCxnSpPr>
        <p:spPr>
          <a:xfrm>
            <a:off x="2759674" y="1621565"/>
            <a:ext cx="0" cy="613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2" name="칸 본문"/>
          <p:cNvSpPr>
            <a:spLocks noGrp="1"/>
          </p:cNvSpPr>
          <p:nvPr>
            <p:ph type="body" sz="quarter" idx="30"/>
          </p:nvPr>
        </p:nvSpPr>
        <p:spPr>
          <a:xfrm>
            <a:off x="4182652" y="1588696"/>
            <a:ext cx="1390109" cy="679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24,400㎥/일</a:t>
            </a:r>
          </a:p>
        </p:txBody>
      </p:sp>
      <p:cxnSp>
        <p:nvCxnSpPr>
          <p:cNvPr id="33" name="Connector 20"/>
          <p:cNvCxnSpPr/>
          <p:nvPr/>
        </p:nvCxnSpPr>
        <p:spPr>
          <a:xfrm>
            <a:off x="4171696" y="1621565"/>
            <a:ext cx="0" cy="613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4" name="칸 본문"/>
          <p:cNvSpPr>
            <a:spLocks noGrp="1"/>
          </p:cNvSpPr>
          <p:nvPr>
            <p:ph type="body" sz="quarter" idx="31"/>
          </p:nvPr>
        </p:nvSpPr>
        <p:spPr>
          <a:xfrm>
            <a:off x="5594674" y="1588696"/>
            <a:ext cx="1390109" cy="67930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HBM 반도체 수요 대응 신규공장(M15X-청주) 신설 / (3월) 실시협약 → (~12월) 인계·시운전</a:t>
            </a:r>
          </a:p>
        </p:txBody>
      </p:sp>
      <p:cxnSp>
        <p:nvCxnSpPr>
          <p:cNvPr id="35" name="Connector 22"/>
          <p:cNvCxnSpPr/>
          <p:nvPr/>
        </p:nvCxnSpPr>
        <p:spPr>
          <a:xfrm>
            <a:off x="5583717" y="1621565"/>
            <a:ext cx="0" cy="61356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6" name="칸 본문"/>
          <p:cNvSpPr>
            <a:spLocks noGrp="1"/>
          </p:cNvSpPr>
          <p:nvPr>
            <p:ph type="body" sz="quarter" idx="32"/>
          </p:nvPr>
        </p:nvSpPr>
        <p:spPr>
          <a:xfrm>
            <a:off x="1358609" y="2284435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’12~’21년 파일럿플랜트: 자체연구, 장기간 기술개발 노력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3"/>
          </p:nvPr>
        </p:nvSpPr>
        <p:spPr>
          <a:xfrm>
            <a:off x="4182652" y="2284435"/>
            <a:ext cx="2802130" cy="336991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’21~’25년 실증플랜트: 국가R&amp;D, 웨이퍼 공정 實공급</a:t>
            </a:r>
          </a:p>
        </p:txBody>
      </p:sp>
      <p:cxnSp>
        <p:nvCxnSpPr>
          <p:cNvPr id="38" name="Connector 25"/>
          <p:cNvCxnSpPr/>
          <p:nvPr/>
        </p:nvCxnSpPr>
        <p:spPr>
          <a:xfrm>
            <a:off x="4171696" y="2317304"/>
            <a:ext cx="0" cy="27125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9" name="핵심성과 박스"/>
          <p:cNvSpPr/>
          <p:nvPr/>
        </p:nvSpPr>
        <p:spPr>
          <a:xfrm>
            <a:off x="723130" y="2730991"/>
            <a:ext cx="6300000" cy="491478"/>
          </a:xfrm>
          <a:prstGeom prst="rect">
            <a:avLst/>
          </a:prstGeom>
          <a:solidFill>
            <a:srgbClr val="E6FCF9"/>
          </a:solidFill>
          <a:ln w="19050">
            <a:solidFill>
              <a:srgbClr val="00BE83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40" name="핵심성과 라벨"/>
          <p:cNvSpPr/>
          <p:nvPr/>
        </p:nvSpPr>
        <p:spPr>
          <a:xfrm>
            <a:off x="756000" y="2769339"/>
            <a:ext cx="657391" cy="414783"/>
          </a:xfrm>
          <a:prstGeom prst="homePlate">
            <a:avLst>
              <a:gd name="adj" fmla="val 28000"/>
            </a:avLst>
          </a:prstGeom>
          <a:solidFill>
            <a:srgbClr val="002060"/>
          </a:solidFill>
          <a:ln>
            <a:noFill/>
          </a:ln>
          <a:effectLst/>
        </p:spPr>
        <p:txBody>
          <a:bodyPr rtlCol="0" anchor="ctr" lIns="18000" rIns="79200" tIns="0" bIns="0" wrap="square"/>
          <a:lstStyle/>
          <a:p/>
        </p:txBody>
      </p:sp>
      <p:sp>
        <p:nvSpPr>
          <p:cNvPr id="41" name="핵심성과 라벨"/>
          <p:cNvSpPr>
            <a:spLocks noGrp="1"/>
          </p:cNvSpPr>
          <p:nvPr>
            <p:ph type="body" sz="quarter" idx="34"/>
          </p:nvPr>
        </p:nvSpPr>
        <p:spPr>
          <a:xfrm>
            <a:off x="756000" y="2769339"/>
            <a:ext cx="657391" cy="414783"/>
          </a:xfrm>
          <a:prstGeom prst="homePlate">
            <a:avLst>
              <a:gd name="adj" fmla="val 28000"/>
            </a:avLst>
          </a:prstGeom>
          <a:effectLst/>
          <a:noFill/>
          <a:ln>
            <a:noFill/>
          </a:ln>
        </p:spPr>
        <p:txBody>
          <a:bodyPr rtlCol="0" anchor="ctr" lIns="18000" rIns="792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2" name="핵심성과 문구"/>
          <p:cNvSpPr>
            <a:spLocks noGrp="1"/>
          </p:cNvSpPr>
          <p:nvPr>
            <p:ph type="body" sz="quarter" idx="35"/>
          </p:nvPr>
        </p:nvSpPr>
        <p:spPr>
          <a:xfrm>
            <a:off x="1501043" y="2747426"/>
            <a:ext cx="5456348" cy="45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공공성 · 차별성 · 도전성 · 상징성: 민간기업 협력 기술자립 성공, 글로벌 유일 물공급 全기술 보유, 해외 전문기업 독점시장 진입, 국내기업 최초 운영사업 진출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217 서사 · 수도서비스 사업특성 · 주요위험(번호 띠 없는 두 행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표 외곽"/>
          <p:cNvSpPr/>
          <p:nvPr/>
        </p:nvSpPr>
        <p:spPr>
          <a:xfrm>
            <a:off x="536870" y="766957"/>
            <a:ext cx="6300000" cy="1473652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레일"/>
          <p:cNvSpPr/>
          <p:nvPr/>
        </p:nvSpPr>
        <p:spPr>
          <a:xfrm>
            <a:off x="547826" y="783391"/>
            <a:ext cx="580696" cy="630000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레일"/>
          <p:cNvSpPr>
            <a:spLocks noGrp="1"/>
          </p:cNvSpPr>
          <p:nvPr>
            <p:ph type="body" sz="quarter" idx="20"/>
          </p:nvPr>
        </p:nvSpPr>
        <p:spPr>
          <a:xfrm>
            <a:off x="547826" y="783391"/>
            <a:ext cx="580696" cy="630000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특 성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1"/>
          </p:nvPr>
        </p:nvSpPr>
        <p:spPr>
          <a:xfrm>
            <a:off x="1172348" y="805304"/>
            <a:ext cx="5626174" cy="602609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 이동: 취수장 → 정수장 → 고객 간 물 이동을 위해 고압전기, 복잡한 설비(회전체 등) 운영. 물 공급관로·밸브설비는 지하(밀폐)에 매설, 일부구간 도심/도로 횡단(전국 5.5만㎞)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 생산: 하천수 등을 수심 깊은 저수조에서 다량(중량물)의 화학물질(정수약품)을 사용, 정수 처리</a:t>
            </a:r>
          </a:p>
        </p:txBody>
      </p:sp>
      <p:sp>
        <p:nvSpPr>
          <p:cNvPr id="14" name="레일"/>
          <p:cNvSpPr/>
          <p:nvPr/>
        </p:nvSpPr>
        <p:spPr>
          <a:xfrm>
            <a:off x="547826" y="1429826"/>
            <a:ext cx="580696" cy="794348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5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429826"/>
            <a:ext cx="580696" cy="794348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주요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 험</a:t>
            </a:r>
          </a:p>
        </p:txBody>
      </p:sp>
      <p:sp>
        <p:nvSpPr>
          <p:cNvPr id="16" name="레일 삼각형"/>
          <p:cNvSpPr/>
          <p:nvPr/>
        </p:nvSpPr>
        <p:spPr>
          <a:xfrm>
            <a:off x="547826" y="1429826"/>
            <a:ext cx="580695" cy="131478"/>
          </a:xfrm>
          <a:custGeom>
            <a:avLst/>
            <a:gdLst/>
            <a:ahLst/>
            <a:cxnLst/>
            <a:rect l="l" t="t" r="r" b="b"/>
            <a:pathLst>
              <a:path w="580695" h="131478">
                <a:moveTo>
                  <a:pt x="0" y="0"/>
                </a:moveTo>
                <a:lnTo>
                  <a:pt x="580695" y="0"/>
                </a:lnTo>
                <a:lnTo>
                  <a:pt x="290347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7" name="머리칸"/>
          <p:cNvSpPr/>
          <p:nvPr/>
        </p:nvSpPr>
        <p:spPr>
          <a:xfrm>
            <a:off x="1161391" y="1451739"/>
            <a:ext cx="139558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8" name="머리칸"/>
          <p:cNvSpPr>
            <a:spLocks noGrp="1"/>
          </p:cNvSpPr>
          <p:nvPr>
            <p:ph type="body" sz="quarter" idx="23"/>
          </p:nvPr>
        </p:nvSpPr>
        <p:spPr>
          <a:xfrm>
            <a:off x="1161391" y="1451739"/>
            <a:ext cx="13955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밀폐공간</a:t>
            </a:r>
          </a:p>
        </p:txBody>
      </p:sp>
      <p:sp>
        <p:nvSpPr>
          <p:cNvPr id="19" name="머리칸"/>
          <p:cNvSpPr/>
          <p:nvPr/>
        </p:nvSpPr>
        <p:spPr>
          <a:xfrm>
            <a:off x="2573413" y="1451739"/>
            <a:ext cx="139558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0" name="머리칸"/>
          <p:cNvSpPr>
            <a:spLocks noGrp="1"/>
          </p:cNvSpPr>
          <p:nvPr>
            <p:ph type="body" sz="quarter" idx="24"/>
          </p:nvPr>
        </p:nvSpPr>
        <p:spPr>
          <a:xfrm>
            <a:off x="2573413" y="1451739"/>
            <a:ext cx="13955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복합 고위험 시설</a:t>
            </a:r>
          </a:p>
        </p:txBody>
      </p:sp>
      <p:sp>
        <p:nvSpPr>
          <p:cNvPr id="21" name="머리칸"/>
          <p:cNvSpPr/>
          <p:nvPr/>
        </p:nvSpPr>
        <p:spPr>
          <a:xfrm>
            <a:off x="3985435" y="1451739"/>
            <a:ext cx="139558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2" name="머리칸"/>
          <p:cNvSpPr>
            <a:spLocks noGrp="1"/>
          </p:cNvSpPr>
          <p:nvPr>
            <p:ph type="body" sz="quarter" idx="25"/>
          </p:nvPr>
        </p:nvSpPr>
        <p:spPr>
          <a:xfrm>
            <a:off x="3985435" y="1451739"/>
            <a:ext cx="13955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산재된 시설</a:t>
            </a:r>
          </a:p>
        </p:txBody>
      </p:sp>
      <p:sp>
        <p:nvSpPr>
          <p:cNvPr id="23" name="머리칸"/>
          <p:cNvSpPr/>
          <p:nvPr/>
        </p:nvSpPr>
        <p:spPr>
          <a:xfrm>
            <a:off x="5397457" y="1451739"/>
            <a:ext cx="1395587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4" name="머리칸"/>
          <p:cNvSpPr>
            <a:spLocks noGrp="1"/>
          </p:cNvSpPr>
          <p:nvPr>
            <p:ph type="body" sz="quarter" idx="26"/>
          </p:nvPr>
        </p:nvSpPr>
        <p:spPr>
          <a:xfrm>
            <a:off x="5397457" y="1451739"/>
            <a:ext cx="1395587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시민재해 요인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7"/>
          </p:nvPr>
        </p:nvSpPr>
        <p:spPr>
          <a:xfrm>
            <a:off x="1172348" y="1692783"/>
            <a:ext cx="1390109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관로상 밸브실 등 밀폐장소(5만개) 작업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28"/>
          </p:nvPr>
        </p:nvSpPr>
        <p:spPr>
          <a:xfrm>
            <a:off x="2584370" y="1692783"/>
            <a:ext cx="1390109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고위험(약품, 전기 등) 공정운영(2천개)</a:t>
            </a:r>
          </a:p>
        </p:txBody>
      </p:sp>
      <p:cxnSp>
        <p:nvCxnSpPr>
          <p:cNvPr id="27" name="Connector 17"/>
          <p:cNvCxnSpPr/>
          <p:nvPr/>
        </p:nvCxnSpPr>
        <p:spPr>
          <a:xfrm>
            <a:off x="2573413" y="1725652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8" name="칸 본문"/>
          <p:cNvSpPr>
            <a:spLocks noGrp="1"/>
          </p:cNvSpPr>
          <p:nvPr>
            <p:ph type="body" sz="quarter" idx="29"/>
          </p:nvPr>
        </p:nvSpPr>
        <p:spPr>
          <a:xfrm>
            <a:off x="3996391" y="1692783"/>
            <a:ext cx="1390109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관로 5.5만㎞ 산재로 감시와 접근 한계</a:t>
            </a:r>
          </a:p>
        </p:txBody>
      </p:sp>
      <p:cxnSp>
        <p:nvCxnSpPr>
          <p:cNvPr id="29" name="Connector 19"/>
          <p:cNvCxnSpPr/>
          <p:nvPr/>
        </p:nvCxnSpPr>
        <p:spPr>
          <a:xfrm>
            <a:off x="3985435" y="1725652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30" name="칸 본문"/>
          <p:cNvSpPr>
            <a:spLocks noGrp="1"/>
          </p:cNvSpPr>
          <p:nvPr>
            <p:ph type="body" sz="quarter" idx="30"/>
          </p:nvPr>
        </p:nvSpPr>
        <p:spPr>
          <a:xfrm>
            <a:off x="5408413" y="1692783"/>
            <a:ext cx="1390109" cy="525913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싱크홀 원인의 6% 노후상수도관 파손</a:t>
            </a:r>
          </a:p>
        </p:txBody>
      </p:sp>
      <p:cxnSp>
        <p:nvCxnSpPr>
          <p:cNvPr id="31" name="Connector 21"/>
          <p:cNvCxnSpPr/>
          <p:nvPr/>
        </p:nvCxnSpPr>
        <p:spPr>
          <a:xfrm>
            <a:off x="5397457" y="1725652"/>
            <a:ext cx="0" cy="460174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218 서사 · 수도 특화 안전설계기준과 맞춤형 대책(기준제정 3칸 → 위험요소 맞춤형 대책 4칸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형광 밑줄"/>
          <p:cNvSpPr/>
          <p:nvPr/>
        </p:nvSpPr>
        <p:spPr>
          <a:xfrm>
            <a:off x="723130" y="931304"/>
            <a:ext cx="3560852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소제목"/>
          <p:cNvSpPr>
            <a:spLocks noGrp="1"/>
          </p:cNvSpPr>
          <p:nvPr>
            <p:ph type="body" sz="quarter" idx="20"/>
          </p:nvPr>
        </p:nvSpPr>
        <p:spPr>
          <a:xfrm>
            <a:off x="723130" y="777913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수도 특화 안전설계기준과 맞춤형 대책으로 근로자 안전 확보</a:t>
            </a:r>
          </a:p>
        </p:txBody>
      </p:sp>
      <p:sp>
        <p:nvSpPr>
          <p:cNvPr id="11" name="태그칩"/>
          <p:cNvSpPr/>
          <p:nvPr/>
        </p:nvSpPr>
        <p:spPr>
          <a:xfrm>
            <a:off x="4382591" y="810783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2" name="태그칩"/>
          <p:cNvSpPr>
            <a:spLocks noGrp="1"/>
          </p:cNvSpPr>
          <p:nvPr>
            <p:ph type="body" sz="quarter" idx="21"/>
          </p:nvPr>
        </p:nvSpPr>
        <p:spPr>
          <a:xfrm>
            <a:off x="4382591" y="810783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태그칩"/>
          <p:cNvSpPr/>
          <p:nvPr/>
        </p:nvSpPr>
        <p:spPr>
          <a:xfrm>
            <a:off x="4933712" y="810783"/>
            <a:ext cx="483604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4" name="태그칩"/>
          <p:cNvSpPr>
            <a:spLocks noGrp="1"/>
          </p:cNvSpPr>
          <p:nvPr>
            <p:ph type="body" sz="quarter" idx="22"/>
          </p:nvPr>
        </p:nvSpPr>
        <p:spPr>
          <a:xfrm>
            <a:off x="4933712" y="810783"/>
            <a:ext cx="483604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5" name="표 외곽"/>
          <p:cNvSpPr/>
          <p:nvPr/>
        </p:nvSpPr>
        <p:spPr>
          <a:xfrm>
            <a:off x="723130" y="1062783"/>
            <a:ext cx="6300000" cy="2388522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레일"/>
          <p:cNvSpPr/>
          <p:nvPr/>
        </p:nvSpPr>
        <p:spPr>
          <a:xfrm>
            <a:off x="734087" y="1079217"/>
            <a:ext cx="580696" cy="1216174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7" name="레일"/>
          <p:cNvSpPr>
            <a:spLocks noGrp="1"/>
          </p:cNvSpPr>
          <p:nvPr>
            <p:ph type="body" sz="quarter" idx="23"/>
          </p:nvPr>
        </p:nvSpPr>
        <p:spPr>
          <a:xfrm>
            <a:off x="734087" y="1079217"/>
            <a:ext cx="580696" cy="1216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수도특화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안전설계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 준</a:t>
            </a:r>
          </a:p>
        </p:txBody>
      </p:sp>
      <p:sp>
        <p:nvSpPr>
          <p:cNvPr id="18" name="머리칸"/>
          <p:cNvSpPr/>
          <p:nvPr/>
        </p:nvSpPr>
        <p:spPr>
          <a:xfrm>
            <a:off x="1347652" y="110113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9" name="머리칸"/>
          <p:cNvSpPr>
            <a:spLocks noGrp="1"/>
          </p:cNvSpPr>
          <p:nvPr>
            <p:ph type="body" sz="quarter" idx="24"/>
          </p:nvPr>
        </p:nvSpPr>
        <p:spPr>
          <a:xfrm>
            <a:off x="1347652" y="110113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위험요소 맞춤형 기준 제시</a:t>
            </a:r>
          </a:p>
        </p:txBody>
      </p:sp>
      <p:sp>
        <p:nvSpPr>
          <p:cNvPr id="20" name="머리칸"/>
          <p:cNvSpPr/>
          <p:nvPr/>
        </p:nvSpPr>
        <p:spPr>
          <a:xfrm>
            <a:off x="3230348" y="110113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1" name="머리칸"/>
          <p:cNvSpPr>
            <a:spLocks noGrp="1"/>
          </p:cNvSpPr>
          <p:nvPr>
            <p:ph type="body" sz="quarter" idx="25"/>
          </p:nvPr>
        </p:nvSpPr>
        <p:spPr>
          <a:xfrm>
            <a:off x="3230348" y="110113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다양한 안전 기준 통합</a:t>
            </a:r>
          </a:p>
        </p:txBody>
      </p:sp>
      <p:sp>
        <p:nvSpPr>
          <p:cNvPr id="22" name="머리칸"/>
          <p:cNvSpPr/>
          <p:nvPr/>
        </p:nvSpPr>
        <p:spPr>
          <a:xfrm>
            <a:off x="5113043" y="1101130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3" name="머리칸"/>
          <p:cNvSpPr>
            <a:spLocks noGrp="1"/>
          </p:cNvSpPr>
          <p:nvPr>
            <p:ph type="body" sz="quarter" idx="26"/>
          </p:nvPr>
        </p:nvSpPr>
        <p:spPr>
          <a:xfrm>
            <a:off x="5113043" y="1101130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실행력 확보와 확산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7"/>
          </p:nvPr>
        </p:nvSpPr>
        <p:spPr>
          <a:xfrm>
            <a:off x="1358609" y="1342174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61개 시설 특성·위험분석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위험성평가 반복지적 2천여건 분석 → 부위별 위험별 기준 제시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28"/>
          </p:nvPr>
        </p:nvSpPr>
        <p:spPr>
          <a:xfrm>
            <a:off x="3241304" y="1342174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5천건의 안전기준 → 수도시설에 맞는 522개 항목으로 통합</a:t>
            </a:r>
          </a:p>
        </p:txBody>
      </p:sp>
      <p:cxnSp>
        <p:nvCxnSpPr>
          <p:cNvPr id="26" name="Connector 14"/>
          <p:cNvCxnSpPr/>
          <p:nvPr/>
        </p:nvCxnSpPr>
        <p:spPr>
          <a:xfrm>
            <a:off x="3230348" y="1375043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7" name="칸 본문"/>
          <p:cNvSpPr>
            <a:spLocks noGrp="1"/>
          </p:cNvSpPr>
          <p:nvPr>
            <p:ph type="body" sz="quarter" idx="29"/>
          </p:nvPr>
        </p:nvSpPr>
        <p:spPr>
          <a:xfrm>
            <a:off x="5124000" y="1342174"/>
            <a:ext cx="1860783" cy="712174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표준작업절차서 131종, 안전시설 개선계획 수립(예산 80억원 확보)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지자체 확산 및 공동활용</a:t>
            </a:r>
          </a:p>
        </p:txBody>
      </p:sp>
      <p:cxnSp>
        <p:nvCxnSpPr>
          <p:cNvPr id="28" name="Connector 16"/>
          <p:cNvCxnSpPr/>
          <p:nvPr/>
        </p:nvCxnSpPr>
        <p:spPr>
          <a:xfrm>
            <a:off x="5113043" y="1375043"/>
            <a:ext cx="0" cy="646435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9" name="배너"/>
          <p:cNvSpPr/>
          <p:nvPr/>
        </p:nvSpPr>
        <p:spPr>
          <a:xfrm>
            <a:off x="1347652" y="2070783"/>
            <a:ext cx="5648087" cy="208174"/>
          </a:xfrm>
          <a:prstGeom prst="rect">
            <a:avLst/>
          </a:prstGeom>
          <a:solidFill>
            <a:srgbClr val="BDE0FF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0" name="배너"/>
          <p:cNvSpPr>
            <a:spLocks noGrp="1"/>
          </p:cNvSpPr>
          <p:nvPr>
            <p:ph type="body" sz="quarter" idx="30"/>
          </p:nvPr>
        </p:nvSpPr>
        <p:spPr>
          <a:xfrm>
            <a:off x="1347652" y="2070783"/>
            <a:ext cx="5648087" cy="20817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한번에 쉽고 빠르게 찾는 안전수칙 마련과 실행·확산으로 국가 상수도 안전 표준 제시</a:t>
            </a:r>
          </a:p>
        </p:txBody>
      </p:sp>
      <p:sp>
        <p:nvSpPr>
          <p:cNvPr id="31" name="레일"/>
          <p:cNvSpPr/>
          <p:nvPr/>
        </p:nvSpPr>
        <p:spPr>
          <a:xfrm>
            <a:off x="734087" y="2311826"/>
            <a:ext cx="580696" cy="1123043"/>
          </a:xfrm>
          <a:prstGeom prst="rect">
            <a:avLst/>
          </a:prstGeom>
          <a:pattFill prst="trellis">
            <a:fgClr>
              <a:srgbClr val="0A6BE6"/>
            </a:fgClr>
            <a:bgClr>
              <a:srgbClr val="0051BC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32" name="레일"/>
          <p:cNvSpPr>
            <a:spLocks noGrp="1"/>
          </p:cNvSpPr>
          <p:nvPr>
            <p:ph type="body" sz="quarter" idx="31"/>
          </p:nvPr>
        </p:nvSpPr>
        <p:spPr>
          <a:xfrm>
            <a:off x="734087" y="2311826"/>
            <a:ext cx="580696" cy="1123043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위험요소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맞춤형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대 책</a:t>
            </a:r>
          </a:p>
        </p:txBody>
      </p:sp>
      <p:sp>
        <p:nvSpPr>
          <p:cNvPr id="33" name="레일 삼각형"/>
          <p:cNvSpPr/>
          <p:nvPr/>
        </p:nvSpPr>
        <p:spPr>
          <a:xfrm>
            <a:off x="734086" y="2311826"/>
            <a:ext cx="580696" cy="131478"/>
          </a:xfrm>
          <a:custGeom>
            <a:avLst/>
            <a:gdLst/>
            <a:ahLst/>
            <a:cxnLst/>
            <a:rect l="l" t="t" r="r" b="b"/>
            <a:pathLst>
              <a:path w="580696" h="131478">
                <a:moveTo>
                  <a:pt x="0" y="0"/>
                </a:moveTo>
                <a:lnTo>
                  <a:pt x="580696" y="0"/>
                </a:lnTo>
                <a:lnTo>
                  <a:pt x="290348" y="131478"/>
                </a:lnTo>
                <a:close/>
              </a:path>
            </a:pathLst>
          </a:custGeom>
          <a:solidFill>
            <a:srgbClr val="0080EA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2"/>
          </p:nvPr>
        </p:nvSpPr>
        <p:spPr>
          <a:xfrm>
            <a:off x="1358609" y="2333739"/>
            <a:ext cx="2802130" cy="109565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밀폐공간: ‘eCall’ 전사 도입 — 출입통제, 유해가스 실시간 감지, 움직임 감지 → 경보 알림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시설 산재: 기술과 인력으로 사각지대 최소화 — AI+CCTV, 스마트 안전장비, 자회사 안전인력 全사업소(46명) 반영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3"/>
          </p:nvPr>
        </p:nvSpPr>
        <p:spPr>
          <a:xfrm>
            <a:off x="4182652" y="2333739"/>
            <a:ext cx="2802130" cy="1095652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복합설비: 위험제거·통제로 실효적 재해예방 — 보호구 4종 추가, 안전거울, 약품 자동투입설비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제도개선: 안전 최우선 가치로 발주자 역할 수행 — 안전중심 평가, 정부 총사업비지침 개정 통해 감리비 현실화(76 → 96%)</a:t>
            </a:r>
          </a:p>
        </p:txBody>
      </p:sp>
      <p:cxnSp>
        <p:nvCxnSpPr>
          <p:cNvPr id="36" name="Connector 22"/>
          <p:cNvCxnSpPr/>
          <p:nvPr/>
        </p:nvCxnSpPr>
        <p:spPr>
          <a:xfrm>
            <a:off x="4171696" y="2366609"/>
            <a:ext cx="0" cy="1029913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219 서사 · 노후관로 선제 정비와 실시간 누수 감지(시민밀접시설 안전확보 3칸 → 종합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형광 밑줄"/>
          <p:cNvSpPr/>
          <p:nvPr/>
        </p:nvSpPr>
        <p:spPr>
          <a:xfrm>
            <a:off x="536870" y="920348"/>
            <a:ext cx="4193119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소제목"/>
          <p:cNvSpPr>
            <a:spLocks noGrp="1"/>
          </p:cNvSpPr>
          <p:nvPr>
            <p:ph type="body" sz="quarter" idx="20"/>
          </p:nvPr>
        </p:nvSpPr>
        <p:spPr>
          <a:xfrm>
            <a:off x="536870" y="766957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노후관로 선제 정비와 실시간 누수 감지를 통한 시민의 안전한 일상 보장</a:t>
            </a:r>
          </a:p>
        </p:txBody>
      </p:sp>
      <p:sp>
        <p:nvSpPr>
          <p:cNvPr id="12" name="태그칩"/>
          <p:cNvSpPr/>
          <p:nvPr/>
        </p:nvSpPr>
        <p:spPr>
          <a:xfrm>
            <a:off x="4828597" y="799826"/>
            <a:ext cx="507295" cy="175304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3" name="태그칩"/>
          <p:cNvSpPr>
            <a:spLocks noGrp="1"/>
          </p:cNvSpPr>
          <p:nvPr>
            <p:ph type="body" sz="quarter" idx="21"/>
          </p:nvPr>
        </p:nvSpPr>
        <p:spPr>
          <a:xfrm>
            <a:off x="4828597" y="799826"/>
            <a:ext cx="507295" cy="175304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표 외곽"/>
          <p:cNvSpPr/>
          <p:nvPr/>
        </p:nvSpPr>
        <p:spPr>
          <a:xfrm>
            <a:off x="536870" y="1051826"/>
            <a:ext cx="6300000" cy="849130"/>
          </a:xfrm>
          <a:prstGeom prst="rect">
            <a:avLst/>
          </a:prstGeom>
          <a:solidFill>
            <a:srgbClr val="FFFFFF"/>
          </a:solidFill>
          <a:ln w="9525">
            <a:solidFill>
              <a:srgbClr val="008E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5" name="레일"/>
          <p:cNvSpPr/>
          <p:nvPr/>
        </p:nvSpPr>
        <p:spPr>
          <a:xfrm>
            <a:off x="547826" y="1068261"/>
            <a:ext cx="580696" cy="816261"/>
          </a:xfrm>
          <a:prstGeom prst="rect">
            <a:avLst/>
          </a:prstGeom>
          <a:pattFill prst="trellis">
            <a:fgClr>
              <a:srgbClr val="0990FF"/>
            </a:fgClr>
            <a:bgClr>
              <a:srgbClr val="0080EA"/>
            </a:bgClr>
          </a:pattFill>
          <a:ln>
            <a:noFill/>
          </a:ln>
          <a:effectLst/>
        </p:spPr>
        <p:txBody>
          <a:bodyPr rtlCol="0" anchor="ctr" lIns="10800" rIns="10800" tIns="0" bIns="0" wrap="square"/>
          <a:lstStyle/>
          <a:p/>
        </p:txBody>
      </p:sp>
      <p:sp>
        <p:nvSpPr>
          <p:cNvPr id="16" name="레일"/>
          <p:cNvSpPr>
            <a:spLocks noGrp="1"/>
          </p:cNvSpPr>
          <p:nvPr>
            <p:ph type="body" sz="quarter" idx="22"/>
          </p:nvPr>
        </p:nvSpPr>
        <p:spPr>
          <a:xfrm>
            <a:off x="547826" y="1068261"/>
            <a:ext cx="580696" cy="816261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10800" rIns="10800" tIns="0" bIns="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시민밀접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 설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안전확보</a:t>
            </a:r>
          </a:p>
        </p:txBody>
      </p:sp>
      <p:sp>
        <p:nvSpPr>
          <p:cNvPr id="17" name="머리칸"/>
          <p:cNvSpPr/>
          <p:nvPr/>
        </p:nvSpPr>
        <p:spPr>
          <a:xfrm>
            <a:off x="1161391" y="1090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18" name="머리칸"/>
          <p:cNvSpPr>
            <a:spLocks noGrp="1"/>
          </p:cNvSpPr>
          <p:nvPr>
            <p:ph type="body" sz="quarter" idx="23"/>
          </p:nvPr>
        </p:nvSpPr>
        <p:spPr>
          <a:xfrm>
            <a:off x="1161391" y="1090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노후관 정비  싱크홀 예방</a:t>
            </a:r>
          </a:p>
        </p:txBody>
      </p:sp>
      <p:sp>
        <p:nvSpPr>
          <p:cNvPr id="19" name="머리칸"/>
          <p:cNvSpPr/>
          <p:nvPr/>
        </p:nvSpPr>
        <p:spPr>
          <a:xfrm>
            <a:off x="3044087" y="1090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0" name="머리칸"/>
          <p:cNvSpPr>
            <a:spLocks noGrp="1"/>
          </p:cNvSpPr>
          <p:nvPr>
            <p:ph type="body" sz="quarter" idx="24"/>
          </p:nvPr>
        </p:nvSpPr>
        <p:spPr>
          <a:xfrm>
            <a:off x="3044087" y="1090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누수 감지  침수사고 예방</a:t>
            </a:r>
          </a:p>
        </p:txBody>
      </p:sp>
      <p:sp>
        <p:nvSpPr>
          <p:cNvPr id="21" name="머리칸"/>
          <p:cNvSpPr/>
          <p:nvPr/>
        </p:nvSpPr>
        <p:spPr>
          <a:xfrm>
            <a:off x="4926783" y="1090174"/>
            <a:ext cx="1866261" cy="230087"/>
          </a:xfrm>
          <a:prstGeom prst="rect">
            <a:avLst/>
          </a:prstGeom>
          <a:solidFill>
            <a:srgbClr val="DEEEFF"/>
          </a:solidFill>
          <a:ln>
            <a:noFill/>
          </a:ln>
          <a:effectLst/>
        </p:spPr>
        <p:txBody>
          <a:bodyPr rtlCol="0" anchor="ctr" lIns="21600" rIns="21600" tIns="3600" bIns="3600" wrap="square"/>
          <a:lstStyle/>
          <a:p/>
        </p:txBody>
      </p:sp>
      <p:sp>
        <p:nvSpPr>
          <p:cNvPr id="22" name="머리칸"/>
          <p:cNvSpPr>
            <a:spLocks noGrp="1"/>
          </p:cNvSpPr>
          <p:nvPr>
            <p:ph type="body" sz="quarter" idx="25"/>
          </p:nvPr>
        </p:nvSpPr>
        <p:spPr>
          <a:xfrm>
            <a:off x="4926783" y="1090174"/>
            <a:ext cx="1866261" cy="230087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1600" rIns="21600" tIns="3600" bIns="36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000" b="1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맨홀 개선  차량사고 예방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6"/>
          </p:nvPr>
        </p:nvSpPr>
        <p:spPr>
          <a:xfrm>
            <a:off x="1172348" y="1331217"/>
            <a:ext cx="1860783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광역상수도 노후관 개량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지자체 지방상수도 노후관 정비 수탁 수행·운영(116개)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7"/>
          </p:nvPr>
        </p:nvSpPr>
        <p:spPr>
          <a:xfrm>
            <a:off x="3055043" y="1331217"/>
            <a:ext cx="1860783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수압·유량 관망해석 및 AI 활용, 실시간 누수감지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관망분석 전담인력 확대</a:t>
            </a:r>
          </a:p>
        </p:txBody>
      </p:sp>
      <p:cxnSp>
        <p:nvCxnSpPr>
          <p:cNvPr id="25" name="Connector 16"/>
          <p:cNvCxnSpPr/>
          <p:nvPr/>
        </p:nvCxnSpPr>
        <p:spPr>
          <a:xfrm>
            <a:off x="3044087" y="1364087"/>
            <a:ext cx="0" cy="482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6" name="칸 본문"/>
          <p:cNvSpPr>
            <a:spLocks noGrp="1"/>
          </p:cNvSpPr>
          <p:nvPr>
            <p:ph type="body" sz="quarter" idx="28"/>
          </p:nvPr>
        </p:nvSpPr>
        <p:spPr>
          <a:xfrm>
            <a:off x="4937739" y="1331217"/>
            <a:ext cx="1860783" cy="547826"/>
          </a:xfrm>
          <a:prstGeom prst="rect">
            <a:avLst/>
          </a:prstGeom>
          <a:noFill/>
          <a:ln>
            <a:noFill/>
          </a:ln>
        </p:spPr>
        <p:txBody>
          <a:bodyPr wrap="square" lIns="50400" tIns="7200" rIns="21600" bIns="7200" anchor="ctr">
            <a:noAutofit/>
          </a:bodyPr>
          <a:lstStyle>
            <a:lvl1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  <a:defRPr sz="1000" spc="-5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맨홀 ↔ 도로 높낮이 차이 개선계획 수립(729개)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관로 일일점검 강화</a:t>
            </a:r>
          </a:p>
        </p:txBody>
      </p:sp>
      <p:cxnSp>
        <p:nvCxnSpPr>
          <p:cNvPr id="27" name="Connector 18"/>
          <p:cNvCxnSpPr/>
          <p:nvPr/>
        </p:nvCxnSpPr>
        <p:spPr>
          <a:xfrm>
            <a:off x="4926783" y="1364087"/>
            <a:ext cx="0" cy="482087"/>
          </a:xfrm>
          <a:prstGeom prst="line">
            <a:avLst/>
          </a:prstGeom>
          <a:ln w="9525">
            <a:solidFill>
              <a:srgbClr val="BDE0FF"/>
            </a:solidFill>
          </a:ln>
        </p:spPr>
      </p:cxnSp>
      <p:sp>
        <p:nvSpPr>
          <p:cNvPr id="28" name="주요성과 박스"/>
          <p:cNvSpPr/>
          <p:nvPr/>
        </p:nvSpPr>
        <p:spPr>
          <a:xfrm>
            <a:off x="536870" y="1977652"/>
            <a:ext cx="6300000" cy="311478"/>
          </a:xfrm>
          <a:prstGeom prst="rect">
            <a:avLst/>
          </a:prstGeom>
          <a:solidFill>
            <a:srgbClr val="EFF9FF"/>
          </a:solidFill>
          <a:ln w="12700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29" name="주요성과 라벨"/>
          <p:cNvSpPr/>
          <p:nvPr/>
        </p:nvSpPr>
        <p:spPr>
          <a:xfrm>
            <a:off x="569739" y="2010522"/>
            <a:ext cx="657391" cy="245739"/>
          </a:xfrm>
          <a:prstGeom prst="rect">
            <a:avLst/>
          </a:prstGeom>
          <a:solidFill>
            <a:srgbClr val="0051BC"/>
          </a:solidFill>
          <a:ln>
            <a:noFill/>
          </a:ln>
          <a:effectLst/>
        </p:spPr>
        <p:txBody>
          <a:bodyPr rtlCol="0" anchor="ctr" lIns="28800" rIns="28800" tIns="7200" bIns="7200" wrap="square"/>
          <a:lstStyle/>
          <a:p/>
        </p:txBody>
      </p:sp>
      <p:sp>
        <p:nvSpPr>
          <p:cNvPr id="30" name="주요성과 라벨"/>
          <p:cNvSpPr>
            <a:spLocks noGrp="1"/>
          </p:cNvSpPr>
          <p:nvPr>
            <p:ph type="body" sz="quarter" idx="29"/>
          </p:nvPr>
        </p:nvSpPr>
        <p:spPr>
          <a:xfrm>
            <a:off x="569739" y="2010522"/>
            <a:ext cx="657391" cy="245739"/>
          </a:xfrm>
          <a:prstGeom prst="rect">
            <a:avLst/>
          </a:prstGeom>
          <a:effectLst/>
          <a:noFill/>
          <a:ln>
            <a:noFill/>
          </a:ln>
        </p:spPr>
        <p:txBody>
          <a:bodyPr rtlCol="0" anchor="ctr" lIns="28800" rIns="28800" tIns="7200" bIns="7200" wrap="square"/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100" b="1" spc="-55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종합성과</a:t>
            </a:r>
          </a:p>
        </p:txBody>
      </p:sp>
      <p:sp>
        <p:nvSpPr>
          <p:cNvPr id="31" name="주요성과 문구"/>
          <p:cNvSpPr>
            <a:spLocks noGrp="1"/>
          </p:cNvSpPr>
          <p:nvPr>
            <p:ph type="body" sz="quarter" idx="30"/>
          </p:nvPr>
        </p:nvSpPr>
        <p:spPr>
          <a:xfrm>
            <a:off x="1314783" y="1994087"/>
            <a:ext cx="5456348" cy="278609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  <a:defRPr sz="1100" b="1" spc="-5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수도서비스 실효적 안전대책·싱크홀 방지 등 국정과제 이행과 산업·시민재해 저감(△27%)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L220 서사 · 조직·인력·예산 운용 등의 효율성 제고노력(4열 표: 대상사업 · 구분 · 주요내용 · 성과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지표명"/>
          <p:cNvSpPr>
            <a:spLocks noGrp="1"/>
          </p:cNvSpPr>
          <p:nvPr>
            <p:ph type="body" sz="quarter" idx="13"/>
          </p:nvPr>
        </p:nvSpPr>
        <p:spPr>
          <a:xfrm>
            <a:off x="4857652" y="328695"/>
            <a:ext cx="2160000" cy="230400"/>
          </a:xfrm>
        </p:spPr>
        <p:txBody>
          <a:bodyPr wrap="square" lIns="0" tIns="0" rIns="0" bIns="0" anchor="b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2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노사관계</a:t>
            </a:r>
          </a:p>
        </p:txBody>
      </p:sp>
      <p:sp>
        <p:nvSpPr>
          <p:cNvPr id="3" name="지표명 밑줄"/>
          <p:cNvSpPr/>
          <p:nvPr/>
        </p:nvSpPr>
        <p:spPr>
          <a:xfrm>
            <a:off x="6502695" y="575217"/>
            <a:ext cx="514956" cy="108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밑줄 끝"/>
          <p:cNvSpPr/>
          <p:nvPr/>
        </p:nvSpPr>
        <p:spPr>
          <a:xfrm>
            <a:off x="6974452" y="559017"/>
            <a:ext cx="43200" cy="43200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5" name="쪽 탭 빗면"/>
          <p:cNvSpPr/>
          <p:nvPr/>
        </p:nvSpPr>
        <p:spPr>
          <a:xfrm>
            <a:off x="5204347" y="10222434"/>
            <a:ext cx="504000" cy="241043"/>
          </a:xfrm>
          <a:prstGeom prst="parallelogram">
            <a:avLst>
              <a:gd name="adj" fmla="val 70000"/>
            </a:avLst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6" name="쪽 탭"/>
          <p:cNvSpPr/>
          <p:nvPr/>
        </p:nvSpPr>
        <p:spPr>
          <a:xfrm>
            <a:off x="5420347" y="10222434"/>
            <a:ext cx="1597304" cy="241043"/>
          </a:xfrm>
          <a:prstGeom prst="rect">
            <a:avLst/>
          </a:prstGeom>
          <a:solidFill>
            <a:srgbClr val="DEE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pic>
        <p:nvPicPr>
          <p:cNvPr id="7" name="KORAD CI" descr="KORAD C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08347" y="10252855"/>
            <a:ext cx="972000" cy="180202"/>
          </a:xfrm>
          <a:prstGeom prst="rect">
            <a:avLst/>
          </a:prstGeom>
        </p:spPr>
      </p:pic>
      <p:sp>
        <p:nvSpPr>
          <p:cNvPr id="8" name="쪽번호"/>
          <p:cNvSpPr>
            <a:spLocks noGrp="1"/>
          </p:cNvSpPr>
          <p:nvPr>
            <p:ph type="body" sz="quarter" idx="14"/>
          </p:nvPr>
        </p:nvSpPr>
        <p:spPr>
          <a:xfrm>
            <a:off x="6585652" y="10222434"/>
            <a:ext cx="360000" cy="241043"/>
          </a:xfrm>
        </p:spPr>
        <p:txBody>
          <a:bodyPr wrap="square" lIns="0" tIns="0" rIns="0" bIns="0" anchor="ctr">
            <a:noAutofit/>
          </a:bodyPr>
          <a:lstStyle>
            <a:lvl1pPr marL="0" indent="0" algn="r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94</a:t>
            </a:r>
          </a:p>
        </p:txBody>
      </p:sp>
      <p:sp>
        <p:nvSpPr>
          <p:cNvPr id="9" name="번호 띠"/>
          <p:cNvSpPr/>
          <p:nvPr/>
        </p:nvSpPr>
        <p:spPr>
          <a:xfrm>
            <a:off x="723130" y="777913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0" name="번호 탭"/>
          <p:cNvSpPr/>
          <p:nvPr/>
        </p:nvSpPr>
        <p:spPr>
          <a:xfrm>
            <a:off x="745043" y="799826"/>
            <a:ext cx="471130" cy="262956"/>
          </a:xfrm>
          <a:custGeom>
            <a:avLst/>
            <a:gdLst/>
            <a:ahLst/>
            <a:cxnLst/>
            <a:rect l="l" t="t" r="r" b="b"/>
            <a:pathLst>
              <a:path w="471130" h="262956">
                <a:moveTo>
                  <a:pt x="0" y="0"/>
                </a:moveTo>
                <a:lnTo>
                  <a:pt x="394435" y="0"/>
                </a:lnTo>
                <a:lnTo>
                  <a:pt x="471130" y="262956"/>
                </a:lnTo>
                <a:lnTo>
                  <a:pt x="0" y="262956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1" name="번호 탭 빗면"/>
          <p:cNvSpPr/>
          <p:nvPr/>
        </p:nvSpPr>
        <p:spPr>
          <a:xfrm>
            <a:off x="1139478" y="799826"/>
            <a:ext cx="142435" cy="262956"/>
          </a:xfrm>
          <a:custGeom>
            <a:avLst/>
            <a:gdLst/>
            <a:ahLst/>
            <a:cxnLst/>
            <a:rect l="l" t="t" r="r" b="b"/>
            <a:pathLst>
              <a:path w="142435" h="262956">
                <a:moveTo>
                  <a:pt x="0" y="0"/>
                </a:moveTo>
                <a:lnTo>
                  <a:pt x="65739" y="0"/>
                </a:lnTo>
                <a:lnTo>
                  <a:pt x="142435" y="262956"/>
                </a:lnTo>
                <a:lnTo>
                  <a:pt x="76695" y="262956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"/>
          <p:cNvSpPr>
            <a:spLocks noGrp="1"/>
          </p:cNvSpPr>
          <p:nvPr>
            <p:ph type="body" sz="quarter" idx="20"/>
          </p:nvPr>
        </p:nvSpPr>
        <p:spPr>
          <a:xfrm>
            <a:off x="745043" y="777913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3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369565" y="799826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조직·인력·예산 운용 등의 효율성 제고노력</a:t>
            </a:r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L221 서사 · 대국민 서비스 질 제고 및 공공성 강화 노력(3열 표 2건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대분류 번호"/>
          <p:cNvSpPr>
            <a:spLocks noGrp="1"/>
          </p:cNvSpPr>
          <p:nvPr>
            <p:ph type="body" sz="quarter" idx="13"/>
          </p:nvPr>
        </p:nvSpPr>
        <p:spPr>
          <a:xfrm>
            <a:off x="536869" y="230086"/>
            <a:ext cx="468000" cy="396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3400" b="1">
                <a:solidFill>
                  <a:srgbClr val="0051BC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4</a:t>
            </a:r>
          </a:p>
        </p:txBody>
      </p:sp>
      <p:sp>
        <p:nvSpPr>
          <p:cNvPr id="3" name="번호 구분선"/>
          <p:cNvSpPr/>
          <p:nvPr/>
        </p:nvSpPr>
        <p:spPr>
          <a:xfrm>
            <a:off x="821739" y="268434"/>
            <a:ext cx="10800" cy="290347"/>
          </a:xfrm>
          <a:prstGeom prst="rect">
            <a:avLst/>
          </a:prstGeom>
          <a:solidFill>
            <a:srgbClr val="008E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4" name="범주"/>
          <p:cNvSpPr>
            <a:spLocks noGrp="1"/>
          </p:cNvSpPr>
          <p:nvPr>
            <p:ph type="body" sz="quarter" idx="14"/>
          </p:nvPr>
        </p:nvSpPr>
        <p:spPr>
          <a:xfrm>
            <a:off x="909391" y="262956"/>
            <a:ext cx="3600000" cy="1800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Ⅰ. 경영관리 범주</a:t>
            </a:r>
          </a:p>
        </p:txBody>
      </p:sp>
      <p:sp>
        <p:nvSpPr>
          <p:cNvPr id="5" name="영역명"/>
          <p:cNvSpPr>
            <a:spLocks noGrp="1"/>
          </p:cNvSpPr>
          <p:nvPr>
            <p:ph type="body" sz="quarter" idx="15"/>
          </p:nvPr>
        </p:nvSpPr>
        <p:spPr>
          <a:xfrm>
            <a:off x="909391" y="442956"/>
            <a:ext cx="4320000" cy="208800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500" b="1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조직 운영 및 관리</a:t>
            </a:r>
          </a:p>
        </p:txBody>
      </p:sp>
      <p:sp>
        <p:nvSpPr>
          <p:cNvPr id="6" name="쪽 탭 빗면"/>
          <p:cNvSpPr/>
          <p:nvPr/>
        </p:nvSpPr>
        <p:spPr>
          <a:xfrm>
            <a:off x="2550521" y="10260782"/>
            <a:ext cx="396000" cy="164347"/>
          </a:xfrm>
          <a:prstGeom prst="parallelogram">
            <a:avLst>
              <a:gd name="adj" fmla="val 60000"/>
            </a:avLst>
          </a:prstGeom>
          <a:solidFill>
            <a:srgbClr val="BDE0F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7" name="쪽번호"/>
          <p:cNvSpPr>
            <a:spLocks noGrp="1"/>
          </p:cNvSpPr>
          <p:nvPr>
            <p:ph type="body" sz="quarter" idx="16"/>
          </p:nvPr>
        </p:nvSpPr>
        <p:spPr>
          <a:xfrm>
            <a:off x="536869" y="10260782"/>
            <a:ext cx="36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4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93</a:t>
            </a:r>
          </a:p>
        </p:txBody>
      </p:sp>
      <p:sp>
        <p:nvSpPr>
          <p:cNvPr id="8" name="쪽 구분선"/>
          <p:cNvSpPr/>
          <p:nvPr/>
        </p:nvSpPr>
        <p:spPr>
          <a:xfrm>
            <a:off x="821739" y="10282695"/>
            <a:ext cx="10800" cy="120521"/>
          </a:xfrm>
          <a:prstGeom prst="rect">
            <a:avLst/>
          </a:prstGeom>
          <a:solidFill>
            <a:srgbClr val="8D9CBF"/>
          </a:solidFill>
          <a:ln>
            <a:noFill/>
          </a:ln>
        </p:spPr>
        <p:txBody>
          <a:bodyPr wrap="square" lIns="0" tIns="0" rIns="0" bIns="0" anchor="ctr">
            <a:noAutofit/>
          </a:bodyPr>
          <a:lstStyle/>
          <a:p>
            <a:endParaRPr lang="ko-KR"/>
          </a:p>
        </p:txBody>
      </p:sp>
      <p:sp>
        <p:nvSpPr>
          <p:cNvPr id="9" name="보고서명"/>
          <p:cNvSpPr>
            <a:spLocks noGrp="1"/>
          </p:cNvSpPr>
          <p:nvPr>
            <p:ph type="body" sz="quarter" idx="17"/>
          </p:nvPr>
        </p:nvSpPr>
        <p:spPr>
          <a:xfrm>
            <a:off x="876521" y="10260782"/>
            <a:ext cx="1800000" cy="164347"/>
          </a:xfrm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buNone/>
              <a:defRPr sz="1000">
                <a:solidFill>
                  <a:srgbClr val="5D7280"/>
                </a:solidFill>
                <a:latin typeface="Pretendard"/>
                <a:ea typeface="Pretendard"/>
              </a:defRPr>
            </a:lvl1pPr>
          </a:lstStyle>
          <a:p>
            <a:r>
              <a:rPr lang="ko-KR"/>
              <a:t>2025년도 경영실적보고서</a:t>
            </a:r>
          </a:p>
        </p:txBody>
      </p:sp>
      <p:sp>
        <p:nvSpPr>
          <p:cNvPr id="10" name="번호 띠"/>
          <p:cNvSpPr/>
          <p:nvPr/>
        </p:nvSpPr>
        <p:spPr>
          <a:xfrm>
            <a:off x="536870" y="766957"/>
            <a:ext cx="6300000" cy="306783"/>
          </a:xfrm>
          <a:prstGeom prst="rect">
            <a:avLst/>
          </a:prstGeom>
          <a:gradFill rotWithShape="1">
            <a:gsLst>
              <a:gs pos="0">
                <a:srgbClr val="DEEEFF"/>
              </a:gs>
              <a:gs pos="100000">
                <a:srgbClr val="FFFFFF"/>
              </a:gs>
            </a:gsLst>
            <a:lin scaled="0" ang="0"/>
          </a:gradFill>
          <a:ln w="9525">
            <a:solidFill>
              <a:srgbClr val="BDE0FF"/>
            </a:solidFill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1" name="번호 탭"/>
          <p:cNvSpPr/>
          <p:nvPr/>
        </p:nvSpPr>
        <p:spPr>
          <a:xfrm>
            <a:off x="558782" y="788869"/>
            <a:ext cx="471131" cy="262957"/>
          </a:xfrm>
          <a:custGeom>
            <a:avLst/>
            <a:gdLst/>
            <a:ahLst/>
            <a:cxnLst/>
            <a:rect l="l" t="t" r="r" b="b"/>
            <a:pathLst>
              <a:path w="471131" h="262957">
                <a:moveTo>
                  <a:pt x="0" y="0"/>
                </a:moveTo>
                <a:lnTo>
                  <a:pt x="394435" y="0"/>
                </a:lnTo>
                <a:lnTo>
                  <a:pt x="471131" y="262957"/>
                </a:lnTo>
                <a:lnTo>
                  <a:pt x="0" y="262957"/>
                </a:lnTo>
                <a:close/>
              </a:path>
            </a:pathLst>
          </a:custGeom>
          <a:gradFill rotWithShape="1">
            <a:gsLst>
              <a:gs pos="0">
                <a:srgbClr val="002060"/>
              </a:gs>
              <a:gs pos="100000">
                <a:srgbClr val="008EFF"/>
              </a:gs>
            </a:gsLst>
            <a:lin scaled="0" ang="0"/>
          </a:gra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2" name="번호 탭 빗면"/>
          <p:cNvSpPr/>
          <p:nvPr/>
        </p:nvSpPr>
        <p:spPr>
          <a:xfrm>
            <a:off x="953217" y="788869"/>
            <a:ext cx="142435" cy="262957"/>
          </a:xfrm>
          <a:custGeom>
            <a:avLst/>
            <a:gdLst/>
            <a:ahLst/>
            <a:cxnLst/>
            <a:rect l="l" t="t" r="r" b="b"/>
            <a:pathLst>
              <a:path w="142435" h="262957">
                <a:moveTo>
                  <a:pt x="0" y="0"/>
                </a:moveTo>
                <a:lnTo>
                  <a:pt x="65739" y="0"/>
                </a:lnTo>
                <a:lnTo>
                  <a:pt x="142435" y="262957"/>
                </a:lnTo>
                <a:lnTo>
                  <a:pt x="76696" y="262957"/>
                </a:lnTo>
                <a:close/>
              </a:path>
            </a:pathLst>
          </a:custGeom>
          <a:solidFill>
            <a:srgbClr val="BDE0FF"/>
          </a:solidFill>
          <a:ln>
            <a:noFill/>
          </a:ln>
          <a:effectLst/>
        </p:spPr>
        <p:txBody>
          <a:bodyPr rtlCol="0" anchor="ctr"/>
          <a:lstStyle/>
          <a:p>
            <a:pPr algn="ctr"/>
          </a:p>
        </p:txBody>
      </p:sp>
      <p:sp>
        <p:nvSpPr>
          <p:cNvPr id="13" name="번호"/>
          <p:cNvSpPr>
            <a:spLocks noGrp="1"/>
          </p:cNvSpPr>
          <p:nvPr>
            <p:ph type="body" sz="quarter" idx="20"/>
          </p:nvPr>
        </p:nvSpPr>
        <p:spPr>
          <a:xfrm>
            <a:off x="558783" y="766957"/>
            <a:ext cx="383478" cy="30678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00" b="1" spc="-110">
                <a:solidFill>
                  <a:srgbClr val="FFFFFF"/>
                </a:solidFill>
                <a:latin typeface="Pretendard"/>
                <a:ea typeface="Pretendard"/>
              </a:defRPr>
            </a:lvl1pPr>
          </a:lstStyle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4" name="번호 띠 제목"/>
          <p:cNvSpPr>
            <a:spLocks noGrp="1"/>
          </p:cNvSpPr>
          <p:nvPr>
            <p:ph type="body" sz="quarter" idx="21"/>
          </p:nvPr>
        </p:nvSpPr>
        <p:spPr>
          <a:xfrm>
            <a:off x="1183304" y="788870"/>
            <a:ext cx="5587826" cy="262957"/>
          </a:xfrm>
          <a:prstGeom prst="rect">
            <a:avLst/>
          </a:prstGeom>
          <a:noFill/>
          <a:ln>
            <a:noFill/>
          </a:ln>
        </p:spPr>
        <p:txBody>
          <a:bodyPr wrap="square" lIns="36000" tIns="10800" rIns="36000" bIns="1080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500" b="1" spc="-75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대국민 서비스 질 제고 및 공공성 강화 노력</a:t>
            </a:r>
          </a:p>
        </p:txBody>
      </p:sp>
      <p:sp>
        <p:nvSpPr>
          <p:cNvPr id="15" name="형광 밑줄"/>
          <p:cNvSpPr/>
          <p:nvPr/>
        </p:nvSpPr>
        <p:spPr>
          <a:xfrm>
            <a:off x="536870" y="1347652"/>
            <a:ext cx="1611362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6" name="소제목"/>
          <p:cNvSpPr>
            <a:spLocks noGrp="1"/>
          </p:cNvSpPr>
          <p:nvPr>
            <p:ph type="body" sz="quarter" idx="22"/>
          </p:nvPr>
        </p:nvSpPr>
        <p:spPr>
          <a:xfrm>
            <a:off x="536870" y="1194261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대국민 서비스 질 제고 노력</a:t>
            </a:r>
          </a:p>
        </p:txBody>
      </p:sp>
      <p:sp>
        <p:nvSpPr>
          <p:cNvPr id="17" name="형광 밑줄"/>
          <p:cNvSpPr/>
          <p:nvPr/>
        </p:nvSpPr>
        <p:spPr>
          <a:xfrm>
            <a:off x="536870" y="3013043"/>
            <a:ext cx="1014221" cy="43826"/>
          </a:xfrm>
          <a:prstGeom prst="rect">
            <a:avLst/>
          </a:prstGeom>
          <a:solidFill>
            <a:srgbClr val="29FFBD"/>
          </a:solidFill>
          <a:ln>
            <a:noFill/>
          </a:ln>
          <a:effectLst/>
        </p:spPr>
        <p:txBody>
          <a:bodyPr rtlCol="0" anchor="ctr" lIns="0" rIns="0" tIns="0" bIns="0"/>
          <a:lstStyle/>
          <a:p>
            <a:pPr algn="ctr"/>
          </a:p>
        </p:txBody>
      </p:sp>
      <p:sp>
        <p:nvSpPr>
          <p:cNvPr id="18" name="소제목"/>
          <p:cNvSpPr>
            <a:spLocks noGrp="1"/>
          </p:cNvSpPr>
          <p:nvPr>
            <p:ph type="body" sz="quarter" idx="23"/>
          </p:nvPr>
        </p:nvSpPr>
        <p:spPr>
          <a:xfrm>
            <a:off x="536870" y="2859652"/>
            <a:ext cx="6300000" cy="24104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ctr">
            <a:noAutofit/>
          </a:bodyPr>
          <a:lstStyle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200" b="1" spc="-60">
                <a:solidFill>
                  <a:srgbClr val="000359"/>
                </a:solidFill>
                <a:latin typeface="Pretendard"/>
                <a:ea typeface="Pretendard"/>
              </a:defRPr>
            </a:lvl1pPr>
          </a:lstStyle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공공성 강화 노력</a:t>
            </a:r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14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8.xml"/><Relationship Id="rId5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9.xml"/><Relationship Id="rId8" Type="http://schemas.openxmlformats.org/officeDocument/2006/relationships/slideLayout" Target="../slideLayouts/slideLayout10.xml"/><Relationship Id="rId9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2.xml"/><Relationship Id="rId11" Type="http://schemas.openxmlformats.org/officeDocument/2006/relationships/slideLayout" Target="../slideLayouts/slideLayout13.xml"/><Relationship Id="rId12" Type="http://schemas.openxmlformats.org/officeDocument/2006/relationships/theme" Target="../theme/theme1.xml"/><Relationship Id="rId13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8.xml"/><Relationship Id="rId17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20.xml"/><Relationship Id="rId19" Type="http://schemas.openxmlformats.org/officeDocument/2006/relationships/slideLayout" Target="../slideLayouts/slideLayout21.xml"/><Relationship Id="rId20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3.xml"/><Relationship Id="rId22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5.xml"/><Relationship Id="rId24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7.xml"/><Relationship Id="rId26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9.xml"/><Relationship Id="rId28" Type="http://schemas.openxmlformats.org/officeDocument/2006/relationships/slideLayout" Target="../slideLayouts/slideLayout30.xml"/><Relationship Id="rId29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2.xml"/><Relationship Id="rId31" Type="http://schemas.openxmlformats.org/officeDocument/2006/relationships/slideLayout" Target="../slideLayouts/slideLayout33.xml"/><Relationship Id="rId32" Type="http://schemas.openxmlformats.org/officeDocument/2006/relationships/slideLayout" Target="../slideLayouts/slideLayout34.xml"/><Relationship Id="rId33" Type="http://schemas.openxmlformats.org/officeDocument/2006/relationships/slideLayout" Target="../slideLayouts/slideLayout35.xml"/><Relationship Id="rId34" Type="http://schemas.openxmlformats.org/officeDocument/2006/relationships/slideLayout" Target="../slideLayouts/slideLayout36.xml"/><Relationship Id="rId35" Type="http://schemas.openxmlformats.org/officeDocument/2006/relationships/slideLayout" Target="../slideLayouts/slideLayout37.xml"/><Relationship Id="rId36" Type="http://schemas.openxmlformats.org/officeDocument/2006/relationships/slideLayout" Target="../slideLayouts/slideLayout38.xml"/><Relationship Id="rId37" Type="http://schemas.openxmlformats.org/officeDocument/2006/relationships/slideLayout" Target="../slideLayouts/slideLayout39.xml"/><Relationship Id="rId38" Type="http://schemas.openxmlformats.org/officeDocument/2006/relationships/slideLayout" Target="../slideLayouts/slideLayout40.xml"/><Relationship Id="rId39" Type="http://schemas.openxmlformats.org/officeDocument/2006/relationships/slideLayout" Target="../slideLayouts/slideLayout41.xml"/><Relationship Id="rId40" Type="http://schemas.openxmlformats.org/officeDocument/2006/relationships/slideLayout" Target="../slideLayouts/slideLayout42.xml"/><Relationship Id="rId41" Type="http://schemas.openxmlformats.org/officeDocument/2006/relationships/slideLayout" Target="../slideLayouts/slideLayout43.xml"/><Relationship Id="rId42" Type="http://schemas.openxmlformats.org/officeDocument/2006/relationships/slideLayout" Target="../slideLayouts/slideLayout44.xml"/><Relationship Id="rId43" Type="http://schemas.openxmlformats.org/officeDocument/2006/relationships/slideLayout" Target="../slideLayouts/slideLayout45.xml"/><Relationship Id="rId44" Type="http://schemas.openxmlformats.org/officeDocument/2006/relationships/slideLayout" Target="../slideLayouts/slideLayout46.xml"/><Relationship Id="rId45" Type="http://schemas.openxmlformats.org/officeDocument/2006/relationships/slideLayout" Target="../slideLayouts/slideLayout47.xml"/><Relationship Id="rId46" Type="http://schemas.openxmlformats.org/officeDocument/2006/relationships/slideLayout" Target="../slideLayouts/slideLayout48.xml"/><Relationship Id="rId47" Type="http://schemas.openxmlformats.org/officeDocument/2006/relationships/slideLayout" Target="../slideLayouts/slideLayout49.xml"/><Relationship Id="rId48" Type="http://schemas.openxmlformats.org/officeDocument/2006/relationships/slideLayout" Target="../slideLayouts/slideLayout50.xml"/><Relationship Id="rId49" Type="http://schemas.openxmlformats.org/officeDocument/2006/relationships/slideLayout" Target="../slideLayouts/slideLayout51.xml"/><Relationship Id="rId50" Type="http://schemas.openxmlformats.org/officeDocument/2006/relationships/slideLayout" Target="../slideLayouts/slideLayout52.xml"/><Relationship Id="rId51" Type="http://schemas.openxmlformats.org/officeDocument/2006/relationships/slideLayout" Target="../slideLayouts/slideLayout53.xml"/><Relationship Id="rId52" Type="http://schemas.openxmlformats.org/officeDocument/2006/relationships/slideLayout" Target="../slideLayouts/slideLayout54.xml"/><Relationship Id="rId53" Type="http://schemas.openxmlformats.org/officeDocument/2006/relationships/slideLayout" Target="../slideLayouts/slideLayout55.xml"/><Relationship Id="rId54" Type="http://schemas.openxmlformats.org/officeDocument/2006/relationships/slideLayout" Target="../slideLayouts/slideLayout56.xml"/><Relationship Id="rId55" Type="http://schemas.openxmlformats.org/officeDocument/2006/relationships/slideLayout" Target="../slideLayouts/slideLayout57.xml"/><Relationship Id="rId56" Type="http://schemas.openxmlformats.org/officeDocument/2006/relationships/slideLayout" Target="../slideLayouts/slideLayout58.xml"/><Relationship Id="rId57" Type="http://schemas.openxmlformats.org/officeDocument/2006/relationships/slideLayout" Target="../slideLayouts/slideLayout59.xml"/><Relationship Id="rId58" Type="http://schemas.openxmlformats.org/officeDocument/2006/relationships/slideLayout" Target="../slideLayouts/slideLayout60.xml"/><Relationship Id="rId59" Type="http://schemas.openxmlformats.org/officeDocument/2006/relationships/slideLayout" Target="../slideLayouts/slideLayout61.xml"/><Relationship Id="rId60" Type="http://schemas.openxmlformats.org/officeDocument/2006/relationships/slideLayout" Target="../slideLayouts/slideLayout62.xml"/><Relationship Id="rId61" Type="http://schemas.openxmlformats.org/officeDocument/2006/relationships/slideLayout" Target="../slideLayouts/slideLayout63.xml"/><Relationship Id="rId62" Type="http://schemas.openxmlformats.org/officeDocument/2006/relationships/slideLayout" Target="../slideLayouts/slideLayout64.xml"/><Relationship Id="rId63" Type="http://schemas.openxmlformats.org/officeDocument/2006/relationships/slideLayout" Target="../slideLayouts/slideLayout65.xml"/><Relationship Id="rId64" Type="http://schemas.openxmlformats.org/officeDocument/2006/relationships/slideLayout" Target="../slideLayouts/slideLayout66.xml"/><Relationship Id="rId65" Type="http://schemas.openxmlformats.org/officeDocument/2006/relationships/slideLayout" Target="../slideLayouts/slideLayout67.xml"/><Relationship Id="rId66" Type="http://schemas.openxmlformats.org/officeDocument/2006/relationships/slideLayout" Target="../slideLayouts/slideLayout68.xml"/><Relationship Id="rId67" Type="http://schemas.openxmlformats.org/officeDocument/2006/relationships/slideLayout" Target="../slideLayouts/slideLayout69.xml"/><Relationship Id="rId68" Type="http://schemas.openxmlformats.org/officeDocument/2006/relationships/slideLayout" Target="../slideLayouts/slideLayout70.xml"/><Relationship Id="rId69" Type="http://schemas.openxmlformats.org/officeDocument/2006/relationships/slideLayout" Target="../slideLayouts/slideLayout71.xml"/><Relationship Id="rId70" Type="http://schemas.openxmlformats.org/officeDocument/2006/relationships/slideLayout" Target="../slideLayouts/slideLayout72.xml"/><Relationship Id="rId71" Type="http://schemas.openxmlformats.org/officeDocument/2006/relationships/slideLayout" Target="../slideLayouts/slideLayout73.xml"/><Relationship Id="rId72" Type="http://schemas.openxmlformats.org/officeDocument/2006/relationships/slideLayout" Target="../slideLayouts/slideLayout74.xml"/><Relationship Id="rId73" Type="http://schemas.openxmlformats.org/officeDocument/2006/relationships/slideLayout" Target="../slideLayouts/slideLayout75.xml"/><Relationship Id="rId74" Type="http://schemas.openxmlformats.org/officeDocument/2006/relationships/slideLayout" Target="../slideLayouts/slideLayout76.xml"/><Relationship Id="rId75" Type="http://schemas.openxmlformats.org/officeDocument/2006/relationships/slideLayout" Target="../slideLayouts/slideLayout77.xml"/><Relationship Id="rId76" Type="http://schemas.openxmlformats.org/officeDocument/2006/relationships/slideLayout" Target="../slideLayouts/slideLayout78.xml"/><Relationship Id="rId77" Type="http://schemas.openxmlformats.org/officeDocument/2006/relationships/slideLayout" Target="../slideLayouts/slideLayout79.xml"/><Relationship Id="rId78" Type="http://schemas.openxmlformats.org/officeDocument/2006/relationships/slideLayout" Target="../slideLayouts/slideLayout80.xml"/><Relationship Id="rId79" Type="http://schemas.openxmlformats.org/officeDocument/2006/relationships/slideLayout" Target="../slideLayouts/slideLayout81.xml"/><Relationship Id="rId80" Type="http://schemas.openxmlformats.org/officeDocument/2006/relationships/slideLayout" Target="../slideLayouts/slideLayout82.xml"/><Relationship Id="rId81" Type="http://schemas.openxmlformats.org/officeDocument/2006/relationships/slideLayout" Target="../slideLayouts/slideLayout83.xml"/><Relationship Id="rId82" Type="http://schemas.openxmlformats.org/officeDocument/2006/relationships/slideLayout" Target="../slideLayouts/slideLayout84.xml"/><Relationship Id="rId83" Type="http://schemas.openxmlformats.org/officeDocument/2006/relationships/slideLayout" Target="../slideLayouts/slideLayout85.xml"/><Relationship Id="rId84" Type="http://schemas.openxmlformats.org/officeDocument/2006/relationships/slideLayout" Target="../slideLayouts/slideLayout86.xml"/><Relationship Id="rId85" Type="http://schemas.openxmlformats.org/officeDocument/2006/relationships/slideLayout" Target="../slideLayouts/slideLayout87.xml"/><Relationship Id="rId86" Type="http://schemas.openxmlformats.org/officeDocument/2006/relationships/slideLayout" Target="../slideLayouts/slideLayout88.xml"/><Relationship Id="rId87" Type="http://schemas.openxmlformats.org/officeDocument/2006/relationships/slideLayout" Target="../slideLayouts/slideLayout89.xml"/><Relationship Id="rId88" Type="http://schemas.openxmlformats.org/officeDocument/2006/relationships/slideLayout" Target="../slideLayouts/slideLayout90.xml"/><Relationship Id="rId89" Type="http://schemas.openxmlformats.org/officeDocument/2006/relationships/slideLayout" Target="../slideLayouts/slideLayout91.xml"/><Relationship Id="rId90" Type="http://schemas.openxmlformats.org/officeDocument/2006/relationships/slideLayout" Target="../slideLayouts/slideLayout92.xml"/><Relationship Id="rId91" Type="http://schemas.openxmlformats.org/officeDocument/2006/relationships/slideLayout" Target="../slideLayouts/slideLayout93.xml"/><Relationship Id="rId92" Type="http://schemas.openxmlformats.org/officeDocument/2006/relationships/slideLayout" Target="../slideLayouts/slideLayout94.xml"/><Relationship Id="rId93" Type="http://schemas.openxmlformats.org/officeDocument/2006/relationships/slideLayout" Target="../slideLayouts/slideLayout95.xml"/><Relationship Id="rId94" Type="http://schemas.openxmlformats.org/officeDocument/2006/relationships/slideLayout" Target="../slideLayouts/slideLayout96.xml"/><Relationship Id="rId95" Type="http://schemas.openxmlformats.org/officeDocument/2006/relationships/slideLayout" Target="../slideLayouts/slideLayout97.xml"/><Relationship Id="rId96" Type="http://schemas.openxmlformats.org/officeDocument/2006/relationships/slideLayout" Target="../slideLayouts/slideLayout98.xml"/><Relationship Id="rId97" Type="http://schemas.openxmlformats.org/officeDocument/2006/relationships/slideLayout" Target="../slideLayouts/slideLayout99.xml"/><Relationship Id="rId98" Type="http://schemas.openxmlformats.org/officeDocument/2006/relationships/slideLayout" Target="../slideLayouts/slideLayout100.xml"/><Relationship Id="rId99" Type="http://schemas.openxmlformats.org/officeDocument/2006/relationships/slideLayout" Target="../slideLayouts/slideLayout101.xml"/><Relationship Id="rId100" Type="http://schemas.openxmlformats.org/officeDocument/2006/relationships/slideLayout" Target="../slideLayouts/slideLayout102.xml"/><Relationship Id="rId101" Type="http://schemas.openxmlformats.org/officeDocument/2006/relationships/slideLayout" Target="../slideLayouts/slideLayout103.xml"/><Relationship Id="rId102" Type="http://schemas.openxmlformats.org/officeDocument/2006/relationships/slideLayout" Target="../slideLayouts/slideLayout104.xml"/><Relationship Id="rId103" Type="http://schemas.openxmlformats.org/officeDocument/2006/relationships/slideLayout" Target="../slideLayouts/slideLayout105.xml"/><Relationship Id="rId104" Type="http://schemas.openxmlformats.org/officeDocument/2006/relationships/slideLayout" Target="../slideLayouts/slideLayout106.xml"/><Relationship Id="rId105" Type="http://schemas.openxmlformats.org/officeDocument/2006/relationships/slideLayout" Target="../slideLayouts/slideLayout107.xml"/><Relationship Id="rId106" Type="http://schemas.openxmlformats.org/officeDocument/2006/relationships/slideLayout" Target="../slideLayouts/slideLayout108.xml"/><Relationship Id="rId107" Type="http://schemas.openxmlformats.org/officeDocument/2006/relationships/slideLayout" Target="../slideLayouts/slideLayout109.xml"/><Relationship Id="rId108" Type="http://schemas.openxmlformats.org/officeDocument/2006/relationships/slideLayout" Target="../slideLayouts/slideLayout110.xml"/><Relationship Id="rId109" Type="http://schemas.openxmlformats.org/officeDocument/2006/relationships/slideLayout" Target="../slideLayouts/slideLayout111.xml"/><Relationship Id="rId110" Type="http://schemas.openxmlformats.org/officeDocument/2006/relationships/slideLayout" Target="../slideLayouts/slideLayout112.xml"/><Relationship Id="rId111" Type="http://schemas.openxmlformats.org/officeDocument/2006/relationships/slideLayout" Target="../slideLayouts/slideLayout113.xml"/><Relationship Id="rId112" Type="http://schemas.openxmlformats.org/officeDocument/2006/relationships/slideLayout" Target="../slideLayouts/slideLayout114.xml"/><Relationship Id="rId113" Type="http://schemas.openxmlformats.org/officeDocument/2006/relationships/slideLayout" Target="../slideLayouts/slideLayout115.xml"/><Relationship Id="rId114" Type="http://schemas.openxmlformats.org/officeDocument/2006/relationships/slideLayout" Target="../slideLayouts/slideLayout116.xml"/><Relationship Id="rId115" Type="http://schemas.openxmlformats.org/officeDocument/2006/relationships/slideLayout" Target="../slideLayouts/slideLayout117.xml"/><Relationship Id="rId116" Type="http://schemas.openxmlformats.org/officeDocument/2006/relationships/slideLayout" Target="../slideLayouts/slideLayout118.xml"/><Relationship Id="rId117" Type="http://schemas.openxmlformats.org/officeDocument/2006/relationships/slideLayout" Target="../slideLayouts/slideLayout119.xml"/><Relationship Id="rId118" Type="http://schemas.openxmlformats.org/officeDocument/2006/relationships/slideLayout" Target="../slideLayouts/slideLayout120.xml"/><Relationship Id="rId119" Type="http://schemas.openxmlformats.org/officeDocument/2006/relationships/slideLayout" Target="../slideLayouts/slideLayout121.xml"/><Relationship Id="rId120" Type="http://schemas.openxmlformats.org/officeDocument/2006/relationships/slideLayout" Target="../slideLayouts/slideLayout122.xml"/><Relationship Id="rId121" Type="http://schemas.openxmlformats.org/officeDocument/2006/relationships/slideLayout" Target="../slideLayouts/slideLayout123.xml"/><Relationship Id="rId122" Type="http://schemas.openxmlformats.org/officeDocument/2006/relationships/slideLayout" Target="../slideLayouts/slideLayout124.xml"/><Relationship Id="rId123" Type="http://schemas.openxmlformats.org/officeDocument/2006/relationships/slideLayout" Target="../slideLayouts/slideLayout125.xml"/><Relationship Id="rId124" Type="http://schemas.openxmlformats.org/officeDocument/2006/relationships/slideLayout" Target="../slideLayouts/slideLayout126.xml"/><Relationship Id="rId125" Type="http://schemas.openxmlformats.org/officeDocument/2006/relationships/slideLayout" Target="../slideLayouts/slideLayout127.xml"/><Relationship Id="rId126" Type="http://schemas.openxmlformats.org/officeDocument/2006/relationships/slideLayout" Target="../slideLayouts/slideLayout128.xml"/><Relationship Id="rId127" Type="http://schemas.openxmlformats.org/officeDocument/2006/relationships/slideLayout" Target="../slideLayouts/slideLayout129.xml"/><Relationship Id="rId128" Type="http://schemas.openxmlformats.org/officeDocument/2006/relationships/slideLayout" Target="../slideLayouts/slideLayout130.xml"/><Relationship Id="rId129" Type="http://schemas.openxmlformats.org/officeDocument/2006/relationships/slideLayout" Target="../slideLayouts/slideLayout131.xml"/><Relationship Id="rId130" Type="http://schemas.openxmlformats.org/officeDocument/2006/relationships/slideLayout" Target="../slideLayouts/slideLayout132.xml"/><Relationship Id="rId131" Type="http://schemas.openxmlformats.org/officeDocument/2006/relationships/slideLayout" Target="../slideLayouts/slideLayout133.xml"/><Relationship Id="rId132" Type="http://schemas.openxmlformats.org/officeDocument/2006/relationships/slideLayout" Target="../slideLayouts/slideLayout134.xml"/><Relationship Id="rId133" Type="http://schemas.openxmlformats.org/officeDocument/2006/relationships/slideLayout" Target="../slideLayouts/slideLayout135.xml"/><Relationship Id="rId134" Type="http://schemas.openxmlformats.org/officeDocument/2006/relationships/slideLayout" Target="../slideLayouts/slideLayout136.xml"/><Relationship Id="rId135" Type="http://schemas.openxmlformats.org/officeDocument/2006/relationships/slideLayout" Target="../slideLayouts/slideLayout137.xml"/><Relationship Id="rId136" Type="http://schemas.openxmlformats.org/officeDocument/2006/relationships/slideLayout" Target="../slideLayouts/slideLayout138.xml"/><Relationship Id="rId137" Type="http://schemas.openxmlformats.org/officeDocument/2006/relationships/slideLayout" Target="../slideLayouts/slideLayout139.xml"/><Relationship Id="rId138" Type="http://schemas.openxmlformats.org/officeDocument/2006/relationships/slideLayout" Target="../slideLayouts/slideLayout140.xml"/><Relationship Id="rId139" Type="http://schemas.openxmlformats.org/officeDocument/2006/relationships/slideLayout" Target="../slideLayouts/slideLayout141.xml"/><Relationship Id="rId140" Type="http://schemas.openxmlformats.org/officeDocument/2006/relationships/slideLayout" Target="../slideLayouts/slideLayout142.xml"/><Relationship Id="rId141" Type="http://schemas.openxmlformats.org/officeDocument/2006/relationships/slideLayout" Target="../slideLayouts/slideLayout143.xml"/><Relationship Id="rId142" Type="http://schemas.openxmlformats.org/officeDocument/2006/relationships/slideLayout" Target="../slideLayouts/slideLayout144.xml"/><Relationship Id="rId143" Type="http://schemas.openxmlformats.org/officeDocument/2006/relationships/slideLayout" Target="../slideLayouts/slideLayout145.xml"/><Relationship Id="rId144" Type="http://schemas.openxmlformats.org/officeDocument/2006/relationships/slideLayout" Target="../slideLayouts/slideLayout146.xml"/><Relationship Id="rId145" Type="http://schemas.openxmlformats.org/officeDocument/2006/relationships/slideLayout" Target="../slideLayouts/slideLayout147.xml"/><Relationship Id="rId146" Type="http://schemas.openxmlformats.org/officeDocument/2006/relationships/slideLayout" Target="../slideLayouts/slideLayout148.xml"/><Relationship Id="rId147" Type="http://schemas.openxmlformats.org/officeDocument/2006/relationships/slideLayout" Target="../slideLayouts/slideLayout149.xml"/><Relationship Id="rId148" Type="http://schemas.openxmlformats.org/officeDocument/2006/relationships/slideLayout" Target="../slideLayouts/slideLayout150.xml"/><Relationship Id="rId149" Type="http://schemas.openxmlformats.org/officeDocument/2006/relationships/slideLayout" Target="../slideLayouts/slideLayout151.xml"/><Relationship Id="rId150" Type="http://schemas.openxmlformats.org/officeDocument/2006/relationships/slideLayout" Target="../slideLayouts/slideLayout152.xml"/><Relationship Id="rId151" Type="http://schemas.openxmlformats.org/officeDocument/2006/relationships/slideLayout" Target="../slideLayouts/slideLayout153.xml"/><Relationship Id="rId152" Type="http://schemas.openxmlformats.org/officeDocument/2006/relationships/slideLayout" Target="../slideLayouts/slideLayout154.xml"/><Relationship Id="rId153" Type="http://schemas.openxmlformats.org/officeDocument/2006/relationships/slideLayout" Target="../slideLayouts/slideLayout155.xml"/><Relationship Id="rId154" Type="http://schemas.openxmlformats.org/officeDocument/2006/relationships/slideLayout" Target="../slideLayouts/slideLayout156.xml"/><Relationship Id="rId155" Type="http://schemas.openxmlformats.org/officeDocument/2006/relationships/slideLayout" Target="../slideLayouts/slideLayout157.xml"/><Relationship Id="rId156" Type="http://schemas.openxmlformats.org/officeDocument/2006/relationships/slideLayout" Target="../slideLayouts/slideLayout158.xml"/><Relationship Id="rId157" Type="http://schemas.openxmlformats.org/officeDocument/2006/relationships/slideLayout" Target="../slideLayouts/slideLayout159.xml"/><Relationship Id="rId158" Type="http://schemas.openxmlformats.org/officeDocument/2006/relationships/slideLayout" Target="../slideLayouts/slideLayout160.xml"/><Relationship Id="rId159" Type="http://schemas.openxmlformats.org/officeDocument/2006/relationships/slideLayout" Target="../slideLayouts/slideLayout161.xml"/><Relationship Id="rId160" Type="http://schemas.openxmlformats.org/officeDocument/2006/relationships/slideLayout" Target="../slideLayouts/slideLayout162.xml"/><Relationship Id="rId161" Type="http://schemas.openxmlformats.org/officeDocument/2006/relationships/slideLayout" Target="../slideLayouts/slideLayout163.xml"/><Relationship Id="rId162" Type="http://schemas.openxmlformats.org/officeDocument/2006/relationships/slideLayout" Target="../slideLayouts/slideLayout164.xml"/><Relationship Id="rId163" Type="http://schemas.openxmlformats.org/officeDocument/2006/relationships/slideLayout" Target="../slideLayouts/slideLayout165.xml"/><Relationship Id="rId164" Type="http://schemas.openxmlformats.org/officeDocument/2006/relationships/slideLayout" Target="../slideLayouts/slideLayout166.xml"/><Relationship Id="rId165" Type="http://schemas.openxmlformats.org/officeDocument/2006/relationships/slideLayout" Target="../slideLayouts/slideLayout167.xml"/><Relationship Id="rId166" Type="http://schemas.openxmlformats.org/officeDocument/2006/relationships/slideLayout" Target="../slideLayouts/slideLayout168.xml"/><Relationship Id="rId167" Type="http://schemas.openxmlformats.org/officeDocument/2006/relationships/slideLayout" Target="../slideLayouts/slideLayout169.xml"/><Relationship Id="rId168" Type="http://schemas.openxmlformats.org/officeDocument/2006/relationships/slideLayout" Target="../slideLayouts/slideLayout170.xml"/><Relationship Id="rId169" Type="http://schemas.openxmlformats.org/officeDocument/2006/relationships/slideLayout" Target="../slideLayouts/slideLayout171.xml"/><Relationship Id="rId170" Type="http://schemas.openxmlformats.org/officeDocument/2006/relationships/slideLayout" Target="../slideLayouts/slideLayout172.xml"/><Relationship Id="rId171" Type="http://schemas.openxmlformats.org/officeDocument/2006/relationships/slideLayout" Target="../slideLayouts/slideLayout173.xml"/><Relationship Id="rId172" Type="http://schemas.openxmlformats.org/officeDocument/2006/relationships/slideLayout" Target="../slideLayouts/slideLayout174.xml"/><Relationship Id="rId173" Type="http://schemas.openxmlformats.org/officeDocument/2006/relationships/slideLayout" Target="../slideLayouts/slideLayout175.xml"/><Relationship Id="rId174" Type="http://schemas.openxmlformats.org/officeDocument/2006/relationships/slideLayout" Target="../slideLayouts/slideLayout176.xml"/><Relationship Id="rId175" Type="http://schemas.openxmlformats.org/officeDocument/2006/relationships/slideLayout" Target="../slideLayouts/slideLayout177.xml"/><Relationship Id="rId176" Type="http://schemas.openxmlformats.org/officeDocument/2006/relationships/slideLayout" Target="../slideLayouts/slideLayout178.xml"/><Relationship Id="rId177" Type="http://schemas.openxmlformats.org/officeDocument/2006/relationships/slideLayout" Target="../slideLayouts/slideLayout179.xml"/><Relationship Id="rId178" Type="http://schemas.openxmlformats.org/officeDocument/2006/relationships/slideLayout" Target="../slideLayouts/slideLayout180.xml"/><Relationship Id="rId179" Type="http://schemas.openxmlformats.org/officeDocument/2006/relationships/slideLayout" Target="../slideLayouts/slideLayout181.xml"/><Relationship Id="rId180" Type="http://schemas.openxmlformats.org/officeDocument/2006/relationships/slideLayout" Target="../slideLayouts/slideLayout182.xml"/><Relationship Id="rId181" Type="http://schemas.openxmlformats.org/officeDocument/2006/relationships/slideLayout" Target="../slideLayouts/slideLayout183.xml"/><Relationship Id="rId182" Type="http://schemas.openxmlformats.org/officeDocument/2006/relationships/slideLayout" Target="../slideLayouts/slideLayout184.xml"/><Relationship Id="rId183" Type="http://schemas.openxmlformats.org/officeDocument/2006/relationships/slideLayout" Target="../slideLayouts/slideLayout185.xml"/><Relationship Id="rId184" Type="http://schemas.openxmlformats.org/officeDocument/2006/relationships/slideLayout" Target="../slideLayouts/slideLayout186.xml"/><Relationship Id="rId185" Type="http://schemas.openxmlformats.org/officeDocument/2006/relationships/slideLayout" Target="../slideLayouts/slideLayout187.xml"/><Relationship Id="rId186" Type="http://schemas.openxmlformats.org/officeDocument/2006/relationships/slideLayout" Target="../slideLayouts/slideLayout188.xml"/><Relationship Id="rId187" Type="http://schemas.openxmlformats.org/officeDocument/2006/relationships/slideLayout" Target="../slideLayouts/slideLayout189.xml"/><Relationship Id="rId188" Type="http://schemas.openxmlformats.org/officeDocument/2006/relationships/slideLayout" Target="../slideLayouts/slideLayout190.xml"/><Relationship Id="rId189" Type="http://schemas.openxmlformats.org/officeDocument/2006/relationships/slideLayout" Target="../slideLayouts/slideLayout191.xml"/><Relationship Id="rId190" Type="http://schemas.openxmlformats.org/officeDocument/2006/relationships/slideLayout" Target="../slideLayouts/slideLayout192.xml"/><Relationship Id="rId191" Type="http://schemas.openxmlformats.org/officeDocument/2006/relationships/slideLayout" Target="../slideLayouts/slideLayout193.xml"/><Relationship Id="rId192" Type="http://schemas.openxmlformats.org/officeDocument/2006/relationships/slideLayout" Target="../slideLayouts/slideLayout194.xml"/><Relationship Id="rId193" Type="http://schemas.openxmlformats.org/officeDocument/2006/relationships/slideLayout" Target="../slideLayouts/slideLayout195.xml"/><Relationship Id="rId194" Type="http://schemas.openxmlformats.org/officeDocument/2006/relationships/slideLayout" Target="../slideLayouts/slideLayout196.xml"/><Relationship Id="rId195" Type="http://schemas.openxmlformats.org/officeDocument/2006/relationships/slideLayout" Target="../slideLayouts/slideLayout197.xml"/><Relationship Id="rId196" Type="http://schemas.openxmlformats.org/officeDocument/2006/relationships/slideLayout" Target="../slideLayouts/slideLayout198.xml"/><Relationship Id="rId197" Type="http://schemas.openxmlformats.org/officeDocument/2006/relationships/slideLayout" Target="../slideLayouts/slideLayout199.xml"/><Relationship Id="rId198" Type="http://schemas.openxmlformats.org/officeDocument/2006/relationships/slideLayout" Target="../slideLayouts/slideLayout200.xml"/><Relationship Id="rId199" Type="http://schemas.openxmlformats.org/officeDocument/2006/relationships/slideLayout" Target="../slideLayouts/slideLayout201.xml"/><Relationship Id="rId200" Type="http://schemas.openxmlformats.org/officeDocument/2006/relationships/slideLayout" Target="../slideLayouts/slideLayout202.xml"/><Relationship Id="rId201" Type="http://schemas.openxmlformats.org/officeDocument/2006/relationships/slideLayout" Target="../slideLayouts/slideLayout203.xml"/><Relationship Id="rId202" Type="http://schemas.openxmlformats.org/officeDocument/2006/relationships/slideLayout" Target="../slideLayouts/slideLayout204.xml"/><Relationship Id="rId203" Type="http://schemas.openxmlformats.org/officeDocument/2006/relationships/slideLayout" Target="../slideLayouts/slideLayout205.xml"/><Relationship Id="rId204" Type="http://schemas.openxmlformats.org/officeDocument/2006/relationships/slideLayout" Target="../slideLayouts/slideLayout206.xml"/><Relationship Id="rId205" Type="http://schemas.openxmlformats.org/officeDocument/2006/relationships/slideLayout" Target="../slideLayouts/slideLayout207.xml"/><Relationship Id="rId206" Type="http://schemas.openxmlformats.org/officeDocument/2006/relationships/slideLayout" Target="../slideLayouts/slideLayout208.xml"/><Relationship Id="rId207" Type="http://schemas.openxmlformats.org/officeDocument/2006/relationships/slideLayout" Target="../slideLayouts/slideLayout209.xml"/><Relationship Id="rId208" Type="http://schemas.openxmlformats.org/officeDocument/2006/relationships/slideLayout" Target="../slideLayouts/slideLayout210.xml"/><Relationship Id="rId209" Type="http://schemas.openxmlformats.org/officeDocument/2006/relationships/slideLayout" Target="../slideLayouts/slideLayout211.xml"/><Relationship Id="rId210" Type="http://schemas.openxmlformats.org/officeDocument/2006/relationships/slideLayout" Target="../slideLayouts/slideLayout212.xml"/><Relationship Id="rId211" Type="http://schemas.openxmlformats.org/officeDocument/2006/relationships/slideLayout" Target="../slideLayouts/slideLayout213.xml"/><Relationship Id="rId212" Type="http://schemas.openxmlformats.org/officeDocument/2006/relationships/slideLayout" Target="../slideLayouts/slideLayout214.xml"/><Relationship Id="rId213" Type="http://schemas.openxmlformats.org/officeDocument/2006/relationships/slideLayout" Target="../slideLayouts/slideLayout215.xml"/><Relationship Id="rId214" Type="http://schemas.openxmlformats.org/officeDocument/2006/relationships/slideLayout" Target="../slideLayouts/slideLayout216.xml"/><Relationship Id="rId215" Type="http://schemas.openxmlformats.org/officeDocument/2006/relationships/slideLayout" Target="../slideLayouts/slideLayout217.xml"/><Relationship Id="rId216" Type="http://schemas.openxmlformats.org/officeDocument/2006/relationships/slideLayout" Target="../slideLayouts/slideLayout218.xml"/><Relationship Id="rId217" Type="http://schemas.openxmlformats.org/officeDocument/2006/relationships/slideLayout" Target="../slideLayouts/slideLayout219.xml"/><Relationship Id="rId218" Type="http://schemas.openxmlformats.org/officeDocument/2006/relationships/slideLayout" Target="../slideLayouts/slideLayout220.xml"/><Relationship Id="rId219" Type="http://schemas.openxmlformats.org/officeDocument/2006/relationships/slideLayout" Target="../slideLayouts/slideLayout221.xml"/><Relationship Id="rId220" Type="http://schemas.openxmlformats.org/officeDocument/2006/relationships/slideLayout" Target="../slideLayouts/slideLayout222.xml"/><Relationship Id="rId221" Type="http://schemas.openxmlformats.org/officeDocument/2006/relationships/slideLayout" Target="../slideLayouts/slideLayout223.xml"/><Relationship Id="rId222" Type="http://schemas.openxmlformats.org/officeDocument/2006/relationships/slideLayout" Target="../slideLayouts/slideLayout224.xml"/><Relationship Id="rId223" Type="http://schemas.openxmlformats.org/officeDocument/2006/relationships/slideLayout" Target="../slideLayouts/slideLayout225.xml"/><Relationship Id="rId224" Type="http://schemas.openxmlformats.org/officeDocument/2006/relationships/slideLayout" Target="../slideLayouts/slideLayout226.xml"/><Relationship Id="rId225" Type="http://schemas.openxmlformats.org/officeDocument/2006/relationships/slideLayout" Target="../slideLayouts/slideLayout22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1" r:id="rId3"/>
    <p:sldLayoutId id="2147483654" r:id="rId6"/>
    <p:sldLayoutId id="2147483655" r:id="rId5"/>
    <p:sldLayoutId id="2147483656" r:id="rId4"/>
    <p:sldLayoutId id="2147483657" r:id="rId7"/>
    <p:sldLayoutId id="2147483658" r:id="rId8"/>
    <p:sldLayoutId id="2147483659" r:id="rId9"/>
    <p:sldLayoutId id="2147483660" r:id="rId10"/>
    <p:sldLayoutId id="2147483661" r:id="rId11"/>
    <p:sldLayoutId id="2147483662" r:id="rId2"/>
    <p:sldLayoutId id="2147483663" r:id="rId13"/>
    <p:sldLayoutId id="2147483664" r:id="rId14"/>
    <p:sldLayoutId id="2147483665" r:id="rId15"/>
    <p:sldLayoutId id="2147483666" r:id="rId16"/>
    <p:sldLayoutId id="2147483667" r:id="rId17"/>
    <p:sldLayoutId id="2147483668" r:id="rId18"/>
    <p:sldLayoutId id="2147483669" r:id="rId19"/>
    <p:sldLayoutId id="2147483670" r:id="rId20"/>
    <p:sldLayoutId id="2147483671" r:id="rId21"/>
    <p:sldLayoutId id="2147483672" r:id="rId22"/>
    <p:sldLayoutId id="2147483673" r:id="rId23"/>
    <p:sldLayoutId id="2147483674" r:id="rId24"/>
    <p:sldLayoutId id="2147483675" r:id="rId25"/>
    <p:sldLayoutId id="2147483676" r:id="rId26"/>
    <p:sldLayoutId id="2147483677" r:id="rId27"/>
    <p:sldLayoutId id="2147483678" r:id="rId28"/>
    <p:sldLayoutId id="2147483679" r:id="rId29"/>
    <p:sldLayoutId id="2147483680" r:id="rId30"/>
    <p:sldLayoutId id="2147483681" r:id="rId31"/>
    <p:sldLayoutId id="2147483682" r:id="rId32"/>
    <p:sldLayoutId id="2147483683" r:id="rId33"/>
    <p:sldLayoutId id="2147483684" r:id="rId34"/>
    <p:sldLayoutId id="2147483685" r:id="rId35"/>
    <p:sldLayoutId id="2147483686" r:id="rId36"/>
    <p:sldLayoutId id="2147483687" r:id="rId37"/>
    <p:sldLayoutId id="2147483688" r:id="rId38"/>
    <p:sldLayoutId id="2147483689" r:id="rId39"/>
    <p:sldLayoutId id="2147483690" r:id="rId40"/>
    <p:sldLayoutId id="2147483691" r:id="rId41"/>
    <p:sldLayoutId id="2147483692" r:id="rId42"/>
    <p:sldLayoutId id="2147483693" r:id="rId43"/>
    <p:sldLayoutId id="2147483694" r:id="rId44"/>
    <p:sldLayoutId id="2147483695" r:id="rId45"/>
    <p:sldLayoutId id="2147483696" r:id="rId46"/>
    <p:sldLayoutId id="2147483697" r:id="rId47"/>
    <p:sldLayoutId id="2147483698" r:id="rId48"/>
    <p:sldLayoutId id="2147483699" r:id="rId49"/>
    <p:sldLayoutId id="2147483700" r:id="rId50"/>
    <p:sldLayoutId id="2147483701" r:id="rId51"/>
    <p:sldLayoutId id="2147483702" r:id="rId52"/>
    <p:sldLayoutId id="2147483703" r:id="rId53"/>
    <p:sldLayoutId id="2147483704" r:id="rId54"/>
    <p:sldLayoutId id="2147483705" r:id="rId55"/>
    <p:sldLayoutId id="2147483706" r:id="rId56"/>
    <p:sldLayoutId id="2147483707" r:id="rId57"/>
    <p:sldLayoutId id="2147483708" r:id="rId58"/>
    <p:sldLayoutId id="2147483709" r:id="rId59"/>
    <p:sldLayoutId id="2147483710" r:id="rId60"/>
    <p:sldLayoutId id="2147483711" r:id="rId61"/>
    <p:sldLayoutId id="2147483712" r:id="rId62"/>
    <p:sldLayoutId id="2147483713" r:id="rId63"/>
    <p:sldLayoutId id="2147483714" r:id="rId64"/>
    <p:sldLayoutId id="2147483715" r:id="rId65"/>
    <p:sldLayoutId id="2147483716" r:id="rId66"/>
    <p:sldLayoutId id="2147483717" r:id="rId67"/>
    <p:sldLayoutId id="2147483718" r:id="rId68"/>
    <p:sldLayoutId id="2147483719" r:id="rId69"/>
    <p:sldLayoutId id="2147483720" r:id="rId70"/>
    <p:sldLayoutId id="2147483721" r:id="rId71"/>
    <p:sldLayoutId id="2147483722" r:id="rId72"/>
    <p:sldLayoutId id="2147483723" r:id="rId73"/>
    <p:sldLayoutId id="2147483724" r:id="rId74"/>
    <p:sldLayoutId id="2147483725" r:id="rId75"/>
    <p:sldLayoutId id="2147483726" r:id="rId76"/>
    <p:sldLayoutId id="2147483727" r:id="rId77"/>
    <p:sldLayoutId id="2147483728" r:id="rId78"/>
    <p:sldLayoutId id="2147483729" r:id="rId79"/>
    <p:sldLayoutId id="2147483730" r:id="rId80"/>
    <p:sldLayoutId id="2147483731" r:id="rId81"/>
    <p:sldLayoutId id="2147483732" r:id="rId82"/>
    <p:sldLayoutId id="2147483733" r:id="rId83"/>
    <p:sldLayoutId id="2147483734" r:id="rId84"/>
    <p:sldLayoutId id="2147483735" r:id="rId85"/>
    <p:sldLayoutId id="2147483736" r:id="rId86"/>
    <p:sldLayoutId id="2147483737" r:id="rId87"/>
    <p:sldLayoutId id="2147483738" r:id="rId88"/>
    <p:sldLayoutId id="2147483739" r:id="rId89"/>
    <p:sldLayoutId id="2147483740" r:id="rId90"/>
    <p:sldLayoutId id="2147483741" r:id="rId91"/>
    <p:sldLayoutId id="2147483742" r:id="rId92"/>
    <p:sldLayoutId id="2147483743" r:id="rId93"/>
    <p:sldLayoutId id="2147483744" r:id="rId94"/>
    <p:sldLayoutId id="2147483745" r:id="rId95"/>
    <p:sldLayoutId id="2147483746" r:id="rId96"/>
    <p:sldLayoutId id="2147483747" r:id="rId97"/>
    <p:sldLayoutId id="2147483748" r:id="rId98"/>
    <p:sldLayoutId id="2147483749" r:id="rId99"/>
    <p:sldLayoutId id="2147483750" r:id="rId100"/>
    <p:sldLayoutId id="2147483751" r:id="rId101"/>
    <p:sldLayoutId id="2147483752" r:id="rId102"/>
    <p:sldLayoutId id="2147483753" r:id="rId103"/>
    <p:sldLayoutId id="2147483754" r:id="rId104"/>
    <p:sldLayoutId id="2147483755" r:id="rId105"/>
    <p:sldLayoutId id="2147483756" r:id="rId106"/>
    <p:sldLayoutId id="2147483757" r:id="rId107"/>
    <p:sldLayoutId id="2147483758" r:id="rId108"/>
    <p:sldLayoutId id="2147483759" r:id="rId109"/>
    <p:sldLayoutId id="2147483760" r:id="rId110"/>
    <p:sldLayoutId id="2147483761" r:id="rId111"/>
    <p:sldLayoutId id="2147483762" r:id="rId112"/>
    <p:sldLayoutId id="2147483763" r:id="rId113"/>
    <p:sldLayoutId id="2147483764" r:id="rId114"/>
    <p:sldLayoutId id="2147483765" r:id="rId115"/>
    <p:sldLayoutId id="2147483766" r:id="rId116"/>
    <p:sldLayoutId id="2147483767" r:id="rId117"/>
    <p:sldLayoutId id="2147483768" r:id="rId118"/>
    <p:sldLayoutId id="2147483769" r:id="rId119"/>
    <p:sldLayoutId id="2147483770" r:id="rId120"/>
    <p:sldLayoutId id="2147483771" r:id="rId121"/>
    <p:sldLayoutId id="2147483772" r:id="rId122"/>
    <p:sldLayoutId id="2147483773" r:id="rId123"/>
    <p:sldLayoutId id="2147483774" r:id="rId124"/>
    <p:sldLayoutId id="2147483775" r:id="rId125"/>
    <p:sldLayoutId id="2147483776" r:id="rId126"/>
    <p:sldLayoutId id="2147483777" r:id="rId127"/>
    <p:sldLayoutId id="2147483778" r:id="rId128"/>
    <p:sldLayoutId id="2147483779" r:id="rId129"/>
    <p:sldLayoutId id="2147483780" r:id="rId130"/>
    <p:sldLayoutId id="2147483781" r:id="rId131"/>
    <p:sldLayoutId id="2147483782" r:id="rId132"/>
    <p:sldLayoutId id="2147483783" r:id="rId133"/>
    <p:sldLayoutId id="2147483784" r:id="rId134"/>
    <p:sldLayoutId id="2147483785" r:id="rId135"/>
    <p:sldLayoutId id="2147483786" r:id="rId136"/>
    <p:sldLayoutId id="2147483787" r:id="rId137"/>
    <p:sldLayoutId id="2147483788" r:id="rId138"/>
    <p:sldLayoutId id="2147483789" r:id="rId139"/>
    <p:sldLayoutId id="2147483790" r:id="rId140"/>
    <p:sldLayoutId id="2147483791" r:id="rId141"/>
    <p:sldLayoutId id="2147483792" r:id="rId142"/>
    <p:sldLayoutId id="2147483793" r:id="rId143"/>
    <p:sldLayoutId id="2147483794" r:id="rId144"/>
    <p:sldLayoutId id="2147483795" r:id="rId145"/>
    <p:sldLayoutId id="2147483796" r:id="rId146"/>
    <p:sldLayoutId id="2147483797" r:id="rId147"/>
    <p:sldLayoutId id="2147483798" r:id="rId148"/>
    <p:sldLayoutId id="2147483799" r:id="rId149"/>
    <p:sldLayoutId id="2147483800" r:id="rId150"/>
    <p:sldLayoutId id="2147483801" r:id="rId151"/>
    <p:sldLayoutId id="2147483802" r:id="rId152"/>
    <p:sldLayoutId id="2147483803" r:id="rId153"/>
    <p:sldLayoutId id="2147483804" r:id="rId154"/>
    <p:sldLayoutId id="2147483805" r:id="rId155"/>
    <p:sldLayoutId id="2147483806" r:id="rId156"/>
    <p:sldLayoutId id="2147483807" r:id="rId157"/>
    <p:sldLayoutId id="2147483808" r:id="rId158"/>
    <p:sldLayoutId id="2147483809" r:id="rId159"/>
    <p:sldLayoutId id="2147483810" r:id="rId160"/>
    <p:sldLayoutId id="2147483811" r:id="rId161"/>
    <p:sldLayoutId id="2147483812" r:id="rId162"/>
    <p:sldLayoutId id="2147483813" r:id="rId163"/>
    <p:sldLayoutId id="2147483814" r:id="rId164"/>
    <p:sldLayoutId id="2147483815" r:id="rId165"/>
    <p:sldLayoutId id="2147483816" r:id="rId166"/>
    <p:sldLayoutId id="2147483817" r:id="rId167"/>
    <p:sldLayoutId id="2147483818" r:id="rId168"/>
    <p:sldLayoutId id="2147483819" r:id="rId169"/>
    <p:sldLayoutId id="2147483820" r:id="rId170"/>
    <p:sldLayoutId id="2147483821" r:id="rId171"/>
    <p:sldLayoutId id="2147483822" r:id="rId172"/>
    <p:sldLayoutId id="2147483823" r:id="rId173"/>
    <p:sldLayoutId id="2147483824" r:id="rId174"/>
    <p:sldLayoutId id="2147483825" r:id="rId175"/>
    <p:sldLayoutId id="2147483826" r:id="rId176"/>
    <p:sldLayoutId id="2147483827" r:id="rId177"/>
    <p:sldLayoutId id="2147483828" r:id="rId178"/>
    <p:sldLayoutId id="2147483829" r:id="rId179"/>
    <p:sldLayoutId id="2147483830" r:id="rId180"/>
    <p:sldLayoutId id="2147483831" r:id="rId181"/>
    <p:sldLayoutId id="2147483832" r:id="rId182"/>
    <p:sldLayoutId id="2147483833" r:id="rId183"/>
    <p:sldLayoutId id="2147483834" r:id="rId184"/>
    <p:sldLayoutId id="2147483835" r:id="rId185"/>
    <p:sldLayoutId id="2147483836" r:id="rId186"/>
    <p:sldLayoutId id="2147483837" r:id="rId187"/>
    <p:sldLayoutId id="2147483838" r:id="rId188"/>
    <p:sldLayoutId id="2147483839" r:id="rId189"/>
    <p:sldLayoutId id="2147483840" r:id="rId190"/>
    <p:sldLayoutId id="2147483841" r:id="rId191"/>
    <p:sldLayoutId id="2147483842" r:id="rId192"/>
    <p:sldLayoutId id="2147483843" r:id="rId193"/>
    <p:sldLayoutId id="2147483844" r:id="rId194"/>
    <p:sldLayoutId id="2147483845" r:id="rId195"/>
    <p:sldLayoutId id="2147483846" r:id="rId196"/>
    <p:sldLayoutId id="2147483847" r:id="rId197"/>
    <p:sldLayoutId id="2147483848" r:id="rId198"/>
    <p:sldLayoutId id="2147483849" r:id="rId199"/>
    <p:sldLayoutId id="2147483850" r:id="rId200"/>
    <p:sldLayoutId id="2147483851" r:id="rId201"/>
    <p:sldLayoutId id="2147483852" r:id="rId202"/>
    <p:sldLayoutId id="2147483853" r:id="rId203"/>
    <p:sldLayoutId id="2147483854" r:id="rId204"/>
    <p:sldLayoutId id="2147483855" r:id="rId205"/>
    <p:sldLayoutId id="2147483856" r:id="rId206"/>
    <p:sldLayoutId id="2147483857" r:id="rId207"/>
    <p:sldLayoutId id="2147483858" r:id="rId208"/>
    <p:sldLayoutId id="2147483859" r:id="rId209"/>
    <p:sldLayoutId id="2147483860" r:id="rId210"/>
    <p:sldLayoutId id="2147483861" r:id="rId211"/>
    <p:sldLayoutId id="2147483862" r:id="rId212"/>
    <p:sldLayoutId id="2147483863" r:id="rId213"/>
    <p:sldLayoutId id="2147483864" r:id="rId214"/>
    <p:sldLayoutId id="2147483865" r:id="rId215"/>
    <p:sldLayoutId id="2147483866" r:id="rId216"/>
    <p:sldLayoutId id="2147483867" r:id="rId217"/>
    <p:sldLayoutId id="2147483868" r:id="rId218"/>
    <p:sldLayoutId id="2147483869" r:id="rId219"/>
    <p:sldLayoutId id="2147483870" r:id="rId220"/>
    <p:sldLayoutId id="2147483871" r:id="rId221"/>
    <p:sldLayoutId id="2147483872" r:id="rId222"/>
    <p:sldLayoutId id="2147483873" r:id="rId223"/>
    <p:sldLayoutId id="2147483874" r:id="rId224"/>
    <p:sldLayoutId id="2147483875" r:id="rId225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png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3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4.xml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5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6.xml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7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8.xml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9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0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1.xml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2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3.xml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4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15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16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17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18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19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20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21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22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23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24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25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26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27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28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29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6.xml"/><Relationship Id="rId2" Type="http://schemas.openxmlformats.org/officeDocument/2006/relationships/notesSlide" Target="../notesSlides/notesSlide30.xml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31.xml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8.xml"/><Relationship Id="rId2" Type="http://schemas.openxmlformats.org/officeDocument/2006/relationships/notesSlide" Target="../notesSlides/notesSlide32.xml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39.xml"/><Relationship Id="rId2" Type="http://schemas.openxmlformats.org/officeDocument/2006/relationships/notesSlide" Target="../notesSlides/notesSlide33.xml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40.xml"/><Relationship Id="rId2" Type="http://schemas.openxmlformats.org/officeDocument/2006/relationships/notesSlide" Target="../notesSlides/notesSlide34.xml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41.xml"/><Relationship Id="rId2" Type="http://schemas.openxmlformats.org/officeDocument/2006/relationships/notesSlide" Target="../notesSlides/notesSlide35.xml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42.xml"/><Relationship Id="rId2" Type="http://schemas.openxmlformats.org/officeDocument/2006/relationships/notesSlide" Target="../notesSlides/notesSlide36.xml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43.xml"/><Relationship Id="rId2" Type="http://schemas.openxmlformats.org/officeDocument/2006/relationships/notesSlide" Target="../notesSlides/notesSlide37.xml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44.xml"/><Relationship Id="rId2" Type="http://schemas.openxmlformats.org/officeDocument/2006/relationships/notesSlide" Target="../notesSlides/notesSlide38.xml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45.xml"/><Relationship Id="rId2" Type="http://schemas.openxmlformats.org/officeDocument/2006/relationships/notesSlide" Target="../notesSlides/notesSlide39.xml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46.xml"/><Relationship Id="rId2" Type="http://schemas.openxmlformats.org/officeDocument/2006/relationships/notesSlide" Target="../notesSlides/notesSlide40.xml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47.xml"/><Relationship Id="rId2" Type="http://schemas.openxmlformats.org/officeDocument/2006/relationships/notesSlide" Target="../notesSlides/notesSlide41.xml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48.xml"/><Relationship Id="rId2" Type="http://schemas.openxmlformats.org/officeDocument/2006/relationships/notesSlide" Target="../notesSlides/notesSlide42.xml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49.xml"/><Relationship Id="rId2" Type="http://schemas.openxmlformats.org/officeDocument/2006/relationships/notesSlide" Target="../notesSlides/notesSlide43.xml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0.xml"/><Relationship Id="rId2" Type="http://schemas.openxmlformats.org/officeDocument/2006/relationships/notesSlide" Target="../notesSlides/notesSlide44.xml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1.xml"/><Relationship Id="rId2" Type="http://schemas.openxmlformats.org/officeDocument/2006/relationships/notesSlide" Target="../notesSlides/notesSlide45.xml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2.xml"/><Relationship Id="rId2" Type="http://schemas.openxmlformats.org/officeDocument/2006/relationships/notesSlide" Target="../notesSlides/notesSlide46.xml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3.xml"/><Relationship Id="rId2" Type="http://schemas.openxmlformats.org/officeDocument/2006/relationships/notesSlide" Target="../notesSlides/notesSlide47.xml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4.xml"/><Relationship Id="rId2" Type="http://schemas.openxmlformats.org/officeDocument/2006/relationships/notesSlide" Target="../notesSlides/notesSlide48.xml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5.xml"/><Relationship Id="rId2" Type="http://schemas.openxmlformats.org/officeDocument/2006/relationships/notesSlide" Target="../notesSlides/notesSlide49.xml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6.xml"/><Relationship Id="rId2" Type="http://schemas.openxmlformats.org/officeDocument/2006/relationships/notesSlide" Target="../notesSlides/notesSlide50.xml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7.xml"/><Relationship Id="rId2" Type="http://schemas.openxmlformats.org/officeDocument/2006/relationships/notesSlide" Target="../notesSlides/notesSlide51.xml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8.xml"/><Relationship Id="rId2" Type="http://schemas.openxmlformats.org/officeDocument/2006/relationships/notesSlide" Target="../notesSlides/notesSlide52.xml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59.xml"/><Relationship Id="rId2" Type="http://schemas.openxmlformats.org/officeDocument/2006/relationships/notesSlide" Target="../notesSlides/notesSlide53.xml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60.xml"/><Relationship Id="rId2" Type="http://schemas.openxmlformats.org/officeDocument/2006/relationships/notesSlide" Target="../notesSlides/notesSlide54.xml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61.xml"/><Relationship Id="rId2" Type="http://schemas.openxmlformats.org/officeDocument/2006/relationships/notesSlide" Target="../notesSlides/notesSlide55.xml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62.xml"/><Relationship Id="rId2" Type="http://schemas.openxmlformats.org/officeDocument/2006/relationships/notesSlide" Target="../notesSlides/notesSlide56.xml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63.xml"/><Relationship Id="rId2" Type="http://schemas.openxmlformats.org/officeDocument/2006/relationships/notesSlide" Target="../notesSlides/notesSlide57.xml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64.xml"/><Relationship Id="rId2" Type="http://schemas.openxmlformats.org/officeDocument/2006/relationships/notesSlide" Target="../notesSlides/notesSlide58.xml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65.xml"/><Relationship Id="rId2" Type="http://schemas.openxmlformats.org/officeDocument/2006/relationships/notesSlide" Target="../notesSlides/notesSlide59.xml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66.xml"/><Relationship Id="rId2" Type="http://schemas.openxmlformats.org/officeDocument/2006/relationships/notesSlide" Target="../notesSlides/notesSlide60.xml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67.xml"/><Relationship Id="rId2" Type="http://schemas.openxmlformats.org/officeDocument/2006/relationships/notesSlide" Target="../notesSlides/notesSlide61.xml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68.xml"/><Relationship Id="rId2" Type="http://schemas.openxmlformats.org/officeDocument/2006/relationships/notesSlide" Target="../notesSlides/notesSlide62.xml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69.xml"/><Relationship Id="rId2" Type="http://schemas.openxmlformats.org/officeDocument/2006/relationships/notesSlide" Target="../notesSlides/notesSlide63.xml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0.xml"/><Relationship Id="rId2" Type="http://schemas.openxmlformats.org/officeDocument/2006/relationships/notesSlide" Target="../notesSlides/notesSlide64.xml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1.xml"/><Relationship Id="rId2" Type="http://schemas.openxmlformats.org/officeDocument/2006/relationships/notesSlide" Target="../notesSlides/notesSlide65.xml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2.xml"/><Relationship Id="rId2" Type="http://schemas.openxmlformats.org/officeDocument/2006/relationships/notesSlide" Target="../notesSlides/notesSlide66.xml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3.xml"/><Relationship Id="rId2" Type="http://schemas.openxmlformats.org/officeDocument/2006/relationships/notesSlide" Target="../notesSlides/notesSlide67.xml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4.xml"/><Relationship Id="rId2" Type="http://schemas.openxmlformats.org/officeDocument/2006/relationships/notesSlide" Target="../notesSlides/notesSlide68.xml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5.xml"/><Relationship Id="rId2" Type="http://schemas.openxmlformats.org/officeDocument/2006/relationships/notesSlide" Target="../notesSlides/notesSlide69.xml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6.xml"/><Relationship Id="rId2" Type="http://schemas.openxmlformats.org/officeDocument/2006/relationships/notesSlide" Target="../notesSlides/notesSlide70.xml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7.xml"/><Relationship Id="rId2" Type="http://schemas.openxmlformats.org/officeDocument/2006/relationships/notesSlide" Target="../notesSlides/notesSlide71.xml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8.xml"/><Relationship Id="rId2" Type="http://schemas.openxmlformats.org/officeDocument/2006/relationships/notesSlide" Target="../notesSlides/notesSlide72.xml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9.xml"/><Relationship Id="rId2" Type="http://schemas.openxmlformats.org/officeDocument/2006/relationships/notesSlide" Target="../notesSlides/notesSlide73.xml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80.xml"/><Relationship Id="rId2" Type="http://schemas.openxmlformats.org/officeDocument/2006/relationships/notesSlide" Target="../notesSlides/notesSlide74.xml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81.xml"/><Relationship Id="rId2" Type="http://schemas.openxmlformats.org/officeDocument/2006/relationships/notesSlide" Target="../notesSlides/notesSlide75.xml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82.xml"/><Relationship Id="rId2" Type="http://schemas.openxmlformats.org/officeDocument/2006/relationships/notesSlide" Target="../notesSlides/notesSlide76.xml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83.xml"/><Relationship Id="rId2" Type="http://schemas.openxmlformats.org/officeDocument/2006/relationships/notesSlide" Target="../notesSlides/notesSlide77.xml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84.xml"/><Relationship Id="rId2" Type="http://schemas.openxmlformats.org/officeDocument/2006/relationships/notesSlide" Target="../notesSlides/notesSlide78.xml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85.xml"/><Relationship Id="rId2" Type="http://schemas.openxmlformats.org/officeDocument/2006/relationships/notesSlide" Target="../notesSlides/notesSlide79.xml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86.xml"/><Relationship Id="rId2" Type="http://schemas.openxmlformats.org/officeDocument/2006/relationships/notesSlide" Target="../notesSlides/notesSlide80.xml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87.xml"/><Relationship Id="rId2" Type="http://schemas.openxmlformats.org/officeDocument/2006/relationships/notesSlide" Target="../notesSlides/notesSlide81.xml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88.xml"/><Relationship Id="rId2" Type="http://schemas.openxmlformats.org/officeDocument/2006/relationships/notesSlide" Target="../notesSlides/notesSlide82.xml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89.xml"/><Relationship Id="rId2" Type="http://schemas.openxmlformats.org/officeDocument/2006/relationships/notesSlide" Target="../notesSlides/notesSlide83.xml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90.xml"/><Relationship Id="rId2" Type="http://schemas.openxmlformats.org/officeDocument/2006/relationships/notesSlide" Target="../notesSlides/notesSlide84.xml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91.xml"/><Relationship Id="rId2" Type="http://schemas.openxmlformats.org/officeDocument/2006/relationships/notesSlide" Target="../notesSlides/notesSlide85.xml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92.xml"/><Relationship Id="rId2" Type="http://schemas.openxmlformats.org/officeDocument/2006/relationships/notesSlide" Target="../notesSlides/notesSlide86.xml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93.xml"/><Relationship Id="rId2" Type="http://schemas.openxmlformats.org/officeDocument/2006/relationships/notesSlide" Target="../notesSlides/notesSlide87.xml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94.xml"/><Relationship Id="rId2" Type="http://schemas.openxmlformats.org/officeDocument/2006/relationships/notesSlide" Target="../notesSlides/notesSlide88.xml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95.xml"/><Relationship Id="rId2" Type="http://schemas.openxmlformats.org/officeDocument/2006/relationships/notesSlide" Target="../notesSlides/notesSlide89.xml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96.xml"/><Relationship Id="rId2" Type="http://schemas.openxmlformats.org/officeDocument/2006/relationships/notesSlide" Target="../notesSlides/notesSlide90.xml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97.xml"/><Relationship Id="rId2" Type="http://schemas.openxmlformats.org/officeDocument/2006/relationships/notesSlide" Target="../notesSlides/notesSlide91.xml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98.xml"/><Relationship Id="rId2" Type="http://schemas.openxmlformats.org/officeDocument/2006/relationships/notesSlide" Target="../notesSlides/notesSlide92.xml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99.xml"/><Relationship Id="rId2" Type="http://schemas.openxmlformats.org/officeDocument/2006/relationships/notesSlide" Target="../notesSlides/notesSlide93.xml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00.xml"/><Relationship Id="rId2" Type="http://schemas.openxmlformats.org/officeDocument/2006/relationships/notesSlide" Target="../notesSlides/notesSlide94.xml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01.xml"/><Relationship Id="rId2" Type="http://schemas.openxmlformats.org/officeDocument/2006/relationships/notesSlide" Target="../notesSlides/notesSlide95.xml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02.xml"/><Relationship Id="rId2" Type="http://schemas.openxmlformats.org/officeDocument/2006/relationships/notesSlide" Target="../notesSlides/notesSlide96.xml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03.xml"/><Relationship Id="rId2" Type="http://schemas.openxmlformats.org/officeDocument/2006/relationships/notesSlide" Target="../notesSlides/notesSlide97.xml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04.xml"/><Relationship Id="rId2" Type="http://schemas.openxmlformats.org/officeDocument/2006/relationships/notesSlide" Target="../notesSlides/notesSlide98.xml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05.xml"/><Relationship Id="rId2" Type="http://schemas.openxmlformats.org/officeDocument/2006/relationships/notesSlide" Target="../notesSlides/notesSlide99.xml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06.xml"/><Relationship Id="rId2" Type="http://schemas.openxmlformats.org/officeDocument/2006/relationships/notesSlide" Target="../notesSlides/notesSlide100.xml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07.xml"/><Relationship Id="rId2" Type="http://schemas.openxmlformats.org/officeDocument/2006/relationships/notesSlide" Target="../notesSlides/notesSlide101.xml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08.xml"/><Relationship Id="rId2" Type="http://schemas.openxmlformats.org/officeDocument/2006/relationships/notesSlide" Target="../notesSlides/notesSlide102.xml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09.xml"/><Relationship Id="rId2" Type="http://schemas.openxmlformats.org/officeDocument/2006/relationships/notesSlide" Target="../notesSlides/notesSlide103.xml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10.xml"/><Relationship Id="rId2" Type="http://schemas.openxmlformats.org/officeDocument/2006/relationships/notesSlide" Target="../notesSlides/notesSlide104.xml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11.xml"/><Relationship Id="rId2" Type="http://schemas.openxmlformats.org/officeDocument/2006/relationships/notesSlide" Target="../notesSlides/notesSlide105.xml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12.xml"/><Relationship Id="rId2" Type="http://schemas.openxmlformats.org/officeDocument/2006/relationships/notesSlide" Target="../notesSlides/notesSlide106.xml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13.xml"/><Relationship Id="rId2" Type="http://schemas.openxmlformats.org/officeDocument/2006/relationships/notesSlide" Target="../notesSlides/notesSlide107.xml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14.xml"/><Relationship Id="rId2" Type="http://schemas.openxmlformats.org/officeDocument/2006/relationships/notesSlide" Target="../notesSlides/notesSlide108.xml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15.xml"/><Relationship Id="rId2" Type="http://schemas.openxmlformats.org/officeDocument/2006/relationships/notesSlide" Target="../notesSlides/notesSlide109.xml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16.xml"/><Relationship Id="rId2" Type="http://schemas.openxmlformats.org/officeDocument/2006/relationships/notesSlide" Target="../notesSlides/notesSlide110.xml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17.xml"/><Relationship Id="rId2" Type="http://schemas.openxmlformats.org/officeDocument/2006/relationships/notesSlide" Target="../notesSlides/notesSlide111.xml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18.xml"/><Relationship Id="rId2" Type="http://schemas.openxmlformats.org/officeDocument/2006/relationships/notesSlide" Target="../notesSlides/notesSlide112.xml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19.xml"/><Relationship Id="rId2" Type="http://schemas.openxmlformats.org/officeDocument/2006/relationships/notesSlide" Target="../notesSlides/notesSlide113.xml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20.xml"/><Relationship Id="rId2" Type="http://schemas.openxmlformats.org/officeDocument/2006/relationships/notesSlide" Target="../notesSlides/notesSlide114.xml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21.xml"/><Relationship Id="rId2" Type="http://schemas.openxmlformats.org/officeDocument/2006/relationships/notesSlide" Target="../notesSlides/notesSlide115.xml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22.xml"/><Relationship Id="rId2" Type="http://schemas.openxmlformats.org/officeDocument/2006/relationships/notesSlide" Target="../notesSlides/notesSlide116.xml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23.xml"/><Relationship Id="rId2" Type="http://schemas.openxmlformats.org/officeDocument/2006/relationships/notesSlide" Target="../notesSlides/notesSlide117.xml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24.xml"/><Relationship Id="rId2" Type="http://schemas.openxmlformats.org/officeDocument/2006/relationships/notesSlide" Target="../notesSlides/notesSlide118.xml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25.xml"/><Relationship Id="rId2" Type="http://schemas.openxmlformats.org/officeDocument/2006/relationships/notesSlide" Target="../notesSlides/notesSlide119.xml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26.xml"/><Relationship Id="rId2" Type="http://schemas.openxmlformats.org/officeDocument/2006/relationships/notesSlide" Target="../notesSlides/notesSlide120.xml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27.xml"/><Relationship Id="rId2" Type="http://schemas.openxmlformats.org/officeDocument/2006/relationships/notesSlide" Target="../notesSlides/notesSlide121.xml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28.xml"/><Relationship Id="rId2" Type="http://schemas.openxmlformats.org/officeDocument/2006/relationships/notesSlide" Target="../notesSlides/notesSlide122.xml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29.xml"/><Relationship Id="rId2" Type="http://schemas.openxmlformats.org/officeDocument/2006/relationships/notesSlide" Target="../notesSlides/notesSlide123.xml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30.xml"/><Relationship Id="rId2" Type="http://schemas.openxmlformats.org/officeDocument/2006/relationships/notesSlide" Target="../notesSlides/notesSlide124.xml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31.xml"/><Relationship Id="rId2" Type="http://schemas.openxmlformats.org/officeDocument/2006/relationships/notesSlide" Target="../notesSlides/notesSlide125.xml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32.xml"/><Relationship Id="rId2" Type="http://schemas.openxmlformats.org/officeDocument/2006/relationships/notesSlide" Target="../notesSlides/notesSlide126.xml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33.xml"/><Relationship Id="rId2" Type="http://schemas.openxmlformats.org/officeDocument/2006/relationships/notesSlide" Target="../notesSlides/notesSlide127.xml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34.xml"/><Relationship Id="rId2" Type="http://schemas.openxmlformats.org/officeDocument/2006/relationships/notesSlide" Target="../notesSlides/notesSlide128.xml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35.xml"/><Relationship Id="rId2" Type="http://schemas.openxmlformats.org/officeDocument/2006/relationships/notesSlide" Target="../notesSlides/notesSlide129.xml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36.xml"/><Relationship Id="rId2" Type="http://schemas.openxmlformats.org/officeDocument/2006/relationships/notesSlide" Target="../notesSlides/notesSlide130.xml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37.xml"/><Relationship Id="rId2" Type="http://schemas.openxmlformats.org/officeDocument/2006/relationships/notesSlide" Target="../notesSlides/notesSlide131.xml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38.xml"/><Relationship Id="rId2" Type="http://schemas.openxmlformats.org/officeDocument/2006/relationships/notesSlide" Target="../notesSlides/notesSlide132.xml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39.xml"/><Relationship Id="rId2" Type="http://schemas.openxmlformats.org/officeDocument/2006/relationships/notesSlide" Target="../notesSlides/notesSlide133.xml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40.xml"/><Relationship Id="rId2" Type="http://schemas.openxmlformats.org/officeDocument/2006/relationships/notesSlide" Target="../notesSlides/notesSlide134.xml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41.xml"/><Relationship Id="rId2" Type="http://schemas.openxmlformats.org/officeDocument/2006/relationships/notesSlide" Target="../notesSlides/notesSlide135.xml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42.xml"/><Relationship Id="rId2" Type="http://schemas.openxmlformats.org/officeDocument/2006/relationships/notesSlide" Target="../notesSlides/notesSlide136.xml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43.xml"/><Relationship Id="rId2" Type="http://schemas.openxmlformats.org/officeDocument/2006/relationships/notesSlide" Target="../notesSlides/notesSlide137.xml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44.xml"/><Relationship Id="rId2" Type="http://schemas.openxmlformats.org/officeDocument/2006/relationships/notesSlide" Target="../notesSlides/notesSlide138.xml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45.xml"/><Relationship Id="rId2" Type="http://schemas.openxmlformats.org/officeDocument/2006/relationships/notesSlide" Target="../notesSlides/notesSlide139.xml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46.xml"/><Relationship Id="rId2" Type="http://schemas.openxmlformats.org/officeDocument/2006/relationships/notesSlide" Target="../notesSlides/notesSlide140.xml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47.xml"/><Relationship Id="rId2" Type="http://schemas.openxmlformats.org/officeDocument/2006/relationships/notesSlide" Target="../notesSlides/notesSlide141.xml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48.xml"/><Relationship Id="rId2" Type="http://schemas.openxmlformats.org/officeDocument/2006/relationships/notesSlide" Target="../notesSlides/notesSlide142.xml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49.xml"/><Relationship Id="rId2" Type="http://schemas.openxmlformats.org/officeDocument/2006/relationships/notesSlide" Target="../notesSlides/notesSlide143.xml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50.xml"/><Relationship Id="rId2" Type="http://schemas.openxmlformats.org/officeDocument/2006/relationships/notesSlide" Target="../notesSlides/notesSlide144.xml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51.xml"/><Relationship Id="rId2" Type="http://schemas.openxmlformats.org/officeDocument/2006/relationships/notesSlide" Target="../notesSlides/notesSlide145.xml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52.xml"/><Relationship Id="rId2" Type="http://schemas.openxmlformats.org/officeDocument/2006/relationships/notesSlide" Target="../notesSlides/notesSlide146.xml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53.xml"/><Relationship Id="rId2" Type="http://schemas.openxmlformats.org/officeDocument/2006/relationships/notesSlide" Target="../notesSlides/notesSlide147.xml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54.xml"/><Relationship Id="rId2" Type="http://schemas.openxmlformats.org/officeDocument/2006/relationships/notesSlide" Target="../notesSlides/notesSlide148.xml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55.xml"/><Relationship Id="rId2" Type="http://schemas.openxmlformats.org/officeDocument/2006/relationships/notesSlide" Target="../notesSlides/notesSlide149.xml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56.xml"/><Relationship Id="rId2" Type="http://schemas.openxmlformats.org/officeDocument/2006/relationships/notesSlide" Target="../notesSlides/notesSlide150.xml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57.xml"/><Relationship Id="rId2" Type="http://schemas.openxmlformats.org/officeDocument/2006/relationships/notesSlide" Target="../notesSlides/notesSlide151.xml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58.xml"/><Relationship Id="rId2" Type="http://schemas.openxmlformats.org/officeDocument/2006/relationships/notesSlide" Target="../notesSlides/notesSlide152.xml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59.xml"/><Relationship Id="rId2" Type="http://schemas.openxmlformats.org/officeDocument/2006/relationships/notesSlide" Target="../notesSlides/notesSlide153.xml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60.xml"/><Relationship Id="rId2" Type="http://schemas.openxmlformats.org/officeDocument/2006/relationships/notesSlide" Target="../notesSlides/notesSlide154.xml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61.xml"/><Relationship Id="rId2" Type="http://schemas.openxmlformats.org/officeDocument/2006/relationships/notesSlide" Target="../notesSlides/notesSlide155.xml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62.xml"/><Relationship Id="rId2" Type="http://schemas.openxmlformats.org/officeDocument/2006/relationships/notesSlide" Target="../notesSlides/notesSlide156.xml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63.xml"/><Relationship Id="rId2" Type="http://schemas.openxmlformats.org/officeDocument/2006/relationships/notesSlide" Target="../notesSlides/notesSlide157.xml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64.xml"/><Relationship Id="rId2" Type="http://schemas.openxmlformats.org/officeDocument/2006/relationships/notesSlide" Target="../notesSlides/notesSlide158.xml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65.xml"/><Relationship Id="rId2" Type="http://schemas.openxmlformats.org/officeDocument/2006/relationships/notesSlide" Target="../notesSlides/notesSlide159.xml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66.xml"/><Relationship Id="rId2" Type="http://schemas.openxmlformats.org/officeDocument/2006/relationships/notesSlide" Target="../notesSlides/notesSlide160.xml"/><Relationship Id="rId3" Type="http://schemas.openxmlformats.org/officeDocument/2006/relationships/image" Target="../media/image1.png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67.xml"/><Relationship Id="rId2" Type="http://schemas.openxmlformats.org/officeDocument/2006/relationships/notesSlide" Target="../notesSlides/notesSlide161.xml"/><Relationship Id="rId3" Type="http://schemas.openxmlformats.org/officeDocument/2006/relationships/image" Target="../media/image1.png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68.xml"/><Relationship Id="rId2" Type="http://schemas.openxmlformats.org/officeDocument/2006/relationships/notesSlide" Target="../notesSlides/notesSlide162.xml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69.xml"/><Relationship Id="rId2" Type="http://schemas.openxmlformats.org/officeDocument/2006/relationships/notesSlide" Target="../notesSlides/notesSlide163.xml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70.xml"/><Relationship Id="rId2" Type="http://schemas.openxmlformats.org/officeDocument/2006/relationships/notesSlide" Target="../notesSlides/notesSlide164.xml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71.xml"/><Relationship Id="rId2" Type="http://schemas.openxmlformats.org/officeDocument/2006/relationships/notesSlide" Target="../notesSlides/notesSlide165.xml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72.xml"/><Relationship Id="rId2" Type="http://schemas.openxmlformats.org/officeDocument/2006/relationships/notesSlide" Target="../notesSlides/notesSlide166.xml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73.xml"/><Relationship Id="rId2" Type="http://schemas.openxmlformats.org/officeDocument/2006/relationships/notesSlide" Target="../notesSlides/notesSlide167.xml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74.xml"/><Relationship Id="rId2" Type="http://schemas.openxmlformats.org/officeDocument/2006/relationships/notesSlide" Target="../notesSlides/notesSlide168.xml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75.xml"/><Relationship Id="rId2" Type="http://schemas.openxmlformats.org/officeDocument/2006/relationships/notesSlide" Target="../notesSlides/notesSlide169.xml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76.xml"/><Relationship Id="rId2" Type="http://schemas.openxmlformats.org/officeDocument/2006/relationships/notesSlide" Target="../notesSlides/notesSlide170.xml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77.xml"/><Relationship Id="rId2" Type="http://schemas.openxmlformats.org/officeDocument/2006/relationships/notesSlide" Target="../notesSlides/notesSlide171.xml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78.xml"/><Relationship Id="rId2" Type="http://schemas.openxmlformats.org/officeDocument/2006/relationships/notesSlide" Target="../notesSlides/notesSlide172.xml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79.xml"/><Relationship Id="rId2" Type="http://schemas.openxmlformats.org/officeDocument/2006/relationships/notesSlide" Target="../notesSlides/notesSlide173.xml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80.xml"/><Relationship Id="rId2" Type="http://schemas.openxmlformats.org/officeDocument/2006/relationships/notesSlide" Target="../notesSlides/notesSlide174.xml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81.xml"/><Relationship Id="rId2" Type="http://schemas.openxmlformats.org/officeDocument/2006/relationships/notesSlide" Target="../notesSlides/notesSlide175.xml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82.xml"/><Relationship Id="rId2" Type="http://schemas.openxmlformats.org/officeDocument/2006/relationships/notesSlide" Target="../notesSlides/notesSlide176.xml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83.xml"/><Relationship Id="rId2" Type="http://schemas.openxmlformats.org/officeDocument/2006/relationships/notesSlide" Target="../notesSlides/notesSlide177.xml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84.xml"/><Relationship Id="rId2" Type="http://schemas.openxmlformats.org/officeDocument/2006/relationships/notesSlide" Target="../notesSlides/notesSlide178.xml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85.xml"/><Relationship Id="rId2" Type="http://schemas.openxmlformats.org/officeDocument/2006/relationships/notesSlide" Target="../notesSlides/notesSlide179.xml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86.xml"/><Relationship Id="rId2" Type="http://schemas.openxmlformats.org/officeDocument/2006/relationships/notesSlide" Target="../notesSlides/notesSlide180.xml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87.xml"/><Relationship Id="rId2" Type="http://schemas.openxmlformats.org/officeDocument/2006/relationships/notesSlide" Target="../notesSlides/notesSlide181.xml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88.xml"/><Relationship Id="rId2" Type="http://schemas.openxmlformats.org/officeDocument/2006/relationships/notesSlide" Target="../notesSlides/notesSlide182.xml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89.xml"/><Relationship Id="rId2" Type="http://schemas.openxmlformats.org/officeDocument/2006/relationships/notesSlide" Target="../notesSlides/notesSlide183.xml"/></Relationships>
</file>

<file path=ppt/slides/_rels/slide1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90.xml"/><Relationship Id="rId2" Type="http://schemas.openxmlformats.org/officeDocument/2006/relationships/notesSlide" Target="../notesSlides/notesSlide184.xml"/></Relationships>
</file>

<file path=ppt/slides/_rels/slide1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91.xml"/><Relationship Id="rId2" Type="http://schemas.openxmlformats.org/officeDocument/2006/relationships/notesSlide" Target="../notesSlides/notesSlide185.xml"/></Relationships>
</file>

<file path=ppt/slides/_rels/slide1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92.xml"/><Relationship Id="rId2" Type="http://schemas.openxmlformats.org/officeDocument/2006/relationships/notesSlide" Target="../notesSlides/notesSlide186.xml"/></Relationships>
</file>

<file path=ppt/slides/_rels/slide1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93.xml"/><Relationship Id="rId2" Type="http://schemas.openxmlformats.org/officeDocument/2006/relationships/notesSlide" Target="../notesSlides/notesSlide187.xml"/></Relationships>
</file>

<file path=ppt/slides/_rels/slide1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94.xml"/><Relationship Id="rId2" Type="http://schemas.openxmlformats.org/officeDocument/2006/relationships/notesSlide" Target="../notesSlides/notesSlide188.xml"/></Relationships>
</file>

<file path=ppt/slides/_rels/slide1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95.xml"/><Relationship Id="rId2" Type="http://schemas.openxmlformats.org/officeDocument/2006/relationships/notesSlide" Target="../notesSlides/notesSlide189.xml"/></Relationships>
</file>

<file path=ppt/slides/_rels/slide1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96.xml"/><Relationship Id="rId2" Type="http://schemas.openxmlformats.org/officeDocument/2006/relationships/notesSlide" Target="../notesSlides/notesSlide190.xml"/></Relationships>
</file>

<file path=ppt/slides/_rels/slide1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97.xml"/><Relationship Id="rId2" Type="http://schemas.openxmlformats.org/officeDocument/2006/relationships/notesSlide" Target="../notesSlides/notesSlide191.xml"/></Relationships>
</file>

<file path=ppt/slides/_rels/slide1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98.xml"/><Relationship Id="rId2" Type="http://schemas.openxmlformats.org/officeDocument/2006/relationships/notesSlide" Target="../notesSlides/notesSlide192.xml"/></Relationships>
</file>

<file path=ppt/slides/_rels/slide1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99.xml"/><Relationship Id="rId2" Type="http://schemas.openxmlformats.org/officeDocument/2006/relationships/notesSlide" Target="../notesSlides/notesSlide193.xml"/></Relationships>
</file>

<file path=ppt/slides/_rels/slide1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00.xml"/><Relationship Id="rId2" Type="http://schemas.openxmlformats.org/officeDocument/2006/relationships/notesSlide" Target="../notesSlides/notesSlide194.xml"/></Relationships>
</file>

<file path=ppt/slides/_rels/slide1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01.xml"/><Relationship Id="rId2" Type="http://schemas.openxmlformats.org/officeDocument/2006/relationships/notesSlide" Target="../notesSlides/notesSlide195.xml"/></Relationships>
</file>

<file path=ppt/slides/_rels/slide1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02.xml"/><Relationship Id="rId2" Type="http://schemas.openxmlformats.org/officeDocument/2006/relationships/notesSlide" Target="../notesSlides/notesSlide196.xml"/></Relationships>
</file>

<file path=ppt/slides/_rels/slide1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03.xml"/><Relationship Id="rId2" Type="http://schemas.openxmlformats.org/officeDocument/2006/relationships/notesSlide" Target="../notesSlides/notesSlide197.xml"/></Relationships>
</file>

<file path=ppt/slides/_rels/slide1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04.xml"/><Relationship Id="rId2" Type="http://schemas.openxmlformats.org/officeDocument/2006/relationships/notesSlide" Target="../notesSlides/notesSlide198.xml"/></Relationships>
</file>

<file path=ppt/slides/_rels/slide1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05.xml"/><Relationship Id="rId2" Type="http://schemas.openxmlformats.org/officeDocument/2006/relationships/notesSlide" Target="../notesSlides/notesSlide199.xml"/></Relationships>
</file>

<file path=ppt/slides/_rels/slide2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06.xml"/><Relationship Id="rId2" Type="http://schemas.openxmlformats.org/officeDocument/2006/relationships/notesSlide" Target="../notesSlides/notesSlide200.xml"/></Relationships>
</file>

<file path=ppt/slides/_rels/slide2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07.xml"/><Relationship Id="rId2" Type="http://schemas.openxmlformats.org/officeDocument/2006/relationships/notesSlide" Target="../notesSlides/notesSlide201.xml"/></Relationships>
</file>

<file path=ppt/slides/_rels/slide2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08.xml"/><Relationship Id="rId2" Type="http://schemas.openxmlformats.org/officeDocument/2006/relationships/notesSlide" Target="../notesSlides/notesSlide202.xml"/></Relationships>
</file>

<file path=ppt/slides/_rels/slide2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09.xml"/><Relationship Id="rId2" Type="http://schemas.openxmlformats.org/officeDocument/2006/relationships/notesSlide" Target="../notesSlides/notesSlide203.xml"/></Relationships>
</file>

<file path=ppt/slides/_rels/slide2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10.xml"/><Relationship Id="rId2" Type="http://schemas.openxmlformats.org/officeDocument/2006/relationships/notesSlide" Target="../notesSlides/notesSlide204.xml"/></Relationships>
</file>

<file path=ppt/slides/_rels/slide2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11.xml"/><Relationship Id="rId2" Type="http://schemas.openxmlformats.org/officeDocument/2006/relationships/notesSlide" Target="../notesSlides/notesSlide205.xml"/></Relationships>
</file>

<file path=ppt/slides/_rels/slide2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12.xml"/><Relationship Id="rId2" Type="http://schemas.openxmlformats.org/officeDocument/2006/relationships/notesSlide" Target="../notesSlides/notesSlide206.xml"/></Relationships>
</file>

<file path=ppt/slides/_rels/slide2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13.xml"/><Relationship Id="rId2" Type="http://schemas.openxmlformats.org/officeDocument/2006/relationships/notesSlide" Target="../notesSlides/notesSlide207.xml"/></Relationships>
</file>

<file path=ppt/slides/_rels/slide2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14.xml"/><Relationship Id="rId2" Type="http://schemas.openxmlformats.org/officeDocument/2006/relationships/notesSlide" Target="../notesSlides/notesSlide208.xml"/></Relationships>
</file>

<file path=ppt/slides/_rels/slide2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15.xml"/><Relationship Id="rId2" Type="http://schemas.openxmlformats.org/officeDocument/2006/relationships/notesSlide" Target="../notesSlides/notesSlide209.xml"/></Relationships>
</file>

<file path=ppt/slides/_rels/slide2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16.xml"/><Relationship Id="rId2" Type="http://schemas.openxmlformats.org/officeDocument/2006/relationships/notesSlide" Target="../notesSlides/notesSlide210.xml"/></Relationships>
</file>

<file path=ppt/slides/_rels/slide2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17.xml"/><Relationship Id="rId2" Type="http://schemas.openxmlformats.org/officeDocument/2006/relationships/notesSlide" Target="../notesSlides/notesSlide211.xml"/></Relationships>
</file>

<file path=ppt/slides/_rels/slide2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18.xml"/><Relationship Id="rId2" Type="http://schemas.openxmlformats.org/officeDocument/2006/relationships/notesSlide" Target="../notesSlides/notesSlide212.xml"/></Relationships>
</file>

<file path=ppt/slides/_rels/slide2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19.xml"/><Relationship Id="rId2" Type="http://schemas.openxmlformats.org/officeDocument/2006/relationships/notesSlide" Target="../notesSlides/notesSlide213.xml"/></Relationships>
</file>

<file path=ppt/slides/_rels/slide2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20.xml"/><Relationship Id="rId2" Type="http://schemas.openxmlformats.org/officeDocument/2006/relationships/notesSlide" Target="../notesSlides/notesSlide214.xml"/></Relationships>
</file>

<file path=ppt/slides/_rels/slide2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21.xml"/><Relationship Id="rId2" Type="http://schemas.openxmlformats.org/officeDocument/2006/relationships/notesSlide" Target="../notesSlides/notesSlide215.xml"/></Relationships>
</file>

<file path=ppt/slides/_rels/slide2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22.xml"/><Relationship Id="rId2" Type="http://schemas.openxmlformats.org/officeDocument/2006/relationships/notesSlide" Target="../notesSlides/notesSlide216.xml"/></Relationships>
</file>

<file path=ppt/slides/_rels/slide2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23.xml"/><Relationship Id="rId2" Type="http://schemas.openxmlformats.org/officeDocument/2006/relationships/notesSlide" Target="../notesSlides/notesSlide217.xml"/></Relationships>
</file>

<file path=ppt/slides/_rels/slide2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24.xml"/><Relationship Id="rId2" Type="http://schemas.openxmlformats.org/officeDocument/2006/relationships/notesSlide" Target="../notesSlides/notesSlide218.xml"/></Relationships>
</file>

<file path=ppt/slides/_rels/slide2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25.xml"/><Relationship Id="rId2" Type="http://schemas.openxmlformats.org/officeDocument/2006/relationships/notesSlide" Target="../notesSlides/notesSlide219.xml"/></Relationships>
</file>

<file path=ppt/slides/_rels/slide2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26.xml"/><Relationship Id="rId2" Type="http://schemas.openxmlformats.org/officeDocument/2006/relationships/notesSlide" Target="../notesSlides/notesSlide220.xml"/></Relationships>
</file>

<file path=ppt/slides/_rels/slide2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27.xml"/><Relationship Id="rId2" Type="http://schemas.openxmlformats.org/officeDocument/2006/relationships/notesSlide" Target="../notesSlides/notesSlide221.xml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9" name="장 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800" b="1" spc="-90" dirty="0">
                <a:solidFill>
                  <a:srgbClr val="000359"/>
                </a:solidFill>
                <a:latin typeface="Pretendard"/>
                <a:ea typeface="Pretendard"/>
              </a:rPr>
              <a:t>Ⅲ. 2025년도 추진실적 및 성과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2</a:t>
            </a:r>
          </a:p>
        </p:txBody>
      </p:sp>
      <p:sp>
        <p:nvSpPr>
          <p:cNvPr id="4" name="평가내용 라벨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평가내용 </a:t>
            </a:r>
            <a:r>
              <a:rPr lang="ko-KR" sz="1400" b="1" spc="-55" dirty="0">
                <a:solidFill>
                  <a:srgbClr val="0051BC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6" name="평가내용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노사 간 협력체계 구축과 실질적 운영이 상호 협력과 참여에 기반하여 이루어지고 있는지 여부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3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상생 협력적인 노사관계 구축과 협력체계 운영</a:t>
            </a:r>
          </a:p>
        </p:txBody>
      </p:sp>
      <p:sp>
        <p:nvSpPr>
          <p:cNvPr id="13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상생 협력적 노사관계 운영 전략 수립과 과제 도출</a:t>
            </a:r>
          </a:p>
        </p:txBody>
      </p:sp>
      <p:sp>
        <p:nvSpPr>
          <p:cNvPr id="15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환경분석</a:t>
            </a:r>
          </a:p>
        </p:txBody>
      </p:sp>
      <p:sp>
        <p:nvSpPr>
          <p:cNvPr id="16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외부환경</a:t>
            </a:r>
          </a:p>
        </p:txBody>
      </p:sp>
      <p:sp>
        <p:nvSpPr>
          <p:cNvPr id="17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내부여건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노동존중 실현, 기본권 보장 이행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노동조합법 개정, 노사협력 강화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저출산 해결 노력 요구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교통직 등 취약직종 처우개선 요구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연말집중 민원 등 현안해결 소통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체감할 수 있는 근로환경 개선 요구</a:t>
            </a:r>
          </a:p>
        </p:txBody>
      </p:sp>
      <p:sp>
        <p:nvSpPr>
          <p:cNvPr id="21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23" name="태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노사협의체 운영</a:t>
            </a:r>
          </a:p>
        </p:txBody>
      </p:sp>
      <p:sp>
        <p:nvSpPr>
          <p:cNvPr id="24" name="태그 설명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상생 협력적 노사관계 확산을 위한 노사협의체 운영과 내실화 추진</a:t>
            </a:r>
          </a:p>
        </p:txBody>
      </p:sp>
      <p:sp>
        <p:nvSpPr>
          <p:cNvPr id="25" name="태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파트너십 강화</a:t>
            </a:r>
          </a:p>
        </p:txBody>
      </p:sp>
      <p:sp>
        <p:nvSpPr>
          <p:cNvPr id="26" name="태그 설명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공동 목표를 수행하는 동반자로서 긍정의 노사관계 강화</a:t>
            </a:r>
          </a:p>
        </p:txBody>
      </p:sp>
      <p:sp>
        <p:nvSpPr>
          <p:cNvPr id="27" name="태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근로환경 개선</a:t>
            </a:r>
          </a:p>
        </p:txBody>
      </p:sp>
      <p:sp>
        <p:nvSpPr>
          <p:cNvPr id="28" name="태그 설명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노동 존중 실현과 복리후생제도 개선 등 근로환경 개선 추진</a:t>
            </a:r>
          </a:p>
        </p:txBody>
      </p:sp>
      <p:sp>
        <p:nvSpPr>
          <p:cNvPr id="29" name="레일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협력체계</a:t>
            </a:r>
          </a:p>
        </p:txBody>
      </p:sp>
      <p:sp>
        <p:nvSpPr>
          <p:cNvPr id="31" name="단계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운영기반 마련</a:t>
            </a:r>
          </a:p>
        </p:txBody>
      </p:sp>
      <p:sp>
        <p:nvSpPr>
          <p:cNvPr id="32" name="단계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소통채널을 통한 과제설정</a:t>
            </a:r>
          </a:p>
        </p:txBody>
      </p:sp>
      <p:sp>
        <p:nvSpPr>
          <p:cNvPr id="33" name="단계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 및 성과점검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성과지수 설문조사·분석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결과물 부재 등 요인 파악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열린 소통으로 추진방향·과제 설정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노사협력으로 과제 적극 이행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이행 점검 등 환류체계 제도화</a:t>
            </a:r>
          </a:p>
        </p:txBody>
      </p:sp>
      <p:sp>
        <p:nvSpPr>
          <p:cNvPr id="43" name="레일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 목표</a:t>
            </a:r>
          </a:p>
        </p:txBody>
      </p:sp>
      <p:sp>
        <p:nvSpPr>
          <p:cNvPr id="45" name="강조 바 글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존중과 신뢰를 바탕으로 한 노사 파트너십 강화와 상생 협력적인 노사관계 확산</a:t>
            </a:r>
          </a:p>
        </p:txBody>
      </p:sp>
      <p:sp>
        <p:nvSpPr>
          <p:cNvPr id="47" name="레일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 방향</a:t>
            </a:r>
          </a:p>
        </p:txBody>
      </p:sp>
      <p:sp>
        <p:nvSpPr>
          <p:cNvPr id="48" name="가운데 글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협의체 운영으로 리스크 해결</a:t>
            </a:r>
          </a:p>
        </p:txBody>
      </p:sp>
      <p:sp>
        <p:nvSpPr>
          <p:cNvPr id="49" name="가운데 글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열린 소통 및 긍정문화 조성</a:t>
            </a:r>
          </a:p>
        </p:txBody>
      </p:sp>
      <p:sp>
        <p:nvSpPr>
          <p:cNvPr id="51" name="가운데 글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근로환경 개선 노력</a:t>
            </a:r>
          </a:p>
        </p:txBody>
      </p:sp>
      <p:sp>
        <p:nvSpPr>
          <p:cNvPr id="54" name="레일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추진과제</a:t>
            </a:r>
          </a:p>
        </p:txBody>
      </p:sp>
      <p:sp>
        <p:nvSpPr>
          <p:cNvPr id="55" name="칸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노사협의체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노동이사 선임·현안 해결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적법성 자체점검</a:t>
            </a:r>
          </a:p>
        </p:txBody>
      </p:sp>
      <p:sp>
        <p:nvSpPr>
          <p:cNvPr id="56" name="칸 본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소통·협력 프로그램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긍정 노사관계 정착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역량강화 교육</a:t>
            </a:r>
          </a:p>
        </p:txBody>
      </p:sp>
      <p:sp>
        <p:nvSpPr>
          <p:cNvPr id="58" name="칸 본문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임금·단체협약 체결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교통직 처우개선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복리후생 개선</a:t>
            </a:r>
          </a:p>
        </p:txBody>
      </p:sp>
      <p:sp>
        <p:nvSpPr>
          <p:cNvPr id="61" name="레일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소통 채널</a:t>
            </a:r>
          </a:p>
        </p:txBody>
      </p:sp>
      <p:sp>
        <p:nvSpPr>
          <p:cNvPr id="62" name="칸 본문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노사협의회·분임협의회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현안 라운드테이블</a:t>
            </a:r>
          </a:p>
        </p:txBody>
      </p:sp>
      <p:sp>
        <p:nvSpPr>
          <p:cNvPr id="63" name="칸 본문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데일리미팅·전략회의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 상생의 달 행사</a:t>
            </a:r>
          </a:p>
        </p:txBody>
      </p:sp>
      <p:sp>
        <p:nvSpPr>
          <p:cNvPr id="65" name="칸 본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처우개선 추진단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복지개선 TF</a:t>
            </a:r>
          </a:p>
        </p:txBody>
      </p:sp>
      <p:sp>
        <p:nvSpPr>
          <p:cNvPr id="68" name="레일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성과지표</a:t>
            </a:r>
          </a:p>
        </p:txBody>
      </p:sp>
      <p:sp>
        <p:nvSpPr>
          <p:cNvPr id="69" name="칸 본문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협력지수 설문조사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협의회 안건 일치율</a:t>
            </a:r>
          </a:p>
        </p:txBody>
      </p:sp>
      <p:sp>
        <p:nvSpPr>
          <p:cNvPr id="70" name="칸 본문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소통지수 설문조사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역량지수 설문조사</a:t>
            </a:r>
          </a:p>
        </p:txBody>
      </p:sp>
      <p:sp>
        <p:nvSpPr>
          <p:cNvPr id="72" name="칸 본문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근로개선지수 설문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복리후생만족도 설문</a:t>
            </a:r>
          </a:p>
        </p:txBody>
      </p:sp>
      <p:sp>
        <p:nvSpPr>
          <p:cNvPr id="75" name="핵심성과 라벨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핵심성과</a:t>
            </a:r>
          </a:p>
        </p:txBody>
      </p:sp>
      <p:sp>
        <p:nvSpPr>
          <p:cNvPr id="76" name="핵심성과 문구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노사협력지수 전년대비 1.2점 상승(91.0 → 92.2점)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노사협력체계 운영을 통한 분야별 리스크 관리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신규·강화</a:t>
            </a:r>
          </a:p>
        </p:txBody>
      </p:sp>
      <p:sp>
        <p:nvSpPr>
          <p:cNvPr id="8" name="패널 머리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정기협의체</a:t>
            </a:r>
          </a:p>
        </p:txBody>
      </p:sp>
      <p:sp>
        <p:nvSpPr>
          <p:cNvPr id="9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노사협의회</a:t>
            </a:r>
          </a:p>
        </p:txBody>
      </p:sp>
      <p:sp>
        <p:nvSpPr>
          <p:cNvPr id="10" name="패널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분기별 4회·24건 협의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자기개발휴직 등 매뉴얼 수립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인사고충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심의회</a:t>
            </a:r>
          </a:p>
        </p:txBody>
      </p:sp>
      <p:sp>
        <p:nvSpPr>
          <p:cNvPr id="13" name="패널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반기별 2회, 87명 심의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13명 인용, 9명 발령 조치</a:t>
            </a:r>
          </a:p>
        </p:txBody>
      </p:sp>
      <p:sp>
        <p:nvSpPr>
          <p:cNvPr id="15" name="레일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안전경영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위원회</a:t>
            </a:r>
          </a:p>
        </p:txBody>
      </p:sp>
      <p:sp>
        <p:nvSpPr>
          <p:cNvPr id="16" name="패널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안전보건 3회·11건 협의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석면제거·정신건강 예산 확보</a:t>
            </a:r>
          </a:p>
        </p:txBody>
      </p:sp>
      <p:sp>
        <p:nvSpPr>
          <p:cNvPr id="18" name="레일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혁신성장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전략회의</a:t>
            </a:r>
          </a:p>
        </p:txBody>
      </p:sp>
      <p:sp>
        <p:nvSpPr>
          <p:cNvPr id="19" name="패널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매주 금요일 개최(37회)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경영현황·성과공유·현안 점검</a:t>
            </a:r>
          </a:p>
        </p:txBody>
      </p:sp>
      <p:sp>
        <p:nvSpPr>
          <p:cNvPr id="21" name="패널 머리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상시·특별협의체</a:t>
            </a:r>
          </a:p>
        </p:txBody>
      </p:sp>
      <p:sp>
        <p:nvSpPr>
          <p:cNvPr id="22" name="레일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처우개선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추진단</a:t>
            </a:r>
          </a:p>
        </p:txBody>
      </p:sp>
      <p:sp>
        <p:nvSpPr>
          <p:cNvPr id="23" name="패널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처우개선 개최(5회)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자체성과급 신설 등 도출</a:t>
            </a:r>
          </a:p>
        </p:txBody>
      </p:sp>
      <p:sp>
        <p:nvSpPr>
          <p:cNvPr id="25" name="레일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노사공동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복지개선 TF</a:t>
            </a:r>
          </a:p>
        </p:txBody>
      </p:sp>
      <p:sp>
        <p:nvSpPr>
          <p:cNvPr id="26" name="패널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복리후생 향상 개최(4회)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사택 에어컨·출산축하금</a:t>
            </a:r>
          </a:p>
        </p:txBody>
      </p:sp>
      <p:sp>
        <p:nvSpPr>
          <p:cNvPr id="28" name="레일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사내근로복지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기금 협의회</a:t>
            </a:r>
          </a:p>
        </p:txBody>
      </p:sp>
      <p:sp>
        <p:nvSpPr>
          <p:cNvPr id="29" name="패널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사내기금 운용 개최(3회)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장례지원서비스 범위 확대</a:t>
            </a:r>
          </a:p>
        </p:txBody>
      </p:sp>
      <p:sp>
        <p:nvSpPr>
          <p:cNvPr id="31" name="레일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노사공동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통상임금 TF</a:t>
            </a:r>
          </a:p>
        </p:txBody>
      </p:sp>
      <p:sp>
        <p:nvSpPr>
          <p:cNvPr id="32" name="패널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통상임금 TF 킥오프('25.12월)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성과급 등 리스크 집중 관리</a:t>
            </a:r>
          </a:p>
        </p:txBody>
      </p:sp>
      <p:sp>
        <p:nvSpPr>
          <p:cNvPr id="34" name="핵심성과 라벨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핵심성과</a:t>
            </a:r>
          </a:p>
        </p:txBody>
      </p:sp>
      <p:sp>
        <p:nvSpPr>
          <p:cNvPr id="35" name="핵심성과 문구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노사협력지수 전년대비 1.2점 상승(91.0 → 92.2점)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5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상호협력과 참여 기반 현안문제 해결과 합리적 노사관계 운영 성과</a:t>
            </a:r>
          </a:p>
        </p:txBody>
      </p:sp>
      <p:sp>
        <p:nvSpPr>
          <p:cNvPr id="13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라운드테이블로 운전면허 적성검사 연말집중 해소</a:t>
            </a:r>
          </a:p>
        </p:txBody>
      </p:sp>
      <p:sp>
        <p:nvSpPr>
          <p:cNvPr id="14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B.P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 황</a:t>
            </a:r>
          </a:p>
        </p:txBody>
      </p:sp>
      <p:sp>
        <p:nvSpPr>
          <p:cNvPr id="17" name="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매년 운전면허 적성검사 갱신 민원인 연말집중 현상 발생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민원 집중에 따른 초과근무 등 직원 근로환경 저하</a:t>
            </a:r>
          </a:p>
        </p:txBody>
      </p:sp>
      <p:sp>
        <p:nvSpPr>
          <p:cNvPr id="18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이해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관계</a:t>
            </a:r>
          </a:p>
        </p:txBody>
      </p:sp>
      <p:sp>
        <p:nvSpPr>
          <p:cNvPr id="20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노동조합</a:t>
            </a:r>
          </a:p>
        </p:txBody>
      </p:sp>
      <p:sp>
        <p:nvSpPr>
          <p:cNvPr id="21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 단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연말집중 민원에 따른 직원 근로 저하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근본적 원인 해결 방안 모색 필요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 선택에 따른 민원 집중 불가피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근본적 원인 해결 방안 모색 동의</a:t>
            </a:r>
          </a:p>
        </p:txBody>
      </p:sp>
      <p:sp>
        <p:nvSpPr>
          <p:cNvPr id="25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노력</a:t>
            </a:r>
          </a:p>
        </p:txBody>
      </p:sp>
      <p:sp>
        <p:nvSpPr>
          <p:cNvPr id="27" name="단계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대토론회 개최</a:t>
            </a:r>
          </a:p>
        </p:txBody>
      </p:sp>
      <p:sp>
        <p:nvSpPr>
          <p:cNvPr id="28" name="단계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원인분석</a:t>
            </a:r>
          </a:p>
        </p:txBody>
      </p:sp>
      <p:sp>
        <p:nvSpPr>
          <p:cNvPr id="29" name="단계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극복노력</a:t>
            </a:r>
          </a:p>
        </p:txBody>
      </p:sp>
      <p:sp>
        <p:nvSpPr>
          <p:cNvPr id="30" name="단계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해결안 도출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이사장·노조위원장 등 참여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연단위 갱신 기간 민원 집중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경찰청·국회와 원인해결 논의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생일 전후 ±6개월 법령개정안</a:t>
            </a:r>
          </a:p>
        </p:txBody>
      </p:sp>
      <p:sp>
        <p:nvSpPr>
          <p:cNvPr id="42" name="성과 패널 머리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4" name="성과 패널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적성검사 기간을 생일 전후 ±6개월로 변경하는 법령안 통과('26.1.1. 시행)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연말 집중민원 해소로 직원 근로환경 향상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→ 연말 방문 민원인 약 48% 감소 기대</a:t>
            </a:r>
          </a:p>
        </p:txBody>
      </p:sp>
      <p:sp>
        <p:nvSpPr>
          <p:cNvPr id="46" name="핵심성과 라벨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핵심성과</a:t>
            </a:r>
          </a:p>
        </p:txBody>
      </p:sp>
      <p:sp>
        <p:nvSpPr>
          <p:cNvPr id="47" name="핵심성과 문구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적성검사 연말집중 해소 및 노동이사 선임 등 현안문제 해결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6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근로자 경영참여로 협력 강화, 노동이사 추천 완료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지적·개선</a:t>
            </a:r>
          </a:p>
        </p:txBody>
      </p:sp>
      <p:sp>
        <p:nvSpPr>
          <p:cNvPr id="8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그 간의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노력</a:t>
            </a:r>
          </a:p>
        </p:txBody>
      </p:sp>
      <p:sp>
        <p:nvSpPr>
          <p:cNvPr id="9" name="머리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 공감대 형성</a:t>
            </a:r>
          </a:p>
        </p:txBody>
      </p:sp>
      <p:sp>
        <p:nvSpPr>
          <p:cNvPr id="10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노동이사제 시행을 위한 규정 수립</a:t>
            </a:r>
          </a:p>
        </p:txBody>
      </p:sp>
      <p:sp>
        <p:nvSpPr>
          <p:cNvPr id="11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공단 사업수행에 심층적 이해를 가진 노동이사를 선임하여 공감대 형성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정관 제9조 '근로자 대표 추천 또는 과반수 동의 1명을 비상임이사로 포함'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운영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상세화</a:t>
            </a:r>
          </a:p>
        </p:txBody>
      </p:sp>
      <p:sp>
        <p:nvSpPr>
          <p:cNvPr id="16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노동이사제 시행 의지 명문화</a:t>
            </a:r>
          </a:p>
        </p:txBody>
      </p:sp>
      <p:sp>
        <p:nvSpPr>
          <p:cNvPr id="17" name="머리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노동이사 역량 강화 지원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노동이사제 적극 시행과 직무 수행 지원, 불이익 처분 및 대우 금지 조항 마련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업무수행·역량강화 교육과정 지원 및 소통채널 운영 협의</a:t>
            </a:r>
          </a:p>
        </p:txBody>
      </p:sp>
      <p:sp>
        <p:nvSpPr>
          <p:cNvPr id="21" name="레일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선임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</p:txBody>
      </p:sp>
      <p:sp>
        <p:nvSpPr>
          <p:cNvPr id="23" name="단계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추천위원회 구성</a:t>
            </a:r>
          </a:p>
        </p:txBody>
      </p:sp>
      <p:sp>
        <p:nvSpPr>
          <p:cNvPr id="24" name="단계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후보자 추천</a:t>
            </a:r>
          </a:p>
        </p:txBody>
      </p:sp>
      <p:sp>
        <p:nvSpPr>
          <p:cNvPr id="25" name="단계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추천위원회 심사</a:t>
            </a:r>
          </a:p>
        </p:txBody>
      </p:sp>
      <p:sp>
        <p:nvSpPr>
          <p:cNvPr id="26" name="단계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노동이사 임명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노동이사 추천 공모, 추천위원회 구성('25.11.25.)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노동조합→노동이사 적합 후보자 추천 완료('26.1.5.)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후보자 추천위원회 심사 실시('26.1.13.)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최종 추천 후보자 경찰청장 임명('26. 상반기)</a:t>
            </a:r>
          </a:p>
        </p:txBody>
      </p:sp>
      <p:sp>
        <p:nvSpPr>
          <p:cNvPr id="38" name="핵심성과 라벨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9" name="핵심성과 문구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3여 년 노력 끝에 노동이사 추천 완료('26. 상반기 선임 예정)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7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 노동관계 법령·지침 100% 준수한 노사관계 제도 운영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강화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2" name="본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법과 원칙 기반 노사관계 제도 운영의 연속성 확보를 위한 관련 법률·지침 적법성 점검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점검방법</a:t>
            </a:r>
          </a:p>
        </p:txBody>
      </p:sp>
      <p:sp>
        <p:nvSpPr>
          <p:cNvPr id="15" name="가운데 글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공단 전담 노무법인 및 사내 법무팀을 활용한 노사관계 운영 적법성 자체점검 실시*</a:t>
            </a:r>
          </a:p>
        </p:txBody>
      </p:sp>
      <p:sp>
        <p:nvSpPr>
          <p:cNvPr id="16" name="주석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3B4951"/>
                </a:solidFill>
                <a:latin typeface="Pretendard"/>
                <a:ea typeface="Pretendard"/>
              </a:rPr>
              <a:t>* 인적자원개발 우수기관 지정에 따른 근로감독 정기점검 면제('24~'27)</a:t>
            </a:r>
          </a:p>
        </p:txBody>
      </p:sp>
      <p:sp>
        <p:nvSpPr>
          <p:cNvPr id="18" name="레일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점검항목</a:t>
            </a:r>
          </a:p>
        </p:txBody>
      </p:sp>
      <p:sp>
        <p:nvSpPr>
          <p:cNvPr id="19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노동조합 및 노동관계조정법</a:t>
            </a:r>
          </a:p>
        </p:txBody>
      </p:sp>
      <p:sp>
        <p:nvSpPr>
          <p:cNvPr id="20" name="머리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근로자참여·협력증진법</a:t>
            </a:r>
          </a:p>
        </p:txBody>
      </p:sp>
      <p:sp>
        <p:nvSpPr>
          <p:cNvPr id="21" name="머리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혁신지침·예산운용지침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근로시간면제자 제도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단체협약 범위 및 단일화 적법성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노사협의회 구성·운영 적법성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협의회 규정·회의록 작성·비치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관련 지침에 따른 복리후생제도 운영의 적법성 여부</a:t>
            </a:r>
          </a:p>
        </p:txBody>
      </p:sp>
      <p:sp>
        <p:nvSpPr>
          <p:cNvPr id="28" name="레일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점검결과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면제시간 법정범위 내 부여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단체교섭 단일화 절차 준수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 각 8인, 분기별 개최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규정 제출·회의록 공시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복리후생제도 점검 체크리스트 60개 항목 → 100% 준수</a:t>
            </a:r>
          </a:p>
        </p:txBody>
      </p:sp>
      <p:sp>
        <p:nvSpPr>
          <p:cNvPr id="35" name="핵심성과 라벨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핵심성과</a:t>
            </a:r>
          </a:p>
        </p:txBody>
      </p:sp>
      <p:sp>
        <p:nvSpPr>
          <p:cNvPr id="36" name="핵심성과 문구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노사 협력으로 적성검사 갱신 연말집중 해소 및 노동이사 선임 등 현안문제 해결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노동관계 법령·정부지침 100% 준수 등 법과 원칙에 기반한 노사관계 제도 운영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8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열린 소통과 긍정문화 조성에 기반한 상생 협력적 노사관계 운영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공감대 형성 기반 열린 소통채널 운영·긍정 조직문화 조성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지적·개선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수준진단</a:t>
            </a:r>
          </a:p>
        </p:txBody>
      </p:sp>
      <p:sp>
        <p:nvSpPr>
          <p:cNvPr id="14" name="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형식적이고 무거운 분위기의 소통채널 운영에 따른 직원 참여율 저하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→ 노사소통지수 타 지수 대비 저조(3년 평균 87.3 ↔ 88.7점)</a:t>
            </a:r>
          </a:p>
        </p:txBody>
      </p:sp>
      <p:sp>
        <p:nvSpPr>
          <p:cNvPr id="15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공감대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형성</a:t>
            </a:r>
          </a:p>
        </p:txBody>
      </p:sp>
      <p:sp>
        <p:nvSpPr>
          <p:cNvPr id="17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이사장</a:t>
            </a:r>
          </a:p>
        </p:txBody>
      </p:sp>
      <p:sp>
        <p:nvSpPr>
          <p:cNvPr id="18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위원장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“현안 발생 시 수시로 소통해 해결하고 서로 존중·협력하겠다.”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“긍정의 조직문화를 함께 만들고 현안을 풀어가겠다.”</a:t>
            </a:r>
          </a:p>
        </p:txBody>
      </p:sp>
      <p:sp>
        <p:nvSpPr>
          <p:cNvPr id="22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24" name="태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열린 소통채널 운영</a:t>
            </a:r>
          </a:p>
        </p:txBody>
      </p:sp>
      <p:sp>
        <p:nvSpPr>
          <p:cNvPr id="25" name="태그 설명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누구나 참여하고 먼저 다가가는 열린 소통채널 운영으로 소통 활성화</a:t>
            </a:r>
          </a:p>
        </p:txBody>
      </p:sp>
      <p:sp>
        <p:nvSpPr>
          <p:cNvPr id="26" name="태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긍정 조직문화 조성</a:t>
            </a:r>
          </a:p>
        </p:txBody>
      </p:sp>
      <p:sp>
        <p:nvSpPr>
          <p:cNvPr id="27" name="태그 설명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 파트너십 강화 활동 등 신뢰 증진을 통한 긍정 조직문화 조성</a:t>
            </a:r>
          </a:p>
        </p:txBody>
      </p:sp>
      <p:sp>
        <p:nvSpPr>
          <p:cNvPr id="30" name="패널 머리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열린 소통채널 운영</a:t>
            </a:r>
          </a:p>
        </p:txBody>
      </p:sp>
      <p:sp>
        <p:nvSpPr>
          <p:cNvPr id="32" name="레일 태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조직소통</a:t>
            </a:r>
          </a:p>
        </p:txBody>
      </p:sp>
      <p:sp>
        <p:nvSpPr>
          <p:cNvPr id="33" name="레일 라벨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열린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협의회</a:t>
            </a:r>
          </a:p>
        </p:txBody>
      </p:sp>
      <p:sp>
        <p:nvSpPr>
          <p:cNvPr id="34" name="패널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열린 협의회 운영(41명 참관)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안건 이행현황 점검·공유로 환류체계 강화</a:t>
            </a:r>
          </a:p>
        </p:txBody>
      </p:sp>
      <p:sp>
        <p:nvSpPr>
          <p:cNvPr id="37" name="레일 태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현장소통</a:t>
            </a:r>
          </a:p>
        </p:txBody>
      </p:sp>
      <p:sp>
        <p:nvSpPr>
          <p:cNvPr id="38" name="레일 라벨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찾아가는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현장소통</a:t>
            </a:r>
          </a:p>
        </p:txBody>
      </p:sp>
      <p:sp>
        <p:nvSpPr>
          <p:cNvPr id="39" name="패널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분임협의회 참관(3개 조직)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석면 잔존 청사 공동조사·제거(8개소)</a:t>
            </a:r>
          </a:p>
        </p:txBody>
      </p:sp>
      <p:sp>
        <p:nvSpPr>
          <p:cNvPr id="42" name="레일 태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세대소통</a:t>
            </a:r>
          </a:p>
        </p:txBody>
      </p:sp>
      <p:sp>
        <p:nvSpPr>
          <p:cNvPr id="43" name="레일 라벨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미래세대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소통</a:t>
            </a:r>
          </a:p>
        </p:txBody>
      </p:sp>
      <p:sp>
        <p:nvSpPr>
          <p:cNvPr id="44" name="패널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주니어 16명·시니어 9명 구성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혁신과제 발굴(4건)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자유토론(5개 주제)</a:t>
            </a:r>
          </a:p>
        </p:txBody>
      </p:sp>
      <p:sp>
        <p:nvSpPr>
          <p:cNvPr id="46" name="패널 머리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긍정 조직문화 조성</a:t>
            </a:r>
          </a:p>
        </p:txBody>
      </p:sp>
      <p:sp>
        <p:nvSpPr>
          <p:cNvPr id="48" name="레일 태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신뢰문화</a:t>
            </a:r>
          </a:p>
        </p:txBody>
      </p:sp>
      <p:sp>
        <p:nvSpPr>
          <p:cNvPr id="49" name="레일 라벨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데일리 미팅</a:t>
            </a:r>
          </a:p>
        </p:txBody>
      </p:sp>
      <p:sp>
        <p:nvSpPr>
          <p:cNvPr id="50" name="패널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노조집행부·주무부서장·실무자 데일리 미팅(매일 2회)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현안에 대한 실시간 소통</a:t>
            </a:r>
          </a:p>
        </p:txBody>
      </p:sp>
      <p:sp>
        <p:nvSpPr>
          <p:cNvPr id="53" name="레일 태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포용문화</a:t>
            </a:r>
          </a:p>
        </p:txBody>
      </p:sp>
      <p:sp>
        <p:nvSpPr>
          <p:cNvPr id="54" name="레일 라벨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존중과 화합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문화 조성</a:t>
            </a:r>
          </a:p>
        </p:txBody>
      </p:sp>
      <p:sp>
        <p:nvSpPr>
          <p:cNvPr id="55" name="패널 본문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매월 11·22일, 화합의 날 지정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직원 자녀 초청 탐험기 행사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가족 참여 명예로운퇴임식</a:t>
            </a:r>
          </a:p>
        </p:txBody>
      </p:sp>
      <p:sp>
        <p:nvSpPr>
          <p:cNvPr id="58" name="레일 태그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협력문화</a:t>
            </a:r>
          </a:p>
        </p:txBody>
      </p:sp>
      <p:sp>
        <p:nvSpPr>
          <p:cNvPr id="59" name="레일 라벨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파트너십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프로그램</a:t>
            </a:r>
          </a:p>
        </p:txBody>
      </p:sp>
      <p:sp>
        <p:nvSpPr>
          <p:cNvPr id="60" name="패널 본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경영진·노조집행부 전원 참여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 팀워크 '동행' 실시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현안 공유와 공감대 형성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9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노사 상생협력 선포 및 상생의 달 지정·운영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B.P</a:t>
            </a:r>
          </a:p>
        </p:txBody>
      </p:sp>
      <p:sp>
        <p:nvSpPr>
          <p:cNvPr id="10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신규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3" name="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열린 소통·긍정 조직문화를 기반으로 상생 협력적 노사관계 문화 확산, 파트너십 강화 추진</a:t>
            </a:r>
          </a:p>
        </p:txBody>
      </p:sp>
      <p:sp>
        <p:nvSpPr>
          <p:cNvPr id="15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공감대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형성</a:t>
            </a:r>
          </a:p>
        </p:txBody>
      </p:sp>
      <p:sp>
        <p:nvSpPr>
          <p:cNvPr id="16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 단</a:t>
            </a:r>
          </a:p>
        </p:txBody>
      </p:sp>
      <p:sp>
        <p:nvSpPr>
          <p:cNvPr id="17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노동조합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공단 발전을 위해서는 노동조합을 동반자로 인식하고 협력 증대 필수적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근로조건 개선을 위해서는 공단과의 파트너십 강화 필요</a:t>
            </a:r>
          </a:p>
        </p:txBody>
      </p:sp>
      <p:sp>
        <p:nvSpPr>
          <p:cNvPr id="22" name="레일 태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결실</a:t>
            </a:r>
          </a:p>
        </p:txBody>
      </p:sp>
      <p:sp>
        <p:nvSpPr>
          <p:cNvPr id="23" name="레일 라벨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상생협력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선언</a:t>
            </a:r>
          </a:p>
        </p:txBody>
      </p:sp>
      <p:sp>
        <p:nvSpPr>
          <p:cNvPr id="25" name="머리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 상생 협력 선언문('25.2월)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 상생 협력 선포식 개최 및 공동 선언 실시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경영진·노조집행부 전원 참여, 사내방송 생중계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안전일터 조성·발전적 노사관계 정착 합의·선언</a:t>
            </a:r>
          </a:p>
        </p:txBody>
      </p:sp>
      <p:sp>
        <p:nvSpPr>
          <p:cNvPr id="27" name="사진 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 (선포식)</a:t>
            </a:r>
          </a:p>
        </p:txBody>
      </p:sp>
      <p:sp>
        <p:nvSpPr>
          <p:cNvPr id="29" name="레일 태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확산</a:t>
            </a:r>
          </a:p>
        </p:txBody>
      </p:sp>
      <p:sp>
        <p:nvSpPr>
          <p:cNvPr id="30" name="레일 라벨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상생의 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운영</a:t>
            </a:r>
          </a:p>
        </p:txBody>
      </p:sp>
      <p:sp>
        <p:nvSpPr>
          <p:cNvPr id="32" name="배너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매년 11월, 노사 상생의 달 지정 및 운영(공공기관 중 최초)</a:t>
            </a:r>
          </a:p>
        </p:txBody>
      </p:sp>
      <p:sp>
        <p:nvSpPr>
          <p:cNvPr id="33" name="머리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 화합 어울림 한마당</a:t>
            </a:r>
          </a:p>
        </p:txBody>
      </p:sp>
      <p:sp>
        <p:nvSpPr>
          <p:cNvPr id="34" name="머리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 상생 표어 공모·선정</a:t>
            </a:r>
          </a:p>
        </p:txBody>
      </p:sp>
      <p:sp>
        <p:nvSpPr>
          <p:cNvPr id="35" name="머리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분임협의회 BEST AWARD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경영진·노조 156명 참석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화합과 소통의 장 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노사관계 특강 교육 운영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화합·상생 표어 공모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61개 공모·우수작 3개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꼬리말·행사 슬로건 활용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실적평가 우수조직 시상(4개)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이사장 표창·부상품 제공</a:t>
            </a:r>
          </a:p>
        </p:txBody>
      </p:sp>
      <p:sp>
        <p:nvSpPr>
          <p:cNvPr id="42" name="레일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3" name="머리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노사관계 최우수 기관장 감사패</a:t>
            </a:r>
          </a:p>
        </p:txBody>
      </p:sp>
      <p:sp>
        <p:nvSpPr>
          <p:cNvPr id="44" name="머리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이사장 명예 조합원 위촉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공공안전기관 노조대표자협의회 주관 최우수 기관 선정·감사패('25.8월)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노동조합 → 이사장 명예 조합원 위촉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재임 중 기관장 최초 위촉('25.11월)</a:t>
            </a:r>
          </a:p>
        </p:txBody>
      </p:sp>
      <p:sp>
        <p:nvSpPr>
          <p:cNvPr id="49" name="핵심성과 라벨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핵심성과</a:t>
            </a:r>
          </a:p>
        </p:txBody>
      </p:sp>
      <p:sp>
        <p:nvSpPr>
          <p:cNvPr id="50" name="핵심성과 문구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노사소통지수 전년대비 1.6점 상승(89.3 → 90.9점)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10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교육체계 수립과 내·외부 역량 활용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노사 현안별 전문성을 추구하는 노무 역량 교육체계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강화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HRD 비전</a:t>
            </a:r>
          </a:p>
        </p:txBody>
      </p:sp>
      <p:sp>
        <p:nvSpPr>
          <p:cNvPr id="14" name="가운데 글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안전과 행복을 위한 조직 역량 강화와 인권존중의 조직문화 조성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환경분석</a:t>
            </a:r>
          </a:p>
        </p:txBody>
      </p:sp>
      <p:sp>
        <p:nvSpPr>
          <p:cNvPr id="17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외부환경</a:t>
            </a:r>
          </a:p>
        </p:txBody>
      </p:sp>
      <p:sp>
        <p:nvSpPr>
          <p:cNvPr id="18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내부환경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「노동조합법」 개정 등 정책 변경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안전보건체계 강화 요구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현안별 전문 인력 양성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단체협약 만료 도래에 따른 교육 확대</a:t>
            </a:r>
          </a:p>
        </p:txBody>
      </p:sp>
      <p:sp>
        <p:nvSpPr>
          <p:cNvPr id="23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 목표</a:t>
            </a:r>
          </a:p>
        </p:txBody>
      </p:sp>
      <p:sp>
        <p:nvSpPr>
          <p:cNvPr id="25" name="강조 바 글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변화하는 노사 정책과 제도에 유연하게 대응할 수 있는 역량 구비·강화</a:t>
            </a:r>
          </a:p>
        </p:txBody>
      </p:sp>
      <p:sp>
        <p:nvSpPr>
          <p:cNvPr id="27" name="레일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운영방향</a:t>
            </a:r>
          </a:p>
        </p:txBody>
      </p:sp>
      <p:sp>
        <p:nvSpPr>
          <p:cNvPr id="28" name="머리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대상별 맞춤형 교육</a:t>
            </a:r>
          </a:p>
        </p:txBody>
      </p:sp>
      <p:sp>
        <p:nvSpPr>
          <p:cNvPr id="29" name="머리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기본역량 교육</a:t>
            </a:r>
          </a:p>
        </p:txBody>
      </p:sp>
      <p:sp>
        <p:nvSpPr>
          <p:cNvPr id="30" name="머리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전문성 촉진 교육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관리자·신입직원·노사실무자 맞춤형 교육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 직원 대상 노사관계 기본역량·단체협약 교육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안전보건·보수 등 노사접점 실무자 전문화 교육</a:t>
            </a:r>
          </a:p>
        </p:txBody>
      </p:sp>
      <p:graphicFrame>
        <p:nvGraphicFramePr>
          <p:cNvPr id="37" name="실적표"/>
          <p:cNvGraphicFramePr>
            <a:graphicFrameLocks noGrp="1"/>
          </p:cNvGraphicFramePr>
          <p:nvPr/>
        </p:nvGraphicFramePr>
        <p:xfrm>
          <a:off x="723130" y="3840417"/>
          <a:ext cx="6300001" cy="2202263"/>
        </p:xfrm>
        <a:graphic>
          <a:graphicData uri="http://schemas.openxmlformats.org/drawingml/2006/table">
            <a:tbl>
              <a:tblPr/>
              <a:tblGrid>
                <a:gridCol w="662870"/>
                <a:gridCol w="624522"/>
                <a:gridCol w="5012609"/>
              </a:tblGrid>
              <a:tr h="230087">
                <a:tc gridSpan="2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구 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추진내용 및 실적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</a:tr>
              <a:tr h="246522">
                <a:tc rowSpan="3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대상별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맞춤형 교육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관리자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최고지도위과정(3명)·발전방안(156명)·신규보직자 교육(41명)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 v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신입직원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신입직원 대상 노동관계법·노사관계 등 노사지식 함양 교육(178명)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 v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노사실무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집단 노사갈등 해결·롤플레이(4명), 노무이슈·판례 학습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 rowSpan="2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기본역량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교육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전 직원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노동교육원 MOU 양질의 노사관계 교육 콘텐츠 제공(549명)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 v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공인노무사 초빙 단체협약 이해관계자 교육(경영진·노조집행부)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 rowSpan="3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전문성 촉진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교육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안전보건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위험성평가(154명)·재난안전체험(203명)·방재전문교육(22명)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 v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보수예산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보수·예산·회계 담당자 전문화(145명), 승진자 내재화(285명)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 v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복리후생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복리후생 담당자 전문화 교육(47명), 제도 안내 가이드 배포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11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협의체 참여와 외부역량 활용으로 현안 대응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지적·개선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협의체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참여</a:t>
            </a:r>
          </a:p>
        </p:txBody>
      </p:sp>
      <p:sp>
        <p:nvSpPr>
          <p:cNvPr id="12" name="배너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타 기관 협의체 참여·공유·학습으로 노사 현안 전문성 강화 및 개선점 모색</a:t>
            </a:r>
          </a:p>
        </p:txBody>
      </p:sp>
      <p:sp>
        <p:nvSpPr>
          <p:cNvPr id="13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안전보건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복리후생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복무제도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안전협의체(3회·9개)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재난관리협의체(1회·4개)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교차점검단(3회·5개)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상생컨설팅(3회·3개)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일·가정양립(4회·4개)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상생컨설팅(2회·3개)</a:t>
            </a:r>
          </a:p>
        </p:txBody>
      </p:sp>
      <p:sp>
        <p:nvSpPr>
          <p:cNvPr id="21" name="태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주요내용</a:t>
            </a:r>
          </a:p>
        </p:txBody>
      </p:sp>
      <p:sp>
        <p:nvSpPr>
          <p:cNvPr id="22" name="태그 설명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건강 프로그램 교류, 재난 대응 매뉴얼 공유·발표, 복리후생제도 교차점검 등</a:t>
            </a:r>
          </a:p>
        </p:txBody>
      </p:sp>
      <p:sp>
        <p:nvSpPr>
          <p:cNvPr id="23" name="레일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외부역량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활용</a:t>
            </a:r>
          </a:p>
        </p:txBody>
      </p:sp>
      <p:sp>
        <p:nvSpPr>
          <p:cNvPr id="25" name="배너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외부 전문 역량을 적극 활용하여 공단의 노사 현안에 신속 대응 및 전문성 구비</a:t>
            </a:r>
          </a:p>
        </p:txBody>
      </p:sp>
      <p:sp>
        <p:nvSpPr>
          <p:cNvPr id="26" name="머리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노무 전문가 자문</a:t>
            </a:r>
          </a:p>
        </p:txBody>
      </p:sp>
      <p:sp>
        <p:nvSpPr>
          <p:cNvPr id="27" name="머리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온라인 자원 활용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공단 전담 노무법인 계약 및 전담 노무사 배치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주요 이슈 대응 및 제도 적법성 자문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현안 신속 대응과 정보 수집을 위한 온라인 노무포털(E-Labor) 적극 활용</a:t>
            </a:r>
          </a:p>
        </p:txBody>
      </p:sp>
      <p:sp>
        <p:nvSpPr>
          <p:cNvPr id="31" name="태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활용사례</a:t>
            </a:r>
          </a:p>
        </p:txBody>
      </p:sp>
      <p:sp>
        <p:nvSpPr>
          <p:cNvPr id="32" name="태그 설명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단체협약, 복리후생제도 운영 적법성 · 감시단속적 근무 해제, 육아지원 3법 등</a:t>
            </a:r>
          </a:p>
        </p:txBody>
      </p:sp>
      <p:sp>
        <p:nvSpPr>
          <p:cNvPr id="34" name="핵심성과 라벨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핵심성과</a:t>
            </a:r>
          </a:p>
        </p:txBody>
      </p:sp>
      <p:sp>
        <p:nvSpPr>
          <p:cNvPr id="35" name="핵심성과 문구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노사역량지수 전년대비 0.8점 상승(90.1 → 90.9점)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12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무분규 임금·단체협약을 통한 근로조건의 실질적 향상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갈등 있을 땐 소통으로! 15년 연속 무분규 임금협약 체결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강화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환경분석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외부환경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내부환경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'25년도 공공기관 총인건비 인상률 3.0% 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저임금자 임금 인상 기조(예산지침)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직종·직급 간 동일 인상률 불만 제기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낮은 보수로 하위직·교통직·실무직 불만</a:t>
            </a:r>
          </a:p>
        </p:txBody>
      </p:sp>
      <p:sp>
        <p:nvSpPr>
          <p:cNvPr id="21" name="레일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이해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관계</a:t>
            </a:r>
          </a:p>
        </p:txBody>
      </p:sp>
      <p:sp>
        <p:nvSpPr>
          <p:cNvPr id="22" name="머리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 단</a:t>
            </a:r>
          </a:p>
        </p:txBody>
      </p:sp>
      <p:sp>
        <p:nvSpPr>
          <p:cNvPr id="23" name="머리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노동조합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저임금자 임금 우선 인상 동의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고위직급자 인상·직무급 확대 요구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저임금 직종·직급 위주 '하후상박식' 인상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실무직 근로시간·직무급 확대 반대</a:t>
            </a:r>
          </a:p>
        </p:txBody>
      </p:sp>
      <p:sp>
        <p:nvSpPr>
          <p:cNvPr id="27" name="레일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의견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조율</a:t>
            </a:r>
          </a:p>
        </p:txBody>
      </p:sp>
      <p:sp>
        <p:nvSpPr>
          <p:cNvPr id="29" name="단계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공감대 형성</a:t>
            </a:r>
          </a:p>
        </p:txBody>
      </p:sp>
      <p:sp>
        <p:nvSpPr>
          <p:cNvPr id="30" name="단계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갈등발생</a:t>
            </a:r>
          </a:p>
        </p:txBody>
      </p:sp>
      <p:sp>
        <p:nvSpPr>
          <p:cNvPr id="31" name="단계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갈등해소</a:t>
            </a:r>
          </a:p>
        </p:txBody>
      </p:sp>
      <p:sp>
        <p:nvSpPr>
          <p:cNvPr id="32" name="단계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본교섭 실시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대표위원 12명 참석·상견례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방향 공유·논의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직급별 인상률·직무급 확대 이견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실무교섭 3회 대화·소통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하후상박식 절충안 협의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실무교섭안으로 본교섭·체결식 동시 진행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15년 연속 무분규 체결</a:t>
            </a:r>
          </a:p>
        </p:txBody>
      </p:sp>
      <p:sp>
        <p:nvSpPr>
          <p:cNvPr id="43" name="레일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협약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체결</a:t>
            </a:r>
          </a:p>
        </p:txBody>
      </p:sp>
      <p:sp>
        <p:nvSpPr>
          <p:cNvPr id="45" name="머리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1차 임금협약 체결('25.5월)</a:t>
            </a:r>
          </a:p>
        </p:txBody>
      </p:sp>
      <p:sp>
        <p:nvSpPr>
          <p:cNvPr id="46" name="머리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최종 임금협약 체결('25.12월)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하후상박식 임금 차등인상(1.0~4.5%)</a:t>
            </a:r>
          </a:p>
        </p:txBody>
      </p:sp>
      <p:graphicFrame>
        <p:nvGraphicFramePr>
          <p:cNvPr id="48" name="인라인 표"/>
          <p:cNvGraphicFramePr>
            <a:graphicFrameLocks noGrp="1"/>
          </p:cNvGraphicFramePr>
          <p:nvPr/>
        </p:nvGraphicFramePr>
        <p:xfrm>
          <a:off x="1391478" y="4444591"/>
          <a:ext cx="2711739" cy="416348"/>
        </p:xfrm>
        <a:graphic>
          <a:graphicData uri="http://schemas.openxmlformats.org/drawingml/2006/table">
            <a:tbl>
              <a:tblPr/>
              <a:tblGrid>
                <a:gridCol w="394435"/>
                <a:gridCol w="504000"/>
                <a:gridCol w="361565"/>
                <a:gridCol w="153391"/>
                <a:gridCol w="416348"/>
                <a:gridCol w="438261"/>
                <a:gridCol w="443739"/>
              </a:tblGrid>
              <a:tr h="208174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구분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위원,1급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2급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…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6,7급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교통직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실무직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</a:tr>
              <a:tr h="208174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인상률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1.0%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1.5%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…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4.5%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4.5%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3.2%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49" name="칸 본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상하위직 격차 완화(연공성 완화율 1.9%p↑)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교통직 기본급 0.5%, 실무직 0.4% 추가 인상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환경실무직 표준 근로체계 편입(임금↑)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직무급 Ⅰ 0.08%, 직무급 Ⅱ 1만원 인상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일반직 3~7급 성과급 한시 추가 지급</a:t>
            </a:r>
          </a:p>
        </p:txBody>
      </p:sp>
      <p:sp>
        <p:nvSpPr>
          <p:cNvPr id="53" name="핵심성과 라벨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핵심성과</a:t>
            </a:r>
          </a:p>
        </p:txBody>
      </p:sp>
      <p:sp>
        <p:nvSpPr>
          <p:cNvPr id="54" name="핵심성과 문구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무분규 임금협약과 본교섭을 생략한 단체협약 체결 완료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13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상호 신뢰와 공감을 바탕으로 본교섭을 생략한 단체협약 체결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이해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관계</a:t>
            </a:r>
          </a:p>
        </p:txBody>
      </p:sp>
      <p:sp>
        <p:nvSpPr>
          <p:cNvPr id="11" name="머리칸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 단</a:t>
            </a:r>
          </a:p>
        </p:txBody>
      </p:sp>
      <p:sp>
        <p:nvSpPr>
          <p:cNvPr id="12" name="머리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노동조합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법과 정부정책 테두리 내에서의 교섭 실시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공단 발전이라는 공동 목표 우선적 지향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조합원의 권리 확대와 노동조합 활동 보장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근로조건 개선 등 근로자 권익 보호 중점 추진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공감대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형성</a:t>
            </a:r>
          </a:p>
        </p:txBody>
      </p:sp>
      <p:sp>
        <p:nvSpPr>
          <p:cNvPr id="18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사전교섭('25.9월)</a:t>
            </a:r>
          </a:p>
        </p:txBody>
      </p:sp>
      <p:sp>
        <p:nvSpPr>
          <p:cNvPr id="19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파트너십 프로그램('25.11월)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본교섭 대표위원 16명 전원 참석, 상견례 실시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교섭방향 및 의견 교류로 공감대 형성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경영진 및 노조집행부, 실무자 등 20명 참석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팀워크 활동 및 현안 공유·소통으로 공감대 강화</a:t>
            </a:r>
          </a:p>
        </p:txBody>
      </p:sp>
      <p:sp>
        <p:nvSpPr>
          <p:cNvPr id="23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의견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조율</a:t>
            </a:r>
          </a:p>
        </p:txBody>
      </p:sp>
      <p:sp>
        <p:nvSpPr>
          <p:cNvPr id="24" name="단계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요구안 제시</a:t>
            </a:r>
          </a:p>
        </p:txBody>
      </p:sp>
      <p:sp>
        <p:nvSpPr>
          <p:cNvPr id="25" name="단계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사측 검토</a:t>
            </a:r>
          </a:p>
        </p:txBody>
      </p:sp>
      <p:sp>
        <p:nvSpPr>
          <p:cNvPr id="26" name="단계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 소통</a:t>
            </a:r>
          </a:p>
        </p:txBody>
      </p:sp>
      <p:sp>
        <p:nvSpPr>
          <p:cNvPr id="27" name="단계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합의안 도출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노조 18개 요구안 제시·교섭 요구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실무부서 검토, 이사장·본부장 점검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협의 필요 사안 노사 소통·협의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7건 의견일치, 11건 수정합의</a:t>
            </a:r>
          </a:p>
        </p:txBody>
      </p:sp>
      <p:sp>
        <p:nvSpPr>
          <p:cNvPr id="38" name="레일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협약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체결</a:t>
            </a:r>
          </a:p>
        </p:txBody>
      </p:sp>
      <p:sp>
        <p:nvSpPr>
          <p:cNvPr id="40" name="머리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본교섭 없는 단체협약 체결('25.12월)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근로조건 개선과 공단 발전이라는 공동 목표까지, 균형 있는 협약 체결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부당노동행위 금지, 조합활동 보장 강화, 비상 시 급여 지급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미래 지속가능 성장 신설, 해외사업 확대·지원 강화 등</a:t>
            </a:r>
          </a:p>
        </p:txBody>
      </p:sp>
      <p:sp>
        <p:nvSpPr>
          <p:cNvPr id="42" name="사진 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 (체결식)</a:t>
            </a:r>
          </a:p>
        </p:txBody>
      </p:sp>
      <p:sp>
        <p:nvSpPr>
          <p:cNvPr id="44" name="핵심성과 라벨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핵심성과</a:t>
            </a:r>
          </a:p>
        </p:txBody>
      </p:sp>
      <p:sp>
        <p:nvSpPr>
          <p:cNvPr id="45" name="핵심성과 문구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무분규 임금협약과 본교섭을 생략한 단체협약 체결 완료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14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누구나 즐겁고 차별 없이 일할 수 있는 근로환경 구현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직원 니즈를 반영한 근로조건 개선과 복리후생 향상 과제 도출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환경분석</a:t>
            </a:r>
          </a:p>
        </p:txBody>
      </p:sp>
      <p:sp>
        <p:nvSpPr>
          <p:cNvPr id="13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외부환경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전년도 환류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직원니즈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육아지원 3법·출산양육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장기재직휴가 등 신설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 안전일터 조성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체감할 수 있는 질적 근로조건 개선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취약직종 근로조건 향상 지속</a:t>
            </a:r>
          </a:p>
        </p:txBody>
      </p:sp>
      <p:sp>
        <p:nvSpPr>
          <p:cNvPr id="19" name="레일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복지개선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TF</a:t>
            </a:r>
          </a:p>
        </p:txBody>
      </p:sp>
      <p:sp>
        <p:nvSpPr>
          <p:cNvPr id="20" name="소행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문화여가·가족친화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경조사 생활지원</a:t>
            </a:r>
          </a:p>
        </p:txBody>
      </p:sp>
      <p:sp>
        <p:nvSpPr>
          <p:cNvPr id="22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안전경영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위원회</a:t>
            </a:r>
          </a:p>
        </p:txBody>
      </p:sp>
      <p:sp>
        <p:nvSpPr>
          <p:cNvPr id="23" name="소행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석면제거 등 안전일터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스트레스·정신건강</a:t>
            </a:r>
          </a:p>
        </p:txBody>
      </p:sp>
      <p:sp>
        <p:nvSpPr>
          <p:cNvPr id="26" name="레일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추진방향</a:t>
            </a:r>
          </a:p>
        </p:txBody>
      </p:sp>
      <p:sp>
        <p:nvSpPr>
          <p:cNvPr id="27" name="가운데 글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교통직 처우개선</a:t>
            </a:r>
          </a:p>
        </p:txBody>
      </p:sp>
      <p:sp>
        <p:nvSpPr>
          <p:cNvPr id="28" name="가운데 글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실무직 처우개선</a:t>
            </a:r>
          </a:p>
        </p:txBody>
      </p:sp>
      <p:sp>
        <p:nvSpPr>
          <p:cNvPr id="30" name="가운데 글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복리후생 향상</a:t>
            </a:r>
          </a:p>
        </p:txBody>
      </p:sp>
      <p:sp>
        <p:nvSpPr>
          <p:cNvPr id="33" name="레일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추진과제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교통직 처우개선 단체교섭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유관부처 협의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처우개선 방안 도출·노사 합의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근무체계 분석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개선안·임금저하 방지대책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처우개선 방안 노사합의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직원니즈 기반 복리후생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가족친화경영 확대·제도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안전보건 지원 강화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15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열린 소통의 결실, 교통직 처우개선 단체교섭 노사합의 체결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B.P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이해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관계</a:t>
            </a:r>
          </a:p>
        </p:txBody>
      </p:sp>
      <p:sp>
        <p:nvSpPr>
          <p:cNvPr id="12" name="머리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 단</a:t>
            </a:r>
          </a:p>
        </p:txBody>
      </p:sp>
      <p:sp>
        <p:nvSpPr>
          <p:cNvPr id="13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노동조합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재원 부족 등 교통직 처우개선을 위한 중장기적 검토와 추진 필요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교통직과 일반직의 차별적 요소 해소를 위한 적극적·신속한 대응 필요</a:t>
            </a:r>
          </a:p>
        </p:txBody>
      </p:sp>
      <p:sp>
        <p:nvSpPr>
          <p:cNvPr id="17" name="레일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교섭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노력</a:t>
            </a:r>
          </a:p>
        </p:txBody>
      </p:sp>
      <p:sp>
        <p:nvSpPr>
          <p:cNvPr id="19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공감과 이해</a:t>
            </a:r>
          </a:p>
        </p:txBody>
      </p:sp>
      <p:sp>
        <p:nvSpPr>
          <p:cNvPr id="20" name="머리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소통과 설득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실무추진단 운영(5회)으로 교통직 처우개선을 위한 노사 공감대 형성 노력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유관부처 소통 및 설득(처우개선 예산 4.5억원 확보)</a:t>
            </a:r>
          </a:p>
        </p:txBody>
      </p:sp>
      <p:sp>
        <p:nvSpPr>
          <p:cNvPr id="24" name="레일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교섭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결과</a:t>
            </a:r>
          </a:p>
        </p:txBody>
      </p:sp>
      <p:sp>
        <p:nvSpPr>
          <p:cNvPr id="26" name="배너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교통직 처우개선 수시단체교섭 노사합의서 체결('25.12월)</a:t>
            </a:r>
          </a:p>
        </p:txBody>
      </p:sp>
      <p:sp>
        <p:nvSpPr>
          <p:cNvPr id="27" name="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교통직 자체성과급 신설 및 지급 합의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일반 경력직 채용 비율 상향, 경력가점 변경</a:t>
            </a:r>
          </a:p>
        </p:txBody>
      </p:sp>
      <p:sp>
        <p:nvSpPr>
          <p:cNvPr id="28" name="사진 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 (합의서)</a:t>
            </a:r>
          </a:p>
        </p:txBody>
      </p:sp>
      <p:sp>
        <p:nvSpPr>
          <p:cNvPr id="29" name="사진 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 (체결식)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16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 근로자의 안전을 위해! 시설관리 실무직렬 근무체계 개선 합의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신규</a:t>
            </a:r>
          </a:p>
        </p:txBody>
      </p:sp>
      <p:sp>
        <p:nvSpPr>
          <p:cNvPr id="8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 황</a:t>
            </a:r>
          </a:p>
        </p:txBody>
      </p:sp>
      <p:sp>
        <p:nvSpPr>
          <p:cNvPr id="9" name="본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감시단속적 근로 적용 제외 승인 근로형태, 월 251시간 근무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문제점</a:t>
            </a:r>
          </a:p>
        </p:txBody>
      </p:sp>
      <p:sp>
        <p:nvSpPr>
          <p:cNvPr id="11" name="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장시간 근로에 따른 피로누적 등 건강권 저해와 잦은 이직에 따른 인력의 비효율적 운영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공동노력</a:t>
            </a:r>
          </a:p>
        </p:txBody>
      </p:sp>
      <p:sp>
        <p:nvSpPr>
          <p:cNvPr id="13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해당 근로자 소통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근무체계 개편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임금보전 대책 마련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승인 해제를 통한 근로조건 개선 설명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임금저하 방지 노사 공동 노력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일반 근로형태로 전환·개편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월 172시간 근무(기존 251시간)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임금보전 대책 검토 및 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휴일·연장근로수당 지급</a:t>
            </a:r>
          </a:p>
        </p:txBody>
      </p:sp>
      <p:sp>
        <p:nvSpPr>
          <p:cNvPr id="22" name="핵심성과 라벨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23" name="핵심성과 문구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노사합의 체결('25.12월) → 장시간 근무해소(△79시간)를 통한 건강권 확보와 임금보전까지 일거양득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17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라. 직원 만족도를 높이는 복리후생 향상과 근무환경 개선 노력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강화</a:t>
            </a:r>
          </a:p>
        </p:txBody>
      </p:sp>
      <p:sp>
        <p:nvSpPr>
          <p:cNvPr id="11" name="패널 머리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복리후생 향상</a:t>
            </a:r>
          </a:p>
        </p:txBody>
      </p:sp>
      <p:sp>
        <p:nvSpPr>
          <p:cNvPr id="12" name="패널 본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휴양소 운영 확대(502명 이용)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 사택 에어컨 보급, 장례서비스 확대</a:t>
            </a:r>
          </a:p>
        </p:txBody>
      </p:sp>
      <p:sp>
        <p:nvSpPr>
          <p:cNvPr id="13" name="요약 바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복리후생만족도 92.1점</a:t>
            </a:r>
          </a:p>
        </p:txBody>
      </p:sp>
      <p:sp>
        <p:nvSpPr>
          <p:cNvPr id="15" name="패널 머리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가족친화경영 확대</a:t>
            </a:r>
          </a:p>
        </p:txBody>
      </p:sp>
      <p:sp>
        <p:nvSpPr>
          <p:cNvPr id="16" name="패널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출산축하금 신설, 휴가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육아지원 3법 도입, 가족 동반 행사</a:t>
            </a:r>
          </a:p>
        </p:txBody>
      </p:sp>
      <p:sp>
        <p:nvSpPr>
          <p:cNvPr id="17" name="요약 바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가족친화 만족도 8.6점</a:t>
            </a:r>
          </a:p>
        </p:txBody>
      </p:sp>
      <p:sp>
        <p:nvSpPr>
          <p:cNvPr id="19" name="패널 머리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안전일터 조성</a:t>
            </a:r>
          </a:p>
        </p:txBody>
      </p:sp>
      <p:sp>
        <p:nvSpPr>
          <p:cNvPr id="20" name="패널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석면 잔존 사업장 제거(8개소)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청사 안전진단·스트레스 조사</a:t>
            </a:r>
          </a:p>
        </p:txBody>
      </p:sp>
      <p:sp>
        <p:nvSpPr>
          <p:cNvPr id="21" name="요약 바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근로개선지수 91.6점</a:t>
            </a:r>
          </a:p>
        </p:txBody>
      </p:sp>
      <p:sp>
        <p:nvSpPr>
          <p:cNvPr id="23" name="핵심성과 라벨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핵심성과</a:t>
            </a:r>
          </a:p>
        </p:txBody>
      </p:sp>
      <p:sp>
        <p:nvSpPr>
          <p:cNvPr id="24" name="핵심성과 문구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근로개선지수 전년대비 1.5점 상승(90.1 → 91.6점), 복리후생 만족도 3년 연속 '우수' 등급 획득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18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5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새 정부 국정과제 및 사업 포트폴리오 연계 중장기 경영목표 롤링</a:t>
            </a:r>
          </a:p>
        </p:txBody>
      </p:sp>
      <p:sp>
        <p:nvSpPr>
          <p:cNvPr id="9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 향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경영목표 수립 4대 원칙 기반 기존 ‘3-12-20’ ➡ 성과목표 세분화 등 ‘4-12-30’으로 전환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① 국정과제 반영 ② 핵심업무 연계성 ③ 효율성·공공성 ④ ESG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프로세스</a:t>
            </a:r>
          </a:p>
        </p:txBody>
      </p:sp>
      <p:sp>
        <p:nvSpPr>
          <p:cNvPr id="15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국정과제 정렬</a:t>
            </a:r>
          </a:p>
        </p:txBody>
      </p:sp>
      <p:sp>
        <p:nvSpPr>
          <p:cNvPr id="16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핵심업무 연계</a:t>
            </a:r>
          </a:p>
        </p:txBody>
      </p:sp>
      <p:sp>
        <p:nvSpPr>
          <p:cNvPr id="17" name="단계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목표체계 재설계</a:t>
            </a:r>
          </a:p>
        </p:txBody>
      </p:sp>
      <p:sp>
        <p:nvSpPr>
          <p:cNvPr id="18" name="단계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실행가능 지표목표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정책 핵심 키워드 매칭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안전, AI, 녹색전환 등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공사 주요사업·기능 기준으로 재구조화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국정과제·업무연계 + 공공성·효율성 + ESG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자원배분·KPI 등과 연계·목표 확정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극한기후 대비 국민 물안전·물이용 보장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민간·글로벌 협력 물가치 창출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공정과 혁신 기반 글로벌 물기업 도약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〈신설〉</a:t>
            </a:r>
          </a:p>
        </p:txBody>
      </p:sp>
      <p:sp>
        <p:nvSpPr>
          <p:cNvPr id="36" name="레일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’25-’29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↓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’26-’30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목표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재설계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국민·자연 기후안전망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예방-대응-복원 전주기 관점 안전망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❶ 기후대응 ❷ 물재해대응 ❸ 국민안전 ❹ 예측고도화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AI전환 중단없는 물공급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AI의 핵심기술 전환 및 첨단산업 니즈 대응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❶ AI·첨단산업 ❷ 용수공급 ❸ 공공재 공급 ❹ AI운영혁신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탈탄소 녹색전환 및 K-물관리 수출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확장을 넘어 도전적 재생e목표 반영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❶ 재생e전환 ❷ 물에너지 ❸ 탄소중립 ❹ 수익창출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 최우선 ESG 기반 혁신경영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지원기능에서 기관의 경영근간 격상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❶ 공공혁신 ❷ 안전·윤리 ❸ 재무건전성 ❹ 안전일터</a:t>
            </a:r>
          </a:p>
        </p:txBody>
      </p:sp>
      <p:sp>
        <p:nvSpPr>
          <p:cNvPr id="45" name="머리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추진과제</a:t>
            </a:r>
          </a:p>
        </p:txBody>
      </p:sp>
      <p:sp>
        <p:nvSpPr>
          <p:cNvPr id="46" name="머리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추진과제</a:t>
            </a:r>
          </a:p>
        </p:txBody>
      </p:sp>
      <p:sp>
        <p:nvSpPr>
          <p:cNvPr id="47" name="머리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추진과제</a:t>
            </a:r>
          </a:p>
        </p:txBody>
      </p:sp>
      <p:sp>
        <p:nvSpPr>
          <p:cNvPr id="48" name="머리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추진과제</a:t>
            </a:r>
          </a:p>
        </p:txBody>
      </p:sp>
      <p:sp>
        <p:nvSpPr>
          <p:cNvPr id="49" name="칸 본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재해대응, 국민안전, 물환경 등 3과제 구체화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AI·DT 운영 고도화 및 첨단용수 물공급 등 3과제</a:t>
            </a:r>
          </a:p>
        </p:txBody>
      </p:sp>
      <p:sp>
        <p:nvSpPr>
          <p:cNvPr id="52" name="칸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재생e·NDC·기후테크 중심 수출확대 성과 3과제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안전·R&amp;D, 안정적 재무, 청렴 등 3과제 명확화</a:t>
            </a:r>
          </a:p>
        </p:txBody>
      </p:sp>
      <p:sp>
        <p:nvSpPr>
          <p:cNvPr id="58" name="배너 글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국정과제는 촘촘히, 미래성장은 강화, 기본책무는 단단하게 30개 지표 신설·목표 보완</a:t>
            </a:r>
          </a:p>
        </p:txBody>
      </p:sp>
      <p:sp>
        <p:nvSpPr>
          <p:cNvPr id="61" name="레일 태그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신설 5·강화 1·유지 1</a:t>
            </a:r>
          </a:p>
        </p:txBody>
      </p:sp>
      <p:sp>
        <p:nvSpPr>
          <p:cNvPr id="62" name="레일 라벨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안전망</a:t>
            </a:r>
          </a:p>
        </p:txBody>
      </p:sp>
      <p:sp>
        <p:nvSpPr>
          <p:cNvPr id="63" name="머리칸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신설 AI·DT·위성 물관리</a:t>
            </a:r>
          </a:p>
        </p:txBody>
      </p:sp>
      <p:sp>
        <p:nvSpPr>
          <p:cNvPr id="64" name="머리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강화 지하수저류댐</a:t>
            </a:r>
          </a:p>
        </p:txBody>
      </p:sp>
      <p:sp>
        <p:nvSpPr>
          <p:cNvPr id="65" name="머리칸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유지 댐운영목표 달성률</a:t>
            </a:r>
          </a:p>
        </p:txBody>
      </p:sp>
      <p:sp>
        <p:nvSpPr>
          <p:cNvPr id="66" name="칸 본문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국정과제(물재해 대응)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’30년 위성 7기(실시간 모니터링)</a:t>
            </a:r>
          </a:p>
        </p:txBody>
      </p:sp>
      <p:sp>
        <p:nvSpPr>
          <p:cNvPr id="67" name="칸 본문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대체수자원 확보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’26~’30 11개 → 23개</a:t>
            </a:r>
          </a:p>
        </p:txBody>
      </p:sp>
      <p:sp>
        <p:nvSpPr>
          <p:cNvPr id="69" name="칸 본문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홍수·가뭄 등 대응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홍수조절·용수공급 100%</a:t>
            </a:r>
          </a:p>
        </p:txBody>
      </p:sp>
      <p:sp>
        <p:nvSpPr>
          <p:cNvPr id="72" name="레일 태그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신설 2·강화 2·유지 2</a:t>
            </a:r>
          </a:p>
        </p:txBody>
      </p:sp>
      <p:sp>
        <p:nvSpPr>
          <p:cNvPr id="73" name="레일 라벨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AI전환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물공급</a:t>
            </a:r>
          </a:p>
        </p:txBody>
      </p:sp>
      <p:sp>
        <p:nvSpPr>
          <p:cNvPr id="75" name="머리칸"/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신설 AI·DT 자율운영</a:t>
            </a:r>
          </a:p>
        </p:txBody>
      </p:sp>
      <p:sp>
        <p:nvSpPr>
          <p:cNvPr id="76" name="머리칸"/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강화 첨단수처리 기술</a:t>
            </a:r>
          </a:p>
        </p:txBody>
      </p:sp>
      <p:sp>
        <p:nvSpPr>
          <p:cNvPr id="77" name="머리칸"/>
          <p:cNvSpPr>
            <a:spLocks noGrp="1"/>
          </p:cNvSpPr>
          <p:nvPr>
            <p:ph type="body" sz="quarter" idx="6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유지 물공급 중단예방</a:t>
            </a:r>
          </a:p>
        </p:txBody>
      </p:sp>
      <p:sp>
        <p:nvSpPr>
          <p:cNvPr id="78" name="칸 본문"/>
          <p:cNvSpPr>
            <a:spLocks noGrp="1"/>
          </p:cNvSpPr>
          <p:nvPr>
            <p:ph type="body" sz="quarter" idx="6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국정과제(AI 3대강국)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’30년 LV3 44개소(완전자율)</a:t>
            </a:r>
          </a:p>
        </p:txBody>
      </p:sp>
      <p:sp>
        <p:nvSpPr>
          <p:cNvPr id="79" name="칸 본문"/>
          <p:cNvSpPr>
            <a:spLocks noGrp="1"/>
          </p:cNvSpPr>
          <p:nvPr>
            <p:ph type="body" sz="quarter" idx="6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초순수 공급시설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2개 → 3개</a:t>
            </a:r>
          </a:p>
        </p:txBody>
      </p:sp>
      <p:sp>
        <p:nvSpPr>
          <p:cNvPr id="81" name="칸 본문"/>
          <p:cNvSpPr>
            <a:spLocks noGrp="1"/>
          </p:cNvSpPr>
          <p:nvPr>
            <p:ph type="body" sz="quarter" idx="6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국민생활 필수 서비스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단수예방률 100%</a:t>
            </a:r>
          </a:p>
        </p:txBody>
      </p:sp>
      <p:sp>
        <p:nvSpPr>
          <p:cNvPr id="84" name="레일 태그"/>
          <p:cNvSpPr>
            <a:spLocks noGrp="1"/>
          </p:cNvSpPr>
          <p:nvPr>
            <p:ph type="body" sz="quarter" idx="6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신설 3·강화 3·유지 3</a:t>
            </a:r>
          </a:p>
        </p:txBody>
      </p:sp>
      <p:sp>
        <p:nvSpPr>
          <p:cNvPr id="85" name="레일 라벨"/>
          <p:cNvSpPr>
            <a:spLocks noGrp="1"/>
          </p:cNvSpPr>
          <p:nvPr>
            <p:ph type="body" sz="quarter" idx="6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재생e·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수출확대</a:t>
            </a:r>
          </a:p>
        </p:txBody>
      </p:sp>
      <p:sp>
        <p:nvSpPr>
          <p:cNvPr id="86" name="머리칸"/>
          <p:cNvSpPr>
            <a:spLocks noGrp="1"/>
          </p:cNvSpPr>
          <p:nvPr>
            <p:ph type="body" sz="quarter" idx="7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신설 재생e 확충</a:t>
            </a:r>
          </a:p>
        </p:txBody>
      </p:sp>
      <p:sp>
        <p:nvSpPr>
          <p:cNvPr id="87" name="머리칸"/>
          <p:cNvSpPr>
            <a:spLocks noGrp="1"/>
          </p:cNvSpPr>
          <p:nvPr>
            <p:ph type="body" sz="quarter" idx="7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강화 수출기업 PPA확대</a:t>
            </a:r>
          </a:p>
        </p:txBody>
      </p:sp>
      <p:sp>
        <p:nvSpPr>
          <p:cNvPr id="88" name="머리칸"/>
          <p:cNvSpPr>
            <a:spLocks noGrp="1"/>
          </p:cNvSpPr>
          <p:nvPr>
            <p:ph type="body" sz="quarter" idx="7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유지 기후테크 예비유니콘</a:t>
            </a:r>
          </a:p>
        </p:txBody>
      </p:sp>
      <p:sp>
        <p:nvSpPr>
          <p:cNvPr id="89" name="칸 본문"/>
          <p:cNvSpPr>
            <a:spLocks noGrp="1"/>
          </p:cNvSpPr>
          <p:nvPr>
            <p:ph type="body" sz="quarter" idx="7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국정과제(재생e대전환)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’26 1.5GW → ’30 10GW</a:t>
            </a:r>
          </a:p>
        </p:txBody>
      </p:sp>
      <p:sp>
        <p:nvSpPr>
          <p:cNvPr id="90" name="칸 본문"/>
          <p:cNvSpPr>
            <a:spLocks noGrp="1"/>
          </p:cNvSpPr>
          <p:nvPr>
            <p:ph type="body" sz="quarter" idx="7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제도개선·시장 활성화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20개 → 26개</a:t>
            </a:r>
          </a:p>
        </p:txBody>
      </p:sp>
      <p:sp>
        <p:nvSpPr>
          <p:cNvPr id="92" name="칸 본문"/>
          <p:cNvSpPr>
            <a:spLocks noGrp="1"/>
          </p:cNvSpPr>
          <p:nvPr>
            <p:ph type="body" sz="quarter" idx="7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물산업 육성 선도 역할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5개사 → 9개사</a:t>
            </a:r>
          </a:p>
        </p:txBody>
      </p:sp>
      <p:sp>
        <p:nvSpPr>
          <p:cNvPr id="95" name="레일 태그"/>
          <p:cNvSpPr>
            <a:spLocks noGrp="1"/>
          </p:cNvSpPr>
          <p:nvPr>
            <p:ph type="body" sz="quarter" idx="7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강화 2·유지 6</a:t>
            </a:r>
          </a:p>
        </p:txBody>
      </p:sp>
      <p:sp>
        <p:nvSpPr>
          <p:cNvPr id="96" name="레일 라벨"/>
          <p:cNvSpPr>
            <a:spLocks noGrp="1"/>
          </p:cNvSpPr>
          <p:nvPr>
            <p:ph type="body" sz="quarter" idx="7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ESG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혁신경영</a:t>
            </a:r>
          </a:p>
        </p:txBody>
      </p:sp>
      <p:sp>
        <p:nvSpPr>
          <p:cNvPr id="98" name="머리칸"/>
          <p:cNvSpPr>
            <a:spLocks noGrp="1"/>
          </p:cNvSpPr>
          <p:nvPr>
            <p:ph type="body" sz="quarter" idx="7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강화 신뢰경영지수</a:t>
            </a:r>
          </a:p>
        </p:txBody>
      </p:sp>
      <p:sp>
        <p:nvSpPr>
          <p:cNvPr id="99" name="머리칸"/>
          <p:cNvSpPr>
            <a:spLocks noGrp="1"/>
          </p:cNvSpPr>
          <p:nvPr>
            <p:ph type="body" sz="quarter" idx="7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유지 안전경영 + ESG경영 + 기관 청렴도</a:t>
            </a:r>
          </a:p>
        </p:txBody>
      </p:sp>
      <p:sp>
        <p:nvSpPr>
          <p:cNvPr id="100" name="칸 본문"/>
          <p:cNvSpPr>
            <a:spLocks noGrp="1"/>
          </p:cNvSpPr>
          <p:nvPr>
            <p:ph type="body" sz="quarter" idx="8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선진 조직으로 진화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85점 → 88점 → 90점</a:t>
            </a:r>
          </a:p>
        </p:txBody>
      </p:sp>
      <p:sp>
        <p:nvSpPr>
          <p:cNvPr id="101" name="칸 본문"/>
          <p:cNvSpPr>
            <a:spLocks noGrp="1"/>
          </p:cNvSpPr>
          <p:nvPr>
            <p:ph type="body" sz="quarter" idx="8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기관경영의 기본이 되는 사회적가치 등 이행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중대재해 0건, ESG 최우수, 종합청렴도 1등급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19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6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중장기 경영목표 달성을 위한 중장기 전략경영계획 수립</a:t>
            </a:r>
          </a:p>
        </p:txBody>
      </p:sp>
      <p:sp>
        <p:nvSpPr>
          <p:cNvPr id="12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5" name="레일 태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</a:t>
            </a:r>
          </a:p>
        </p:txBody>
      </p:sp>
      <p:sp>
        <p:nvSpPr>
          <p:cNvPr id="16" name="레일 라벨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전략목표</a:t>
            </a:r>
          </a:p>
        </p:txBody>
      </p:sp>
      <p:sp>
        <p:nvSpPr>
          <p:cNvPr id="17" name="배너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새로운 물의 시대를 개척하는 기후위기 대응 솔루션 구현 – 2030년 AI 물관리 세계 1위 기업 –</a:t>
            </a:r>
          </a:p>
        </p:txBody>
      </p:sp>
      <p:sp>
        <p:nvSpPr>
          <p:cNvPr id="18" name="태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특화</a:t>
            </a:r>
          </a:p>
        </p:txBody>
      </p:sp>
      <p:sp>
        <p:nvSpPr>
          <p:cNvPr id="19" name="태그 설명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임무지향적 혁신 주체로 ‘공공기관 안전경영 책임’ 강화 및 ‘AI 도입 정책’ 선도</a:t>
            </a:r>
          </a:p>
        </p:txBody>
      </p:sp>
      <p:sp>
        <p:nvSpPr>
          <p:cNvPr id="20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경영문화 자율 안전·보건 경영체계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재난관리 기후·산업 단계 고도화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산업안전 AI 기술 접목 및 협력사 지원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전략사업단위(SBU) 안전 특화전략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스마트 댐안전 사고예방 시스템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상수도 통합안전관리 실현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’26-’30 중대재해 Zero</a:t>
            </a:r>
          </a:p>
        </p:txBody>
      </p:sp>
      <p:sp>
        <p:nvSpPr>
          <p:cNvPr id="27" name="레일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전략사업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단 위</a:t>
            </a:r>
          </a:p>
        </p:txBody>
      </p:sp>
      <p:sp>
        <p:nvSpPr>
          <p:cNvPr id="28" name="단계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 관점</a:t>
            </a:r>
          </a:p>
        </p:txBody>
      </p:sp>
      <p:sp>
        <p:nvSpPr>
          <p:cNvPr id="29" name="단계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국민의 관점에서 직관적 이해도 제고를 위해 재설정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물안전 · 물공급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물특화 · 물협력 · 기능전략</a:t>
            </a:r>
          </a:p>
        </p:txBody>
      </p:sp>
      <p:sp>
        <p:nvSpPr>
          <p:cNvPr id="34" name="레일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전략방향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(5개)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국민·자연을 위한 기후안전망 강화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하이테크 기반의 물 서비스 확대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재생에너지 확대 및 녹색도시 조성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K-물관리 수출 활성화 및 기후테크 육성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세계 최고 수준의 ESG 혁신경영 구현</a:t>
            </a:r>
          </a:p>
        </p:txBody>
      </p:sp>
      <p:sp>
        <p:nvSpPr>
          <p:cNvPr id="45" name="레일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전략과제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(20개)</a:t>
            </a:r>
          </a:p>
        </p:txBody>
      </p:sp>
      <p:sp>
        <p:nvSpPr>
          <p:cNvPr id="46" name="배너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[전략방향 – 국정기조 매트릭스 매칭 – 사업별 전략과제 도출] 국정기조 AI전환 + 물관리 강화 + 녹색전환 + 혁신성장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수자원·환경: AI·디지털트윈 활용 기후위기 대응 등 4개 과제(①~④)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수도: 상수도 AI전환 기반 고품질 수돗물공급 등 4개 과제(③~⑧)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에너지·도시: 물·에너지 AI 전환 및 K-AI시티 선도 등 4개 과제(⑨~⑫)</a:t>
            </a:r>
          </a:p>
        </p:txBody>
      </p:sp>
      <p:sp>
        <p:nvSpPr>
          <p:cNvPr id="52" name="칸 본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글로벌·기후테크: 기후테크 실증랩 고도화 등 4개 과제(⑬~⑯)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세계최고 ESG경영 시스템 구축 등 4개 과제(⑰~⑳)</a:t>
            </a:r>
          </a:p>
        </p:txBody>
      </p:sp>
      <p:sp>
        <p:nvSpPr>
          <p:cNvPr id="57" name="캡션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【 70개 세부과제 수립 및 핵심성공요인(Critical Success Factor) 도출 】</a:t>
            </a:r>
          </a:p>
        </p:txBody>
      </p:sp>
      <p:sp>
        <p:nvSpPr>
          <p:cNvPr id="58" name="머리칸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CSF</a:t>
            </a:r>
          </a:p>
        </p:txBody>
      </p:sp>
      <p:sp>
        <p:nvSpPr>
          <p:cNvPr id="59" name="머리칸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주요 성과지표(PI)</a:t>
            </a:r>
          </a:p>
        </p:txBody>
      </p:sp>
      <p:sp>
        <p:nvSpPr>
          <p:cNvPr id="60" name="머리칸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주요 핵심성과지표(KPI)</a:t>
            </a:r>
          </a:p>
        </p:txBody>
      </p:sp>
      <p:sp>
        <p:nvSpPr>
          <p:cNvPr id="61" name="머리칸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로드맵</a:t>
            </a:r>
          </a:p>
        </p:txBody>
      </p:sp>
      <p:sp>
        <p:nvSpPr>
          <p:cNvPr id="62" name="레일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기후대응형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물관리</a:t>
            </a:r>
          </a:p>
        </p:txBody>
      </p:sp>
      <p:sp>
        <p:nvSpPr>
          <p:cNvPr id="63" name="PI 글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DT 기반 댐운영 고도화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기후대응 수원 다변화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수자원 최적연계 가뭄대응</a:t>
            </a:r>
          </a:p>
        </p:txBody>
      </p:sp>
      <p:sp>
        <p:nvSpPr>
          <p:cNvPr id="65" name="태그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수자원</a:t>
            </a:r>
          </a:p>
        </p:txBody>
      </p:sp>
      <p:sp>
        <p:nvSpPr>
          <p:cNvPr id="66" name="KPI 글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DT플랫폼 체계완성</a:t>
            </a:r>
          </a:p>
        </p:txBody>
      </p:sp>
      <p:sp>
        <p:nvSpPr>
          <p:cNvPr id="67" name="KPI 결과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3단계 → 5단계</a:t>
            </a:r>
          </a:p>
        </p:txBody>
      </p:sp>
      <p:sp>
        <p:nvSpPr>
          <p:cNvPr id="69" name="단위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단위 : 단계</a:t>
            </a:r>
          </a:p>
        </p:txBody>
      </p:sp>
      <p:sp>
        <p:nvSpPr>
          <p:cNvPr id="75" name="값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76" name="연도"/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’26</a:t>
            </a:r>
          </a:p>
        </p:txBody>
      </p:sp>
      <p:sp>
        <p:nvSpPr>
          <p:cNvPr id="78" name="값"/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79" name="연도"/>
          <p:cNvSpPr>
            <a:spLocks noGrp="1"/>
          </p:cNvSpPr>
          <p:nvPr>
            <p:ph type="body" sz="quarter" idx="6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’27</a:t>
            </a:r>
          </a:p>
        </p:txBody>
      </p:sp>
      <p:sp>
        <p:nvSpPr>
          <p:cNvPr id="81" name="값"/>
          <p:cNvSpPr>
            <a:spLocks noGrp="1"/>
          </p:cNvSpPr>
          <p:nvPr>
            <p:ph type="body" sz="quarter" idx="6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82" name="연도"/>
          <p:cNvSpPr>
            <a:spLocks noGrp="1"/>
          </p:cNvSpPr>
          <p:nvPr>
            <p:ph type="body" sz="quarter" idx="6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’28</a:t>
            </a:r>
          </a:p>
        </p:txBody>
      </p:sp>
      <p:sp>
        <p:nvSpPr>
          <p:cNvPr id="84" name="값"/>
          <p:cNvSpPr>
            <a:spLocks noGrp="1"/>
          </p:cNvSpPr>
          <p:nvPr>
            <p:ph type="body" sz="quarter" idx="6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5</a:t>
            </a:r>
          </a:p>
        </p:txBody>
      </p:sp>
      <p:sp>
        <p:nvSpPr>
          <p:cNvPr id="85" name="연도"/>
          <p:cNvSpPr>
            <a:spLocks noGrp="1"/>
          </p:cNvSpPr>
          <p:nvPr>
            <p:ph type="body" sz="quarter" idx="6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’29</a:t>
            </a:r>
          </a:p>
        </p:txBody>
      </p:sp>
      <p:sp>
        <p:nvSpPr>
          <p:cNvPr id="87" name="값"/>
          <p:cNvSpPr>
            <a:spLocks noGrp="1"/>
          </p:cNvSpPr>
          <p:nvPr>
            <p:ph type="body" sz="quarter" idx="6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5</a:t>
            </a:r>
          </a:p>
        </p:txBody>
      </p:sp>
      <p:sp>
        <p:nvSpPr>
          <p:cNvPr id="88" name="연도"/>
          <p:cNvSpPr>
            <a:spLocks noGrp="1"/>
          </p:cNvSpPr>
          <p:nvPr>
            <p:ph type="body" sz="quarter" idx="7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’30</a:t>
            </a:r>
          </a:p>
        </p:txBody>
      </p:sp>
      <p:sp>
        <p:nvSpPr>
          <p:cNvPr id="90" name="레일"/>
          <p:cNvSpPr>
            <a:spLocks noGrp="1"/>
          </p:cNvSpPr>
          <p:nvPr>
            <p:ph type="body" sz="quarter" idx="7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고품질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용수공급</a:t>
            </a:r>
          </a:p>
        </p:txBody>
      </p:sp>
      <p:sp>
        <p:nvSpPr>
          <p:cNvPr id="91" name="PI 글"/>
          <p:cNvSpPr>
            <a:spLocks noGrp="1"/>
          </p:cNvSpPr>
          <p:nvPr>
            <p:ph type="body" sz="quarter" idx="7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완전 자율운영 정수장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첨단수처리 기술사업화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첨단산단 적기 용수공급</a:t>
            </a:r>
          </a:p>
        </p:txBody>
      </p:sp>
      <p:sp>
        <p:nvSpPr>
          <p:cNvPr id="93" name="태그"/>
          <p:cNvSpPr>
            <a:spLocks noGrp="1"/>
          </p:cNvSpPr>
          <p:nvPr>
            <p:ph type="body" sz="quarter" idx="7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수도</a:t>
            </a:r>
          </a:p>
        </p:txBody>
      </p:sp>
      <p:sp>
        <p:nvSpPr>
          <p:cNvPr id="94" name="KPI 글"/>
          <p:cNvSpPr>
            <a:spLocks noGrp="1"/>
          </p:cNvSpPr>
          <p:nvPr>
            <p:ph type="body" sz="quarter" idx="7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AI정수장 고도화</a:t>
            </a:r>
          </a:p>
        </p:txBody>
      </p:sp>
      <p:sp>
        <p:nvSpPr>
          <p:cNvPr id="95" name="KPI 결과"/>
          <p:cNvSpPr>
            <a:spLocks noGrp="1"/>
          </p:cNvSpPr>
          <p:nvPr>
            <p:ph type="body" sz="quarter" idx="7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4개소 → 44개소</a:t>
            </a:r>
          </a:p>
        </p:txBody>
      </p:sp>
      <p:sp>
        <p:nvSpPr>
          <p:cNvPr id="97" name="단위"/>
          <p:cNvSpPr>
            <a:spLocks noGrp="1"/>
          </p:cNvSpPr>
          <p:nvPr>
            <p:ph type="body" sz="quarter" idx="7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단위 : 개소</a:t>
            </a:r>
          </a:p>
        </p:txBody>
      </p:sp>
      <p:sp>
        <p:nvSpPr>
          <p:cNvPr id="103" name="값"/>
          <p:cNvSpPr>
            <a:spLocks noGrp="1"/>
          </p:cNvSpPr>
          <p:nvPr>
            <p:ph type="body" sz="quarter" idx="7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04" name="연도"/>
          <p:cNvSpPr>
            <a:spLocks noGrp="1"/>
          </p:cNvSpPr>
          <p:nvPr>
            <p:ph type="body" sz="quarter" idx="7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’26</a:t>
            </a:r>
          </a:p>
        </p:txBody>
      </p:sp>
      <p:sp>
        <p:nvSpPr>
          <p:cNvPr id="106" name="값"/>
          <p:cNvSpPr>
            <a:spLocks noGrp="1"/>
          </p:cNvSpPr>
          <p:nvPr>
            <p:ph type="body" sz="quarter" idx="7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40</a:t>
            </a:r>
          </a:p>
        </p:txBody>
      </p:sp>
      <p:sp>
        <p:nvSpPr>
          <p:cNvPr id="107" name="연도"/>
          <p:cNvSpPr>
            <a:spLocks noGrp="1"/>
          </p:cNvSpPr>
          <p:nvPr>
            <p:ph type="body" sz="quarter" idx="8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’27</a:t>
            </a:r>
          </a:p>
        </p:txBody>
      </p:sp>
      <p:sp>
        <p:nvSpPr>
          <p:cNvPr id="109" name="값"/>
          <p:cNvSpPr>
            <a:spLocks noGrp="1"/>
          </p:cNvSpPr>
          <p:nvPr>
            <p:ph type="body" sz="quarter" idx="8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44</a:t>
            </a:r>
          </a:p>
        </p:txBody>
      </p:sp>
      <p:sp>
        <p:nvSpPr>
          <p:cNvPr id="110" name="연도"/>
          <p:cNvSpPr>
            <a:spLocks noGrp="1"/>
          </p:cNvSpPr>
          <p:nvPr>
            <p:ph type="body" sz="quarter" idx="8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’28</a:t>
            </a:r>
          </a:p>
        </p:txBody>
      </p:sp>
      <p:sp>
        <p:nvSpPr>
          <p:cNvPr id="112" name="값"/>
          <p:cNvSpPr>
            <a:spLocks noGrp="1"/>
          </p:cNvSpPr>
          <p:nvPr>
            <p:ph type="body" sz="quarter" idx="8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13" name="연도"/>
          <p:cNvSpPr>
            <a:spLocks noGrp="1"/>
          </p:cNvSpPr>
          <p:nvPr>
            <p:ph type="body" sz="quarter" idx="8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’29</a:t>
            </a:r>
          </a:p>
        </p:txBody>
      </p:sp>
      <p:sp>
        <p:nvSpPr>
          <p:cNvPr id="115" name="값"/>
          <p:cNvSpPr>
            <a:spLocks noGrp="1"/>
          </p:cNvSpPr>
          <p:nvPr>
            <p:ph type="body" sz="quarter" idx="8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44</a:t>
            </a:r>
          </a:p>
        </p:txBody>
      </p:sp>
      <p:sp>
        <p:nvSpPr>
          <p:cNvPr id="116" name="연도"/>
          <p:cNvSpPr>
            <a:spLocks noGrp="1"/>
          </p:cNvSpPr>
          <p:nvPr>
            <p:ph type="body" sz="quarter" idx="8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’30</a:t>
            </a:r>
          </a:p>
        </p:txBody>
      </p:sp>
      <p:sp>
        <p:nvSpPr>
          <p:cNvPr id="118" name="레일"/>
          <p:cNvSpPr>
            <a:spLocks noGrp="1"/>
          </p:cNvSpPr>
          <p:nvPr>
            <p:ph type="body" sz="quarter" idx="8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탄소중립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녹색전환</a:t>
            </a:r>
          </a:p>
        </p:txBody>
      </p:sp>
      <p:sp>
        <p:nvSpPr>
          <p:cNvPr id="119" name="PI 글"/>
          <p:cNvSpPr>
            <a:spLocks noGrp="1"/>
          </p:cNvSpPr>
          <p:nvPr>
            <p:ph type="body" sz="quarter" idx="8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태양광 등 재생e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수출기업 PPA 공급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 RE100 수열클러스터 확대</a:t>
            </a:r>
          </a:p>
        </p:txBody>
      </p:sp>
      <p:sp>
        <p:nvSpPr>
          <p:cNvPr id="121" name="태그"/>
          <p:cNvSpPr>
            <a:spLocks noGrp="1"/>
          </p:cNvSpPr>
          <p:nvPr>
            <p:ph type="body" sz="quarter" idx="8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에너지</a:t>
            </a:r>
          </a:p>
        </p:txBody>
      </p:sp>
      <p:sp>
        <p:nvSpPr>
          <p:cNvPr id="122" name="KPI 글"/>
          <p:cNvSpPr>
            <a:spLocks noGrp="1"/>
          </p:cNvSpPr>
          <p:nvPr>
            <p:ph type="body" sz="quarter" idx="9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육상·수상태양광 개발</a:t>
            </a:r>
          </a:p>
        </p:txBody>
      </p:sp>
      <p:sp>
        <p:nvSpPr>
          <p:cNvPr id="123" name="KPI 결과"/>
          <p:cNvSpPr>
            <a:spLocks noGrp="1"/>
          </p:cNvSpPr>
          <p:nvPr>
            <p:ph type="body" sz="quarter" idx="9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474.8MW → 7,227.0MW</a:t>
            </a:r>
          </a:p>
        </p:txBody>
      </p:sp>
      <p:sp>
        <p:nvSpPr>
          <p:cNvPr id="125" name="단위"/>
          <p:cNvSpPr>
            <a:spLocks noGrp="1"/>
          </p:cNvSpPr>
          <p:nvPr>
            <p:ph type="body" sz="quarter" idx="9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단위 : MW</a:t>
            </a:r>
          </a:p>
        </p:txBody>
      </p:sp>
      <p:sp>
        <p:nvSpPr>
          <p:cNvPr id="131" name="값"/>
          <p:cNvSpPr>
            <a:spLocks noGrp="1"/>
          </p:cNvSpPr>
          <p:nvPr>
            <p:ph type="body" sz="quarter" idx="9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474</a:t>
            </a:r>
          </a:p>
        </p:txBody>
      </p:sp>
      <p:sp>
        <p:nvSpPr>
          <p:cNvPr id="132" name="연도"/>
          <p:cNvSpPr>
            <a:spLocks noGrp="1"/>
          </p:cNvSpPr>
          <p:nvPr>
            <p:ph type="body" sz="quarter" idx="9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’26</a:t>
            </a:r>
          </a:p>
        </p:txBody>
      </p:sp>
      <p:sp>
        <p:nvSpPr>
          <p:cNvPr id="134" name="값"/>
          <p:cNvSpPr>
            <a:spLocks noGrp="1"/>
          </p:cNvSpPr>
          <p:nvPr>
            <p:ph type="body" sz="quarter" idx="9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661</a:t>
            </a:r>
          </a:p>
        </p:txBody>
      </p:sp>
      <p:sp>
        <p:nvSpPr>
          <p:cNvPr id="135" name="연도"/>
          <p:cNvSpPr>
            <a:spLocks noGrp="1"/>
          </p:cNvSpPr>
          <p:nvPr>
            <p:ph type="body" sz="quarter" idx="9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’27</a:t>
            </a:r>
          </a:p>
        </p:txBody>
      </p:sp>
      <p:sp>
        <p:nvSpPr>
          <p:cNvPr id="137" name="값"/>
          <p:cNvSpPr>
            <a:spLocks noGrp="1"/>
          </p:cNvSpPr>
          <p:nvPr>
            <p:ph type="body" sz="quarter" idx="9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2744</a:t>
            </a:r>
          </a:p>
        </p:txBody>
      </p:sp>
      <p:sp>
        <p:nvSpPr>
          <p:cNvPr id="138" name="연도"/>
          <p:cNvSpPr>
            <a:spLocks noGrp="1"/>
          </p:cNvSpPr>
          <p:nvPr>
            <p:ph type="body" sz="quarter" idx="9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’28</a:t>
            </a:r>
          </a:p>
        </p:txBody>
      </p:sp>
      <p:sp>
        <p:nvSpPr>
          <p:cNvPr id="140" name="값"/>
          <p:cNvSpPr>
            <a:spLocks noGrp="1"/>
          </p:cNvSpPr>
          <p:nvPr>
            <p:ph type="body" sz="quarter" idx="9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4990</a:t>
            </a:r>
          </a:p>
        </p:txBody>
      </p:sp>
      <p:sp>
        <p:nvSpPr>
          <p:cNvPr id="141" name="연도"/>
          <p:cNvSpPr>
            <a:spLocks noGrp="1"/>
          </p:cNvSpPr>
          <p:nvPr>
            <p:ph type="body" sz="quarter" idx="10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’29</a:t>
            </a:r>
          </a:p>
        </p:txBody>
      </p:sp>
      <p:sp>
        <p:nvSpPr>
          <p:cNvPr id="143" name="값"/>
          <p:cNvSpPr>
            <a:spLocks noGrp="1"/>
          </p:cNvSpPr>
          <p:nvPr>
            <p:ph type="body" sz="quarter" idx="10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7227</a:t>
            </a:r>
          </a:p>
        </p:txBody>
      </p:sp>
      <p:sp>
        <p:nvSpPr>
          <p:cNvPr id="144" name="연도"/>
          <p:cNvSpPr>
            <a:spLocks noGrp="1"/>
          </p:cNvSpPr>
          <p:nvPr>
            <p:ph type="body" sz="quarter" idx="10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’30</a:t>
            </a:r>
          </a:p>
        </p:txBody>
      </p:sp>
      <p:sp>
        <p:nvSpPr>
          <p:cNvPr id="146" name="레일"/>
          <p:cNvSpPr>
            <a:spLocks noGrp="1"/>
          </p:cNvSpPr>
          <p:nvPr>
            <p:ph type="body" sz="quarter" idx="10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기후테크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육성·수출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활성화</a:t>
            </a:r>
          </a:p>
        </p:txBody>
      </p:sp>
      <p:sp>
        <p:nvSpPr>
          <p:cNvPr id="147" name="PI 글"/>
          <p:cNvSpPr>
            <a:spLocks noGrp="1"/>
          </p:cNvSpPr>
          <p:nvPr>
            <p:ph type="body" sz="quarter" idx="10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K-기후테크 수출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유망 기후테크 기업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구독형 솔루션 사업화</a:t>
            </a:r>
          </a:p>
        </p:txBody>
      </p:sp>
      <p:sp>
        <p:nvSpPr>
          <p:cNvPr id="149" name="태그"/>
          <p:cNvSpPr>
            <a:spLocks noGrp="1"/>
          </p:cNvSpPr>
          <p:nvPr>
            <p:ph type="body" sz="quarter" idx="10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글로벌</a:t>
            </a:r>
          </a:p>
        </p:txBody>
      </p:sp>
      <p:sp>
        <p:nvSpPr>
          <p:cNvPr id="150" name="KPI 글"/>
          <p:cNvSpPr>
            <a:spLocks noGrp="1"/>
          </p:cNvSpPr>
          <p:nvPr>
            <p:ph type="body" sz="quarter" idx="10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테크기반 사업수주</a:t>
            </a:r>
          </a:p>
        </p:txBody>
      </p:sp>
      <p:sp>
        <p:nvSpPr>
          <p:cNvPr id="151" name="KPI 결과"/>
          <p:cNvSpPr>
            <a:spLocks noGrp="1"/>
          </p:cNvSpPr>
          <p:nvPr>
            <p:ph type="body" sz="quarter" idx="10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15건 → 25건</a:t>
            </a:r>
          </a:p>
        </p:txBody>
      </p:sp>
      <p:sp>
        <p:nvSpPr>
          <p:cNvPr id="153" name="단위"/>
          <p:cNvSpPr>
            <a:spLocks noGrp="1"/>
          </p:cNvSpPr>
          <p:nvPr>
            <p:ph type="body" sz="quarter" idx="10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단위 : 건</a:t>
            </a:r>
          </a:p>
        </p:txBody>
      </p:sp>
      <p:sp>
        <p:nvSpPr>
          <p:cNvPr id="159" name="값"/>
          <p:cNvSpPr>
            <a:spLocks noGrp="1"/>
          </p:cNvSpPr>
          <p:nvPr>
            <p:ph type="body" sz="quarter" idx="10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15</a:t>
            </a:r>
          </a:p>
        </p:txBody>
      </p:sp>
      <p:sp>
        <p:nvSpPr>
          <p:cNvPr id="160" name="연도"/>
          <p:cNvSpPr>
            <a:spLocks noGrp="1"/>
          </p:cNvSpPr>
          <p:nvPr>
            <p:ph type="body" sz="quarter" idx="11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’26</a:t>
            </a:r>
          </a:p>
        </p:txBody>
      </p:sp>
      <p:sp>
        <p:nvSpPr>
          <p:cNvPr id="162" name="값"/>
          <p:cNvSpPr>
            <a:spLocks noGrp="1"/>
          </p:cNvSpPr>
          <p:nvPr>
            <p:ph type="body" sz="quarter" idx="11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17</a:t>
            </a:r>
          </a:p>
        </p:txBody>
      </p:sp>
      <p:sp>
        <p:nvSpPr>
          <p:cNvPr id="163" name="연도"/>
          <p:cNvSpPr>
            <a:spLocks noGrp="1"/>
          </p:cNvSpPr>
          <p:nvPr>
            <p:ph type="body" sz="quarter" idx="11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’27</a:t>
            </a:r>
          </a:p>
        </p:txBody>
      </p:sp>
      <p:sp>
        <p:nvSpPr>
          <p:cNvPr id="165" name="값"/>
          <p:cNvSpPr>
            <a:spLocks noGrp="1"/>
          </p:cNvSpPr>
          <p:nvPr>
            <p:ph type="body" sz="quarter" idx="11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19</a:t>
            </a:r>
          </a:p>
        </p:txBody>
      </p:sp>
      <p:sp>
        <p:nvSpPr>
          <p:cNvPr id="166" name="연도"/>
          <p:cNvSpPr>
            <a:spLocks noGrp="1"/>
          </p:cNvSpPr>
          <p:nvPr>
            <p:ph type="body" sz="quarter" idx="11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’28</a:t>
            </a:r>
          </a:p>
        </p:txBody>
      </p:sp>
      <p:sp>
        <p:nvSpPr>
          <p:cNvPr id="168" name="값"/>
          <p:cNvSpPr>
            <a:spLocks noGrp="1"/>
          </p:cNvSpPr>
          <p:nvPr>
            <p:ph type="body" sz="quarter" idx="11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22</a:t>
            </a:r>
          </a:p>
        </p:txBody>
      </p:sp>
      <p:sp>
        <p:nvSpPr>
          <p:cNvPr id="169" name="연도"/>
          <p:cNvSpPr>
            <a:spLocks noGrp="1"/>
          </p:cNvSpPr>
          <p:nvPr>
            <p:ph type="body" sz="quarter" idx="11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’29</a:t>
            </a:r>
          </a:p>
        </p:txBody>
      </p:sp>
      <p:sp>
        <p:nvSpPr>
          <p:cNvPr id="171" name="값"/>
          <p:cNvSpPr>
            <a:spLocks noGrp="1"/>
          </p:cNvSpPr>
          <p:nvPr>
            <p:ph type="body" sz="quarter" idx="11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25</a:t>
            </a:r>
          </a:p>
        </p:txBody>
      </p:sp>
      <p:sp>
        <p:nvSpPr>
          <p:cNvPr id="172" name="연도"/>
          <p:cNvSpPr>
            <a:spLocks noGrp="1"/>
          </p:cNvSpPr>
          <p:nvPr>
            <p:ph type="body" sz="quarter" idx="11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’30</a:t>
            </a:r>
          </a:p>
        </p:txBody>
      </p:sp>
      <p:sp>
        <p:nvSpPr>
          <p:cNvPr id="174" name="레일"/>
          <p:cNvSpPr>
            <a:spLocks noGrp="1"/>
          </p:cNvSpPr>
          <p:nvPr>
            <p:ph type="body" sz="quarter" idx="11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세계최고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ESG경영</a:t>
            </a:r>
          </a:p>
        </p:txBody>
      </p:sp>
      <p:sp>
        <p:nvSpPr>
          <p:cNvPr id="175" name="PI 글"/>
          <p:cNvSpPr>
            <a:spLocks noGrp="1"/>
          </p:cNvSpPr>
          <p:nvPr>
            <p:ph type="body" sz="quarter" idx="12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ESG경영 시스템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신뢰 기반 조직역량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같이 일하는 청렴조직 구현</a:t>
            </a:r>
          </a:p>
        </p:txBody>
      </p:sp>
      <p:sp>
        <p:nvSpPr>
          <p:cNvPr id="177" name="태그"/>
          <p:cNvSpPr>
            <a:spLocks noGrp="1"/>
          </p:cNvSpPr>
          <p:nvPr>
            <p:ph type="body" sz="quarter" idx="1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기능전략</a:t>
            </a:r>
          </a:p>
        </p:txBody>
      </p:sp>
      <p:sp>
        <p:nvSpPr>
          <p:cNvPr id="178" name="KPI 글"/>
          <p:cNvSpPr>
            <a:spLocks noGrp="1"/>
          </p:cNvSpPr>
          <p:nvPr>
            <p:ph type="body" sz="quarter" idx="1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ESG 경영수준</a:t>
            </a:r>
          </a:p>
        </p:txBody>
      </p:sp>
      <p:sp>
        <p:nvSpPr>
          <p:cNvPr id="179" name="KPI 결과"/>
          <p:cNvSpPr>
            <a:spLocks noGrp="1"/>
          </p:cNvSpPr>
          <p:nvPr>
            <p:ph type="body" sz="quarter" idx="1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최우수 → 최우수</a:t>
            </a:r>
          </a:p>
        </p:txBody>
      </p:sp>
      <p:sp>
        <p:nvSpPr>
          <p:cNvPr id="181" name="단위"/>
          <p:cNvSpPr>
            <a:spLocks noGrp="1"/>
          </p:cNvSpPr>
          <p:nvPr>
            <p:ph type="body" sz="quarter" idx="1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단위 : 등급</a:t>
            </a:r>
          </a:p>
        </p:txBody>
      </p:sp>
      <p:sp>
        <p:nvSpPr>
          <p:cNvPr id="187" name="값"/>
          <p:cNvSpPr>
            <a:spLocks noGrp="1"/>
          </p:cNvSpPr>
          <p:nvPr>
            <p:ph type="body" sz="quarter" idx="1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88" name="연도"/>
          <p:cNvSpPr>
            <a:spLocks noGrp="1"/>
          </p:cNvSpPr>
          <p:nvPr>
            <p:ph type="body" sz="quarter" idx="1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’26</a:t>
            </a:r>
          </a:p>
        </p:txBody>
      </p:sp>
      <p:sp>
        <p:nvSpPr>
          <p:cNvPr id="190" name="값"/>
          <p:cNvSpPr>
            <a:spLocks noGrp="1"/>
          </p:cNvSpPr>
          <p:nvPr>
            <p:ph type="body" sz="quarter" idx="1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91" name="연도"/>
          <p:cNvSpPr>
            <a:spLocks noGrp="1"/>
          </p:cNvSpPr>
          <p:nvPr>
            <p:ph type="body" sz="quarter" idx="1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’27</a:t>
            </a:r>
          </a:p>
        </p:txBody>
      </p:sp>
      <p:sp>
        <p:nvSpPr>
          <p:cNvPr id="193" name="값"/>
          <p:cNvSpPr>
            <a:spLocks noGrp="1"/>
          </p:cNvSpPr>
          <p:nvPr>
            <p:ph type="body" sz="quarter" idx="1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94" name="연도"/>
          <p:cNvSpPr>
            <a:spLocks noGrp="1"/>
          </p:cNvSpPr>
          <p:nvPr>
            <p:ph type="body" sz="quarter" idx="1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’28</a:t>
            </a:r>
          </a:p>
        </p:txBody>
      </p:sp>
      <p:sp>
        <p:nvSpPr>
          <p:cNvPr id="196" name="값"/>
          <p:cNvSpPr>
            <a:spLocks noGrp="1"/>
          </p:cNvSpPr>
          <p:nvPr>
            <p:ph type="body" sz="quarter" idx="1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97" name="연도"/>
          <p:cNvSpPr>
            <a:spLocks noGrp="1"/>
          </p:cNvSpPr>
          <p:nvPr>
            <p:ph type="body" sz="quarter" idx="1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’29</a:t>
            </a:r>
          </a:p>
        </p:txBody>
      </p:sp>
      <p:sp>
        <p:nvSpPr>
          <p:cNvPr id="199" name="값"/>
          <p:cNvSpPr>
            <a:spLocks noGrp="1"/>
          </p:cNvSpPr>
          <p:nvPr>
            <p:ph type="body" sz="quarter" idx="1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200" name="연도"/>
          <p:cNvSpPr>
            <a:spLocks noGrp="1"/>
          </p:cNvSpPr>
          <p:nvPr>
            <p:ph type="body" sz="quarter" idx="1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’30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20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7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내실있는 전략과제 성과관리를 통해 차별화된 경영성과 창출</a:t>
            </a:r>
          </a:p>
        </p:txBody>
      </p:sp>
      <p:sp>
        <p:nvSpPr>
          <p:cNvPr id="9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이 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 계</a:t>
            </a:r>
          </a:p>
        </p:txBody>
      </p:sp>
      <p:sp>
        <p:nvSpPr>
          <p:cNvPr id="12" name="배너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CEO경영계약 ↔ 경영목표 ↔ 경영전략 Cascading 기반 이행체계 구축</a:t>
            </a:r>
          </a:p>
        </p:txBody>
      </p:sp>
      <p:sp>
        <p:nvSpPr>
          <p:cNvPr id="13" name="단계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전략과 Align된 연간 업무보고</a:t>
            </a:r>
          </a:p>
        </p:txBody>
      </p:sp>
      <p:sp>
        <p:nvSpPr>
          <p:cNvPr id="14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전사 KPI 100% 연계로 실질적 실행력 확보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중점방향 정부 국정과제 기반 신성장경로 등 경영전략과 연계된 핵심과제 중심 논의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과제 성과 점검 및 ’25년 방향성 도출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투트랙 지표유형 기반 관리 이원화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MBO 지표관리 + OKR 지표관리</a:t>
            </a:r>
          </a:p>
        </p:txBody>
      </p:sp>
      <p:sp>
        <p:nvSpPr>
          <p:cNvPr id="19" name="레일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이 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 리</a:t>
            </a:r>
          </a:p>
        </p:txBody>
      </p:sp>
      <p:sp>
        <p:nvSpPr>
          <p:cNvPr id="21" name="단계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조직·기능 재배분으로 이슈과제 최적 이행</a:t>
            </a:r>
          </a:p>
        </p:txBody>
      </p:sp>
      <p:sp>
        <p:nvSpPr>
          <p:cNvPr id="22" name="단계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성과점검은 빈틈없이 관리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 연중 새정부 출범 연계 조직재정렬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청렴도 전사 역량결집 청렴혁신 추진단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만성 취약요인 토지보상 전업무 디지털화(역대 최고 92.4점)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시스템 CEO경영과제 + 전략과제 상시점검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진척도 기반 조기경보 작동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현안대응 시나리오별 1~4단계 컨틴전시 플랜 운영</a:t>
            </a:r>
          </a:p>
        </p:txBody>
      </p:sp>
      <p:sp>
        <p:nvSpPr>
          <p:cNvPr id="27" name="레일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 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류</a:t>
            </a:r>
          </a:p>
        </p:txBody>
      </p:sp>
      <p:sp>
        <p:nvSpPr>
          <p:cNvPr id="29" name="단계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전략적 성과보상·지속성 강화</a:t>
            </a:r>
          </a:p>
        </p:txBody>
      </p:sp>
      <p:sp>
        <p:nvSpPr>
          <p:cNvPr id="30" name="단계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성과·가치체계 내재화 및 동기부여 확산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高성과자 특별승진 및 성과급 연계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우수성과 Step-Up제도 도입·발전 견인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CEO 주관 타운홀미팅 ➡ 전략·비전 공유·토론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60초경영(숏폼) ➡ 신속전파</a:t>
            </a:r>
          </a:p>
        </p:txBody>
      </p:sp>
      <p:sp>
        <p:nvSpPr>
          <p:cNvPr id="36" name="캡션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【 체계적인 선순환 환류체계 구축으로 사업 및 경영 전 분야에서 국민·기업 체감성과 창출 】</a:t>
            </a:r>
          </a:p>
        </p:txBody>
      </p:sp>
      <p:sp>
        <p:nvSpPr>
          <p:cNvPr id="38" name="레일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수자원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경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세계 최초 스마트댐 안전관리 플랫폼 전 댐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국내 최초 워터 포지티브 선도사업 완료</a:t>
            </a:r>
          </a:p>
        </p:txBody>
      </p:sp>
      <p:sp>
        <p:nvSpPr>
          <p:cNvPr id="40" name="사진 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국내 1호 신풍습지</a:t>
            </a:r>
          </a:p>
        </p:txBody>
      </p:sp>
      <p:sp>
        <p:nvSpPr>
          <p:cNvPr id="41" name="레일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 도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AI정수장 본격 운영 및 글로벌 표준화 추진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초순수 공급(2.4만㎥/일), 해수담수화(10만㎥/일) 사업 준공</a:t>
            </a:r>
          </a:p>
        </p:txBody>
      </p:sp>
      <p:sp>
        <p:nvSpPr>
          <p:cNvPr id="44" name="사진 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국내 1호 AI정수장</a:t>
            </a:r>
          </a:p>
        </p:txBody>
      </p:sp>
      <p:sp>
        <p:nvSpPr>
          <p:cNvPr id="45" name="레일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에너지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도 시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재생에너지 집적화 단지 국내 1호 준공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국내 최초 글로벌 RE100 달성 및 PPA 확대</a:t>
            </a:r>
          </a:p>
        </p:txBody>
      </p:sp>
      <p:sp>
        <p:nvSpPr>
          <p:cNvPr id="47" name="사진 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임하 집적화 단지</a:t>
            </a:r>
          </a:p>
        </p:txBody>
      </p:sp>
      <p:sp>
        <p:nvSpPr>
          <p:cNvPr id="48" name="레일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글로벌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기후테크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DT 물관리 플랫폼 글로벌 확산 본격화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CES 21개사 동반 참여, 7개 혁신상 수상</a:t>
            </a:r>
          </a:p>
        </p:txBody>
      </p:sp>
      <p:sp>
        <p:nvSpPr>
          <p:cNvPr id="51" name="사진 칸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밸리워터 MOU</a:t>
            </a:r>
          </a:p>
        </p:txBody>
      </p:sp>
      <p:sp>
        <p:nvSpPr>
          <p:cNvPr id="52" name="레일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 략</a:t>
            </a:r>
          </a:p>
        </p:txBody>
      </p:sp>
      <p:sp>
        <p:nvSpPr>
          <p:cNvPr id="53" name="칸 본문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2025년 종합청렴도 공사 최초 1등급 달성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4년 연속 ESG 최고등급(AA) 달성</a:t>
            </a:r>
          </a:p>
        </p:txBody>
      </p:sp>
      <p:sp>
        <p:nvSpPr>
          <p:cNvPr id="54" name="사진 칸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ESG 경영대상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21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물처럼 국민 삶 속에 스며들어, 정책 시너지를 만드는 10대 혁신 과제 전개</a:t>
            </a:r>
          </a:p>
        </p:txBody>
      </p:sp>
      <p:sp>
        <p:nvSpPr>
          <p:cNvPr id="12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새 정부 출범과 함께 미래 신성장 동력 장착 및 정책 시너지 극대화를 위해 혁신경영은 선택이 아닌 존립을 위한 시대적 책무로 인식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방향설정</a:t>
            </a:r>
          </a:p>
        </p:txBody>
      </p:sp>
      <p:sp>
        <p:nvSpPr>
          <p:cNvPr id="18" name="배너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새 정부 정책의 성공적인 실현을 위해, 국정 철학과 긴밀하게 맞물린 혁신방향의 설정</a:t>
            </a:r>
          </a:p>
        </p:txBody>
      </p:sp>
      <p:sp>
        <p:nvSpPr>
          <p:cNvPr id="19" name="태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국민체감형 혁신</a:t>
            </a:r>
          </a:p>
        </p:txBody>
      </p:sp>
      <p:sp>
        <p:nvSpPr>
          <p:cNvPr id="20" name="태그 설명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국민이 실질적으로 느끼는 편의성·효율성 기반</a:t>
            </a:r>
          </a:p>
        </p:txBody>
      </p:sp>
      <p:sp>
        <p:nvSpPr>
          <p:cNvPr id="21" name="태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ESG LEAD 혁신</a:t>
            </a:r>
          </a:p>
        </p:txBody>
      </p:sp>
      <p:sp>
        <p:nvSpPr>
          <p:cNvPr id="22" name="태그 설명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기후위기 대응·상생협력·국민신뢰 확보를 위한</a:t>
            </a:r>
          </a:p>
        </p:txBody>
      </p:sp>
      <p:sp>
        <p:nvSpPr>
          <p:cNvPr id="23" name="태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생산성 제고 혁신</a:t>
            </a:r>
          </a:p>
        </p:txBody>
      </p:sp>
      <p:sp>
        <p:nvSpPr>
          <p:cNvPr id="24" name="태그 설명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정수장, 친환경, 기술나눔 등 기술력으로 도약하는</a:t>
            </a:r>
          </a:p>
        </p:txBody>
      </p:sp>
      <p:sp>
        <p:nvSpPr>
          <p:cNvPr id="25" name="배너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경영실적 평가결과 진단, 전직원 설문조사 및 혁신챌린지 결과분석</a:t>
            </a:r>
          </a:p>
        </p:txBody>
      </p:sp>
      <p:sp>
        <p:nvSpPr>
          <p:cNvPr id="28" name="배너 글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“국민체감, ESG LEAD, 생산성 제고” 3대 분야, 10개 혁신 과제 실행</a:t>
            </a:r>
          </a:p>
        </p:txBody>
      </p:sp>
      <p:sp>
        <p:nvSpPr>
          <p:cNvPr id="30" name="레일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10대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혁신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과제</a:t>
            </a:r>
          </a:p>
        </p:txBody>
      </p:sp>
      <p:sp>
        <p:nvSpPr>
          <p:cNvPr id="31" name="머리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국민체감형 혁신</a:t>
            </a:r>
          </a:p>
        </p:txBody>
      </p:sp>
      <p:sp>
        <p:nvSpPr>
          <p:cNvPr id="32" name="머리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ESG LEAD 혁신</a:t>
            </a:r>
          </a:p>
        </p:txBody>
      </p:sp>
      <p:sp>
        <p:nvSpPr>
          <p:cNvPr id="33" name="머리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생산성 제고 혁신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❶ 최악의 강릉 가뭄 문제 신속 해결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❷ 안동 지장 가옥 문제 적극 해소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❸ 대국민 여가 증진 서비스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❹ 댐 주변 소멸지역 철도 상품 개발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❺ 워터포지티브 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❻ 주민이익공유 Ⓢ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❼ 청렴도 1등급 Ⓖ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❽ 글로벌 등대 AI정수장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❾ 재생100% 병입수돗물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❿ 기업성장응답센터</a:t>
            </a:r>
          </a:p>
        </p:txBody>
      </p:sp>
      <p:sp>
        <p:nvSpPr>
          <p:cNvPr id="39" name="레일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특화형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조직 운영</a:t>
            </a:r>
          </a:p>
        </p:txBody>
      </p:sp>
      <p:sp>
        <p:nvSpPr>
          <p:cNvPr id="41" name="머리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목표지향적 혁신 가속화를 위한 특화형 조직 운영</a:t>
            </a:r>
          </a:p>
        </p:txBody>
      </p:sp>
      <p:sp>
        <p:nvSpPr>
          <p:cNvPr id="42" name="머리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전문성 기반 혁신 네트워크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혁신추진단: 혁신계획 수립운영 총괄(경영혁신실)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지원국 예산·기술지원 / 교육국 연구개발·인재양성 / 사무국 성과·리스크 관리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정책 특화 조직: AI추진단, 안전본부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실행조직 부문·본부 단위 목표 부여·실행, 전사 부서별 자율적 추진조직 구성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전문가: ESG경영위원회, 안전경영위원회, 상생협력위원회, 미래혁신위원회(신설), ESG자문위원회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지역: 댐주변지원사업, 지역가치창출 프로젝트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국민: 국민디자인단, 청년동행단</a:t>
            </a:r>
          </a:p>
        </p:txBody>
      </p:sp>
      <p:sp>
        <p:nvSpPr>
          <p:cNvPr id="46" name="레일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플랫폼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· 규정</a:t>
            </a:r>
          </a:p>
        </p:txBody>
      </p:sp>
      <p:sp>
        <p:nvSpPr>
          <p:cNvPr id="48" name="태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플랫폼</a:t>
            </a:r>
          </a:p>
        </p:txBody>
      </p:sp>
      <p:sp>
        <p:nvSpPr>
          <p:cNvPr id="49" name="태그 설명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온라인 국민소통센터, 인트라넷 혁신:커넥트(혁신챌린지), 지식포털</a:t>
            </a:r>
          </a:p>
        </p:txBody>
      </p:sp>
      <p:sp>
        <p:nvSpPr>
          <p:cNvPr id="50" name="태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규 정</a:t>
            </a:r>
          </a:p>
        </p:txBody>
      </p:sp>
      <p:sp>
        <p:nvSpPr>
          <p:cNvPr id="51" name="태그 설명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지식관리규정</a:t>
            </a:r>
          </a:p>
        </p:txBody>
      </p:sp>
      <p:sp>
        <p:nvSpPr>
          <p:cNvPr id="52" name="태그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성과지표</a:t>
            </a:r>
          </a:p>
        </p:txBody>
      </p:sp>
      <p:sp>
        <p:nvSpPr>
          <p:cNvPr id="53" name="태그 설명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Step-Up제도, 재경부 대국민서비스, ESG등급평가</a:t>
            </a:r>
          </a:p>
        </p:txBody>
      </p:sp>
      <p:sp>
        <p:nvSpPr>
          <p:cNvPr id="55" name="레일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6" name="사진 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57" name="카드 제목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혁신챌린지 우수</a:t>
            </a:r>
          </a:p>
        </p:txBody>
      </p:sp>
      <p:sp>
        <p:nvSpPr>
          <p:cNvPr id="58" name="카드 설명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AI·안전 16건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2025.10</a:t>
            </a:r>
          </a:p>
        </p:txBody>
      </p:sp>
      <p:sp>
        <p:nvSpPr>
          <p:cNvPr id="59" name="사진 칸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60" name="카드 제목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대국민서비스 AA</a:t>
            </a:r>
          </a:p>
        </p:txBody>
      </p:sp>
      <p:sp>
        <p:nvSpPr>
          <p:cNvPr id="61" name="카드 설명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RiverRun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2025.9</a:t>
            </a:r>
          </a:p>
        </p:txBody>
      </p:sp>
      <p:sp>
        <p:nvSpPr>
          <p:cNvPr id="62" name="사진 칸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63" name="카드 제목"/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ESG 종합평가 최고</a:t>
            </a:r>
          </a:p>
        </p:txBody>
      </p:sp>
      <p:sp>
        <p:nvSpPr>
          <p:cNvPr id="64" name="카드 설명"/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4년 연속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2025.12</a:t>
            </a:r>
          </a:p>
        </p:txBody>
      </p:sp>
      <p:sp>
        <p:nvSpPr>
          <p:cNvPr id="65" name="사진 칸"/>
          <p:cNvSpPr>
            <a:spLocks noGrp="1"/>
          </p:cNvSpPr>
          <p:nvPr>
            <p:ph type="body" sz="quarter" idx="6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66" name="카드 제목"/>
          <p:cNvSpPr>
            <a:spLocks noGrp="1"/>
          </p:cNvSpPr>
          <p:nvPr>
            <p:ph type="body" sz="quarter" idx="6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공공기관 AI 선도기관</a:t>
            </a:r>
          </a:p>
        </p:txBody>
      </p:sp>
      <p:sp>
        <p:nvSpPr>
          <p:cNvPr id="67" name="카드 설명"/>
          <p:cNvSpPr>
            <a:spLocks noGrp="1"/>
          </p:cNvSpPr>
          <p:nvPr>
            <p:ph type="body" sz="quarter" idx="6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재경부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2025.10</a:t>
            </a:r>
          </a:p>
        </p:txBody>
      </p:sp>
      <p:sp>
        <p:nvSpPr>
          <p:cNvPr id="68" name="사진 칸"/>
          <p:cNvSpPr>
            <a:spLocks noGrp="1"/>
          </p:cNvSpPr>
          <p:nvPr>
            <p:ph type="body" sz="quarter" idx="6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69" name="카드 제목"/>
          <p:cNvSpPr>
            <a:spLocks noGrp="1"/>
          </p:cNvSpPr>
          <p:nvPr>
            <p:ph type="body" sz="quarter" idx="6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사전컨설팅 대상</a:t>
            </a:r>
          </a:p>
        </p:txBody>
      </p:sp>
      <p:sp>
        <p:nvSpPr>
          <p:cNvPr id="70" name="카드 설명"/>
          <p:cNvSpPr>
            <a:spLocks noGrp="1"/>
          </p:cNvSpPr>
          <p:nvPr>
            <p:ph type="body" sz="quarter" idx="6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3년 연속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2025.12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22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규제한계를 넘고, 국민 삶에 빈틈없이 스며드는 체감형 포용 혁신</a:t>
            </a:r>
          </a:p>
        </p:txBody>
      </p:sp>
      <p:sp>
        <p:nvSpPr>
          <p:cNvPr id="9" name="번호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10" name="분야 박스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적극행정·규제개선</a:t>
            </a:r>
          </a:p>
        </p:txBody>
      </p:sp>
      <p:sp>
        <p:nvSpPr>
          <p:cNvPr id="12" name="소제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되는 방법을 찾아 시민이 체감할 수 있는 적극행정 혁신</a:t>
            </a:r>
          </a:p>
        </p:txBody>
      </p:sp>
      <p:sp>
        <p:nvSpPr>
          <p:cNvPr id="13" name="태그칩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5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환류 국민의 시각에서 적극행정을 발굴, 보상 체계를 마련하여 참여 확대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방향 참여자의 적극성 확보, 협력 강화를 통한 제도개선, 실질적 해소에 집중</a:t>
            </a:r>
          </a:p>
        </p:txBody>
      </p:sp>
      <p:sp>
        <p:nvSpPr>
          <p:cNvPr id="19" name="레일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참여자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니즈</a:t>
            </a:r>
          </a:p>
        </p:txBody>
      </p:sp>
      <p:sp>
        <p:nvSpPr>
          <p:cNvPr id="21" name="단계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108년만 최악의 강릉가뭄</a:t>
            </a:r>
          </a:p>
        </p:txBody>
      </p:sp>
      <p:sp>
        <p:nvSpPr>
          <p:cNvPr id="22" name="단계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적극행정 공익성 점검</a:t>
            </a:r>
          </a:p>
        </p:txBody>
      </p:sp>
      <p:sp>
        <p:nvSpPr>
          <p:cNvPr id="23" name="단계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메마른 강릉 무너진 일상을 해결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신속 관정 개발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한계 신규 발주는 규정상 최소 1개월 이상 소요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계약 기준상 위반사항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극복 예방 감사, 면책조력 제도 강화로 공익성 입증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유사 용역 변경 ➡ 2주 내 강릉 물 공급 완료</a:t>
            </a:r>
          </a:p>
        </p:txBody>
      </p:sp>
      <p:sp>
        <p:nvSpPr>
          <p:cNvPr id="31" name="레일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국민의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문제를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함께</a:t>
            </a:r>
          </a:p>
        </p:txBody>
      </p:sp>
      <p:sp>
        <p:nvSpPr>
          <p:cNvPr id="33" name="단계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안동댐 지장가옥 문제</a:t>
            </a:r>
          </a:p>
        </p:txBody>
      </p:sp>
      <p:sp>
        <p:nvSpPr>
          <p:cNvPr id="34" name="단계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민·관 협력 해결책 탐색</a:t>
            </a:r>
          </a:p>
        </p:txBody>
      </p:sp>
      <p:sp>
        <p:nvSpPr>
          <p:cNvPr id="35" name="단계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불법 지장가옥 전부 해소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저수구역 내 불법가옥 존치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한계 댐 운영 제한 및 침수위험 상시 노출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주민 생존권이 걸린 문제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극복 민·관 협력으로 주민 이주 방안 마련·설득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중복보상 예방(사전컨설팅)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1:1 이주 상담·설계 지원 ➡ 47가구 모두 이주 완료</a:t>
            </a:r>
          </a:p>
        </p:txBody>
      </p:sp>
      <p:sp>
        <p:nvSpPr>
          <p:cNvPr id="44" name="주요성과 라벨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주요성과</a:t>
            </a:r>
          </a:p>
        </p:txBody>
      </p:sp>
      <p:sp>
        <p:nvSpPr>
          <p:cNvPr id="45" name="주요성과 문구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예방감사관·면책조력자 참여 활성화 ➡ 사전컨설팅(18건) 및 적극행정 면책(5건) 지원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감사원 「사전컨설팅 콘테스트」 ‘대상’ 수상(3년 연속 1등 달성)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23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8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대국민서비스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자체 인프라 활용으로 국민에게 일상의 쉼표를 선사하는 新공공서비스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물관리 역량을 기반으로, 국민 생활편의 향상에 집중 ➡ 요금동결·감면, 고독자 사회안전망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공공기관도 트렌드를 주도하는 시대 자체 인프라 활용 新 서비스 분야를 개척</a:t>
            </a:r>
          </a:p>
        </p:txBody>
      </p:sp>
      <p:sp>
        <p:nvSpPr>
          <p:cNvPr id="18" name="레일 태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하천활용</a:t>
            </a:r>
          </a:p>
        </p:txBody>
      </p:sp>
      <p:sp>
        <p:nvSpPr>
          <p:cNvPr id="19" name="레일 라벨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국민사랑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러닝코스</a:t>
            </a:r>
          </a:p>
        </p:txBody>
      </p:sp>
      <p:sp>
        <p:nvSpPr>
          <p:cNvPr id="21" name="단계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코스 선정</a:t>
            </a:r>
          </a:p>
        </p:txBody>
      </p:sp>
      <p:sp>
        <p:nvSpPr>
          <p:cNvPr id="22" name="단계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러닝코스 디자인</a:t>
            </a:r>
          </a:p>
        </p:txBody>
      </p:sp>
      <p:sp>
        <p:nvSpPr>
          <p:cNvPr id="23" name="단계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하천 러닝 활성화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 니즈 수집, 하천현장 조사 등 대상지 선정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보 인접 자전거 종주길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전문가로 구성된 디자인팀이 만드는 RiverRun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국민디자인단, 러닝크루 참여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대표서비스로 자리잡을 수 있도록 지원 서비스 개발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편의성 러닝 편의 기반 노면정비 / 홍보 구간 포토존 / 안전 경사 안내판</a:t>
            </a:r>
          </a:p>
        </p:txBody>
      </p:sp>
      <p:sp>
        <p:nvSpPr>
          <p:cNvPr id="32" name="주요성과 라벨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주요성과</a:t>
            </a:r>
          </a:p>
        </p:txBody>
      </p:sp>
      <p:sp>
        <p:nvSpPr>
          <p:cNvPr id="33" name="주요성과 문구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재경부 국민체감 대국민서비스 과제 선정(’25.9)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* 리버런 참여자 1800명, 만족도 99% 달성</a:t>
            </a:r>
          </a:p>
        </p:txBody>
      </p:sp>
      <p:sp>
        <p:nvSpPr>
          <p:cNvPr id="36" name="레일 태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댐 활용</a:t>
            </a:r>
          </a:p>
        </p:txBody>
      </p:sp>
      <p:sp>
        <p:nvSpPr>
          <p:cNvPr id="37" name="레일 라벨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 광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스펙트럼</a:t>
            </a:r>
          </a:p>
        </p:txBody>
      </p:sp>
      <p:sp>
        <p:nvSpPr>
          <p:cNvPr id="38" name="단계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협업체계 확립</a:t>
            </a:r>
          </a:p>
        </p:txBody>
      </p:sp>
      <p:sp>
        <p:nvSpPr>
          <p:cNvPr id="39" name="단계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대상지 선정</a:t>
            </a:r>
          </a:p>
        </p:txBody>
      </p:sp>
      <p:sp>
        <p:nvSpPr>
          <p:cNvPr id="40" name="단계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관광상품 기획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지자체 ↔ K-water ↔ 철도공사 협의체 구축(’25.2)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지자체 지역 관광자원 제공 / K-water 프로그램 기획 / 철도공사 관광상품 기획·컨설팅·홍보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여행 상품 개발 위한 데이터 분석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인구감소지역 소재 댐(14개소) → 데이터 정밀분석 → 시범사업 대상 ‘영주댐’ 선정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댐·철도 영주댐 기차여행 상품 런칭(’25.5)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역사탐방 · 관광지투어 · 프로모션</a:t>
            </a:r>
          </a:p>
        </p:txBody>
      </p:sp>
      <p:sp>
        <p:nvSpPr>
          <p:cNvPr id="49" name="주요성과 라벨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주요성과</a:t>
            </a:r>
          </a:p>
        </p:txBody>
      </p:sp>
      <p:sp>
        <p:nvSpPr>
          <p:cNvPr id="50" name="주요성과 문구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댐 주변 지역 매력도 어필, 영주댐 첫 상품 31명 판매, 추가런칭 섬진강·밀양댐 170명 판매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24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새 정책 출범에 따른 중장기 전략 기본 나침반 재설정</a:t>
            </a:r>
          </a:p>
        </p:txBody>
      </p:sp>
      <p:sp>
        <p:nvSpPr>
          <p:cNvPr id="9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1" name="소제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경영환경 변화와 국정과제 기반 설립목적 재정의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진단</a:t>
            </a:r>
          </a:p>
        </p:txBody>
      </p:sp>
      <p:sp>
        <p:nvSpPr>
          <p:cNvPr id="15" name="띠 제목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기후재난의 현실화</a:t>
            </a:r>
          </a:p>
        </p:txBody>
      </p:sp>
      <p:sp>
        <p:nvSpPr>
          <p:cNvPr id="18" name="띠 제목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정부 핵심 국정과제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기후변화 한계선 돌파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상승 전망치 보충 문구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극한 가뭄·홍수 빈번·심화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관리 복잡성·불확실성 가중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기후안전망 구축·재생e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AI 강국 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국가 핵심 전략산업 육성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공공기관의 선도적 역할 당부</a:t>
            </a:r>
          </a:p>
        </p:txBody>
      </p:sp>
      <p:sp>
        <p:nvSpPr>
          <p:cNvPr id="22" name="사진 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23" name="태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기후위기</a:t>
            </a:r>
          </a:p>
        </p:txBody>
      </p:sp>
      <p:sp>
        <p:nvSpPr>
          <p:cNvPr id="24" name="사진 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25" name="태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새 정부 출범</a:t>
            </a:r>
          </a:p>
        </p:txBody>
      </p:sp>
      <p:sp>
        <p:nvSpPr>
          <p:cNvPr id="30" name="띠 제목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AI 초가속 성장 + 물 수요 급증</a:t>
            </a:r>
          </a:p>
        </p:txBody>
      </p:sp>
      <p:sp>
        <p:nvSpPr>
          <p:cNvPr id="33" name="띠 제목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공공기관 혁신 방향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첨단산업 물 사용량 폭증 전망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반도체 산단, 데이터센터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물산업에도 AI 활용 확대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‘성장과 민생에 기여하는 혁신’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공공기관 본연의 역할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윤리·ESG·안전경영 강화</a:t>
            </a:r>
          </a:p>
        </p:txBody>
      </p:sp>
      <p:sp>
        <p:nvSpPr>
          <p:cNvPr id="37" name="사진 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38" name="태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산업동향</a:t>
            </a:r>
          </a:p>
        </p:txBody>
      </p:sp>
      <p:sp>
        <p:nvSpPr>
          <p:cNvPr id="39" name="사진 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40" name="태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바라는 기업상</a:t>
            </a:r>
          </a:p>
        </p:txBody>
      </p:sp>
      <p:sp>
        <p:nvSpPr>
          <p:cNvPr id="42" name="태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Insight</a:t>
            </a:r>
          </a:p>
        </p:txBody>
      </p:sp>
      <p:sp>
        <p:nvSpPr>
          <p:cNvPr id="43" name="배너 글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복합적 환경변화와 시대적 요구 부응을 위해 ‘기관의 정체성’ 재정의 필요</a:t>
            </a:r>
          </a:p>
        </p:txBody>
      </p:sp>
      <p:sp>
        <p:nvSpPr>
          <p:cNvPr id="45" name="상단 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설립 근거 법률 제1조(목적)</a:t>
            </a:r>
          </a:p>
        </p:txBody>
      </p:sp>
      <p:sp>
        <p:nvSpPr>
          <p:cNvPr id="46" name="상단 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기관 정관 제2조(목적)</a:t>
            </a:r>
          </a:p>
        </p:txBody>
      </p:sp>
      <p:sp>
        <p:nvSpPr>
          <p:cNvPr id="47" name="더하기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+</a:t>
            </a:r>
          </a:p>
        </p:txBody>
      </p:sp>
      <p:sp>
        <p:nvSpPr>
          <p:cNvPr id="48" name="레일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해석</a:t>
            </a:r>
          </a:p>
        </p:txBody>
      </p:sp>
      <p:sp>
        <p:nvSpPr>
          <p:cNvPr id="51" name="카드 글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수자원의
종합적 개발관리</a:t>
            </a:r>
          </a:p>
        </p:txBody>
      </p:sp>
      <p:sp>
        <p:nvSpPr>
          <p:cNvPr id="54" name="카드 글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안정적 용수공급
및 수질개선</a:t>
            </a:r>
          </a:p>
        </p:txBody>
      </p:sp>
      <p:sp>
        <p:nvSpPr>
          <p:cNvPr id="57" name="카드 글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국민생활 향상
및 공공복리 증진</a:t>
            </a:r>
          </a:p>
        </p:txBody>
      </p:sp>
      <p:sp>
        <p:nvSpPr>
          <p:cNvPr id="58" name="설명 글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spc="-55" dirty="0">
                <a:solidFill>
                  <a:srgbClr val="000359"/>
                </a:solidFill>
                <a:latin typeface="Pretendard"/>
                <a:ea typeface="Pretendard"/>
              </a:rPr>
              <a:t>물문제 주도적 해결 및
선제적 대응방안 모색</a:t>
            </a:r>
          </a:p>
        </p:txBody>
      </p:sp>
      <p:sp>
        <p:nvSpPr>
          <p:cNvPr id="59" name="설명 글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spc="-55" dirty="0">
                <a:solidFill>
                  <a:srgbClr val="000359"/>
                </a:solidFill>
                <a:latin typeface="Pretendard"/>
                <a:ea typeface="Pretendard"/>
              </a:rPr>
              <a:t>국민·지역·산업에 연계
안정적 용수 제공</a:t>
            </a:r>
          </a:p>
        </p:txBody>
      </p:sp>
      <p:sp>
        <p:nvSpPr>
          <p:cNvPr id="61" name="설명 글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spc="-55" dirty="0">
                <a:solidFill>
                  <a:srgbClr val="000359"/>
                </a:solidFill>
                <a:latin typeface="Pretendard"/>
                <a:ea typeface="Pretendard"/>
              </a:rPr>
              <a:t>산업 생태계 육성, 안전·
사회적 책임 경영 선도</a:t>
            </a:r>
          </a:p>
        </p:txBody>
      </p:sp>
      <p:sp>
        <p:nvSpPr>
          <p:cNvPr id="63" name="레일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변화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필요성</a:t>
            </a:r>
          </a:p>
        </p:txBody>
      </p:sp>
      <p:sp>
        <p:nvSpPr>
          <p:cNvPr id="64" name="열 머리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3대 강국 ＋ 재생e 100GW</a:t>
            </a:r>
          </a:p>
        </p:txBody>
      </p:sp>
      <p:sp>
        <p:nvSpPr>
          <p:cNvPr id="65" name="열 머리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반도체 수출 1,700억불</a:t>
            </a:r>
          </a:p>
        </p:txBody>
      </p:sp>
      <p:sp>
        <p:nvSpPr>
          <p:cNvPr id="66" name="열 머리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녹색 전환 및 ESG·안전 최우선</a:t>
            </a:r>
          </a:p>
        </p:txBody>
      </p:sp>
      <p:sp>
        <p:nvSpPr>
          <p:cNvPr id="67" name="설명 글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spc="-55" dirty="0">
                <a:solidFill>
                  <a:srgbClr val="000359"/>
                </a:solidFill>
                <a:latin typeface="Pretendard"/>
                <a:ea typeface="Pretendard"/>
              </a:rPr>
              <a:t>기후변화 적응·완화를 위한
물관리 인프라 대전환 요구</a:t>
            </a:r>
          </a:p>
        </p:txBody>
      </p:sp>
      <p:sp>
        <p:nvSpPr>
          <p:cNvPr id="68" name="설명 글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spc="-55" dirty="0">
                <a:solidFill>
                  <a:srgbClr val="000359"/>
                </a:solidFill>
                <a:latin typeface="Pretendard"/>
                <a:ea typeface="Pretendard"/>
              </a:rPr>
              <a:t>AI 전환 등 다양한 첨단용수
폭발적 수요 적기 대응</a:t>
            </a:r>
          </a:p>
        </p:txBody>
      </p:sp>
      <p:sp>
        <p:nvSpPr>
          <p:cNvPr id="70" name="설명 글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spc="-55" dirty="0">
                <a:solidFill>
                  <a:srgbClr val="000359"/>
                </a:solidFill>
                <a:latin typeface="Pretendard"/>
                <a:ea typeface="Pretendard"/>
              </a:rPr>
              <a:t>기후테크 도약 교두보 필요
국민 눈높이 체질혁신</a:t>
            </a:r>
          </a:p>
        </p:txBody>
      </p:sp>
      <p:sp>
        <p:nvSpPr>
          <p:cNvPr id="72" name="레일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설립목적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재정의</a:t>
            </a:r>
          </a:p>
        </p:txBody>
      </p:sp>
      <p:sp>
        <p:nvSpPr>
          <p:cNvPr id="75" name="카드 글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AI 기반 기후안전망
구축 및 에너지 전환</a:t>
            </a:r>
          </a:p>
        </p:txBody>
      </p:sp>
      <p:sp>
        <p:nvSpPr>
          <p:cNvPr id="78" name="카드 글"/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국가 첨단산업 성장 견인
고순도 산업용수 공급</a:t>
            </a:r>
          </a:p>
        </p:txBody>
      </p:sp>
      <p:sp>
        <p:nvSpPr>
          <p:cNvPr id="81" name="카드 글"/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K-기후테크 육성 및
국민체감형 ESG·안전경영</a:t>
            </a:r>
          </a:p>
        </p:txBody>
      </p:sp>
      <p:sp>
        <p:nvSpPr>
          <p:cNvPr id="82" name="요약 바"/>
          <p:cNvSpPr>
            <a:spLocks noGrp="1"/>
          </p:cNvSpPr>
          <p:nvPr>
            <p:ph type="body" sz="quarter" idx="6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법상 설립목적에 더해 국정과제 및 미래성장을 선도하는 주체로 재정의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25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사업별 이해관계자 재분류 및 기존 체계 유효성 검증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이해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관계자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재분류</a:t>
            </a:r>
          </a:p>
        </p:txBody>
      </p:sp>
      <p:sp>
        <p:nvSpPr>
          <p:cNvPr id="11" name="배너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이해관계자를 수혜자 중심에서 전문·산업파트너까지 확장</a:t>
            </a:r>
          </a:p>
        </p:txBody>
      </p:sp>
      <p:sp>
        <p:nvSpPr>
          <p:cNvPr id="12" name="단계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소통 진단(5월)</a:t>
            </a:r>
          </a:p>
        </p:txBody>
      </p:sp>
      <p:sp>
        <p:nvSpPr>
          <p:cNvPr id="13" name="단계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직원 의견수렴(5월)</a:t>
            </a:r>
          </a:p>
        </p:txBody>
      </p:sp>
      <p:sp>
        <p:nvSpPr>
          <p:cNvPr id="14" name="단계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전문가 컨설팅(6월)</a:t>
            </a:r>
          </a:p>
        </p:txBody>
      </p:sp>
      <p:sp>
        <p:nvSpPr>
          <p:cNvPr id="15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재구성(7월)</a:t>
            </a:r>
          </a:p>
        </p:txBody>
      </p:sp>
      <p:sp>
        <p:nvSpPr>
          <p:cNvPr id="20" name="아이콘 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분야 A</a:t>
            </a:r>
          </a:p>
        </p:txBody>
      </p:sp>
      <p:sp>
        <p:nvSpPr>
          <p:cNvPr id="21" name="구분 칩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</a:t>
            </a:r>
          </a:p>
        </p:txBody>
      </p:sp>
      <p:sp>
        <p:nvSpPr>
          <p:cNvPr id="22" name="칩 줄 글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국민, 주변 주민·지자체</a:t>
            </a:r>
          </a:p>
        </p:txBody>
      </p:sp>
      <p:sp>
        <p:nvSpPr>
          <p:cNvPr id="23" name="구분 칩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확장</a:t>
            </a:r>
          </a:p>
        </p:txBody>
      </p:sp>
      <p:sp>
        <p:nvSpPr>
          <p:cNvPr id="24" name="칩 줄 글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글로벌기업, 전문가 등</a:t>
            </a:r>
          </a:p>
        </p:txBody>
      </p:sp>
      <p:sp>
        <p:nvSpPr>
          <p:cNvPr id="25" name="카드 요약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핵심 파트너 등 추가</a:t>
            </a:r>
          </a:p>
        </p:txBody>
      </p:sp>
      <p:sp>
        <p:nvSpPr>
          <p:cNvPr id="27" name="아이콘 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분야 B</a:t>
            </a:r>
          </a:p>
        </p:txBody>
      </p:sp>
      <p:sp>
        <p:nvSpPr>
          <p:cNvPr id="28" name="구분 칩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</a:t>
            </a:r>
          </a:p>
        </p:txBody>
      </p:sp>
      <p:sp>
        <p:nvSpPr>
          <p:cNvPr id="29" name="칩 줄 글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국민, 기업, 지자체</a:t>
            </a:r>
          </a:p>
        </p:txBody>
      </p:sp>
      <p:sp>
        <p:nvSpPr>
          <p:cNvPr id="30" name="구분 칩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확장</a:t>
            </a:r>
          </a:p>
        </p:txBody>
      </p:sp>
      <p:sp>
        <p:nvSpPr>
          <p:cNvPr id="31" name="칩 줄 글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협력기업, 신산업 기업 등</a:t>
            </a:r>
          </a:p>
        </p:txBody>
      </p:sp>
      <p:sp>
        <p:nvSpPr>
          <p:cNvPr id="32" name="카드 요약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공급 파트너까지 확대</a:t>
            </a:r>
          </a:p>
        </p:txBody>
      </p:sp>
      <p:sp>
        <p:nvSpPr>
          <p:cNvPr id="34" name="아이콘 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분야 C</a:t>
            </a:r>
          </a:p>
        </p:txBody>
      </p:sp>
      <p:sp>
        <p:nvSpPr>
          <p:cNvPr id="35" name="구분 칩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</a:t>
            </a:r>
          </a:p>
        </p:txBody>
      </p:sp>
      <p:sp>
        <p:nvSpPr>
          <p:cNvPr id="36" name="칩 줄 글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주민·건설기업·지자체</a:t>
            </a:r>
          </a:p>
        </p:txBody>
      </p:sp>
      <p:sp>
        <p:nvSpPr>
          <p:cNvPr id="37" name="구분 칩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확장</a:t>
            </a:r>
          </a:p>
        </p:txBody>
      </p:sp>
      <p:sp>
        <p:nvSpPr>
          <p:cNvPr id="38" name="칩 줄 글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정부, 수요기업 등</a:t>
            </a:r>
          </a:p>
        </p:txBody>
      </p:sp>
      <p:sp>
        <p:nvSpPr>
          <p:cNvPr id="39" name="카드 요약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정부·기업 협력 필요</a:t>
            </a:r>
          </a:p>
        </p:txBody>
      </p:sp>
      <p:sp>
        <p:nvSpPr>
          <p:cNvPr id="41" name="아이콘 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분야 D</a:t>
            </a:r>
          </a:p>
        </p:txBody>
      </p:sp>
      <p:sp>
        <p:nvSpPr>
          <p:cNvPr id="42" name="구분 칩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</a:t>
            </a:r>
          </a:p>
        </p:txBody>
      </p:sp>
      <p:sp>
        <p:nvSpPr>
          <p:cNvPr id="43" name="칩 줄 글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유관기관, 지자체, 기업</a:t>
            </a:r>
          </a:p>
        </p:txBody>
      </p:sp>
      <p:sp>
        <p:nvSpPr>
          <p:cNvPr id="44" name="구분 칩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확장</a:t>
            </a:r>
          </a:p>
        </p:txBody>
      </p:sp>
      <p:sp>
        <p:nvSpPr>
          <p:cNvPr id="45" name="칩 줄 글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신산업 기업, 해외 정부</a:t>
            </a:r>
          </a:p>
        </p:txBody>
      </p:sp>
      <p:sp>
        <p:nvSpPr>
          <p:cNvPr id="46" name="카드 요약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협력주체 확대</a:t>
            </a:r>
          </a:p>
        </p:txBody>
      </p:sp>
      <p:sp>
        <p:nvSpPr>
          <p:cNvPr id="48" name="캡션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【 재분류된 이해관계자 대상 현 미션·비전·가치 유효성 검증 】</a:t>
            </a:r>
          </a:p>
        </p:txBody>
      </p:sp>
      <p:sp>
        <p:nvSpPr>
          <p:cNvPr id="50" name="레일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가치전략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진단</a:t>
            </a:r>
          </a:p>
        </p:txBody>
      </p:sp>
      <p:sp>
        <p:nvSpPr>
          <p:cNvPr id="51" name="도입 글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 소통은 세분화하고, 외부 소통은 대폭 확대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정책 반영 과정에서 나온 정보를 지속 공유</a:t>
            </a:r>
          </a:p>
        </p:txBody>
      </p:sp>
      <p:sp>
        <p:nvSpPr>
          <p:cNvPr id="52" name="열 머리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직원·전문가 설문(1차, 7월)</a:t>
            </a:r>
          </a:p>
        </p:txBody>
      </p:sp>
      <p:sp>
        <p:nvSpPr>
          <p:cNvPr id="53" name="열 본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가치·전략체계 격차 진단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임직원·외부전문가 대상</a:t>
            </a:r>
          </a:p>
        </p:txBody>
      </p:sp>
      <p:sp>
        <p:nvSpPr>
          <p:cNvPr id="54" name="열 머리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이해관계자 소통(2차, 7~10월)</a:t>
            </a:r>
          </a:p>
        </p:txBody>
      </p:sp>
      <p:sp>
        <p:nvSpPr>
          <p:cNvPr id="55" name="열 본문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정부·지자체 의견 수렴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면담 12회</a:t>
            </a:r>
          </a:p>
        </p:txBody>
      </p:sp>
      <p:sp>
        <p:nvSpPr>
          <p:cNvPr id="56" name="열 머리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직원·국민 설문(3차, 11월)</a:t>
            </a:r>
          </a:p>
        </p:txBody>
      </p:sp>
      <p:sp>
        <p:nvSpPr>
          <p:cNvPr id="57" name="열 본문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가치·전략체계 변화방향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직원·국민 대상 온라인 등</a:t>
            </a:r>
          </a:p>
        </p:txBody>
      </p:sp>
      <p:sp>
        <p:nvSpPr>
          <p:cNvPr id="58" name="강조 띠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큰 틀은 유지하되 새 요구 및 국정과제 반영·세부 의미 재해석</a:t>
            </a:r>
          </a:p>
        </p:txBody>
      </p:sp>
      <p:sp>
        <p:nvSpPr>
          <p:cNvPr id="59" name="행 라벨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가치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체계</a:t>
            </a:r>
          </a:p>
        </p:txBody>
      </p:sp>
      <p:sp>
        <p:nvSpPr>
          <p:cNvPr id="60" name="지표"/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설립목적 부합</a:t>
            </a:r>
          </a:p>
        </p:txBody>
      </p:sp>
      <p:sp>
        <p:nvSpPr>
          <p:cNvPr id="61" name="수치"/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 95.5%  외 97.3%</a:t>
            </a:r>
          </a:p>
        </p:txBody>
      </p:sp>
      <p:sp>
        <p:nvSpPr>
          <p:cNvPr id="62" name="지표"/>
          <p:cNvSpPr>
            <a:spLocks noGrp="1"/>
          </p:cNvSpPr>
          <p:nvPr>
            <p:ph type="body" sz="quarter" idx="6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환경변화 부합</a:t>
            </a:r>
          </a:p>
        </p:txBody>
      </p:sp>
      <p:sp>
        <p:nvSpPr>
          <p:cNvPr id="63" name="수치"/>
          <p:cNvSpPr>
            <a:spLocks noGrp="1"/>
          </p:cNvSpPr>
          <p:nvPr>
            <p:ph type="body" sz="quarter" idx="6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 97.4%  외 98.4%</a:t>
            </a:r>
          </a:p>
        </p:txBody>
      </p:sp>
      <p:sp>
        <p:nvSpPr>
          <p:cNvPr id="64" name="지표"/>
          <p:cNvSpPr>
            <a:spLocks noGrp="1"/>
          </p:cNvSpPr>
          <p:nvPr>
            <p:ph type="body" sz="quarter" idx="6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장기적 유지·확산</a:t>
            </a:r>
          </a:p>
        </p:txBody>
      </p:sp>
      <p:sp>
        <p:nvSpPr>
          <p:cNvPr id="65" name="수치"/>
          <p:cNvSpPr>
            <a:spLocks noGrp="1"/>
          </p:cNvSpPr>
          <p:nvPr>
            <p:ph type="body" sz="quarter" idx="6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 97.2%  외 98.9%</a:t>
            </a:r>
          </a:p>
        </p:txBody>
      </p:sp>
      <p:sp>
        <p:nvSpPr>
          <p:cNvPr id="67" name="행 라벨"/>
          <p:cNvSpPr>
            <a:spLocks noGrp="1"/>
          </p:cNvSpPr>
          <p:nvPr>
            <p:ph type="body" sz="quarter" idx="6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체계</a:t>
            </a:r>
          </a:p>
        </p:txBody>
      </p:sp>
      <p:sp>
        <p:nvSpPr>
          <p:cNvPr id="68" name="지표"/>
          <p:cNvSpPr>
            <a:spLocks noGrp="1"/>
          </p:cNvSpPr>
          <p:nvPr>
            <p:ph type="body" sz="quarter" idx="6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전략체계 변화 필요</a:t>
            </a:r>
          </a:p>
        </p:txBody>
      </p:sp>
      <p:sp>
        <p:nvSpPr>
          <p:cNvPr id="69" name="수치"/>
          <p:cNvSpPr>
            <a:spLocks noGrp="1"/>
          </p:cNvSpPr>
          <p:nvPr>
            <p:ph type="body" sz="quarter" idx="7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 97.2%</a:t>
            </a:r>
          </a:p>
        </p:txBody>
      </p:sp>
      <p:sp>
        <p:nvSpPr>
          <p:cNvPr id="70" name="지표"/>
          <p:cNvSpPr>
            <a:spLocks noGrp="1"/>
          </p:cNvSpPr>
          <p:nvPr>
            <p:ph type="body" sz="quarter" idx="7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직관적 이해도 향상</a:t>
            </a:r>
          </a:p>
        </p:txBody>
      </p:sp>
      <p:sp>
        <p:nvSpPr>
          <p:cNvPr id="71" name="수치"/>
          <p:cNvSpPr>
            <a:spLocks noGrp="1"/>
          </p:cNvSpPr>
          <p:nvPr>
            <p:ph type="body" sz="quarter" idx="7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 92.6%  외 91.1%</a:t>
            </a:r>
          </a:p>
        </p:txBody>
      </p:sp>
      <p:sp>
        <p:nvSpPr>
          <p:cNvPr id="72" name="지표"/>
          <p:cNvSpPr>
            <a:spLocks noGrp="1"/>
          </p:cNvSpPr>
          <p:nvPr>
            <p:ph type="body" sz="quarter" idx="7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국정과제 연계 변경</a:t>
            </a:r>
          </a:p>
        </p:txBody>
      </p:sp>
      <p:sp>
        <p:nvSpPr>
          <p:cNvPr id="73" name="수치"/>
          <p:cNvSpPr>
            <a:spLocks noGrp="1"/>
          </p:cNvSpPr>
          <p:nvPr>
            <p:ph type="body" sz="quarter" idx="7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 95.0%  외 93.3%</a:t>
            </a:r>
          </a:p>
        </p:txBody>
      </p:sp>
      <p:sp>
        <p:nvSpPr>
          <p:cNvPr id="75" name="판단 글"/>
          <p:cNvSpPr>
            <a:spLocks noGrp="1"/>
          </p:cNvSpPr>
          <p:nvPr>
            <p:ph type="body" sz="quarter" idx="7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☑ 국민 기대·역할 기본방향은 전반적 적합</a:t>
            </a:r>
          </a:p>
        </p:txBody>
      </p:sp>
      <p:sp>
        <p:nvSpPr>
          <p:cNvPr id="76" name="판단 글"/>
          <p:cNvSpPr>
            <a:spLocks noGrp="1"/>
          </p:cNvSpPr>
          <p:nvPr>
            <p:ph type="body" sz="quarter" idx="7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☑ 새 정부 출범·여건 변화 반영 필요</a:t>
            </a:r>
          </a:p>
        </p:txBody>
      </p:sp>
      <p:sp>
        <p:nvSpPr>
          <p:cNvPr id="78" name="캡션"/>
          <p:cNvSpPr>
            <a:spLocks noGrp="1"/>
          </p:cNvSpPr>
          <p:nvPr>
            <p:ph type="body" sz="quarter" idx="7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【 가치 전략체계 롤링 】</a:t>
            </a:r>
          </a:p>
        </p:txBody>
      </p:sp>
      <p:sp>
        <p:nvSpPr>
          <p:cNvPr id="80" name="단계"/>
          <p:cNvSpPr>
            <a:spLocks noGrp="1"/>
          </p:cNvSpPr>
          <p:nvPr>
            <p:ph type="body" sz="quarter" idx="7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미션 [재해석]</a:t>
            </a:r>
          </a:p>
        </p:txBody>
      </p:sp>
      <p:sp>
        <p:nvSpPr>
          <p:cNvPr id="81" name="단계"/>
          <p:cNvSpPr>
            <a:spLocks noGrp="1"/>
          </p:cNvSpPr>
          <p:nvPr>
            <p:ph type="body" sz="quarter" idx="7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비전 [재해석] 목표 [강화]</a:t>
            </a:r>
          </a:p>
        </p:txBody>
      </p:sp>
      <p:sp>
        <p:nvSpPr>
          <p:cNvPr id="82" name="단계"/>
          <p:cNvSpPr>
            <a:spLocks noGrp="1"/>
          </p:cNvSpPr>
          <p:nvPr>
            <p:ph type="body" sz="quarter" idx="8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핵심가치 [재해석]</a:t>
            </a:r>
          </a:p>
        </p:txBody>
      </p:sp>
      <p:sp>
        <p:nvSpPr>
          <p:cNvPr id="86" name="큰 문구"/>
          <p:cNvSpPr>
            <a:spLocks noGrp="1"/>
          </p:cNvSpPr>
          <p:nvPr>
            <p:ph type="body" sz="quarter" idx="8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물이 여는 미래,
물로 나누는 행복</a:t>
            </a:r>
          </a:p>
        </p:txBody>
      </p:sp>
      <p:sp>
        <p:nvSpPr>
          <p:cNvPr id="87" name="요약 줄"/>
          <p:cNvSpPr>
            <a:spLocks noGrp="1"/>
          </p:cNvSpPr>
          <p:nvPr>
            <p:ph type="body" sz="quarter" idx="8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물의 가치로 열린 미래와 행복 나눔</a:t>
            </a:r>
          </a:p>
        </p:txBody>
      </p:sp>
      <p:sp>
        <p:nvSpPr>
          <p:cNvPr id="88" name="불릿"/>
          <p:cNvSpPr>
            <a:spLocks noGrp="1"/>
          </p:cNvSpPr>
          <p:nvPr>
            <p:ph type="body" sz="quarter" idx="8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물관리·녹색전환 지원 등 의미 보완</a:t>
            </a:r>
          </a:p>
        </p:txBody>
      </p:sp>
      <p:sp>
        <p:nvSpPr>
          <p:cNvPr id="90" name="큰 문구"/>
          <p:cNvSpPr>
            <a:spLocks noGrp="1"/>
          </p:cNvSpPr>
          <p:nvPr>
            <p:ph type="body" sz="quarter" idx="8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기후위기 대응을 선도하는 글로벌 물기업</a:t>
            </a:r>
          </a:p>
        </p:txBody>
      </p:sp>
      <p:sp>
        <p:nvSpPr>
          <p:cNvPr id="91" name="요약 줄"/>
          <p:cNvSpPr>
            <a:spLocks noGrp="1"/>
          </p:cNvSpPr>
          <p:nvPr>
            <p:ph type="body" sz="quarter" idx="8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새로운 시대, 기후위기 대응 솔루션 구현</a:t>
            </a:r>
          </a:p>
        </p:txBody>
      </p:sp>
      <p:sp>
        <p:nvSpPr>
          <p:cNvPr id="92" name="불릿"/>
          <p:cNvSpPr>
            <a:spLocks noGrp="1"/>
          </p:cNvSpPr>
          <p:nvPr>
            <p:ph type="body" sz="quarter" idx="8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기후안전망 강화 ＋ AI·기후테크 역량 구체화</a:t>
            </a:r>
          </a:p>
        </p:txBody>
      </p:sp>
      <p:sp>
        <p:nvSpPr>
          <p:cNvPr id="95" name="큰 문구"/>
          <p:cNvSpPr>
            <a:spLocks noGrp="1"/>
          </p:cNvSpPr>
          <p:nvPr>
            <p:ph type="body" sz="quarter" idx="8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안전 · 역동 · 공정</a:t>
            </a:r>
          </a:p>
        </p:txBody>
      </p:sp>
      <p:sp>
        <p:nvSpPr>
          <p:cNvPr id="96" name="요약 줄"/>
          <p:cNvSpPr>
            <a:spLocks noGrp="1"/>
          </p:cNvSpPr>
          <p:nvPr>
            <p:ph type="body" sz="quarter" idx="8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국가 안전망, 세계 일류기업, 국민 공기업</a:t>
            </a:r>
          </a:p>
        </p:txBody>
      </p:sp>
      <p:sp>
        <p:nvSpPr>
          <p:cNvPr id="97" name="불릿"/>
          <p:cNvSpPr>
            <a:spLocks noGrp="1"/>
          </p:cNvSpPr>
          <p:nvPr>
            <p:ph type="body" sz="quarter" idx="8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 최우선, ESG 경영 등 중심 실천기준 재해석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26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 이해관계자 대상 가치전략 체계 적극 공유·확산으로 공감대 및 추진동력 확보</a:t>
            </a:r>
          </a:p>
        </p:txBody>
      </p:sp>
      <p:sp>
        <p:nvSpPr>
          <p:cNvPr id="10" name="분면 이름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② 상세 설명·자료</a:t>
            </a:r>
          </a:p>
        </p:txBody>
      </p:sp>
      <p:sp>
        <p:nvSpPr>
          <p:cNvPr id="11" name="분면 글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000359"/>
                </a:solidFill>
                <a:latin typeface="Pretendard"/>
                <a:ea typeface="Pretendard"/>
              </a:rPr>
              <a:t>전문가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000359"/>
                </a:solidFill>
                <a:latin typeface="Pretendard"/>
                <a:ea typeface="Pretendard"/>
              </a:rPr>
              <a:t>해외정부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000359"/>
                </a:solidFill>
                <a:latin typeface="Pretendard"/>
                <a:ea typeface="Pretendard"/>
              </a:rPr>
              <a:t>유관기관</a:t>
            </a:r>
          </a:p>
        </p:txBody>
      </p:sp>
      <p:sp>
        <p:nvSpPr>
          <p:cNvPr id="12" name="분면 이름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① 적극·대면 설명</a:t>
            </a:r>
          </a:p>
        </p:txBody>
      </p:sp>
      <p:sp>
        <p:nvSpPr>
          <p:cNvPr id="13" name="분면 글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000359"/>
                </a:solidFill>
                <a:latin typeface="Pretendard"/>
                <a:ea typeface="Pretendard"/>
              </a:rPr>
              <a:t>정부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000359"/>
                </a:solidFill>
                <a:latin typeface="Pretendard"/>
                <a:ea typeface="Pretendard"/>
              </a:rPr>
              <a:t>주변 주민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000359"/>
                </a:solidFill>
                <a:latin typeface="Pretendard"/>
                <a:ea typeface="Pretendard"/>
              </a:rPr>
              <a:t>지자체</a:t>
            </a:r>
          </a:p>
        </p:txBody>
      </p:sp>
      <p:sp>
        <p:nvSpPr>
          <p:cNvPr id="14" name="분면 이름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③ 전방위 확산</a:t>
            </a:r>
          </a:p>
        </p:txBody>
      </p:sp>
      <p:sp>
        <p:nvSpPr>
          <p:cNvPr id="15" name="분면 글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000359"/>
                </a:solidFill>
                <a:latin typeface="Pretendard"/>
                <a:ea typeface="Pretendard"/>
              </a:rPr>
              <a:t>국민(대중)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000359"/>
                </a:solidFill>
                <a:latin typeface="Pretendard"/>
                <a:ea typeface="Pretendard"/>
              </a:rPr>
              <a:t>기업·연구기관</a:t>
            </a:r>
          </a:p>
        </p:txBody>
      </p:sp>
      <p:sp>
        <p:nvSpPr>
          <p:cNvPr id="16" name="분면 이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④ 사업연계 홍보</a:t>
            </a:r>
          </a:p>
        </p:txBody>
      </p:sp>
      <p:sp>
        <p:nvSpPr>
          <p:cNvPr id="17" name="분면 글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000359"/>
                </a:solidFill>
                <a:latin typeface="Pretendard"/>
                <a:ea typeface="Pretendard"/>
              </a:rPr>
              <a:t>협력 기업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000359"/>
                </a:solidFill>
                <a:latin typeface="Pretendard"/>
                <a:ea typeface="Pretendard"/>
              </a:rPr>
              <a:t>신산업 기업</a:t>
            </a:r>
          </a:p>
        </p:txBody>
      </p:sp>
      <p:sp>
        <p:nvSpPr>
          <p:cNvPr id="18" name="세로축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영향력</a:t>
            </a:r>
          </a:p>
        </p:txBody>
      </p:sp>
      <p:sp>
        <p:nvSpPr>
          <p:cNvPr id="19" name="가로축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관심도 ▶</a:t>
            </a:r>
          </a:p>
        </p:txBody>
      </p:sp>
      <p:sp>
        <p:nvSpPr>
          <p:cNvPr id="20" name="분류 설명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영향력·관심도 기반 유형 분류</a:t>
            </a:r>
          </a:p>
        </p:txBody>
      </p:sp>
      <p:sp>
        <p:nvSpPr>
          <p:cNvPr id="22" name="패널 머리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유형별 맞춤형 소통</a:t>
            </a:r>
          </a:p>
        </p:txBody>
      </p:sp>
      <p:sp>
        <p:nvSpPr>
          <p:cNvPr id="23" name="패널 머리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＋ 전방위 확산(조회수 518만)</a:t>
            </a:r>
          </a:p>
        </p:txBody>
      </p:sp>
      <p:sp>
        <p:nvSpPr>
          <p:cNvPr id="24" name="번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BDE0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25" name="소통 이름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소통회의</a:t>
            </a:r>
          </a:p>
        </p:txBody>
      </p:sp>
      <p:sp>
        <p:nvSpPr>
          <p:cNvPr id="26" name="소통 칩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정책 대응 체계</a:t>
            </a:r>
          </a:p>
        </p:txBody>
      </p:sp>
      <p:sp>
        <p:nvSpPr>
          <p:cNvPr id="27" name="소통 이름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종합포털</a:t>
            </a:r>
          </a:p>
        </p:txBody>
      </p:sp>
      <p:sp>
        <p:nvSpPr>
          <p:cNvPr id="28" name="소통 칩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정보 제공</a:t>
            </a:r>
          </a:p>
        </p:txBody>
      </p:sp>
      <p:sp>
        <p:nvSpPr>
          <p:cNvPr id="29" name="번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BDE0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30" name="소통 이름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협력위원회</a:t>
            </a:r>
          </a:p>
        </p:txBody>
      </p:sp>
      <p:sp>
        <p:nvSpPr>
          <p:cNvPr id="31" name="소통 칩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미래자문위</a:t>
            </a:r>
          </a:p>
        </p:txBody>
      </p:sp>
      <p:sp>
        <p:nvSpPr>
          <p:cNvPr id="32" name="소통 이름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경영·정책 제언</a:t>
            </a:r>
          </a:p>
        </p:txBody>
      </p:sp>
      <p:sp>
        <p:nvSpPr>
          <p:cNvPr id="33" name="소통 칩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전략 소통</a:t>
            </a:r>
          </a:p>
        </p:txBody>
      </p:sp>
      <p:sp>
        <p:nvSpPr>
          <p:cNvPr id="34" name="번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BDE0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35" name="소통 이름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라운드</a:t>
            </a:r>
          </a:p>
        </p:txBody>
      </p:sp>
      <p:sp>
        <p:nvSpPr>
          <p:cNvPr id="36" name="소통 칩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해외 박람회</a:t>
            </a:r>
          </a:p>
        </p:txBody>
      </p:sp>
      <p:sp>
        <p:nvSpPr>
          <p:cNvPr id="37" name="소통 이름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산업 육성</a:t>
            </a:r>
          </a:p>
        </p:txBody>
      </p:sp>
      <p:sp>
        <p:nvSpPr>
          <p:cNvPr id="38" name="소통 칩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해외진출 지원</a:t>
            </a:r>
          </a:p>
        </p:txBody>
      </p:sp>
      <p:sp>
        <p:nvSpPr>
          <p:cNvPr id="39" name="번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BDE0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40" name="소통 이름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소통센터</a:t>
            </a:r>
          </a:p>
        </p:txBody>
      </p:sp>
      <p:sp>
        <p:nvSpPr>
          <p:cNvPr id="41" name="소통 칩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 교육</a:t>
            </a:r>
          </a:p>
        </p:txBody>
      </p:sp>
      <p:sp>
        <p:nvSpPr>
          <p:cNvPr id="42" name="소통 이름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VoC 창구</a:t>
            </a:r>
          </a:p>
        </p:txBody>
      </p:sp>
      <p:sp>
        <p:nvSpPr>
          <p:cNvPr id="43" name="소통 칩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인식 제고</a:t>
            </a:r>
          </a:p>
        </p:txBody>
      </p:sp>
      <p:sp>
        <p:nvSpPr>
          <p:cNvPr id="44" name="사진 칸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45" name="태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확산</a:t>
            </a:r>
          </a:p>
        </p:txBody>
      </p:sp>
      <p:sp>
        <p:nvSpPr>
          <p:cNvPr id="46" name="확산 글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영상 채널 협업</a:t>
            </a:r>
          </a:p>
        </p:txBody>
      </p:sp>
      <p:sp>
        <p:nvSpPr>
          <p:cNvPr id="47" name="사진 칸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48" name="태그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혁신</a:t>
            </a:r>
          </a:p>
        </p:txBody>
      </p:sp>
      <p:sp>
        <p:nvSpPr>
          <p:cNvPr id="49" name="확산 글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콘텐츠 도입</a:t>
            </a:r>
          </a:p>
        </p:txBody>
      </p:sp>
      <p:sp>
        <p:nvSpPr>
          <p:cNvPr id="50" name="사진 칸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51" name="태그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몰입</a:t>
            </a:r>
          </a:p>
        </p:txBody>
      </p:sp>
      <p:sp>
        <p:nvSpPr>
          <p:cNvPr id="52" name="확산 글"/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숏폼 등 확대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27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설립목적·가치체계 등 본격 이행을 위한 3대 TF 운영</a:t>
            </a:r>
          </a:p>
        </p:txBody>
      </p:sp>
      <p:sp>
        <p:nvSpPr>
          <p:cNvPr id="12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그간의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혁신연계</a:t>
            </a:r>
          </a:p>
        </p:txBody>
      </p:sp>
      <p:sp>
        <p:nvSpPr>
          <p:cNvPr id="15" name="배너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그동안 다져온 역량과 기술력을 기반으로 선제적 실행엔진 가동</a:t>
            </a:r>
          </a:p>
        </p:txBody>
      </p:sp>
      <p:sp>
        <p:nvSpPr>
          <p:cNvPr id="16" name="단계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’23년 새로운 전략</a:t>
            </a:r>
          </a:p>
        </p:txBody>
      </p:sp>
      <p:sp>
        <p:nvSpPr>
          <p:cNvPr id="17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재도약의 원년</a:t>
            </a:r>
          </a:p>
        </p:txBody>
      </p:sp>
      <p:sp>
        <p:nvSpPr>
          <p:cNvPr id="18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’25년 핵심과제로 구체화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추진단 출범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「비전」 선포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사업규모와 시장을 넓히는 추진단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전략기획단 ＋ TF 신설</a:t>
            </a:r>
          </a:p>
        </p:txBody>
      </p:sp>
      <p:sp>
        <p:nvSpPr>
          <p:cNvPr id="27" name="태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전환</a:t>
            </a:r>
          </a:p>
        </p:txBody>
      </p:sp>
      <p:sp>
        <p:nvSpPr>
          <p:cNvPr id="28" name="캡션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정부는 글로벌 AI 3대 강국, 우리는 2030 1위 도약</a:t>
            </a:r>
          </a:p>
        </p:txBody>
      </p:sp>
      <p:sp>
        <p:nvSpPr>
          <p:cNvPr id="30" name="레일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기획단</a:t>
            </a:r>
          </a:p>
        </p:txBody>
      </p:sp>
      <p:sp>
        <p:nvSpPr>
          <p:cNvPr id="31" name="단계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입증된 AI 글로벌 역량</a:t>
            </a:r>
          </a:p>
        </p:txBody>
      </p:sp>
      <p:sp>
        <p:nvSpPr>
          <p:cNvPr id="32" name="단계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’25–’29 전략환류</a:t>
            </a:r>
          </a:p>
        </p:txBody>
      </p:sp>
      <p:sp>
        <p:nvSpPr>
          <p:cNvPr id="33" name="단계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성장 연계 전략기획단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선정 사례(최초)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초격차 기술로 글로벌 선도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‘3대 목표 – 7대 전략 – 132개 과제’ 수립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전략방향: AI 확산 본격화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국정과제: AI 3대 강국 도약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초연결 업무환경 · 완전 자율운영 · 생태계</a:t>
            </a:r>
          </a:p>
        </p:txBody>
      </p:sp>
      <p:sp>
        <p:nvSpPr>
          <p:cNvPr id="46" name="레일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2030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미래상</a:t>
            </a:r>
          </a:p>
        </p:txBody>
      </p:sp>
      <p:sp>
        <p:nvSpPr>
          <p:cNvPr id="48" name="배너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2030년까지 AI분야 글로벌 Top1 달성을 위한 전략·실행로드맵 수립</a:t>
            </a:r>
          </a:p>
        </p:txBody>
      </p:sp>
      <p:sp>
        <p:nvSpPr>
          <p:cNvPr id="49" name="단계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금년(’25)</a:t>
            </a:r>
          </a:p>
        </p:txBody>
      </p:sp>
      <p:sp>
        <p:nvSpPr>
          <p:cNvPr id="50" name="단계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단기(’28)</a:t>
            </a:r>
          </a:p>
        </p:txBody>
      </p:sp>
      <p:sp>
        <p:nvSpPr>
          <p:cNvPr id="51" name="단계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장기(’30)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First 전략 수립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기술·인적·제도적 토대 구축</a:t>
            </a:r>
          </a:p>
        </p:txBody>
      </p:sp>
      <p:sp>
        <p:nvSpPr>
          <p:cNvPr id="55" name="칸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솔루션 도입 및 확산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국제 표준화 글로벌 확산기반 마련</a:t>
            </a:r>
          </a:p>
        </p:txBody>
      </p:sp>
      <p:sp>
        <p:nvSpPr>
          <p:cNvPr id="57" name="칸 본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자율형 시스템 완성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세계 시장 리더십 확보</a:t>
            </a:r>
          </a:p>
        </p:txBody>
      </p:sp>
      <p:sp>
        <p:nvSpPr>
          <p:cNvPr id="60" name="태그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재생e</a:t>
            </a:r>
          </a:p>
        </p:txBody>
      </p:sp>
      <p:sp>
        <p:nvSpPr>
          <p:cNvPr id="61" name="캡션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재생에너지 100GW 국정과제 동행, 인프라로 10GW 조기확보</a:t>
            </a:r>
          </a:p>
        </p:txBody>
      </p:sp>
      <p:sp>
        <p:nvSpPr>
          <p:cNvPr id="63" name="레일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에너지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TF</a:t>
            </a:r>
          </a:p>
        </p:txBody>
      </p:sp>
      <p:sp>
        <p:nvSpPr>
          <p:cNvPr id="64" name="단계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국내 설비용량 1위</a:t>
            </a:r>
          </a:p>
        </p:txBody>
      </p:sp>
      <p:sp>
        <p:nvSpPr>
          <p:cNvPr id="65" name="단계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’25–’29 전략환류</a:t>
            </a:r>
          </a:p>
        </p:txBody>
      </p:sp>
      <p:sp>
        <p:nvSpPr>
          <p:cNvPr id="66" name="단계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속도감 있는 도전</a:t>
            </a:r>
          </a:p>
        </p:txBody>
      </p:sp>
      <p:sp>
        <p:nvSpPr>
          <p:cNvPr id="69" name="칸 본문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성장 정체 우려</a:t>
            </a:r>
          </a:p>
        </p:txBody>
      </p:sp>
      <p:sp>
        <p:nvSpPr>
          <p:cNvPr id="70" name="칸 본문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저탄소 에너지 전환</a:t>
            </a:r>
          </a:p>
        </p:txBody>
      </p:sp>
      <p:sp>
        <p:nvSpPr>
          <p:cNvPr id="72" name="칸 본문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‘2030년까지 10GW(누적) 개발’</a:t>
            </a:r>
          </a:p>
        </p:txBody>
      </p:sp>
      <p:sp>
        <p:nvSpPr>
          <p:cNvPr id="74" name="칸 본문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이익공유형 태양광</a:t>
            </a:r>
          </a:p>
        </p:txBody>
      </p:sp>
      <p:sp>
        <p:nvSpPr>
          <p:cNvPr id="75" name="칸 본문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재생e 개발 확대</a:t>
            </a:r>
          </a:p>
        </p:txBody>
      </p:sp>
      <p:sp>
        <p:nvSpPr>
          <p:cNvPr id="77" name="칸 본문"/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 RE100 확산</a:t>
            </a:r>
          </a:p>
        </p:txBody>
      </p:sp>
      <p:sp>
        <p:nvSpPr>
          <p:cNvPr id="79" name="레일"/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2030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미래상</a:t>
            </a:r>
          </a:p>
        </p:txBody>
      </p:sp>
      <p:sp>
        <p:nvSpPr>
          <p:cNvPr id="81" name="배너"/>
          <p:cNvSpPr>
            <a:spLocks noGrp="1"/>
          </p:cNvSpPr>
          <p:nvPr>
            <p:ph type="body" sz="quarter" idx="6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10년의 기반 위에 재생e 국가목표의 10% 10GW 도약·달성</a:t>
            </a:r>
          </a:p>
        </p:txBody>
      </p:sp>
      <p:sp>
        <p:nvSpPr>
          <p:cNvPr id="82" name="머리칸"/>
          <p:cNvSpPr>
            <a:spLocks noGrp="1"/>
          </p:cNvSpPr>
          <p:nvPr>
            <p:ph type="body" sz="quarter" idx="6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주민이익 공유형 마을</a:t>
            </a:r>
          </a:p>
        </p:txBody>
      </p:sp>
      <p:sp>
        <p:nvSpPr>
          <p:cNvPr id="83" name="머리칸"/>
          <p:cNvSpPr>
            <a:spLocks noGrp="1"/>
          </p:cNvSpPr>
          <p:nvPr>
            <p:ph type="body" sz="quarter" idx="6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직접공급(PPA)</a:t>
            </a:r>
          </a:p>
        </p:txBody>
      </p:sp>
      <p:sp>
        <p:nvSpPr>
          <p:cNvPr id="84" name="머리칸"/>
          <p:cNvSpPr>
            <a:spLocks noGrp="1"/>
          </p:cNvSpPr>
          <p:nvPr>
            <p:ph type="body" sz="quarter" idx="6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→ 확대</a:t>
            </a:r>
          </a:p>
        </p:txBody>
      </p:sp>
      <p:sp>
        <p:nvSpPr>
          <p:cNvPr id="85" name="칸 본문"/>
          <p:cNvSpPr>
            <a:spLocks noGrp="1"/>
          </p:cNvSpPr>
          <p:nvPr>
            <p:ph type="body" sz="quarter" idx="6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총 32개소 마을 조성</a:t>
            </a:r>
          </a:p>
        </p:txBody>
      </p:sp>
      <p:sp>
        <p:nvSpPr>
          <p:cNvPr id="86" name="칸 본문"/>
          <p:cNvSpPr>
            <a:spLocks noGrp="1"/>
          </p:cNvSpPr>
          <p:nvPr>
            <p:ph type="body" sz="quarter" idx="6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소수력 등 444MW</a:t>
            </a:r>
          </a:p>
        </p:txBody>
      </p:sp>
      <p:sp>
        <p:nvSpPr>
          <p:cNvPr id="88" name="칸 본문"/>
          <p:cNvSpPr>
            <a:spLocks noGrp="1"/>
          </p:cNvSpPr>
          <p:nvPr>
            <p:ph type="body" sz="quarter" idx="7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대수력 포함 975MW</a:t>
            </a:r>
          </a:p>
        </p:txBody>
      </p:sp>
      <p:sp>
        <p:nvSpPr>
          <p:cNvPr id="91" name="태그"/>
          <p:cNvSpPr>
            <a:spLocks noGrp="1"/>
          </p:cNvSpPr>
          <p:nvPr>
            <p:ph type="body" sz="quarter" idx="7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산업용수</a:t>
            </a:r>
          </a:p>
        </p:txBody>
      </p:sp>
      <p:sp>
        <p:nvSpPr>
          <p:cNvPr id="92" name="캡션"/>
          <p:cNvSpPr>
            <a:spLocks noGrp="1"/>
          </p:cNvSpPr>
          <p:nvPr>
            <p:ph type="body" sz="quarter" idx="7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첨단산업 초격차를 지키는 생명수 공급</a:t>
            </a:r>
          </a:p>
        </p:txBody>
      </p:sp>
      <p:sp>
        <p:nvSpPr>
          <p:cNvPr id="94" name="레일"/>
          <p:cNvSpPr>
            <a:spLocks noGrp="1"/>
          </p:cNvSpPr>
          <p:nvPr>
            <p:ph type="body" sz="quarter" idx="7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산업용수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TF</a:t>
            </a:r>
          </a:p>
        </p:txBody>
      </p:sp>
      <p:sp>
        <p:nvSpPr>
          <p:cNvPr id="95" name="단계"/>
          <p:cNvSpPr>
            <a:spLocks noGrp="1"/>
          </p:cNvSpPr>
          <p:nvPr>
            <p:ph type="body" sz="quarter" idx="7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초순수 4대 강국 도약</a:t>
            </a:r>
          </a:p>
        </p:txBody>
      </p:sp>
      <p:sp>
        <p:nvSpPr>
          <p:cNvPr id="96" name="단계"/>
          <p:cNvSpPr>
            <a:spLocks noGrp="1"/>
          </p:cNvSpPr>
          <p:nvPr>
            <p:ph type="body" sz="quarter" idx="7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’25–’29 전략환류</a:t>
            </a:r>
          </a:p>
        </p:txBody>
      </p:sp>
      <p:sp>
        <p:nvSpPr>
          <p:cNvPr id="97" name="단계"/>
          <p:cNvSpPr>
            <a:spLocks noGrp="1"/>
          </p:cNvSpPr>
          <p:nvPr>
            <p:ph type="body" sz="quarter" idx="7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산업용수 활성화</a:t>
            </a:r>
          </a:p>
        </p:txBody>
      </p:sp>
      <p:sp>
        <p:nvSpPr>
          <p:cNvPr id="100" name="칸 본문"/>
          <p:cNvSpPr>
            <a:spLocks noGrp="1"/>
          </p:cNvSpPr>
          <p:nvPr>
            <p:ph type="body" sz="quarter" idx="7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글로벌·R&amp;D 진출</a:t>
            </a:r>
          </a:p>
        </p:txBody>
      </p:sp>
      <p:sp>
        <p:nvSpPr>
          <p:cNvPr id="101" name="칸 본문"/>
          <p:cNvSpPr>
            <a:spLocks noGrp="1"/>
          </p:cNvSpPr>
          <p:nvPr>
            <p:ph type="body" sz="quarter" idx="7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첨단산업 적기 용수공급</a:t>
            </a:r>
          </a:p>
        </p:txBody>
      </p:sp>
      <p:sp>
        <p:nvSpPr>
          <p:cNvPr id="103" name="칸 본문"/>
          <p:cNvSpPr>
            <a:spLocks noGrp="1"/>
          </p:cNvSpPr>
          <p:nvPr>
            <p:ph type="body" sz="quarter" idx="7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‘2030년까지 일 87만㎥ 공급’</a:t>
            </a:r>
          </a:p>
        </p:txBody>
      </p:sp>
      <p:sp>
        <p:nvSpPr>
          <p:cNvPr id="105" name="레일"/>
          <p:cNvSpPr>
            <a:spLocks noGrp="1"/>
          </p:cNvSpPr>
          <p:nvPr>
            <p:ph type="body" sz="quarter" idx="8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2030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미래상</a:t>
            </a:r>
          </a:p>
        </p:txBody>
      </p:sp>
      <p:sp>
        <p:nvSpPr>
          <p:cNvPr id="107" name="배너"/>
          <p:cNvSpPr>
            <a:spLocks noGrp="1"/>
          </p:cNvSpPr>
          <p:nvPr>
            <p:ph type="body" sz="quarter" idx="8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첨단수처리 사업·기술·인적 역량 강화로 물산업 글로벌 진출 촉진</a:t>
            </a:r>
          </a:p>
        </p:txBody>
      </p:sp>
      <p:sp>
        <p:nvSpPr>
          <p:cNvPr id="108" name="태그"/>
          <p:cNvSpPr>
            <a:spLocks noGrp="1"/>
          </p:cNvSpPr>
          <p:nvPr>
            <p:ph type="body" sz="quarter" idx="8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초순수</a:t>
            </a:r>
          </a:p>
        </p:txBody>
      </p:sp>
      <p:sp>
        <p:nvSpPr>
          <p:cNvPr id="109" name="태그 설명"/>
          <p:cNvSpPr>
            <a:spLocks noGrp="1"/>
          </p:cNvSpPr>
          <p:nvPr>
            <p:ph type="body" sz="quarter" idx="8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운영관리에서 건설운영까지 국내 시장 14% 진출</a:t>
            </a:r>
          </a:p>
        </p:txBody>
      </p:sp>
      <p:sp>
        <p:nvSpPr>
          <p:cNvPr id="110" name="태그"/>
          <p:cNvSpPr>
            <a:spLocks noGrp="1"/>
          </p:cNvSpPr>
          <p:nvPr>
            <p:ph type="body" sz="quarter" idx="8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물재이용</a:t>
            </a:r>
          </a:p>
        </p:txBody>
      </p:sp>
      <p:sp>
        <p:nvSpPr>
          <p:cNvPr id="111" name="태그 설명"/>
          <p:cNvSpPr>
            <a:spLocks noGrp="1"/>
          </p:cNvSpPr>
          <p:nvPr>
            <p:ph type="body" sz="quarter" idx="8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공공주도 사업 다각화로 시장 30% 진출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28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새 정책 제안·반영으로 임무지향성 확보</a:t>
            </a:r>
          </a:p>
        </p:txBody>
      </p:sp>
      <p:sp>
        <p:nvSpPr>
          <p:cNvPr id="9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1" name="태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프로세스</a:t>
            </a:r>
          </a:p>
        </p:txBody>
      </p:sp>
      <p:sp>
        <p:nvSpPr>
          <p:cNvPr id="12" name="배너 글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공약 단계부터 국정과제 이행계획 수립 및 전략 반영까지 로드맵</a:t>
            </a:r>
          </a:p>
        </p:txBody>
      </p:sp>
      <p:sp>
        <p:nvSpPr>
          <p:cNvPr id="13" name="주체 박스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First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전략기획단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＋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에너지 TF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산업용수 TF</a:t>
            </a:r>
          </a:p>
        </p:txBody>
      </p:sp>
      <p:sp>
        <p:nvSpPr>
          <p:cNvPr id="14" name="시작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START</a:t>
            </a:r>
          </a:p>
        </p:txBody>
      </p:sp>
      <p:sp>
        <p:nvSpPr>
          <p:cNvPr id="16" name="위 마디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공약분석</a:t>
            </a:r>
          </a:p>
        </p:txBody>
      </p:sp>
      <p:sp>
        <p:nvSpPr>
          <p:cNvPr id="18" name="날짜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~5월</a:t>
            </a:r>
          </a:p>
        </p:txBody>
      </p:sp>
      <p:sp>
        <p:nvSpPr>
          <p:cNvPr id="20" name="위 마디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새 정부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출범</a:t>
            </a:r>
          </a:p>
        </p:txBody>
      </p:sp>
      <p:sp>
        <p:nvSpPr>
          <p:cNvPr id="22" name="날짜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6.4</a:t>
            </a:r>
          </a:p>
        </p:txBody>
      </p:sp>
      <p:sp>
        <p:nvSpPr>
          <p:cNvPr id="24" name="위 마디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중장기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계획 수립</a:t>
            </a:r>
          </a:p>
        </p:txBody>
      </p:sp>
      <p:sp>
        <p:nvSpPr>
          <p:cNvPr id="26" name="날짜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6월</a:t>
            </a:r>
          </a:p>
        </p:txBody>
      </p:sp>
      <p:sp>
        <p:nvSpPr>
          <p:cNvPr id="28" name="위 마디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5개년 계획</a:t>
            </a:r>
          </a:p>
        </p:txBody>
      </p:sp>
      <p:sp>
        <p:nvSpPr>
          <p:cNvPr id="30" name="날짜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~8월</a:t>
            </a:r>
          </a:p>
        </p:txBody>
      </p:sp>
      <p:sp>
        <p:nvSpPr>
          <p:cNvPr id="32" name="위 마디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 확정</a:t>
            </a:r>
          </a:p>
        </p:txBody>
      </p:sp>
      <p:sp>
        <p:nvSpPr>
          <p:cNvPr id="34" name="날짜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9.16</a:t>
            </a:r>
          </a:p>
        </p:txBody>
      </p:sp>
      <p:sp>
        <p:nvSpPr>
          <p:cNvPr id="37" name="날짜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12월</a:t>
            </a:r>
          </a:p>
        </p:txBody>
      </p:sp>
      <p:sp>
        <p:nvSpPr>
          <p:cNvPr id="38" name="아래 마디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경영방향 시행</a:t>
            </a:r>
          </a:p>
        </p:txBody>
      </p:sp>
      <p:sp>
        <p:nvSpPr>
          <p:cNvPr id="40" name="날짜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11월</a:t>
            </a:r>
          </a:p>
        </p:txBody>
      </p:sp>
      <p:sp>
        <p:nvSpPr>
          <p:cNvPr id="41" name="아래 마디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중장기 전략경영계획</a:t>
            </a:r>
          </a:p>
        </p:txBody>
      </p:sp>
      <p:sp>
        <p:nvSpPr>
          <p:cNvPr id="43" name="날짜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10월</a:t>
            </a:r>
          </a:p>
        </p:txBody>
      </p:sp>
      <p:sp>
        <p:nvSpPr>
          <p:cNvPr id="44" name="아래 마디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경영목표 수립</a:t>
            </a:r>
          </a:p>
        </p:txBody>
      </p:sp>
      <p:sp>
        <p:nvSpPr>
          <p:cNvPr id="46" name="날짜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~9월</a:t>
            </a:r>
          </a:p>
        </p:txBody>
      </p:sp>
      <p:sp>
        <p:nvSpPr>
          <p:cNvPr id="47" name="아래 마디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이행계획 수립</a:t>
            </a:r>
          </a:p>
        </p:txBody>
      </p:sp>
      <p:sp>
        <p:nvSpPr>
          <p:cNvPr id="49" name="태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정책 제안</a:t>
            </a:r>
          </a:p>
        </p:txBody>
      </p:sp>
      <p:sp>
        <p:nvSpPr>
          <p:cNvPr id="50" name="배너 글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국정기획위원회 및 정부부처 대상 핵심 솔루션 과제 반영 설득</a:t>
            </a:r>
          </a:p>
        </p:txBody>
      </p:sp>
      <p:sp>
        <p:nvSpPr>
          <p:cNvPr id="52" name="태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7월</a:t>
            </a:r>
          </a:p>
        </p:txBody>
      </p:sp>
      <p:sp>
        <p:nvSpPr>
          <p:cNvPr id="53" name="머리 글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국정기획위 보고</a:t>
            </a:r>
          </a:p>
        </p:txBody>
      </p:sp>
      <p:sp>
        <p:nvSpPr>
          <p:cNvPr id="54" name="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주요사업 3개 국정과제화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물관리, 에너지 등</a:t>
            </a:r>
          </a:p>
        </p:txBody>
      </p:sp>
      <p:sp>
        <p:nvSpPr>
          <p:cNvPr id="56" name="태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8월</a:t>
            </a:r>
          </a:p>
        </p:txBody>
      </p:sp>
      <p:sp>
        <p:nvSpPr>
          <p:cNvPr id="57" name="머리 글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국정운영계획 발표</a:t>
            </a:r>
          </a:p>
        </p:txBody>
      </p:sp>
      <p:sp>
        <p:nvSpPr>
          <p:cNvPr id="58" name="본문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사업·기능 14개 국정과제화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AI·재생e 지원 정책</a:t>
            </a:r>
          </a:p>
        </p:txBody>
      </p:sp>
      <p:sp>
        <p:nvSpPr>
          <p:cNvPr id="61" name="태그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9월</a:t>
            </a:r>
          </a:p>
        </p:txBody>
      </p:sp>
      <p:sp>
        <p:nvSpPr>
          <p:cNvPr id="62" name="머리 글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123대 국정과제 확정</a:t>
            </a:r>
          </a:p>
        </p:txBody>
      </p:sp>
      <p:sp>
        <p:nvSpPr>
          <p:cNvPr id="63" name="본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추가 15개 국정과제화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성과 구체화 가능 과제 확장</a:t>
            </a:r>
          </a:p>
        </p:txBody>
      </p:sp>
      <p:sp>
        <p:nvSpPr>
          <p:cNvPr id="65" name="단계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사업·기능 직접반영 과제(14개)</a:t>
            </a:r>
          </a:p>
        </p:txBody>
      </p:sp>
      <p:sp>
        <p:nvSpPr>
          <p:cNvPr id="66" name="단계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국민·기업·지역체감 확장반영 과제(15개)</a:t>
            </a:r>
          </a:p>
        </p:txBody>
      </p:sp>
      <p:sp>
        <p:nvSpPr>
          <p:cNvPr id="69" name="레일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수자원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</a:t>
            </a:r>
          </a:p>
        </p:txBody>
      </p:sp>
      <p:sp>
        <p:nvSpPr>
          <p:cNvPr id="70" name="번호 칩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43</a:t>
            </a:r>
          </a:p>
        </p:txBody>
      </p:sp>
      <p:sp>
        <p:nvSpPr>
          <p:cNvPr id="71" name="과제명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안전성 강화</a:t>
            </a:r>
          </a:p>
        </p:txBody>
      </p:sp>
      <p:sp>
        <p:nvSpPr>
          <p:cNvPr id="72" name="번호 칩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73</a:t>
            </a:r>
          </a:p>
        </p:txBody>
      </p:sp>
      <p:sp>
        <p:nvSpPr>
          <p:cNvPr id="73" name="과제명"/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워터그리드</a:t>
            </a:r>
          </a:p>
        </p:txBody>
      </p:sp>
      <p:sp>
        <p:nvSpPr>
          <p:cNvPr id="74" name="번호 칩"/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42</a:t>
            </a:r>
          </a:p>
        </p:txBody>
      </p:sp>
      <p:sp>
        <p:nvSpPr>
          <p:cNvPr id="75" name="과제명"/>
          <p:cNvSpPr>
            <a:spLocks noGrp="1"/>
          </p:cNvSpPr>
          <p:nvPr>
            <p:ph type="body" sz="quarter" idx="6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활성탄 자원순환</a:t>
            </a:r>
          </a:p>
        </p:txBody>
      </p:sp>
      <p:sp>
        <p:nvSpPr>
          <p:cNvPr id="76" name="번호 칩"/>
          <p:cNvSpPr>
            <a:spLocks noGrp="1"/>
          </p:cNvSpPr>
          <p:nvPr>
            <p:ph type="body" sz="quarter" idx="6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44</a:t>
            </a:r>
          </a:p>
        </p:txBody>
      </p:sp>
      <p:sp>
        <p:nvSpPr>
          <p:cNvPr id="77" name="과제명"/>
          <p:cNvSpPr>
            <a:spLocks noGrp="1"/>
          </p:cNvSpPr>
          <p:nvPr>
            <p:ph type="body" sz="quarter" idx="6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물환경 DT, 녹조 대응</a:t>
            </a:r>
          </a:p>
        </p:txBody>
      </p:sp>
      <p:sp>
        <p:nvSpPr>
          <p:cNvPr id="80" name="레일"/>
          <p:cNvSpPr>
            <a:spLocks noGrp="1"/>
          </p:cNvSpPr>
          <p:nvPr>
            <p:ph type="body" sz="quarter" idx="6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 도</a:t>
            </a:r>
          </a:p>
        </p:txBody>
      </p:sp>
      <p:sp>
        <p:nvSpPr>
          <p:cNvPr id="81" name="번호 칩"/>
          <p:cNvSpPr>
            <a:spLocks noGrp="1"/>
          </p:cNvSpPr>
          <p:nvPr>
            <p:ph type="body" sz="quarter" idx="6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21</a:t>
            </a:r>
          </a:p>
        </p:txBody>
      </p:sp>
      <p:sp>
        <p:nvSpPr>
          <p:cNvPr id="82" name="과제명"/>
          <p:cNvSpPr>
            <a:spLocks noGrp="1"/>
          </p:cNvSpPr>
          <p:nvPr>
            <p:ph type="body" sz="quarter" idx="6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정수장</a:t>
            </a:r>
          </a:p>
        </p:txBody>
      </p:sp>
      <p:sp>
        <p:nvSpPr>
          <p:cNvPr id="83" name="번호 칩"/>
          <p:cNvSpPr>
            <a:spLocks noGrp="1"/>
          </p:cNvSpPr>
          <p:nvPr>
            <p:ph type="body" sz="quarter" idx="7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72</a:t>
            </a:r>
          </a:p>
        </p:txBody>
      </p:sp>
      <p:sp>
        <p:nvSpPr>
          <p:cNvPr id="84" name="과제명"/>
          <p:cNvSpPr>
            <a:spLocks noGrp="1"/>
          </p:cNvSpPr>
          <p:nvPr>
            <p:ph type="body" sz="quarter" idx="7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노후 상수도관 정비</a:t>
            </a:r>
          </a:p>
        </p:txBody>
      </p:sp>
      <p:sp>
        <p:nvSpPr>
          <p:cNvPr id="85" name="번호 칩"/>
          <p:cNvSpPr>
            <a:spLocks noGrp="1"/>
          </p:cNvSpPr>
          <p:nvPr>
            <p:ph type="body" sz="quarter" idx="7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30</a:t>
            </a:r>
          </a:p>
        </p:txBody>
      </p:sp>
      <p:sp>
        <p:nvSpPr>
          <p:cNvPr id="86" name="과제명"/>
          <p:cNvSpPr>
            <a:spLocks noGrp="1"/>
          </p:cNvSpPr>
          <p:nvPr>
            <p:ph type="body" sz="quarter" idx="7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초순수 운영관리, 기술 국산화</a:t>
            </a:r>
          </a:p>
        </p:txBody>
      </p:sp>
      <p:sp>
        <p:nvSpPr>
          <p:cNvPr id="87" name="번호 칩"/>
          <p:cNvSpPr>
            <a:spLocks noGrp="1"/>
          </p:cNvSpPr>
          <p:nvPr>
            <p:ph type="body" sz="quarter" idx="7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72</a:t>
            </a:r>
          </a:p>
        </p:txBody>
      </p:sp>
      <p:sp>
        <p:nvSpPr>
          <p:cNvPr id="88" name="과제명"/>
          <p:cNvSpPr>
            <a:spLocks noGrp="1"/>
          </p:cNvSpPr>
          <p:nvPr>
            <p:ph type="body" sz="quarter" idx="7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광역 복선화 및 노후관 개량</a:t>
            </a:r>
          </a:p>
        </p:txBody>
      </p:sp>
      <p:sp>
        <p:nvSpPr>
          <p:cNvPr id="91" name="레일"/>
          <p:cNvSpPr>
            <a:spLocks noGrp="1"/>
          </p:cNvSpPr>
          <p:nvPr>
            <p:ph type="body" sz="quarter" idx="7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에너지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도 시</a:t>
            </a:r>
          </a:p>
        </p:txBody>
      </p:sp>
      <p:sp>
        <p:nvSpPr>
          <p:cNvPr id="92" name="번호 칩"/>
          <p:cNvSpPr>
            <a:spLocks noGrp="1"/>
          </p:cNvSpPr>
          <p:nvPr>
            <p:ph type="body" sz="quarter" idx="7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39</a:t>
            </a:r>
          </a:p>
        </p:txBody>
      </p:sp>
      <p:sp>
        <p:nvSpPr>
          <p:cNvPr id="93" name="과제명"/>
          <p:cNvSpPr>
            <a:spLocks noGrp="1"/>
          </p:cNvSpPr>
          <p:nvPr>
            <p:ph type="body" sz="quarter" idx="7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태양광 확대</a:t>
            </a:r>
          </a:p>
        </p:txBody>
      </p:sp>
      <p:sp>
        <p:nvSpPr>
          <p:cNvPr id="94" name="번호 칩"/>
          <p:cNvSpPr>
            <a:spLocks noGrp="1"/>
          </p:cNvSpPr>
          <p:nvPr>
            <p:ph type="body" sz="quarter" idx="7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40</a:t>
            </a:r>
          </a:p>
        </p:txBody>
      </p:sp>
      <p:sp>
        <p:nvSpPr>
          <p:cNvPr id="95" name="과제명"/>
          <p:cNvSpPr>
            <a:spLocks noGrp="1"/>
          </p:cNvSpPr>
          <p:nvPr>
            <p:ph type="body" sz="quarter" idx="8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탄소중립도시</a:t>
            </a:r>
          </a:p>
        </p:txBody>
      </p:sp>
      <p:sp>
        <p:nvSpPr>
          <p:cNvPr id="96" name="번호 칩"/>
          <p:cNvSpPr>
            <a:spLocks noGrp="1"/>
          </p:cNvSpPr>
          <p:nvPr>
            <p:ph type="body" sz="quarter" idx="8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31</a:t>
            </a:r>
          </a:p>
        </p:txBody>
      </p:sp>
      <p:sp>
        <p:nvSpPr>
          <p:cNvPr id="97" name="과제명"/>
          <p:cNvSpPr>
            <a:spLocks noGrp="1"/>
          </p:cNvSpPr>
          <p:nvPr>
            <p:ph type="body" sz="quarter" idx="8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‘AI시티’ 실증</a:t>
            </a:r>
          </a:p>
        </p:txBody>
      </p:sp>
      <p:sp>
        <p:nvSpPr>
          <p:cNvPr id="98" name="번호 칩"/>
          <p:cNvSpPr>
            <a:spLocks noGrp="1"/>
          </p:cNvSpPr>
          <p:nvPr>
            <p:ph type="body" sz="quarter" idx="8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39·70</a:t>
            </a:r>
          </a:p>
        </p:txBody>
      </p:sp>
      <p:sp>
        <p:nvSpPr>
          <p:cNvPr id="99" name="과제명"/>
          <p:cNvSpPr>
            <a:spLocks noGrp="1"/>
          </p:cNvSpPr>
          <p:nvPr>
            <p:ph type="body" sz="quarter" idx="8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주민 이익공유형 에너지사업</a:t>
            </a:r>
          </a:p>
        </p:txBody>
      </p:sp>
      <p:sp>
        <p:nvSpPr>
          <p:cNvPr id="102" name="태그"/>
          <p:cNvSpPr>
            <a:spLocks noGrp="1"/>
          </p:cNvSpPr>
          <p:nvPr>
            <p:ph type="body" sz="quarter" idx="8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방향 설정</a:t>
            </a:r>
          </a:p>
        </p:txBody>
      </p:sp>
      <p:sp>
        <p:nvSpPr>
          <p:cNvPr id="103" name="배너 글"/>
          <p:cNvSpPr>
            <a:spLocks noGrp="1"/>
          </p:cNvSpPr>
          <p:nvPr>
            <p:ph type="body" sz="quarter" idx="8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확정된 국정목표·과제 분석을 통한 ‘국정기조’ 도출로 미래 방향성 구체화</a:t>
            </a:r>
          </a:p>
        </p:txBody>
      </p:sp>
      <p:sp>
        <p:nvSpPr>
          <p:cNvPr id="105" name="태그"/>
          <p:cNvSpPr>
            <a:spLocks noGrp="1"/>
          </p:cNvSpPr>
          <p:nvPr>
            <p:ph type="body" sz="quarter" idx="8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</a:t>
            </a:r>
          </a:p>
        </p:txBody>
      </p:sp>
      <p:sp>
        <p:nvSpPr>
          <p:cNvPr id="106" name="머리 글"/>
          <p:cNvSpPr>
            <a:spLocks noGrp="1"/>
          </p:cNvSpPr>
          <p:nvPr>
            <p:ph type="body" sz="quarter" idx="8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추진사업 재구성 방향</a:t>
            </a:r>
          </a:p>
        </p:txBody>
      </p:sp>
      <p:sp>
        <p:nvSpPr>
          <p:cNvPr id="108" name="알약 칸"/>
          <p:cNvSpPr>
            <a:spLocks noGrp="1"/>
          </p:cNvSpPr>
          <p:nvPr>
            <p:ph type="body" sz="quarter" idx="8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 최우선 일터</a:t>
            </a:r>
          </a:p>
        </p:txBody>
      </p:sp>
      <p:sp>
        <p:nvSpPr>
          <p:cNvPr id="111" name="상자"/>
          <p:cNvSpPr>
            <a:spLocks noGrp="1"/>
          </p:cNvSpPr>
          <p:nvPr>
            <p:ph type="body" sz="quarter" idx="9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안전경영</a:t>
            </a:r>
          </a:p>
        </p:txBody>
      </p:sp>
      <p:sp>
        <p:nvSpPr>
          <p:cNvPr id="112" name="알약 칸"/>
          <p:cNvSpPr>
            <a:spLocks noGrp="1"/>
          </p:cNvSpPr>
          <p:nvPr>
            <p:ph type="body" sz="quarter" idx="9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3대 강국 도약</a:t>
            </a:r>
          </a:p>
        </p:txBody>
      </p:sp>
      <p:sp>
        <p:nvSpPr>
          <p:cNvPr id="115" name="상자"/>
          <p:cNvSpPr>
            <a:spLocks noGrp="1"/>
          </p:cNvSpPr>
          <p:nvPr>
            <p:ph type="body" sz="quarter" idx="9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AI전환</a:t>
            </a:r>
          </a:p>
        </p:txBody>
      </p:sp>
      <p:sp>
        <p:nvSpPr>
          <p:cNvPr id="116" name="알약 칸"/>
          <p:cNvSpPr>
            <a:spLocks noGrp="1"/>
          </p:cNvSpPr>
          <p:nvPr>
            <p:ph type="body" sz="quarter" idx="9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물관리 기본 책무 충실</a:t>
            </a:r>
          </a:p>
        </p:txBody>
      </p:sp>
      <p:sp>
        <p:nvSpPr>
          <p:cNvPr id="119" name="상자"/>
          <p:cNvSpPr>
            <a:spLocks noGrp="1"/>
          </p:cNvSpPr>
          <p:nvPr>
            <p:ph type="body" sz="quarter" idx="9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물관리 강화</a:t>
            </a:r>
          </a:p>
        </p:txBody>
      </p:sp>
      <p:sp>
        <p:nvSpPr>
          <p:cNvPr id="121" name="태그"/>
          <p:cNvSpPr>
            <a:spLocks noGrp="1"/>
          </p:cNvSpPr>
          <p:nvPr>
            <p:ph type="body" sz="quarter" idx="9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기능</a:t>
            </a:r>
          </a:p>
        </p:txBody>
      </p:sp>
      <p:sp>
        <p:nvSpPr>
          <p:cNvPr id="122" name="머리 글"/>
          <p:cNvSpPr>
            <a:spLocks noGrp="1"/>
          </p:cNvSpPr>
          <p:nvPr>
            <p:ph type="body" sz="quarter" idx="9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경영체계 고도화 방향</a:t>
            </a:r>
          </a:p>
        </p:txBody>
      </p:sp>
      <p:sp>
        <p:nvSpPr>
          <p:cNvPr id="124" name="알약 칸"/>
          <p:cNvSpPr>
            <a:spLocks noGrp="1"/>
          </p:cNvSpPr>
          <p:nvPr>
            <p:ph type="body" sz="quarter" idx="9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3대 강국 도약</a:t>
            </a:r>
          </a:p>
        </p:txBody>
      </p:sp>
      <p:sp>
        <p:nvSpPr>
          <p:cNvPr id="127" name="상자"/>
          <p:cNvSpPr>
            <a:spLocks noGrp="1"/>
          </p:cNvSpPr>
          <p:nvPr>
            <p:ph type="body" sz="quarter" idx="9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AI·디지털 인프라 강화</a:t>
            </a:r>
          </a:p>
        </p:txBody>
      </p:sp>
      <p:sp>
        <p:nvSpPr>
          <p:cNvPr id="128" name="알약 칸"/>
          <p:cNvSpPr>
            <a:spLocks noGrp="1"/>
          </p:cNvSpPr>
          <p:nvPr>
            <p:ph type="body" sz="quarter" idx="9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국민이 주인인 나라</a:t>
            </a:r>
          </a:p>
        </p:txBody>
      </p:sp>
      <p:sp>
        <p:nvSpPr>
          <p:cNvPr id="131" name="상자"/>
          <p:cNvSpPr>
            <a:spLocks noGrp="1"/>
          </p:cNvSpPr>
          <p:nvPr>
            <p:ph type="body" sz="quarter" idx="10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신뢰 기반 성장 조직</a:t>
            </a:r>
          </a:p>
        </p:txBody>
      </p:sp>
      <p:sp>
        <p:nvSpPr>
          <p:cNvPr id="132" name="알약 칸"/>
          <p:cNvSpPr>
            <a:spLocks noGrp="1"/>
          </p:cNvSpPr>
          <p:nvPr>
            <p:ph type="body" sz="quarter" idx="10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공공기관 ESG 경영</a:t>
            </a:r>
          </a:p>
        </p:txBody>
      </p:sp>
      <p:sp>
        <p:nvSpPr>
          <p:cNvPr id="135" name="상자"/>
          <p:cNvSpPr>
            <a:spLocks noGrp="1"/>
          </p:cNvSpPr>
          <p:nvPr>
            <p:ph type="body" sz="quarter" idx="10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지속가능 경영체계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29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ESG LEAD 독보적 ESG 모델로 여는 새 이정표</a:t>
            </a:r>
          </a:p>
        </p:txBody>
      </p:sp>
      <p:sp>
        <p:nvSpPr>
          <p:cNvPr id="12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3" name="번호 띠 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5" name="소제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자연을 되살리고, 이익은 공유하며, 신뢰는 올리는 ESG 경영 혁신</a:t>
            </a:r>
          </a:p>
        </p:txBody>
      </p:sp>
      <p:sp>
        <p:nvSpPr>
          <p:cNvPr id="17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기후대응 사업 등 위기 대응 ESG 경영 집중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평가 제언을 바탕으로 전 분야 ESG 경영 혁신</a:t>
            </a:r>
          </a:p>
        </p:txBody>
      </p:sp>
      <p:sp>
        <p:nvSpPr>
          <p:cNvPr id="22" name="레일 태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E</a:t>
            </a:r>
          </a:p>
        </p:txBody>
      </p:sp>
      <p:sp>
        <p:nvSpPr>
          <p:cNvPr id="23" name="레일 라벨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Water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Positive</a:t>
            </a:r>
          </a:p>
        </p:txBody>
      </p:sp>
      <p:sp>
        <p:nvSpPr>
          <p:cNvPr id="25" name="태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 니즈</a:t>
            </a:r>
          </a:p>
        </p:txBody>
      </p:sp>
      <p:sp>
        <p:nvSpPr>
          <p:cNvPr id="26" name="태그 설명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기후위기로 사용 가능한 물의 양 감소, 수량 확보 필요</a:t>
            </a:r>
          </a:p>
        </p:txBody>
      </p:sp>
      <p:sp>
        <p:nvSpPr>
          <p:cNvPr id="27" name="태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강점</a:t>
            </a:r>
          </a:p>
        </p:txBody>
      </p:sp>
      <p:sp>
        <p:nvSpPr>
          <p:cNvPr id="28" name="태그 설명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저류지 설치, 하수 재이용 등 물관리 전반 최적화 수행 중</a:t>
            </a:r>
          </a:p>
        </p:txBody>
      </p:sp>
      <p:sp>
        <p:nvSpPr>
          <p:cNvPr id="29" name="단계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준공 A사</a:t>
            </a:r>
          </a:p>
        </p:txBody>
      </p:sp>
      <p:sp>
        <p:nvSpPr>
          <p:cNvPr id="30" name="단계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착수 B사 본사</a:t>
            </a:r>
          </a:p>
        </p:txBody>
      </p:sp>
      <p:sp>
        <p:nvSpPr>
          <p:cNvPr id="31" name="단계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’26년 예정 A사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상류 노후 습지 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2천명/연 사용분 복원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상류 인공습지 조성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2천명/연 사용분 복원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식수원 확보 모래샘 조성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700명/일 사용분 복원</a:t>
            </a:r>
          </a:p>
        </p:txBody>
      </p:sp>
      <p:sp>
        <p:nvSpPr>
          <p:cNvPr id="40" name="레일 태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S</a:t>
            </a:r>
          </a:p>
        </p:txBody>
      </p:sp>
      <p:sp>
        <p:nvSpPr>
          <p:cNvPr id="41" name="레일 라벨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주민이익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공유모델</a:t>
            </a:r>
          </a:p>
        </p:txBody>
      </p:sp>
      <p:sp>
        <p:nvSpPr>
          <p:cNvPr id="42" name="태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</a:t>
            </a:r>
          </a:p>
        </p:txBody>
      </p:sp>
      <p:sp>
        <p:nvSpPr>
          <p:cNvPr id="43" name="태그 설명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여의도 17배에 달하는 풍부한 활용 가능 수면 보유</a:t>
            </a:r>
          </a:p>
        </p:txBody>
      </p:sp>
      <p:sp>
        <p:nvSpPr>
          <p:cNvPr id="44" name="태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지역주민</a:t>
            </a:r>
          </a:p>
        </p:txBody>
      </p:sp>
      <p:sp>
        <p:nvSpPr>
          <p:cNvPr id="45" name="태그 설명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피해의식으로 보상심리 및 지역 활성화 요구 강함</a:t>
            </a:r>
          </a:p>
        </p:txBody>
      </p:sp>
      <p:sp>
        <p:nvSpPr>
          <p:cNvPr id="46" name="단계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A댐 수상태양광</a:t>
            </a:r>
          </a:p>
        </p:txBody>
      </p:sp>
      <p:sp>
        <p:nvSpPr>
          <p:cNvPr id="47" name="단계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준공 이익환원 시작</a:t>
            </a:r>
          </a:p>
        </p:txBody>
      </p:sp>
      <p:sp>
        <p:nvSpPr>
          <p:cNvPr id="48" name="단계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’25년 착수 B댐 수상태양광</a:t>
            </a:r>
          </a:p>
        </p:txBody>
      </p:sp>
      <p:sp>
        <p:nvSpPr>
          <p:cNvPr id="51" name="칸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사업구조 도해 자리</a:t>
            </a:r>
          </a:p>
        </p:txBody>
      </p:sp>
      <p:sp>
        <p:nvSpPr>
          <p:cNvPr id="52" name="칸 본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33개 마을 2,600가구 참여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20년간 222억원 지급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합동 주민 설명회(7회)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주민주도 협의체 발족</a:t>
            </a:r>
          </a:p>
        </p:txBody>
      </p:sp>
      <p:sp>
        <p:nvSpPr>
          <p:cNvPr id="57" name="레일 태그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G</a:t>
            </a:r>
          </a:p>
        </p:txBody>
      </p:sp>
      <p:sp>
        <p:nvSpPr>
          <p:cNvPr id="58" name="레일 라벨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청렴도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1등급</a:t>
            </a:r>
          </a:p>
        </p:txBody>
      </p:sp>
      <p:sp>
        <p:nvSpPr>
          <p:cNvPr id="60" name="단계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윤리경영체계 고도화</a:t>
            </a:r>
          </a:p>
        </p:txBody>
      </p:sp>
      <p:sp>
        <p:nvSpPr>
          <p:cNvPr id="61" name="단계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공공 윤리경영 선도</a:t>
            </a:r>
          </a:p>
        </p:txBody>
      </p:sp>
      <p:sp>
        <p:nvSpPr>
          <p:cNvPr id="62" name="단계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’26년~ 지속가능한 윤리경영</a:t>
            </a:r>
          </a:p>
        </p:txBody>
      </p:sp>
      <p:sp>
        <p:nvSpPr>
          <p:cNvPr id="65" name="칸 본문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CEO 청렴혁신단 구성·운영</a:t>
            </a:r>
          </a:p>
        </p:txBody>
      </p:sp>
      <p:sp>
        <p:nvSpPr>
          <p:cNvPr id="66" name="칸 본문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내재화·확산, 디지털 내부통제</a:t>
            </a:r>
          </a:p>
        </p:txBody>
      </p:sp>
      <p:sp>
        <p:nvSpPr>
          <p:cNvPr id="68" name="칸 본문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청렴 최우수기업 지속</a:t>
            </a:r>
          </a:p>
        </p:txBody>
      </p:sp>
      <p:sp>
        <p:nvSpPr>
          <p:cNvPr id="70" name="머리칸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청렴의식 내재화</a:t>
            </a:r>
          </a:p>
        </p:txBody>
      </p:sp>
      <p:sp>
        <p:nvSpPr>
          <p:cNvPr id="71" name="머리칸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현장중심 리스크관리</a:t>
            </a:r>
          </a:p>
        </p:txBody>
      </p:sp>
      <p:sp>
        <p:nvSpPr>
          <p:cNvPr id="72" name="머리칸"/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전문적 모니터링 체계</a:t>
            </a:r>
          </a:p>
        </p:txBody>
      </p:sp>
      <p:sp>
        <p:nvSpPr>
          <p:cNvPr id="73" name="칸 본문"/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의식확립 청렴의지 전사전파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관리체계 본사·현장 협력강화</a:t>
            </a:r>
          </a:p>
        </p:txBody>
      </p:sp>
      <p:sp>
        <p:nvSpPr>
          <p:cNvPr id="74" name="칸 본문"/>
          <p:cNvSpPr>
            <a:spLocks noGrp="1"/>
          </p:cNvSpPr>
          <p:nvPr>
            <p:ph type="body" sz="quarter" idx="6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위험식별 현업 위험관리 확산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현장통제 고객체감 통제활동</a:t>
            </a:r>
          </a:p>
        </p:txBody>
      </p:sp>
      <p:sp>
        <p:nvSpPr>
          <p:cNvPr id="76" name="칸 본문"/>
          <p:cNvSpPr>
            <a:spLocks noGrp="1"/>
          </p:cNvSpPr>
          <p:nvPr>
            <p:ph type="body" sz="quarter" idx="6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신고제도 내부신고 활성화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모니터링 AI 기술활용 선진화</a:t>
            </a:r>
          </a:p>
        </p:txBody>
      </p:sp>
      <p:sp>
        <p:nvSpPr>
          <p:cNvPr id="79" name="주요성과 라벨"/>
          <p:cNvSpPr>
            <a:spLocks noGrp="1"/>
          </p:cNvSpPr>
          <p:nvPr>
            <p:ph type="body" sz="quarter" idx="6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주요성과</a:t>
            </a:r>
          </a:p>
        </p:txBody>
      </p:sp>
      <p:sp>
        <p:nvSpPr>
          <p:cNvPr id="80" name="주요성과 문구"/>
          <p:cNvSpPr>
            <a:spLocks noGrp="1"/>
          </p:cNvSpPr>
          <p:nvPr>
            <p:ph type="body" sz="quarter" idx="67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WP 누적 물 복원 4,000명분 달성, 국정과제 선도적 이행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주민이익 공유 주민공감대 형성으로 마을 조성(총 3개소)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청렴도 강도 높은 노력으로 종합청렴도 최고·최초 1등급 결실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30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기술로 세우는 국가의 기반, 혁신으로 빛나는 행복</a:t>
            </a:r>
          </a:p>
        </p:txBody>
      </p:sp>
      <p:sp>
        <p:nvSpPr>
          <p:cNvPr id="9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0" name="번호 띠 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2" name="소제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보이지 않는 미래의 행복을 위해, 자율적 기술혁신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5" name="태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AI정수장</a:t>
            </a:r>
          </a:p>
        </p:txBody>
      </p:sp>
      <p:sp>
        <p:nvSpPr>
          <p:cNvPr id="16" name="태그 설명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불확실성 심화 ➡ 일관된 안정적 물 공급 위한 혁신 긴요</a:t>
            </a:r>
          </a:p>
        </p:txBody>
      </p:sp>
      <p:sp>
        <p:nvSpPr>
          <p:cNvPr id="17" name="태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자원순환</a:t>
            </a:r>
          </a:p>
        </p:txBody>
      </p:sp>
      <p:sp>
        <p:nvSpPr>
          <p:cNvPr id="18" name="태그 설명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친환경 규제 강화 ➡ 선제적 기술 도입으로 마중물 역할 필요</a:t>
            </a:r>
          </a:p>
        </p:txBody>
      </p:sp>
      <p:sp>
        <p:nvSpPr>
          <p:cNvPr id="19" name="태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산업기반</a:t>
            </a:r>
          </a:p>
        </p:txBody>
      </p:sp>
      <p:sp>
        <p:nvSpPr>
          <p:cNvPr id="20" name="태그 설명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진입장벽으로 신기술 도입 어려움 ➡ 공공중심 기술 활성화</a:t>
            </a:r>
          </a:p>
        </p:txBody>
      </p:sp>
      <p:sp>
        <p:nvSpPr>
          <p:cNvPr id="22" name="레일 태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국가AI 선도</a:t>
            </a:r>
          </a:p>
        </p:txBody>
      </p:sp>
      <p:sp>
        <p:nvSpPr>
          <p:cNvPr id="23" name="레일 라벨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AI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정수장</a:t>
            </a:r>
          </a:p>
        </p:txBody>
      </p:sp>
      <p:sp>
        <p:nvSpPr>
          <p:cNvPr id="25" name="태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정책</a:t>
            </a:r>
          </a:p>
        </p:txBody>
      </p:sp>
      <p:sp>
        <p:nvSpPr>
          <p:cNvPr id="26" name="태그 설명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국가 AI 대전환 촉구</a:t>
            </a:r>
          </a:p>
        </p:txBody>
      </p:sp>
      <p:sp>
        <p:nvSpPr>
          <p:cNvPr id="27" name="태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노력</a:t>
            </a:r>
          </a:p>
        </p:txBody>
      </p:sp>
      <p:sp>
        <p:nvSpPr>
          <p:cNvPr id="28" name="태그 설명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 전 과정 AI 내재화</a:t>
            </a:r>
          </a:p>
        </p:txBody>
      </p:sp>
      <p:sp>
        <p:nvSpPr>
          <p:cNvPr id="29" name="단계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~’24년 세계적으로 인정받은 AI정수장</a:t>
            </a:r>
          </a:p>
        </p:txBody>
      </p:sp>
      <p:sp>
        <p:nvSpPr>
          <p:cNvPr id="30" name="단계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행동하는 Physical AI로 진화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세계 물기업 최초 등대공장 선정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평시 수질관리·최적 의사결정 지원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 공정 스스로 움직이는 AI 접목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의사결정 제시 → 위기시 직접 제어</a:t>
            </a:r>
          </a:p>
        </p:txBody>
      </p:sp>
      <p:sp>
        <p:nvSpPr>
          <p:cNvPr id="36" name="주요성과 라벨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주요성과</a:t>
            </a:r>
          </a:p>
        </p:txBody>
      </p:sp>
      <p:sp>
        <p:nvSpPr>
          <p:cNvPr id="37" name="주요성과 문구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AI정수장 국제표준인증 기술위원회 참여완료, 원가 110억원 절감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우수성 인증, 동반성장 기업 기술이전 35건 등 AI 기술 선도</a:t>
            </a:r>
          </a:p>
        </p:txBody>
      </p:sp>
      <p:sp>
        <p:nvSpPr>
          <p:cNvPr id="40" name="레일 태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자원순환 리딩</a:t>
            </a:r>
          </a:p>
        </p:txBody>
      </p:sp>
      <p:sp>
        <p:nvSpPr>
          <p:cNvPr id="41" name="레일 라벨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재생 100%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병입수돗물</a:t>
            </a:r>
          </a:p>
        </p:txBody>
      </p:sp>
      <p:sp>
        <p:nvSpPr>
          <p:cNvPr id="42" name="태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정책</a:t>
            </a:r>
          </a:p>
        </p:txBody>
      </p:sp>
      <p:sp>
        <p:nvSpPr>
          <p:cNvPr id="43" name="태그 설명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재생 원료 의무 사용</a:t>
            </a:r>
          </a:p>
        </p:txBody>
      </p:sp>
      <p:sp>
        <p:nvSpPr>
          <p:cNvPr id="44" name="태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선제적 도입</a:t>
            </a:r>
          </a:p>
        </p:txBody>
      </p:sp>
      <p:sp>
        <p:nvSpPr>
          <p:cNvPr id="45" name="태그 설명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재생 원료 100% 활용</a:t>
            </a:r>
          </a:p>
        </p:txBody>
      </p:sp>
      <p:sp>
        <p:nvSpPr>
          <p:cNvPr id="46" name="단계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시제품 제작 ➡ 검증</a:t>
            </a:r>
          </a:p>
        </p:txBody>
      </p:sp>
      <p:sp>
        <p:nvSpPr>
          <p:cNvPr id="47" name="단계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재생원료 인식조사</a:t>
            </a:r>
          </a:p>
        </p:txBody>
      </p:sp>
      <p:sp>
        <p:nvSpPr>
          <p:cNvPr id="48" name="단계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재생100% 병입수돗물 생산</a:t>
            </a:r>
          </a:p>
        </p:txBody>
      </p:sp>
      <p:sp>
        <p:nvSpPr>
          <p:cNvPr id="51" name="칸 본문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생산·비축 공급 위한 품질 안정성 확인</a:t>
            </a:r>
          </a:p>
        </p:txBody>
      </p:sp>
      <p:sp>
        <p:nvSpPr>
          <p:cNvPr id="52" name="칸 본문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내부직원 대상 시제품 의견 조사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재생 원료 100% 병입 수돗물 생산</a:t>
            </a:r>
          </a:p>
        </p:txBody>
      </p:sp>
      <p:sp>
        <p:nvSpPr>
          <p:cNvPr id="57" name="주요성과 라벨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주요성과</a:t>
            </a:r>
          </a:p>
        </p:txBody>
      </p:sp>
      <p:sp>
        <p:nvSpPr>
          <p:cNvPr id="58" name="주요성과 문구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지정 공공부문 수도사업자 중 재생원료 100% 활용 선도 기관 선정</a:t>
            </a:r>
          </a:p>
        </p:txBody>
      </p:sp>
      <p:sp>
        <p:nvSpPr>
          <p:cNvPr id="61" name="레일 태그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기업성장 응답센터</a:t>
            </a:r>
          </a:p>
        </p:txBody>
      </p:sp>
      <p:sp>
        <p:nvSpPr>
          <p:cNvPr id="62" name="레일 라벨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AI실증랩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기술나눔</a:t>
            </a:r>
          </a:p>
        </p:txBody>
      </p:sp>
      <p:sp>
        <p:nvSpPr>
          <p:cNvPr id="63" name="태그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고민</a:t>
            </a:r>
          </a:p>
        </p:txBody>
      </p:sp>
      <p:sp>
        <p:nvSpPr>
          <p:cNvPr id="64" name="태그 설명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규제보다 무서운 신기술 도입 난제</a:t>
            </a:r>
          </a:p>
        </p:txBody>
      </p:sp>
      <p:sp>
        <p:nvSpPr>
          <p:cNvPr id="65" name="태그"/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노력</a:t>
            </a:r>
          </a:p>
        </p:txBody>
      </p:sp>
      <p:sp>
        <p:nvSpPr>
          <p:cNvPr id="66" name="태그 설명"/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물산업 AI발전 위한 선도역할 수행</a:t>
            </a:r>
          </a:p>
        </p:txBody>
      </p:sp>
      <p:sp>
        <p:nvSpPr>
          <p:cNvPr id="67" name="단계"/>
          <p:cNvSpPr>
            <a:spLocks noGrp="1"/>
          </p:cNvSpPr>
          <p:nvPr>
            <p:ph type="body" sz="quarter" idx="6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디지털 실증랩 구축</a:t>
            </a:r>
          </a:p>
        </p:txBody>
      </p:sp>
      <p:sp>
        <p:nvSpPr>
          <p:cNvPr id="68" name="단계"/>
          <p:cNvSpPr>
            <a:spLocks noGrp="1"/>
          </p:cNvSpPr>
          <p:nvPr>
            <p:ph type="body" sz="quarter" idx="6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 맞춤형 고도화</a:t>
            </a:r>
          </a:p>
        </p:txBody>
      </p:sp>
      <p:sp>
        <p:nvSpPr>
          <p:cNvPr id="69" name="단계"/>
          <p:cNvSpPr>
            <a:spLocks noGrp="1"/>
          </p:cNvSpPr>
          <p:nvPr>
            <p:ph type="body" sz="quarter" idx="6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안정성·시장진출 확보</a:t>
            </a:r>
          </a:p>
        </p:txBody>
      </p:sp>
      <p:sp>
        <p:nvSpPr>
          <p:cNvPr id="72" name="칸 본문"/>
          <p:cNvSpPr>
            <a:spLocks noGrp="1"/>
          </p:cNvSpPr>
          <p:nvPr>
            <p:ph type="body" sz="quarter" idx="6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서비스 플랫폼 활용 실증랩 완성</a:t>
            </a:r>
          </a:p>
        </p:txBody>
      </p:sp>
      <p:sp>
        <p:nvSpPr>
          <p:cNvPr id="73" name="칸 본문"/>
          <p:cNvSpPr>
            <a:spLocks noGrp="1"/>
          </p:cNvSpPr>
          <p:nvPr>
            <p:ph type="body" sz="quarter" idx="6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참여 기업 선정·컨설팅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GPU 자원 할당</a:t>
            </a:r>
          </a:p>
        </p:txBody>
      </p:sp>
      <p:sp>
        <p:nvSpPr>
          <p:cNvPr id="75" name="칸 본문"/>
          <p:cNvSpPr>
            <a:spLocks noGrp="1"/>
          </p:cNvSpPr>
          <p:nvPr>
            <p:ph type="body" sz="quarter" idx="6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개발 환경 안정화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우수 개발성과 지원</a:t>
            </a:r>
          </a:p>
        </p:txBody>
      </p:sp>
      <p:sp>
        <p:nvSpPr>
          <p:cNvPr id="78" name="주요성과 라벨"/>
          <p:cNvSpPr>
            <a:spLocks noGrp="1"/>
          </p:cNvSpPr>
          <p:nvPr>
            <p:ph type="body" sz="quarter" idx="7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주요성과</a:t>
            </a:r>
          </a:p>
        </p:txBody>
      </p:sp>
      <p:sp>
        <p:nvSpPr>
          <p:cNvPr id="79" name="주요성과 문구"/>
          <p:cNvSpPr>
            <a:spLocks noGrp="1"/>
          </p:cNvSpPr>
          <p:nvPr>
            <p:ph type="body" sz="quarter" idx="71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참여기업 SaaS형 플랫폼 제작, 대상 수상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31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5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한 조각의 생각이 만드는 단단한 미래, 20년 혁신챌린지의 재도약</a:t>
            </a:r>
          </a:p>
        </p:txBody>
      </p:sp>
      <p:sp>
        <p:nvSpPr>
          <p:cNvPr id="12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혁신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챌린지</a:t>
            </a:r>
          </a:p>
        </p:txBody>
      </p:sp>
      <p:sp>
        <p:nvSpPr>
          <p:cNvPr id="15" name="배너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’05년 자유 제안에서 시작되어 20년간 고유 ‘자율 혁신’으로 정착</a:t>
            </a:r>
          </a:p>
        </p:txBody>
      </p:sp>
      <p:sp>
        <p:nvSpPr>
          <p:cNvPr id="17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2025년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환경분석</a:t>
            </a:r>
          </a:p>
        </p:txBody>
      </p:sp>
      <p:sp>
        <p:nvSpPr>
          <p:cNvPr id="19" name="칸 제목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새 정부 ‘국정기조’ 반영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국가 발전을 위한 공공의 혁신 노력 강조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국민이 체감할 수 있는 서비스 최우선</a:t>
            </a:r>
          </a:p>
        </p:txBody>
      </p:sp>
      <p:sp>
        <p:nvSpPr>
          <p:cNvPr id="23" name="칸 제목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전문가 ‘혁신발전 제언’</a:t>
            </a:r>
          </a:p>
        </p:txBody>
      </p:sp>
      <p:sp>
        <p:nvSpPr>
          <p:cNvPr id="25" name="사진 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인물 사진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혁신의 질과 양을 높일 수 있는 고민이 필요</a:t>
            </a:r>
          </a:p>
        </p:txBody>
      </p:sp>
      <p:sp>
        <p:nvSpPr>
          <p:cNvPr id="29" name="칸 제목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구성원의 ‘관심과 니즈’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예산·지원 부족 ➡ 실행 지원제도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기대심리 ➡ 성과 보상체계 확대</a:t>
            </a:r>
          </a:p>
        </p:txBody>
      </p:sp>
      <p:sp>
        <p:nvSpPr>
          <p:cNvPr id="34" name="태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추진방향</a:t>
            </a:r>
          </a:p>
        </p:txBody>
      </p:sp>
      <p:sp>
        <p:nvSpPr>
          <p:cNvPr id="35" name="배너 글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혁신이 제대로 작동하여 ‘질과 양을 높이는’ 혁신챌린지 제도 운영</a:t>
            </a:r>
          </a:p>
        </p:txBody>
      </p:sp>
      <p:sp>
        <p:nvSpPr>
          <p:cNvPr id="37" name="레일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혁신의 質</a:t>
            </a:r>
          </a:p>
        </p:txBody>
      </p:sp>
      <p:sp>
        <p:nvSpPr>
          <p:cNvPr id="38" name="단계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</a:t>
            </a:r>
          </a:p>
        </p:txBody>
      </p:sp>
      <p:sp>
        <p:nvSpPr>
          <p:cNvPr id="39" name="단계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① 과제선정의 방향성 제안</a:t>
            </a:r>
          </a:p>
        </p:txBody>
      </p:sp>
      <p:sp>
        <p:nvSpPr>
          <p:cNvPr id="40" name="단계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② 혁신인재 육성·성과 고도화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자율성에 기반을 둔 제도 운영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자율 제안에서 정책 연계 ‘중점 분야’를 설정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중점 분야 52건 발굴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역량교육(6회)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‘Step-Up’ 제도 도입으로 단계 점검</a:t>
            </a:r>
          </a:p>
        </p:txBody>
      </p:sp>
      <p:sp>
        <p:nvSpPr>
          <p:cNvPr id="48" name="레일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혁신의 量</a:t>
            </a:r>
          </a:p>
        </p:txBody>
      </p:sp>
      <p:sp>
        <p:nvSpPr>
          <p:cNvPr id="50" name="단계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</a:t>
            </a:r>
          </a:p>
        </p:txBody>
      </p:sp>
      <p:sp>
        <p:nvSpPr>
          <p:cNvPr id="51" name="단계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① 과제 완성지원 강화</a:t>
            </a:r>
          </a:p>
        </p:txBody>
      </p:sp>
      <p:sp>
        <p:nvSpPr>
          <p:cNvPr id="52" name="단계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② 혁신의 주역에게 명예보상 강화</a:t>
            </a:r>
          </a:p>
        </p:txBody>
      </p:sp>
      <p:sp>
        <p:nvSpPr>
          <p:cNvPr id="55" name="칸 본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지원제도 점검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명예보상 부재</a:t>
            </a:r>
          </a:p>
        </p:txBody>
      </p:sp>
      <p:sp>
        <p:nvSpPr>
          <p:cNvPr id="56" name="칸 본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방향성을 고려한 지원제도 고도화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플랫폼 참여 43팀, 7억원 지원</a:t>
            </a:r>
          </a:p>
        </p:txBody>
      </p:sp>
      <p:sp>
        <p:nvSpPr>
          <p:cNvPr id="58" name="칸 본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‘혁신챌린지 특별승진’ 제도화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1명 특별승진</a:t>
            </a:r>
          </a:p>
        </p:txBody>
      </p:sp>
      <p:sp>
        <p:nvSpPr>
          <p:cNvPr id="61" name="태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62" name="캡션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AI 활용, 국민안전, 공공서비스 향상 등 정책 방향성을 담은 과제 52건 발굴</a:t>
            </a:r>
          </a:p>
        </p:txBody>
      </p:sp>
      <p:sp>
        <p:nvSpPr>
          <p:cNvPr id="64" name="레일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AI·안전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위험제거</a:t>
            </a:r>
          </a:p>
        </p:txBody>
      </p:sp>
      <p:sp>
        <p:nvSpPr>
          <p:cNvPr id="65" name="단계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발밑의 습격</a:t>
            </a:r>
          </a:p>
        </p:txBody>
      </p:sp>
      <p:sp>
        <p:nvSpPr>
          <p:cNvPr id="66" name="단계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기술 활용 위험 제거</a:t>
            </a:r>
          </a:p>
        </p:txBody>
      </p:sp>
      <p:sp>
        <p:nvSpPr>
          <p:cNvPr id="67" name="단계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관로주변 위험 제거</a:t>
            </a:r>
          </a:p>
        </p:txBody>
      </p:sp>
      <p:sp>
        <p:nvSpPr>
          <p:cNvPr id="70" name="칸 본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주요원인은 상·하수관 손상 50.2%</a:t>
            </a:r>
          </a:p>
        </p:txBody>
      </p:sp>
      <p:sp>
        <p:nvSpPr>
          <p:cNvPr id="71" name="칸 본문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침하영향 AI 학습으로 위험등급 시각화</a:t>
            </a:r>
          </a:p>
        </p:txBody>
      </p:sp>
      <p:sp>
        <p:nvSpPr>
          <p:cNvPr id="73" name="칸 본문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44개 지점, 관로 78.5km 시범운영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예측정확도 73.9% 달성</a:t>
            </a:r>
          </a:p>
        </p:txBody>
      </p:sp>
      <p:sp>
        <p:nvSpPr>
          <p:cNvPr id="75" name="칸 본문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사진 자리: 점검 전후</a:t>
            </a:r>
          </a:p>
        </p:txBody>
      </p:sp>
      <p:sp>
        <p:nvSpPr>
          <p:cNvPr id="76" name="사진 칸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77" name="레일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업무효율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예방</a:t>
            </a:r>
          </a:p>
        </p:txBody>
      </p:sp>
      <p:sp>
        <p:nvSpPr>
          <p:cNvPr id="79" name="단계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담당자가 공사 개별 확인</a:t>
            </a:r>
          </a:p>
        </p:txBody>
      </p:sp>
      <p:sp>
        <p:nvSpPr>
          <p:cNvPr id="80" name="단계"/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집중 검토 대상을 한 곳에</a:t>
            </a:r>
          </a:p>
        </p:txBody>
      </p:sp>
      <p:sp>
        <p:nvSpPr>
          <p:cNvPr id="81" name="단계"/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통합플랫폼 구축</a:t>
            </a:r>
          </a:p>
        </p:txBody>
      </p:sp>
      <p:sp>
        <p:nvSpPr>
          <p:cNvPr id="84" name="칸 본문"/>
          <p:cNvSpPr>
            <a:spLocks noGrp="1"/>
          </p:cNvSpPr>
          <p:nvPr>
            <p:ph type="body" sz="quarter" idx="6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도시 개발로 저촉 공사 과다</a:t>
            </a:r>
          </a:p>
        </p:txBody>
      </p:sp>
      <p:sp>
        <p:nvSpPr>
          <p:cNvPr id="85" name="칸 본문"/>
          <p:cNvSpPr>
            <a:spLocks noGrp="1"/>
          </p:cNvSpPr>
          <p:nvPr>
            <p:ph type="body" sz="quarter" idx="6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저촉 여부 판별 시스템 개발</a:t>
            </a:r>
          </a:p>
        </p:txBody>
      </p:sp>
      <p:sp>
        <p:nvSpPr>
          <p:cNvPr id="87" name="칸 본문"/>
          <p:cNvSpPr>
            <a:spLocks noGrp="1"/>
          </p:cNvSpPr>
          <p:nvPr>
            <p:ph type="body" sz="quarter" idx="6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검토시간 83% 단축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안정적 물 공급 실현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32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한 마음으로 이뤄낸 최고의 결실, 청렴도 1위 달성</a:t>
            </a:r>
          </a:p>
        </p:txBody>
      </p:sp>
      <p:sp>
        <p:nvSpPr>
          <p:cNvPr id="9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0" name="번호 띠 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C E O</a:t>
            </a:r>
          </a:p>
        </p:txBody>
      </p:sp>
      <p:sp>
        <p:nvSpPr>
          <p:cNvPr id="13" name="배너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“청렴은 가장 기본, 강력한 내부통제 기반 윤리경영으로 청렴도 제고”(’25 신년사)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환경분석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정부목표 국가청렴도 20위 달성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 반부패 개혁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내부체감 소폭 반등에도 60점대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외부체감 평균 하회</a:t>
            </a:r>
          </a:p>
        </p:txBody>
      </p:sp>
      <p:sp>
        <p:nvSpPr>
          <p:cNvPr id="23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성과분석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(~’24년)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’23년 표준모델 선제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실행조직 발족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한계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본사 중심 활동, 현장 반영 부족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현안과 단기 성과 집중</a:t>
            </a:r>
          </a:p>
        </p:txBody>
      </p:sp>
      <p:sp>
        <p:nvSpPr>
          <p:cNvPr id="33" name="태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34" name="캡션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국민·구성원이 체감 가능한, 청렴위기 극복 위한 뼈를 깎는 노력 필요</a:t>
            </a:r>
          </a:p>
        </p:txBody>
      </p:sp>
      <p:sp>
        <p:nvSpPr>
          <p:cNvPr id="36" name="레일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로 드 맵</a:t>
            </a:r>
          </a:p>
        </p:txBody>
      </p:sp>
      <p:sp>
        <p:nvSpPr>
          <p:cNvPr id="37" name="단계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윤리경영체계 고도화</a:t>
            </a:r>
          </a:p>
        </p:txBody>
      </p:sp>
      <p:sp>
        <p:nvSpPr>
          <p:cNvPr id="38" name="단계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공공 윤리경영 선도</a:t>
            </a:r>
          </a:p>
        </p:txBody>
      </p:sp>
      <p:sp>
        <p:nvSpPr>
          <p:cNvPr id="39" name="단계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’26년~ 지속가능한 윤리경영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CEO 청렴혁신단 구성·운영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내재화·확산, 디지털 내부통제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청렴 최우수기업 지속</a:t>
            </a:r>
          </a:p>
        </p:txBody>
      </p:sp>
      <p:sp>
        <p:nvSpPr>
          <p:cNvPr id="49" name="레일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목 표</a:t>
            </a:r>
          </a:p>
        </p:txBody>
      </p:sp>
      <p:sp>
        <p:nvSpPr>
          <p:cNvPr id="50" name="배너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최고수준의 청렴기관으로서 국민 눈높이에 부합하는 윤리경영 실천</a:t>
            </a:r>
          </a:p>
        </p:txBody>
      </p:sp>
      <p:sp>
        <p:nvSpPr>
          <p:cNvPr id="51" name="레일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추진과제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(표준모델)</a:t>
            </a:r>
          </a:p>
        </p:txBody>
      </p:sp>
      <p:sp>
        <p:nvSpPr>
          <p:cNvPr id="53" name="머리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① 청렴의식 내재화</a:t>
            </a:r>
          </a:p>
        </p:txBody>
      </p:sp>
      <p:sp>
        <p:nvSpPr>
          <p:cNvPr id="54" name="머리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② 현장 중심 리스크관리</a:t>
            </a:r>
          </a:p>
        </p:txBody>
      </p:sp>
      <p:sp>
        <p:nvSpPr>
          <p:cNvPr id="55" name="머리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③ 전문적 모니터링 체계</a:t>
            </a:r>
          </a:p>
        </p:txBody>
      </p:sp>
      <p:sp>
        <p:nvSpPr>
          <p:cNvPr id="56" name="칸 본문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의식확립 청렴의지 전사 전파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관리체계 본사·현장 협력 강화</a:t>
            </a:r>
          </a:p>
        </p:txBody>
      </p:sp>
      <p:sp>
        <p:nvSpPr>
          <p:cNvPr id="57" name="칸 본문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위험식별 현업 위험관리 확산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위험통제 고객체감 통제활동</a:t>
            </a:r>
          </a:p>
        </p:txBody>
      </p:sp>
      <p:sp>
        <p:nvSpPr>
          <p:cNvPr id="59" name="칸 본문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신고제도 내부신고 활성화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모니터링 AI 기술활용</a:t>
            </a:r>
          </a:p>
        </p:txBody>
      </p:sp>
      <p:sp>
        <p:nvSpPr>
          <p:cNvPr id="61" name="레일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추진체계</a:t>
            </a:r>
          </a:p>
        </p:txBody>
      </p:sp>
      <p:sp>
        <p:nvSpPr>
          <p:cNvPr id="62" name="머리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청렴내부통제위원회</a:t>
            </a:r>
          </a:p>
        </p:txBody>
      </p:sp>
      <p:sp>
        <p:nvSpPr>
          <p:cNvPr id="63" name="머리칸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청렴혁신 DRIVE 추진단</a:t>
            </a:r>
          </a:p>
        </p:txBody>
      </p:sp>
      <p:sp>
        <p:nvSpPr>
          <p:cNvPr id="64" name="머리칸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내부통제 3단계 방어선</a:t>
            </a:r>
          </a:p>
        </p:txBody>
      </p:sp>
      <p:sp>
        <p:nvSpPr>
          <p:cNvPr id="65" name="칸 본문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윤리경영 최고 의사결정기구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CEO, 임원, 비상임이사 등</a:t>
            </a:r>
          </a:p>
        </p:txBody>
      </p:sp>
      <p:sp>
        <p:nvSpPr>
          <p:cNvPr id="66" name="칸 본문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청렴혁신활동 전사협의체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3개 분과 26개 개선과제 이행</a:t>
            </a:r>
          </a:p>
        </p:txBody>
      </p:sp>
      <p:sp>
        <p:nvSpPr>
          <p:cNvPr id="68" name="칸 본문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1선 실무부서 자율점검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2선 통제부서 모니터링</a:t>
            </a:r>
          </a:p>
        </p:txBody>
      </p:sp>
      <p:sp>
        <p:nvSpPr>
          <p:cNvPr id="70" name="레일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모니터링</a:t>
            </a:r>
          </a:p>
        </p:txBody>
      </p:sp>
      <p:sp>
        <p:nvSpPr>
          <p:cNvPr id="72" name="단계"/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외부 협력·자문</a:t>
            </a:r>
          </a:p>
        </p:txBody>
      </p:sp>
      <p:sp>
        <p:nvSpPr>
          <p:cNvPr id="73" name="단계"/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내부 소통·확산</a:t>
            </a:r>
          </a:p>
        </p:txBody>
      </p:sp>
      <p:sp>
        <p:nvSpPr>
          <p:cNvPr id="74" name="단계"/>
          <p:cNvSpPr>
            <a:spLocks noGrp="1"/>
          </p:cNvSpPr>
          <p:nvPr>
            <p:ph type="body" sz="quarter" idx="6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진단 및 환류</a:t>
            </a:r>
          </a:p>
        </p:txBody>
      </p:sp>
      <p:sp>
        <p:nvSpPr>
          <p:cNvPr id="77" name="칸 본문"/>
          <p:cNvSpPr>
            <a:spLocks noGrp="1"/>
          </p:cNvSpPr>
          <p:nvPr>
            <p:ph type="body" sz="quarter" idx="6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공기업 청렴협의회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청렴시민감사관</a:t>
            </a:r>
          </a:p>
        </p:txBody>
      </p:sp>
      <p:sp>
        <p:nvSpPr>
          <p:cNvPr id="78" name="칸 본문"/>
          <p:cNvSpPr>
            <a:spLocks noGrp="1"/>
          </p:cNvSpPr>
          <p:nvPr>
            <p:ph type="body" sz="quarter" idx="6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청렴 프로모터 활동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고충 모니터링 담당</a:t>
            </a:r>
          </a:p>
        </p:txBody>
      </p:sp>
      <p:sp>
        <p:nvSpPr>
          <p:cNvPr id="80" name="칸 본문"/>
          <p:cNvSpPr>
            <a:spLocks noGrp="1"/>
          </p:cNvSpPr>
          <p:nvPr>
            <p:ph type="body" sz="quarter" idx="6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 청렴도 평가, 전문가 자문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 윤리자수, 상위직 청렴도</a:t>
            </a:r>
          </a:p>
        </p:txBody>
      </p:sp>
      <p:sp>
        <p:nvSpPr>
          <p:cNvPr id="83" name="성과 라벨"/>
          <p:cNvSpPr>
            <a:spLocks noGrp="1"/>
          </p:cNvSpPr>
          <p:nvPr>
            <p:ph type="body" sz="quarter" idx="6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종합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성과</a:t>
            </a:r>
          </a:p>
        </p:txBody>
      </p:sp>
      <p:sp>
        <p:nvSpPr>
          <p:cNvPr id="84" name="성과 띠"/>
          <p:cNvSpPr>
            <a:spLocks noGrp="1"/>
          </p:cNvSpPr>
          <p:nvPr>
            <p:ph type="body" sz="quarter" idx="6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강도 높은 노력으로 ’25년 종합청렴도 역대 최고 점수, 최초 1등급 결실</a:t>
            </a:r>
          </a:p>
        </p:txBody>
      </p:sp>
      <p:sp>
        <p:nvSpPr>
          <p:cNvPr id="86" name="카드 문구"/>
          <p:cNvSpPr>
            <a:spLocks noGrp="1"/>
          </p:cNvSpPr>
          <p:nvPr>
            <p:ph type="body" sz="quarter" idx="7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종합청렴도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최초 1등급</a:t>
            </a:r>
          </a:p>
        </p:txBody>
      </p:sp>
      <p:sp>
        <p:nvSpPr>
          <p:cNvPr id="88" name="값"/>
          <p:cNvSpPr>
            <a:spLocks noGrp="1"/>
          </p:cNvSpPr>
          <p:nvPr>
            <p:ph type="body" sz="quarter" idx="7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83.3점</a:t>
            </a:r>
          </a:p>
        </p:txBody>
      </p:sp>
      <p:sp>
        <p:nvSpPr>
          <p:cNvPr id="89" name="연도"/>
          <p:cNvSpPr>
            <a:spLocks noGrp="1"/>
          </p:cNvSpPr>
          <p:nvPr>
            <p:ph type="body" sz="quarter" idx="7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’23</a:t>
            </a:r>
          </a:p>
        </p:txBody>
      </p:sp>
      <p:sp>
        <p:nvSpPr>
          <p:cNvPr id="91" name="값"/>
          <p:cNvSpPr>
            <a:spLocks noGrp="1"/>
          </p:cNvSpPr>
          <p:nvPr>
            <p:ph type="body" sz="quarter" idx="7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88.1점</a:t>
            </a:r>
          </a:p>
        </p:txBody>
      </p:sp>
      <p:sp>
        <p:nvSpPr>
          <p:cNvPr id="92" name="연도"/>
          <p:cNvSpPr>
            <a:spLocks noGrp="1"/>
          </p:cNvSpPr>
          <p:nvPr>
            <p:ph type="body" sz="quarter" idx="7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94" name="값"/>
          <p:cNvSpPr>
            <a:spLocks noGrp="1"/>
          </p:cNvSpPr>
          <p:nvPr>
            <p:ph type="body" sz="quarter" idx="7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92.2점</a:t>
            </a:r>
          </a:p>
        </p:txBody>
      </p:sp>
      <p:sp>
        <p:nvSpPr>
          <p:cNvPr id="95" name="연도"/>
          <p:cNvSpPr>
            <a:spLocks noGrp="1"/>
          </p:cNvSpPr>
          <p:nvPr>
            <p:ph type="body" sz="quarter" idx="7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97" name="카드 문구"/>
          <p:cNvSpPr>
            <a:spLocks noGrp="1"/>
          </p:cNvSpPr>
          <p:nvPr>
            <p:ph type="body" sz="quarter" idx="7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청렴체감도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공기업 유일 1등급</a:t>
            </a:r>
          </a:p>
        </p:txBody>
      </p:sp>
      <p:sp>
        <p:nvSpPr>
          <p:cNvPr id="99" name="값"/>
          <p:cNvSpPr>
            <a:spLocks noGrp="1"/>
          </p:cNvSpPr>
          <p:nvPr>
            <p:ph type="body" sz="quarter" idx="7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84.0점</a:t>
            </a:r>
          </a:p>
        </p:txBody>
      </p:sp>
      <p:sp>
        <p:nvSpPr>
          <p:cNvPr id="100" name="연도"/>
          <p:cNvSpPr>
            <a:spLocks noGrp="1"/>
          </p:cNvSpPr>
          <p:nvPr>
            <p:ph type="body" sz="quarter" idx="7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’23</a:t>
            </a:r>
          </a:p>
        </p:txBody>
      </p:sp>
      <p:sp>
        <p:nvSpPr>
          <p:cNvPr id="102" name="값"/>
          <p:cNvSpPr>
            <a:spLocks noGrp="1"/>
          </p:cNvSpPr>
          <p:nvPr>
            <p:ph type="body" sz="quarter" idx="8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85.1점</a:t>
            </a:r>
          </a:p>
        </p:txBody>
      </p:sp>
      <p:sp>
        <p:nvSpPr>
          <p:cNvPr id="103" name="연도"/>
          <p:cNvSpPr>
            <a:spLocks noGrp="1"/>
          </p:cNvSpPr>
          <p:nvPr>
            <p:ph type="body" sz="quarter" idx="8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105" name="값"/>
          <p:cNvSpPr>
            <a:spLocks noGrp="1"/>
          </p:cNvSpPr>
          <p:nvPr>
            <p:ph type="body" sz="quarter" idx="8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91.6점</a:t>
            </a:r>
          </a:p>
        </p:txBody>
      </p:sp>
      <p:sp>
        <p:nvSpPr>
          <p:cNvPr id="106" name="연도"/>
          <p:cNvSpPr>
            <a:spLocks noGrp="1"/>
          </p:cNvSpPr>
          <p:nvPr>
            <p:ph type="body" sz="quarter" idx="8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108" name="카드 문구"/>
          <p:cNvSpPr>
            <a:spLocks noGrp="1"/>
          </p:cNvSpPr>
          <p:nvPr>
            <p:ph type="body" sz="quarter" idx="8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외부기관 부패적발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2년 연속 Zero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33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CEO의 윤리의지가 전사에 스며들고, 실행되도록 추진력 확보</a:t>
            </a:r>
          </a:p>
        </p:txBody>
      </p:sp>
      <p:sp>
        <p:nvSpPr>
          <p:cNvPr id="12" name="번호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13" name="분야 박스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의식확립</a:t>
            </a:r>
          </a:p>
        </p:txBody>
      </p:sp>
      <p:sp>
        <p:nvSpPr>
          <p:cNvPr id="15" name="소제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선언적 구호 탈피, ‘CEO＋청렴 프로모터’가 전사 공감 형성</a:t>
            </a:r>
          </a:p>
        </p:txBody>
      </p:sp>
      <p:sp>
        <p:nvSpPr>
          <p:cNvPr id="16" name="태그칩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7" name="태그칩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9" name="레일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경영진의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강력한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의지가</a:t>
            </a:r>
          </a:p>
        </p:txBody>
      </p:sp>
      <p:sp>
        <p:nvSpPr>
          <p:cNvPr id="20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CEO 의지 표명과 지원</a:t>
            </a:r>
          </a:p>
        </p:txBody>
      </p:sp>
      <p:sp>
        <p:nvSpPr>
          <p:cNvPr id="21" name="머리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상위직 특별 교육 및 규정 강화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“청렴과 안전 최우선 가치로…”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“솔선수범”(전사회의)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특강 확대(연 1회→연 2회)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직무청렴계약 규정 개정 추진중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청렴실천 확산 노사 공동 핵심가치 선언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상위직 청렴의무 위반 징계 Zero</a:t>
            </a:r>
          </a:p>
        </p:txBody>
      </p:sp>
      <p:sp>
        <p:nvSpPr>
          <p:cNvPr id="28" name="레일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전직원에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닿도록</a:t>
            </a:r>
          </a:p>
        </p:txBody>
      </p:sp>
      <p:sp>
        <p:nvSpPr>
          <p:cNvPr id="30" name="배너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워킹그룹 ‘청렴 프로모터’ 출범, 전국 곳곳으로 의지·개선과제 전파</a:t>
            </a:r>
          </a:p>
        </p:txBody>
      </p:sp>
      <p:sp>
        <p:nvSpPr>
          <p:cNvPr id="31" name="단계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직원 참여</a:t>
            </a:r>
          </a:p>
        </p:txBody>
      </p:sp>
      <p:sp>
        <p:nvSpPr>
          <p:cNvPr id="32" name="단계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필요한 교육</a:t>
            </a:r>
          </a:p>
        </p:txBody>
      </p:sp>
      <p:sp>
        <p:nvSpPr>
          <p:cNvPr id="33" name="단계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공감 소통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‘우리부서 청렴 루틴’ 도출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직군·직급별 맞춤형 교육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다양한 직급 직접 소통</a:t>
            </a:r>
          </a:p>
        </p:txBody>
      </p:sp>
      <p:sp>
        <p:nvSpPr>
          <p:cNvPr id="41" name="배너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“같은 업무고민을 하는 직원이 청렴교육을 하니 더욱 와닿아” – 사후설문 응답</a:t>
            </a:r>
          </a:p>
        </p:txBody>
      </p:sp>
      <p:sp>
        <p:nvSpPr>
          <p:cNvPr id="43" name="성과 라벨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성과</a:t>
            </a:r>
          </a:p>
        </p:txBody>
      </p:sp>
      <p:sp>
        <p:nvSpPr>
          <p:cNvPr id="44" name="성과 띠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구성원 청렴 공감 형성으로 정부평가 우수 성과 획득</a:t>
            </a:r>
          </a:p>
        </p:txBody>
      </p:sp>
      <p:sp>
        <p:nvSpPr>
          <p:cNvPr id="46" name="카드 문구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청렴노력도 평가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4등급 ➡ 1등급, 만점 획득</a:t>
            </a:r>
          </a:p>
        </p:txBody>
      </p:sp>
      <p:sp>
        <p:nvSpPr>
          <p:cNvPr id="48" name="값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4등급</a:t>
            </a:r>
          </a:p>
        </p:txBody>
      </p:sp>
      <p:sp>
        <p:nvSpPr>
          <p:cNvPr id="49" name="연도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51" name="값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1등급</a:t>
            </a:r>
          </a:p>
        </p:txBody>
      </p:sp>
      <p:sp>
        <p:nvSpPr>
          <p:cNvPr id="52" name="연도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54" name="카드 문구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산하기관 내부체감도 1위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평균대비 20.1점 상회</a:t>
            </a:r>
          </a:p>
        </p:txBody>
      </p:sp>
      <p:sp>
        <p:nvSpPr>
          <p:cNvPr id="56" name="값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59.6점</a:t>
            </a:r>
          </a:p>
        </p:txBody>
      </p:sp>
      <p:sp>
        <p:nvSpPr>
          <p:cNvPr id="57" name="연도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평균</a:t>
            </a:r>
          </a:p>
        </p:txBody>
      </p:sp>
      <p:sp>
        <p:nvSpPr>
          <p:cNvPr id="59" name="값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79.7점</a:t>
            </a:r>
          </a:p>
        </p:txBody>
      </p:sp>
      <p:sp>
        <p:nvSpPr>
          <p:cNvPr id="60" name="연도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우리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34</a:t>
            </a:r>
          </a:p>
        </p:txBody>
      </p:sp>
      <p:sp>
        <p:nvSpPr>
          <p:cNvPr id="4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5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관리체계</a:t>
            </a:r>
          </a:p>
        </p:txBody>
      </p:sp>
      <p:sp>
        <p:nvSpPr>
          <p:cNvPr id="7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위원회가 의결, 청렴혁신 추진단이 실행</a:t>
            </a:r>
          </a:p>
        </p:txBody>
      </p:sp>
      <p:sp>
        <p:nvSpPr>
          <p:cNvPr id="8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강력한 내부통제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감사원 내부통제 운영 미흡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윤리경영 관리 전문역량 높여 위상 제고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이해관계자 공감 윤리문화 내재화</a:t>
            </a:r>
          </a:p>
        </p:txBody>
      </p:sp>
      <p:sp>
        <p:nvSpPr>
          <p:cNvPr id="16" name="레일 태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의결기구</a:t>
            </a:r>
          </a:p>
        </p:txBody>
      </p:sp>
      <p:sp>
        <p:nvSpPr>
          <p:cNvPr id="17" name="레일 라벨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외부위원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참여보장</a:t>
            </a:r>
          </a:p>
        </p:txBody>
      </p:sp>
      <p:sp>
        <p:nvSpPr>
          <p:cNvPr id="19" name="배너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견제와 균형 원칙에 따른 CEO의 결단, 최고 의결기구에 독립성과 전문성 확보</a:t>
            </a:r>
          </a:p>
        </p:txBody>
      </p:sp>
      <p:sp>
        <p:nvSpPr>
          <p:cNvPr id="20" name="단계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CEO 제언</a:t>
            </a:r>
          </a:p>
        </p:txBody>
      </p:sp>
      <p:sp>
        <p:nvSpPr>
          <p:cNvPr id="21" name="단계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외부위원 추가 선임</a:t>
            </a:r>
          </a:p>
        </p:txBody>
      </p:sp>
      <p:sp>
        <p:nvSpPr>
          <p:cNvPr id="22" name="단계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 실적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“나도 견제 받을 수 있게 외부위원이 직접 참여”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비상임이사 2명 외부위원 참여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안건 의견 보완 및 의결(5건)</a:t>
            </a:r>
          </a:p>
        </p:txBody>
      </p:sp>
      <p:sp>
        <p:nvSpPr>
          <p:cNvPr id="31" name="레일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전사확산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가속화</a:t>
            </a:r>
          </a:p>
        </p:txBody>
      </p:sp>
      <p:sp>
        <p:nvSpPr>
          <p:cNvPr id="33" name="칸 제목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구성 현장부서 참여로 체감·파급력 향상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CEO＋기획 상임이사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본사(18개)·현장(5개) 참여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참여부서 확대(14→23개 부서)</a:t>
            </a:r>
          </a:p>
        </p:txBody>
      </p:sp>
      <p:sp>
        <p:nvSpPr>
          <p:cNvPr id="37" name="칸 제목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제도화 단발성 개선이 아닌 시스템으로 정착</a:t>
            </a:r>
          </a:p>
        </p:txBody>
      </p:sp>
      <p:sp>
        <p:nvSpPr>
          <p:cNvPr id="39" name="사진 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도해 자리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토지보상·조직개편·건설공사·수도보수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청렴혁신 추진단 중심 시스템화</a:t>
            </a:r>
          </a:p>
        </p:txBody>
      </p:sp>
      <p:sp>
        <p:nvSpPr>
          <p:cNvPr id="43" name="핵심성과 라벨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4" name="핵심성과 문구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탄탄한 윤리경영 체계로 권익위 청렴노력도 공사 최고 94.7점 달성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부패 취약분야 집중개선 대표사례 수행기관 중 1위 획득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35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전 부서 ‘위험관리’를 통한 핵심위험 선정, 체감가능한 개선 이행</a:t>
            </a:r>
          </a:p>
        </p:txBody>
      </p:sp>
      <p:sp>
        <p:nvSpPr>
          <p:cNvPr id="12" name="번호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13" name="분야 박스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위험식별</a:t>
            </a:r>
          </a:p>
        </p:txBody>
      </p:sp>
      <p:sp>
        <p:nvSpPr>
          <p:cNvPr id="15" name="소제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현장 곳곳에 숨은 위험이 없도록 더 넓고 확실하게 예방</a:t>
            </a:r>
          </a:p>
        </p:txBody>
      </p:sp>
      <p:sp>
        <p:nvSpPr>
          <p:cNvPr id="16" name="태그칩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8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더 많은 부서 위험관리 필요(’24년 권고)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현업부서 위험 관리 프로세스 확대</a:t>
            </a:r>
          </a:p>
        </p:txBody>
      </p:sp>
      <p:sp>
        <p:nvSpPr>
          <p:cNvPr id="22" name="레일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현장에서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답을 찾아</a:t>
            </a:r>
          </a:p>
        </p:txBody>
      </p:sp>
      <p:sp>
        <p:nvSpPr>
          <p:cNvPr id="24" name="머리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 눈높이에 맞추고</a:t>
            </a:r>
          </a:p>
        </p:txBody>
      </p:sp>
      <p:sp>
        <p:nvSpPr>
          <p:cNvPr id="25" name="머리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고객 목소리를 귀담아</a:t>
            </a:r>
          </a:p>
        </p:txBody>
      </p:sp>
      <p:sp>
        <p:nvSpPr>
          <p:cNvPr id="26" name="머리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직원과 함께 위험을 감지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 의견수렴(’25.5, 1천명)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윤리실천 의지 표명(’25.9)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고객 청렴도 진단(’25.4, 2천명)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자회사 청렴도 조사(반기)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내부통제 실무협의회(38명)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위험관리 파트너 양성(13명)</a:t>
            </a:r>
          </a:p>
        </p:txBody>
      </p:sp>
      <p:sp>
        <p:nvSpPr>
          <p:cNvPr id="32" name="레일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위험을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경감하고</a:t>
            </a:r>
          </a:p>
        </p:txBody>
      </p:sp>
      <p:sp>
        <p:nvSpPr>
          <p:cNvPr id="33" name="단계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부서별 위험식별</a:t>
            </a:r>
          </a:p>
        </p:txBody>
      </p:sp>
      <p:sp>
        <p:nvSpPr>
          <p:cNvPr id="34" name="단계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위험수준 평가</a:t>
            </a:r>
          </a:p>
        </p:txBody>
      </p:sp>
      <p:sp>
        <p:nvSpPr>
          <p:cNvPr id="35" name="단계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위험수준별 경감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위험관리 프로세스 전부서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’23년 32개 → ’25년 전부서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고유위험 1,243개 식별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 평가기준 상향 조정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영향력 4점 이상 고위험 분류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13대 위험 유형 선정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고위험 통제활동 이행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중위험 교차심사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저위험 자체점검(상시)</a:t>
            </a:r>
          </a:p>
        </p:txBody>
      </p:sp>
      <p:sp>
        <p:nvSpPr>
          <p:cNvPr id="43" name="레일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핵심위험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선 정</a:t>
            </a:r>
          </a:p>
        </p:txBody>
      </p:sp>
      <p:sp>
        <p:nvSpPr>
          <p:cNvPr id="45" name="태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핵심</a:t>
            </a:r>
          </a:p>
        </p:txBody>
      </p:sp>
      <p:sp>
        <p:nvSpPr>
          <p:cNvPr id="46" name="태그 설명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외부고객 관련 위험(2개)을 추가 선정한 ’25년 7대 핵심 윤리위험 선정</a:t>
            </a:r>
          </a:p>
        </p:txBody>
      </p:sp>
      <p:sp>
        <p:nvSpPr>
          <p:cNvPr id="47" name="태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내부</a:t>
            </a:r>
          </a:p>
        </p:txBody>
      </p:sp>
      <p:sp>
        <p:nvSpPr>
          <p:cNvPr id="48" name="태그 설명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특혜제공 · 예산낭비 · 회계부정 · 정보보안 / 외부 소극행정 · 갑질행위 / 자회사 운영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36</a:t>
            </a:r>
          </a:p>
        </p:txBody>
      </p:sp>
      <p:sp>
        <p:nvSpPr>
          <p:cNvPr id="4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5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통제활동</a:t>
            </a:r>
          </a:p>
        </p:txBody>
      </p:sp>
      <p:sp>
        <p:nvSpPr>
          <p:cNvPr id="7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구성원과 고객이 실제 체감할 수 있는 부패저감 활동</a:t>
            </a:r>
          </a:p>
        </p:txBody>
      </p:sp>
      <p:sp>
        <p:nvSpPr>
          <p:cNvPr id="8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1" name="태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내부 임직원</a:t>
            </a:r>
          </a:p>
        </p:txBody>
      </p:sp>
      <p:sp>
        <p:nvSpPr>
          <p:cNvPr id="12" name="그룹 제목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직원이 직접 마주하는 인사·복지 등 부패위험 통제, 제도 전면 개선</a:t>
            </a:r>
          </a:p>
        </p:txBody>
      </p:sp>
      <p:sp>
        <p:nvSpPr>
          <p:cNvPr id="15" name="태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특혜제공</a:t>
            </a:r>
          </a:p>
        </p:txBody>
      </p:sp>
      <p:sp>
        <p:nvSpPr>
          <p:cNvPr id="16" name="카드 제목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객관적 인사운영으로 특혜 차단</a:t>
            </a:r>
          </a:p>
        </p:txBody>
      </p:sp>
      <p:sp>
        <p:nvSpPr>
          <p:cNvPr id="17" name="카드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승진 시험제도, 직무 중심 인사평가 도입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전사 TF, 설명회 등 점진적 조성</a:t>
            </a:r>
          </a:p>
        </p:txBody>
      </p:sp>
      <p:sp>
        <p:nvSpPr>
          <p:cNvPr id="18" name="도표 제목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내부체감도</a:t>
            </a:r>
          </a:p>
        </p:txBody>
      </p:sp>
      <p:sp>
        <p:nvSpPr>
          <p:cNvPr id="20" name="값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56.0점</a:t>
            </a:r>
          </a:p>
        </p:txBody>
      </p:sp>
      <p:sp>
        <p:nvSpPr>
          <p:cNvPr id="21" name="연도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23" name="값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86.3점</a:t>
            </a:r>
          </a:p>
        </p:txBody>
      </p:sp>
      <p:sp>
        <p:nvSpPr>
          <p:cNvPr id="24" name="연도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27" name="태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예산낭비</a:t>
            </a:r>
          </a:p>
        </p:txBody>
      </p:sp>
      <p:sp>
        <p:nvSpPr>
          <p:cNvPr id="28" name="카드 제목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관행적 복지예산 집행 효율화</a:t>
            </a:r>
          </a:p>
        </p:txBody>
      </p:sp>
      <p:sp>
        <p:nvSpPr>
          <p:cNvPr id="29" name="카드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모바일 특근 식권제도 전면 도입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노조 합동설명회 등 갈등 극복</a:t>
            </a:r>
          </a:p>
        </p:txBody>
      </p:sp>
      <p:sp>
        <p:nvSpPr>
          <p:cNvPr id="30" name="요약 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예산 절감 5억원</a:t>
            </a:r>
          </a:p>
        </p:txBody>
      </p:sp>
      <p:sp>
        <p:nvSpPr>
          <p:cNvPr id="32" name="태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❸ 회계부정</a:t>
            </a:r>
          </a:p>
        </p:txBody>
      </p:sp>
      <p:sp>
        <p:nvSpPr>
          <p:cNvPr id="33" name="카드 제목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회계투명성 강화 관리체계 구축</a:t>
            </a:r>
          </a:p>
        </p:txBody>
      </p:sp>
      <p:sp>
        <p:nvSpPr>
          <p:cNvPr id="34" name="카드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교육 유형별 교육, 관리자교육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지침 해외 경비정산 가이드 신설</a:t>
            </a:r>
          </a:p>
        </p:txBody>
      </p:sp>
      <p:sp>
        <p:nvSpPr>
          <p:cNvPr id="35" name="도표 제목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점검대상</a:t>
            </a:r>
          </a:p>
        </p:txBody>
      </p:sp>
      <p:sp>
        <p:nvSpPr>
          <p:cNvPr id="37" name="값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상</a:t>
            </a:r>
          </a:p>
        </p:txBody>
      </p:sp>
      <p:sp>
        <p:nvSpPr>
          <p:cNvPr id="38" name="연도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상</a:t>
            </a:r>
          </a:p>
        </p:txBody>
      </p:sp>
      <p:sp>
        <p:nvSpPr>
          <p:cNvPr id="40" name="값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24%↓</a:t>
            </a:r>
          </a:p>
        </p:txBody>
      </p:sp>
      <p:sp>
        <p:nvSpPr>
          <p:cNvPr id="41" name="연도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하</a:t>
            </a:r>
          </a:p>
        </p:txBody>
      </p:sp>
      <p:sp>
        <p:nvSpPr>
          <p:cNvPr id="44" name="태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❹ 정보보안</a:t>
            </a:r>
          </a:p>
        </p:txBody>
      </p:sp>
      <p:sp>
        <p:nvSpPr>
          <p:cNvPr id="45" name="카드 제목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기록물 유출 없는 환경 조성</a:t>
            </a:r>
          </a:p>
        </p:txBody>
      </p:sp>
      <p:sp>
        <p:nvSpPr>
          <p:cNvPr id="46" name="카드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정보보호 중장기 전략수립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민감정보 가명화·합성데이터 생성</a:t>
            </a:r>
          </a:p>
        </p:txBody>
      </p:sp>
      <p:sp>
        <p:nvSpPr>
          <p:cNvPr id="47" name="요약 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기록관리 평가 9년 연속 최고등급</a:t>
            </a:r>
          </a:p>
        </p:txBody>
      </p:sp>
      <p:sp>
        <p:nvSpPr>
          <p:cNvPr id="49" name="태그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외부 고객</a:t>
            </a:r>
          </a:p>
        </p:txBody>
      </p:sp>
      <p:sp>
        <p:nvSpPr>
          <p:cNvPr id="50" name="그룹 제목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고객이 불편하고 불안한 요인을 선제적으로 해소</a:t>
            </a:r>
          </a:p>
        </p:txBody>
      </p:sp>
      <p:sp>
        <p:nvSpPr>
          <p:cNvPr id="53" name="태그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❺ 소극행정</a:t>
            </a:r>
          </a:p>
        </p:txBody>
      </p:sp>
      <p:sp>
        <p:nvSpPr>
          <p:cNvPr id="54" name="카드 제목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토지보상 고객 불편 해소</a:t>
            </a:r>
          </a:p>
        </p:txBody>
      </p:sp>
      <p:sp>
        <p:nvSpPr>
          <p:cNvPr id="55" name="카드 본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아날로그 업무, 체감도 하락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디지털 전환 ➡ 실시간 서비스</a:t>
            </a:r>
          </a:p>
        </p:txBody>
      </p:sp>
      <p:sp>
        <p:nvSpPr>
          <p:cNvPr id="56" name="도표 제목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외부체감도</a:t>
            </a:r>
          </a:p>
        </p:txBody>
      </p:sp>
      <p:sp>
        <p:nvSpPr>
          <p:cNvPr id="58" name="값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79.1점</a:t>
            </a:r>
          </a:p>
        </p:txBody>
      </p:sp>
      <p:sp>
        <p:nvSpPr>
          <p:cNvPr id="59" name="연도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61" name="값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92.4점</a:t>
            </a:r>
          </a:p>
        </p:txBody>
      </p:sp>
      <p:sp>
        <p:nvSpPr>
          <p:cNvPr id="62" name="연도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65" name="태그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❻ 갑질행위</a:t>
            </a:r>
          </a:p>
        </p:txBody>
      </p:sp>
      <p:sp>
        <p:nvSpPr>
          <p:cNvPr id="66" name="카드 제목"/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갑질예방 프로세스 개선</a:t>
            </a:r>
          </a:p>
        </p:txBody>
      </p:sp>
      <p:sp>
        <p:nvSpPr>
          <p:cNvPr id="67" name="카드 본문"/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전방위 갑질근절 대책 수립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하도급실태 점검, 불공정 계약 개선</a:t>
            </a:r>
          </a:p>
        </p:txBody>
      </p:sp>
      <p:sp>
        <p:nvSpPr>
          <p:cNvPr id="68" name="도표 제목"/>
          <p:cNvSpPr>
            <a:spLocks noGrp="1"/>
          </p:cNvSpPr>
          <p:nvPr>
            <p:ph type="body" sz="quarter" idx="6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외부체감도</a:t>
            </a:r>
          </a:p>
        </p:txBody>
      </p:sp>
      <p:sp>
        <p:nvSpPr>
          <p:cNvPr id="70" name="값"/>
          <p:cNvSpPr>
            <a:spLocks noGrp="1"/>
          </p:cNvSpPr>
          <p:nvPr>
            <p:ph type="body" sz="quarter" idx="6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96.2점</a:t>
            </a:r>
          </a:p>
        </p:txBody>
      </p:sp>
      <p:sp>
        <p:nvSpPr>
          <p:cNvPr id="71" name="연도"/>
          <p:cNvSpPr>
            <a:spLocks noGrp="1"/>
          </p:cNvSpPr>
          <p:nvPr>
            <p:ph type="body" sz="quarter" idx="6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73" name="값"/>
          <p:cNvSpPr>
            <a:spLocks noGrp="1"/>
          </p:cNvSpPr>
          <p:nvPr>
            <p:ph type="body" sz="quarter" idx="6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98.0점</a:t>
            </a:r>
          </a:p>
        </p:txBody>
      </p:sp>
      <p:sp>
        <p:nvSpPr>
          <p:cNvPr id="74" name="연도"/>
          <p:cNvSpPr>
            <a:spLocks noGrp="1"/>
          </p:cNvSpPr>
          <p:nvPr>
            <p:ph type="body" sz="quarter" idx="6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37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신고채널은 집중적으로, 모니터링은 전문화하여 실효적 윤리경영</a:t>
            </a:r>
          </a:p>
        </p:txBody>
      </p:sp>
      <p:sp>
        <p:nvSpPr>
          <p:cNvPr id="12" name="번호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13" name="분야 박스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신고제도</a:t>
            </a:r>
          </a:p>
        </p:txBody>
      </p:sp>
      <p:sp>
        <p:nvSpPr>
          <p:cNvPr id="15" name="소제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부정행위에는 한 치의 망설임 없이 쉽고 안전한 신고로 대응</a:t>
            </a:r>
          </a:p>
        </p:txBody>
      </p:sp>
      <p:sp>
        <p:nvSpPr>
          <p:cNvPr id="16" name="태그칩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8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환경분석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및 진단</a:t>
            </a:r>
          </a:p>
        </p:txBody>
      </p:sp>
      <p:sp>
        <p:nvSpPr>
          <p:cNvPr id="19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환경분석 및 진단</a:t>
            </a:r>
          </a:p>
        </p:txBody>
      </p:sp>
      <p:sp>
        <p:nvSpPr>
          <p:cNvPr id="20" name="단계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개선과제 도출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직원설문 다양한 신고채널 사용 어려움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감사 처분 결과 징계 발생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홍보강화 신고제도 홍보·효과성 제고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특별신고 제보 의존 탈피</a:t>
            </a:r>
          </a:p>
        </p:txBody>
      </p:sp>
      <p:sp>
        <p:nvSpPr>
          <p:cNvPr id="27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신고는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 심</a:t>
            </a:r>
          </a:p>
        </p:txBody>
      </p:sp>
      <p:sp>
        <p:nvSpPr>
          <p:cNvPr id="28" name="머리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내·외부 신고채널 일원화</a:t>
            </a:r>
          </a:p>
        </p:txBody>
      </p:sp>
      <p:sp>
        <p:nvSpPr>
          <p:cNvPr id="29" name="머리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내부신고 오해와 불신 해소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다양한 신고채널 카카오톡 통합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포스터, QR 등 고객 홍보 강화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기관 특성 반영 신고 모의훈련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자진신고 인센티브 및 예방감시관 운영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통합신고채널 가입자 1.4배 증가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신고 접근성 제고 및 신뢰 상승</a:t>
            </a:r>
          </a:p>
        </p:txBody>
      </p:sp>
      <p:sp>
        <p:nvSpPr>
          <p:cNvPr id="36" name="레일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자정기능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작동에는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진 심</a:t>
            </a:r>
          </a:p>
        </p:txBody>
      </p:sp>
      <p:sp>
        <p:nvSpPr>
          <p:cNvPr id="38" name="머리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취약분야 특화 신고채널</a:t>
            </a:r>
          </a:p>
        </p:txBody>
      </p:sp>
      <p:sp>
        <p:nvSpPr>
          <p:cNvPr id="39" name="머리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전직원 및 고객 무기명 특별신고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배경 ’24년 우호적 인사평가 강요 사건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평가질서 저해 단독신고 채널 운영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취약시기 SMS 발송 익명신고 접수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 위탁 설문조사로 비밀 보장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경각심 제고로 유사 부정행위 Zero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23건 신고 접수, 정식 조사 전환 3건</a:t>
            </a:r>
          </a:p>
        </p:txBody>
      </p:sp>
      <p:sp>
        <p:nvSpPr>
          <p:cNvPr id="47" name="핵심성과 라벨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8" name="핵심성과 문구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권익위 부패방지시책 평가 ‘신고자 보호 노력’ 90.9점으로 대폭 상승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신뢰경영지수 조사 결과 ‘공정성’ 5점 상승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38</a:t>
            </a:r>
          </a:p>
        </p:txBody>
      </p:sp>
      <p:sp>
        <p:nvSpPr>
          <p:cNvPr id="4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5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모니터링</a:t>
            </a:r>
          </a:p>
        </p:txBody>
      </p:sp>
      <p:sp>
        <p:nvSpPr>
          <p:cNvPr id="7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디지털 기술과 전문가가 점검하는 지속가능한 윤리경영</a:t>
            </a:r>
          </a:p>
        </p:txBody>
      </p:sp>
      <p:sp>
        <p:nvSpPr>
          <p:cNvPr id="8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1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자체점검 윤리경영 체계 자체 모니터링 객관성·신뢰성 확보 한계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디지털 활용 감사 고도화 및 대외 전문가 시각 반영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AI 활용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선진감사</a:t>
            </a:r>
          </a:p>
        </p:txBody>
      </p:sp>
      <p:sp>
        <p:nvSpPr>
          <p:cNvPr id="16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공기업 최초 디지털 기반 감사기법 연구</a:t>
            </a:r>
          </a:p>
        </p:txBody>
      </p:sp>
      <p:sp>
        <p:nvSpPr>
          <p:cNvPr id="17" name="머리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추진실적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내부감사 전주기 AI 활용체계 마련</a:t>
            </a:r>
          </a:p>
        </p:txBody>
      </p:sp>
      <p:graphicFrame>
        <p:nvGraphicFramePr>
          <p:cNvPr id="19" name="인라인 표"/>
          <p:cNvGraphicFramePr>
            <a:graphicFrameLocks noGrp="1"/>
          </p:cNvGraphicFramePr>
          <p:nvPr/>
        </p:nvGraphicFramePr>
        <p:xfrm>
          <a:off x="1391478" y="1965443"/>
          <a:ext cx="3177392" cy="624522"/>
        </p:xfrm>
        <a:graphic>
          <a:graphicData uri="http://schemas.openxmlformats.org/drawingml/2006/table">
            <a:tbl>
              <a:tblPr/>
              <a:tblGrid>
                <a:gridCol w="766957"/>
                <a:gridCol w="1424348"/>
                <a:gridCol w="986087"/>
              </a:tblGrid>
              <a:tr h="208174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기존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개선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효과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</a:tr>
              <a:tr h="208174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표본조사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데이터 기반 전수조사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리스크 누락 예방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08174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사후적발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패턴분석, 이상 감지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객관성 확보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0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감사연구원 논문 게재(’25.12)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활용사례 벤치마킹 등 타 기관 확산</a:t>
            </a:r>
          </a:p>
        </p:txBody>
      </p:sp>
      <p:sp>
        <p:nvSpPr>
          <p:cNvPr id="22" name="레일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위험관리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 문 화</a:t>
            </a:r>
          </a:p>
        </p:txBody>
      </p:sp>
      <p:sp>
        <p:nvSpPr>
          <p:cNvPr id="24" name="머리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ISO 국제표준 기반 모니터링</a:t>
            </a:r>
          </a:p>
        </p:txBody>
      </p:sp>
      <p:sp>
        <p:nvSpPr>
          <p:cNvPr id="25" name="머리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전문가 내부통제 고도화 컨설팅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부패방지·규범준수경영 국제표준 점검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대표사례 위험관리 내부심사원 선발(13명)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전문기관 내부통제 수준 진단, 개선 발굴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대표사례 부패위험 범위 확대·규정 개정</a:t>
            </a:r>
          </a:p>
        </p:txBody>
      </p:sp>
      <p:sp>
        <p:nvSpPr>
          <p:cNvPr id="30" name="핵심성과 라벨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1" name="핵심성과 문구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대외인정 ISO 37001·37301 통합인증(’25.10)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대내효과 자체 설문조사 결과 ‘내부통제 효과성’ 긍정적 인식 94.5%</a:t>
            </a: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39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더 촘촘하고 더 확실한 다층적 이해충돌 예방체계 구축</a:t>
            </a:r>
          </a:p>
        </p:txBody>
      </p:sp>
      <p:sp>
        <p:nvSpPr>
          <p:cNvPr id="13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인식수준 진단, 취약분야 선제적 관리 등 맞춤형 개선방향 수립</a:t>
            </a:r>
          </a:p>
        </p:txBody>
      </p:sp>
      <p:sp>
        <p:nvSpPr>
          <p:cNvPr id="14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환경분석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신유형 부패 통제로 국민 신뢰 확보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공직자 사적 이해관계 실효적 관리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이해충돌 징계 처분 발생(’24년)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‘법 인식 수준’ 저조(53점)</a:t>
            </a:r>
          </a:p>
        </p:txBody>
      </p:sp>
      <p:sp>
        <p:nvSpPr>
          <p:cNvPr id="24" name="레일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로 드 맵</a:t>
            </a:r>
          </a:p>
        </p:txBody>
      </p:sp>
      <p:sp>
        <p:nvSpPr>
          <p:cNvPr id="26" name="단계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도입기(’21~’23년)</a:t>
            </a:r>
          </a:p>
        </p:txBody>
      </p:sp>
      <p:sp>
        <p:nvSpPr>
          <p:cNvPr id="27" name="단계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성숙기(’24년)</a:t>
            </a:r>
          </a:p>
        </p:txBody>
      </p:sp>
      <p:sp>
        <p:nvSpPr>
          <p:cNvPr id="28" name="단계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확산기(’25년~)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충돌방지 시스템 구축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이행체계·제도 고도화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이해충돌방지법 준수 일상화</a:t>
            </a:r>
          </a:p>
        </p:txBody>
      </p:sp>
      <p:sp>
        <p:nvSpPr>
          <p:cNvPr id="36" name="레일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추진과제</a:t>
            </a:r>
          </a:p>
        </p:txBody>
      </p:sp>
      <p:sp>
        <p:nvSpPr>
          <p:cNvPr id="38" name="단계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자율적 내부통제 전환</a:t>
            </a:r>
          </a:p>
        </p:txBody>
      </p:sp>
      <p:sp>
        <p:nvSpPr>
          <p:cNvPr id="39" name="단계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취약분야 발굴 및 해소</a:t>
            </a:r>
          </a:p>
        </p:txBody>
      </p:sp>
      <p:sp>
        <p:nvSpPr>
          <p:cNvPr id="40" name="단계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전직원 인식 확산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대응체계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자율규율 행위규범 내재화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리스크 기반 취약요소 발굴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원인분석 및 개선 조치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이해충돌 정보 공유 지속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생애주기 맞춤형 교육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40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이해충돌방지법이 일상에 스며들도록 자율적 예방체계 운영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7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9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0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구체적 상황 제도 적용 미흡, 지속 모니터링 필요</a:t>
            </a:r>
          </a:p>
        </p:txBody>
      </p:sp>
      <p:sp>
        <p:nvSpPr>
          <p:cNvPr id="11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구성원 주도 예방체계로 사전 예방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인식 강화 및 예방문화 정착</a:t>
            </a:r>
          </a:p>
        </p:txBody>
      </p:sp>
      <p:sp>
        <p:nvSpPr>
          <p:cNvPr id="14" name="레일 태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자율점검</a:t>
            </a:r>
          </a:p>
        </p:txBody>
      </p:sp>
      <p:sp>
        <p:nvSpPr>
          <p:cNvPr id="15" name="레일 라벨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현장중심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자율예방</a:t>
            </a:r>
          </a:p>
        </p:txBody>
      </p:sp>
      <p:sp>
        <p:nvSpPr>
          <p:cNvPr id="17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다층적 이해충돌 내부통제 구조</a:t>
            </a:r>
          </a:p>
        </p:txBody>
      </p:sp>
      <p:sp>
        <p:nvSpPr>
          <p:cNvPr id="18" name="머리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나와 연관된 이해충돌은 스스로 멀리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자율적 내부통제 실행 프로그램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현장부서(매월) + 유역본부(분기) + 본사(연간)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고유 이해충돌 상황 시나리오 개발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AI챗봇에 이해충돌 챗봇 통합</a:t>
            </a:r>
          </a:p>
        </p:txBody>
      </p:sp>
      <p:sp>
        <p:nvSpPr>
          <p:cNvPr id="23" name="레일 태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통제활동</a:t>
            </a:r>
          </a:p>
        </p:txBody>
      </p:sp>
      <p:sp>
        <p:nvSpPr>
          <p:cNvPr id="24" name="레일 라벨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빈틈없는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충돌방지</a:t>
            </a:r>
          </a:p>
        </p:txBody>
      </p:sp>
      <p:sp>
        <p:nvSpPr>
          <p:cNvPr id="25" name="머리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협상에 의한 계약 이해충돌 예방</a:t>
            </a:r>
          </a:p>
        </p:txBody>
      </p:sp>
      <p:sp>
        <p:nvSpPr>
          <p:cNvPr id="26" name="머리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포인트 사적사용 방지 강화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계약상대자 선정 정량평가에 사적 이해관계 개입 우려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공무 국외출장 항공 마일리지 사적사용 방지 기준 부재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제척·회피·기피 의무 및 평가기준 마련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법인 전용 포인트 공적재원으로 활용</a:t>
            </a:r>
          </a:p>
        </p:txBody>
      </p:sp>
      <p:sp>
        <p:nvSpPr>
          <p:cNvPr id="34" name="레일 태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인식확산</a:t>
            </a:r>
          </a:p>
        </p:txBody>
      </p:sp>
      <p:sp>
        <p:nvSpPr>
          <p:cNvPr id="35" name="레일 라벨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이해충돌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바로알기</a:t>
            </a:r>
          </a:p>
        </p:txBody>
      </p:sp>
      <p:sp>
        <p:nvSpPr>
          <p:cNvPr id="37" name="단계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인식조사 결과</a:t>
            </a:r>
          </a:p>
        </p:txBody>
      </p:sp>
      <p:sp>
        <p:nvSpPr>
          <p:cNvPr id="38" name="단계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개선사항</a:t>
            </a:r>
          </a:p>
        </p:txBody>
      </p:sp>
      <p:sp>
        <p:nvSpPr>
          <p:cNvPr id="39" name="단계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추진실적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인식조사 결과 법 개념과 사례 막연한 인식 47.4%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SNS 활용 상황별 알림 발송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이해충돌 사례집 발간(’25.12)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부패인식 74.2 → 90.9점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교육수료자 8.2천명 → 9.5천명</a:t>
            </a:r>
          </a:p>
        </p:txBody>
      </p:sp>
      <p:sp>
        <p:nvSpPr>
          <p:cNvPr id="48" name="핵심성과 라벨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9" name="핵심성과 문구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공사 최초 권익위 청렴도 1등급 및 신뢰경영지수 역대 최고 득점 달성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이해충돌방지 자율적 내부통제 체계로 ’25년 법 위반 사례 Zero 달성</a:t>
            </a: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41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중장기 인권경영 전략 연계 PDCA 인권존중 추진 Build-up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중장기 인권경영 추진 전략(’24.12)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인권영향평가 결과(’24.12)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인권비전 ‘인권경영을 선도하는 기관’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전략방향 인권경영체계 정비, 피드백 강화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타 기관 대비 높은 수준 인권경영(99.8점)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디지털 전환 대비 개선사항 보완 필요</a:t>
            </a:r>
          </a:p>
        </p:txBody>
      </p:sp>
      <p:sp>
        <p:nvSpPr>
          <p:cNvPr id="21" name="레일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추진방향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· 과제</a:t>
            </a:r>
          </a:p>
        </p:txBody>
      </p:sp>
      <p:sp>
        <p:nvSpPr>
          <p:cNvPr id="22" name="단계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다층적 대응체계</a:t>
            </a:r>
          </a:p>
        </p:txBody>
      </p:sp>
      <p:sp>
        <p:nvSpPr>
          <p:cNvPr id="23" name="단계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인권보호 확대</a:t>
            </a:r>
          </a:p>
        </p:txBody>
      </p:sp>
      <p:sp>
        <p:nvSpPr>
          <p:cNvPr id="24" name="단계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❸ 미래형 인권경영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위험징후 초기 예방관리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상시 점검체계 마련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국제 인권환경실사 대응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공급망 인권보호 추진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인권 기반 AI 활용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인권 리스크 관리</a:t>
            </a:r>
          </a:p>
        </p:txBody>
      </p:sp>
      <p:sp>
        <p:nvSpPr>
          <p:cNvPr id="32" name="레일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실행체계</a:t>
            </a:r>
          </a:p>
        </p:txBody>
      </p:sp>
      <p:sp>
        <p:nvSpPr>
          <p:cNvPr id="34" name="단계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P 인권경영계획</a:t>
            </a:r>
          </a:p>
        </p:txBody>
      </p:sp>
      <p:sp>
        <p:nvSpPr>
          <p:cNvPr id="35" name="단계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D 인권경영이행</a:t>
            </a:r>
          </a:p>
        </p:txBody>
      </p:sp>
      <p:sp>
        <p:nvSpPr>
          <p:cNvPr id="36" name="단계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C 모니터링·평가</a:t>
            </a:r>
          </a:p>
        </p:txBody>
      </p:sp>
      <p:sp>
        <p:nvSpPr>
          <p:cNvPr id="37" name="단계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 침해 구제 개선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목표 및 기본방향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인권 리스크 관리체계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인권교육·캠페인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이해관계자 보호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인권영향평가(’25.11)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인권경영지수 등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구제 절차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개선이행, 정보공개</a:t>
            </a:r>
          </a:p>
        </p:txBody>
      </p:sp>
      <p:sp>
        <p:nvSpPr>
          <p:cNvPr id="48" name="레일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추진기반</a:t>
            </a:r>
          </a:p>
        </p:txBody>
      </p:sp>
      <p:sp>
        <p:nvSpPr>
          <p:cNvPr id="50" name="태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정책기구</a:t>
            </a:r>
          </a:p>
        </p:txBody>
      </p:sp>
      <p:sp>
        <p:nvSpPr>
          <p:cNvPr id="51" name="태그 설명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인권경영위원회 · 권익보호위원회</a:t>
            </a:r>
          </a:p>
        </p:txBody>
      </p:sp>
      <p:sp>
        <p:nvSpPr>
          <p:cNvPr id="52" name="태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실행조직</a:t>
            </a:r>
          </a:p>
        </p:txBody>
      </p:sp>
      <p:sp>
        <p:nvSpPr>
          <p:cNvPr id="53" name="태그 설명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전담부서, 권익보호센터 · 안심케어센터(신규)</a:t>
            </a:r>
          </a:p>
        </p:txBody>
      </p:sp>
      <p:sp>
        <p:nvSpPr>
          <p:cNvPr id="54" name="태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신고소통</a:t>
            </a:r>
          </a:p>
        </p:txBody>
      </p:sp>
      <p:sp>
        <p:nvSpPr>
          <p:cNvPr id="55" name="태그 설명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권익보호포털, 인권침해 실태조사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42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다양한 이해관계자를 아우르는 포용적 인권경영 실현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직원 신뢰가 최우선, 사전예방부터 사후지원까지 한층 더 강력하게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2" name="태그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취 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 항</a:t>
            </a:r>
          </a:p>
        </p:txBody>
      </p:sp>
      <p:sp>
        <p:nvSpPr>
          <p:cNvPr id="15" name="배너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구조적 인권침해 방지 환경·제도 구축 필요(’24년 평가단)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활 동</a:t>
            </a:r>
          </a:p>
        </p:txBody>
      </p:sp>
      <p:sp>
        <p:nvSpPr>
          <p:cNvPr id="18" name="배너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다층적 대응체계 강화로 발전된 인권경영 수행</a:t>
            </a:r>
          </a:p>
        </p:txBody>
      </p:sp>
      <p:sp>
        <p:nvSpPr>
          <p:cNvPr id="19" name="단계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예방 사전예방적 관리 강화</a:t>
            </a:r>
          </a:p>
        </p:txBody>
      </p:sp>
      <p:sp>
        <p:nvSpPr>
          <p:cNvPr id="20" name="단계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조치 신속·무관용 처분</a:t>
            </a:r>
          </a:p>
        </p:txBody>
      </p:sp>
      <p:sp>
        <p:nvSpPr>
          <p:cNvPr id="21" name="단계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사후관리 보호체계 고도화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찾아가는 참여형 교육(19회)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전사 모니터링 체계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권익침해 자가진단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성비위·괴롭힘 대응절차 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처리기간 37% 단축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징계양정기준 개정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안심케어센터 신설로 사고 직원 토탈케어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피해자 PTSD EAP 지원</a:t>
            </a:r>
          </a:p>
        </p:txBody>
      </p:sp>
      <p:sp>
        <p:nvSpPr>
          <p:cNvPr id="30" name="핵심성과 라벨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1" name="핵심성과 문구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신뢰경영지수 ‘믿음’, ‘존중’ 역대 최고점 달성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권익위 내부체감도 ‘갑질행위’ 지표 대폭 개선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43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고객-파트너-국민까지 모두 아우르는 공급망 인권경영 가치사슬 확대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0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 공급망 인권·환경보호법 발의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인권영향평가 환경권 등 인권존중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이해관계자, 공급망까지 인권영향 관리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주요 현안 포함 부정적 인권영향 방지 확대</a:t>
            </a:r>
          </a:p>
        </p:txBody>
      </p:sp>
      <p:sp>
        <p:nvSpPr>
          <p:cNvPr id="17" name="태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고객</a:t>
            </a:r>
          </a:p>
        </p:txBody>
      </p:sp>
      <p:sp>
        <p:nvSpPr>
          <p:cNvPr id="18" name="위 머리 글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존중받을 권리</a:t>
            </a:r>
          </a:p>
        </p:txBody>
      </p:sp>
      <p:sp>
        <p:nvSpPr>
          <p:cNvPr id="20" name="태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자회사</a:t>
            </a:r>
          </a:p>
        </p:txBody>
      </p:sp>
      <p:sp>
        <p:nvSpPr>
          <p:cNvPr id="21" name="위 머리 글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인권친화경영 지원</a:t>
            </a:r>
          </a:p>
        </p:txBody>
      </p:sp>
      <p:sp>
        <p:nvSpPr>
          <p:cNvPr id="22" name="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영세규모 고객 매뉴얼·양식 표준화로 편의성 향상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보상고객 전담 창구, 고객 케어 운영으로 만족도 향상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민원창구 내 보상전담반, 단계별 알림</a:t>
            </a:r>
          </a:p>
        </p:txBody>
      </p:sp>
      <p:sp>
        <p:nvSpPr>
          <p:cNvPr id="23" name="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자회사 안전·행복 일터 조성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인권보호노력 평가지표 신설로 인권경영 유인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조직문화 개선 노력, 청렴도 조사 결과 반영</a:t>
            </a:r>
          </a:p>
        </p:txBody>
      </p:sp>
      <p:sp>
        <p:nvSpPr>
          <p:cNvPr id="24" name="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초대형 산불 대응지원 서비스로 골든타임 확보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화재대응 댐 용수방류 + 충수시설 정보제공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강릉 가뭄 선제적 수처리 확보</a:t>
            </a:r>
          </a:p>
        </p:txBody>
      </p:sp>
      <p:sp>
        <p:nvSpPr>
          <p:cNvPr id="25" name="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폭염 회피 이동형 휴게시설 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폭염 대비 물품 제공(1.5억원)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간편신고 등 작업중지제 활성화(132건)</a:t>
            </a:r>
          </a:p>
        </p:txBody>
      </p:sp>
      <p:sp>
        <p:nvSpPr>
          <p:cNvPr id="27" name="아이콘 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아이콘</a:t>
            </a:r>
          </a:p>
        </p:txBody>
      </p:sp>
      <p:sp>
        <p:nvSpPr>
          <p:cNvPr id="29" name="태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</a:t>
            </a:r>
          </a:p>
        </p:txBody>
      </p:sp>
      <p:sp>
        <p:nvSpPr>
          <p:cNvPr id="30" name="아래 머리 글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극한 기후위기 안전망</a:t>
            </a:r>
          </a:p>
        </p:txBody>
      </p:sp>
      <p:sp>
        <p:nvSpPr>
          <p:cNvPr id="32" name="태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협력사</a:t>
            </a:r>
          </a:p>
        </p:txBody>
      </p:sp>
      <p:sp>
        <p:nvSpPr>
          <p:cNvPr id="33" name="아래 머리 글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근로자 중심 핀셋 지원</a:t>
            </a:r>
          </a:p>
        </p:txBody>
      </p:sp>
      <p:sp>
        <p:nvSpPr>
          <p:cNvPr id="35" name="핵심성과 라벨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6" name="핵심성과 문구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권익위 종합청렴도 외부체감도 ‘업무투명’ 상승(88.0 → 92.2점)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노동부 ‘용역근로자 보호지침 준수’ 지표 만점 및 자회사 운영실태 평가 A등급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44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 디지털·AI 기반 미래형 인권보호 패러다임 선도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8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9" name="칸 본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인권 중심 AI 활용 촉구(UN 인권이사회, ’25.6)</a:t>
            </a:r>
          </a:p>
        </p:txBody>
      </p:sp>
      <p:sp>
        <p:nvSpPr>
          <p:cNvPr id="10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인권침해 위험과 창출가치 균형 필요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디지털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권리보장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수도정보는 쉽고 편리하게 접근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인명사고 발생은 미리 탐지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수도정보 대화형 플랫폼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디지털 취약계층 대상 AI 보이스 상담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공공-민간 데이터 기반 사회안전망 서비스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독거노인 고독사 예방</a:t>
            </a:r>
          </a:p>
        </p:txBody>
      </p:sp>
      <p:sp>
        <p:nvSpPr>
          <p:cNvPr id="20" name="레일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AI 도입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리스크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관리</a:t>
            </a:r>
          </a:p>
        </p:txBody>
      </p:sp>
      <p:sp>
        <p:nvSpPr>
          <p:cNvPr id="22" name="칸 제목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AI 윤리에 대해 고민하고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인권영향평가 지표개선(’25.10)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* ‘디지털윤리·AI 책임성’ 지표 신설</a:t>
            </a:r>
          </a:p>
        </p:txBody>
      </p:sp>
      <p:sp>
        <p:nvSpPr>
          <p:cNvPr id="26" name="칸 제목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올바른 원칙을 정착하고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「생성형 AI 업무 활용 가이드북」 발간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「인공지능 관리규정」 도입 추진</a:t>
            </a:r>
          </a:p>
        </p:txBody>
      </p:sp>
      <p:sp>
        <p:nvSpPr>
          <p:cNvPr id="31" name="칸 제목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AI의 안전한 활용까지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민원처리시스템 추진(’25.11)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고객과 직원 모두 인권보호</a:t>
            </a:r>
          </a:p>
        </p:txBody>
      </p:sp>
      <p:sp>
        <p:nvSpPr>
          <p:cNvPr id="36" name="레일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새로운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가치창출</a:t>
            </a:r>
          </a:p>
        </p:txBody>
      </p:sp>
      <p:sp>
        <p:nvSpPr>
          <p:cNvPr id="37" name="배너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환경정보 디지털 허브에서 새롭게 누리는 우리 국토</a:t>
            </a:r>
          </a:p>
        </p:txBody>
      </p:sp>
      <p:sp>
        <p:nvSpPr>
          <p:cNvPr id="38" name="단계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정보접근 누구나 알 수 있고</a:t>
            </a:r>
          </a:p>
        </p:txBody>
      </p:sp>
      <p:sp>
        <p:nvSpPr>
          <p:cNvPr id="39" name="단계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안전보호 위험을 감지하고</a:t>
            </a:r>
          </a:p>
        </p:txBody>
      </p:sp>
      <p:sp>
        <p:nvSpPr>
          <p:cNvPr id="40" name="단계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친수공간 심신 회복도 함께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댐·강·하천 전문정보부터 생활 밀착 서비스까지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초단기 기상데이터 활용 온도 예측 고도화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물·철도·문화 데이터 융합 서비스</a:t>
            </a:r>
          </a:p>
        </p:txBody>
      </p:sp>
      <p:sp>
        <p:nvSpPr>
          <p:cNvPr id="48" name="배너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데이터 개방 확대(1,137 → 1,164건), 대국민 활용 활성화</a:t>
            </a:r>
          </a:p>
        </p:txBody>
      </p:sp>
      <p:sp>
        <p:nvSpPr>
          <p:cNvPr id="50" name="핵심성과 라벨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1" name="핵심성과 문구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인권영향평가 ‘디지털 윤리 및 AI 책임성’ 지표 신설·만점 획득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인권경영지수 매우우수(AA) 등급 달성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45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기회를 확장하고 성장을 견인하며 모두를 포용하는 일자리 전략</a:t>
            </a:r>
          </a:p>
        </p:txBody>
      </p:sp>
      <p:sp>
        <p:nvSpPr>
          <p:cNvPr id="14" name="배너 글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새 정부 정책기조에 부합하고, 고용 여건에 선제적으로 대응하기 위한 일자리 전략 재정립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국 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 조</a:t>
            </a:r>
          </a:p>
        </p:txBody>
      </p:sp>
      <p:sp>
        <p:nvSpPr>
          <p:cNvPr id="17" name="태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국정과제 96</a:t>
            </a:r>
          </a:p>
        </p:txBody>
      </p:sp>
      <p:sp>
        <p:nvSpPr>
          <p:cNvPr id="18" name="태그 설명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통합과 성장의 혁신적 일자리정책을 통해 청년·민간·취약계층 전반의 고용 확대 추진</a:t>
            </a:r>
          </a:p>
        </p:txBody>
      </p:sp>
      <p:sp>
        <p:nvSpPr>
          <p:cNvPr id="19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공정과 신뢰</a:t>
            </a:r>
          </a:p>
        </p:txBody>
      </p:sp>
      <p:sp>
        <p:nvSpPr>
          <p:cNvPr id="20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실용과 성과</a:t>
            </a:r>
          </a:p>
        </p:txBody>
      </p:sp>
      <p:sp>
        <p:nvSpPr>
          <p:cNvPr id="21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경청과 통합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모두에게 공정한 일 경험 기회 제공 강조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현장에서 체감할 수 있는 일자리 창출 성과 필요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소외계층까지 모두를 아우르는 고용환경 조성</a:t>
            </a:r>
          </a:p>
        </p:txBody>
      </p:sp>
      <p:sp>
        <p:nvSpPr>
          <p:cNvPr id="27" name="레일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일자리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경</a:t>
            </a:r>
          </a:p>
        </p:txBody>
      </p:sp>
      <p:sp>
        <p:nvSpPr>
          <p:cNvPr id="29" name="머리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청년일자리</a:t>
            </a:r>
          </a:p>
        </p:txBody>
      </p:sp>
      <p:sp>
        <p:nvSpPr>
          <p:cNvPr id="30" name="머리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민간일자리</a:t>
            </a:r>
          </a:p>
        </p:txBody>
      </p:sp>
      <p:sp>
        <p:nvSpPr>
          <p:cNvPr id="31" name="머리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사회형평 일자리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청년 취업시장 한파 속 ‘쉬었음’ 청년인구 급증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투자 위축과 지역 일자리 감소로 고용환경 악화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노동시장 양극화 심화로 취약계층 고용접근성 저하</a:t>
            </a:r>
          </a:p>
        </p:txBody>
      </p:sp>
      <p:sp>
        <p:nvSpPr>
          <p:cNvPr id="37" name="레일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 금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우리는?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청년채용·인턴 지속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재직단계 편중 인턴 관리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물산업 분야 일자리 창출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전반으로 확산은 부족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취약계층 대상 제도 확충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실효성 있는 성과연계 미흡</a:t>
            </a:r>
          </a:p>
        </p:txBody>
      </p:sp>
      <p:sp>
        <p:nvSpPr>
          <p:cNvPr id="45" name="태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46" name="캡션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청년에게는 기회를, 민간에게는 활력을, 취약계층에는 희망을 주는 일자리 창출</a:t>
            </a:r>
          </a:p>
        </p:txBody>
      </p:sp>
      <p:sp>
        <p:nvSpPr>
          <p:cNvPr id="48" name="레일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전략방향</a:t>
            </a:r>
          </a:p>
        </p:txBody>
      </p:sp>
      <p:sp>
        <p:nvSpPr>
          <p:cNvPr id="49" name="단계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청년일자리 확대</a:t>
            </a:r>
          </a:p>
        </p:txBody>
      </p:sp>
      <p:sp>
        <p:nvSpPr>
          <p:cNvPr id="50" name="단계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민간일자리 창출</a:t>
            </a:r>
          </a:p>
        </p:txBody>
      </p:sp>
      <p:sp>
        <p:nvSpPr>
          <p:cNvPr id="51" name="단계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사회형평 일자리 혁신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공정한 진입과 성장 지원</a:t>
            </a:r>
          </a:p>
        </p:txBody>
      </p:sp>
      <p:sp>
        <p:nvSpPr>
          <p:cNvPr id="55" name="칸 본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적극적 투자와 확산 견인</a:t>
            </a:r>
          </a:p>
        </p:txBody>
      </p:sp>
      <p:sp>
        <p:nvSpPr>
          <p:cNvPr id="57" name="칸 본문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빠짐없이 모두를 포용</a:t>
            </a:r>
          </a:p>
        </p:txBody>
      </p:sp>
      <p:sp>
        <p:nvSpPr>
          <p:cNvPr id="59" name="레일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전략과제</a:t>
            </a:r>
          </a:p>
        </p:txBody>
      </p:sp>
      <p:sp>
        <p:nvSpPr>
          <p:cNvPr id="61" name="칸 본문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청년 고용안전망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성장형 청년인턴십 구현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맞춤형 채용서비스 제공</a:t>
            </a:r>
          </a:p>
        </p:txBody>
      </p:sp>
      <p:sp>
        <p:nvSpPr>
          <p:cNvPr id="62" name="칸 본문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물산업 전주기 밀착 육성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선순환 투자생태계 조성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기반 상생일자리 창출</a:t>
            </a:r>
          </a:p>
        </p:txBody>
      </p:sp>
      <p:sp>
        <p:nvSpPr>
          <p:cNvPr id="64" name="칸 본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장애인 고용구조의 전환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빈틈없는 포용 채용 구현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역량 중심 여성 인사관리</a:t>
            </a:r>
          </a:p>
        </p:txBody>
      </p:sp>
      <p:sp>
        <p:nvSpPr>
          <p:cNvPr id="66" name="레일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 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 계</a:t>
            </a:r>
          </a:p>
        </p:txBody>
      </p:sp>
      <p:sp>
        <p:nvSpPr>
          <p:cNvPr id="68" name="태그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PLAN</a:t>
            </a:r>
          </a:p>
        </p:txBody>
      </p:sp>
      <p:sp>
        <p:nvSpPr>
          <p:cNvPr id="69" name="태그 설명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경영전략-ESG 전략과 연계한 ‘일자리 창출 계획’ 수립</a:t>
            </a:r>
          </a:p>
        </p:txBody>
      </p:sp>
      <p:sp>
        <p:nvSpPr>
          <p:cNvPr id="70" name="태그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DO</a:t>
            </a:r>
          </a:p>
        </p:txBody>
      </p:sp>
      <p:sp>
        <p:nvSpPr>
          <p:cNvPr id="71" name="태그 설명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추진단 중심 외부 의견수렴 및 장애 고용TF 보강</a:t>
            </a:r>
          </a:p>
        </p:txBody>
      </p:sp>
      <p:sp>
        <p:nvSpPr>
          <p:cNvPr id="72" name="태그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CHECK</a:t>
            </a:r>
          </a:p>
        </p:txBody>
      </p:sp>
      <p:sp>
        <p:nvSpPr>
          <p:cNvPr id="73" name="태그 설명"/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성과지표(KPI)를 통한 고용성과 종합점검</a:t>
            </a:r>
          </a:p>
        </p:txBody>
      </p:sp>
      <p:sp>
        <p:nvSpPr>
          <p:cNvPr id="74" name="태그"/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ACT</a:t>
            </a:r>
          </a:p>
        </p:txBody>
      </p:sp>
      <p:sp>
        <p:nvSpPr>
          <p:cNvPr id="75" name="태그 설명"/>
          <p:cNvSpPr>
            <a:spLocks noGrp="1"/>
          </p:cNvSpPr>
          <p:nvPr>
            <p:ph type="body" sz="quarter" idx="6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내부평가 반영을 통해 추진성과 환류</a:t>
            </a:r>
          </a:p>
        </p:txBody>
      </p:sp>
      <p:sp>
        <p:nvSpPr>
          <p:cNvPr id="77" name="핵심성과 라벨"/>
          <p:cNvSpPr>
            <a:spLocks noGrp="1"/>
          </p:cNvSpPr>
          <p:nvPr>
            <p:ph type="body" sz="quarter" idx="6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대표성과</a:t>
            </a:r>
          </a:p>
        </p:txBody>
      </p:sp>
      <p:sp>
        <p:nvSpPr>
          <p:cNvPr id="78" name="핵심성과 문구"/>
          <p:cNvSpPr>
            <a:spLocks noGrp="1"/>
          </p:cNvSpPr>
          <p:nvPr>
            <p:ph type="body" sz="quarter" idx="66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신규 채용 423명, 인턴 출신 정규직 채용률 15.7%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민간일자리 2,549개 창출, 장애 고용률 3.8% 달성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46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더 빠르게, 더 자주, 더 공정하게 삼박자 채용 혁신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일자리 기회는 넓히고, 시기는 앞당겨 기다림 없는 채용 구현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2" name="태그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문 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 식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청년
니즈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공기업에 대한 선호도는 상승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그러나
현실은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 정규직 중 청년 비중은 4년만 최저 수준</a:t>
            </a:r>
          </a:p>
        </p:txBody>
      </p:sp>
      <p:sp>
        <p:nvSpPr>
          <p:cNvPr id="23" name="태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24" name="캡션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청년 취업의 첫 문을 여는 조기채용 선도기관으로서 고용 버팀목 역할 주도</a:t>
            </a:r>
          </a:p>
        </p:txBody>
      </p:sp>
      <p:sp>
        <p:nvSpPr>
          <p:cNvPr id="26" name="레일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채용여력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 보</a:t>
            </a:r>
          </a:p>
        </p:txBody>
      </p:sp>
      <p:sp>
        <p:nvSpPr>
          <p:cNvPr id="27" name="머리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국가 정책사업 증원</a:t>
            </a:r>
          </a:p>
        </p:txBody>
      </p:sp>
      <p:sp>
        <p:nvSpPr>
          <p:cNvPr id="28" name="머리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결원 발생·해소 체계적 관리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수시 신규사업, 직원 케어 기능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정기 AI 혁신, 국민·건설안전 인력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임신~출산~육아휴직 통합신청 시스템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분기별 복직신청 제도 도입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총 43명 증원 확보(’24년 대비 215%)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휴직 결원 125명 확보(’24년 대비 128%)</a:t>
            </a:r>
          </a:p>
        </p:txBody>
      </p:sp>
      <p:sp>
        <p:nvSpPr>
          <p:cNvPr id="35" name="레일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안정적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채용운영</a:t>
            </a:r>
          </a:p>
        </p:txBody>
      </p:sp>
      <p:sp>
        <p:nvSpPr>
          <p:cNvPr id="37" name="머리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속도감 있는 채용</a:t>
            </a:r>
          </a:p>
        </p:txBody>
      </p:sp>
      <p:sp>
        <p:nvSpPr>
          <p:cNvPr id="38" name="머리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기다림 없는 인력 충원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증원·신사업 확정 즉시 채용 착수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 과정 60일 이내 완료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상·중·하반기 공채, 탄력적 채용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채용 후보자 Pool 활용 공백 최소화</a:t>
            </a:r>
          </a:p>
        </p:txBody>
      </p:sp>
      <p:sp>
        <p:nvSpPr>
          <p:cNvPr id="42" name="단계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상반기</a:t>
            </a:r>
          </a:p>
        </p:txBody>
      </p:sp>
      <p:sp>
        <p:nvSpPr>
          <p:cNvPr id="43" name="단계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수시</a:t>
            </a:r>
          </a:p>
        </p:txBody>
      </p:sp>
      <p:sp>
        <p:nvSpPr>
          <p:cNvPr id="44" name="단계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하반기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201명(’24.12)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37명(’25.4)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185명(’25.8)</a:t>
            </a:r>
          </a:p>
        </p:txBody>
      </p:sp>
      <p:sp>
        <p:nvSpPr>
          <p:cNvPr id="53" name="핵심성과 라벨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4" name="핵심성과 문구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정규직 423명 채용(전년比 66.5%↑), 정원대비 청년 채용률 7.2%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4년 연속 SOC군 최초 채용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47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유능한 실무인재 선발을 위한 더 공정한 예방 중심 시스템 구축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현업부서 “업무가 빠르게 돌아가는 현업 특성상 즉시 실무 투입 가능한 인재가 필요”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채용담당 “공정 채용을 위한 제도는 다 갖췄는데, 놓치고 있는 사각지대는 없는지 고민”</a:t>
            </a:r>
          </a:p>
        </p:txBody>
      </p:sp>
      <p:sp>
        <p:nvSpPr>
          <p:cNvPr id="15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정밀한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직무검증</a:t>
            </a:r>
          </a:p>
        </p:txBody>
      </p:sp>
      <p:sp>
        <p:nvSpPr>
          <p:cNvPr id="17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일반직 직무적합 선발</a:t>
            </a:r>
          </a:p>
        </p:txBody>
      </p:sp>
      <p:sp>
        <p:nvSpPr>
          <p:cNvPr id="18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운영직 실무역량 반영</a:t>
            </a:r>
          </a:p>
        </p:txBody>
      </p:sp>
      <p:sp>
        <p:nvSpPr>
          <p:cNvPr id="19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전문직 직무역량 평가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총점 40% 미달 과락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직무 40% 미달 과락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관련분야 자격증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관련경력(1년↑)도 인정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학술이론 중심 논술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NCS 평가(’25.12 공지)</a:t>
            </a:r>
          </a:p>
        </p:txBody>
      </p:sp>
      <p:sp>
        <p:nvSpPr>
          <p:cNvPr id="25" name="레일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공정성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화</a:t>
            </a:r>
          </a:p>
        </p:txBody>
      </p:sp>
      <p:sp>
        <p:nvSpPr>
          <p:cNvPr id="26" name="머리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서류전형 응시기회 확대</a:t>
            </a:r>
          </a:p>
        </p:txBody>
      </p:sp>
      <p:sp>
        <p:nvSpPr>
          <p:cNvPr id="27" name="머리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성격검사 조직적합 검증</a:t>
            </a:r>
          </a:p>
        </p:txBody>
      </p:sp>
      <p:sp>
        <p:nvSpPr>
          <p:cNvPr id="28" name="머리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면접전형 평가신뢰 제고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서류 합격 배수 상향: 50배수 → 70배수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성격검사 필수 요건 반영, 미응시자 제한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면접관 사전교육 내실화: 단순 유의사항(2h) → 블라인드·평가사례(5h)</a:t>
            </a:r>
          </a:p>
        </p:txBody>
      </p:sp>
      <p:sp>
        <p:nvSpPr>
          <p:cNvPr id="34" name="레일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리스크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예 방</a:t>
            </a:r>
          </a:p>
        </p:txBody>
      </p:sp>
      <p:sp>
        <p:nvSpPr>
          <p:cNvPr id="36" name="머리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유출방지 3단계 필터링</a:t>
            </a:r>
          </a:p>
        </p:txBody>
      </p:sp>
      <p:sp>
        <p:nvSpPr>
          <p:cNvPr id="37" name="머리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서류검증 인적오류 방지</a:t>
            </a:r>
          </a:p>
        </p:txBody>
      </p:sp>
      <p:sp>
        <p:nvSpPr>
          <p:cNvPr id="38" name="머리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내부통제 취약 포인트 통제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출제과정 단계별 보안관리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출제→선별→검수단계 분리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경력서류 교차검증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건강보험증명+경력증명서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시험관계자 물리적 통제실시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시험 종료시까지 합숙</a:t>
            </a:r>
          </a:p>
        </p:txBody>
      </p:sp>
      <p:sp>
        <p:nvSpPr>
          <p:cNvPr id="45" name="핵심성과 라벨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6" name="핵심성과 문구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직원 대상 ‘채용 합리성’ 만족도 85.2점(’24년 대비 0.5점↑)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전문 심사기관 ‘블라인드 공정채용’ 3년 연속 인증</a:t>
            </a: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48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함께 미래를 열어갈 인재를 미리 만나는 청년 인턴십</a:t>
            </a:r>
          </a:p>
        </p:txBody>
      </p:sp>
      <p:sp>
        <p:nvSpPr>
          <p:cNvPr id="9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0" name="번호 띠 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1" name="번호 띠 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문 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 식</a:t>
            </a:r>
          </a:p>
        </p:txBody>
      </p:sp>
      <p:sp>
        <p:nvSpPr>
          <p:cNvPr id="14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</a:t>
            </a:r>
          </a:p>
        </p:txBody>
      </p:sp>
      <p:sp>
        <p:nvSpPr>
          <p:cNvPr id="15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현황 진단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인턴제도의 실효성을 강화하고, 수료 이후에도 지속 지원 필요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인턴 출신 정규직 입사 증가로 청년인턴을 미래 구성원으로 운영 필요</a:t>
            </a:r>
          </a:p>
        </p:txBody>
      </p:sp>
      <p:sp>
        <p:nvSpPr>
          <p:cNvPr id="20" name="레일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방향설정</a:t>
            </a:r>
          </a:p>
        </p:txBody>
      </p:sp>
      <p:sp>
        <p:nvSpPr>
          <p:cNvPr id="22" name="단계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정규직 연계 채용 중심</a:t>
            </a:r>
          </a:p>
        </p:txBody>
      </p:sp>
      <p:sp>
        <p:nvSpPr>
          <p:cNvPr id="23" name="단계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조직의 미래인재로 관리하는 인턴십</a:t>
            </a:r>
          </a:p>
        </p:txBody>
      </p:sp>
      <p:sp>
        <p:nvSpPr>
          <p:cNvPr id="29" name="태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재직 단계</a:t>
            </a:r>
          </a:p>
        </p:txBody>
      </p:sp>
      <p:sp>
        <p:nvSpPr>
          <p:cNvPr id="30" name="그룹 제목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인재를 조기에 발굴해 실무형 인재로 성장시키는 전과정 개편</a:t>
            </a:r>
          </a:p>
        </p:txBody>
      </p:sp>
      <p:sp>
        <p:nvSpPr>
          <p:cNvPr id="32" name="탭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선발</a:t>
            </a:r>
          </a:p>
        </p:txBody>
      </p:sp>
      <p:sp>
        <p:nvSpPr>
          <p:cNvPr id="33" name="카드 제목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직무역량 위주</a:t>
            </a:r>
          </a:p>
        </p:txBody>
      </p:sp>
      <p:sp>
        <p:nvSpPr>
          <p:cNvPr id="34" name="카드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전부서 직무 단위로 선발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직무역량 중심의 면접 평가 개편</a:t>
            </a:r>
          </a:p>
        </p:txBody>
      </p:sp>
      <p:sp>
        <p:nvSpPr>
          <p:cNvPr id="35" name="카드 요약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114개 직무, 621명 채용(’24년 대비 7.4%↑)</a:t>
            </a:r>
          </a:p>
        </p:txBody>
      </p:sp>
      <p:sp>
        <p:nvSpPr>
          <p:cNvPr id="37" name="탭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육성</a:t>
            </a:r>
          </a:p>
        </p:txBody>
      </p:sp>
      <p:sp>
        <p:nvSpPr>
          <p:cNvPr id="38" name="카드 제목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빠르게 사원으로</a:t>
            </a:r>
          </a:p>
        </p:txBody>
      </p:sp>
      <p:sp>
        <p:nvSpPr>
          <p:cNvPr id="39" name="카드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신입사원 수준의 인턴 교육커리큘럼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1단계 조직적응 · 2단계 직무역량 · 3단계 취업역량</a:t>
            </a:r>
          </a:p>
        </p:txBody>
      </p:sp>
      <p:sp>
        <p:nvSpPr>
          <p:cNvPr id="40" name="카드 요약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인턴 만족도 96.6점(’24년 대비 1.7점↑)</a:t>
            </a:r>
          </a:p>
        </p:txBody>
      </p:sp>
      <p:sp>
        <p:nvSpPr>
          <p:cNvPr id="42" name="탭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실무</a:t>
            </a:r>
          </a:p>
        </p:txBody>
      </p:sp>
      <p:sp>
        <p:nvSpPr>
          <p:cNvPr id="43" name="카드 제목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과감히 현업 투입</a:t>
            </a:r>
          </a:p>
        </p:txBody>
      </p:sp>
      <p:sp>
        <p:nvSpPr>
          <p:cNvPr id="44" name="카드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정규직 직무와 연계한 업무 부여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임원 참여 직무성과 발표회 개최로 성과 확산</a:t>
            </a:r>
          </a:p>
        </p:txBody>
      </p:sp>
      <p:sp>
        <p:nvSpPr>
          <p:cNvPr id="45" name="카드 요약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청년인턴이 혁신챌린지 최초 입상</a:t>
            </a:r>
          </a:p>
        </p:txBody>
      </p:sp>
      <p:sp>
        <p:nvSpPr>
          <p:cNvPr id="47" name="탭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평가</a:t>
            </a:r>
          </a:p>
        </p:txBody>
      </p:sp>
      <p:sp>
        <p:nvSpPr>
          <p:cNvPr id="48" name="카드 제목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우수 인재를 엄정하게 선별</a:t>
            </a:r>
          </a:p>
        </p:txBody>
      </p:sp>
      <p:sp>
        <p:nvSpPr>
          <p:cNvPr id="49" name="카드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평가체계 정교화로 우수인턴 변별력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가점 중심 평가 → 확대 감점제 도입</a:t>
            </a:r>
          </a:p>
        </p:txBody>
      </p:sp>
      <p:sp>
        <p:nvSpPr>
          <p:cNvPr id="50" name="카드 요약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최상위 우수인턴 19.7%(’24년 대비 5.5%p↓)</a:t>
            </a:r>
          </a:p>
        </p:txBody>
      </p:sp>
      <p:sp>
        <p:nvSpPr>
          <p:cNvPr id="53" name="배너 글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‘함께 일하고 싶은 동료’라는 조직인식 확산 ➡ 전체 부서 78%(117개) 인턴 수요 발생</a:t>
            </a:r>
          </a:p>
        </p:txBody>
      </p:sp>
      <p:sp>
        <p:nvSpPr>
          <p:cNvPr id="56" name="레일 태그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수료 단계</a:t>
            </a:r>
          </a:p>
        </p:txBody>
      </p:sp>
      <p:sp>
        <p:nvSpPr>
          <p:cNvPr id="57" name="레일 라벨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네트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워킹</a:t>
            </a:r>
          </a:p>
        </p:txBody>
      </p:sp>
      <p:sp>
        <p:nvSpPr>
          <p:cNvPr id="58" name="머리칸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인재 Pool 구축</a:t>
            </a:r>
          </a:p>
        </p:txBody>
      </p:sp>
      <p:sp>
        <p:nvSpPr>
          <p:cNvPr id="59" name="머리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관계 유지 기반 마련</a:t>
            </a:r>
          </a:p>
        </p:txBody>
      </p:sp>
      <p:sp>
        <p:nvSpPr>
          <p:cNvPr id="60" name="칸 본문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주기적 취업 현황 모니터링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정규직 입사 지원 이력 관리</a:t>
            </a:r>
          </a:p>
        </p:txBody>
      </p:sp>
      <p:sp>
        <p:nvSpPr>
          <p:cNvPr id="61" name="칸 본문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청년인턴 전용 플랫폼 신설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현직자와의 실시간 Q&amp;A</a:t>
            </a:r>
          </a:p>
        </p:txBody>
      </p:sp>
      <p:sp>
        <p:nvSpPr>
          <p:cNvPr id="63" name="칸 본문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수료 인턴 中 74%(404명) ’25년 입사 지원</a:t>
            </a:r>
          </a:p>
        </p:txBody>
      </p:sp>
      <p:sp>
        <p:nvSpPr>
          <p:cNvPr id="64" name="칸 본문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회원수 490명</a:t>
            </a:r>
          </a:p>
        </p:txBody>
      </p:sp>
      <p:sp>
        <p:nvSpPr>
          <p:cNvPr id="66" name="레일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취업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연계</a:t>
            </a:r>
          </a:p>
        </p:txBody>
      </p:sp>
      <p:sp>
        <p:nvSpPr>
          <p:cNvPr id="68" name="머리칸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취업역량 강화</a:t>
            </a:r>
          </a:p>
        </p:txBody>
      </p:sp>
      <p:sp>
        <p:nvSpPr>
          <p:cNvPr id="69" name="머리칸"/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취업서비스 지원</a:t>
            </a:r>
          </a:p>
        </p:txBody>
      </p:sp>
      <p:sp>
        <p:nvSpPr>
          <p:cNvPr id="70" name="칸 본문"/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취업멘토링 day 개최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정규직 채용과정 참관, 모의면접 제공</a:t>
            </a:r>
          </a:p>
        </p:txBody>
      </p:sp>
      <p:sp>
        <p:nvSpPr>
          <p:cNvPr id="71" name="칸 본문"/>
          <p:cNvSpPr>
            <a:spLocks noGrp="1"/>
          </p:cNvSpPr>
          <p:nvPr>
            <p:ph type="body" sz="quarter" idx="6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수료증 상시 발급 시스템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면접 결과 기반 역량리포트 제공</a:t>
            </a:r>
          </a:p>
        </p:txBody>
      </p:sp>
      <p:sp>
        <p:nvSpPr>
          <p:cNvPr id="74" name="성과 라벨"/>
          <p:cNvSpPr>
            <a:spLocks noGrp="1"/>
          </p:cNvSpPr>
          <p:nvPr>
            <p:ph type="body" sz="quarter" idx="6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성과</a:t>
            </a:r>
          </a:p>
        </p:txBody>
      </p:sp>
      <p:sp>
        <p:nvSpPr>
          <p:cNvPr id="75" name="성과 띠"/>
          <p:cNvSpPr>
            <a:spLocks noGrp="1"/>
          </p:cNvSpPr>
          <p:nvPr>
            <p:ph type="body" sz="quarter" idx="6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인턴 출신 정규직 채용 비율 역대 최대 15.7%</a:t>
            </a:r>
          </a:p>
        </p:txBody>
      </p:sp>
      <p:sp>
        <p:nvSpPr>
          <p:cNvPr id="77" name="카드 문구"/>
          <p:cNvSpPr>
            <a:spLocks noGrp="1"/>
          </p:cNvSpPr>
          <p:nvPr>
            <p:ph type="body" sz="quarter" idx="6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인턴출신 정규직 채용 비율</a:t>
            </a:r>
          </a:p>
        </p:txBody>
      </p:sp>
      <p:sp>
        <p:nvSpPr>
          <p:cNvPr id="79" name="값"/>
          <p:cNvSpPr>
            <a:spLocks noGrp="1"/>
          </p:cNvSpPr>
          <p:nvPr>
            <p:ph type="body" sz="quarter" idx="6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5.3%</a:t>
            </a:r>
          </a:p>
        </p:txBody>
      </p:sp>
      <p:sp>
        <p:nvSpPr>
          <p:cNvPr id="80" name="연도"/>
          <p:cNvSpPr>
            <a:spLocks noGrp="1"/>
          </p:cNvSpPr>
          <p:nvPr>
            <p:ph type="body" sz="quarter" idx="6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’23년</a:t>
            </a:r>
          </a:p>
        </p:txBody>
      </p:sp>
      <p:sp>
        <p:nvSpPr>
          <p:cNvPr id="82" name="값"/>
          <p:cNvSpPr>
            <a:spLocks noGrp="1"/>
          </p:cNvSpPr>
          <p:nvPr>
            <p:ph type="body" sz="quarter" idx="7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11%</a:t>
            </a:r>
          </a:p>
        </p:txBody>
      </p:sp>
      <p:sp>
        <p:nvSpPr>
          <p:cNvPr id="83" name="연도"/>
          <p:cNvSpPr>
            <a:spLocks noGrp="1"/>
          </p:cNvSpPr>
          <p:nvPr>
            <p:ph type="body" sz="quarter" idx="7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’24년</a:t>
            </a:r>
          </a:p>
        </p:txBody>
      </p:sp>
      <p:sp>
        <p:nvSpPr>
          <p:cNvPr id="85" name="값"/>
          <p:cNvSpPr>
            <a:spLocks noGrp="1"/>
          </p:cNvSpPr>
          <p:nvPr>
            <p:ph type="body" sz="quarter" idx="7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15.7%</a:t>
            </a:r>
          </a:p>
        </p:txBody>
      </p:sp>
      <p:sp>
        <p:nvSpPr>
          <p:cNvPr id="86" name="연도"/>
          <p:cNvSpPr>
            <a:spLocks noGrp="1"/>
          </p:cNvSpPr>
          <p:nvPr>
            <p:ph type="body" sz="quarter" idx="7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’25년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49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결과 공개를 넘어, 다음을 준비할 수 있는 채용 피드백 제공</a:t>
            </a:r>
          </a:p>
        </p:txBody>
      </p:sp>
      <p:sp>
        <p:nvSpPr>
          <p:cNvPr id="12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 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진 단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그간의 노력 필기 백분율 및 직군별 탈락 피드백 제공 등 투명성 제고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여전한 고민 향후 취업 준비를 어떻게 해야 하는지에 대한 실질적 도움은 부족</a:t>
            </a:r>
          </a:p>
        </p:txBody>
      </p:sp>
      <p:sp>
        <p:nvSpPr>
          <p:cNvPr id="18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의 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 렴</a:t>
            </a:r>
          </a:p>
        </p:txBody>
      </p:sp>
      <p:sp>
        <p:nvSpPr>
          <p:cNvPr id="20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채용 응시자</a:t>
            </a:r>
          </a:p>
        </p:txBody>
      </p:sp>
      <p:sp>
        <p:nvSpPr>
          <p:cNvPr id="21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청년자문단</a:t>
            </a:r>
          </a:p>
        </p:txBody>
      </p:sp>
      <p:sp>
        <p:nvSpPr>
          <p:cNvPr id="22" name="머리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면접위원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“제 수준이 어느 정도인지 알 수 있다면 도움 될 것 같아요”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“부족한 역량이 어떤 것인지 알려주면 좋을 것 같아요”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“면접이 선발 중심으로 운영되어 성장을 지원하는 데 한계 존재”</a:t>
            </a:r>
          </a:p>
        </p:txBody>
      </p:sp>
      <p:sp>
        <p:nvSpPr>
          <p:cNvPr id="29" name="레일 태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일반직</a:t>
            </a:r>
          </a:p>
        </p:txBody>
      </p:sp>
      <p:sp>
        <p:nvSpPr>
          <p:cNvPr id="30" name="레일 라벨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진단형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피드백</a:t>
            </a:r>
          </a:p>
        </p:txBody>
      </p:sp>
      <p:sp>
        <p:nvSpPr>
          <p:cNvPr id="31" name="머리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필기전형 결과 보고서 제공</a:t>
            </a:r>
          </a:p>
        </p:txBody>
      </p:sp>
      <p:sp>
        <p:nvSpPr>
          <p:cNvPr id="32" name="머리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면접 역량별 맞춤 솔루션 제공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점수, 전체 커트라인 수치 중심 정보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과목별 커트라인, 합격자 평균 등 영역별 강·약점 제공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소프트스킬 위주 의견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분야별(직무·역량) 피드백 제공, 직무수행 관련 보완점 중심 의견</a:t>
            </a:r>
          </a:p>
        </p:txBody>
      </p:sp>
      <p:sp>
        <p:nvSpPr>
          <p:cNvPr id="37" name="레일 태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고졸</a:t>
            </a:r>
          </a:p>
        </p:txBody>
      </p:sp>
      <p:sp>
        <p:nvSpPr>
          <p:cNvPr id="38" name="레일 라벨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코칭형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피드백</a:t>
            </a:r>
          </a:p>
        </p:txBody>
      </p:sp>
      <p:sp>
        <p:nvSpPr>
          <p:cNvPr id="40" name="배너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구직 경험이 적은 고졸 전형 지원자 대상으로 코칭형 피드백 시범 도입</a:t>
            </a:r>
          </a:p>
        </p:txBody>
      </p:sp>
      <p:sp>
        <p:nvSpPr>
          <p:cNvPr id="41" name="단계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획일적 피드백</a:t>
            </a:r>
          </a:p>
        </p:txBody>
      </p:sp>
      <p:sp>
        <p:nvSpPr>
          <p:cNvPr id="42" name="단계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피드백 전문위원 운영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고졸 지원자 특성상 면접·직무 경험이 다소 제한적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평가와 코칭을 분리, 개선 방향 중심 피드백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면접 관련 VOC Zero(’24년 7건)</a:t>
            </a:r>
          </a:p>
        </p:txBody>
      </p:sp>
      <p:sp>
        <p:nvSpPr>
          <p:cNvPr id="48" name="핵심성과 라벨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9" name="핵심성과 문구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지원자 체감 채용 만족도 86점 달성(’24년 대비 1.1점↑)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50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5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고용 형태를 허물고 함께 성장하는 원팀으로 도약</a:t>
            </a:r>
          </a:p>
        </p:txBody>
      </p:sp>
      <p:sp>
        <p:nvSpPr>
          <p:cNvPr id="9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0" name="단계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직원 니즈</a:t>
            </a:r>
          </a:p>
        </p:txBody>
      </p:sp>
      <p:sp>
        <p:nvSpPr>
          <p:cNvPr id="11" name="단계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추진실적</a:t>
            </a:r>
          </a:p>
        </p:txBody>
      </p:sp>
      <p:sp>
        <p:nvSpPr>
          <p:cNvPr id="12" name="단계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고 졸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운영직</a:t>
            </a:r>
          </a:p>
        </p:txBody>
      </p:sp>
      <p:sp>
        <p:nvSpPr>
          <p:cNvPr id="17" name="니즈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 전문성 확보를 위한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경력개발 지원이 필요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(운영직 TF)</a:t>
            </a:r>
          </a:p>
        </p:txBody>
      </p:sp>
      <p:sp>
        <p:nvSpPr>
          <p:cNvPr id="18" name="실적 머리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 전문성·경력개발 동시 지원</a:t>
            </a:r>
          </a:p>
        </p:txBody>
      </p:sp>
      <p:sp>
        <p:nvSpPr>
          <p:cNvPr id="19" name="태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</a:t>
            </a:r>
          </a:p>
        </p:txBody>
      </p:sp>
      <p:sp>
        <p:nvSpPr>
          <p:cNvPr id="20" name="칩 줄 글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K-Pro 전문가 과정, 직무세분화</a:t>
            </a:r>
          </a:p>
        </p:txBody>
      </p:sp>
      <p:sp>
        <p:nvSpPr>
          <p:cNvPr id="21" name="태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학위</a:t>
            </a:r>
          </a:p>
        </p:txBody>
      </p:sp>
      <p:sp>
        <p:nvSpPr>
          <p:cNvPr id="22" name="칩 줄 글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커리큘럼 개편, 장학금·교육키트 제공</a:t>
            </a:r>
          </a:p>
        </p:txBody>
      </p:sp>
      <p:sp>
        <p:nvSpPr>
          <p:cNvPr id="23" name="성과 머리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고졸운영직 학위취득(누계)</a:t>
            </a:r>
          </a:p>
        </p:txBody>
      </p:sp>
      <p:sp>
        <p:nvSpPr>
          <p:cNvPr id="24" name="성과 글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69명 → ’25년 94명</a:t>
            </a:r>
          </a:p>
        </p:txBody>
      </p:sp>
      <p:sp>
        <p:nvSpPr>
          <p:cNvPr id="28" name="레일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무기계약</a:t>
            </a:r>
          </a:p>
        </p:txBody>
      </p:sp>
      <p:sp>
        <p:nvSpPr>
          <p:cNvPr id="29" name="니즈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같은 직무를 오래 수행해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역할확장이 필요해 보여요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(인사담당자 간담회)</a:t>
            </a:r>
          </a:p>
        </p:txBody>
      </p:sp>
      <p:sp>
        <p:nvSpPr>
          <p:cNvPr id="30" name="실적 머리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 전환 활성화·조직융합 교육 신설</a:t>
            </a:r>
          </a:p>
        </p:txBody>
      </p:sp>
      <p:sp>
        <p:nvSpPr>
          <p:cNvPr id="31" name="태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전보</a:t>
            </a:r>
          </a:p>
        </p:txBody>
      </p:sp>
      <p:sp>
        <p:nvSpPr>
          <p:cNvPr id="32" name="칩 줄 글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이동 규모 확대(9명 → 11명)</a:t>
            </a:r>
          </a:p>
        </p:txBody>
      </p:sp>
      <p:sp>
        <p:nvSpPr>
          <p:cNvPr id="33" name="태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교육</a:t>
            </a:r>
          </a:p>
        </p:txBody>
      </p:sp>
      <p:sp>
        <p:nvSpPr>
          <p:cNvPr id="34" name="칩 줄 글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참여자 종합 만족도 9.74점</a:t>
            </a:r>
          </a:p>
        </p:txBody>
      </p:sp>
      <p:sp>
        <p:nvSpPr>
          <p:cNvPr id="35" name="성과 머리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공사 최초 무기계약직</a:t>
            </a:r>
          </a:p>
        </p:txBody>
      </p:sp>
      <p:sp>
        <p:nvSpPr>
          <p:cNvPr id="36" name="성과 글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사내벤처 팀장 선정</a:t>
            </a:r>
          </a:p>
        </p:txBody>
      </p:sp>
      <p:sp>
        <p:nvSpPr>
          <p:cNvPr id="40" name="레일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별도직군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(임금피크)</a:t>
            </a:r>
          </a:p>
        </p:txBody>
      </p:sp>
      <p:sp>
        <p:nvSpPr>
          <p:cNvPr id="41" name="니즈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퇴직 후 경력관리를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할 수 있으면 좋겠어요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(임금피크 직원 설문조사)</a:t>
            </a:r>
          </a:p>
        </p:txBody>
      </p:sp>
      <p:sp>
        <p:nvSpPr>
          <p:cNvPr id="42" name="실적 머리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맞춤 전문직무·생애경력 지원 확대</a:t>
            </a:r>
          </a:p>
        </p:txBody>
      </p:sp>
      <p:sp>
        <p:nvSpPr>
          <p:cNvPr id="43" name="태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</a:t>
            </a:r>
          </a:p>
        </p:txBody>
      </p:sp>
      <p:sp>
        <p:nvSpPr>
          <p:cNvPr id="44" name="칩 줄 글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수요조사 → AI, 대외협력 등 직무 신설</a:t>
            </a:r>
          </a:p>
        </p:txBody>
      </p:sp>
      <p:sp>
        <p:nvSpPr>
          <p:cNvPr id="45" name="태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교육</a:t>
            </a:r>
          </a:p>
        </p:txBody>
      </p:sp>
      <p:sp>
        <p:nvSpPr>
          <p:cNvPr id="46" name="칩 줄 글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시니어 디지털·은퇴 설계 등 과정 확대</a:t>
            </a:r>
          </a:p>
        </p:txBody>
      </p:sp>
      <p:sp>
        <p:nvSpPr>
          <p:cNvPr id="47" name="성과 머리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임금피크 직원 만족도</a:t>
            </a:r>
          </a:p>
        </p:txBody>
      </p:sp>
      <p:sp>
        <p:nvSpPr>
          <p:cNvPr id="48" name="성과 글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97.4점 → ’25년 98.6점</a:t>
            </a:r>
          </a:p>
        </p:txBody>
      </p:sp>
      <p:sp>
        <p:nvSpPr>
          <p:cNvPr id="52" name="레일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자 회 사</a:t>
            </a:r>
          </a:p>
        </p:txBody>
      </p:sp>
      <p:sp>
        <p:nvSpPr>
          <p:cNvPr id="53" name="니즈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안전하고 지속가능하게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일할 수 있는 근무환경 요구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(모·자회사 공동협의회)</a:t>
            </a:r>
          </a:p>
        </p:txBody>
      </p:sp>
      <p:sp>
        <p:nvSpPr>
          <p:cNvPr id="54" name="실적 머리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자회사 처우, 안전수준 동반 강화</a:t>
            </a:r>
          </a:p>
        </p:txBody>
      </p:sp>
      <p:sp>
        <p:nvSpPr>
          <p:cNvPr id="55" name="태그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처우</a:t>
            </a:r>
          </a:p>
        </p:txBody>
      </p:sp>
      <p:sp>
        <p:nvSpPr>
          <p:cNvPr id="56" name="칩 줄 글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모회사 수준 복지</a:t>
            </a:r>
          </a:p>
        </p:txBody>
      </p:sp>
      <p:sp>
        <p:nvSpPr>
          <p:cNvPr id="57" name="태그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</a:t>
            </a:r>
          </a:p>
        </p:txBody>
      </p:sp>
      <p:sp>
        <p:nvSpPr>
          <p:cNvPr id="58" name="칩 줄 글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인력증원(10명), 예산 상향(0.9억원)</a:t>
            </a:r>
          </a:p>
        </p:txBody>
      </p:sp>
      <p:sp>
        <p:nvSpPr>
          <p:cNvPr id="59" name="성과 머리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자회사 운영실태 평가</a:t>
            </a:r>
          </a:p>
        </p:txBody>
      </p:sp>
      <p:sp>
        <p:nvSpPr>
          <p:cNvPr id="60" name="성과 글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최고점수 A등급 달성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51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데스밸리 극복을 돕는 도전적 지원, 기업 생존율 제고 및 고용 창출 강화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분 석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대외환경 경기침체 장기화·기술패권 경쟁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정부정책 벤처·창업기업 지원 강화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분쟁·원자재값 폭등 등 변동성 심화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AI·로봇 등 딥테크가 불러온 기술경쟁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“창업 중심 국가로 대전환 정부 역량 총동원”</a:t>
            </a:r>
          </a:p>
        </p:txBody>
      </p:sp>
      <p:sp>
        <p:nvSpPr>
          <p:cNvPr id="19" name="레일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 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류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환류 물산업 기반 일자리 창출 지원 등 민간 일자리 확보 노력 지속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착안점 기후·환경산업 육성과 민간주도 스케일업 기반의 민관협력 정책 강화</a:t>
            </a:r>
          </a:p>
        </p:txBody>
      </p:sp>
      <p:sp>
        <p:nvSpPr>
          <p:cNvPr id="26" name="배너 글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국가 최대 인프라를 보유한 기후위기 대응 선도 공기업으로 물·기후테크 기업의 제3벤처붐 견인</a:t>
            </a:r>
          </a:p>
        </p:txBody>
      </p:sp>
      <p:sp>
        <p:nvSpPr>
          <p:cNvPr id="28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목 표</a:t>
            </a:r>
          </a:p>
        </p:txBody>
      </p:sp>
      <p:sp>
        <p:nvSpPr>
          <p:cNvPr id="29" name="배너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아이디어가 혁신으로, 딥테크 기업이 지속 성장하는 창업 숲주기 생태계 실현</a:t>
            </a:r>
          </a:p>
        </p:txBody>
      </p:sp>
      <p:sp>
        <p:nvSpPr>
          <p:cNvPr id="30" name="레일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 향</a:t>
            </a:r>
          </a:p>
        </p:txBody>
      </p:sp>
      <p:sp>
        <p:nvSpPr>
          <p:cNvPr id="32" name="머리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물+기후테크 스타트업 발굴·육성</a:t>
            </a:r>
          </a:p>
        </p:txBody>
      </p:sp>
      <p:sp>
        <p:nvSpPr>
          <p:cNvPr id="33" name="머리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투자확대·동반성장 환경 조성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현장의 목소리에 기반한 사내벤처 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기후테크 기업 양성으로 민간 고용 극대화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성장→스케일업 단계별 성장사다리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활성화 연계 상생형 일자리 창출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52</a:t>
            </a:r>
          </a:p>
        </p:txBody>
      </p:sp>
      <p:sp>
        <p:nvSpPr>
          <p:cNvPr id="4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5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사내벤처</a:t>
            </a:r>
          </a:p>
        </p:txBody>
      </p:sp>
      <p:sp>
        <p:nvSpPr>
          <p:cNvPr id="7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‘창업 몰입’ 환경 조성으로 사업화와 성장의 골든타임 확보</a:t>
            </a:r>
          </a:p>
        </p:txBody>
      </p:sp>
      <p:sp>
        <p:nvSpPr>
          <p:cNvPr id="8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1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사내벤처 직원 간담회 “사업화 골든타임을 놓치지 않도록 사전 준비기간이 필요해요”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전사 설명회 “현업과 병행한 기술상용화·창업 준비로 업무에 지장을 줄까 부담스러워요”</a:t>
            </a:r>
          </a:p>
        </p:txBody>
      </p:sp>
      <p:sp>
        <p:nvSpPr>
          <p:cNvPr id="15" name="태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16" name="캡션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성공적인 분사·창업 지원체계 마련으로 사내벤처 활성화 유도</a:t>
            </a:r>
          </a:p>
        </p:txBody>
      </p:sp>
      <p:sp>
        <p:nvSpPr>
          <p:cNvPr id="18" name="레일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 력</a:t>
            </a:r>
          </a:p>
        </p:txBody>
      </p:sp>
      <p:sp>
        <p:nvSpPr>
          <p:cNvPr id="19" name="단계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1 現 수준 파악</a:t>
            </a:r>
          </a:p>
        </p:txBody>
      </p:sp>
      <p:sp>
        <p:nvSpPr>
          <p:cNvPr id="20" name="단계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2 실효성 있는 제도 개선</a:t>
            </a:r>
          </a:p>
        </p:txBody>
      </p:sp>
      <p:sp>
        <p:nvSpPr>
          <p:cNvPr id="21" name="단계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3 성과 창출 견인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사내벤처 활성화를 위한 참여직원 대상 설문조사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설문내용 사전 준비 필요 여부·기간 / 결과 현업과 분리된 준비기간(5.5개월) 요구 多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인사관리 연계·기준 개정으로 사전 준비기간 확보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「사내벤처 운영기준」 개정, 창업 준비기간 확보 명문화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안정적 창업 준비기간 확보로 ‘시제품 개발’ 조기 완료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혁신 창업대전 우수상 수상</a:t>
            </a:r>
          </a:p>
        </p:txBody>
      </p:sp>
      <p:sp>
        <p:nvSpPr>
          <p:cNvPr id="30" name="핵심성과 라벨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1" name="핵심성과 문구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공기업 최다 19개사(’25년 2개사 2명) 분사 창업, ’25년 신규고용 16명(누계 113명) 창출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53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8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창업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정부사업 연계 하이브리드형 기업지원으로 스케일업 및 민간 고용 극대화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아쉬운점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 창업 지원사업 운영으로 좋은 평가를 얻었으나, 자체 지원사업과 연계 부족</a:t>
            </a:r>
          </a:p>
        </p:txBody>
      </p:sp>
      <p:sp>
        <p:nvSpPr>
          <p:cNvPr id="15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개선방향</a:t>
            </a:r>
          </a:p>
        </p:txBody>
      </p:sp>
      <p:sp>
        <p:nvSpPr>
          <p:cNvPr id="17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기후테크 역량으로 R&amp;D 인력 지원</a:t>
            </a:r>
          </a:p>
        </p:txBody>
      </p:sp>
      <p:sp>
        <p:nvSpPr>
          <p:cNvPr id="18" name="단계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수상 아이디어가 실제 창업으로</a:t>
            </a:r>
          </a:p>
        </p:txBody>
      </p:sp>
      <p:sp>
        <p:nvSpPr>
          <p:cNvPr id="19" name="단계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정부지원 이후 스케일업 도모</a:t>
            </a:r>
          </a:p>
        </p:txBody>
      </p:sp>
      <p:sp>
        <p:nvSpPr>
          <p:cNvPr id="27" name="레일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추진노력</a:t>
            </a:r>
          </a:p>
        </p:txBody>
      </p:sp>
      <p:sp>
        <p:nvSpPr>
          <p:cNvPr id="29" name="머리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창업패키지</a:t>
            </a:r>
          </a:p>
        </p:txBody>
      </p:sp>
      <p:sp>
        <p:nvSpPr>
          <p:cNvPr id="30" name="머리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혁신창업대전</a:t>
            </a:r>
          </a:p>
        </p:txBody>
      </p:sp>
      <p:sp>
        <p:nvSpPr>
          <p:cNvPr id="31" name="머리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협력 스타트업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딥테크 트랙 패키지 사업 수주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친환경·에너지 분야 유망기업 추가 보육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기대효과 자금난 해소 및 고용 창출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최종 수상팀 간담회 의견수렴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실무중심 부트캠프 커리큘럼 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추가개선 부트캠프 만족도 상향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기술 상용화 기간 현실화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추천공모제 업력요건 폐지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기대효과 시장안착·고도화 견인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고용 375개 일자리 창출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고용 208개 일자리 창출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고용 1,163개 일자리 창출</a:t>
            </a:r>
          </a:p>
        </p:txBody>
      </p:sp>
      <p:sp>
        <p:nvSpPr>
          <p:cNvPr id="43" name="핵심성과 라벨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4" name="핵심성과 문구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자체·정부사업 연계 일자리 1,746개 창출, ‘최우수’ 운영기관 선정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54</a:t>
            </a:r>
          </a:p>
        </p:txBody>
      </p:sp>
      <p:sp>
        <p:nvSpPr>
          <p:cNvPr id="4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</a:t>
            </a:r>
          </a:p>
        </p:txBody>
      </p:sp>
      <p:sp>
        <p:nvSpPr>
          <p:cNvPr id="5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육성·성장</a:t>
            </a:r>
          </a:p>
        </p:txBody>
      </p:sp>
      <p:sp>
        <p:nvSpPr>
          <p:cNvPr id="7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성장자금부터 지역특화 VC까지, 고속성장 지원체계 강화</a:t>
            </a:r>
          </a:p>
        </p:txBody>
      </p:sp>
      <p:sp>
        <p:nvSpPr>
          <p:cNvPr id="8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산업환경 기후테크 분야는 높은 투자비용·민간투자 소외로 ‘데스밸리’ 현상 발생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국정목표 ‘벤처·중소기업이 혁신을 주도할 수 있는 금융 생태계를 조성한다’</a:t>
            </a:r>
          </a:p>
        </p:txBody>
      </p:sp>
      <p:sp>
        <p:nvSpPr>
          <p:cNvPr id="15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노력</a:t>
            </a:r>
          </a:p>
        </p:txBody>
      </p:sp>
      <p:sp>
        <p:nvSpPr>
          <p:cNvPr id="17" name="배너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성장을 거쳐 스케일업으로, 유니콘 기업까지 이어지는 성장 사다리 구축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성장 지역혁신벤처펀드 대폭 확대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스케일업 지역펀드 신규출자</a:t>
            </a:r>
          </a:p>
        </p:txBody>
      </p:sp>
      <p:sp>
        <p:nvSpPr>
          <p:cNvPr id="21" name="단계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투자심사역 양성·현장 방문</a:t>
            </a:r>
          </a:p>
        </p:txBody>
      </p:sp>
      <p:sp>
        <p:nvSpPr>
          <p:cNvPr id="22" name="단계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운용사 대상 IR 개최</a:t>
            </a:r>
          </a:p>
        </p:txBody>
      </p:sp>
      <p:sp>
        <p:nvSpPr>
          <p:cNvPr id="23" name="단계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물산업 투자 관심도 제고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450억원 신규투자 실시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펀드 투자재원 확보(200억원)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관심도 제고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실행결과 유망기업 43개사 성장자금 공급, 창업기업 돈맥경화 방지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실행결과 지역 창업기업 17개사에 투자 및 64명 고용 창출 기대</a:t>
            </a:r>
          </a:p>
        </p:txBody>
      </p:sp>
      <p:sp>
        <p:nvSpPr>
          <p:cNvPr id="35" name="핵심성과 라벨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6" name="핵심성과 문구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기후테크 창업기업 43개사에 출자펀드 650억원 투자 및 761명 일자리 창출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55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라.</a:t>
            </a:r>
          </a:p>
        </p:txBody>
      </p:sp>
      <p:sp>
        <p:nvSpPr>
          <p:cNvPr id="8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상생 일자리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지역 일자리 생태계를 활성화하는 로컬 친화적 창업지원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2" name="태그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SOC 기관으로서 협력기업 및 상생형 일자리 창출 관심 확대 필요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협업 지역주민·대학·시민단체와 협업한 지역 밀착형 창업지원 제공</a:t>
            </a:r>
          </a:p>
        </p:txBody>
      </p:sp>
      <p:sp>
        <p:nvSpPr>
          <p:cNvPr id="18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노력</a:t>
            </a:r>
          </a:p>
        </p:txBody>
      </p:sp>
      <p:sp>
        <p:nvSpPr>
          <p:cNvPr id="20" name="머리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AI·초격차 스타트업 잡 매칭 페어</a:t>
            </a:r>
          </a:p>
        </p:txBody>
      </p:sp>
      <p:sp>
        <p:nvSpPr>
          <p:cNvPr id="21" name="머리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주민과 함께한 ‘꿀벌식당’ 설립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내 신기술기업·구직자간 취업연결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AI 스타트업(10개사) ↔ 지역 대학생(53명)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7개 마을 지역주민 협동조합과 협력, 꿀벌을 활용한 수확물 제품 개발·창업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지역주민 일자리(19개), 소득(37백만원) 창출</a:t>
            </a:r>
          </a:p>
        </p:txBody>
      </p:sp>
      <p:sp>
        <p:nvSpPr>
          <p:cNvPr id="25" name="배너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지역기업 맞춤 구인과 풀뿌리 일자리를 지원해 지역 자생적 일자리 창출</a:t>
            </a:r>
          </a:p>
        </p:txBody>
      </p:sp>
      <p:sp>
        <p:nvSpPr>
          <p:cNvPr id="27" name="핵심성과 라벨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28" name="핵심성과 문구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지역 AI 스타트업 3개사 5명 채용 및 7개 마을 지역 일자리 19개 창출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56</a:t>
            </a:r>
          </a:p>
        </p:txBody>
      </p:sp>
      <p:sp>
        <p:nvSpPr>
          <p:cNvPr id="4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5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장애인</a:t>
            </a:r>
          </a:p>
        </p:txBody>
      </p:sp>
      <p:sp>
        <p:nvSpPr>
          <p:cNvPr id="7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‘불가능’이라는 한계를 넘어선 장애인 고용의 전환점</a:t>
            </a:r>
          </a:p>
        </p:txBody>
      </p:sp>
      <p:sp>
        <p:nvSpPr>
          <p:cNvPr id="8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0" name="태그칩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’24년을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돌아보고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질적 성과 장애 이해·공감 중심활동으로 근로자 만족도 상승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현황진단 법정 의무 고용률(3.8%) 달성에는 여전히 부족한 편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원인을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찾아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장애인 “근무장소까지 출·퇴근 하기가 부담스러워요”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내부직원 “장애인을 포용할 수 있는 직무 도입이 필요”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고용공단 “일할 수 있는 여건 조성이 가장 중요해요”</a:t>
            </a:r>
          </a:p>
        </p:txBody>
      </p:sp>
      <p:sp>
        <p:nvSpPr>
          <p:cNvPr id="24" name="태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25" name="캡션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일할 수 있는 환경을 조성하고 적합한 직무 부여를 통한 포용 일자리 확대</a:t>
            </a:r>
          </a:p>
        </p:txBody>
      </p:sp>
      <p:sp>
        <p:nvSpPr>
          <p:cNvPr id="28" name="레일 태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환경</a:t>
            </a:r>
          </a:p>
        </p:txBody>
      </p:sp>
      <p:sp>
        <p:nvSpPr>
          <p:cNvPr id="29" name="레일 라벨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근로여건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 성</a:t>
            </a:r>
          </a:p>
        </p:txBody>
      </p:sp>
      <p:sp>
        <p:nvSpPr>
          <p:cNvPr id="30" name="머리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재택근무 기반의 신규 직무 신설</a:t>
            </a:r>
          </a:p>
        </p:txBody>
      </p:sp>
      <p:sp>
        <p:nvSpPr>
          <p:cNvPr id="31" name="머리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시공간 제약없는 근무환경 조성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고용공단 협업 재택근무 기반 맞춤형 직무 개발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단독 업무수행 가능 직무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일 4시간 재택근무형 인턴 채용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디지털 오피스 근무여건 마련</a:t>
            </a:r>
          </a:p>
        </p:txBody>
      </p:sp>
      <p:sp>
        <p:nvSpPr>
          <p:cNvPr id="36" name="레일 태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</a:t>
            </a:r>
          </a:p>
        </p:txBody>
      </p:sp>
      <p:sp>
        <p:nvSpPr>
          <p:cNvPr id="37" name="레일 라벨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직무채용기반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마 련</a:t>
            </a:r>
          </a:p>
        </p:txBody>
      </p:sp>
      <p:sp>
        <p:nvSpPr>
          <p:cNvPr id="39" name="머리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시범 도입 직무 전사업장 확산</a:t>
            </a:r>
          </a:p>
        </p:txBody>
      </p:sp>
      <p:sp>
        <p:nvSpPr>
          <p:cNvPr id="40" name="머리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적합 직무 신규 개발·고용 확대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사택미화·기록물관리 직무 본사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전국 채용 확대, 직무매뉴얼 배포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전사 26명 신규 채용(’24년 14명)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장애 고용 TF·장애 직무 공모전 개최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생활지원서비스 직무 개발·채용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8명 고용</a:t>
            </a:r>
          </a:p>
        </p:txBody>
      </p:sp>
      <p:sp>
        <p:nvSpPr>
          <p:cNvPr id="45" name="레일 태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성장</a:t>
            </a:r>
          </a:p>
        </p:txBody>
      </p:sp>
      <p:sp>
        <p:nvSpPr>
          <p:cNvPr id="46" name="레일 라벨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고용안착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 원</a:t>
            </a:r>
          </a:p>
        </p:txBody>
      </p:sp>
      <p:sp>
        <p:nvSpPr>
          <p:cNvPr id="48" name="머리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조직적응 및 경력지원</a:t>
            </a:r>
          </a:p>
        </p:txBody>
      </p:sp>
      <p:sp>
        <p:nvSpPr>
          <p:cNvPr id="49" name="머리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포용문화 확산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초기 온보딩 및 맞춤 직무교육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후속 고용공단 연계 직업훈련 참여 지원</a:t>
            </a:r>
          </a:p>
        </p:txBody>
      </p:sp>
      <p:sp>
        <p:nvSpPr>
          <p:cNvPr id="51" name="칸 본문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 직장 내 장애인식 개선 콘서트 개최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 장애대학생 기업탐방, 채용설명회</a:t>
            </a:r>
          </a:p>
        </p:txBody>
      </p:sp>
      <p:sp>
        <p:nvSpPr>
          <p:cNvPr id="54" name="핵심성과 라벨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5" name="핵심성과 문구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역대 최고 장애 고용률 3.8% 달성(’24년 대비 0.32%p 상승, 법정 의무 고용률 준수)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57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8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고졸 인재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우수 인재 조기 확보·입직 지원을 위한 선제적 채용 추진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흐 름</a:t>
            </a:r>
          </a:p>
        </p:txBody>
      </p:sp>
      <p:sp>
        <p:nvSpPr>
          <p:cNvPr id="14" name="단계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정부·정책 변화</a:t>
            </a:r>
          </a:p>
        </p:txBody>
      </p:sp>
      <p:sp>
        <p:nvSpPr>
          <p:cNvPr id="15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정부목표 달성 이행 노력</a:t>
            </a:r>
          </a:p>
        </p:txBody>
      </p:sp>
      <p:sp>
        <p:nvSpPr>
          <p:cNvPr id="16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 창출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고졸채용 활성화를 위한 공공부문 의무목표 상향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경제정책 방향(’25.1): 경영평가 고졸 채용 만점 비율 상향(기존 8% → ’25년 9% → ’26년 10%)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마이스터고 채용설명회 “공공기관 채용인원이 많아져서 졸업 후 바로 취업하고 싶어요”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채용규모 확대 고졸 채용 29명 공고(전년 17명)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맞춤형 설명회 전남 고등학생 400명 대상 채용 상담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전년 대비 48% 채용규모 확대(’24년 23명 → ’25년 34명)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졸업 시기 고려, SOC군 최초 조기 채용 공고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58</a:t>
            </a:r>
          </a:p>
        </p:txBody>
      </p:sp>
      <p:sp>
        <p:nvSpPr>
          <p:cNvPr id="4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</a:t>
            </a:r>
          </a:p>
        </p:txBody>
      </p:sp>
      <p:sp>
        <p:nvSpPr>
          <p:cNvPr id="5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사회배려자</a:t>
            </a:r>
          </a:p>
        </p:txBody>
      </p:sp>
      <p:sp>
        <p:nvSpPr>
          <p:cNvPr id="7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자립청년을 시작으로 사회배려자 전반으로 고용 안전망 확장</a:t>
            </a:r>
          </a:p>
        </p:txBody>
      </p:sp>
      <p:sp>
        <p:nvSpPr>
          <p:cNvPr id="8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본사 소재 지역 외 전국 자립청년 대상으로 확대 필요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 환류 자립청년 外 취약계층 채용성과도 여전히 답보상태</a:t>
            </a:r>
          </a:p>
        </p:txBody>
      </p:sp>
      <p:sp>
        <p:nvSpPr>
          <p:cNvPr id="16" name="태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17" name="캡션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사회배려자(자립청년 포함) 고용·역량 강화 지원으로 안정적 일자리로의 연계 확대</a:t>
            </a:r>
          </a:p>
        </p:txBody>
      </p:sp>
      <p:sp>
        <p:nvSpPr>
          <p:cNvPr id="19" name="레일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방향</a:t>
            </a:r>
          </a:p>
        </p:txBody>
      </p:sp>
      <p:sp>
        <p:nvSpPr>
          <p:cNvPr id="20" name="배너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고용 취약계층(자립청년, 기초수급자, 다문화, 북한이탈, 한부모)을 사회배려자 범위로 재정의</a:t>
            </a:r>
          </a:p>
        </p:txBody>
      </p:sp>
      <p:sp>
        <p:nvSpPr>
          <p:cNvPr id="21" name="머리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참여 지원 확대</a:t>
            </a:r>
          </a:p>
        </p:txBody>
      </p:sp>
      <p:sp>
        <p:nvSpPr>
          <p:cNvPr id="22" name="머리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개인 성장 지원</a:t>
            </a:r>
          </a:p>
        </p:txBody>
      </p:sp>
      <p:sp>
        <p:nvSpPr>
          <p:cNvPr id="23" name="머리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❸ 정규직 연계 강화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본사 → 전국으로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홍보 전국 자립전담기관 대상 채용 전형 홍보 진행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역량 강화 사회배려자 청년 인턴 교육·면접 준비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이러닝 학습(직무·어학), 모의면접 훈련(재직자 1:1)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일반직 우수인턴 가점 부여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운영·실무직 별도 전형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「인사규정 채용세칙」 ‘사회배려자 통합전형 명문화’</a:t>
            </a:r>
          </a:p>
        </p:txBody>
      </p:sp>
      <p:sp>
        <p:nvSpPr>
          <p:cNvPr id="30" name="핵심성과 라벨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1" name="핵심성과 문구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SOC군 유일 사회배려자 전형으로 정규직 5명 채용(기초수급자 1, 한부모 2, 다문화 2)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59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라.</a:t>
            </a:r>
          </a:p>
        </p:txBody>
      </p:sp>
      <p:sp>
        <p:nvSpPr>
          <p:cNvPr id="8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지역인재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쏠림 없는 성과를 향해 지역인재 채용의 다음 단계 설계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국정방향 지역간 격차 해소 및 지방시대 구현 등 지역균형발전 강조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현황진단 ’24년 지역인재 채용률 60% 돌파 ➡ 특정 3개 권역 97.5% 편중</a:t>
            </a:r>
          </a:p>
        </p:txBody>
      </p:sp>
      <p:sp>
        <p:nvSpPr>
          <p:cNvPr id="18" name="태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19" name="캡션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‘양적 확대’에서 소외 권역을 포괄하는 ‘지역 균형 기반’ 질적 확대 필요</a:t>
            </a:r>
          </a:p>
        </p:txBody>
      </p:sp>
      <p:sp>
        <p:nvSpPr>
          <p:cNvPr id="22" name="레일 태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외연확장</a:t>
            </a:r>
          </a:p>
        </p:txBody>
      </p:sp>
      <p:sp>
        <p:nvSpPr>
          <p:cNvPr id="23" name="레일 라벨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광역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거버넌스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구 축</a:t>
            </a:r>
          </a:p>
        </p:txBody>
      </p:sp>
      <p:sp>
        <p:nvSpPr>
          <p:cNvPr id="24" name="머리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CEO 주도 전략적 연대 구축</a:t>
            </a:r>
          </a:p>
        </p:txBody>
      </p:sp>
      <p:sp>
        <p:nvSpPr>
          <p:cNvPr id="25" name="머리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지역상생 협약(’25.6)</a:t>
            </a:r>
          </a:p>
        </p:txBody>
      </p:sp>
      <p:sp>
        <p:nvSpPr>
          <p:cNvPr id="26" name="머리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우수인재 유치 홍보 강화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강원권 거점대학과 지역인재 양성 파트너십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지역인재 육성·취업 지원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지역상생 업무협약(’25.6) 사진 자리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소외권역 채용설명회 운영으로 지역인재 유입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0회 → ’25년 3회</a:t>
            </a:r>
          </a:p>
        </p:txBody>
      </p:sp>
      <p:sp>
        <p:nvSpPr>
          <p:cNvPr id="33" name="레일 태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인재육성</a:t>
            </a:r>
          </a:p>
        </p:txBody>
      </p:sp>
      <p:sp>
        <p:nvSpPr>
          <p:cNvPr id="34" name="레일 라벨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포용적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양 성</a:t>
            </a:r>
          </a:p>
        </p:txBody>
      </p:sp>
      <p:sp>
        <p:nvSpPr>
          <p:cNvPr id="36" name="배너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지역에서 키우고, 지역에서 채용하는 지역인재 육성 체계 구축</a:t>
            </a:r>
          </a:p>
        </p:txBody>
      </p:sp>
      <p:sp>
        <p:nvSpPr>
          <p:cNvPr id="37" name="머리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 장학회</a:t>
            </a:r>
          </a:p>
        </p:txBody>
      </p:sp>
      <p:sp>
        <p:nvSpPr>
          <p:cNvPr id="38" name="머리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배달 강좌제</a:t>
            </a:r>
          </a:p>
        </p:txBody>
      </p:sp>
      <p:sp>
        <p:nvSpPr>
          <p:cNvPr id="39" name="머리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현장실습형 인턴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취약 아동(186명) 대상 맞춤형 학습 서비스 제공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대학생(28명) ↔ 소외아동(243명) 학습지원 프로그램 운영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전공·희망직무 매칭 현장 실습형 인턴 채용(37명)</a:t>
            </a:r>
          </a:p>
        </p:txBody>
      </p:sp>
      <p:sp>
        <p:nvSpPr>
          <p:cNvPr id="46" name="핵심성과 라벨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7" name="핵심성과 문구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지역인재 채용률 66.0%(’24년 63.4%, 2.6%p 증가)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사각지대(강원·제주지역) 인재 유입 3.25배 증가(’24년 4명 → ’25년 13명)</a:t>
            </a:r>
          </a:p>
        </p:txBody>
      </p:sp>
      <p:sp>
        <p:nvSpPr>
          <p:cNvPr id="49" name="성과 라벨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사회형평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종합실적</a:t>
            </a:r>
          </a:p>
        </p:txBody>
      </p:sp>
      <p:sp>
        <p:nvSpPr>
          <p:cNvPr id="50" name="성과 띠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고졸 인재를 제외한 사회형평적 채용 분야 채용목표 초과 달성</a:t>
            </a:r>
          </a:p>
        </p:txBody>
      </p:sp>
      <p:sp>
        <p:nvSpPr>
          <p:cNvPr id="52" name="카드 문구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장애인</a:t>
            </a:r>
          </a:p>
        </p:txBody>
      </p:sp>
      <p:sp>
        <p:nvSpPr>
          <p:cNvPr id="54" name="값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3.48%</a:t>
            </a:r>
          </a:p>
        </p:txBody>
      </p:sp>
      <p:sp>
        <p:nvSpPr>
          <p:cNvPr id="55" name="연도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57" name="값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3.8%</a:t>
            </a:r>
          </a:p>
        </p:txBody>
      </p:sp>
      <p:sp>
        <p:nvSpPr>
          <p:cNvPr id="58" name="연도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목표</a:t>
            </a:r>
          </a:p>
        </p:txBody>
      </p:sp>
      <p:sp>
        <p:nvSpPr>
          <p:cNvPr id="60" name="값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3.8%</a:t>
            </a:r>
          </a:p>
        </p:txBody>
      </p:sp>
      <p:sp>
        <p:nvSpPr>
          <p:cNvPr id="61" name="연도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63" name="카드 문구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고졸 인재</a:t>
            </a:r>
          </a:p>
        </p:txBody>
      </p:sp>
      <p:sp>
        <p:nvSpPr>
          <p:cNvPr id="65" name="값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23명</a:t>
            </a:r>
          </a:p>
        </p:txBody>
      </p:sp>
      <p:sp>
        <p:nvSpPr>
          <p:cNvPr id="66" name="연도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68" name="값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38명</a:t>
            </a:r>
          </a:p>
        </p:txBody>
      </p:sp>
      <p:sp>
        <p:nvSpPr>
          <p:cNvPr id="69" name="연도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목표</a:t>
            </a:r>
          </a:p>
        </p:txBody>
      </p:sp>
      <p:sp>
        <p:nvSpPr>
          <p:cNvPr id="71" name="값"/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34명</a:t>
            </a:r>
          </a:p>
        </p:txBody>
      </p:sp>
      <p:sp>
        <p:nvSpPr>
          <p:cNvPr id="72" name="연도"/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74" name="카드 문구"/>
          <p:cNvSpPr>
            <a:spLocks noGrp="1"/>
          </p:cNvSpPr>
          <p:nvPr>
            <p:ph type="body" sz="quarter" idx="6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사회배려자</a:t>
            </a:r>
          </a:p>
        </p:txBody>
      </p:sp>
      <p:sp>
        <p:nvSpPr>
          <p:cNvPr id="76" name="값"/>
          <p:cNvSpPr>
            <a:spLocks noGrp="1"/>
          </p:cNvSpPr>
          <p:nvPr>
            <p:ph type="body" sz="quarter" idx="6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1명</a:t>
            </a:r>
          </a:p>
        </p:txBody>
      </p:sp>
      <p:sp>
        <p:nvSpPr>
          <p:cNvPr id="77" name="연도"/>
          <p:cNvSpPr>
            <a:spLocks noGrp="1"/>
          </p:cNvSpPr>
          <p:nvPr>
            <p:ph type="body" sz="quarter" idx="6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79" name="값"/>
          <p:cNvSpPr>
            <a:spLocks noGrp="1"/>
          </p:cNvSpPr>
          <p:nvPr>
            <p:ph type="body" sz="quarter" idx="6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5명</a:t>
            </a:r>
          </a:p>
        </p:txBody>
      </p:sp>
      <p:sp>
        <p:nvSpPr>
          <p:cNvPr id="80" name="연도"/>
          <p:cNvSpPr>
            <a:spLocks noGrp="1"/>
          </p:cNvSpPr>
          <p:nvPr>
            <p:ph type="body" sz="quarter" idx="6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목표</a:t>
            </a:r>
          </a:p>
        </p:txBody>
      </p:sp>
      <p:sp>
        <p:nvSpPr>
          <p:cNvPr id="82" name="값"/>
          <p:cNvSpPr>
            <a:spLocks noGrp="1"/>
          </p:cNvSpPr>
          <p:nvPr>
            <p:ph type="body" sz="quarter" idx="6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5명</a:t>
            </a:r>
          </a:p>
        </p:txBody>
      </p:sp>
      <p:sp>
        <p:nvSpPr>
          <p:cNvPr id="83" name="연도"/>
          <p:cNvSpPr>
            <a:spLocks noGrp="1"/>
          </p:cNvSpPr>
          <p:nvPr>
            <p:ph type="body" sz="quarter" idx="7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85" name="카드 문구"/>
          <p:cNvSpPr>
            <a:spLocks noGrp="1"/>
          </p:cNvSpPr>
          <p:nvPr>
            <p:ph type="body" sz="quarter" idx="7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자립청년</a:t>
            </a:r>
          </a:p>
        </p:txBody>
      </p:sp>
      <p:sp>
        <p:nvSpPr>
          <p:cNvPr id="87" name="값"/>
          <p:cNvSpPr>
            <a:spLocks noGrp="1"/>
          </p:cNvSpPr>
          <p:nvPr>
            <p:ph type="body" sz="quarter" idx="7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5명</a:t>
            </a:r>
          </a:p>
        </p:txBody>
      </p:sp>
      <p:sp>
        <p:nvSpPr>
          <p:cNvPr id="88" name="연도"/>
          <p:cNvSpPr>
            <a:spLocks noGrp="1"/>
          </p:cNvSpPr>
          <p:nvPr>
            <p:ph type="body" sz="quarter" idx="7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90" name="값"/>
          <p:cNvSpPr>
            <a:spLocks noGrp="1"/>
          </p:cNvSpPr>
          <p:nvPr>
            <p:ph type="body" sz="quarter" idx="7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6명</a:t>
            </a:r>
          </a:p>
        </p:txBody>
      </p:sp>
      <p:sp>
        <p:nvSpPr>
          <p:cNvPr id="91" name="연도"/>
          <p:cNvSpPr>
            <a:spLocks noGrp="1"/>
          </p:cNvSpPr>
          <p:nvPr>
            <p:ph type="body" sz="quarter" idx="7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목표</a:t>
            </a:r>
          </a:p>
        </p:txBody>
      </p:sp>
      <p:sp>
        <p:nvSpPr>
          <p:cNvPr id="93" name="값"/>
          <p:cNvSpPr>
            <a:spLocks noGrp="1"/>
          </p:cNvSpPr>
          <p:nvPr>
            <p:ph type="body" sz="quarter" idx="7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7명</a:t>
            </a:r>
          </a:p>
        </p:txBody>
      </p:sp>
      <p:sp>
        <p:nvSpPr>
          <p:cNvPr id="94" name="연도"/>
          <p:cNvSpPr>
            <a:spLocks noGrp="1"/>
          </p:cNvSpPr>
          <p:nvPr>
            <p:ph type="body" sz="quarter" idx="7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96" name="카드 문구"/>
          <p:cNvSpPr>
            <a:spLocks noGrp="1"/>
          </p:cNvSpPr>
          <p:nvPr>
            <p:ph type="body" sz="quarter" idx="7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지역인재</a:t>
            </a:r>
          </a:p>
        </p:txBody>
      </p:sp>
      <p:sp>
        <p:nvSpPr>
          <p:cNvPr id="98" name="값"/>
          <p:cNvSpPr>
            <a:spLocks noGrp="1"/>
          </p:cNvSpPr>
          <p:nvPr>
            <p:ph type="body" sz="quarter" idx="7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161명</a:t>
            </a:r>
          </a:p>
        </p:txBody>
      </p:sp>
      <p:sp>
        <p:nvSpPr>
          <p:cNvPr id="99" name="연도"/>
          <p:cNvSpPr>
            <a:spLocks noGrp="1"/>
          </p:cNvSpPr>
          <p:nvPr>
            <p:ph type="body" sz="quarter" idx="8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101" name="값"/>
          <p:cNvSpPr>
            <a:spLocks noGrp="1"/>
          </p:cNvSpPr>
          <p:nvPr>
            <p:ph type="body" sz="quarter" idx="8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148명</a:t>
            </a:r>
          </a:p>
        </p:txBody>
      </p:sp>
      <p:sp>
        <p:nvSpPr>
          <p:cNvPr id="102" name="연도"/>
          <p:cNvSpPr>
            <a:spLocks noGrp="1"/>
          </p:cNvSpPr>
          <p:nvPr>
            <p:ph type="body" sz="quarter" idx="8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목표</a:t>
            </a:r>
          </a:p>
        </p:txBody>
      </p:sp>
      <p:sp>
        <p:nvSpPr>
          <p:cNvPr id="104" name="값"/>
          <p:cNvSpPr>
            <a:spLocks noGrp="1"/>
          </p:cNvSpPr>
          <p:nvPr>
            <p:ph type="body" sz="quarter" idx="8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279명</a:t>
            </a:r>
          </a:p>
        </p:txBody>
      </p:sp>
      <p:sp>
        <p:nvSpPr>
          <p:cNvPr id="105" name="연도"/>
          <p:cNvSpPr>
            <a:spLocks noGrp="1"/>
          </p:cNvSpPr>
          <p:nvPr>
            <p:ph type="body" sz="quarter" idx="8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107" name="카드 문구"/>
          <p:cNvSpPr>
            <a:spLocks noGrp="1"/>
          </p:cNvSpPr>
          <p:nvPr>
            <p:ph type="body" sz="quarter" idx="8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국가 유공자</a:t>
            </a:r>
          </a:p>
        </p:txBody>
      </p:sp>
      <p:sp>
        <p:nvSpPr>
          <p:cNvPr id="109" name="값"/>
          <p:cNvSpPr>
            <a:spLocks noGrp="1"/>
          </p:cNvSpPr>
          <p:nvPr>
            <p:ph type="body" sz="quarter" idx="8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9%</a:t>
            </a:r>
          </a:p>
        </p:txBody>
      </p:sp>
      <p:sp>
        <p:nvSpPr>
          <p:cNvPr id="110" name="연도"/>
          <p:cNvSpPr>
            <a:spLocks noGrp="1"/>
          </p:cNvSpPr>
          <p:nvPr>
            <p:ph type="body" sz="quarter" idx="8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112" name="값"/>
          <p:cNvSpPr>
            <a:spLocks noGrp="1"/>
          </p:cNvSpPr>
          <p:nvPr>
            <p:ph type="body" sz="quarter" idx="8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9%</a:t>
            </a:r>
          </a:p>
        </p:txBody>
      </p:sp>
      <p:sp>
        <p:nvSpPr>
          <p:cNvPr id="113" name="연도"/>
          <p:cNvSpPr>
            <a:spLocks noGrp="1"/>
          </p:cNvSpPr>
          <p:nvPr>
            <p:ph type="body" sz="quarter" idx="8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목표</a:t>
            </a:r>
          </a:p>
        </p:txBody>
      </p:sp>
      <p:sp>
        <p:nvSpPr>
          <p:cNvPr id="115" name="값"/>
          <p:cNvSpPr>
            <a:spLocks noGrp="1"/>
          </p:cNvSpPr>
          <p:nvPr>
            <p:ph type="body" sz="quarter" idx="9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9%</a:t>
            </a:r>
          </a:p>
        </p:txBody>
      </p:sp>
      <p:sp>
        <p:nvSpPr>
          <p:cNvPr id="116" name="연도"/>
          <p:cNvSpPr>
            <a:spLocks noGrp="1"/>
          </p:cNvSpPr>
          <p:nvPr>
            <p:ph type="body" sz="quarter" idx="9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60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양성평등 기반의 근무환경으로 여성인재와 함께 성장하는 조직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성과환류</a:t>
            </a:r>
          </a:p>
        </p:txBody>
      </p:sp>
      <p:sp>
        <p:nvSpPr>
          <p:cNvPr id="11" name="칸 본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가족친화제도 구축·여성 승진 규모 상승에도 불구, 인사지표 직원만족도 정체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여성관리자 육성, 성장경로 마련 노력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직원 의견 제도 사용시 눈치보지 않는 문화 조성</a:t>
            </a:r>
          </a:p>
        </p:txBody>
      </p:sp>
      <p:sp>
        <p:nvSpPr>
          <p:cNvPr id="15" name="태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16" name="캡션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성별의 벽을 허무는 역량 중심 성장경로 확립과 직원 체감형 조직문화 조성 필요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61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눈치보지 않는 조직문화, 역량 중심 인사관리로 여성리더 양성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0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당당한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조직문화</a:t>
            </a:r>
          </a:p>
        </p:txBody>
      </p:sp>
      <p:sp>
        <p:nvSpPr>
          <p:cNvPr id="14" name="단계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가족친화제도 설계</a:t>
            </a:r>
          </a:p>
        </p:txBody>
      </p:sp>
      <p:sp>
        <p:nvSpPr>
          <p:cNvPr id="15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가족친화문화 정착</a:t>
            </a:r>
          </a:p>
        </p:txBody>
      </p:sp>
      <p:sp>
        <p:nvSpPr>
          <p:cNvPr id="16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문화 경력중단 없는 공정·성장 지원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육아집중형 근무제 등 육아공백 Zero 제도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인사혁신 우수사례 대통령상 수상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제도 참여율 내평 가점 부여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사보·기획기사 등 사례 공유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육아휴직 복직자 희망부서 100% 배치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육아휴직자 승진대상자 최초 포함</a:t>
            </a:r>
          </a:p>
        </p:txBody>
      </p:sp>
      <p:sp>
        <p:nvSpPr>
          <p:cNvPr id="24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공정한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인사관리</a:t>
            </a:r>
          </a:p>
        </p:txBody>
      </p:sp>
      <p:sp>
        <p:nvSpPr>
          <p:cNvPr id="26" name="머리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승진 성별 무관 역량 중심 승진</a:t>
            </a:r>
          </a:p>
        </p:txBody>
      </p:sp>
      <p:sp>
        <p:nvSpPr>
          <p:cNvPr id="27" name="머리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배치 능력 기반 여성인재 적소적재 배치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육아 휴직기간 100% 근속기간 인정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역량 중심 신승진시험제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여성 초급관리자 선두승진 배출(11명)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여성 관리자 전문성·역량중심 여성 간부직 현장 최전선 배치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여성 인재 직무 공모제 심사로 주요직무 여성직원 배치(7명)</a:t>
            </a:r>
          </a:p>
        </p:txBody>
      </p:sp>
      <p:sp>
        <p:nvSpPr>
          <p:cNvPr id="31" name="레일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여성임원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 대</a:t>
            </a:r>
          </a:p>
        </p:txBody>
      </p:sp>
      <p:sp>
        <p:nvSpPr>
          <p:cNvPr id="33" name="머리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상임이사 여성 임원 후보 Pool 확대</a:t>
            </a:r>
          </a:p>
        </p:txBody>
      </p:sp>
      <p:sp>
        <p:nvSpPr>
          <p:cNvPr id="34" name="머리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비상임이사 여성 임원 선임 노력 지속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상임이사 후보군(부서장급) 규모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임원 양성 전문교육 선발(2명)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임원추천위원회 외부위원 전원 여성 임명(2명)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양성평등 임원 목표달성 안내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62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공정·공감 채용과 맞춤형 육성으로 미래 여성인재 Pool 확대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7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9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우수인재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채 용</a:t>
            </a:r>
          </a:p>
        </p:txBody>
      </p:sp>
      <p:sp>
        <p:nvSpPr>
          <p:cNvPr id="10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공감대를 형성하고 여성 직원 취업 노하우</a:t>
            </a:r>
          </a:p>
        </p:txBody>
      </p:sp>
      <p:sp>
        <p:nvSpPr>
          <p:cNvPr id="11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경쟁은 공정하게 차별 없는 채용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심리적 장벽 완화로 설명회 몰입도·채용 홍보효과 제고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여성 육성방안·성장경로 제시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면접위원 특정 성 비율 40% 이상 의무화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외부인증 블라인드 공정채용 선도기관 인증</a:t>
            </a:r>
          </a:p>
        </p:txBody>
      </p:sp>
      <p:sp>
        <p:nvSpPr>
          <p:cNvPr id="15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미래리더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육 성</a:t>
            </a:r>
          </a:p>
        </p:txBody>
      </p:sp>
      <p:sp>
        <p:nvSpPr>
          <p:cNvPr id="17" name="머리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맞춤형 교육 여성 생애주기 기반</a:t>
            </a:r>
          </a:p>
        </p:txBody>
      </p:sp>
      <p:sp>
        <p:nvSpPr>
          <p:cNvPr id="18" name="머리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전문가 교육 여성관리자 양성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대리·사원 상시 온라인 학습 제공으로 역량 강화 기회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과장·복직자 현업복귀·직무적응 중심 교육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부서장·부장 리더십 스킬과정 세분화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공모절차 기반 전문기관 교육 파견 4명 선발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서울대, KDI, 성균관대 등</a:t>
            </a:r>
          </a:p>
        </p:txBody>
      </p:sp>
      <p:sp>
        <p:nvSpPr>
          <p:cNvPr id="22" name="배너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단계별 체계적 교육 지원으로 역량 중심 여성관리자 성장 환경 조성</a:t>
            </a:r>
          </a:p>
        </p:txBody>
      </p:sp>
      <p:sp>
        <p:nvSpPr>
          <p:cNvPr id="24" name="핵심성과 라벨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25" name="핵심성과 문구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여성관리자 최고치 달성(13.6→15%), 육아휴직 中 최초 승진, 여성채용(정규직) 증가(114→170명)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권익위 종합청렴도(88.1→92.2점), 신뢰경영지수(87→91점) 역대 최고 수준 달성</a:t>
            </a: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63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CEO의 ‘안전 최우선 가치’ 경영철학을 반영한 안전혁신</a:t>
            </a:r>
          </a:p>
        </p:txBody>
      </p:sp>
      <p:sp>
        <p:nvSpPr>
          <p:cNvPr id="14" name="레일 태그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평가지적</a:t>
            </a:r>
          </a:p>
        </p:txBody>
      </p:sp>
      <p:sp>
        <p:nvSpPr>
          <p:cNvPr id="15" name="레일 라벨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 주 소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중대재해 댐, 수도, 단지 건설 및 운영 등 고위험·취약시설 多 → 중대재해 지속 발생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대책 원인분석 ▸ 사업장 관리·예방 체계 개선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안전등급 지속적인 ‘안전역량’ 향상 노력 불구 ’24년 안전관리등급 하락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대책 안전 역량·수준·성과 개선과제 이행관리</a:t>
            </a:r>
          </a:p>
        </p:txBody>
      </p:sp>
      <p:sp>
        <p:nvSpPr>
          <p:cNvPr id="20" name="태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추진전략</a:t>
            </a:r>
          </a:p>
        </p:txBody>
      </p:sp>
      <p:sp>
        <p:nvSpPr>
          <p:cNvPr id="21" name="캡션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안전사고의 근본적 차단을 위하여 안전경영시스템 전반의 패러다임 전환 필요</a:t>
            </a:r>
          </a:p>
        </p:txBody>
      </p:sp>
      <p:sp>
        <p:nvSpPr>
          <p:cNvPr id="23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분 석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국정방향 생명과 안전 중시 사회 지향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전종사자 대상 안전보건체계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안전관리 실효성 제고 및 법적기준 강화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직원인식 지속 상승 불구, 체감도 저조 여전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안전의식 수준 77.6점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현장작동성·안전인프라·안전소통 인식 저조</a:t>
            </a:r>
          </a:p>
        </p:txBody>
      </p:sp>
      <p:sp>
        <p:nvSpPr>
          <p:cNvPr id="27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C E O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의 지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핵심가치 안전은 모든 경영활동의 시작이자 기본, 핵심 가치는 안전(’25 신년사)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안전우선 ‘안전하지 않으면 일하지 않는다’는 마음으로, 개인 안전을 최우선</a:t>
            </a:r>
          </a:p>
        </p:txBody>
      </p:sp>
      <p:sp>
        <p:nvSpPr>
          <p:cNvPr id="31" name="태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32" name="캡션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안전을 최우선 가치로 삼아 현장의 실효성 있는 사고예방을 위한 안전체계 강화</a:t>
            </a:r>
          </a:p>
        </p:txBody>
      </p:sp>
      <p:sp>
        <p:nvSpPr>
          <p:cNvPr id="34" name="레일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추진방향</a:t>
            </a:r>
          </a:p>
        </p:txBody>
      </p:sp>
      <p:sp>
        <p:nvSpPr>
          <p:cNvPr id="35" name="단계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안전경영체계 고도화</a:t>
            </a:r>
          </a:p>
        </p:txBody>
      </p:sp>
      <p:sp>
        <p:nvSpPr>
          <p:cNvPr id="36" name="단계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현장 작동성 실효성 제고</a:t>
            </a:r>
          </a:p>
        </p:txBody>
      </p:sp>
      <p:sp>
        <p:nvSpPr>
          <p:cNvPr id="37" name="단계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스마트 기술 기반 안전인프라 고도화</a:t>
            </a:r>
          </a:p>
        </p:txBody>
      </p:sp>
      <p:sp>
        <p:nvSpPr>
          <p:cNvPr id="38" name="단계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소통 참여 기반 안전문화의식 제고</a:t>
            </a:r>
          </a:p>
        </p:txBody>
      </p:sp>
      <p:sp>
        <p:nvSpPr>
          <p:cNvPr id="49" name="레일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실행과제</a:t>
            </a:r>
          </a:p>
        </p:txBody>
      </p:sp>
      <p:sp>
        <p:nvSpPr>
          <p:cNvPr id="51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조직 및 인력 확충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건설공사 체계개선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소통회의 활성화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안전의식 환류 강화</a:t>
            </a:r>
          </a:p>
        </p:txBody>
      </p:sp>
      <p:sp>
        <p:nvSpPr>
          <p:cNvPr id="52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작업중지권 보장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TBM 내실화/개선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위험성평가 표준화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현장관리 감리강화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스마트안전장비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모바일 PDCA 체계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전현장 통합감시·대응시스템 구축</a:t>
            </a:r>
          </a:p>
        </p:txBody>
      </p:sp>
      <p:sp>
        <p:nvSpPr>
          <p:cNvPr id="56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안전문화브랜드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 참여 안전보건문화축제 지속 확대</a:t>
            </a:r>
          </a:p>
        </p:txBody>
      </p:sp>
      <p:sp>
        <p:nvSpPr>
          <p:cNvPr id="58" name="레일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실행기반</a:t>
            </a:r>
          </a:p>
        </p:txBody>
      </p:sp>
      <p:sp>
        <p:nvSpPr>
          <p:cNvPr id="60" name="태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규정/제도</a:t>
            </a:r>
          </a:p>
        </p:txBody>
      </p:sp>
      <p:sp>
        <p:nvSpPr>
          <p:cNvPr id="61" name="태그 설명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안전보건규정, 건설공사 안전관리 업무기준 등 / ISO45001, KOSHA-MS 등</a:t>
            </a:r>
          </a:p>
        </p:txBody>
      </p:sp>
      <p:sp>
        <p:nvSpPr>
          <p:cNvPr id="62" name="태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안전조직</a:t>
            </a:r>
          </a:p>
        </p:txBody>
      </p:sp>
      <p:sp>
        <p:nvSpPr>
          <p:cNvPr id="63" name="태그 설명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본사 안전본부, 본부 안전보건센터, 현장 산업안전담당자, 자문 안전경영위원회</a:t>
            </a:r>
          </a:p>
        </p:txBody>
      </p:sp>
      <p:sp>
        <p:nvSpPr>
          <p:cNvPr id="64" name="태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소통회의</a:t>
            </a:r>
          </a:p>
        </p:txBody>
      </p:sp>
      <p:sp>
        <p:nvSpPr>
          <p:cNvPr id="65" name="태그 설명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전사 안전활동 소통회의(매월), 안전보건리더 소통회의(분기)</a:t>
            </a:r>
          </a:p>
        </p:txBody>
      </p:sp>
      <p:sp>
        <p:nvSpPr>
          <p:cNvPr id="66" name="태그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시스템</a:t>
            </a:r>
          </a:p>
        </p:txBody>
      </p:sp>
      <p:sp>
        <p:nvSpPr>
          <p:cNvPr id="67" name="태그 설명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산업안전포털, 전사적리스크관리(KRM), 스마트산업안전관리시스템 등</a:t>
            </a:r>
          </a:p>
        </p:txBody>
      </p:sp>
      <p:sp>
        <p:nvSpPr>
          <p:cNvPr id="68" name="태그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평가/점검</a:t>
            </a:r>
          </a:p>
        </p:txBody>
      </p:sp>
      <p:sp>
        <p:nvSpPr>
          <p:cNvPr id="69" name="태그 설명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 안전관리등급제 등, 내부 내부평가 등 / 임원 현장점검(멘토링) 등</a:t>
            </a:r>
          </a:p>
        </p:txBody>
      </p:sp>
      <p:sp>
        <p:nvSpPr>
          <p:cNvPr id="71" name="핵심성과 라벨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72" name="핵심성과 문구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K-water 산업재해 발생 감소(’24년 67명 → ’25년 51명, 24%↓)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공공 건설공사 참여자 「안전관리 수준평가」 ‘우수’ 등급 달성</a:t>
            </a: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64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‘모두의 안전’을 위한 안전경영체계 고도화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안전경영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 계</a:t>
            </a:r>
          </a:p>
        </p:txBody>
      </p:sp>
      <p:sp>
        <p:nvSpPr>
          <p:cNvPr id="11" name="칸 본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P 안전목표·전략·실행과제 수립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법적 정합성 제고(규정 현행화)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D 안전조직 정렬(본사·본부·현장)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예산, 인프라 확대 / 훈련 강화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 내부평가 반영/인센티브 부여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안전의식 제고·문화 확산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 소통점검회의/내부심사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근로자 의견수렴/안전수준 조사</a:t>
            </a:r>
          </a:p>
        </p:txBody>
      </p:sp>
      <p:sp>
        <p:nvSpPr>
          <p:cNvPr id="18" name="배너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안전한 일터, 행복한 이웃 (근로자·협력업체·시민·지역사회)</a:t>
            </a: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65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8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안전조직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중대재해 중점 예방관리를 위한 건설공사 수행체계 개선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레일 태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총괄기능</a:t>
            </a:r>
          </a:p>
        </p:txBody>
      </p:sp>
      <p:sp>
        <p:nvSpPr>
          <p:cNvPr id="15" name="레일 라벨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조직강화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인력확충</a:t>
            </a:r>
          </a:p>
        </p:txBody>
      </p:sp>
      <p:sp>
        <p:nvSpPr>
          <p:cNvPr id="16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단일부서</a:t>
            </a:r>
          </a:p>
        </p:txBody>
      </p:sp>
      <p:sp>
        <p:nvSpPr>
          <p:cNvPr id="17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사항</a:t>
            </a:r>
          </a:p>
        </p:txBody>
      </p:sp>
      <p:sp>
        <p:nvSpPr>
          <p:cNvPr id="18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전문조직·인력 확대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부사장(CSO)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안전혁신실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직할 5부  총 40명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안전조직 위상 제고 본부장급으로 격상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건설안전관리 강화 部 → 부서로 격상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현장작동성 점검 안전기동반 신설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안전문화·의식 개선 안전문화부 신설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안전예산 증대 ’21년 6,217억원 ➡ ’25년 8,890억원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부사장(CSO)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안전본부 · 건설안전처(3부)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직할 4부  총 48명(20%↑)</a:t>
            </a:r>
          </a:p>
        </p:txBody>
      </p:sp>
      <p:sp>
        <p:nvSpPr>
          <p:cNvPr id="25" name="레일 태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현장부서</a:t>
            </a:r>
          </a:p>
        </p:txBody>
      </p:sp>
      <p:sp>
        <p:nvSpPr>
          <p:cNvPr id="26" name="레일 라벨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건설사업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수행체계</a:t>
            </a:r>
          </a:p>
        </p:txBody>
      </p:sp>
      <p:sp>
        <p:nvSpPr>
          <p:cNvPr id="28" name="단계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공사·운영업무 혼재</a:t>
            </a:r>
          </a:p>
        </p:txBody>
      </p:sp>
      <p:sp>
        <p:nvSpPr>
          <p:cNvPr id="29" name="단계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공사 전담 시행체계로 전환(현장관리 집중)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역량 분산, 업무 과다(효율성 저하)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수도지사 · 댐지사 아래 운영/공사 혼재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건설공사 전담수행조직 전국적 확대(4 → 9개)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수도지사 / 사업단 / 댐지사 아래 운영·공사 분리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66</a:t>
            </a:r>
          </a:p>
        </p:txBody>
      </p:sp>
      <p:sp>
        <p:nvSpPr>
          <p:cNvPr id="4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5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소통/점검</a:t>
            </a:r>
          </a:p>
        </p:txBody>
      </p:sp>
      <p:sp>
        <p:nvSpPr>
          <p:cNvPr id="7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CEO 중심 안전보건 체계로 안전사령탑 강화</a:t>
            </a:r>
          </a:p>
        </p:txBody>
      </p:sp>
      <p:sp>
        <p:nvSpPr>
          <p:cNvPr id="8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실질적 작업위험 감소 위한 CSO 주관 「위험작업 점검회의(매월)」 운영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대내외 안전여건 변화, 경영진 의견 반영하여 운영방안 개선 검토</a:t>
            </a:r>
          </a:p>
        </p:txBody>
      </p:sp>
      <p:sp>
        <p:nvSpPr>
          <p:cNvPr id="15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CEO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중 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활 동</a:t>
            </a:r>
          </a:p>
        </p:txBody>
      </p:sp>
      <p:sp>
        <p:nvSpPr>
          <p:cNvPr id="17" name="머리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정책 정합성 및 니즈 확인</a:t>
            </a:r>
          </a:p>
        </p:txBody>
      </p:sp>
      <p:sp>
        <p:nvSpPr>
          <p:cNvPr id="18" name="머리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안전보건 리더십 강화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정부정책 위험예측·예방 대비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내부의견 안전경영 CEO 의지 전파, 안전경각심 내실화 위해 강화 필요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CSO 중심 ‘위험작업 위주 공유’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CEO 주관 안전회의 확대(’24년 11회 → ’25년 14회)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산재현황, 예방활동, 안전의식개선 등 논의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67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</a:t>
            </a:r>
          </a:p>
        </p:txBody>
      </p:sp>
      <p:sp>
        <p:nvSpPr>
          <p:cNvPr id="8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환류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안전문화·의식 수준 진단체계 개선으로 환류 실효성 강화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2" name="태그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현황분석 자체 개발 진단체계 활용, 조사참여에 대한 심리적 부담 상승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안전의식 수준진단 참여 저조, 진단결과 정확성 확보 위해 개선 필요</a:t>
            </a:r>
          </a:p>
        </p:txBody>
      </p:sp>
      <p:sp>
        <p:nvSpPr>
          <p:cNvPr id="19" name="레일 태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환류체계 개선</a:t>
            </a:r>
          </a:p>
        </p:txBody>
      </p:sp>
      <p:sp>
        <p:nvSpPr>
          <p:cNvPr id="20" name="레일 라벨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정확한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수준진단</a:t>
            </a:r>
          </a:p>
        </p:txBody>
      </p:sp>
      <p:sp>
        <p:nvSpPr>
          <p:cNvPr id="22" name="머리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진단체계 신뢰성 확보 노력</a:t>
            </a:r>
          </a:p>
        </p:txBody>
      </p:sp>
      <p:sp>
        <p:nvSpPr>
          <p:cNvPr id="23" name="머리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구성원 설문응답 참여 제약요인 해소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안전보건공단 국가표준지표(KSCI) 도입활용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모집단 구성(부서·직급 등) 고려한 표본설계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시간단축 설문 문항수 최적화(60 → 20개)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참여유도 조사기간 확대, 참여이벤트 등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신뢰수준 95% 확보, 진단체계 대내외 객관성 향상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참여율 향상으로 진단결과 대표성 확보(2,771명, 전년比 2.7배↑)</a:t>
            </a:r>
          </a:p>
        </p:txBody>
      </p:sp>
      <p:sp>
        <p:nvSpPr>
          <p:cNvPr id="30" name="배너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진단결과 확인된 취약분야(안전훈련, 안전소통)는 익년도 중점 개선, 환류</a:t>
            </a: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68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현장작동성 강화를 위한 근로자 중심의 예방활동 추진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1" name="칸 본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작업중지권의 근로자 중심 활용 여건 부족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안전제도, 서류관리, 현장점검 강화 등 감독원의 업무량 및 요구전문성 증대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CEO 위험작업 중지에 강한 의지 표명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정부정책 예방 중심의 자율안전 활동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내부여건 업무증가 대비 현장인력 부족</a:t>
            </a: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69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작업중지권은 ‘당연한 권리’, 근로자의 안전한 근무 환경 보장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0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제 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활성화</a:t>
            </a:r>
          </a:p>
        </p:txBody>
      </p:sp>
      <p:sp>
        <p:nvSpPr>
          <p:cNvPr id="13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선제적 제도 보완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홍보·인식 제고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손실비용 보전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근로자가 쉽게 작업중지 가능토록 내부규정 개정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안전모 QR 부착·신고 및 홍보물 제작·배포(6만개)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작업중지에 따른 공사비용 증가시 예산활용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근로자에 불리한 처우 금지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간편 신고체계 구축·홍보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시공사, 근로자 부담 해소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70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시각 중심의 TBM 소통을 통한 작업위험 예방의 실효성 제고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7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9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T B M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화</a:t>
            </a:r>
          </a:p>
        </p:txBody>
      </p:sp>
      <p:sp>
        <p:nvSpPr>
          <p:cNvPr id="10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절차 중심의 형식적 TBM</a:t>
            </a:r>
          </a:p>
        </p:txBody>
      </p:sp>
      <p:sp>
        <p:nvSpPr>
          <p:cNvPr id="11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쉽게 이해되고 안전한 스마트 TBM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일방적 소통으로 교육효과 미비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근로자 인지 저조(현장인터뷰 결과)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현장근로자 건강위험 인지 및 대처능력 향상 한계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실질적 위험 예방기능 미작동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영상 기반 시뮬레이션 TBM 개발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산재분석 ▶ 현장 맞춤형 영상(다국어)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사고 간접체험, 위험인식 → 안전의식 향상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스마트 건강상태 확인시스템 도입(키오스크)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작업 전 건강체크(혈압, 체온, 음주)로 사고 예방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71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 안전활동은 ‘근로자’ 중심, 현장작동성 위한 위험성평가 표준모델 마련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0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위험성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평 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표준모델</a:t>
            </a:r>
          </a:p>
        </p:txBody>
      </p:sp>
      <p:sp>
        <p:nvSpPr>
          <p:cNvPr id="13" name="배너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자율안전의 핵심 ‘공종별 위험성평가’의 내실화 : 업무효율 제고, 안전리스크 해소</a:t>
            </a:r>
          </a:p>
        </p:txBody>
      </p:sp>
      <p:sp>
        <p:nvSpPr>
          <p:cNvPr id="14" name="단계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벤치마킹·자료수집</a:t>
            </a:r>
          </a:p>
        </p:txBody>
      </p:sp>
      <p:sp>
        <p:nvSpPr>
          <p:cNvPr id="15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대표공종 선정</a:t>
            </a:r>
          </a:p>
        </p:txBody>
      </p:sp>
      <p:sp>
        <p:nvSpPr>
          <p:cNvPr id="16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위험요인·저감대책 선정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타기관·시공업체 조사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사고사례 분석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위험성평가 환류 반영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大 K-water 사업단위 5개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中 사업별 대표공종 22개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小 세부작업/설비 220개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공종별 인적·기계적요인 및 작업특성 고려, 대책 연계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외부용역 통해 검증(~’26)</a:t>
            </a:r>
          </a:p>
        </p:txBody>
      </p:sp>
      <p:sp>
        <p:nvSpPr>
          <p:cNvPr id="24" name="배너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위험성평가 표준모델 검증·확인을 통하여 ’26년 스마트안전시스템에 반영 예정</a:t>
            </a: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72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라. 건설현장관리 전문인력 적정 배치를 통한 안전사고 예방체계 강화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8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감 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 대</a:t>
            </a:r>
          </a:p>
        </p:txBody>
      </p:sp>
      <p:sp>
        <p:nvSpPr>
          <p:cNvPr id="9" name="단계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문제는 ‘인력(예산)’</a:t>
            </a:r>
          </a:p>
        </p:txBody>
      </p:sp>
      <p:sp>
        <p:nvSpPr>
          <p:cNvPr id="10" name="단계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현장관리 현실화(정책 반영)</a:t>
            </a:r>
          </a:p>
        </p:txBody>
      </p:sp>
      <p:sp>
        <p:nvSpPr>
          <p:cNvPr id="11" name="단계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현장관리 인력 확대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감독업무량 比 인력 부족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자체 감리예산 한계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(수도) 소요 대비 과소 반영 (댐) 감리 예산 미반영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자체 건설강화대책 수립(감리확대)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제도 ‘감리요율 상향’ 재경부 제안 → 승인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전 공공기관 건설공사에 동일 적용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 공사 ‘감리’ 도입 의무화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 감리예산 현실화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K-water 예산 투입</a:t>
            </a:r>
          </a:p>
        </p:txBody>
      </p:sp>
      <p:sp>
        <p:nvSpPr>
          <p:cNvPr id="19" name="배너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수도 감리예산 현실화율 76% → 96% 상향, 댐 ’25년 4개 댐 안전성 공사 감리 실시</a:t>
            </a:r>
          </a:p>
        </p:txBody>
      </p:sp>
      <p:sp>
        <p:nvSpPr>
          <p:cNvPr id="21" name="핵심성과 라벨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종합성과</a:t>
            </a:r>
          </a:p>
        </p:txBody>
      </p:sp>
      <p:sp>
        <p:nvSpPr>
          <p:cNvPr id="22" name="핵심성과 문구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작업중지권 사용 적극 보장을 통한 제도 정착(’24년 92건 → ’25년 132건, 43.5%↑)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감리비 현실화 정부정책 선도 및 안전·품질관리 전문인력 보강 배치</a:t>
            </a: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73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스마트기술 기반 인프라 혁신으로 안전한 일터 조성</a:t>
            </a:r>
          </a:p>
        </p:txBody>
      </p:sp>
      <p:sp>
        <p:nvSpPr>
          <p:cNvPr id="12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3" name="번호 띠 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4" name="번호 띠 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내부수준 양호한 안전기준·매뉴얼 유지, ‘아차사고’ 예방활동 현장이행 강화 필요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+ 정부정책 AI·스마트 안전 기술·장비 활용 확대</a:t>
            </a:r>
          </a:p>
        </p:txBody>
      </p:sp>
      <p:sp>
        <p:nvSpPr>
          <p:cNvPr id="20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 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진 단</a:t>
            </a:r>
          </a:p>
        </p:txBody>
      </p:sp>
      <p:sp>
        <p:nvSpPr>
          <p:cNvPr id="22" name="배너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보이지 않는 위험을 ‘AI·스마트 기술’로 통합관리, K-water 안전체계 전환 요구</a:t>
            </a:r>
          </a:p>
        </p:txBody>
      </p:sp>
      <p:sp>
        <p:nvSpPr>
          <p:cNvPr id="23" name="머리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취약 근로자·위험작업 노출</a:t>
            </a:r>
          </a:p>
        </p:txBody>
      </p:sp>
      <p:sp>
        <p:nvSpPr>
          <p:cNvPr id="24" name="머리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안전업무 힘들고 어려워 기피</a:t>
            </a:r>
          </a:p>
        </p:txBody>
      </p:sp>
      <p:sp>
        <p:nvSpPr>
          <p:cNvPr id="25" name="머리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다양한 작업 및 정보공유 어려움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 유형별 고위험 공종 多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취약계층(고령자) 사고 증가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원거리 현장, 불편한 서류작업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법령·규정 복잡, 현장적용 난해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분산, 상황관리 복잡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현장별 위험 파악·대응 지연</a:t>
            </a:r>
          </a:p>
        </p:txBody>
      </p:sp>
      <p:sp>
        <p:nvSpPr>
          <p:cNvPr id="32" name="태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33" name="캡션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전국에 산재된 高난이도 안전관리 특성과 사고예방 강화를 위해 첨단 안전기술 확대 필요</a:t>
            </a:r>
          </a:p>
        </p:txBody>
      </p:sp>
      <p:sp>
        <p:nvSpPr>
          <p:cNvPr id="36" name="레일 태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추진방향</a:t>
            </a:r>
          </a:p>
        </p:txBody>
      </p:sp>
      <p:sp>
        <p:nvSpPr>
          <p:cNvPr id="37" name="레일 라벨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AI·스마트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안전체계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 환</a:t>
            </a:r>
          </a:p>
        </p:txBody>
      </p:sp>
      <p:sp>
        <p:nvSpPr>
          <p:cNvPr id="38" name="배너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‘예방·간소·통합’ 3대 핵심목표 달성을 위한 AI·스마트 안전으로의 大 전환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예방 위험포착·사고예방: 스마트 장비 근로자 지원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간소 업무경량·내용명확: 서류 간편화, 시간절약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통합 작업공유·위기대응: 스마트 작업상황 관리</a:t>
            </a:r>
          </a:p>
        </p:txBody>
      </p:sp>
      <p:sp>
        <p:nvSpPr>
          <p:cNvPr id="44" name="레일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안전체계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현장작동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 립</a:t>
            </a:r>
          </a:p>
        </p:txBody>
      </p:sp>
      <p:sp>
        <p:nvSpPr>
          <p:cNvPr id="46" name="머리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AIoT 장비 전사 확대, 근로자 사고예방</a:t>
            </a:r>
          </a:p>
        </p:txBody>
      </p:sp>
      <p:sp>
        <p:nvSpPr>
          <p:cNvPr id="47" name="머리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간단 명료한 P-D-C-A 안전활동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근로자 실수·위험유해요인 탐지·제거·대체: 이동형 AI CCTV · 스마트 밴드 · 스마트 안전모 · 안전비상벨 · 유해가스 측정기 · 4족 보행 로봇 · 모바일 태블릿 · 수중드론(ROV)</a:t>
            </a:r>
          </a:p>
        </p:txBody>
      </p:sp>
      <p:sp>
        <p:nvSpPr>
          <p:cNvPr id="49" name="칸 본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모바일·원격 현장안전업무 실행시스템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PDCA 현장 안전체계 확립 · 실시간 현장소통·위험통제 · 기록 신뢰성·행정 간소화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Plan 계획·허가 / 위험성평가 · Do AI TBM · Check 영상분석·작업중지 · Action 점검결과</a:t>
            </a:r>
          </a:p>
        </p:txBody>
      </p:sp>
      <p:sp>
        <p:nvSpPr>
          <p:cNvPr id="51" name="배너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스마트 빅보드로 현장·본부·본사가 연결 : ‘안전 모니터링 및 위험관리·통제체계’ 가동</a:t>
            </a:r>
          </a:p>
        </p:txBody>
      </p:sp>
      <p:sp>
        <p:nvSpPr>
          <p:cNvPr id="52" name="단계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현장 각 사업장 운영</a:t>
            </a:r>
          </a:p>
        </p:txBody>
      </p:sp>
      <p:sp>
        <p:nvSpPr>
          <p:cNvPr id="53" name="단계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본부 산하 건설현장 연결</a:t>
            </a:r>
          </a:p>
        </p:txBody>
      </p:sp>
      <p:sp>
        <p:nvSpPr>
          <p:cNvPr id="54" name="단계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본사 전현장 실시간 연결·통합</a:t>
            </a:r>
          </a:p>
        </p:txBody>
      </p:sp>
      <p:sp>
        <p:nvSpPr>
          <p:cNvPr id="57" name="칸 본문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근로자 모니터링 ➡ 떨어짐, 질식 등 위험통제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모바일 PDCA 활용 정착</a:t>
            </a:r>
          </a:p>
        </p:txBody>
      </p:sp>
      <p:sp>
        <p:nvSpPr>
          <p:cNvPr id="58" name="칸 본문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7개현장 CCTV(64대) 통합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위험인지로 아차사고 예방</a:t>
            </a:r>
          </a:p>
        </p:txBody>
      </p:sp>
      <p:sp>
        <p:nvSpPr>
          <p:cNvPr id="60" name="칸 본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근로자 위험 포착·실시간 감지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위험상황 경보·조기대응 체계</a:t>
            </a:r>
          </a:p>
        </p:txBody>
      </p:sp>
      <p:sp>
        <p:nvSpPr>
          <p:cNvPr id="63" name="핵심성과 라벨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기대효과</a:t>
            </a:r>
          </a:p>
        </p:txBody>
      </p:sp>
      <p:sp>
        <p:nvSpPr>
          <p:cNvPr id="64" name="핵심성과 문구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실시간 모니터링(본사·본부·현장)으로 위험감지·개선체계(중지, 조치 → 재착수) 구축, 예방강화</a:t>
            </a: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74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5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K-water에 「안전을 心다」 모두의 일상에 스며드는 안전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안전문화로 연결하고 실천으로 완성하는 안전작동 선순환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2" name="태그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문화인가?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 인프라 지원 확대에도 사고 발생</a:t>
            </a:r>
          </a:p>
        </p:txBody>
      </p:sp>
      <p:sp>
        <p:nvSpPr>
          <p:cNvPr id="16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안전의 최종 작동점은 ‘사람의 선택’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안전체계 강화로 ‘규정’은 정착되었으나 구성원 자발적 행동으로 연결 미흡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구성원 인식 및 행동변화를 유도할 수 있는 안전문화 구축 필요성 증대</a:t>
            </a:r>
          </a:p>
        </p:txBody>
      </p:sp>
      <p:sp>
        <p:nvSpPr>
          <p:cNvPr id="21" name="태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인식전환</a:t>
            </a:r>
          </a:p>
        </p:txBody>
      </p:sp>
      <p:sp>
        <p:nvSpPr>
          <p:cNvPr id="22" name="캡션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‘제도중심’ 관리에서 ‘사람중심’ 문화로 안전의 패러다임 전환</a:t>
            </a:r>
          </a:p>
        </p:txBody>
      </p:sp>
      <p:sp>
        <p:nvSpPr>
          <p:cNvPr id="25" name="레일 태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사람중심</a:t>
            </a:r>
          </a:p>
        </p:txBody>
      </p:sp>
      <p:sp>
        <p:nvSpPr>
          <p:cNvPr id="26" name="레일 라벨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문화확산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기틀마련</a:t>
            </a:r>
          </a:p>
        </p:txBody>
      </p:sp>
      <p:sp>
        <p:nvSpPr>
          <p:cNvPr id="27" name="머리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조직 내 세대별 감수성 반영</a:t>
            </a:r>
          </a:p>
        </p:txBody>
      </p:sp>
      <p:sp>
        <p:nvSpPr>
          <p:cNvPr id="28" name="머리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「안전을 心다」 안전브랜드 구축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기성&amp;신세대 맞춤형 콘텐츠 제작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보상강화를 통한 적극적 참여유도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전직원 공모, 안전가치 공감대 형성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BI 시각화를 통해 전달력 향상</a:t>
            </a:r>
          </a:p>
        </p:txBody>
      </p:sp>
      <p:sp>
        <p:nvSpPr>
          <p:cNvPr id="32" name="레일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함 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참여하고</a:t>
            </a:r>
          </a:p>
        </p:txBody>
      </p:sp>
      <p:sp>
        <p:nvSpPr>
          <p:cNvPr id="34" name="단계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전사 공모 확대</a:t>
            </a:r>
          </a:p>
        </p:txBody>
      </p:sp>
      <p:sp>
        <p:nvSpPr>
          <p:cNvPr id="35" name="단계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브랜드 기반 홍보</a:t>
            </a:r>
          </a:p>
        </p:txBody>
      </p:sp>
      <p:sp>
        <p:nvSpPr>
          <p:cNvPr id="36" name="단계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직원참여 안전활동 향상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아차사고, 안전제안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우수제안 사업화·사례 배포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굿즈, PC 배경화면 등 배포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카드뉴스·숏폼 안전콘텐츠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역대 최다 공모 참여(712건)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메일링(매월), 사례전파</a:t>
            </a:r>
          </a:p>
        </p:txBody>
      </p:sp>
      <p:sp>
        <p:nvSpPr>
          <p:cNvPr id="44" name="레일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지원은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강화하고</a:t>
            </a:r>
          </a:p>
        </p:txBody>
      </p:sp>
      <p:sp>
        <p:nvSpPr>
          <p:cNvPr id="45" name="단계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인센티브·역량 강화</a:t>
            </a:r>
          </a:p>
        </p:txBody>
      </p:sp>
      <p:sp>
        <p:nvSpPr>
          <p:cNvPr id="46" name="단계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안심케어센터 신설</a:t>
            </a:r>
          </a:p>
        </p:txBody>
      </p:sp>
      <p:sp>
        <p:nvSpPr>
          <p:cNvPr id="47" name="단계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안전관리 실행력 강화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자격포상 확대, 승진가점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위험공종·저연차 특화 교육</a:t>
            </a:r>
          </a:p>
        </p:txBody>
      </p:sp>
      <p:sp>
        <p:nvSpPr>
          <p:cNvPr id="51" name="칸 본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단계별 밀착 법률지원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마음돌봄지원 확대</a:t>
            </a:r>
          </a:p>
        </p:txBody>
      </p:sp>
      <p:sp>
        <p:nvSpPr>
          <p:cNvPr id="53" name="칸 본문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안전자격 취득 4.3배 증가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안전지원 직원 체감도↑</a:t>
            </a:r>
          </a:p>
        </p:txBody>
      </p:sp>
      <p:sp>
        <p:nvSpPr>
          <p:cNvPr id="55" name="레일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모두에게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 산</a:t>
            </a:r>
          </a:p>
        </p:txBody>
      </p:sp>
      <p:sp>
        <p:nvSpPr>
          <p:cNvPr id="57" name="단계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자회사·도급사 지원</a:t>
            </a:r>
          </a:p>
        </p:txBody>
      </p:sp>
      <p:sp>
        <p:nvSpPr>
          <p:cNvPr id="58" name="단계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안전문화 민·관 대외 협력</a:t>
            </a:r>
          </a:p>
        </p:txBody>
      </p:sp>
      <p:sp>
        <p:nvSpPr>
          <p:cNvPr id="59" name="단계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 파트너십 공고화</a:t>
            </a:r>
          </a:p>
        </p:txBody>
      </p:sp>
      <p:sp>
        <p:nvSpPr>
          <p:cNvPr id="62" name="칸 본문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재해경감체계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취약근로자 교육</a:t>
            </a:r>
          </a:p>
        </p:txBody>
      </p:sp>
      <p:sp>
        <p:nvSpPr>
          <p:cNvPr id="63" name="칸 본문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행안부 안전사회공헌 공동추진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안전보건공단 협업 교육·진단</a:t>
            </a:r>
          </a:p>
        </p:txBody>
      </p:sp>
      <p:sp>
        <p:nvSpPr>
          <p:cNvPr id="65" name="칸 본문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안전보건활동 우수상(고용노동부)</a:t>
            </a: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75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Safety Super Week, 일상을 넘어 안전문화 축제의 장으로 확대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함 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참여하고</a:t>
            </a:r>
          </a:p>
        </p:txBody>
      </p:sp>
      <p:sp>
        <p:nvSpPr>
          <p:cNvPr id="12" name="단계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 안전보건문화제(2일)</a:t>
            </a:r>
          </a:p>
        </p:txBody>
      </p:sp>
      <p:sp>
        <p:nvSpPr>
          <p:cNvPr id="13" name="단계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 Safety Super Week</a:t>
            </a:r>
          </a:p>
        </p:txBody>
      </p:sp>
      <p:sp>
        <p:nvSpPr>
          <p:cNvPr id="14" name="단계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’26~ 안전문화 실천의날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체험형 안전·보건프로그램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임직원 중심 참여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콘텐츠 강화 및 온·오프 채널 활용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자회사·도급사 및 지역사회 확대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본사 → 유역본부 중심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지역사회 참여 확대</a:t>
            </a:r>
          </a:p>
        </p:txBody>
      </p:sp>
      <p:sp>
        <p:nvSpPr>
          <p:cNvPr id="22" name="레일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모두에게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 산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콘텐츠 강화: 「안전을 心다」 요일별 테마, 완강기 등 안전체험 20종, 전사 심폐소생술 경진대회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채널 확대: 노사행사 연계 현장 참여 확대, 인스타·블로그 등 SNS 참여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공공기관·지역·국민이 함께하는 안전문화 축제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대내외 협력사: 안전 우수사례·제안 포상, 안전골든벨(내외부 7,855명)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지역사회: 유아·학생 등 국민 대상 교육, 기관 협업을 통한 문화 확산</a:t>
            </a:r>
          </a:p>
        </p:txBody>
      </p:sp>
      <p:sp>
        <p:nvSpPr>
          <p:cNvPr id="29" name="배너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1만명 참여(오프라인 2천명, 온라인 8천명), 민-관 10개 기관 협업</a:t>
            </a:r>
          </a:p>
        </p:txBody>
      </p:sp>
      <p:sp>
        <p:nvSpPr>
          <p:cNvPr id="31" name="핵심성과 라벨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종합성과</a:t>
            </a:r>
          </a:p>
        </p:txBody>
      </p:sp>
      <p:sp>
        <p:nvSpPr>
          <p:cNvPr id="32" name="핵심성과 문구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K-water 안전문화·의식 수준 지속 개선(’23년 67.5점 → ’24년 77.6점 → ’25년 85.6점)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행정안전부 「안전문화 확산 유공」 최우수기관 선정으로 국무총리 표창 수상(’25년)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76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국민안전 최우선 경영 기조 아래 빈틈없는 재난대응체계 구축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K-water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여 건</a:t>
            </a:r>
          </a:p>
        </p:txBody>
      </p:sp>
      <p:sp>
        <p:nvSpPr>
          <p:cNvPr id="11" name="칸 본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사업·시설: 수자원 댐, 하굿둑, 보, 아라뱃길(76개) / 수도 광역·지방상수도, 산업용수(77개) / 도시조성 산업단지, 수변도시 등(6개) / 재생에너지 수력, 조력, 태양광 등(115개)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재난유형: 자연 재난 풍수해, 가뭄, 지진, 홍수, 조류 대발생(5개) / 사회 재난 댐 재난, 수도·먹는물 재난, 핵심기반 시설의 마비, 산불, 감염병 등(18개)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환경분석</a:t>
            </a:r>
          </a:p>
        </p:txBody>
      </p:sp>
      <p:sp>
        <p:nvSpPr>
          <p:cNvPr id="16" name="태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기후위기</a:t>
            </a:r>
          </a:p>
        </p:txBody>
      </p:sp>
      <p:sp>
        <p:nvSpPr>
          <p:cNvPr id="17" name="태그 설명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기후변화 심화로 기상 급변, 강도 증가 ➡ 재난의 복합·대형화 및 예측가능성↓</a:t>
            </a:r>
          </a:p>
        </p:txBody>
      </p:sp>
      <p:sp>
        <p:nvSpPr>
          <p:cNvPr id="18" name="태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사업특성</a:t>
            </a:r>
          </a:p>
        </p:txBody>
      </p:sp>
      <p:sp>
        <p:nvSpPr>
          <p:cNvPr id="19" name="태그 설명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재난위험이 상이한 복합사업의 전국적 산재 ➡ 재난대응역량·인프라 분산</a:t>
            </a:r>
          </a:p>
        </p:txBody>
      </p:sp>
      <p:sp>
        <p:nvSpPr>
          <p:cNvPr id="21" name="태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22" name="캡션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대응체계 고도화 및 인프라의 효율적 활용으로 대응력 강화와 불확실성 극복 필요</a:t>
            </a:r>
          </a:p>
        </p:txBody>
      </p:sp>
      <p:sp>
        <p:nvSpPr>
          <p:cNvPr id="24" name="레일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추진목표</a:t>
            </a:r>
          </a:p>
        </p:txBody>
      </p:sp>
      <p:sp>
        <p:nvSpPr>
          <p:cNvPr id="25" name="배너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모든 재난으로부터 국민의 생명과 재산을 보호하는 K-water 안전</a:t>
            </a:r>
          </a:p>
        </p:txBody>
      </p:sp>
      <p:sp>
        <p:nvSpPr>
          <p:cNvPr id="26" name="레일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 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 제</a:t>
            </a:r>
          </a:p>
        </p:txBody>
      </p:sp>
      <p:sp>
        <p:nvSpPr>
          <p:cNvPr id="28" name="단계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재난대응 역량 고도화</a:t>
            </a:r>
          </a:p>
        </p:txBody>
      </p:sp>
      <p:sp>
        <p:nvSpPr>
          <p:cNvPr id="29" name="단계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선제적 예방체계 구축</a:t>
            </a:r>
          </a:p>
        </p:txBody>
      </p:sp>
      <p:sp>
        <p:nvSpPr>
          <p:cNvPr id="30" name="단계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상시화된 위기 대응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 조직·인력 지속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위기대응 매뉴얼 최적화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재난관리시스템 고도화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재난관리 인프라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위기대응 교육·훈련 내실화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기후대응 첨단기술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AI활용 재난예측 정확도↑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스마트기술로 사각지대 해소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시설물 취약요인 중점 해소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시민참여 안전모니터링 강화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 생명·안전 최우선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재해 맞춤 물이용 솔루션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비상대응 물적·인적 확충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피해국민 상생회복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관계기관 협업기반 구축</a:t>
            </a:r>
          </a:p>
        </p:txBody>
      </p:sp>
      <p:sp>
        <p:nvSpPr>
          <p:cNvPr id="38" name="레일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 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 반</a:t>
            </a:r>
          </a:p>
        </p:txBody>
      </p:sp>
      <p:sp>
        <p:nvSpPr>
          <p:cNvPr id="40" name="태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규정</a:t>
            </a:r>
          </a:p>
        </p:txBody>
      </p:sp>
      <p:sp>
        <p:nvSpPr>
          <p:cNvPr id="41" name="태그 설명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리스크관리규정, 댐관리규정, 수도시설관리규정 등</a:t>
            </a:r>
          </a:p>
        </p:txBody>
      </p:sp>
      <p:sp>
        <p:nvSpPr>
          <p:cNvPr id="42" name="태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매뉴얼</a:t>
            </a:r>
          </a:p>
        </p:txBody>
      </p:sp>
      <p:sp>
        <p:nvSpPr>
          <p:cNvPr id="43" name="태그 설명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자연재난(5개 유형) + 사회재난(18개 유형)</a:t>
            </a:r>
          </a:p>
        </p:txBody>
      </p:sp>
      <p:sp>
        <p:nvSpPr>
          <p:cNvPr id="44" name="태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시스템</a:t>
            </a:r>
          </a:p>
        </p:txBody>
      </p:sp>
      <p:sp>
        <p:nvSpPr>
          <p:cNvPr id="45" name="태그 설명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전사적리스크관리시스템(KRM) 등</a:t>
            </a:r>
          </a:p>
        </p:txBody>
      </p:sp>
      <p:sp>
        <p:nvSpPr>
          <p:cNvPr id="46" name="태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훈련</a:t>
            </a:r>
          </a:p>
        </p:txBody>
      </p:sp>
      <p:sp>
        <p:nvSpPr>
          <p:cNvPr id="47" name="태그 설명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안전한국훈련, 전사모의훈련(반기), 지진훈련 등</a:t>
            </a:r>
          </a:p>
        </p:txBody>
      </p:sp>
      <p:sp>
        <p:nvSpPr>
          <p:cNvPr id="48" name="태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조직</a:t>
            </a:r>
          </a:p>
        </p:txBody>
      </p:sp>
      <p:sp>
        <p:nvSpPr>
          <p:cNvPr id="49" name="태그 설명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리스크관리위원회, 재난대응조직, 비상대책본부</a:t>
            </a:r>
          </a:p>
        </p:txBody>
      </p:sp>
      <p:sp>
        <p:nvSpPr>
          <p:cNvPr id="50" name="태그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예산</a:t>
            </a:r>
          </a:p>
        </p:txBody>
      </p:sp>
      <p:sp>
        <p:nvSpPr>
          <p:cNvPr id="51" name="태그 설명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3,503억원 → ’25년 3,625억원(재해예방 SOC 구축)</a:t>
            </a:r>
          </a:p>
        </p:txBody>
      </p:sp>
      <p:sp>
        <p:nvSpPr>
          <p:cNvPr id="53" name="핵심성과 라벨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4" name="핵심성과 문구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❶ 재난대응 안전한국훈련 ‘우수기관(최고점수)’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❷ 국가핵심기반 재난관리평가 ‘우수’(국무총리상)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❸ 경남지역 역대 최대 강우에도 ‘홍수피해 Zero’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❹ 중앙단위 긴급구조지원 ‘최우수기관’ 선정</a:t>
            </a: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77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신속·정확한 재난 대응을 위한 인프라 및 훈련 강화</a:t>
            </a:r>
          </a:p>
        </p:txBody>
      </p:sp>
      <p:sp>
        <p:nvSpPr>
          <p:cNvPr id="12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여 건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 재난 복합·대형화, 자연재난 빈도↑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 사업분야 다양, 시설물 전국 산재·지중화</a:t>
            </a:r>
          </a:p>
        </p:txBody>
      </p:sp>
      <p:sp>
        <p:nvSpPr>
          <p:cNvPr id="18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매뉴얼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최적화</a:t>
            </a:r>
          </a:p>
        </p:txBody>
      </p:sp>
      <p:sp>
        <p:nvSpPr>
          <p:cNvPr id="20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</a:t>
            </a:r>
          </a:p>
        </p:txBody>
      </p:sp>
      <p:sp>
        <p:nvSpPr>
          <p:cNvPr id="21" name="단계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체계 단독 부문장 안전총괄 대응체계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산불 산불대응 대책 및 대응매뉴얼 부재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보완 사고 초동보고 체계 불명확(시간, 대상)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전부문장(5인) 안전책임관리체계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산불대응 TF 운영 및 매뉴얼 신규 제정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초동대응 세부 보고절차 매뉴얼화</a:t>
            </a:r>
          </a:p>
        </p:txBody>
      </p:sp>
      <p:sp>
        <p:nvSpPr>
          <p:cNvPr id="26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시스템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고도화</a:t>
            </a:r>
          </a:p>
        </p:txBody>
      </p:sp>
      <p:sp>
        <p:nvSpPr>
          <p:cNvPr id="27" name="배너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재난대응의 생명은 신속·정확! 시스템 고도화를 통한 위기대응 능력 제고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사업특성을 반영한 고유의 통합위기대응체계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예방·대비·대응·복구 대처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언제, 어디서든 재난대응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전직원/실시간 상황전파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사고시 최적 골든타임 확보: 정확 사고 위치정보 연동 + 통합 재난정보DB 연계 (GIS 기반 사고위치 관리, 기상·재해·CCTV데이터)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재난시 신속한 정보 전파: 신속 실시간 위기관리 강화 + 전파 모바일 위기등록·대응 (SMS → 카카오톡 기반 전파, 원클릭 모바일 전파체계)</a:t>
            </a:r>
          </a:p>
        </p:txBody>
      </p:sp>
      <p:sp>
        <p:nvSpPr>
          <p:cNvPr id="31" name="레일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인프라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화</a:t>
            </a:r>
          </a:p>
        </p:txBody>
      </p:sp>
      <p:sp>
        <p:nvSpPr>
          <p:cNvPr id="33" name="단계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상황관리 강화</a:t>
            </a:r>
          </a:p>
        </p:txBody>
      </p:sp>
      <p:sp>
        <p:nvSpPr>
          <p:cNvPr id="34" name="단계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복구자원 확충</a:t>
            </a:r>
          </a:p>
        </p:txBody>
      </p:sp>
      <p:sp>
        <p:nvSpPr>
          <p:cNvPr id="35" name="단계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재난주민 지원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재난통신망(PS-LTE) 확충(21 → 109대, 88대↑)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재난상황관리 차량 도입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스마트예비자재창고 확대(2 → 4개소)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활성탄 비축창고(2개소, 최초)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이동식발전기 확대(8 → 12대)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이동식 세탁차 확대(3 → 4대)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모듈형 정수설비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주민지원 의료버스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이동형 음수대 운영(9대)</a:t>
            </a:r>
          </a:p>
        </p:txBody>
      </p:sp>
      <p:sp>
        <p:nvSpPr>
          <p:cNvPr id="43" name="레일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교육훈련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내 실 화</a:t>
            </a:r>
          </a:p>
        </p:txBody>
      </p:sp>
      <p:sp>
        <p:nvSpPr>
          <p:cNvPr id="44" name="단계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복합·신규 재난 훈련↑</a:t>
            </a:r>
          </a:p>
        </p:txBody>
      </p:sp>
      <p:sp>
        <p:nvSpPr>
          <p:cNvPr id="45" name="단계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실전 대응력 제고</a:t>
            </a:r>
          </a:p>
        </p:txBody>
      </p:sp>
      <p:sp>
        <p:nvSpPr>
          <p:cNvPr id="46" name="단계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훈련결과 환류 강화</a:t>
            </a:r>
          </a:p>
        </p:txBody>
      </p:sp>
      <p:sp>
        <p:nvSpPr>
          <p:cNvPr id="49" name="칸 본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유사재난 훈련 반복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연쇄·복합재난훈련(지진 → 붕괴+화재+댐사고)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산불 대응 훈련 실시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사이버 공격 대응 훈련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자체훈련·담당자 중심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유관기관 합동 종합훈련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재난통신망 활용 전파훈련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지진훈련 대상자 확대</a:t>
            </a:r>
          </a:p>
        </p:txBody>
      </p:sp>
      <p:sp>
        <p:nvSpPr>
          <p:cNvPr id="52" name="칸 본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과거 훈련체계 답습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정부·유관기관 전파사항 관리토록 KRM 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모바일 기반 훈련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우수 시나리오 전파·확산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업무담당자 중심 교육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매뉴얼 담당자 중심 교육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KRM 중심 교육 시행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PS-LTE 활용교육 부재</a:t>
            </a:r>
          </a:p>
        </p:txBody>
      </p:sp>
      <p:sp>
        <p:nvSpPr>
          <p:cNvPr id="55" name="칸 본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역량 강화를 위한 교육 체계 마련·확대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전직원 매뉴얼 활용 교육 확대·강화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KRM+국가재난시스템 활용 교육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전부서 대상 PS-LTE 교육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전사 훈련 강화: 505회 → 525회(4% 증가)</a:t>
            </a:r>
          </a:p>
        </p:txBody>
      </p:sp>
      <p:sp>
        <p:nvSpPr>
          <p:cNvPr id="57" name="단계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복합재난 가정</a:t>
            </a:r>
          </a:p>
        </p:txBody>
      </p:sp>
      <p:sp>
        <p:nvSpPr>
          <p:cNvPr id="58" name="단계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참여기관 확대</a:t>
            </a:r>
          </a:p>
        </p:txBody>
      </p:sp>
      <p:sp>
        <p:nvSpPr>
          <p:cNvPr id="59" name="단계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스마트기술로 댐 시설물 점검</a:t>
            </a:r>
          </a:p>
        </p:txBody>
      </p:sp>
      <p:sp>
        <p:nvSpPr>
          <p:cNvPr id="60" name="단계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안전한국훈련 공공기관 최고점수 획득</a:t>
            </a:r>
          </a:p>
        </p:txBody>
      </p:sp>
      <p:sp>
        <p:nvSpPr>
          <p:cNvPr id="72" name="핵심성과 라벨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73" name="핵심성과 문구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전국가기관(336개) 참여 안전한국훈련에서 재난대응력 입증으로 ‘우수’ 등급 달성</a:t>
            </a: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78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국민 안전 최우선! K-water만의 선제적 재난·재해 예방체계 구축</a:t>
            </a:r>
          </a:p>
        </p:txBody>
      </p:sp>
      <p:sp>
        <p:nvSpPr>
          <p:cNvPr id="9" name="번호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10" name="분야 박스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댐·수도</a:t>
            </a:r>
          </a:p>
        </p:txBody>
      </p:sp>
      <p:sp>
        <p:nvSpPr>
          <p:cNvPr id="12" name="소제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과학적인 국가 인프라 운영관리 강화로 ‘물재해’ 예방·대비</a:t>
            </a:r>
          </a:p>
        </p:txBody>
      </p:sp>
      <p:sp>
        <p:nvSpPr>
          <p:cNvPr id="13" name="태그칩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태그칩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관리여건</a:t>
            </a:r>
          </a:p>
        </p:txBody>
      </p:sp>
      <p:sp>
        <p:nvSpPr>
          <p:cNvPr id="17" name="태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물재해</a:t>
            </a:r>
          </a:p>
        </p:txBody>
      </p:sp>
      <p:sp>
        <p:nvSpPr>
          <p:cNvPr id="18" name="태그 설명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기후재난 일상화 → 극한강우 빈번, 발생지역 양극화로 기존 대응방식 어려움 증가</a:t>
            </a:r>
          </a:p>
        </p:txBody>
      </p:sp>
      <p:sp>
        <p:nvSpPr>
          <p:cNvPr id="19" name="태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시설물</a:t>
            </a:r>
          </a:p>
        </p:txBody>
      </p:sp>
      <p:sp>
        <p:nvSpPr>
          <p:cNvPr id="20" name="태그 설명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사용연수 증가로 관리 난이도↑, 시설안전에 대한 국민 눈높이 상승</a:t>
            </a:r>
          </a:p>
        </p:txBody>
      </p:sp>
      <p:sp>
        <p:nvSpPr>
          <p:cNvPr id="22" name="레일 태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댐</a:t>
            </a:r>
          </a:p>
        </p:txBody>
      </p:sp>
      <p:sp>
        <p:nvSpPr>
          <p:cNvPr id="23" name="레일 라벨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과학적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댐 운영</a:t>
            </a:r>
          </a:p>
        </p:txBody>
      </p:sp>
      <p:sp>
        <p:nvSpPr>
          <p:cNvPr id="25" name="배너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‘AI 위험기상 예측’을 통한 선제적 대응 + ‘디지털트윈(DT)’ 기술기반 댐 운영 고도화</a:t>
            </a:r>
          </a:p>
        </p:txBody>
      </p:sp>
      <p:sp>
        <p:nvSpPr>
          <p:cNvPr id="26" name="단계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홍수대응 의사결정 골든타임 확보</a:t>
            </a:r>
          </a:p>
        </p:txBody>
      </p:sp>
      <p:sp>
        <p:nvSpPr>
          <p:cNvPr id="27" name="단계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하천상황 고려한 홍수조절(댐방류) 결정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기상예측 AI 활용 예측 정확도 향상(90%↑)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홍수분석 댐운영 모의분석 확대·강화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디지털트윈 댐 상·하류 하천정보 최신화 탑재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관제강화 국가하천 CCTV 추가 연계·확대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남강댐 역대 최대 홍수(7.17~19) 대응: 3일간 518㎜ 최대 강우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합천댐 하루 무방류 대응(7.16~20): 4일간 댐 하루 500㎜ 폭우</a:t>
            </a:r>
          </a:p>
        </p:txBody>
      </p:sp>
      <p:sp>
        <p:nvSpPr>
          <p:cNvPr id="35" name="레일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스마트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댐 안전</a:t>
            </a:r>
          </a:p>
        </p:txBody>
      </p:sp>
      <p:sp>
        <p:nvSpPr>
          <p:cNvPr id="36" name="배너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AI, DT 등 ‘스마트 기술’ 활용, ‘실시간 시설물 위험분석’으로 선제적 위험관리</a:t>
            </a:r>
          </a:p>
        </p:txBody>
      </p:sp>
      <p:sp>
        <p:nvSpPr>
          <p:cNvPr id="37" name="단계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전댐(37개) 스마트 안전관리 체계 도입</a:t>
            </a:r>
          </a:p>
        </p:txBody>
      </p:sp>
      <p:sp>
        <p:nvSpPr>
          <p:cNvPr id="38" name="단계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스마트 댐 안전관리 플랫폼 구축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실시간 모니터링 + 드론 기반 점검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누수 열화상 감시 / 변위 GPS 기반 계측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점검 주기(간헐 → 실시간) 단축 및 사각지대 해소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진단·DT 활용 시설 데이터 분석·활용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3D 시스템에 진단·점검 정보 실시간 표출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기반 댐 시설물 결함 및 손상 분석</a:t>
            </a:r>
          </a:p>
        </p:txBody>
      </p:sp>
      <p:sp>
        <p:nvSpPr>
          <p:cNvPr id="44" name="레일 태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수도</a:t>
            </a:r>
          </a:p>
        </p:txBody>
      </p:sp>
      <p:sp>
        <p:nvSpPr>
          <p:cNvPr id="45" name="레일 라벨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시설물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안전강화</a:t>
            </a:r>
          </a:p>
        </p:txBody>
      </p:sp>
      <p:sp>
        <p:nvSpPr>
          <p:cNvPr id="47" name="머리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수도시설 ‘취약요인’ 중점 해소</a:t>
            </a:r>
          </a:p>
        </p:txBody>
      </p:sp>
      <p:sp>
        <p:nvSpPr>
          <p:cNvPr id="48" name="머리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‘스마트 기술’ 활용한 선제적 재해 예방</a:t>
            </a:r>
          </a:p>
        </p:txBody>
      </p:sp>
      <p:sp>
        <p:nvSpPr>
          <p:cNvPr id="49" name="칸 본문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수도밸브 전수조사·노후밸브 교체(729개)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복선화 역대 최장구간 이중화(27.5㎞)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하천구간 전수조사, 세굴 등 관리체계 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취약관로 밸브연결, 분기관로 중심 개선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점검로봇 인력점검 한계 및 사각지대 극복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 내부, 약품투입동 등 단계적 도입 44대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누수예측 20년간 운영데이터를 AI로 표준화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지반침하 AI기반 싱크홀 예측기술 개발</a:t>
            </a: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79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8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국민이용시설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국민들이 안전한 일상을 누리도록 시설물 최적 관리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2" name="태그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관리여건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시설 댐문화관, 자전거길 등(168개소)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여건 시설 전국 산재, 레저인구 증가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시설개방·체험프로그램 확대로 방문객 증가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시설파손 등으로 국민안전사고 발생위험성↑</a:t>
            </a:r>
          </a:p>
        </p:txBody>
      </p:sp>
      <p:sp>
        <p:nvSpPr>
          <p:cNvPr id="18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국민안전</a:t>
            </a:r>
          </a:p>
        </p:txBody>
      </p:sp>
      <p:sp>
        <p:nvSpPr>
          <p:cNvPr id="20" name="머리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시설개선·스마트 감시</a:t>
            </a:r>
          </a:p>
        </p:txBody>
      </p:sp>
      <p:sp>
        <p:nvSpPr>
          <p:cNvPr id="21" name="머리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시민 참여 안전 모니터링</a:t>
            </a:r>
          </a:p>
        </p:txBody>
      </p:sp>
      <p:sp>
        <p:nvSpPr>
          <p:cNvPr id="22" name="머리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 안전서비스 제공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CCTV 확대, 내방객 위험(쓰러짐 등) 자동감지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37개 전댐 확대(222 → 476대)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모바일(QR)로 누구나 언제든 위험신고 가능체계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참여 포상금(1만원/건), SNS홍보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방류 예·경보시스템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방류 위험정보 LED 전광판 및 바닥 안내조명(댐 8개소)</a:t>
            </a:r>
          </a:p>
        </p:txBody>
      </p:sp>
      <p:sp>
        <p:nvSpPr>
          <p:cNvPr id="29" name="핵심성과 라벨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종합성과</a:t>
            </a:r>
          </a:p>
        </p:txBody>
      </p:sp>
      <p:sp>
        <p:nvSpPr>
          <p:cNvPr id="30" name="핵심성과 문구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행정안전부 주관, 국가핵심기반 재난관리평가 ‘우수기관(국무총리 표창)’ 선정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K-water 소관 시설물 시민재해 발생 32% 감소(’24년 25명 → ’25년 17명)</a:t>
            </a: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80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처음 겪는 ‘초대형 산불’, 준비된 역량으로 국민의 안전 사수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‘세계문화유산’과 ‘지역 주민’ 보호를 위한 K-water 총동원령 발동!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2" name="태그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선제적인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용수지원</a:t>
            </a:r>
          </a:p>
        </p:txBody>
      </p:sp>
      <p:sp>
        <p:nvSpPr>
          <p:cNvPr id="15" name="배너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빠르게 북상하던 위기의 찰나, ‘하천 방화선 구축’으로 최후 저지선 확보</a:t>
            </a:r>
          </a:p>
        </p:txBody>
      </p:sp>
      <p:sp>
        <p:nvSpPr>
          <p:cNvPr id="16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위기 상황</a:t>
            </a:r>
          </a:p>
        </p:txBody>
      </p:sp>
      <p:sp>
        <p:nvSpPr>
          <p:cNvPr id="17" name="단계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댐 운영 이래 소방水 최초 공급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가뭄 가뭄 상습 안동댐 저수율 58%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강풍 초속 27m 태풍급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소방헬기 댐 하류 하천 취수 불가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의사결정 「인지-협의-통보(SMS)-방류」 ‘90분’만에 결정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통상 7시간 이상 소요, K-water 先제안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긴급방류 5일간 26백만㎥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하천 수위↑ → 방화선 구축(하회마을 보호)</a:t>
            </a:r>
          </a:p>
        </p:txBody>
      </p:sp>
      <p:sp>
        <p:nvSpPr>
          <p:cNvPr id="22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중단없는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수도공급</a:t>
            </a:r>
          </a:p>
        </p:txBody>
      </p:sp>
      <p:sp>
        <p:nvSpPr>
          <p:cNvPr id="24" name="배너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전력공급 중단에도 최후까지 목숨을 건 K-water 직원의 수돗물 공급 노력</a:t>
            </a:r>
          </a:p>
        </p:txBody>
      </p:sp>
      <p:sp>
        <p:nvSpPr>
          <p:cNvPr id="25" name="단계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위기 상황</a:t>
            </a:r>
          </a:p>
        </p:txBody>
      </p:sp>
      <p:sp>
        <p:nvSpPr>
          <p:cNvPr id="26" name="단계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비상대응 물적·인적자원 총가동</a:t>
            </a:r>
          </a:p>
        </p:txBody>
      </p:sp>
      <p:sp>
        <p:nvSpPr>
          <p:cNvPr id="27" name="단계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대응 성과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전력 한전계통 단전 발생(청송군 전체)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상수도 단전으로 청송정수장 공급중단 위기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물적 비상발전기 정상가동 사수 ➡ 공급물량 확대(200 → 270㎥/hr)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인적 수도시설 파손·단수(4천가구) ➡ 긴급 시설복구반 투입(132명)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‘6일’만에 전시설 조기 정상화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상시 보유 인프라·전문가, 즉각적 재난대응·지원능력 입증</a:t>
            </a:r>
          </a:p>
        </p:txBody>
      </p:sp>
      <p:sp>
        <p:nvSpPr>
          <p:cNvPr id="35" name="레일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일상으로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회복지원</a:t>
            </a:r>
          </a:p>
        </p:txBody>
      </p:sp>
      <p:sp>
        <p:nvSpPr>
          <p:cNvPr id="37" name="배너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화마(火魔)가 휩쓴 자리를 보듬는 K-water의 따뜻한 나눔 경영 실천</a:t>
            </a:r>
          </a:p>
        </p:txBody>
      </p:sp>
      <p:sp>
        <p:nvSpPr>
          <p:cNvPr id="38" name="머리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이재민 구호물품 지원</a:t>
            </a:r>
          </a:p>
        </p:txBody>
      </p:sp>
      <p:sp>
        <p:nvSpPr>
          <p:cNvPr id="39" name="머리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물안전 먹는물 수질 확보</a:t>
            </a:r>
          </a:p>
        </p:txBody>
      </p:sp>
      <p:sp>
        <p:nvSpPr>
          <p:cNvPr id="40" name="머리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생활안정 경제 지원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이동식 세탁차 지원(17일)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찾아가는 의료버스 운영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산불 수질검사(5개 지자체, 20만명)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가정배관 세척 지원(630건)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수돗물 병물 10만병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피해지역 성금 기부(1억원)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81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전례없는 산불 발생에 「재난 대응 ONE-TEAM」 공조체계 작동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0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추진방향</a:t>
            </a:r>
          </a:p>
        </p:txBody>
      </p:sp>
      <p:sp>
        <p:nvSpPr>
          <p:cNvPr id="13" name="배너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기관 경계를 허무는 ‘산림청-소방청-K-water’ 협력 거버넌스 기반 대응체계 고도화</a:t>
            </a:r>
          </a:p>
        </p:txBody>
      </p:sp>
      <p:sp>
        <p:nvSpPr>
          <p:cNvPr id="15" name="레일 태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소방청</a:t>
            </a:r>
          </a:p>
        </p:txBody>
      </p:sp>
      <p:sp>
        <p:nvSpPr>
          <p:cNvPr id="16" name="레일 라벨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소방용수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지원강화</a:t>
            </a:r>
          </a:p>
        </p:txBody>
      </p:sp>
      <p:sp>
        <p:nvSpPr>
          <p:cNvPr id="18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용수·정보 부족</a:t>
            </a:r>
          </a:p>
        </p:txBody>
      </p:sp>
      <p:sp>
        <p:nvSpPr>
          <p:cNvPr id="19" name="단계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상수도 데이터 기반, 대형 화재·산불 대응지원 서비스 론칭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대형화재 진압시 소방용수 부족 반복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소방청 수도정보 직접 확인 어려움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데이터 국가 상수도 GIS 정보 제공(관로위치 등)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AI분석 최적 소화전 위치 확인 및 가능량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교육 주관 전국 소방청 담당자 직접 교육(81명)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충수시설 제공(136개)</a:t>
            </a:r>
          </a:p>
        </p:txBody>
      </p:sp>
      <p:sp>
        <p:nvSpPr>
          <p:cNvPr id="25" name="레일 태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산림청</a:t>
            </a:r>
          </a:p>
        </p:txBody>
      </p:sp>
      <p:sp>
        <p:nvSpPr>
          <p:cNvPr id="26" name="레일 라벨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산불정보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공 유</a:t>
            </a:r>
          </a:p>
        </p:txBody>
      </p:sp>
      <p:sp>
        <p:nvSpPr>
          <p:cNvPr id="28" name="단계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데이터 공유 미흡</a:t>
            </a:r>
          </a:p>
        </p:txBody>
      </p:sp>
      <p:sp>
        <p:nvSpPr>
          <p:cNvPr id="29" name="단계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실시간 산불정보 연계 및 입체적 감시망 구축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산불정보 상호 미공유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시설 산불위험 미인지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실시간 영상정보 부족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산불정보 실시간 산불정보 내부시스템 연계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위기알림 위험지역(3㎞) 인접시 담당자 알림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영상공유 자체 보유 CCTV 영상 산림청 제공</a:t>
            </a:r>
          </a:p>
        </p:txBody>
      </p:sp>
      <p:sp>
        <p:nvSpPr>
          <p:cNvPr id="35" name="핵심성과 라벨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종합성과</a:t>
            </a:r>
          </a:p>
        </p:txBody>
      </p:sp>
      <p:sp>
        <p:nvSpPr>
          <p:cNvPr id="36" name="핵심성과 문구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K-water 인프라 활용, 초유의 국가적 산불재난 대응 및 협력체계 우수모델 제시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소방청 주관, 중앙단위 긴급구조지원기관 평가 ‘최우수기관’ 선정(2년 연속 1등)</a:t>
            </a: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82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기후위기 대응을 위한 글로벌 물·에너지 선도와 친환경 생태계 전환</a:t>
            </a:r>
          </a:p>
        </p:txBody>
      </p:sp>
      <p:sp>
        <p:nvSpPr>
          <p:cNvPr id="9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변 화</a:t>
            </a:r>
          </a:p>
        </p:txBody>
      </p:sp>
      <p:sp>
        <p:nvSpPr>
          <p:cNvPr id="12" name="배너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범국가적 기후위기 대응과 친환경·탄소중립 추진 속도 재점화</a:t>
            </a:r>
          </a:p>
        </p:txBody>
      </p:sp>
      <p:sp>
        <p:nvSpPr>
          <p:cNvPr id="13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新정부 출범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국가 NDC 목표 강화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 ESG 중요성 증대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탄소중립과 ESG 가치 중심의 국정방향 전환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‘기후위기 대응과 에너지 전환’ 단독 국정과제 채택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NDC 목표 달성을 위한 구체적 실행방안 절실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당초 40% → 53~61%로 감축목표 상향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ESG 공시 강화 등 기업 경영여건 변화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 지속성 가치와 투자 판단 핵심 지표로써 ESG 강화</a:t>
            </a:r>
          </a:p>
        </p:txBody>
      </p:sp>
      <p:sp>
        <p:nvSpPr>
          <p:cNvPr id="21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기본책무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역할확장</a:t>
            </a:r>
          </a:p>
        </p:txBody>
      </p:sp>
      <p:sp>
        <p:nvSpPr>
          <p:cNvPr id="23" name="배너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고유 업역내 축적된 역량과 자원을 활용, 친환경·탄소중립 실현의 주도적 역할 수행중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국가 물관리 책임기관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수자원의 확보와 안정적 이용 보장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❶ 수질·수량 복원 기반 가용수량 확대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수변환경 공간 관리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유역내 수질오염원 차단 및 정화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❷ 생물 다양성 거점 구축 공간가치 극대화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물-에너지 융합 기후테크 선도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국내 최대 재생e 보유 신규 에너지 발굴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❸ 국가 탄소중립 실현과 기업 RE100 지원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친환경 경영체계 확립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환경법규 준수 등 사회적 책임 이행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❹ ESG 관점의 경영체질 개선</a:t>
            </a:r>
          </a:p>
        </p:txBody>
      </p:sp>
      <p:sp>
        <p:nvSpPr>
          <p:cNvPr id="32" name="캡션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【 확장된 역할을 기반으로 전사 역량을 집중할 친환경·탄소중립 추진 3대 방향성 설정 】</a:t>
            </a:r>
          </a:p>
        </p:txBody>
      </p:sp>
      <p:sp>
        <p:nvSpPr>
          <p:cNvPr id="34" name="레일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 향</a:t>
            </a:r>
          </a:p>
        </p:txBody>
      </p:sp>
      <p:sp>
        <p:nvSpPr>
          <p:cNvPr id="35" name="단계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자연 회복력 중심의 생태가치 증진 역할 확대</a:t>
            </a:r>
          </a:p>
        </p:txBody>
      </p:sp>
      <p:sp>
        <p:nvSpPr>
          <p:cNvPr id="36" name="단계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물-에너지 기반의 탄소중립 이행력 강화</a:t>
            </a:r>
          </a:p>
        </p:txBody>
      </p:sp>
      <p:sp>
        <p:nvSpPr>
          <p:cNvPr id="37" name="단계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 리스크 관리 지속가능경영 고도화</a:t>
            </a:r>
          </a:p>
        </p:txBody>
      </p:sp>
      <p:sp>
        <p:nvSpPr>
          <p:cNvPr id="45" name="레일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 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 제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지속가능 물이용의 해법, Water Positive 주도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비상한 대책으로 오염토양 완벽 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상류 자연성 회복으로 생태가치 강화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환경변화를 반영한 물e Re:boot 로드맵 수립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물로 만든 청정에너지로 상생 경제 구현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수력을 활용한 기업 RE100 달성 지원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환경경영 취약지점 중심의 철저한 관리체계 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단계별 직무 전문인력 육성체계 완성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 관점의 신뢰성있는 정보공개 확대</a:t>
            </a:r>
          </a:p>
        </p:txBody>
      </p:sp>
      <p:sp>
        <p:nvSpPr>
          <p:cNvPr id="52" name="레일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성과지표</a:t>
            </a:r>
          </a:p>
        </p:txBody>
      </p:sp>
      <p:sp>
        <p:nvSpPr>
          <p:cNvPr id="53" name="칸 본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 복원량(4천명 이상)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자연공존지역 등재(3개 이상)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국외 감축사업 발굴(1개 이상)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제로에너지빌딩 인증(1건 이상)</a:t>
            </a:r>
          </a:p>
        </p:txBody>
      </p:sp>
      <p:sp>
        <p:nvSpPr>
          <p:cNvPr id="56" name="칸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직무·글로벌 전문가(40명 이상)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 배치자 교육(100% 이수)</a:t>
            </a:r>
          </a:p>
        </p:txBody>
      </p:sp>
      <p:sp>
        <p:nvSpPr>
          <p:cNvPr id="58" name="레일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 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 반</a:t>
            </a:r>
          </a:p>
        </p:txBody>
      </p:sp>
      <p:sp>
        <p:nvSpPr>
          <p:cNvPr id="60" name="태그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조직체계</a:t>
            </a:r>
          </a:p>
        </p:txBody>
      </p:sp>
      <p:sp>
        <p:nvSpPr>
          <p:cNvPr id="61" name="태그 설명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【총괄】 경영혁신실 【실행】 재생에너지본부·환경본부·도시본부 【자문】 ESG자문위·미래혁신자문위</a:t>
            </a:r>
          </a:p>
        </p:txBody>
      </p:sp>
      <p:sp>
        <p:nvSpPr>
          <p:cNvPr id="62" name="태그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예산투자</a:t>
            </a:r>
          </a:p>
        </p:txBody>
      </p:sp>
      <p:sp>
        <p:nvSpPr>
          <p:cNvPr id="63" name="태그 설명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2,629억원 → ’25년 2,719억원</a:t>
            </a:r>
          </a:p>
        </p:txBody>
      </p:sp>
      <p:sp>
        <p:nvSpPr>
          <p:cNvPr id="64" name="태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전담인력</a:t>
            </a:r>
          </a:p>
        </p:txBody>
      </p:sp>
      <p:sp>
        <p:nvSpPr>
          <p:cNvPr id="65" name="태그 설명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128명 → ’25년 140명(환경·에너지본부)</a:t>
            </a:r>
          </a:p>
        </p:txBody>
      </p:sp>
      <p:sp>
        <p:nvSpPr>
          <p:cNvPr id="66" name="태그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성과관리</a:t>
            </a:r>
          </a:p>
        </p:txBody>
      </p:sp>
      <p:sp>
        <p:nvSpPr>
          <p:cNvPr id="67" name="태그 설명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전사경영회의체, 내부성과평가</a:t>
            </a:r>
          </a:p>
        </p:txBody>
      </p:sp>
      <p:sp>
        <p:nvSpPr>
          <p:cNvPr id="68" name="태그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모니터링</a:t>
            </a:r>
          </a:p>
        </p:txBody>
      </p:sp>
      <p:sp>
        <p:nvSpPr>
          <p:cNvPr id="69" name="태그 설명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환경성과평가시스템, 온실가스종합시스템</a:t>
            </a: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83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물은 채우고, 땅을 살리는 자연 회복력 중심의 생태 가치 전환</a:t>
            </a:r>
          </a:p>
        </p:txBody>
      </p:sp>
      <p:sp>
        <p:nvSpPr>
          <p:cNvPr id="13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지속가능한 물이용의 해법, Water Positive 주도</a:t>
            </a:r>
          </a:p>
        </p:txBody>
      </p:sp>
      <p:sp>
        <p:nvSpPr>
          <p:cNvPr id="14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5" name="태그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6" name="태그칩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8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ESG 확산 속 기후위기 대응을 위한 기업의 물 복원 책임을 강조하는 ‘워터포지티브’ 확산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글로벌 ESG 공시 등에서는 ‘물복원 성과’ 요구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 분야 글로벌 이니셔티브 국내 도입·확산에 K-water의 주도적 역할 요구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국내 기업 경쟁력 + 물 현안 동시 해소의 해법</a:t>
            </a:r>
          </a:p>
        </p:txBody>
      </p:sp>
      <p:sp>
        <p:nvSpPr>
          <p:cNvPr id="22" name="태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워터 포지티브?</a:t>
            </a:r>
          </a:p>
        </p:txBody>
      </p:sp>
      <p:sp>
        <p:nvSpPr>
          <p:cNvPr id="23" name="태그 설명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사용한 물 이상을 자연으로 반환(=물복원), 구글·코카콜라 등 글로벌 기업 중심 확산중</a:t>
            </a:r>
          </a:p>
        </p:txBody>
      </p:sp>
      <p:sp>
        <p:nvSpPr>
          <p:cNvPr id="24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 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제 약</a:t>
            </a:r>
          </a:p>
        </p:txBody>
      </p:sp>
      <p:sp>
        <p:nvSpPr>
          <p:cNvPr id="26" name="머리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제도·정책적 기반 미비</a:t>
            </a:r>
          </a:p>
        </p:txBody>
      </p:sp>
      <p:sp>
        <p:nvSpPr>
          <p:cNvPr id="27" name="머리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여전히 낮은 국내 인식</a:t>
            </a:r>
          </a:p>
        </p:txBody>
      </p:sp>
      <p:sp>
        <p:nvSpPr>
          <p:cNvPr id="28" name="머리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 분야 진입장벽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 논의 절차, 물복원량 산정·인증 기준 등 전무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트렌드 대비 국내 인식과 활성화 상대적 미흡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공공 성격의 물관리 부문, 민간의 참여 범위 제한</a:t>
            </a:r>
          </a:p>
        </p:txBody>
      </p:sp>
      <p:sp>
        <p:nvSpPr>
          <p:cNvPr id="35" name="태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</a:t>
            </a:r>
          </a:p>
        </p:txBody>
      </p:sp>
      <p:sp>
        <p:nvSpPr>
          <p:cNvPr id="36" name="캡션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워터 포지티브 정착을 위한 기반과 인식 전환을 주도, 이를 바탕으로 성공사례까지 창출</a:t>
            </a:r>
          </a:p>
        </p:txBody>
      </p:sp>
      <p:sp>
        <p:nvSpPr>
          <p:cNvPr id="38" name="레일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국내도입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주 도</a:t>
            </a:r>
          </a:p>
        </p:txBody>
      </p:sp>
      <p:sp>
        <p:nvSpPr>
          <p:cNvPr id="39" name="단계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워터 포지티브의 제도적 기반 조성</a:t>
            </a:r>
          </a:p>
        </p:txBody>
      </p:sp>
      <p:sp>
        <p:nvSpPr>
          <p:cNvPr id="40" name="단계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국내 기업의 인식 변화와 확산 주도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기업간(삼성전자 등 8개社) 거버넌스 결성(’24~)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워터 포지티브 공식 기구 인정(’25.8, 기후부)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국내 특화된 복원량 산정·인증체계 도출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복원량 산정의 14개 유형, 16개 원칙 제시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리더(개념 창시자 등) 초청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국제 포럼 개최 등 국내 논의 활성화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Microsoft(본사)의 참여 희망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MS社와 국내 물 복원 사업 공동추진 MOU(’25.8)</a:t>
            </a:r>
          </a:p>
        </p:txBody>
      </p:sp>
      <p:sp>
        <p:nvSpPr>
          <p:cNvPr id="45" name="레일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최 초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성공사례</a:t>
            </a:r>
          </a:p>
        </p:txBody>
      </p:sp>
      <p:sp>
        <p:nvSpPr>
          <p:cNvPr id="47" name="배너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❸ 제도적 기반 + 인식 확산의 성과를 토대로 ➡ 국내외 워터 포지티브 성공사례 창출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현안 오염원 저감 + 생태계 복원 등 / 민간 수요 개선사업 참여 + 물 복원 성과 확보</a:t>
            </a:r>
          </a:p>
        </p:txBody>
      </p:sp>
      <p:sp>
        <p:nvSpPr>
          <p:cNvPr id="49" name="칸 본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삼성전자(’24~’25) 국내기업 최초, 장흥댐 상류 노후 인공습지 개선 ➡ 2천명/연 물사용분 복원</a:t>
            </a:r>
          </a:p>
        </p:txBody>
      </p:sp>
      <p:sp>
        <p:nvSpPr>
          <p:cNvPr id="51" name="칸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Microsoft(’25~) 소양강댐 상류 인공습지 조성, 비점오염 저감 ➡ 2천명/연 물사용분 복원</a:t>
            </a:r>
          </a:p>
        </p:txBody>
      </p:sp>
      <p:sp>
        <p:nvSpPr>
          <p:cNvPr id="53" name="칸 본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삼성전자(’26~) 물소외 지역(강원) 식수원 확보를 위한 모래샘 조성 ➡ 군장병 700명/일 물사용분 복원</a:t>
            </a:r>
          </a:p>
        </p:txBody>
      </p:sp>
      <p:sp>
        <p:nvSpPr>
          <p:cNvPr id="56" name="핵심성과 라벨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7" name="핵심성과 문구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성공사례 지속 확산 ➡ 누적 물 복원 4,000명분(수질오염 정화 포함)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新정부 국정과제 ‘기업의 물복원 활동 활성화’ 목표 반영 및 완벽 이행</a:t>
            </a: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84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토양 오염으로 주민 생활터전 비상 발생, ‘비상(非常)’한 대책으로 완벽 정화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8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9" name="칸 본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부산 EDC 일부 지역 오염토양 확인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과거 토마토 재배지, 재활용시설 운영부지</a:t>
            </a:r>
          </a:p>
        </p:txBody>
      </p:sp>
      <p:sp>
        <p:nvSpPr>
          <p:cNvPr id="10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해당 지역은 계획인구 약 7.6만명 생활터전, 법적 기준을 넘어선 적극적 정화 필요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내 용</a:t>
            </a:r>
          </a:p>
        </p:txBody>
      </p:sp>
      <p:sp>
        <p:nvSpPr>
          <p:cNvPr id="14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민·관 공동 역량 결집</a:t>
            </a:r>
          </a:p>
        </p:txBody>
      </p:sp>
      <p:sp>
        <p:nvSpPr>
          <p:cNvPr id="15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정화 인프라 구축</a:t>
            </a:r>
          </a:p>
        </p:txBody>
      </p:sp>
      <p:sp>
        <p:nvSpPr>
          <p:cNvPr id="16" name="단계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‘최고’ 수준 정화기준 적용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11인 구성: 지자체 · 전문가 · 환경단체 ➡ 투명성·공정성 확보(27회)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에어돔, 특수포대 등 활용 철저한 현장 오염물질 관리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오염물질 외부 유출 완벽 차단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공장·물류지역 ‘주택’ 기준 적용</a:t>
            </a:r>
          </a:p>
        </p:txBody>
      </p:sp>
      <p:graphicFrame>
        <p:nvGraphicFramePr>
          <p:cNvPr id="23" name="인라인 표"/>
          <p:cNvGraphicFramePr>
            <a:graphicFrameLocks noGrp="1"/>
          </p:cNvGraphicFramePr>
          <p:nvPr/>
        </p:nvGraphicFramePr>
        <p:xfrm>
          <a:off x="5156870" y="1976400"/>
          <a:ext cx="2136521" cy="624522"/>
        </p:xfrm>
        <a:graphic>
          <a:graphicData uri="http://schemas.openxmlformats.org/drawingml/2006/table">
            <a:tbl>
              <a:tblPr/>
              <a:tblGrid>
                <a:gridCol w="821739"/>
                <a:gridCol w="657391"/>
                <a:gridCol w="657391"/>
              </a:tblGrid>
              <a:tr h="208174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항목(예시)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유류(mg/kg)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아연(mg/kg)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</a:tr>
              <a:tr h="208174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법적기준(주택)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500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500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08174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최종성과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133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115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법적 기준 이하로 완벽 정화</a:t>
            </a:r>
          </a:p>
        </p:txBody>
      </p:sp>
      <p:sp>
        <p:nvSpPr>
          <p:cNvPr id="27" name="핵심성과 라벨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28" name="핵심성과 문구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기준을 넘어선 토양오염 완벽 해소로 주민 생활터전 보전 및 환경적 책임 완수</a:t>
            </a: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85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 댐 홍수터 OECM 등재로 ‘자연성 회복’ 터전으로의 댐 가치 전환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 ‘보호지역’ 중심 생물다양성 정책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’30년까지 전국토의 30%를 보호지역 등으로 관리 목표(5차 생물다양성 전략)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댐 유역 ‘홍수터’ 관리의 난맥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‘치수’ 보조적 수단으로 인식, 낮은 관리 우선순위로 무단경작, 불법점유 빈번</a:t>
            </a:r>
          </a:p>
        </p:txBody>
      </p:sp>
      <p:sp>
        <p:nvSpPr>
          <p:cNvPr id="16" name="캡션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【 육상·수상 생태계가 공존하는 댐 홍수터, ‘정책 이행’ + ‘관리 효율화’를 동시 겨냥한 대안 필요 】</a:t>
            </a:r>
          </a:p>
        </p:txBody>
      </p:sp>
      <p:sp>
        <p:nvSpPr>
          <p:cNvPr id="18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목 표</a:t>
            </a:r>
          </a:p>
        </p:txBody>
      </p:sp>
      <p:sp>
        <p:nvSpPr>
          <p:cNvPr id="19" name="배너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댐 홍수터의 자연공존지역(OECM) 등재로 생태 가치 중심의 관리 패러다임으로 전환</a:t>
            </a:r>
          </a:p>
        </p:txBody>
      </p:sp>
      <p:sp>
        <p:nvSpPr>
          <p:cNvPr id="20" name="태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OECM?</a:t>
            </a:r>
          </a:p>
        </p:txBody>
      </p:sp>
      <p:sp>
        <p:nvSpPr>
          <p:cNvPr id="21" name="태그 설명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법정 보호구역은 아니지만 생물다양성 보전 기여 지역(글로벌 생물다양성 협약, GBF)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정부는 보호구역 지정의 현실적 한계에 대한 대안으로 OECM 확대 추진</a:t>
            </a:r>
          </a:p>
        </p:txBody>
      </p:sp>
      <p:sp>
        <p:nvSpPr>
          <p:cNvPr id="23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내 용</a:t>
            </a:r>
          </a:p>
        </p:txBody>
      </p:sp>
      <p:sp>
        <p:nvSpPr>
          <p:cNvPr id="25" name="단계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전국 댐 홍수터 분석</a:t>
            </a:r>
          </a:p>
        </p:txBody>
      </p:sp>
      <p:sp>
        <p:nvSpPr>
          <p:cNvPr id="26" name="단계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등재 신청 최적지 선정</a:t>
            </a:r>
          </a:p>
        </p:txBody>
      </p:sp>
      <p:sp>
        <p:nvSpPr>
          <p:cNvPr id="27" name="단계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OECM 등재 실사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OECM 지침에 부합하는 댐 전역 후보지역 검토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보호지역 여부, 생태적 가치 관리·제도 수단 등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검토 결과, 3개 댐 홍수터를 최적지로 선정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임하·충주·보령댐 홍수터 총 0.326㎢ 후보지로 결정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대상지 심층진단 및 등재 종합평가 실시(기후부 주관)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생물다양성 등 중요 가치, 장기적 보전 가능성 등 평가</a:t>
            </a:r>
          </a:p>
        </p:txBody>
      </p:sp>
      <p:sp>
        <p:nvSpPr>
          <p:cNvPr id="35" name="배너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생물다양성 정책 퍼스트무버로서 3개 댐 OECM 등재 확정(0.287㎢, 축구장 약 40개 면적)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효과❶ 자연성 회복 투자 확대의 토대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홍수터의 생태가치 공식 인정으로 생태복원, 탄소흡수원 조성 등 활성화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효과❷ 생태자원 연계, 지역 활성화 계기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유역 자연자원과 연계한 생태관광 등 상생 모델 개발로 지역가치 상승</a:t>
            </a:r>
          </a:p>
        </p:txBody>
      </p:sp>
      <p:sp>
        <p:nvSpPr>
          <p:cNvPr id="40" name="핵심성과 라벨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1" name="핵심성과 문구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국가 OECM 홍수터 유형 신설, 신규 지정 9개 중 3개를 책임지며 정책목표 달성 기여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86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라. 주민 협업으로 댐 생태자원을 상생 모델로 탄생시킨 ‘윙윙 꿀벌 식당’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8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9" name="칸 본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기후변화로 꽃밭이 급감하며 꿀벌도 덩달아 실종, 생태계 수정 기능 마비</a:t>
            </a:r>
          </a:p>
        </p:txBody>
      </p:sp>
      <p:sp>
        <p:nvSpPr>
          <p:cNvPr id="10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주변 유휴지 활용 꿀벌 생태계 복원과 동시에 자연과 사람의 공존모델 구상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협업체계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구 성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사회적 협동조합</a:t>
            </a:r>
          </a:p>
        </p:txBody>
      </p:sp>
      <p:sp>
        <p:nvSpPr>
          <p:cNvPr id="16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지역주민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사업기획·개발, 홍보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사업관리, 주민모집·교육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들깨밭 관리·생산 참여</a:t>
            </a:r>
          </a:p>
        </p:txBody>
      </p:sp>
      <p:sp>
        <p:nvSpPr>
          <p:cNvPr id="22" name="레일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상생모델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구 현</a:t>
            </a:r>
          </a:p>
        </p:txBody>
      </p:sp>
      <p:sp>
        <p:nvSpPr>
          <p:cNvPr id="24" name="단계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안심 농법 기술을 활용</a:t>
            </a:r>
          </a:p>
        </p:txBody>
      </p:sp>
      <p:sp>
        <p:nvSpPr>
          <p:cNvPr id="25" name="단계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댐 유휴지에 들깨밭을 조성</a:t>
            </a:r>
          </a:p>
        </p:txBody>
      </p:sp>
      <p:sp>
        <p:nvSpPr>
          <p:cNvPr id="26" name="단계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수확된 들깨를 판매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수질·생태계를 보호하며 친환경 경작기법 활용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화학 농약·비료 원천차단, ‘안심농법’ 주민 교육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꿀벌의 밀원지를 확보하고 윙윙 꿀벌 식당 조성(들깨밭)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들깨밭 조성으로 생태계 핵심종 꿀벌 서식지 제공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지역경제 활성화에 보탬 자연·주민의 공존모델 성공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수확된 들깨·꿀의 가공/판매로 지역 소득창출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사진 3칸: 주민 교육 · 들깨밭 · 판매 상품</a:t>
            </a:r>
          </a:p>
        </p:txBody>
      </p:sp>
      <p:sp>
        <p:nvSpPr>
          <p:cNvPr id="35" name="사진 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사진</a:t>
            </a:r>
          </a:p>
        </p:txBody>
      </p:sp>
      <p:sp>
        <p:nvSpPr>
          <p:cNvPr id="37" name="핵심성과 라벨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8" name="핵심성과 문구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꿀벌(약 2만마리) 생태환경 조성과 주민 일자리(19개), 소득(37백만원) 동시 창출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이해관계자간 협력 기반 성공적 상생 모델 구현으로 중기부 ‘윈윈 아너스’ 사례 선정</a:t>
            </a: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87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기술 개선 및 국민 편익을 증대하는 물에너지 개발로 국가 탄소중립 선도</a:t>
            </a:r>
          </a:p>
        </p:txBody>
      </p:sp>
      <p:sp>
        <p:nvSpPr>
          <p:cNvPr id="13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신정부 에너지 정책에 발맞춘 K-water 물에너지 Re:boot 로드맵 마련</a:t>
            </a:r>
          </a:p>
        </p:txBody>
      </p:sp>
      <p:sp>
        <p:nvSpPr>
          <p:cNvPr id="14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물에너지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Re:boot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 략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 기후위기 대응과 재생에너지 대전환, 온실가스 감축 가속화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‘국가 탄소중립 실현과 기업 RE100 달성’ 국정과제 이행 선도적 역할 수행</a:t>
            </a:r>
          </a:p>
        </p:txBody>
      </p:sp>
      <p:sp>
        <p:nvSpPr>
          <p:cNvPr id="20" name="태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목표</a:t>
            </a:r>
          </a:p>
        </p:txBody>
      </p:sp>
      <p:sp>
        <p:nvSpPr>
          <p:cNvPr id="21" name="태그 설명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2030년까지 재생에너지 8.5GW 개발 추진(누적 10GW) [국가목표의 10%]</a:t>
            </a:r>
          </a:p>
        </p:txBody>
      </p:sp>
      <p:sp>
        <p:nvSpPr>
          <p:cNvPr id="22" name="태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세부</a:t>
            </a:r>
          </a:p>
        </p:txBody>
      </p:sp>
      <p:sp>
        <p:nvSpPr>
          <p:cNvPr id="23" name="태그 설명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수상태양광 6.5GW, 육상태양광 0.6GW, 수력 977MW 등 추가 개발</a:t>
            </a:r>
          </a:p>
        </p:txBody>
      </p:sp>
      <p:sp>
        <p:nvSpPr>
          <p:cNvPr id="24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공 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가 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 현</a:t>
            </a:r>
          </a:p>
        </p:txBody>
      </p:sp>
      <p:sp>
        <p:nvSpPr>
          <p:cNvPr id="26" name="배너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물에너지를 통한 주민·국가·기업 상생 경제 구현</a:t>
            </a:r>
          </a:p>
        </p:txBody>
      </p:sp>
      <p:sp>
        <p:nvSpPr>
          <p:cNvPr id="27" name="머리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주민 이익공유 모델</a:t>
            </a:r>
          </a:p>
        </p:txBody>
      </p:sp>
      <p:sp>
        <p:nvSpPr>
          <p:cNvPr id="28" name="머리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국가 온실가스 국제 감축</a:t>
            </a:r>
          </a:p>
        </p:txBody>
      </p:sp>
      <p:sp>
        <p:nvSpPr>
          <p:cNvPr id="29" name="머리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 RE100 달성지원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물에너지 연계 주거비 절감, 소득증대모델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(목표) 주민상생사업 32개소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앞선 기술력을 바탕으로 글로벌 탄소중립 시장 선도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(목표) 8개국 17개 신규사업 추진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재생에너지를 활용 직접PPA 다각화, 계약 확대 추진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(목표) 직접PPA 26건(누적) 체결</a:t>
            </a: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88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공동주택 수열도입, 주민 수익 창출, 그린수소 상업판매 개시로 실행력 입증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9" name="레일 태그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국민편익</a:t>
            </a:r>
          </a:p>
        </p:txBody>
      </p:sp>
      <p:sp>
        <p:nvSpPr>
          <p:cNvPr id="10" name="레일 라벨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 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에너지</a:t>
            </a:r>
          </a:p>
        </p:txBody>
      </p:sp>
      <p:sp>
        <p:nvSpPr>
          <p:cNvPr id="11" name="단계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간헐적·비정기적 수요</a:t>
            </a:r>
          </a:p>
        </p:txBody>
      </p:sp>
      <p:sp>
        <p:nvSpPr>
          <p:cNvPr id="12" name="단계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국민 주거공간으로 확장</a:t>
            </a:r>
          </a:p>
        </p:txBody>
      </p:sp>
      <p:sp>
        <p:nvSpPr>
          <p:cNvPr id="13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 국민편익까지 실현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롯데타워, 스마트팜 등 대형복합시설 중심 공급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안정적인 수열사업 확대를 위한 수요처 다변화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국내최초 공공주택(604세대) 수열도입 시범추진(경기도)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신도시 등 수요처 추가발굴 실외기 없는 친환경 주거 확대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냉·난방비 최대 66% 절감 기대로 국민주거복지 실현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에너지 Zero 아파트 구현으로 건축 부문 탄소중립 기여</a:t>
            </a:r>
          </a:p>
        </p:txBody>
      </p:sp>
      <p:sp>
        <p:nvSpPr>
          <p:cNvPr id="22" name="레일 태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이익공유</a:t>
            </a:r>
          </a:p>
        </p:txBody>
      </p:sp>
      <p:sp>
        <p:nvSpPr>
          <p:cNvPr id="23" name="레일 라벨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 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태양광</a:t>
            </a:r>
          </a:p>
        </p:txBody>
      </p:sp>
      <p:sp>
        <p:nvSpPr>
          <p:cNvPr id="25" name="단계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주민참여 사업모델 정립</a:t>
            </a:r>
          </a:p>
        </p:txBody>
      </p:sp>
      <p:sp>
        <p:nvSpPr>
          <p:cNvPr id="26" name="단계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임하 수상태양광 준공</a:t>
            </a:r>
          </a:p>
        </p:txBody>
      </p:sp>
      <p:sp>
        <p:nvSpPr>
          <p:cNvPr id="27" name="단계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’25년~ 성공 사업모델 확산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지역특화모델, 일자리 창출, 주민 수익 공유(10%)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주민소득형 상생 기반 마련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33개 마을·2,600가구 참여 국내 최대규모 상업운전 개시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수익 창출 시작(10억원/연)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선진지 견학 및 노하우 전파, 성공사례 공유·소통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합천댐 등 3개소 사업 추진</a:t>
            </a:r>
          </a:p>
        </p:txBody>
      </p:sp>
      <p:sp>
        <p:nvSpPr>
          <p:cNvPr id="36" name="레일 태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기술력 향상</a:t>
            </a:r>
          </a:p>
        </p:txBody>
      </p:sp>
      <p:sp>
        <p:nvSpPr>
          <p:cNvPr id="37" name="레일 라벨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그린수소</a:t>
            </a:r>
          </a:p>
        </p:txBody>
      </p:sp>
      <p:sp>
        <p:nvSpPr>
          <p:cNvPr id="38" name="머리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혁신 생산인프라 지속 개발</a:t>
            </a:r>
          </a:p>
        </p:txBody>
      </p:sp>
      <p:sp>
        <p:nvSpPr>
          <p:cNvPr id="39" name="머리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도약 수소에너지 상용화</a:t>
            </a:r>
          </a:p>
        </p:txBody>
      </p:sp>
      <p:sp>
        <p:nvSpPr>
          <p:cNvPr id="40" name="머리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확산 지역상생형 공급망구축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태양광 활용 그린수소 생산 모델 연구개발 시도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태양광 직접연계 On-Site 생산시스템 실증설비 구축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수력발전 기반 그린수소 상업 판매 개시(’25.7)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연 30톤(수소차 5천대 충전량) 생산 확보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국내 최초 대체수자원(하수) 활용 생산 상용화(제주도 협약)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물 분야 그린수소 기술력 확보 및 산업 선점</a:t>
            </a:r>
          </a:p>
        </p:txBody>
      </p:sp>
      <p:sp>
        <p:nvSpPr>
          <p:cNvPr id="47" name="레일 태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탄소중립</a:t>
            </a:r>
          </a:p>
        </p:txBody>
      </p:sp>
      <p:sp>
        <p:nvSpPr>
          <p:cNvPr id="48" name="레일 라벨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온실가스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국 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감축사업</a:t>
            </a:r>
          </a:p>
        </p:txBody>
      </p:sp>
      <p:sp>
        <p:nvSpPr>
          <p:cNvPr id="50" name="배너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온실가스 국제감축사업 국가 전담기관(’23~)으로, 글로벌 탄소중립 기술 확산 주도</a:t>
            </a:r>
          </a:p>
        </p:txBody>
      </p:sp>
      <p:sp>
        <p:nvSpPr>
          <p:cNvPr id="51" name="단계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기존 사업의 틀을 넘어</a:t>
            </a:r>
          </a:p>
        </p:txBody>
      </p:sp>
      <p:sp>
        <p:nvSpPr>
          <p:cNvPr id="52" name="단계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온실가스 감축 K-water 특화모델 적용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사업분야 개도국 재생에너지 사업 중심 ➡ 소수력·태양광, 재생에너지 MP 수립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진출국가 아시아 3개국 9개 사업 진행 ➡ 동남아시아 2개국, 중앙아시아 1개국</a:t>
            </a:r>
          </a:p>
        </p:txBody>
      </p:sp>
      <p:sp>
        <p:nvSpPr>
          <p:cNvPr id="55" name="칸 본문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국내 최초 ‘유수율 제고’ 기술의 감축모델화 ➡ 누수 저감량의 탄소 감축 실적인정 방법론 개발·제안(’26.2)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중앙아시아 지역 대상으로 집중적 확대 ➡ ’25년 중앙아시아 사업 대상국 2개 신규 발굴(1 → 3개국)</a:t>
            </a: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89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 수력의 글로벌 RE100 인증기준 마련으로 수출기업 RE100 경쟁력 확대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 수출을 위한 RE100 달성 필요에도 국내 재생e 공급은 12%에 불과(’24)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재생e 1위 기업 K-water의 물에너지(수력)를 활용한 직접 PPA 확대 필요</a:t>
            </a:r>
          </a:p>
        </p:txBody>
      </p:sp>
      <p:sp>
        <p:nvSpPr>
          <p:cNvPr id="13" name="태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직접전력거래(직접PPA)</a:t>
            </a:r>
          </a:p>
        </p:txBody>
      </p:sp>
      <p:sp>
        <p:nvSpPr>
          <p:cNvPr id="14" name="태그 설명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기업간 직접 1:1로 재생e 전력을 사고파는 계약으로, RE100 이행수단</a:t>
            </a:r>
          </a:p>
        </p:txBody>
      </p:sp>
      <p:sp>
        <p:nvSpPr>
          <p:cNvPr id="15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추진내용</a:t>
            </a:r>
          </a:p>
        </p:txBody>
      </p:sp>
      <p:sp>
        <p:nvSpPr>
          <p:cNvPr id="17" name="배너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글로벌 RE100 기술기준 개정으로 국내 수력 PPA 자원 확보</a:t>
            </a:r>
          </a:p>
        </p:txBody>
      </p:sp>
      <p:sp>
        <p:nvSpPr>
          <p:cNvPr id="18" name="단계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문제점 수력 직접 PPA 활용 불가</a:t>
            </a:r>
          </a:p>
        </p:txBody>
      </p:sp>
      <p:sp>
        <p:nvSpPr>
          <p:cNvPr id="19" name="단계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극복 K-인증수단 발굴로 글로벌 기준 획득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RE100의 검증 강화로 수력 ‘지속가능성(친환경성)’ 인증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수력도 통용될 수 있는 인증기준 발굴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WCD(세계댐위원회)의 지속가능성 기준을 글로벌 RE100 기준으로 제안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글로벌 RE100 기술기준에 WCD 기준 추가(’25.3)</a:t>
            </a:r>
          </a:p>
        </p:txBody>
      </p:sp>
      <p:sp>
        <p:nvSpPr>
          <p:cNvPr id="25" name="핵심성과 라벨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26" name="핵심성과 문구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수력 활용 PPA 확대 기반 마련으로 수출기업 RE100 이행률 2.3%p 상향</a:t>
            </a: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90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전사적 환경리스크 관리 및 지속가능경영 고도화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환경경영 취약지점 중심의 철저한 이행·관리체계 마련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2" name="태그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내부여건 환경법규 준수사항은 복잡화되나, 잦은 보직 이동으로 누수 우려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전문인력 적극 양성을 위한 교육체계 개편, 정확하고 투명한 정보제공</a:t>
            </a:r>
          </a:p>
        </p:txBody>
      </p:sp>
      <p:sp>
        <p:nvSpPr>
          <p:cNvPr id="18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환경법규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취약지점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해 소</a:t>
            </a:r>
          </a:p>
        </p:txBody>
      </p:sp>
      <p:sp>
        <p:nvSpPr>
          <p:cNvPr id="20" name="배너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중점 취약요인에 대한 맞춤형 처방으로 환경법규 위반 가능성 차단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취약❶ 복잡·다양한 환경법규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법규 유형별 표준 정립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관련법규 및 의무사항 체계화(9개 법, 70개 의무)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누구나 쉽게 실무 활용 가능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취약❷ 인적 오류 가능성 상존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시스템적 관리체계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법령·절차적 준수사항의 기한 도래시 자동 메일링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법규 준수사항 누락 방지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취약❸ 잦은 담당자 변경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 배치자 맞춤형 교육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사업장별 특성에 최적화된 환경·안전교육 개설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교육대상자 100% 수료 완료</a:t>
            </a:r>
          </a:p>
        </p:txBody>
      </p:sp>
      <p:sp>
        <p:nvSpPr>
          <p:cNvPr id="26" name="레일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단계별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인재양성</a:t>
            </a:r>
          </a:p>
        </p:txBody>
      </p:sp>
      <p:sp>
        <p:nvSpPr>
          <p:cNvPr id="27" name="배너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전직원 인식조사 및 니즈분석 기반 단계별 전문인력 육성체계 완성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전사 공통 교육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‘친환경·탄소중립’ 필수 교육화, 내부인식 제고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전사 6,429명 수료 완료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 전문가 양성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탄소중립 융합 전문가 및 정수시설운영관리사 과정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사내 전문가 83명 배출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리더 육성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차세대 리더, 환경경영 국제심사원(ISO14001) 양성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국제수준 심사원 7명 양성</a:t>
            </a:r>
          </a:p>
        </p:txBody>
      </p:sp>
      <p:sp>
        <p:nvSpPr>
          <p:cNvPr id="33" name="레일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녹 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건축물</a:t>
            </a:r>
          </a:p>
        </p:txBody>
      </p:sp>
      <p:sp>
        <p:nvSpPr>
          <p:cNvPr id="35" name="배너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전사 에너지 다소비 건축물의 녹색건축물 전환으로 에너지·탄소 절감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 제로에너지빌딩 인증(청송, 수자원위성센터)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에너지효율등급 1++이상, 에너지자립률 20% 이상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그린리모델링(한강본부사옥, 대청댐 물문화관)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단열 보강, 조명 및 일사개선, 건물일체형 태양광 설치 등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제로에너지빌딩 인증 2건, 온실가스 145tCO₂eq 저감(소나무 25천 그루 식재 효과)</a:t>
            </a:r>
          </a:p>
        </p:txBody>
      </p:sp>
      <p:sp>
        <p:nvSpPr>
          <p:cNvPr id="40" name="레일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환경경영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공 개</a:t>
            </a:r>
          </a:p>
        </p:txBody>
      </p:sp>
      <p:sp>
        <p:nvSpPr>
          <p:cNvPr id="41" name="배너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 관점의 신뢰성 있는 환경정보 제공을 위해 ‘정확성’과 ‘접근성’을 대폭 향상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환경이슈에 대한 ‘정확한’ 정보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녹조 등 환경이슈에 대한 팩트 기반 정보 전달을 위한 현안별 TF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보도 표준안 마련, 선제적 정보 제공(14회)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 누구나 ‘쉽고 빠르게’ 정보를 확보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가장 쉽고 빠르게 수도 정보를 전달하는 생성형 AI ‘워터365’ 서비스 개시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수도행정, 시설, 수질 등 시각화된 정보 제공</a:t>
            </a: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91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중장기 로드맵 기반, 체계적인 물·기후테크 기업 해외진출 지원</a:t>
            </a:r>
          </a:p>
        </p:txBody>
      </p:sp>
      <p:sp>
        <p:nvSpPr>
          <p:cNvPr id="12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그간의 노력 전담조직을 통한 전주기 맞춤형 지원으로 민간기업 수출액 지속 성장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여전한 고민 핵심기술 보유기업 참여 저조 및 수출성과 일부 기업 편중 등 문제 상존</a:t>
            </a:r>
          </a:p>
        </p:txBody>
      </p:sp>
      <p:sp>
        <p:nvSpPr>
          <p:cNvPr id="18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분 석</a:t>
            </a:r>
          </a:p>
        </p:txBody>
      </p:sp>
      <p:sp>
        <p:nvSpPr>
          <p:cNvPr id="20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물산업 변화</a:t>
            </a:r>
          </a:p>
        </p:txBody>
      </p:sp>
      <p:sp>
        <p:nvSpPr>
          <p:cNvPr id="21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정부정책</a:t>
            </a:r>
          </a:p>
        </p:txBody>
      </p:sp>
      <p:sp>
        <p:nvSpPr>
          <p:cNvPr id="22" name="머리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 중장기전략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기후대응·수처리 기술 혁신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글로벌 기후테크가 물분야로 확장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물문제 해결을 위한 AI 활용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해외진출·수주지원 협업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민간-공공 협력 강화방안(’22.9)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기후테크 등 신성장동력 육성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초격차·선도기술 기업육성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AI, 디지털트윈 등 기술기업 타겟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K-water型 수출지원 모델정립</a:t>
            </a:r>
          </a:p>
        </p:txBody>
      </p:sp>
      <p:sp>
        <p:nvSpPr>
          <p:cNvPr id="29" name="태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30" name="캡션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글로벌 기후테크 분야 신성장 동력 확보를 위한 민간 물기업 해외진출 지원 필요</a:t>
            </a:r>
          </a:p>
        </p:txBody>
      </p:sp>
      <p:sp>
        <p:nvSpPr>
          <p:cNvPr id="32" name="레일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목 표</a:t>
            </a:r>
          </a:p>
        </p:txBody>
      </p:sp>
      <p:sp>
        <p:nvSpPr>
          <p:cNvPr id="33" name="배너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물·기후테크 기업의 해외시장 진출 강화(’29년 민간해외수출 3,600억원 달성)</a:t>
            </a:r>
          </a:p>
        </p:txBody>
      </p:sp>
      <p:sp>
        <p:nvSpPr>
          <p:cNvPr id="34" name="레일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중장기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로 드 맵</a:t>
            </a:r>
          </a:p>
        </p:txBody>
      </p:sp>
      <p:sp>
        <p:nvSpPr>
          <p:cNvPr id="36" name="단계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~’22년 도입·정착기</a:t>
            </a:r>
          </a:p>
        </p:txBody>
      </p:sp>
      <p:sp>
        <p:nvSpPr>
          <p:cNvPr id="37" name="단계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’23~’24년 성장기</a:t>
            </a:r>
          </a:p>
        </p:txBody>
      </p:sp>
      <p:sp>
        <p:nvSpPr>
          <p:cNvPr id="38" name="단계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’25~’26년 확산기</a:t>
            </a:r>
          </a:p>
        </p:txBody>
      </p:sp>
      <p:sp>
        <p:nvSpPr>
          <p:cNvPr id="39" name="단계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’27년~ 자립기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전담조직 신설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전주기 지원 확립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맞춤형 지원체계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지원대상 확대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해외협력 지원플랫폼 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실증 및 동반진출 확대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초격차기술 동반진출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수출자립기업 육성</a:t>
            </a:r>
          </a:p>
        </p:txBody>
      </p:sp>
      <p:sp>
        <p:nvSpPr>
          <p:cNvPr id="50" name="레일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’25년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실행과제</a:t>
            </a:r>
          </a:p>
        </p:txBody>
      </p:sp>
      <p:sp>
        <p:nvSpPr>
          <p:cNvPr id="52" name="머리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민간기업 해외진출 확대</a:t>
            </a:r>
          </a:p>
        </p:txBody>
      </p:sp>
      <p:sp>
        <p:nvSpPr>
          <p:cNvPr id="53" name="머리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해외시장개척단 내실화</a:t>
            </a:r>
          </a:p>
        </p:txBody>
      </p:sp>
      <p:sp>
        <p:nvSpPr>
          <p:cNvPr id="54" name="머리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민간기업과 함께 도약</a:t>
            </a:r>
          </a:p>
        </p:txBody>
      </p:sp>
      <p:sp>
        <p:nvSpPr>
          <p:cNvPr id="55" name="칸 본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빈틈없는 수출금융지원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전방위적 해외마케팅 강화</a:t>
            </a:r>
          </a:p>
        </p:txBody>
      </p:sp>
      <p:sp>
        <p:nvSpPr>
          <p:cNvPr id="56" name="칸 본문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전략적 선발 및 성과관리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 맞춤형 지원 고도화</a:t>
            </a:r>
          </a:p>
        </p:txBody>
      </p:sp>
      <p:sp>
        <p:nvSpPr>
          <p:cNvPr id="58" name="칸 본문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실증사업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핵심기술 동반진출 확대</a:t>
            </a: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92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창업을 돕고, 금융을 지원하고, 마케팅까지 함께하는 기업 희망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물산업 육성부터 대규모 물인프라까지 대·중·소 빈틈없는 수출금융지원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태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펀드</a:t>
            </a:r>
          </a:p>
        </p:txBody>
      </p:sp>
      <p:sp>
        <p:nvSpPr>
          <p:cNvPr id="14" name="그룹 제목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4개 펀드로 수출금융 체계 구축</a:t>
            </a:r>
          </a:p>
        </p:txBody>
      </p:sp>
      <p:sp>
        <p:nvSpPr>
          <p:cNvPr id="17" name="태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지역혁신펀드</a:t>
            </a:r>
          </a:p>
        </p:txBody>
      </p:sp>
      <p:sp>
        <p:nvSpPr>
          <p:cNvPr id="18" name="카드 제목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총 5,254억원 조성완</a:t>
            </a:r>
          </a:p>
        </p:txBody>
      </p:sp>
      <p:sp>
        <p:nvSpPr>
          <p:cNvPr id="19" name="카드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중기부·지자체·K-water 참여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물산업 혁신성장 지원을 위해 999억원 출자완료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물산업 분야 142개社, 1,606억원(누계) 투자</a:t>
            </a:r>
          </a:p>
        </p:txBody>
      </p:sp>
      <p:sp>
        <p:nvSpPr>
          <p:cNvPr id="22" name="태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프로젝트 지원자금</a:t>
            </a:r>
          </a:p>
        </p:txBody>
      </p:sp>
      <p:sp>
        <p:nvSpPr>
          <p:cNvPr id="23" name="카드 제목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총 30억원 조성완</a:t>
            </a:r>
          </a:p>
        </p:txBody>
      </p:sp>
      <p:sp>
        <p:nvSpPr>
          <p:cNvPr id="24" name="카드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기후부·K-water 등 5개 기관 참여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물관련 해외사업 지원을 위해 10억원 출자완료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인도네시아·미국 등 7개 프로젝트, 총 26억원 지원</a:t>
            </a:r>
          </a:p>
        </p:txBody>
      </p:sp>
      <p:sp>
        <p:nvSpPr>
          <p:cNvPr id="26" name="태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녹색인프라 해외수출 지원펀드</a:t>
            </a:r>
          </a:p>
        </p:txBody>
      </p:sp>
      <p:sp>
        <p:nvSpPr>
          <p:cNvPr id="27" name="카드 제목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총 5,000억원 조성 계획</a:t>
            </a:r>
          </a:p>
        </p:txBody>
      </p:sp>
      <p:sp>
        <p:nvSpPr>
          <p:cNvPr id="28" name="카드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기후부·K-water 등 참여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녹색산업 지원을 위해 총 400억원 출자예정(~’28)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45억원 출자, 총 1,462억원 투자 승인 완료</a:t>
            </a:r>
          </a:p>
        </p:txBody>
      </p:sp>
      <p:sp>
        <p:nvSpPr>
          <p:cNvPr id="31" name="태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PIS 2단계 펀드</a:t>
            </a:r>
          </a:p>
        </p:txBody>
      </p:sp>
      <p:sp>
        <p:nvSpPr>
          <p:cNvPr id="32" name="카드 제목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총 11,000억원 조성 계획</a:t>
            </a:r>
          </a:p>
        </p:txBody>
      </p:sp>
      <p:sp>
        <p:nvSpPr>
          <p:cNvPr id="33" name="카드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국토부·K-water 등 참여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인프라 투자 지원을 위해 총 200억원 출자예정(~’29)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40억원 출자, 총 2,076억원 투자 승인 완료</a:t>
            </a:r>
          </a:p>
        </p:txBody>
      </p:sp>
      <p:sp>
        <p:nvSpPr>
          <p:cNvPr id="35" name="핵심성과 라벨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6" name="핵심성과 문구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수출투자재원 확대 및 신규 펀드(PIS) 확보로 수출 성장 생태계 구축(5,170억원, 전년 比 331%)</a:t>
            </a: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93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해외진출 컨설팅부터 온·오프라인 판로확대까지 밀착형 마케팅 지원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0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3" name="레일 태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해외진출 컨설팅</a:t>
            </a:r>
          </a:p>
        </p:txBody>
      </p:sp>
      <p:sp>
        <p:nvSpPr>
          <p:cNvPr id="14" name="레일 라벨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온보딩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프로그램</a:t>
            </a:r>
          </a:p>
        </p:txBody>
      </p:sp>
      <p:sp>
        <p:nvSpPr>
          <p:cNvPr id="15" name="태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온보딩 프로그램</a:t>
            </a:r>
          </a:p>
        </p:txBody>
      </p:sp>
      <p:sp>
        <p:nvSpPr>
          <p:cNvPr id="16" name="태그 설명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해외진출을 희망하는 창업 초기기업의 성공적 해외시장 진출을 지원</a:t>
            </a:r>
          </a:p>
        </p:txBody>
      </p:sp>
      <p:sp>
        <p:nvSpPr>
          <p:cNvPr id="17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해외시장 리서치 및 바이어 발굴(7社)</a:t>
            </a:r>
          </a:p>
        </p:txBody>
      </p:sp>
      <p:sp>
        <p:nvSpPr>
          <p:cNvPr id="18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 맞춤형 IR 피치덱(투자유치전략서) 제작(5社)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리서치 수요·경쟁동향, 품질인증제도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바이어 유망 바이어 롱·숏리스트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발굴 바이어 비대면 미팅(화상, 이메일) 주선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글로벌(영문) 현지 투자자 중심의 메시지 최적화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맞춤형(현지) 타겟국가별 맞춤형 언어 번역본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원본 제공 → 지원 이후에도 직접 수정·편집 가능</a:t>
            </a:r>
          </a:p>
        </p:txBody>
      </p:sp>
      <p:sp>
        <p:nvSpPr>
          <p:cNvPr id="22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글로벌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마케팅</a:t>
            </a:r>
          </a:p>
        </p:txBody>
      </p:sp>
      <p:sp>
        <p:nvSpPr>
          <p:cNvPr id="24" name="머리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해외전시회</a:t>
            </a:r>
          </a:p>
        </p:txBody>
      </p:sp>
      <p:sp>
        <p:nvSpPr>
          <p:cNvPr id="25" name="머리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무역사절단</a:t>
            </a:r>
          </a:p>
        </p:txBody>
      </p:sp>
      <p:sp>
        <p:nvSpPr>
          <p:cNvPr id="26" name="머리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기술로드쇼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CES 등 동반참여로 물산업 바이어 매칭 및 홍보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2개국 4건, 53개 기업 참여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KOTRA, 외교부 협업으로 관심 바이어 초청 및 매칭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6개국 6건, 54개 기업 참여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인프라(AWC, 한-메콩센터 등) 연계로 잠재 바이어 발굴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8개국 10건, 48개 기업 참여</a:t>
            </a:r>
          </a:p>
        </p:txBody>
      </p:sp>
      <p:sp>
        <p:nvSpPr>
          <p:cNvPr id="32" name="레일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판로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확대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온라인 AWS 마켓플레이스 등록 컨설팅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디지털 물기업 글로벌 판로확보 지원(2개社)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클라우드 SW 상거래 플랫폼, 월 30만명 이상 이용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오프라인 해외사업 마중물센터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현지 바이어 대상 기술실증·홍보거점 활용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K-water 사업진출국(필리핀·베트남·인니) ’25년 최초 개소</a:t>
            </a:r>
          </a:p>
        </p:txBody>
      </p:sp>
      <p:sp>
        <p:nvSpPr>
          <p:cNvPr id="38" name="핵심성과 라벨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9" name="핵심성과 문구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맞춤형 컨설팅 및 글로벌 마케팅 지원으로 역대 최고 수출액 1,166억원 달성(전년 比 131%)</a:t>
            </a: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94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잘하면 더 잘하게, 취약하면 지원하며 ‘해외시장개척단’ 내실화</a:t>
            </a:r>
          </a:p>
        </p:txBody>
      </p:sp>
      <p:sp>
        <p:nvSpPr>
          <p:cNvPr id="9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 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분 석</a:t>
            </a:r>
          </a:p>
        </p:txBody>
      </p:sp>
      <p:sp>
        <p:nvSpPr>
          <p:cNvPr id="12" name="태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해외시장개척단</a:t>
            </a:r>
          </a:p>
        </p:txBody>
      </p:sp>
      <p:sp>
        <p:nvSpPr>
          <p:cNvPr id="13" name="태그 설명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물산업 우수기업을 맞춤형으로 지원하는 ‘K-water 해외협력 지원플랫폼’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 ’18년 도입 이후 양적성장(33 → 62개社)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사업발굴부터 판로까지 전주기 지원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한계 K-water 핵심기술 보유기업 참여 저조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단기 성과 위주관리로 지속성장 한계 봉착</a:t>
            </a:r>
          </a:p>
        </p:txBody>
      </p:sp>
      <p:sp>
        <p:nvSpPr>
          <p:cNvPr id="18" name="태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개선방향</a:t>
            </a:r>
          </a:p>
        </p:txBody>
      </p:sp>
      <p:sp>
        <p:nvSpPr>
          <p:cNvPr id="19" name="캡션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핵심기술 수출확대를 위한 선순환(선발 ↔ 성과관리 ↔ 판로지원) 구축</a:t>
            </a:r>
          </a:p>
        </p:txBody>
      </p:sp>
      <p:sp>
        <p:nvSpPr>
          <p:cNvPr id="21" name="레일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선발·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성과관리</a:t>
            </a:r>
          </a:p>
        </p:txBody>
      </p:sp>
      <p:sp>
        <p:nvSpPr>
          <p:cNvPr id="22" name="머리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 핵심기술 연계 강화</a:t>
            </a:r>
          </a:p>
        </p:txBody>
      </p:sp>
      <p:sp>
        <p:nvSpPr>
          <p:cNvPr id="23" name="머리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 성과관리 체계 구축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개척단 내 초격차 기술기업 부족으로 핵심기술 해외 동반진출 및 실증사업 한계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기업선발에 핵심기술 추천트랙 신설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신규 6개社 중 추천트랙으로 3개社(AI정수장) 선발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수출성과가 일부 기업에 편중, 성과가 미미한(1억원↓) 기업(19%)은 참여율 저조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수출성과(정량), 노력도(정성) 등 평가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우수기업 인센티브 등으로 선순환 체계 마련</a:t>
            </a:r>
          </a:p>
        </p:txBody>
      </p:sp>
      <p:sp>
        <p:nvSpPr>
          <p:cNvPr id="27" name="레일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맞춤형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 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고도화</a:t>
            </a:r>
          </a:p>
        </p:txBody>
      </p:sp>
      <p:sp>
        <p:nvSpPr>
          <p:cNvPr id="29" name="머리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 수출역량 분석·보강</a:t>
            </a:r>
          </a:p>
        </p:txBody>
      </p:sp>
      <p:sp>
        <p:nvSpPr>
          <p:cNvPr id="30" name="머리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맞춤형 해외진출 지원 고도화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전시회·상담회 등 해외마케팅 지속 지원에도 직접적인 후속성과 창출 미흡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기업별 특장점 강화 및 취약점 보강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(사례) ‘W’社 태국진출 시범사업 컨설팅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대륙·국가별 분석 및 세부 진출전략 미흡, 아시아 지역 위주로 마케팅 지원 집중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K-water 글로벌 네트워크 활용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(亞)기존사업 연계, (美)실증 중심 초기진출 기회</a:t>
            </a:r>
          </a:p>
        </p:txBody>
      </p:sp>
      <p:sp>
        <p:nvSpPr>
          <p:cNvPr id="35" name="핵심성과 라벨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6" name="핵심성과 문구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해외시장개척단 지원기업 확대(62 → 68개社) 및 본 사업 수주 전 맞춤형 시범사업 지원</a:t>
            </a: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95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해외실증부터 동반진출까지, 민간과 함께 도약하는 K-water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4" name="태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기업현실</a:t>
            </a:r>
          </a:p>
        </p:txBody>
      </p:sp>
      <p:sp>
        <p:nvSpPr>
          <p:cNvPr id="15" name="태그 설명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해외진출시 해당국 실적확보 필요하나, 현지 수요처 확보 및 예산 부족 등 난관</a:t>
            </a:r>
          </a:p>
        </p:txBody>
      </p:sp>
      <p:sp>
        <p:nvSpPr>
          <p:cNvPr id="16" name="태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</a:t>
            </a:r>
          </a:p>
        </p:txBody>
      </p:sp>
      <p:sp>
        <p:nvSpPr>
          <p:cNvPr id="17" name="태그 설명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공기업의 공신력과 해외투자사업·ODA 등 수행으로 글로벌 역량 및 네트워크 보유</a:t>
            </a:r>
          </a:p>
        </p:txBody>
      </p:sp>
      <p:sp>
        <p:nvSpPr>
          <p:cNvPr id="18" name="레일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추진방향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역량 활용 ‘글로벌 실증사업’ 지원: 정부지원 + 글로벌TB + 초격차기술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K-water가 앞장서는 ‘물기업 동반진출’ 확대: 투자사업 + 수주사업 + ODA사업</a:t>
            </a:r>
          </a:p>
        </p:txBody>
      </p:sp>
      <p:sp>
        <p:nvSpPr>
          <p:cNvPr id="24" name="소제목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물기업 해외 진출의 스프링보드, K-water 글로벌 실증사업 지원</a:t>
            </a:r>
          </a:p>
        </p:txBody>
      </p:sp>
      <p:sp>
        <p:nvSpPr>
          <p:cNvPr id="25" name="태그칩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27" name="레일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 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 원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지속 중기부·외교부·기후부 등 정책사업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중기부 동반진출지원사업 2개국(2건), 5개社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외교부 포용적비즈니스(IBS) 2개국, 2개社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기후부 민관협력지원사업 6개국(7건), 7개社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 수출선도형 시범구매 전담기관 참여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조달청 협업 제안을 통해 기존 시범구매사업 내 ‘물·기후테크’ 분야 신설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조달청 시범구매·제도운영 / 물기업 조달 및 실증운영 / K-water 수요처 발굴·지원</a:t>
            </a:r>
          </a:p>
        </p:txBody>
      </p:sp>
      <p:sp>
        <p:nvSpPr>
          <p:cNvPr id="31" name="레일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글로벌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테스트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베 드</a:t>
            </a:r>
          </a:p>
        </p:txBody>
      </p:sp>
      <p:sp>
        <p:nvSpPr>
          <p:cNvPr id="33" name="배너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최초 K-water 네트워크 활용, 美 CWA와 글로벌 테스트베드 제1호 협약(’25.9)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CWA란? 미국 Lake Erie 유역 물 클러스터로 21개 이상 유틸리티와 협업 및 다양한 파일럿 프로젝트 수행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협력내용 테스트베드 제공, 실증기업 컨설팅(관세, 법률, 인증 등), 미국 현지 물산업 수요기술 주기적 정보공유 및 기술홍보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현지 수질오염 이슈로 수질계측기(다항목) 기업 테스트베드 진행 중(~’26)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사진: 협약식(MOU Signing Ceremony)</a:t>
            </a:r>
          </a:p>
        </p:txBody>
      </p:sp>
      <p:sp>
        <p:nvSpPr>
          <p:cNvPr id="37" name="단계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일회성 검증에 그쳐, 후속성과 연계 미흡</a:t>
            </a:r>
          </a:p>
        </p:txBody>
      </p:sp>
      <p:sp>
        <p:nvSpPr>
          <p:cNvPr id="38" name="단계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협업기반 지속 실증을 통한 검증 및 상용화 추진</a:t>
            </a:r>
          </a:p>
        </p:txBody>
      </p:sp>
      <p:sp>
        <p:nvSpPr>
          <p:cNvPr id="43" name="레일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초격차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 술</a:t>
            </a:r>
          </a:p>
        </p:txBody>
      </p:sp>
      <p:sp>
        <p:nvSpPr>
          <p:cNvPr id="45" name="단계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AI정수장 기술보유 기업 해외 실증사업 최초 수행</a:t>
            </a:r>
          </a:p>
        </p:txBody>
      </p:sp>
      <p:sp>
        <p:nvSpPr>
          <p:cNvPr id="46" name="단계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우수사례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‘국제특허’ 취득한 AI정수장 기술 최초 해외 실증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초격차 기술의 표준화·세계화를 통한 기업성장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AI정수장 구축 → 국제특허 → 해외실증</a:t>
            </a:r>
          </a:p>
        </p:txBody>
      </p:sp>
      <p:sp>
        <p:nvSpPr>
          <p:cNvPr id="49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‘A’社 베트남 롱안성 정수장 약품공정 AI제어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AI정수장 해외실증 레퍼런스 최초 확보로 초격차 기술력 입증</a:t>
            </a:r>
          </a:p>
        </p:txBody>
      </p:sp>
      <p:sp>
        <p:nvSpPr>
          <p:cNvPr id="52" name="핵심성과 라벨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3" name="핵심성과 문구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18개 기업에 9개국 15건의 현지 실증사업 제공으로 민간기업 해외시장 교두보 확보</a:t>
            </a: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96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K-water 핵심기술 동반진출로 국산기술 및 기자재 판로확대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7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9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동반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진출</a:t>
            </a:r>
          </a:p>
        </p:txBody>
      </p:sp>
      <p:sp>
        <p:nvSpPr>
          <p:cNvPr id="10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투자사업</a:t>
            </a:r>
          </a:p>
        </p:txBody>
      </p:sp>
      <p:sp>
        <p:nvSpPr>
          <p:cNvPr id="11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수주사업</a:t>
            </a:r>
          </a:p>
        </p:txBody>
      </p:sp>
      <p:sp>
        <p:nvSpPr>
          <p:cNvPr id="12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ODA사업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필리핀 Angat댐 수력 등 6개국 7건 투자사업 수행 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&lt;자금조달 등 사업비 직접 투자&gt;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베트남 첫 진출, 솔로몬 수력댐 건설 중(’24.11 착공) ➡ ‘H’社 건설기성액 등(96억원)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인니 Hasang 수력발전소 운영·유지사업 등 3개국 3건 수행 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&lt;외국정부·기업 등 발주사업 수주&gt;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보츠와나 통합물관리 시스템 재정사업 수주(’25.7 착공) ➡ ‘D’社 설계용역 등(73억원)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필리핀 AI기반 홍수예경보시스템 등 8개국 12건 수행 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&lt;정부의 ODA 등 정책자금 활용&gt;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전략적 협상으로 장기현안 사업 발주 및 기업 매출 증대 기여 ➡ ‘D’社 시스템 기자재 등(128억원)</a:t>
            </a:r>
          </a:p>
        </p:txBody>
      </p:sp>
      <p:sp>
        <p:nvSpPr>
          <p:cNvPr id="19" name="핵심성과 라벨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20" name="핵심성과 문구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해외사업 동반진출로 민간 건설사, 중소 기자재 기업 등 ’25년 297억원 해외매출 확보</a:t>
            </a: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97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레일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9" name="태그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정책</a:t>
            </a:r>
          </a:p>
        </p:txBody>
      </p:sp>
      <p:sp>
        <p:nvSpPr>
          <p:cNvPr id="10" name="태그 설명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공공데이터 활용한 민간성장 지원</a:t>
            </a:r>
          </a:p>
        </p:txBody>
      </p:sp>
      <p:sp>
        <p:nvSpPr>
          <p:cNvPr id="11" name="태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평가단</a:t>
            </a:r>
          </a:p>
        </p:txBody>
      </p:sp>
      <p:sp>
        <p:nvSpPr>
          <p:cNvPr id="12" name="태그 설명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데이터 활용도 제고 및 수요자 협업 필요</a:t>
            </a:r>
          </a:p>
        </p:txBody>
      </p:sp>
      <p:sp>
        <p:nvSpPr>
          <p:cNvPr id="16" name="번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7" name="번호 띠 제목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수요를 반영한 고품질 데이터 개방 및 활용도 제고</a:t>
            </a:r>
          </a:p>
        </p:txBody>
      </p:sp>
      <p:sp>
        <p:nvSpPr>
          <p:cNvPr id="18" name="번호 띠 칩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9" name="번호 띠 칩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22" name="레일 태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수요 중심</a:t>
            </a:r>
          </a:p>
        </p:txBody>
      </p:sp>
      <p:sp>
        <p:nvSpPr>
          <p:cNvPr id="23" name="레일 라벨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데이터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 방</a:t>
            </a:r>
          </a:p>
        </p:txBody>
      </p:sp>
      <p:sp>
        <p:nvSpPr>
          <p:cNvPr id="24" name="단계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수요자가 원하는 공공데이터 발굴</a:t>
            </a:r>
          </a:p>
        </p:txBody>
      </p:sp>
      <p:sp>
        <p:nvSpPr>
          <p:cNvPr id="25" name="단계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개방 확대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설문조사 일반국민(993명) 및 기업(31개社) 수요발굴(’25.7~8)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민원분석 분기별 민원(VOC) 분석을 통한 데이터 수요 확인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공모전 데이터 수요·활용 합동 공모전 실시(’24년 21건 → ’25년 341건)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데이터 및 합성데이터 등 수요맞춤형 개방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’24년 397종 → ’25년 410종(누적)</a:t>
            </a:r>
          </a:p>
        </p:txBody>
      </p:sp>
      <p:sp>
        <p:nvSpPr>
          <p:cNvPr id="31" name="레일 태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고품질</a:t>
            </a:r>
          </a:p>
        </p:txBody>
      </p:sp>
      <p:sp>
        <p:nvSpPr>
          <p:cNvPr id="32" name="레일 라벨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데이터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 비</a:t>
            </a:r>
          </a:p>
        </p:txBody>
      </p:sp>
      <p:sp>
        <p:nvSpPr>
          <p:cNvPr id="34" name="머리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저활용 데이터 식별·정비</a:t>
            </a:r>
          </a:p>
        </p:txBody>
      </p:sp>
      <p:sp>
        <p:nvSpPr>
          <p:cNvPr id="35" name="머리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오류 데이터 점검·보완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활용도 낮은 데이터에 대한 원인분석 및 개선방안 이행으로 데이터 품질 제고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총 85건 정비(다운로드 200회↓, 활용 하위 20%↓)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개방 중 데이터 전체에 대한 오류 데이터 여부 점검 후, 키워드 등 보완 완료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총 410종, 741개 파일 진단과 5,646개 데이터 정비</a:t>
            </a:r>
          </a:p>
        </p:txBody>
      </p:sp>
      <p:sp>
        <p:nvSpPr>
          <p:cNvPr id="40" name="레일 태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활용도</a:t>
            </a:r>
          </a:p>
        </p:txBody>
      </p:sp>
      <p:sp>
        <p:nvSpPr>
          <p:cNvPr id="41" name="레일 라벨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편의성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 선</a:t>
            </a:r>
          </a:p>
        </p:txBody>
      </p:sp>
      <p:sp>
        <p:nvSpPr>
          <p:cNvPr id="43" name="머리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API 호출 프로그램 개발·제공</a:t>
            </a:r>
          </a:p>
        </p:txBody>
      </p:sp>
      <p:sp>
        <p:nvSpPr>
          <p:cNvPr id="44" name="머리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 개방데이터 데이터맵 제공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일반 사용자는 API 활용방법 및 조회 등에 어려움이 있어 활용도 저조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직관적 정보제공 및 접근성 향상을 위해 ‘오픈 API 호출’ 전용 프로그램 제공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공급자 중심의 데이터 목록 분류로, 사용자의 데이터 식별·연관관계 파악 어려움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수요자의 직관적 검색을 위해 주제별 연계성 등을 반영, ‘관계도맵’으로 시각화</a:t>
            </a:r>
          </a:p>
        </p:txBody>
      </p:sp>
      <p:sp>
        <p:nvSpPr>
          <p:cNvPr id="48" name="태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데이터 안심구역</a:t>
            </a:r>
          </a:p>
        </p:txBody>
      </p:sp>
      <p:sp>
        <p:nvSpPr>
          <p:cNvPr id="49" name="태그 설명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미공개 데이터를 활용할 수 있는 인프라 및 하드웨어 기반 마련(’25.12)</a:t>
            </a:r>
          </a:p>
        </p:txBody>
      </p:sp>
      <p:sp>
        <p:nvSpPr>
          <p:cNvPr id="51" name="핵심성과 라벨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2" name="핵심성과 문구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개방 대국민 요청 데이터 2년 연속 100% 제공 및 ’25년 개방목표(목표 72건, 개방 84건) 초과(116%) 달성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품질 ’25년 행정안전부 공공데이터 품질인증 ‘최우수’ 등급 2년 연속 획득(’25.12)</a:t>
            </a: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98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데이터 활용 공공·민간 협업으로 대국민 편익 개선(2 → 4건)</a:t>
            </a:r>
          </a:p>
        </p:txBody>
      </p:sp>
      <p:sp>
        <p:nvSpPr>
          <p:cNvPr id="9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0" name="번호 띠 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2" name="태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협업</a:t>
            </a:r>
          </a:p>
        </p:txBody>
      </p:sp>
      <p:sp>
        <p:nvSpPr>
          <p:cNvPr id="13" name="그룹 제목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공공·민간 협업과제 4건</a:t>
            </a:r>
          </a:p>
        </p:txBody>
      </p:sp>
      <p:sp>
        <p:nvSpPr>
          <p:cNvPr id="16" name="태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데이터 협력과제</a:t>
            </a:r>
          </a:p>
        </p:txBody>
      </p:sp>
      <p:sp>
        <p:nvSpPr>
          <p:cNvPr id="17" name="카드 제목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중소기업 탄소중립 · 신용보증기금</a:t>
            </a:r>
          </a:p>
        </p:txBody>
      </p:sp>
      <p:sp>
        <p:nvSpPr>
          <p:cNvPr id="18" name="카드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수도·전력 사용량 데이터와 기업데이터를 결합·분석하여 중소기업 탄소배출 정보를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 Data + 기업 Data + 전력 Data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중소기업 탄소중립 정보제공 서비스 출시</a:t>
            </a:r>
          </a:p>
        </p:txBody>
      </p:sp>
      <p:sp>
        <p:nvSpPr>
          <p:cNvPr id="21" name="태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민간활용</a:t>
            </a:r>
          </a:p>
        </p:txBody>
      </p:sp>
      <p:sp>
        <p:nvSpPr>
          <p:cNvPr id="22" name="카드 제목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LG · 식기세척기 소금사용량 최적화</a:t>
            </a:r>
          </a:p>
        </p:txBody>
      </p:sp>
      <p:sp>
        <p:nvSpPr>
          <p:cNvPr id="23" name="카드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지역별 수질정보 기반 맞춤형 식기세척기 최적화 서비스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지역별 정수장 및 상수도 수질정보 ➡ LG전자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민원 감소(31%), 수질센서 재료비 절감(44.8백만원)</a:t>
            </a:r>
          </a:p>
        </p:txBody>
      </p:sp>
      <p:sp>
        <p:nvSpPr>
          <p:cNvPr id="25" name="태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공공협업</a:t>
            </a:r>
          </a:p>
        </p:txBody>
      </p:sp>
      <p:sp>
        <p:nvSpPr>
          <p:cNvPr id="26" name="카드 제목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연금 수급권자 관리 개선 · 국민연금공단</a:t>
            </a:r>
          </a:p>
        </p:txBody>
      </p:sp>
      <p:sp>
        <p:nvSpPr>
          <p:cNvPr id="27" name="카드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물사용 데이터를 활용, 사용량 급감 또는 장기 사용이 없는 경우, 즉시 수급권자 안부 조사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 사용량 + 수급권자 현황 ➡ 이상 감지시 조사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국민연금 부정수급 예방</a:t>
            </a:r>
          </a:p>
        </p:txBody>
      </p:sp>
      <p:sp>
        <p:nvSpPr>
          <p:cNvPr id="30" name="태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공공+지자체</a:t>
            </a:r>
          </a:p>
        </p:txBody>
      </p:sp>
      <p:sp>
        <p:nvSpPr>
          <p:cNvPr id="31" name="카드 제목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철도공사·영주시 · 지역 여행상품 개발</a:t>
            </a:r>
          </a:p>
        </p:txBody>
      </p:sp>
      <p:sp>
        <p:nvSpPr>
          <p:cNvPr id="32" name="카드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등 친수공간 정보와 철도여객 정보를 활용, 지자체와 협업하여 지역활성화 여행상품 출시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친수 Data + 여객 Data + 영주시 운영협력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인구감소지역(영주시) 지역활성화 기여(16백만원)</a:t>
            </a: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99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레일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분 석</a:t>
            </a:r>
          </a:p>
        </p:txBody>
      </p:sp>
      <p:sp>
        <p:nvSpPr>
          <p:cNvPr id="9" name="머리칸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정부정책</a:t>
            </a:r>
          </a:p>
        </p:txBody>
      </p:sp>
      <p:sp>
        <p:nvSpPr>
          <p:cNvPr id="10" name="머리칸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 중장기전략</a:t>
            </a:r>
          </a:p>
        </p:txBody>
      </p:sp>
      <p:sp>
        <p:nvSpPr>
          <p:cNvPr id="11" name="머리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 목소리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중소기업 AX 대전환(기술마켓 AI전용관 도입)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공공조달시장 확대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혁신기술 판로·성장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AI기술 개발·실증 지원으로 물산업 AI서비스 생태계 확장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개발시 고가의 인프라 구축 부담 및 기술 실·검증에 한계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판로확대 지원강화 요구</a:t>
            </a:r>
          </a:p>
        </p:txBody>
      </p:sp>
      <p:sp>
        <p:nvSpPr>
          <p:cNvPr id="18" name="태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19" name="캡션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기술마켓 제2의 도약을 위해, AI 기반 新시장 창출과 기업체감형 지원 강화 필요</a:t>
            </a:r>
          </a:p>
        </p:txBody>
      </p:sp>
      <p:sp>
        <p:nvSpPr>
          <p:cNvPr id="21" name="레일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 제</a:t>
            </a:r>
          </a:p>
        </p:txBody>
      </p:sp>
      <p:sp>
        <p:nvSpPr>
          <p:cNvPr id="22" name="태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신규</a:t>
            </a:r>
          </a:p>
        </p:txBody>
      </p:sp>
      <p:sp>
        <p:nvSpPr>
          <p:cNvPr id="23" name="태그 설명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오픈이노베이션 활용, 기후테크 기업 AI기술 육성 및 기술마켓 진출</a:t>
            </a:r>
          </a:p>
        </p:txBody>
      </p:sp>
      <p:sp>
        <p:nvSpPr>
          <p:cNvPr id="24" name="태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</a:t>
            </a:r>
          </a:p>
        </p:txBody>
      </p:sp>
      <p:sp>
        <p:nvSpPr>
          <p:cNvPr id="25" name="태그 설명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기술마켓 전담조직 고도화, 기업체감형 기술개발지원 및 금융·판로지원 확대</a:t>
            </a:r>
          </a:p>
        </p:txBody>
      </p:sp>
      <p:sp>
        <p:nvSpPr>
          <p:cNvPr id="29" name="번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30" name="번호 띠 제목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물기업 AI기술 육성 및 기술마켓 신속 진출 기반 마련</a:t>
            </a:r>
          </a:p>
        </p:txBody>
      </p:sp>
      <p:sp>
        <p:nvSpPr>
          <p:cNvPr id="31" name="번호 띠 칩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32" name="번호 띠 칩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34" name="레일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 계</a:t>
            </a:r>
          </a:p>
        </p:txBody>
      </p:sp>
      <p:sp>
        <p:nvSpPr>
          <p:cNvPr id="35" name="배너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추진목표 AI 기술개발부터 판로까지 One-Stop 디지털 생태계 구축</a:t>
            </a:r>
          </a:p>
        </p:txBody>
      </p:sp>
      <p:sp>
        <p:nvSpPr>
          <p:cNvPr id="36" name="단계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 아이디어 공모</a:t>
            </a:r>
          </a:p>
        </p:txBody>
      </p:sp>
      <p:sp>
        <p:nvSpPr>
          <p:cNvPr id="37" name="단계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AI·데이터 인프라 제공</a:t>
            </a:r>
          </a:p>
        </p:txBody>
      </p:sp>
      <p:sp>
        <p:nvSpPr>
          <p:cNvPr id="38" name="단계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 현장 검증</a:t>
            </a:r>
          </a:p>
        </p:txBody>
      </p:sp>
      <p:sp>
        <p:nvSpPr>
          <p:cNvPr id="39" name="단계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검증기술 마켓등록</a:t>
            </a:r>
          </a:p>
        </p:txBody>
      </p:sp>
      <p:sp>
        <p:nvSpPr>
          <p:cNvPr id="51" name="레일 태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희망기업에</a:t>
            </a:r>
          </a:p>
        </p:txBody>
      </p:sp>
      <p:sp>
        <p:nvSpPr>
          <p:cNvPr id="52" name="레일 라벨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AI인프라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지원하고</a:t>
            </a:r>
          </a:p>
        </p:txBody>
      </p:sp>
      <p:sp>
        <p:nvSpPr>
          <p:cNvPr id="54" name="단계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공공기관 최초 디지털 실증인프라 지원</a:t>
            </a:r>
          </a:p>
        </p:txBody>
      </p:sp>
      <p:sp>
        <p:nvSpPr>
          <p:cNvPr id="55" name="단계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‘A’社 AI 솔루션 개발</a:t>
            </a:r>
          </a:p>
        </p:txBody>
      </p:sp>
      <p:sp>
        <p:nvSpPr>
          <p:cNvPr id="57" name="칸 본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실증랩 GPU 지원(글로벌 ‘N’社 GPU A100·H100 등 20장 보유)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클라우드 네이버 클라우드+아마존 웹서비스(AWS) 무상지원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GPU·클라우드 제공 → 기술지원(교육·컨설팅) → 우수 AI 기술 개발</a:t>
            </a:r>
          </a:p>
        </p:txBody>
      </p:sp>
      <p:sp>
        <p:nvSpPr>
          <p:cNvPr id="58" name="칸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이미지 활용 가상·증강현실 시뮬레이션 솔루션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제조기업 현장 판매(매출 1.1억원 창출)</a:t>
            </a:r>
          </a:p>
        </p:txBody>
      </p:sp>
      <p:sp>
        <p:nvSpPr>
          <p:cNvPr id="61" name="레일 태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개발 기술은</a:t>
            </a:r>
          </a:p>
        </p:txBody>
      </p:sp>
      <p:sp>
        <p:nvSpPr>
          <p:cNvPr id="62" name="레일 라벨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현장에서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검증하여</a:t>
            </a:r>
          </a:p>
        </p:txBody>
      </p:sp>
      <p:sp>
        <p:nvSpPr>
          <p:cNvPr id="63" name="단계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현장 참여형 기술 성능검증 및 피드백</a:t>
            </a:r>
          </a:p>
        </p:txBody>
      </p:sp>
      <p:sp>
        <p:nvSpPr>
          <p:cNvPr id="64" name="단계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‘S’社 우수성 대외 인정</a:t>
            </a:r>
          </a:p>
        </p:txBody>
      </p:sp>
      <p:sp>
        <p:nvSpPr>
          <p:cNvPr id="66" name="칸 본문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애로 기술검증 실적 부재에 따른 낮은 신뢰도 상용화 한계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해소 K-water 사업 현장에서 개발기술 적용 및 검증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현장부서 직접 사용 → 품질개선 피드백 → 성능검증 완료</a:t>
            </a:r>
          </a:p>
        </p:txBody>
      </p:sp>
      <p:sp>
        <p:nvSpPr>
          <p:cNvPr id="67" name="칸 본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현장실증으로 CCTV 기반 안전관리 솔루션 개발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NIA 디지털 서비스 등재로 신뢰성 입증</a:t>
            </a:r>
          </a:p>
        </p:txBody>
      </p:sp>
      <p:sp>
        <p:nvSpPr>
          <p:cNvPr id="70" name="레일 태그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검증된 기술</a:t>
            </a:r>
          </a:p>
        </p:txBody>
      </p:sp>
      <p:sp>
        <p:nvSpPr>
          <p:cNvPr id="71" name="레일 라벨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신속하게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마켓등록</a:t>
            </a:r>
          </a:p>
        </p:txBody>
      </p:sp>
      <p:sp>
        <p:nvSpPr>
          <p:cNvPr id="73" name="단계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wateRound와 연계한 기술마켓 등록 패스트트랙 신설</a:t>
            </a:r>
          </a:p>
        </p:txBody>
      </p:sp>
      <p:sp>
        <p:nvSpPr>
          <p:cNvPr id="74" name="단계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기술마켓 등록기간 단축</a:t>
            </a:r>
          </a:p>
        </p:txBody>
      </p:sp>
      <p:sp>
        <p:nvSpPr>
          <p:cNvPr id="76" name="칸 본문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등록신청 → 서류검토(30일) → 사전검토(30일) → 기술심의 → 기술마켓 등록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등록신청 → 생략(K-water 현장 성능검증 평가시 병행) → 기술심의 → 기술마켓 등록</a:t>
            </a:r>
          </a:p>
        </p:txBody>
      </p:sp>
      <p:sp>
        <p:nvSpPr>
          <p:cNvPr id="77" name="칸 본문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검증 완료시, 사전 검토단계 생략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기존 소요기간 대비 최소 2개월 단축</a:t>
            </a:r>
          </a:p>
        </p:txBody>
      </p:sp>
      <p:sp>
        <p:nvSpPr>
          <p:cNvPr id="80" name="핵심성과 라벨"/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81" name="핵심성과 문구"/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우수 AI 솔루션 3건 기술마켓 신규 등록 및 기후테크 AI 기술 공공시장 진입기반 마련</a:t>
            </a: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100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전담조직 확대 및 기업 밀착 지원으로 기술마켓 등록·구매 확대</a:t>
            </a:r>
          </a:p>
        </p:txBody>
      </p:sp>
      <p:sp>
        <p:nvSpPr>
          <p:cNvPr id="9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11" name="분야 박스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전담조직·인력</a:t>
            </a:r>
          </a:p>
        </p:txBody>
      </p:sp>
      <p:sp>
        <p:nvSpPr>
          <p:cNvPr id="13" name="소제목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부서 단위 조직 완비로 기술개발부터 판로까지 빈틈없이 지원</a:t>
            </a:r>
          </a:p>
        </p:txBody>
      </p:sp>
      <p:sp>
        <p:nvSpPr>
          <p:cNvPr id="14" name="태그칩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운영·홍보 등 3개 파트 총 8명 전담인력 운영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기술마켓 AI 전용관 신설과 기업 지원 강화를 위한 전담조직 확대 필요</a:t>
            </a:r>
          </a:p>
        </p:txBody>
      </p:sp>
      <p:sp>
        <p:nvSpPr>
          <p:cNvPr id="20" name="레일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내 용</a:t>
            </a:r>
          </a:p>
        </p:txBody>
      </p:sp>
      <p:sp>
        <p:nvSpPr>
          <p:cNvPr id="22" name="단계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 중심의 제도별 전담인력 증원</a:t>
            </a:r>
          </a:p>
        </p:txBody>
      </p:sp>
      <p:sp>
        <p:nvSpPr>
          <p:cNvPr id="23" name="단계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 친화적 실행조직 완비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지원 wateRound와 연계한 기업 AI 지원·등록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조정기능 다양한 기업 니즈 충족을 위한 분야별 협업 제고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기술개발 성장 중심 R&amp;D 지원을 위한 인원 보강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업역확대 현장 실증지원 및 금융·홍보·판로지원 강화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기술마켓 활성화 전담반(총 21명)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총괄 전담운영(조정기능 확대, 3명)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기술개발(증원 3~4명) / 테스트베드 wateRound(증원 2~8명) / 금융·홍보·판로지원(증원 3~6명)</a:t>
            </a:r>
          </a:p>
        </p:txBody>
      </p:sp>
      <p:sp>
        <p:nvSpPr>
          <p:cNvPr id="28" name="배너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전담조직 신설(wateRound 연계)과 인력 확충(8 → 21명, 전년比 13명↑)으로 기업지원 실행력 강화</a:t>
            </a:r>
          </a:p>
        </p:txBody>
      </p:sp>
      <p:sp>
        <p:nvSpPr>
          <p:cNvPr id="29" name="번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30" name="분야 박스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기술개발</a:t>
            </a:r>
          </a:p>
        </p:txBody>
      </p:sp>
      <p:sp>
        <p:nvSpPr>
          <p:cNvPr id="32" name="소제목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R&amp;D 지원부터 혁신제품 지정까지 전주기 기술지원체계</a:t>
            </a:r>
          </a:p>
        </p:txBody>
      </p:sp>
      <p:sp>
        <p:nvSpPr>
          <p:cNvPr id="33" name="태그칩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34" name="태그칩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36" name="레일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R &amp; D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 원</a:t>
            </a:r>
          </a:p>
        </p:txBody>
      </p:sp>
      <p:sp>
        <p:nvSpPr>
          <p:cNvPr id="37" name="태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수요발굴</a:t>
            </a:r>
          </a:p>
        </p:txBody>
      </p:sp>
      <p:sp>
        <p:nvSpPr>
          <p:cNvPr id="38" name="태그 설명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필요기술 맞춤형 수요조사 등을 통해 수요기반 기업 R&amp;D 지원</a:t>
            </a:r>
          </a:p>
        </p:txBody>
      </p:sp>
      <p:sp>
        <p:nvSpPr>
          <p:cNvPr id="39" name="태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자금지원</a:t>
            </a:r>
          </a:p>
        </p:txBody>
      </p:sp>
      <p:sp>
        <p:nvSpPr>
          <p:cNvPr id="40" name="태그 설명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상생협력기금 출연을 통한 기술개발비용 지원 확대(17.7억원, 전년比 140%)</a:t>
            </a:r>
          </a:p>
        </p:txBody>
      </p:sp>
      <p:sp>
        <p:nvSpPr>
          <p:cNvPr id="41" name="레일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기술실증·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사후관리</a:t>
            </a:r>
          </a:p>
        </p:txBody>
      </p:sp>
      <p:sp>
        <p:nvSpPr>
          <p:cNvPr id="43" name="머리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기술실증 인프라 확충</a:t>
            </a:r>
          </a:p>
        </p:txBody>
      </p:sp>
      <p:sp>
        <p:nvSpPr>
          <p:cNvPr id="44" name="머리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등록기술 사후관리 내실화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K-테스트베드 실증인프라 보강(1,274 → 1,473개)으로 기업의 기술실증 저변 확대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구매비중 높은 등록기술 현장 점검 및 사후평가 강화(평가 계량화, 평가자 격상)</a:t>
            </a:r>
          </a:p>
        </p:txBody>
      </p:sp>
      <p:sp>
        <p:nvSpPr>
          <p:cNvPr id="48" name="레일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혁신제품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지정지원</a:t>
            </a:r>
          </a:p>
        </p:txBody>
      </p:sp>
      <p:sp>
        <p:nvSpPr>
          <p:cNvPr id="50" name="머리칸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컨설팅 강화</a:t>
            </a:r>
          </a:p>
        </p:txBody>
      </p:sp>
      <p:sp>
        <p:nvSpPr>
          <p:cNvPr id="51" name="머리칸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추천 확대</a:t>
            </a:r>
          </a:p>
        </p:txBody>
      </p:sp>
      <p:sp>
        <p:nvSpPr>
          <p:cNvPr id="52" name="머리칸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홍보 강화</a:t>
            </a:r>
          </a:p>
        </p:txBody>
      </p:sp>
      <p:sp>
        <p:nvSpPr>
          <p:cNvPr id="53" name="칸 본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 조달硏 협업, 공공성 평가 대비 컨설팅 신설(3회)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혁신제품 추천심의위 확대(연 2 → 4회)로 참여기회↑</a:t>
            </a:r>
          </a:p>
        </p:txBody>
      </p:sp>
      <p:sp>
        <p:nvSpPr>
          <p:cNvPr id="56" name="칸 본문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온라인공고문 게시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문자·메일 추가안내</a:t>
            </a:r>
          </a:p>
        </p:txBody>
      </p:sp>
      <p:sp>
        <p:nvSpPr>
          <p:cNvPr id="58" name="번호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</a:t>
            </a:r>
          </a:p>
        </p:txBody>
      </p:sp>
      <p:sp>
        <p:nvSpPr>
          <p:cNvPr id="59" name="분야 박스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사업기반</a:t>
            </a:r>
          </a:p>
        </p:txBody>
      </p:sp>
      <p:sp>
        <p:nvSpPr>
          <p:cNvPr id="61" name="소제목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기업이 사업활동에만 몰두할 수 있도록 금융부터 ESG까지 지원</a:t>
            </a:r>
          </a:p>
        </p:txBody>
      </p:sp>
      <p:sp>
        <p:nvSpPr>
          <p:cNvPr id="62" name="태그칩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64" name="레일"/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금융·복지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 원</a:t>
            </a:r>
          </a:p>
        </p:txBody>
      </p:sp>
      <p:sp>
        <p:nvSpPr>
          <p:cNvPr id="65" name="머리칸"/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물기업 투자재원 마련</a:t>
            </a:r>
          </a:p>
        </p:txBody>
      </p:sp>
      <p:sp>
        <p:nvSpPr>
          <p:cNvPr id="66" name="머리칸"/>
          <p:cNvSpPr>
            <a:spLocks noGrp="1"/>
          </p:cNvSpPr>
          <p:nvPr>
            <p:ph type="body" sz="quarter" idx="6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대출이자 감면</a:t>
            </a:r>
          </a:p>
        </p:txBody>
      </p:sp>
      <p:sp>
        <p:nvSpPr>
          <p:cNvPr id="67" name="머리칸"/>
          <p:cNvSpPr>
            <a:spLocks noGrp="1"/>
          </p:cNvSpPr>
          <p:nvPr>
            <p:ph type="body" sz="quarter" idx="6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신규 기업복지 지원</a:t>
            </a:r>
          </a:p>
        </p:txBody>
      </p:sp>
      <p:sp>
        <p:nvSpPr>
          <p:cNvPr id="68" name="칸 본문"/>
          <p:cNvSpPr>
            <a:spLocks noGrp="1"/>
          </p:cNvSpPr>
          <p:nvPr>
            <p:ph type="body" sz="quarter" idx="6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물산업펀드 목표 초과 결성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누적 5,254억원(목표比 113%)</a:t>
            </a:r>
          </a:p>
        </p:txBody>
      </p:sp>
      <p:sp>
        <p:nvSpPr>
          <p:cNvPr id="69" name="칸 본문"/>
          <p:cNvSpPr>
            <a:spLocks noGrp="1"/>
          </p:cNvSpPr>
          <p:nvPr>
            <p:ph type="body" sz="quarter" idx="6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등록기업 최대 2.8%p 감면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상생협력예금 400억원 활용</a:t>
            </a:r>
          </a:p>
        </p:txBody>
      </p:sp>
      <p:sp>
        <p:nvSpPr>
          <p:cNvPr id="71" name="칸 본문"/>
          <p:cNvSpPr>
            <a:spLocks noGrp="1"/>
          </p:cNvSpPr>
          <p:nvPr>
            <p:ph type="body" sz="quarter" idx="6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지원사업 선정시 등록기업 우대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복지몰포인트, 장기근속자 포상</a:t>
            </a:r>
          </a:p>
        </p:txBody>
      </p:sp>
      <p:sp>
        <p:nvSpPr>
          <p:cNvPr id="73" name="레일"/>
          <p:cNvSpPr>
            <a:spLocks noGrp="1"/>
          </p:cNvSpPr>
          <p:nvPr>
            <p:ph type="body" sz="quarter" idx="6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판로·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ESG지원</a:t>
            </a:r>
          </a:p>
        </p:txBody>
      </p:sp>
      <p:sp>
        <p:nvSpPr>
          <p:cNvPr id="75" name="머리칸"/>
          <p:cNvSpPr>
            <a:spLocks noGrp="1"/>
          </p:cNvSpPr>
          <p:nvPr>
            <p:ph type="body" sz="quarter" idx="7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국내·외 판로지원</a:t>
            </a:r>
          </a:p>
        </p:txBody>
      </p:sp>
      <p:sp>
        <p:nvSpPr>
          <p:cNvPr id="76" name="머리칸"/>
          <p:cNvSpPr>
            <a:spLocks noGrp="1"/>
          </p:cNvSpPr>
          <p:nvPr>
            <p:ph type="body" sz="quarter" idx="7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ESG 경영지원</a:t>
            </a:r>
          </a:p>
        </p:txBody>
      </p:sp>
      <p:sp>
        <p:nvSpPr>
          <p:cNvPr id="77" name="칸 본문"/>
          <p:cNvSpPr>
            <a:spLocks noGrp="1"/>
          </p:cNvSpPr>
          <p:nvPr>
            <p:ph type="body" sz="quarter" idx="7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국내 전사 통합 구매상담회 개최(161건 상담)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 ‘해외시장개척단’ 선발시 등록기업 우대</a:t>
            </a:r>
          </a:p>
        </p:txBody>
      </p:sp>
      <p:sp>
        <p:nvSpPr>
          <p:cNvPr id="78" name="칸 본문"/>
          <p:cNvSpPr>
            <a:spLocks noGrp="1"/>
          </p:cNvSpPr>
          <p:nvPr>
            <p:ph type="body" sz="quarter" idx="7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맞춤형 ESG 지원으로 우수 기업 확인서 발급(마켓 등록기업 4개社, 동반성장위)</a:t>
            </a:r>
          </a:p>
        </p:txBody>
      </p:sp>
      <p:sp>
        <p:nvSpPr>
          <p:cNvPr id="81" name="주요성과 라벨"/>
          <p:cNvSpPr>
            <a:spLocks noGrp="1"/>
          </p:cNvSpPr>
          <p:nvPr>
            <p:ph type="body" sz="quarter" idx="7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종합성과</a:t>
            </a:r>
          </a:p>
        </p:txBody>
      </p:sp>
      <p:sp>
        <p:nvSpPr>
          <p:cNvPr id="82" name="주요성과 문구"/>
          <p:cNvSpPr>
            <a:spLocks noGrp="1"/>
          </p:cNvSpPr>
          <p:nvPr>
            <p:ph type="body" sz="quarter" idx="75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개발제품 등록건수 220건(누적, 전년比 34건↑), 구매실적 791억원(전년比 115%) 달성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기술개발 및 혁신제품 심의 지원으로 9건 신규 지정, 전체 혁신제품 구매금액 62.7억원 달성</a:t>
            </a:r>
          </a:p>
        </p:txBody>
      </p:sp>
      <p:sp>
        <p:nvSpPr>
          <p:cNvPr id="84" name="주요성과 라벨"/>
          <p:cNvSpPr>
            <a:spLocks noGrp="1"/>
          </p:cNvSpPr>
          <p:nvPr>
            <p:ph type="body" sz="quarter" idx="7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우수사례</a:t>
            </a:r>
          </a:p>
        </p:txBody>
      </p:sp>
      <p:sp>
        <p:nvSpPr>
          <p:cNvPr id="85" name="주요성과 문구"/>
          <p:cNvSpPr>
            <a:spLocks noGrp="1"/>
          </p:cNvSpPr>
          <p:nvPr>
            <p:ph type="body" sz="quarter" idx="77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‘D’社 ‘R&amp;D → 마켓등록 → 혁신제품 → 해외판로’ 전주기 지원으로 매출 235억원, 수출 4.8억원 달성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➡ 제1회 중소기업기술마켓 우수기술 경진대회 ‘우수상’ 수상(’25.9)</a:t>
            </a: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101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K-water, 혁신기술 민간이전 장벽 완화를 넘어 든든한 조력자로</a:t>
            </a:r>
          </a:p>
        </p:txBody>
      </p:sp>
      <p:sp>
        <p:nvSpPr>
          <p:cNvPr id="12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보유기술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관리체계</a:t>
            </a:r>
          </a:p>
        </p:txBody>
      </p:sp>
      <p:sp>
        <p:nvSpPr>
          <p:cNvPr id="15" name="단계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기술창출</a:t>
            </a:r>
          </a:p>
        </p:txBody>
      </p:sp>
      <p:sp>
        <p:nvSpPr>
          <p:cNvPr id="16" name="단계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기술수요 발굴</a:t>
            </a:r>
          </a:p>
        </p:txBody>
      </p:sp>
      <p:sp>
        <p:nvSpPr>
          <p:cNvPr id="17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기술이전</a:t>
            </a:r>
          </a:p>
        </p:txBody>
      </p:sp>
      <p:sp>
        <p:nvSpPr>
          <p:cNvPr id="18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기술지도·사업화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AI정수장 등 혁신기술 보유(특허 등 1,156건)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기관협업 및 온라인 공유 플랫폼 확대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미활용특허 무료나눔, 경상기술 확대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기술이해도 향상 및 시제품 제작 지원</a:t>
            </a:r>
          </a:p>
        </p:txBody>
      </p:sp>
      <p:sp>
        <p:nvSpPr>
          <p:cNvPr id="30" name="태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추진방향</a:t>
            </a:r>
          </a:p>
        </p:txBody>
      </p:sp>
      <p:sp>
        <p:nvSpPr>
          <p:cNvPr id="31" name="캡션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K-water 혁신기술의 공유·이전 확대 및 기술사용 부담경감과 사업화 적극 지원</a:t>
            </a:r>
          </a:p>
        </p:txBody>
      </p:sp>
      <p:sp>
        <p:nvSpPr>
          <p:cNvPr id="33" name="레일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보유기술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수요발굴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오프라인 협업기반 기술이전 협의체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 기후테크·AI 등 혁신기술 수요발굴 위해, 기후부·과기부 등 정부 협업체계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‘기후테크’ 협의체: 기술설명회(기업 99명), 1:1 대면상담(4개社) / ‘AI·디지털’ 협의체: 유관기관·사업부서 협업, AI정수장 기술이전 35건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온라인 기술거래 플랫폼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기술이전 협의체 협업체계를 활용하여 온라인 기술거래 플랫폼 연계 확대(4 → 6개)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K-물산업지원포털 · IP-Market · NTIS · SMART TECH-BRIDGE + KONETIC · NTB</a:t>
            </a:r>
          </a:p>
        </p:txBody>
      </p:sp>
      <p:sp>
        <p:nvSpPr>
          <p:cNvPr id="37" name="레일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기술이전</a:t>
            </a:r>
          </a:p>
        </p:txBody>
      </p:sp>
      <p:sp>
        <p:nvSpPr>
          <p:cNvPr id="39" name="배너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기술이전 온·오프라인 多채널 수요발굴 노력으로 기술이전 65건(전년比 108%) 달성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무료나눔 미활용 지식재산권 선별·공유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사내·외 전문가로 구성된 심의위원회에서 미활용 특허 선별, 무료나눔 대상 확정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정부 주관 기술나눔사업 참여, 5건 무상이전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기술료 기업이 원하는 경상기술료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선급기술료(정액납부)가 아닌 매출 발생시에만 납부하는 경상기술료 협약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유상이전 100% 경상기술료 체결(60건)</a:t>
            </a:r>
          </a:p>
        </p:txBody>
      </p:sp>
      <p:sp>
        <p:nvSpPr>
          <p:cNvPr id="43" name="레일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기술지도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및 사업화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 원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희망기업 위주 ‘수동적’ 지도(1개社)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희망기업에 한해 K-water 발명자가 기술지도 및 신제품 개발지원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사업화 판로까지 ‘능동적’ 지도(8개社)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관련부서 협업으로 기술설명부터 사업화 역량, 판로지원까지 全방위 컨설팅</a:t>
            </a:r>
          </a:p>
        </p:txBody>
      </p:sp>
      <p:sp>
        <p:nvSpPr>
          <p:cNvPr id="48" name="레일 태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신규</a:t>
            </a:r>
          </a:p>
        </p:txBody>
      </p:sp>
      <p:sp>
        <p:nvSpPr>
          <p:cNvPr id="49" name="레일 라벨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IP Bridge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도 입</a:t>
            </a:r>
          </a:p>
        </p:txBody>
      </p:sp>
      <p:sp>
        <p:nvSpPr>
          <p:cNvPr id="51" name="태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IP Bridge란?</a:t>
            </a:r>
          </a:p>
        </p:txBody>
      </p:sp>
      <p:sp>
        <p:nvSpPr>
          <p:cNvPr id="52" name="태그 설명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우수 아이디어를 특허출원부터 기술이전, 사업화까지 One-Stop 지원</a:t>
            </a:r>
          </a:p>
        </p:txBody>
      </p:sp>
      <p:sp>
        <p:nvSpPr>
          <p:cNvPr id="53" name="단계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발명 아이디어</a:t>
            </a:r>
          </a:p>
        </p:txBody>
      </p:sp>
      <p:sp>
        <p:nvSpPr>
          <p:cNvPr id="54" name="단계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특허 컨설팅(전담 변리사 매칭)</a:t>
            </a:r>
          </a:p>
        </p:txBody>
      </p:sp>
      <p:sp>
        <p:nvSpPr>
          <p:cNvPr id="55" name="단계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심의 및 출원</a:t>
            </a:r>
          </a:p>
        </p:txBody>
      </p:sp>
      <p:sp>
        <p:nvSpPr>
          <p:cNvPr id="56" name="단계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기술이전</a:t>
            </a:r>
          </a:p>
        </p:txBody>
      </p:sp>
      <p:sp>
        <p:nvSpPr>
          <p:cNvPr id="57" name="단계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시제품 제작 지원</a:t>
            </a:r>
          </a:p>
        </p:txBody>
      </p:sp>
      <p:sp>
        <p:nvSpPr>
          <p:cNvPr id="63" name="칸 본문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신규성, 진보성, 산업적 이용가능성↑</a:t>
            </a:r>
          </a:p>
        </p:txBody>
      </p:sp>
      <p:sp>
        <p:nvSpPr>
          <p:cNvPr id="69" name="칸 본문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시장성↑ 사업성↑</a:t>
            </a:r>
          </a:p>
        </p:txBody>
      </p:sp>
      <p:sp>
        <p:nvSpPr>
          <p:cNvPr id="71" name="배너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기술 공동개발 3개社 출원비용 및 시제품 제작비 지원</a:t>
            </a:r>
          </a:p>
        </p:txBody>
      </p:sp>
      <p:sp>
        <p:nvSpPr>
          <p:cNvPr id="73" name="레일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우 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 례</a:t>
            </a:r>
          </a:p>
        </p:txBody>
      </p:sp>
      <p:sp>
        <p:nvSpPr>
          <p:cNvPr id="74" name="칸 본문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기업 ‘A’社 혁신기술 인정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혁신기술 AI정수장 기술협력으로 혁신성 인정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서울국제발명전시회 금상(’25.12)</a:t>
            </a:r>
          </a:p>
        </p:txBody>
      </p:sp>
      <p:sp>
        <p:nvSpPr>
          <p:cNvPr id="75" name="칸 본문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ICT 기업 ‘B’社 매출 성장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공동 기술개발(구매연계형)로 판로지원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제품매출 332백만원(전년比 159%)</a:t>
            </a:r>
          </a:p>
        </p:txBody>
      </p:sp>
      <p:sp>
        <p:nvSpPr>
          <p:cNvPr id="77" name="칸 본문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수처리 기업 ‘C’社 기술 고도화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이전 기술 고도화 및 품질 제고로 개량 특허 창출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개량특허 출원(’25.2)</a:t>
            </a:r>
          </a:p>
        </p:txBody>
      </p:sp>
      <p:sp>
        <p:nvSpPr>
          <p:cNvPr id="80" name="핵심성과 라벨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81" name="핵심성과 문구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기술이전 확대 및 사업화 지원으로 이전 기업 매출 5,893억원 달성(누적, 336억원↑)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대외인정 지식재산의 민간기업 이전 및 사업화 지원 유공 산업부 장관 표창 수상(’25.12)</a:t>
            </a: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102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경영평가단 지적사항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1" name="머리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지적사항</a:t>
            </a:r>
          </a:p>
        </p:txBody>
      </p:sp>
      <p:sp>
        <p:nvSpPr>
          <p:cNvPr id="12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조치 및 개선실적</a:t>
            </a:r>
          </a:p>
        </p:txBody>
      </p:sp>
      <p:sp>
        <p:nvSpPr>
          <p:cNvPr id="13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개선효과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상생결제 협력사 편의 제고 및 지속 성과 확대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거래은행 확대로 편의성 제고(기존 1개 → 2개)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시설 운영관리 분야 상생결제 의무화 ▶ p.64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상생결제액 전년 比 4배↑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(’24년 141억원 → ’25년 566억원)</a:t>
            </a:r>
          </a:p>
        </p:txBody>
      </p:sp>
      <p:sp>
        <p:nvSpPr>
          <p:cNvPr id="19" name="레일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동반성장평가 항목별 성과요인, 개선요인 분석 및 환류 노력 필요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동반성장 실적 취약 지표(상생 결제 편의성, 납품대금 연동제 이해도) 중점 관리 ▶ p.64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동반성장대상(’25.12, 동반委), 유공 장관 표창(’25.11, 중기부)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납품대금 연동제 7.5배↑</a:t>
            </a:r>
          </a:p>
        </p:txBody>
      </p:sp>
      <p:sp>
        <p:nvSpPr>
          <p:cNvPr id="26" name="레일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‘댐잇 프로젝트’ 성과 확산 및 지역협력사업 고유 브랜드 형성 모색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‘댐잇’ 유통망 고도화(SNS+오프라인 팝업스토어) 및 他지역(부여) 확산 ▶ p.65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지역협력사업 브랜드 rootit 런칭, ‘터전·소득·사람’ 3대 실행과제 정립 ▶ p.66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부여 新사업 4,294명 방문 창출, 참여 만족도 99%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빈집 재생 만족도 97%, 외국인재 정착지원 250명</a:t>
            </a:r>
          </a:p>
        </p:txBody>
      </p:sp>
      <p:sp>
        <p:nvSpPr>
          <p:cNvPr id="32" name="레일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개방가능시설 분석, 제약요인 해소하여 확대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산안공 인증 안전체험교육관 대국민 전면 개방, 화재진압, VR 등 체험 운영체계 내실화 ▶ p.68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외부인 방문 전년 比 5배↑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(’24년 131명 → ’25년 664명)</a:t>
            </a: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103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맞춤형 성장 지원과 상생 성공모델 확산으로 동반성장 최우수 기관 인증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’24년까지 주요 실적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주요 추진실적</a:t>
            </a:r>
          </a:p>
        </p:txBody>
      </p:sp>
      <p:sp>
        <p:nvSpPr>
          <p:cNvPr id="16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개선효과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협력기업의 ESG 강화를 위한 표준모델 구축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중소기업 대상 수준별 3단계 맞춤형 ESG 역량강화 지원 프로그램 개편 ▶ p.63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40개社 지원(누적 82개社), ESG 인증 취득률 97%</a:t>
            </a: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104</a:t>
            </a:r>
          </a:p>
        </p:txBody>
      </p:sp>
      <p:sp>
        <p:nvSpPr>
          <p:cNvPr id="5" name="레일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 환류</a:t>
            </a:r>
          </a:p>
        </p:txBody>
      </p:sp>
      <p:sp>
        <p:nvSpPr>
          <p:cNvPr id="6" name="단계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전년도 실적 성과 환류</a:t>
            </a:r>
          </a:p>
        </p:txBody>
      </p:sp>
      <p:sp>
        <p:nvSpPr>
          <p:cNvPr id="7" name="단계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패러다임 전환 K-water의 다음 스텝</a:t>
            </a:r>
          </a:p>
        </p:txBody>
      </p:sp>
      <p:sp>
        <p:nvSpPr>
          <p:cNvPr id="9" name="칸 본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주요성과 중소기업 협업 기반 초순수 기술 국산화, 사회적경제 협업모델 ‘댐잇’ 프로젝트 성공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전주기 협업과 보편적 지원으로 동반성장 생태계 확장</a:t>
            </a:r>
          </a:p>
        </p:txBody>
      </p:sp>
      <p:sp>
        <p:nvSpPr>
          <p:cNvPr id="10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인사이트 기업별 역량 격차를 분석하여 성장 단계에 맞춘 ‘포용적 상생 솔루션’이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최적화된 지원체계 제공으로 상생 퀄리티를 극대화</a:t>
            </a:r>
          </a:p>
        </p:txBody>
      </p:sp>
      <p:sp>
        <p:nvSpPr>
          <p:cNvPr id="13" name="태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캡션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‘협업 성공사례 확산’과 ‘기업유형별 Pain Point 대응’으로 실효적 성장 견인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Pain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Point</a:t>
            </a:r>
          </a:p>
        </p:txBody>
      </p:sp>
      <p:sp>
        <p:nvSpPr>
          <p:cNvPr id="17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중소기업 ESG역량</a:t>
            </a:r>
          </a:p>
        </p:txBody>
      </p:sp>
      <p:sp>
        <p:nvSpPr>
          <p:cNvPr id="18" name="머리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기후테크기업 육성</a:t>
            </a:r>
          </a:p>
        </p:txBody>
      </p:sp>
      <p:sp>
        <p:nvSpPr>
          <p:cNvPr id="19" name="머리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사회적경제 협업</a:t>
            </a:r>
          </a:p>
        </p:txBody>
      </p:sp>
      <p:sp>
        <p:nvSpPr>
          <p:cNvPr id="20" name="머리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청년기업 연착륙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기업별 ESG 인식과 이행수준 격차 존재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극초기 스타트업의 높은 진입장벽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특색을 반영한 전국 확산 필요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창업 이후의 실전 경영 노하우 부족</a:t>
            </a:r>
          </a:p>
        </p:txBody>
      </p:sp>
      <p:sp>
        <p:nvSpPr>
          <p:cNvPr id="28" name="레일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K-water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해법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진단을 통한 수준별 ‘ESG 파트너십’ 전환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직접 발굴·육성하는 전담기관 신설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‘댐잇’ 성공 모델의 고도화 및 전파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실전 마케팅 및 전문인력 채용 지원</a:t>
            </a:r>
          </a:p>
        </p:txBody>
      </p:sp>
      <p:sp>
        <p:nvSpPr>
          <p:cNvPr id="37" name="태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공통</a:t>
            </a:r>
          </a:p>
        </p:txBody>
      </p:sp>
      <p:sp>
        <p:nvSpPr>
          <p:cNvPr id="38" name="태그 설명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중심의 계약제도 합리화로 중소·약소기업의 입찰 진입로 확대</a:t>
            </a: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105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중소기업의 현실적 어려움을 해소하는 성장 역량 지원</a:t>
            </a:r>
          </a:p>
        </p:txBody>
      </p:sp>
      <p:sp>
        <p:nvSpPr>
          <p:cNvPr id="13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ESG가 기업의 진짜 경쟁력이 되도록 ‘맞춤형 지원체계’로 개편</a:t>
            </a:r>
          </a:p>
        </p:txBody>
      </p:sp>
      <p:sp>
        <p:nvSpPr>
          <p:cNvPr id="14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5" name="태그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7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중소기업 “지원사업이 반갑지만, 우리 회사의 수준을 가늠하기 어렵고 바로 적용할 솔루션이 필요합니다.”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“사업을 해보니… 기업마다 ESG 성숙도는 천차만별, 역량별로 프로그램을 분화해서 운영해야…”</a:t>
            </a:r>
          </a:p>
        </p:txBody>
      </p:sp>
      <p:sp>
        <p:nvSpPr>
          <p:cNvPr id="21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추진목표</a:t>
            </a:r>
          </a:p>
        </p:txBody>
      </p:sp>
      <p:sp>
        <p:nvSpPr>
          <p:cNvPr id="23" name="배너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 ESG 역량의 ‘수준별 지원’을 통한 중소기업 실전 경쟁력 강화</a:t>
            </a:r>
          </a:p>
        </p:txBody>
      </p:sp>
      <p:sp>
        <p:nvSpPr>
          <p:cNvPr id="24" name="레일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추진내용</a:t>
            </a:r>
          </a:p>
        </p:txBody>
      </p:sp>
      <p:sp>
        <p:nvSpPr>
          <p:cNvPr id="26" name="머리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역량구축 ESG 도입기업</a:t>
            </a:r>
          </a:p>
        </p:txBody>
      </p:sp>
      <p:sp>
        <p:nvSpPr>
          <p:cNvPr id="27" name="머리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실전안착 ESG 도약기업</a:t>
            </a:r>
          </a:p>
        </p:txBody>
      </p:sp>
      <p:sp>
        <p:nvSpPr>
          <p:cNvPr id="28" name="머리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가치확산 ESG 선도기업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기업별 진단을 통해 실무 이슈와 우선순위 선정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교육과 인터뷰로 ESG 경영 진입 장벽 및 부담 제거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 맞춤형 지표 설계 및 핵심 개선과제 도출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규제 대응을 위한 현장 밀착형 컨설팅 실시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성과입증 문서, 데이터 확보 위한 프로세스 혁신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진단 기반의 단기 개선 및 중장기 성장전략 수립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공급망 규제 등 급변하는 환경 선제 대응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GBB(공급망 ESG 인증) 취득으로 대외실사 신뢰도 제고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고도화된 ESG 역량을 대내외 마케팅에 활용</a:t>
            </a:r>
          </a:p>
        </p:txBody>
      </p:sp>
      <p:sp>
        <p:nvSpPr>
          <p:cNvPr id="35" name="핵심성과 라벨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6" name="핵심성과 문구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ESG 지원사업 누적 82개社 선정(당해 40건), 참여기업 동반성장委 ESG 인증 취득률 97%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동반성장 ‘대상’ 수상(’25.12, 동반성장委), 동반성장 유공 ‘장관’ 표창(’25.11, 중기부)</a:t>
            </a: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106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기후테크 ‘극초기’ 스타트업 육성을 위한 ‘컴퍼니빌더’ 설립 본격화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8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추진현황</a:t>
            </a:r>
          </a:p>
        </p:txBody>
      </p:sp>
      <p:sp>
        <p:nvSpPr>
          <p:cNvPr id="9" name="칸 본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2021년 유망 스타트업 지원을 위한 K-water 주도 지역혁신펀드 조성 착수</a:t>
            </a:r>
          </a:p>
        </p:txBody>
      </p:sp>
      <p:sp>
        <p:nvSpPr>
          <p:cNvPr id="10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2025년 총 5,254억원 규모의 펀드 조성 완료(K-water 999억원 출자), 총 181개 기업 지원</a:t>
            </a:r>
          </a:p>
        </p:txBody>
      </p:sp>
      <p:sp>
        <p:nvSpPr>
          <p:cNvPr id="12" name="태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성공사례</a:t>
            </a:r>
          </a:p>
        </p:txBody>
      </p:sp>
      <p:sp>
        <p:nvSpPr>
          <p:cNvPr id="13" name="태그 설명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수소충전설비 ‘B’社 총 45억원 투자 유치로 해외수출 성공, H2 Innovation Awards ‘대상’ 수상</a:t>
            </a:r>
          </a:p>
        </p:txBody>
      </p:sp>
      <p:sp>
        <p:nvSpPr>
          <p:cNvPr id="15" name="캡션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【 단, 초기 기후테크 스타트업은 높은 불확실성으로 인해 투자소외 현상 발생 】</a:t>
            </a:r>
          </a:p>
        </p:txBody>
      </p:sp>
      <p:sp>
        <p:nvSpPr>
          <p:cNvPr id="17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추진목표</a:t>
            </a:r>
          </a:p>
        </p:txBody>
      </p:sp>
      <p:sp>
        <p:nvSpPr>
          <p:cNvPr id="18" name="배너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기후테크 기술사업화 全주기 지원을 전담할 ‘컴퍼니빌더’ 설립</a:t>
            </a:r>
          </a:p>
        </p:txBody>
      </p:sp>
      <p:sp>
        <p:nvSpPr>
          <p:cNvPr id="19" name="태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컴퍼니빌더?</a:t>
            </a:r>
          </a:p>
        </p:txBody>
      </p:sp>
      <p:sp>
        <p:nvSpPr>
          <p:cNvPr id="20" name="태그 설명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스타트업을 직접 설립 또는 초기 단계부터 투자·운영에 적극 참여, 성장을 주도</a:t>
            </a:r>
          </a:p>
        </p:txBody>
      </p:sp>
      <p:sp>
        <p:nvSpPr>
          <p:cNvPr id="21" name="레일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추진내용</a:t>
            </a:r>
          </a:p>
        </p:txBody>
      </p:sp>
      <p:sp>
        <p:nvSpPr>
          <p:cNvPr id="23" name="단계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설립 추진단 운영(’25.4~)</a:t>
            </a:r>
          </a:p>
        </p:txBody>
      </p:sp>
      <p:sp>
        <p:nvSpPr>
          <p:cNvPr id="24" name="단계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공동출자자 공모 및 협업체계 완성(’25.8)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내·외부 전문가 협업으로 전담조직 가동 시작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운영구조·로드맵 설계로 컴퍼니빌더 기반 확립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공동출자기관 설명회 및 지분 공모(’25.7) 실시, 공공·산업·투자 간 유기적 협업체계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10개社 15억원 출자 확약(K-water 45억원 포함 자본금 60억원)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총괄 / 산업(4개社) 실증·공급연계 / 공공(2개社) 기술·인재제공 / 투자(4개社) 후속·매칭투자</a:t>
            </a:r>
          </a:p>
        </p:txBody>
      </p:sp>
      <p:sp>
        <p:nvSpPr>
          <p:cNvPr id="29" name="배너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❸ 출자회사 설립을 위한 정부 실무협의 지속(’25.3~) * 기후부 협의完, 재경부 진행중</a:t>
            </a:r>
          </a:p>
        </p:txBody>
      </p:sp>
      <p:sp>
        <p:nvSpPr>
          <p:cNvPr id="31" name="핵심성과 라벨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2" name="핵심성과 문구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지역혁신펀드 예비 유니콘 4개社 누계, 벤처기업협회 창업지원 우수기관 선정(’25.12)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컴퍼니빌더 공공-산업-투자사 협업체계 완성, 국내 최초 기후테크 컴퍼니빌더 설립 본격화</a:t>
            </a: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107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 공정거래 정책을 선제적으로 이행하고, 상생협력 계약제도 혁신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0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동반성장평가 성과 및 개선요인 분석을 통한 환류 노력 필요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개선노력 4년 연속 ‘우수’등급 기반, 납품대금 연동제 등 기업이 체감할 수 있는 제도개선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추진내용</a:t>
            </a:r>
          </a:p>
        </p:txBody>
      </p:sp>
      <p:sp>
        <p:nvSpPr>
          <p:cNvPr id="18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납품대금연동제 대상은 확대, 참여는 확장</a:t>
            </a:r>
          </a:p>
        </p:txBody>
      </p:sp>
      <p:sp>
        <p:nvSpPr>
          <p:cNvPr id="19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혁신제품 수요 매칭 및 점검체계 개편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대상확대 공식 예외대상인 소액(1억원 미만), 단기계약(90일 이하)까지 확대 시행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저변확장 ‘입찰부터 결제까지’ 계약시스템 적용, 협력사 컨설팅(13개社)·교육(104명)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연동제 적용 2건 → 15건 상승(7.5배)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수요매칭 K-water 참여 행사의 공동기업관·홍보부스 활용, 수요 창출(총 79개社 수혜)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모니터링 전사 구매현황 모니터링 시스템 구축, 체계적 구매실적 점검·관리 구현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자체 구매 180억원 달성(전년 比 105%)</a:t>
            </a:r>
          </a:p>
        </p:txBody>
      </p:sp>
      <p:sp>
        <p:nvSpPr>
          <p:cNvPr id="23" name="머리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상생결제 편의 개선 및 실적 확보</a:t>
            </a:r>
          </a:p>
        </p:txBody>
      </p:sp>
      <p:sp>
        <p:nvSpPr>
          <p:cNvPr id="24" name="머리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PQ제도 불합리한 감점제도 개선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채널확대 협력기업 편의성 제고 위한 거래은행 확대(1 → 2개所 우리금융 추가)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연속성 제고 지속적 실적 창출이 가능한 ‘시설운영관리’ 분야 결제 확대 적용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상생결제 141억원 → 566억원 상승(4배)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AS-IS PQ용역 입찰참가자 평가 중 공동도급 구성원의 감점 단순 합산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TO-BE 구성원별 참여 지분율에 근거한 점수 반영으로 평가 공정성 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중소기업의 입찰참가 불공정 개선</a:t>
            </a:r>
          </a:p>
        </p:txBody>
      </p:sp>
      <p:sp>
        <p:nvSpPr>
          <p:cNvPr id="29" name="핵심성과 라벨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0" name="핵심성과 문구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중기부 납품대금 연동제 ‘장관’표창(’25.12), 산업부 신기술 실용화 유공 ‘장관’표창(’25.12)</a:t>
            </a: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108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사회적경제·청년기업의 경쟁력 확보를 위한 경영 솔루션 협업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사회적경제와 함께 성공한 ‘댐잇’ 프로젝트, 한 번 더 진화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2" name="태그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3" name="태그칩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5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 환류 연천·포천 관광 활성화를 위해 사회적경제와 협업한 ‘댐잇(댐과 지역을 잇다)’ 프로젝트가 성공적으로 안착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SNS 인플루언서 활용, 여행코스 공모 등 100만건 이상 미디어 노출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지역 약소기업과의 검증된 상생사례, 타 지역에도 확산 필요</a:t>
            </a:r>
          </a:p>
        </p:txBody>
      </p:sp>
      <p:sp>
        <p:nvSpPr>
          <p:cNvPr id="19" name="레일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추진목표</a:t>
            </a:r>
          </a:p>
        </p:txBody>
      </p:sp>
      <p:sp>
        <p:nvSpPr>
          <p:cNvPr id="21" name="배너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검증된 성공 사례 ‘댐잇’, 한 번 더 성과를 높이고 타 지역까지 확대</a:t>
            </a:r>
          </a:p>
        </p:txBody>
      </p:sp>
      <p:sp>
        <p:nvSpPr>
          <p:cNvPr id="22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내 용</a:t>
            </a:r>
          </a:p>
        </p:txBody>
      </p:sp>
      <p:sp>
        <p:nvSpPr>
          <p:cNvPr id="24" name="단계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연천·포천 기존 ‘댐잇’은 상품성을 강화</a:t>
            </a:r>
          </a:p>
        </p:txBody>
      </p:sp>
      <p:sp>
        <p:nvSpPr>
          <p:cNvPr id="25" name="단계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부여 ‘댐잇’의 성공모델 확산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사회적경제(해피쿰투어)와의 새로운 협업 통해 운영역량 강화와 지역자원 결합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‘댐잇 투어’ 여행사 유통 개시, 지역민을 여행 해설사로 채용하여 지역경제 활성화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SNS 중심 온라인 홍보에서, 트렌디한 팝업 스토어로 오프라인 전시·홍보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판교 ‘아브뉴프랑’ 팝업 스토어 등 활용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‘댐잇’의 ‘사회적경제 협업모델’을 각 지역의 특색에 접목하여 재설계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부여군(금강보) ‘당신의 라이프 에디션’: 부여로 ‘런케이션’(교육과 휴가를 연계한 귀농·귀촌 체험 프로그램) + 백마강 ‘멍케이션’(마음 휴식과 문화적 경험을 결합한 관광 콘텐츠)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SNS 인플루언서 활용 홍보채널 확대</a:t>
            </a:r>
          </a:p>
        </p:txBody>
      </p:sp>
      <p:sp>
        <p:nvSpPr>
          <p:cNvPr id="31" name="주요성과 라벨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2" name="주요성과 문구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‘댐잇’ 여행상품 348명 구매 창출, 팝업스토어 방문 4,974명 대상 댐잇 홍보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관계인구 607명, 교류인구 4,294명 창출, 프로그램 참여자 만족도 99% 달성</a:t>
            </a: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109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청년기업이 지역 경제의 근간으로 성장할 수 있도록 성장 절벽 해소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아이디어 하나로 창업에 도전한 청년, 창업 후에도 실질적 경영문제 직면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청년창업 지원 프로젝트 ‘내일을 잇다’ 출범(지역청년, 내일을 잇다)</a:t>
            </a:r>
          </a:p>
        </p:txBody>
      </p:sp>
      <p:sp>
        <p:nvSpPr>
          <p:cNvPr id="15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마케팅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역량강화</a:t>
            </a:r>
          </a:p>
        </p:txBody>
      </p:sp>
      <p:sp>
        <p:nvSpPr>
          <p:cNvPr id="17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Pain Point</a:t>
            </a:r>
          </a:p>
        </p:txBody>
      </p:sp>
      <p:sp>
        <p:nvSpPr>
          <p:cNvPr id="18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청년기업을 위한 K-water의 Solution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“창업은 성공했지만, 마케팅이 막막하고 판로 확보가 어렵습니다”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수익모델 AtoZ 심층 진단, 마케팅 방안 코칭(3회)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온·오프라인 입점, 인플루언서 플리마켓 진출 지원으로 실질적 매출 상승 * 백화점, 카카오톡 특딜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6개社 온라인 판로 확보 ▶ [우수사례] ‘S’ 社 주문 25.7%, 매출 17.3%↑</a:t>
            </a:r>
          </a:p>
        </p:txBody>
      </p:sp>
      <p:sp>
        <p:nvSpPr>
          <p:cNvPr id="23" name="레일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전문인력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 보</a:t>
            </a:r>
          </a:p>
        </p:txBody>
      </p:sp>
      <p:sp>
        <p:nvSpPr>
          <p:cNvPr id="24" name="단계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Pain Point</a:t>
            </a:r>
          </a:p>
        </p:txBody>
      </p:sp>
      <p:sp>
        <p:nvSpPr>
          <p:cNvPr id="25" name="단계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Solution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“新산업인 AI분야는 전문인력 구하기가 너무 힘듭니다”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스타트업 10개社 선정, 핵심이슈(인력부족) 청취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지역대학과 협업, AI분야 채용·공모(53명 지원)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1:1 JOB 매칭 행사 개최 * 일자리 컨설턴트 활용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청년기업 3개社 AI 관련 지역청년 5명 채용</a:t>
            </a:r>
          </a:p>
        </p:txBody>
      </p:sp>
      <p:sp>
        <p:nvSpPr>
          <p:cNvPr id="30" name="레일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조달시장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진 입</a:t>
            </a:r>
          </a:p>
        </p:txBody>
      </p:sp>
      <p:sp>
        <p:nvSpPr>
          <p:cNvPr id="32" name="단계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Pain Point</a:t>
            </a:r>
          </a:p>
        </p:txBody>
      </p:sp>
      <p:sp>
        <p:nvSpPr>
          <p:cNvPr id="33" name="단계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Solution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“공공 조달시장의 진입 장벽이 너무 높아요”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청년창업기업의 수의계약 한도 상향(5천만원, 2.5배↑) 및 적용대상 범위 확대(용역, 물품 외 공사까지 포함)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창업기업 구매율 역대 최고 수준 달성, 총 591억원 구매</a:t>
            </a:r>
          </a:p>
        </p:txBody>
      </p:sp>
      <p:sp>
        <p:nvSpPr>
          <p:cNvPr id="39" name="핵심성과 라벨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0" name="핵심성과 문구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청년·약소기업 지원 노력 인정, 창업지원사업 ‘최우수’ 운영기관(’25.11, 중기부)</a:t>
            </a: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110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지역사회의 지속가능한 활력 : K-water 상생가치 재정립</a:t>
            </a:r>
          </a:p>
        </p:txBody>
      </p:sp>
      <p:sp>
        <p:nvSpPr>
          <p:cNvPr id="9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0" name="번호 띠 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개요</a:t>
            </a:r>
          </a:p>
        </p:txBody>
      </p:sp>
      <p:sp>
        <p:nvSpPr>
          <p:cNvPr id="13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동아리수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총활동횟수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총참여인원</a:t>
            </a:r>
          </a:p>
        </p:txBody>
      </p:sp>
      <p:sp>
        <p:nvSpPr>
          <p:cNvPr id="16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총봉사시간</a:t>
            </a:r>
          </a:p>
        </p:txBody>
      </p:sp>
      <p:sp>
        <p:nvSpPr>
          <p:cNvPr id="17" name="머리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총기부액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140개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4,415회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21,944명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53,755시간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330억원</a:t>
            </a:r>
          </a:p>
        </p:txBody>
      </p:sp>
      <p:sp>
        <p:nvSpPr>
          <p:cNvPr id="27" name="배너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 사회공헌활동의 주춧돌, 직원 봉사동아리 물사랑나눔단 Overview (’21~’25)</a:t>
            </a:r>
          </a:p>
        </p:txBody>
      </p:sp>
      <p:sp>
        <p:nvSpPr>
          <p:cNvPr id="28" name="레일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변화</a:t>
            </a:r>
          </a:p>
        </p:txBody>
      </p:sp>
      <p:sp>
        <p:nvSpPr>
          <p:cNvPr id="30" name="단계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그간의 성과 성공적인 양적 확장과 대외인정</a:t>
            </a:r>
          </a:p>
        </p:txBody>
      </p:sp>
      <p:sp>
        <p:nvSpPr>
          <p:cNvPr id="31" name="단계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사회구조의 대전환 시대, 변화의 방향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주변 지역주민 대상 수혜성 복지사업에 집중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3년 연속 ‘마이클 포터상(CSV부문)’ 수상 등 역량 입증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정부정책 인구위기 직면한 농산어촌 활력 제고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다양한 이해당사자 참여·협력 확대</a:t>
            </a:r>
          </a:p>
        </p:txBody>
      </p:sp>
      <p:sp>
        <p:nvSpPr>
          <p:cNvPr id="37" name="캡션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【 사회변화 대응 방향에 발맞춰 K-water의 상생가치 정체성을 재정립하고 역량 결집 】</a:t>
            </a:r>
          </a:p>
        </p:txBody>
      </p:sp>
      <p:sp>
        <p:nvSpPr>
          <p:cNvPr id="39" name="레일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추진방향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지역사회의 자생력과 지속가능성 회복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거버넌스를 통한 관계망 확장</a:t>
            </a:r>
          </a:p>
        </p:txBody>
      </p:sp>
      <p:sp>
        <p:nvSpPr>
          <p:cNvPr id="43" name="레일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브랜드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런 칭</a:t>
            </a:r>
          </a:p>
        </p:txBody>
      </p:sp>
      <p:sp>
        <p:nvSpPr>
          <p:cNvPr id="45" name="배너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 대표 상생활동 브랜드 『rootit 프로젝트』 런칭</a:t>
            </a:r>
          </a:p>
        </p:txBody>
      </p:sp>
      <p:sp>
        <p:nvSpPr>
          <p:cNvPr id="46" name="태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목적</a:t>
            </a:r>
          </a:p>
        </p:txBody>
      </p:sp>
      <p:sp>
        <p:nvSpPr>
          <p:cNvPr id="47" name="태그 설명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지역에 뿌리(Root)내려 지속가능성을 키우는 주민 주도(do-it)의 활성화</a:t>
            </a:r>
          </a:p>
        </p:txBody>
      </p:sp>
      <p:sp>
        <p:nvSpPr>
          <p:cNvPr id="48" name="레일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 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 제</a:t>
            </a:r>
          </a:p>
        </p:txBody>
      </p:sp>
      <p:sp>
        <p:nvSpPr>
          <p:cNvPr id="50" name="머리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‘터전’ 뿌리 내리기</a:t>
            </a:r>
          </a:p>
        </p:txBody>
      </p:sp>
      <p:sp>
        <p:nvSpPr>
          <p:cNvPr id="51" name="머리칸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‘소득’ 뿌리 내리기</a:t>
            </a:r>
          </a:p>
        </p:txBody>
      </p:sp>
      <p:sp>
        <p:nvSpPr>
          <p:cNvPr id="52" name="머리칸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❸ ‘사람’ 뿌리 내리기</a:t>
            </a:r>
          </a:p>
        </p:txBody>
      </p:sp>
      <p:sp>
        <p:nvSpPr>
          <p:cNvPr id="53" name="칸 본문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지속가능한 생활공간 창출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자생적 소득창출역량 강화</a:t>
            </a:r>
          </a:p>
        </p:txBody>
      </p:sp>
      <p:sp>
        <p:nvSpPr>
          <p:cNvPr id="56" name="칸 본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구성원으로 정착 지원</a:t>
            </a: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111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인구소멸지역의 방치된 빈집을 지역 회복의 거점으로</a:t>
            </a:r>
          </a:p>
        </p:txBody>
      </p:sp>
      <p:sp>
        <p:nvSpPr>
          <p:cNvPr id="12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3" name="번호 띠 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5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지역현실 농촌 인구 감소와 고령화로 인해 방치된 빈집이 지속 증가(’24년 기준 813개)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화재·붕괴 위험 및 주민 정주여건 악화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늘어나는 빈집을 지역의 문제에서 마을의 활력 거점으로 전환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주민과 함께 쓰임새 있는 공간 재창조</a:t>
            </a:r>
          </a:p>
        </p:txBody>
      </p:sp>
      <p:sp>
        <p:nvSpPr>
          <p:cNvPr id="19" name="레일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추진내용</a:t>
            </a:r>
          </a:p>
        </p:txBody>
      </p:sp>
      <p:sp>
        <p:nvSpPr>
          <p:cNvPr id="21" name="배너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예천군 소멸위험마을 활력재생 프로젝트, ‘농촌 빈집, 다시 품다!’</a:t>
            </a:r>
          </a:p>
        </p:txBody>
      </p:sp>
      <p:sp>
        <p:nvSpPr>
          <p:cNvPr id="22" name="단계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협업 체계 구성</a:t>
            </a:r>
          </a:p>
        </p:txBody>
      </p:sp>
      <p:sp>
        <p:nvSpPr>
          <p:cNvPr id="23" name="단계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니즈에 맞춘 공간에서</a:t>
            </a:r>
          </a:p>
        </p:txBody>
      </p:sp>
      <p:sp>
        <p:nvSpPr>
          <p:cNvPr id="24" name="단계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지역 활성화 프로그램 제공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총괄 / 예천군(인·허가 행정지원) / 노인지원센터(빈집 리모델링) / 국립경국대(프로그램 기획·운영)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소멸위험이 가장 높은 마을 대상 빈집 선정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노후도, 활용가능성 등 심사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주민수요 맞춤 리모델링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품앗이 작업장, 무더위쉼터, 친지 방문 시 숙소 등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청년기업과 함께 농산품 팝업 스토어 진행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지역 청년과 어르신 소통행사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사람이 모이는 콘텐츠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삼겹살파티 등 정서 교류(7회), 가족방문쉼터(4회) 운영</a:t>
            </a:r>
          </a:p>
        </p:txBody>
      </p:sp>
      <p:sp>
        <p:nvSpPr>
          <p:cNvPr id="33" name="핵심성과 라벨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4" name="핵심성과 문구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누적 500명 어르신 대상 복지서비스 제공, 이용자 평균 만족도 97% 달성</a:t>
            </a: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112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댐주변 농가 돕는 ‘이음 장날’, 마케팅 코칭까지 Scale-Up</a:t>
            </a:r>
          </a:p>
        </p:txBody>
      </p:sp>
      <p:sp>
        <p:nvSpPr>
          <p:cNvPr id="9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0" name="번호 띠 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~2024년 댐주변 농민과 임직원간 직거래 장터인 ‘이음 장날’, 성공적 축제로 정착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2025년 기존 판로는 더욱 확대하고, 농민 스스로의 판로 개척 역량 강화까지 교육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판 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 대</a:t>
            </a:r>
          </a:p>
        </p:txBody>
      </p:sp>
      <p:sp>
        <p:nvSpPr>
          <p:cNvPr id="18" name="배너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‘이음 장날’로 입증된 댐주변 농민의 경쟁력, 전국적 확대와 온라인까지 확장</a:t>
            </a:r>
          </a:p>
        </p:txBody>
      </p:sp>
      <p:sp>
        <p:nvSpPr>
          <p:cNvPr id="19" name="단계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이음 장날 전국 확대</a:t>
            </a:r>
          </a:p>
        </p:txBody>
      </p:sp>
      <p:sp>
        <p:nvSpPr>
          <p:cNvPr id="20" name="단계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지역 오프라인 매장 진출</a:t>
            </a:r>
          </a:p>
        </p:txBody>
      </p:sp>
      <p:sp>
        <p:nvSpPr>
          <p:cNvPr id="21" name="단계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온라인 커머스 입점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연 2회 본사 행사를 전국 4개 유역본부로 추가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연 5회 개최 완료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각 지역별 대표축제 내 판매부스 입점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서울국제정원 박람회 등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검증된 20개 농가 온라인 기획전·상시몰 입점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총 63백만원 추가 매출 창출</a:t>
            </a:r>
          </a:p>
        </p:txBody>
      </p:sp>
      <p:sp>
        <p:nvSpPr>
          <p:cNvPr id="29" name="레일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역 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화</a:t>
            </a:r>
          </a:p>
        </p:txBody>
      </p:sp>
      <p:sp>
        <p:nvSpPr>
          <p:cNvPr id="31" name="배너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지역농가 등을 대상으로 실전 마케팅 코칭 후, 사업 지속성을 위한 크라우드 펀딩까지 도전</a:t>
            </a:r>
          </a:p>
        </p:txBody>
      </p:sp>
      <p:sp>
        <p:nvSpPr>
          <p:cNvPr id="32" name="단계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K-water의 고민 “판로는 열어드렸는데 지역주민은 생산자에만 머물게 되는구나”</a:t>
            </a:r>
          </a:p>
        </p:txBody>
      </p:sp>
      <p:sp>
        <p:nvSpPr>
          <p:cNvPr id="33" name="단계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 역량 강화 프로그램</a:t>
            </a:r>
          </a:p>
        </p:txBody>
      </p:sp>
      <p:sp>
        <p:nvSpPr>
          <p:cNvPr id="34" name="단계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크라우드 펀딩까지 연결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전문가 코칭을 기반으로 지역제품의 브랜드 개발, 상품기획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8개 농가 및 청년기업 등 선정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코칭을 통해 개발된 상품의 시민 펀딩으로 사업 운영자금도 확보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총 37백만원 신규 매출 창출</a:t>
            </a:r>
          </a:p>
        </p:txBody>
      </p:sp>
      <p:sp>
        <p:nvSpPr>
          <p:cNvPr id="43" name="핵심성과 라벨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4" name="핵심성과 문구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참여 지역농가 설문 결과 성장체감도 97% 달성, 총 3.6억원 지역소득 창출</a:t>
            </a: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113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사람을 키우고 마을을 채우는 생활인구 확대 전략</a:t>
            </a:r>
          </a:p>
        </p:txBody>
      </p:sp>
      <p:sp>
        <p:nvSpPr>
          <p:cNvPr id="13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사천시 외국 우수인재 정착을 위한 유휴 수도부지의 가치 재창조</a:t>
            </a:r>
          </a:p>
        </p:txBody>
      </p:sp>
      <p:sp>
        <p:nvSpPr>
          <p:cNvPr id="14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5" name="태그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7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품을 들여 관리 중인 유휴 수도부지의 가치있는 활용방안 고민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사천시 지역산업인 항공·제조업, 숙련된 외국 인재들의 장기 정착과 근속이 절실</a:t>
            </a:r>
          </a:p>
        </p:txBody>
      </p:sp>
      <p:sp>
        <p:nvSpPr>
          <p:cNvPr id="21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추진내용</a:t>
            </a:r>
          </a:p>
        </p:txBody>
      </p:sp>
      <p:sp>
        <p:nvSpPr>
          <p:cNvPr id="23" name="배너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유휴 수도부지 활용한 외국인 인재 정착 지원 프로그램, 「땅 부치고, 정(情) 붙이고」</a:t>
            </a:r>
          </a:p>
        </p:txBody>
      </p:sp>
      <p:sp>
        <p:nvSpPr>
          <p:cNvPr id="24" name="머리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공간 정착</a:t>
            </a:r>
          </a:p>
        </p:txBody>
      </p:sp>
      <p:sp>
        <p:nvSpPr>
          <p:cNvPr id="25" name="머리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생활 적응</a:t>
            </a:r>
          </a:p>
        </p:txBody>
      </p:sp>
      <p:sp>
        <p:nvSpPr>
          <p:cNvPr id="26" name="머리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❸ 공동체 연결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가족 텃밭 분양, 한국 대표 농작물 친환경 재배법 교육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타국 생활 심리적 고립 해소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재배 농작물로 김장 담기 및 한국어 강의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문화를 통한 정서적 융합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지역민과 모국작물 나눔, 다문화 축제 단체참가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‘사천 시민’ 소속감 고취</a:t>
            </a:r>
          </a:p>
        </p:txBody>
      </p:sp>
      <p:sp>
        <p:nvSpPr>
          <p:cNvPr id="33" name="핵심성과 라벨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4" name="핵심성과 문구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사천시 외국인재 250명 참여, 주민공동 문화체험 200명 참가로 상호이해 증진</a:t>
            </a: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114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K-water型 지역공부방 ‘배달강좌제’, 안착을 위한 멘토-멘티 지원 강화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8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9" name="칸 본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멘토·멘티 모두의 참여 의지를 향상할 수 있는 지원 확대로 제도 실효성 개선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추진내용</a:t>
            </a:r>
          </a:p>
        </p:txBody>
      </p:sp>
      <p:sp>
        <p:nvSpPr>
          <p:cNvPr id="12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멘토 장학금 지원 내실화</a:t>
            </a:r>
          </a:p>
        </p:txBody>
      </p:sp>
      <p:sp>
        <p:nvSpPr>
          <p:cNvPr id="13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멘토 취업 지원 확대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멘티 고교 진로도 멘토링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캠퍼스별 이동 거리에 따라 실비를 차등 지급(1.5~2.5만원)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실질적 활동 보상 부여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활동 우수자 취업 컨설팅 및 취업 지원비(350만원)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멘토의 참여 의욕 강화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초등학생 중심에서 고교생 진로상담까지 확장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실질적 멘토링 효과 제고</a:t>
            </a:r>
          </a:p>
        </p:txBody>
      </p:sp>
      <p:sp>
        <p:nvSpPr>
          <p:cNvPr id="21" name="핵심성과 라벨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22" name="핵심성과 문구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대학생 28명 및 멘티 243명 참여, 멘토 1인은 적성을 발견 ➡ 교육대학원 진학 성공</a:t>
            </a: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115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문턱은 낮추고 체감 가치는 한층 높인 K-water 공간 개방</a:t>
            </a:r>
          </a:p>
        </p:txBody>
      </p:sp>
      <p:sp>
        <p:nvSpPr>
          <p:cNvPr id="13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국민과 함께 나누는 안전의식, ‘K-water 안전체험교육관’ 개방 확대</a:t>
            </a:r>
          </a:p>
        </p:txBody>
      </p:sp>
      <p:sp>
        <p:nvSpPr>
          <p:cNvPr id="14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5" name="태그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7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국 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 방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2024년 직원·단체 대상 시설 운영을 통해 교육인프라 실효성 우선 검증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산업안전보건공단 인증(’24.9) 획득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2025년 정부 체험형 안전교육 확대 기조, 국민 관심 증대로 대외 체험 수요 증가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기관 중심 운영에서 대국민 개방(’25.8~)</a:t>
            </a:r>
          </a:p>
        </p:txBody>
      </p:sp>
      <p:sp>
        <p:nvSpPr>
          <p:cNvPr id="21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 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 대</a:t>
            </a:r>
          </a:p>
        </p:txBody>
      </p:sp>
      <p:sp>
        <p:nvSpPr>
          <p:cNvPr id="23" name="단계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맞춤형 체험프로그램</a:t>
            </a:r>
          </a:p>
        </p:txBody>
      </p:sp>
      <p:sp>
        <p:nvSpPr>
          <p:cNvPr id="24" name="단계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참여신청 채널 확대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설문조사 기반 이용자 수요중심 체험 구성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화재진압·비상대피·VR 등 실감형 콘텐츠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학생·외국인·고령자 등 방문객 눈높이 교육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정부포털 활용 시설 이용·예약 안내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국민안전교육플랫폼, 노동부 산업안전포털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SNS(유튜브 등) 홍보 및 기관협업 활성화</a:t>
            </a:r>
          </a:p>
        </p:txBody>
      </p:sp>
      <p:sp>
        <p:nvSpPr>
          <p:cNvPr id="30" name="핵심성과 라벨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1" name="핵심성과 문구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대국민 개방 원년 외부객 5배 증가(131 → 664명), 시설 홍보 영상 조회수 10만회↑</a:t>
            </a: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116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댐·하천 수변공간을 일상 속 여가와 만남의 장으로 국민과 공유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7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0" name="레일 태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국민체육공간</a:t>
            </a:r>
          </a:p>
        </p:txBody>
      </p:sp>
      <p:sp>
        <p:nvSpPr>
          <p:cNvPr id="11" name="레일 라벨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자전거길</a:t>
            </a:r>
          </a:p>
        </p:txBody>
      </p:sp>
      <p:sp>
        <p:nvSpPr>
          <p:cNvPr id="12" name="배너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러닝 열풍에 맞춰, 물길 따라 달리는 지역활력 ‘리버런’(RiverRun) 런칭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현황 러닝 인구 천만 시대, 지방의 러닝 인프라는 여전히 부족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“시민들이 즐겨찾는 강변 자전거길에 러닝코스를 만들면 더욱 사랑받는 공간이 되겠지?”</a:t>
            </a:r>
          </a:p>
        </p:txBody>
      </p:sp>
      <p:sp>
        <p:nvSpPr>
          <p:cNvPr id="16" name="단계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코스를 선정하고</a:t>
            </a:r>
          </a:p>
        </p:txBody>
      </p:sp>
      <p:sp>
        <p:nvSpPr>
          <p:cNvPr id="17" name="단계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러닝코스를 디자인해서</a:t>
            </a:r>
          </a:p>
        </p:txBody>
      </p:sp>
      <p:sp>
        <p:nvSpPr>
          <p:cNvPr id="18" name="단계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강변 러닝 활성화까지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 인프라와 자연·문화유산 연계, 코스 설계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보 인접 자전거 종주길 활용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유역별 러닝 테마와 스타터코스 정비·개방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국민디자인단, 러닝크루 참여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리버런 마라톤대회(2백명)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코스 인증제, 온라인 채널 개설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러닝 동호회 협업 홍보</a:t>
            </a:r>
          </a:p>
        </p:txBody>
      </p:sp>
      <p:sp>
        <p:nvSpPr>
          <p:cNvPr id="26" name="배너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RiverRun 2025년 공공기관 대국민 체감형 서비스 개선과제 선정(재경부, ’25.9)</a:t>
            </a:r>
          </a:p>
        </p:txBody>
      </p:sp>
      <p:sp>
        <p:nvSpPr>
          <p:cNvPr id="28" name="레일 태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복합문화공간</a:t>
            </a:r>
          </a:p>
        </p:txBody>
      </p:sp>
      <p:sp>
        <p:nvSpPr>
          <p:cNvPr id="29" name="레일 라벨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아라뱃길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터 미 널</a:t>
            </a:r>
          </a:p>
        </p:txBody>
      </p:sp>
      <p:sp>
        <p:nvSpPr>
          <p:cNvPr id="31" name="배너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관광객과 지역민이 함께 즐기고 체험하는 열린 공간, ‘에이맵’ 출범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현황 ‘아라뱃길 여객터미널’, 수변 공간 가치 대비 시설 활용도 저조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“‘라이더의 성지’ 아라뱃길, 터미널이 복합문화 거점으로 다양하게 활용될 수는 없을까?”</a:t>
            </a:r>
          </a:p>
        </p:txBody>
      </p:sp>
      <p:sp>
        <p:nvSpPr>
          <p:cNvPr id="35" name="머리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라이딩 라운지 신설</a:t>
            </a:r>
          </a:p>
        </p:txBody>
      </p:sp>
      <p:sp>
        <p:nvSpPr>
          <p:cNvPr id="36" name="머리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아트갤러리 조성</a:t>
            </a:r>
          </a:p>
        </p:txBody>
      </p:sp>
      <p:sp>
        <p:nvSpPr>
          <p:cNvPr id="37" name="머리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관광 연계형 축제 개최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장애인 실내영상 라이딩 및 어린이 교육장비 설치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지역청년, 해외작가 전시 등 문화예술 공간 활용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카약 축제(6.5천명)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크루즈 러닝페스타(3백명)</a:t>
            </a:r>
          </a:p>
        </p:txBody>
      </p:sp>
      <p:sp>
        <p:nvSpPr>
          <p:cNvPr id="43" name="배너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지역특화형 체육문화 프로그램 다양화로 방문객 1.5만명 유입</a:t>
            </a:r>
          </a:p>
        </p:txBody>
      </p:sp>
      <p:sp>
        <p:nvSpPr>
          <p:cNvPr id="45" name="레일 태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지역커뮤니티공간</a:t>
            </a:r>
          </a:p>
        </p:txBody>
      </p:sp>
      <p:sp>
        <p:nvSpPr>
          <p:cNvPr id="46" name="레일 라벨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남 강 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물문화관</a:t>
            </a:r>
          </a:p>
        </p:txBody>
      </p:sp>
      <p:sp>
        <p:nvSpPr>
          <p:cNvPr id="48" name="배너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물문화관 공간에 주민의 스토리를 덧입혀 지역 커뮤니티 공간으로 탈바꿈</a:t>
            </a:r>
          </a:p>
        </p:txBody>
      </p:sp>
      <p:sp>
        <p:nvSpPr>
          <p:cNvPr id="49" name="칸 본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현황 댐의 역할 및 수자원 가치에 대한 대국민 교육·홍보 중심 운영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“홍보와 지식 전달의 장을 넘어, 주민의 일상과 꿈이 머무는 ‘상생이음터’까지 나아가면 어떨까?”</a:t>
            </a:r>
          </a:p>
        </p:txBody>
      </p:sp>
      <p:sp>
        <p:nvSpPr>
          <p:cNvPr id="52" name="머리칸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청소년 문화교육</a:t>
            </a:r>
          </a:p>
        </p:txBody>
      </p:sp>
      <p:sp>
        <p:nvSpPr>
          <p:cNvPr id="53" name="머리칸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청년농부 활력 충전</a:t>
            </a:r>
          </a:p>
        </p:txBody>
      </p:sp>
      <p:sp>
        <p:nvSpPr>
          <p:cNvPr id="54" name="머리칸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아빠 육아교실</a:t>
            </a:r>
          </a:p>
        </p:txBody>
      </p:sp>
      <p:sp>
        <p:nvSpPr>
          <p:cNvPr id="55" name="칸 본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영화감독 초청, 청소년 영화 아카데미 개최</a:t>
            </a:r>
          </a:p>
        </p:txBody>
      </p:sp>
      <p:sp>
        <p:nvSpPr>
          <p:cNvPr id="56" name="칸 본문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청년농부(농업전공자) 현장 실습 및 멘토링 공간</a:t>
            </a:r>
          </a:p>
        </p:txBody>
      </p:sp>
      <p:sp>
        <p:nvSpPr>
          <p:cNvPr id="58" name="칸 본문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육아용품, 노하우 나눔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아빠놀이 클래스 등</a:t>
            </a:r>
          </a:p>
        </p:txBody>
      </p:sp>
      <p:sp>
        <p:nvSpPr>
          <p:cNvPr id="60" name="배너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물문화관 커뮤니티 활성화로 방문객 5배 증가(’23년 1.4만명 → ’24년 4.8만명 → ’25년 7만명)</a:t>
            </a: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117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9" name="배너 글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K-water 재무현황 및 재무관리체계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 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 황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부채비율: 137.0% → 92.7%(공기업 평균 197.0% → 251.7%)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지속적인 자구노력 통해 부채비율 10년 연속 하락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재무성과(억원): 매출액 40,115 → 49,152, 영업이익 4,518 → 2,239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개선노력으로 매출 반등, 高물가 등으로 이익 하락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재무상태(’25년 말, 조원): 자산 24.9 = 부채 12.0 + 자본 12.9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금융부채 8.9, 영업부채 등 3.1, 납입자본 11.5, 잉여금 등 1.4</a:t>
            </a:r>
          </a:p>
        </p:txBody>
      </p:sp>
      <p:sp>
        <p:nvSpPr>
          <p:cNvPr id="17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 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경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장기 요금동결(10년): 국민부담 완화 정책 공공요금 규제 지속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원가 지속 상승: 전력비, 유지관리비, 생산자 물가 상승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 선도이행: 재무건전성 기반 선제적 투자 가능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차입의존도 상승: 투자 확대에 따른 재무건전성 관리 필요</a:t>
            </a:r>
          </a:p>
        </p:txBody>
      </p:sp>
      <p:sp>
        <p:nvSpPr>
          <p:cNvPr id="26" name="레일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 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 리</a:t>
            </a:r>
          </a:p>
        </p:txBody>
      </p:sp>
      <p:sp>
        <p:nvSpPr>
          <p:cNvPr id="27" name="배너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최상위 재무관리준칙(공기업 최초 사규 제정) 준수, 구분회계 기반 계획 수립~성과관리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재무계획: 중장기 경영전략 / 중장기 재무관리계획 / 예산·자금 계획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성과점검: 전사경영회의 / 재무혁신TF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전사 전략 이행 목적 재무전략·방향 도출 / 전략 연계 투자계획, 재무목표 수립 및 재무 전망 / 단년도 자원 배분, 자금 조달·집행 계획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CEO 주관 최종 재무성과 점검 및 차년도 개선방향 공유 / 구분회계 활용 성과 점검 및 개선 과제 발굴·이행</a:t>
            </a:r>
          </a:p>
        </p:txBody>
      </p:sp>
      <p:sp>
        <p:nvSpPr>
          <p:cNvPr id="31" name="레일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 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 리</a:t>
            </a:r>
          </a:p>
        </p:txBody>
      </p:sp>
      <p:sp>
        <p:nvSpPr>
          <p:cNvPr id="32" name="배너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체계적·선제적 재무위험 대응을 위한 위험관리체계 구축·운영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구분: 위험지표 · 점검주기 · 단계별 대응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사업별 위험: 단기 전력료, 시장금리 등 5개 / 장기 수도투자, 유가 등 4개 / 점검 단기 매월, 장기 반기(4월, 9월)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재무성과·금융위험: 재무 부채비율, 순이익 등 7개 / 금융 신용, 유동성 등 5개 / 점검 매월(구분회계 월결산 동반)</a:t>
            </a:r>
          </a:p>
        </p:txBody>
      </p:sp>
      <p:sp>
        <p:nvSpPr>
          <p:cNvPr id="38" name="단계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정상</a:t>
            </a:r>
          </a:p>
        </p:txBody>
      </p:sp>
      <p:sp>
        <p:nvSpPr>
          <p:cNvPr id="39" name="단계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관심</a:t>
            </a:r>
          </a:p>
        </p:txBody>
      </p:sp>
      <p:sp>
        <p:nvSpPr>
          <p:cNvPr id="40" name="단계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주의</a:t>
            </a:r>
          </a:p>
        </p:txBody>
      </p:sp>
      <p:sp>
        <p:nvSpPr>
          <p:cNvPr id="41" name="단계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경계</a:t>
            </a:r>
          </a:p>
        </p:txBody>
      </p:sp>
      <p:sp>
        <p:nvSpPr>
          <p:cNvPr id="42" name="단계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심각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지속 모니터링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원인분석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유관부서 협업 대응</a:t>
            </a:r>
          </a:p>
        </p:txBody>
      </p:sp>
      <p:sp>
        <p:nvSpPr>
          <p:cNvPr id="52" name="칸 본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재무혁신TF 부의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컨틴전시 가동</a:t>
            </a:r>
          </a:p>
        </p:txBody>
      </p:sp>
      <p:sp>
        <p:nvSpPr>
          <p:cNvPr id="56" name="레일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 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 리</a:t>
            </a:r>
          </a:p>
        </p:txBody>
      </p:sp>
      <p:sp>
        <p:nvSpPr>
          <p:cNvPr id="57" name="배너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투자 효율성·효과성 제고를 위한 프로젝트 단위 全주기 수익성 관리</a:t>
            </a:r>
          </a:p>
        </p:txBody>
      </p:sp>
      <p:sp>
        <p:nvSpPr>
          <p:cNvPr id="58" name="단계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심사단계</a:t>
            </a:r>
          </a:p>
        </p:txBody>
      </p:sp>
      <p:sp>
        <p:nvSpPr>
          <p:cNvPr id="59" name="단계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건설단계</a:t>
            </a:r>
          </a:p>
        </p:txBody>
      </p:sp>
      <p:sp>
        <p:nvSpPr>
          <p:cNvPr id="60" name="단계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운영단계</a:t>
            </a:r>
          </a:p>
        </p:txBody>
      </p:sp>
      <p:sp>
        <p:nvSpPr>
          <p:cNvPr id="63" name="칸 본문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투자심사: 사전 예비심사 → 예비 투자심사 → 본 투자심사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사전검토(7개): 설계·법률 등 전문분야 + 중장기 재무영향(신규)</a:t>
            </a:r>
          </a:p>
        </p:txBody>
      </p:sp>
      <p:sp>
        <p:nvSpPr>
          <p:cNvPr id="64" name="칸 본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총사업비 관리: 조정심사 + 적정성 평가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 중간평가(신규): 집행액 30%·60%, 준공시</a:t>
            </a:r>
          </a:p>
        </p:txBody>
      </p:sp>
      <p:sp>
        <p:nvSpPr>
          <p:cNvPr id="66" name="칸 본문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현안사업 경영분석(신규): 손실사업 개선방안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해외사업 성과분석(신규): 분기별 재무성과 분석</a:t>
            </a:r>
          </a:p>
        </p:txBody>
      </p:sp>
      <p:sp>
        <p:nvSpPr>
          <p:cNvPr id="68" name="레일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’25년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재무관리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중점사항</a:t>
            </a:r>
          </a:p>
        </p:txBody>
      </p:sp>
      <p:sp>
        <p:nvSpPr>
          <p:cNvPr id="70" name="배너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체계적인 재무 관리를 위한 조직, 제도, 프로세스 전반 혁신 추진</a:t>
            </a:r>
          </a:p>
        </p:txBody>
      </p:sp>
      <p:sp>
        <p:nvSpPr>
          <p:cNvPr id="71" name="머리칸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재무전담조직 신설·강화</a:t>
            </a:r>
          </a:p>
        </p:txBody>
      </p:sp>
      <p:sp>
        <p:nvSpPr>
          <p:cNvPr id="72" name="머리칸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재무혁신 TF 고도화</a:t>
            </a:r>
          </a:p>
        </p:txBody>
      </p:sp>
      <p:sp>
        <p:nvSpPr>
          <p:cNvPr id="73" name="머리칸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확장적 투자계획 수립</a:t>
            </a:r>
          </a:p>
        </p:txBody>
      </p:sp>
      <p:sp>
        <p:nvSpPr>
          <p:cNvPr id="74" name="칸 본문"/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재무전략부 전사 재무관리 총괄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해외PF부 해외사업 재무분석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출자관리부 자회사 재무관리</a:t>
            </a:r>
          </a:p>
        </p:txBody>
      </p:sp>
      <p:sp>
        <p:nvSpPr>
          <p:cNvPr id="75" name="칸 본문"/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과제발굴(부문장), 이행점검(부서장) 전담 회의체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성과점검 혁신TF → 과제발굴 부문장회의 → 이행점검 부서장회의</a:t>
            </a:r>
          </a:p>
        </p:txBody>
      </p:sp>
      <p:sp>
        <p:nvSpPr>
          <p:cNvPr id="77" name="칸 본문"/>
          <p:cNvSpPr>
            <a:spLocks noGrp="1"/>
          </p:cNvSpPr>
          <p:nvPr>
            <p:ph type="body" sz="quarter" idx="6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국정과제와 연계한 미래 5개년 투자계획 1조원 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’24~’28 16.7조원 → ’25~’29 17.7조원</a:t>
            </a: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118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기관 고유 미래위험 예측과 선제적 대응으로 안정적 재무구조 유지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선제적 재무위험 예측을 통한 실효성 있는 위험관리체계 운영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2" name="태그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환경분석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대외환경 어느 때보다 큰 불확실성 직면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美 정책 영향으로 금리, 환율 등 변동성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내수, 건설경기 회복 지연 등 불확실성 상존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내부여건 미래 성장 위한 돌파구 마련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100% 이하 부채비율 등 재무구조 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매출액, 당기순이익 등 재무성과 다소 정체</a:t>
            </a:r>
          </a:p>
        </p:txBody>
      </p:sp>
      <p:sp>
        <p:nvSpPr>
          <p:cNvPr id="18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재무진단</a:t>
            </a:r>
          </a:p>
        </p:txBody>
      </p:sp>
      <p:sp>
        <p:nvSpPr>
          <p:cNvPr id="20" name="머리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원가상승 인한 수익성 저하</a:t>
            </a:r>
          </a:p>
        </p:txBody>
      </p:sp>
      <p:sp>
        <p:nvSpPr>
          <p:cNvPr id="21" name="머리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영업현금흐름 축소</a:t>
            </a:r>
          </a:p>
        </p:txBody>
      </p:sp>
      <p:sp>
        <p:nvSpPr>
          <p:cNvPr id="22" name="머리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국정과제 등 투자 확대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 요금동결(10년), 원가 34%↑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수변 원가용지 매출 비중↑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수변 자금수지 일시 불균형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조성~수납까지 긴 영업주기 특성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정책 연계 전략적 투자 요구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투자 확대로 부채증가 전망</a:t>
            </a:r>
          </a:p>
        </p:txBody>
      </p:sp>
      <p:sp>
        <p:nvSpPr>
          <p:cNvPr id="28" name="레일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 사 점</a:t>
            </a:r>
          </a:p>
        </p:txBody>
      </p:sp>
      <p:sp>
        <p:nvSpPr>
          <p:cNvPr id="30" name="배너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안정적인 영업이익 창출 기반 재무 건전성 유지가 재무위험관리 핵심요인</a:t>
            </a:r>
          </a:p>
        </p:txBody>
      </p:sp>
      <p:sp>
        <p:nvSpPr>
          <p:cNvPr id="32" name="태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재무위험 정의</a:t>
            </a:r>
          </a:p>
        </p:txBody>
      </p:sp>
      <p:sp>
        <p:nvSpPr>
          <p:cNvPr id="33" name="캡션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영업이익 하락, 영업 현금흐름 감소 및 투자 증가로 인한 ‘재무 건전성 위기’</a:t>
            </a:r>
          </a:p>
        </p:txBody>
      </p:sp>
      <p:sp>
        <p:nvSpPr>
          <p:cNvPr id="35" name="레일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 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관리체계</a:t>
            </a:r>
          </a:p>
        </p:txBody>
      </p:sp>
      <p:sp>
        <p:nvSpPr>
          <p:cNvPr id="36" name="단계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위험지표(KRI) 설정</a:t>
            </a:r>
          </a:p>
        </p:txBody>
      </p:sp>
      <p:sp>
        <p:nvSpPr>
          <p:cNvPr id="37" name="단계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모니터링 및 진단</a:t>
            </a:r>
          </a:p>
        </p:txBody>
      </p:sp>
      <p:sp>
        <p:nvSpPr>
          <p:cNvPr id="38" name="단계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❸ 대응 및 환류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선행지표 위험별 및 평가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경보체계 위험경보 구간 설정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점검주기 월/주간 모니터링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시나리오 선제적 대응플랜 마련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전담조직 재무혁신 TF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환류 평가 및 목표 적정성 점검</a:t>
            </a:r>
          </a:p>
        </p:txBody>
      </p:sp>
      <p:sp>
        <p:nvSpPr>
          <p:cNvPr id="46" name="레일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❶ 지표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설정</a:t>
            </a:r>
          </a:p>
        </p:txBody>
      </p:sp>
      <p:sp>
        <p:nvSpPr>
          <p:cNvPr id="48" name="단계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진단 현금흐름 정체 위기징후</a:t>
            </a:r>
          </a:p>
        </p:txBody>
      </p:sp>
      <p:sp>
        <p:nvSpPr>
          <p:cNvPr id="49" name="단계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현금흐름에 영향력 큰 선제적 위험식별</a:t>
            </a:r>
          </a:p>
        </p:txBody>
      </p:sp>
      <p:sp>
        <p:nvSpPr>
          <p:cNvPr id="51" name="칸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영업현금 수변사업 투자 증가로, 투자·수납 수지차 확대 예상(’25~)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현금흐름 정체 우려, 선행지표 공백</a:t>
            </a:r>
          </a:p>
        </p:txBody>
      </p:sp>
      <p:sp>
        <p:nvSpPr>
          <p:cNvPr id="52" name="칸 본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‘수변사업 대금회수’ 신설, 전사 위험지표 8→9개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단기 전력요금(원가), 강우량(발전량), 시장금리, 신규 수변 대금회수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중장기 수도투자(공급량), 유가(전력단가), 기준금리(금융비용), 분양(매출)</a:t>
            </a:r>
          </a:p>
        </p:txBody>
      </p:sp>
      <p:sp>
        <p:nvSpPr>
          <p:cNvPr id="54" name="레일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❷ 모니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터링</a:t>
            </a:r>
          </a:p>
        </p:txBody>
      </p:sp>
      <p:sp>
        <p:nvSpPr>
          <p:cNvPr id="55" name="머리칸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더 빠른 조기 경보</a:t>
            </a:r>
          </a:p>
        </p:txBody>
      </p:sp>
      <p:sp>
        <p:nvSpPr>
          <p:cNvPr id="56" name="머리칸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시나리오 분석</a:t>
            </a:r>
          </a:p>
        </p:txBody>
      </p:sp>
      <p:sp>
        <p:nvSpPr>
          <p:cNvPr id="57" name="머리칸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대응플랜 사전설계</a:t>
            </a:r>
          </a:p>
        </p:txBody>
      </p:sp>
      <p:sp>
        <p:nvSpPr>
          <p:cNvPr id="58" name="칸 본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월 단위 점검, 조기경보 발동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위기징후시 주 단위 대응TF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점검 및 대응 주기 단축</a:t>
            </a:r>
          </a:p>
        </p:txBody>
      </p:sp>
      <p:sp>
        <p:nvSpPr>
          <p:cNvPr id="59" name="칸 본문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시나리오별 재무영향 분석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 단계 → 데이터기반 민감도분석 → 재무영향</a:t>
            </a:r>
          </a:p>
        </p:txBody>
      </p:sp>
      <p:sp>
        <p:nvSpPr>
          <p:cNvPr id="61" name="칸 본문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맞춤형 대책 선제적 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0.9%p↑ 보수 투자규모·시기조정 / 부채비율 중립 매출확대, 원가절감 / 0.9%p↓ 낙관 공정관리, 경비절감</a:t>
            </a:r>
          </a:p>
        </p:txBody>
      </p:sp>
      <p:sp>
        <p:nvSpPr>
          <p:cNvPr id="63" name="레일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❸ 대응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환류</a:t>
            </a:r>
          </a:p>
        </p:txBody>
      </p:sp>
      <p:sp>
        <p:nvSpPr>
          <p:cNvPr id="65" name="머리칸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~’24년 위험 관리체계 재정립</a:t>
            </a:r>
          </a:p>
        </p:txBody>
      </p:sp>
      <p:sp>
        <p:nvSpPr>
          <p:cNvPr id="66" name="머리칸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의사결정 책임 강화</a:t>
            </a:r>
          </a:p>
        </p:txBody>
      </p:sp>
      <p:sp>
        <p:nvSpPr>
          <p:cNvPr id="67" name="머리칸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목표 적정성 점검</a:t>
            </a:r>
          </a:p>
        </p:txBody>
      </p:sp>
      <p:sp>
        <p:nvSpPr>
          <p:cNvPr id="68" name="칸 본문"/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거버넌스 재무 컨트롤타워, TF 신설로 의사결정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관리체계 중기 위험지표 개선</a:t>
            </a:r>
          </a:p>
        </p:txBody>
      </p:sp>
      <p:sp>
        <p:nvSpPr>
          <p:cNvPr id="69" name="칸 본문"/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TF 참여 직급 상향(부서장)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부문별 목표부여·성과관리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매출액 성장 10.4%↑(전년比)</a:t>
            </a:r>
          </a:p>
        </p:txBody>
      </p:sp>
      <p:sp>
        <p:nvSpPr>
          <p:cNvPr id="71" name="칸 본문"/>
          <p:cNvSpPr>
            <a:spLocks noGrp="1"/>
          </p:cNvSpPr>
          <p:nvPr>
            <p:ph type="body" sz="quarter" idx="6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적정성 점검단계 신설(월별) 및 관리목표 상향조정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영업이익 개선 18%↑(계획比)</a:t>
            </a: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119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안정적 위험관리로 투자 확대에도 부채비율 개선△5.7%p 등 건전성 유지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위기경보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모니터링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위기포착</a:t>
            </a:r>
          </a:p>
        </p:txBody>
      </p:sp>
      <p:sp>
        <p:nvSpPr>
          <p:cNvPr id="12" name="머리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에너지사업 강우량 주의 경보(1분기)</a:t>
            </a:r>
          </a:p>
        </p:txBody>
      </p:sp>
      <p:sp>
        <p:nvSpPr>
          <p:cNvPr id="13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수변사업 대금회수 주의 경보(1분기)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발전량 평년 강우 60%, 수력 발전량 하락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가격 유가 10% 하락, 수력 발전 매출 감소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누적강우량(mm) · 평년대비(%) 차트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수납 원가용지 확대로 대금회수, 이익 저조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지출 송산등 투자증가 ➡ 영업 현금흐름 감소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투자·수납·현금수지 차트</a:t>
            </a:r>
          </a:p>
        </p:txBody>
      </p:sp>
      <p:sp>
        <p:nvSpPr>
          <p:cNvPr id="18" name="레일 태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즉시대응</a:t>
            </a:r>
          </a:p>
        </p:txBody>
      </p:sp>
      <p:sp>
        <p:nvSpPr>
          <p:cNvPr id="19" name="레일 라벨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준비된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대응플랜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가 동</a:t>
            </a:r>
          </a:p>
        </p:txBody>
      </p:sp>
      <p:sp>
        <p:nvSpPr>
          <p:cNvPr id="21" name="머리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발전량·가격 정밀 예측·대응, 매출 확대</a:t>
            </a:r>
          </a:p>
        </p:txBody>
      </p:sp>
      <p:sp>
        <p:nvSpPr>
          <p:cNvPr id="22" name="머리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수변사업 현금수지 개선 노력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추가 발전량 확보: 데이터 기반 강우 유입·발전량 예측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AI활용 판매단가 제고: 전력수요·가격예측 AI활용 기술개발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강우 감소에도 정교한 댐 운영(발전량 14%↑), 가격예측으로 매출액 208억원↑(계획比)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분양토지 판매촉진: 수요맞춤 착공지원 등 제도개선 추진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현금흐름 기반 계획: 현금흐름 기반 투자·회수계획 수립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수변 대금 회수 촉진, 계획比 2.7천억원 투자계획 조정(△1.6천억원), 현금수지 개선</a:t>
            </a:r>
          </a:p>
        </p:txBody>
      </p:sp>
      <p:sp>
        <p:nvSpPr>
          <p:cNvPr id="27" name="레일 태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중장기 대응</a:t>
            </a:r>
          </a:p>
        </p:txBody>
      </p:sp>
      <p:sp>
        <p:nvSpPr>
          <p:cNvPr id="28" name="레일 라벨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구 조 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위기대응</a:t>
            </a:r>
          </a:p>
        </p:txBody>
      </p:sp>
      <p:sp>
        <p:nvSpPr>
          <p:cNvPr id="30" name="머리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중장기 위험분산을 통한 변동성 대응</a:t>
            </a:r>
          </a:p>
        </p:txBody>
      </p:sp>
      <p:sp>
        <p:nvSpPr>
          <p:cNvPr id="31" name="머리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현안(현금흐름) 연계 중장기 수익성 개선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발전원 다각화: 수상태양광 등 발전 다각화 전략 수립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가격 안정성 확보: 재생에너지 직접 전력구매계약(PPA)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PPA 계약 5건(신규 3건)으로 수익 219억원↑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수익성 용지 확대: 시장 수요 감안, 사업성 기반 용도변경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수익 변동성 완화: 고수익-원가용지 배분 매출계획 수립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시화MTV(상업 → 주상복합), 송산GC(저수익 → 산업)</a:t>
            </a:r>
          </a:p>
        </p:txBody>
      </p:sp>
      <p:sp>
        <p:nvSpPr>
          <p:cNvPr id="36" name="핵심성과 라벨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7" name="핵심성과 문구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극한가뭄, 원가상승 위기 극복을 통한 매출액 성장(10.4%↑), 영업이익 개선(계획比 18%↑)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에너지사업 등 투자 확대에도 부채비율 92.7%(△5.7%p)로 재무건전성 유지</a:t>
            </a: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120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 구분회계 재무정보를 활용한 프로젝트 단위 성과분석 및 의사결정 활용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9" name="레일 태그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운영체계</a:t>
            </a:r>
          </a:p>
        </p:txBody>
      </p:sp>
      <p:sp>
        <p:nvSpPr>
          <p:cNvPr id="10" name="레일 라벨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구분회계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선도모델</a:t>
            </a:r>
          </a:p>
        </p:txBody>
      </p:sp>
      <p:sp>
        <p:nvSpPr>
          <p:cNvPr id="11" name="배너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他 기관이 벤치마킹 하는 롤모델, K-water 구분회계를 통한 사업성과 점검 및 환류</a:t>
            </a:r>
          </a:p>
        </p:txBody>
      </p:sp>
      <p:sp>
        <p:nvSpPr>
          <p:cNvPr id="12" name="단계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예산편성부터 구분</a:t>
            </a:r>
          </a:p>
        </p:txBody>
      </p:sp>
      <p:sp>
        <p:nvSpPr>
          <p:cNvPr id="13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모니터링 및 성과분석</a:t>
            </a:r>
          </a:p>
        </p:txBody>
      </p:sp>
      <p:sp>
        <p:nvSpPr>
          <p:cNvPr id="14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성과평가 연계·환류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9개 사업 단위, 1.4천개 프로젝트(직접귀속률 95%)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월 단위 구분 재무제표 도출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사업·부서별 성과지표 모니터링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재무건전성 개선노력(매출액, 경비절감) 개인·부서 평가</a:t>
            </a:r>
          </a:p>
        </p:txBody>
      </p:sp>
      <p:sp>
        <p:nvSpPr>
          <p:cNvPr id="23" name="레일 태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활용노력</a:t>
            </a:r>
          </a:p>
        </p:txBody>
      </p:sp>
      <p:sp>
        <p:nvSpPr>
          <p:cNvPr id="24" name="레일 라벨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합리적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경영판단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 원</a:t>
            </a:r>
          </a:p>
        </p:txBody>
      </p:sp>
      <p:sp>
        <p:nvSpPr>
          <p:cNvPr id="26" name="배너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사업별 재무정보를 활용한 생산원가 절감계획 수립 등 의사결정 지원 기반 마련</a:t>
            </a:r>
          </a:p>
        </p:txBody>
      </p:sp>
      <p:sp>
        <p:nvSpPr>
          <p:cNvPr id="27" name="머리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사업단위 성과분석 및 계획 수립</a:t>
            </a:r>
          </a:p>
        </p:txBody>
      </p:sp>
      <p:sp>
        <p:nvSpPr>
          <p:cNvPr id="28" name="머리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소규모 수탁사업도 프로젝트별 관리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대표사례 수도 원가 비중 및 증감추세 분석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투자 확대, 전력비 상승 등 원가 증가, 매출이익 지속 하락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원가 절감요소 발굴, 적정요금 시나리오 분석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지자체 수탁 등 소규모 사업 증가(’24년 169건)로 관리시스템 신설, 구분회계 연계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 全과정 체계적 비용·수익 관리</a:t>
            </a:r>
          </a:p>
        </p:txBody>
      </p:sp>
      <p:sp>
        <p:nvSpPr>
          <p:cNvPr id="33" name="레일 태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성과평가</a:t>
            </a:r>
          </a:p>
        </p:txBody>
      </p:sp>
      <p:sp>
        <p:nvSpPr>
          <p:cNvPr id="34" name="레일 라벨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효 과 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성과관리</a:t>
            </a:r>
          </a:p>
        </p:txBody>
      </p:sp>
      <p:sp>
        <p:nvSpPr>
          <p:cNvPr id="36" name="배너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구분회계 통한 성과평가로 KPI 목표달성 및 사업 단위 책임경영 정착</a:t>
            </a:r>
          </a:p>
        </p:txBody>
      </p:sp>
      <p:sp>
        <p:nvSpPr>
          <p:cNvPr id="37" name="머리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매출액 사업별 성과관리</a:t>
            </a:r>
          </a:p>
        </p:txBody>
      </p:sp>
      <p:sp>
        <p:nvSpPr>
          <p:cNvPr id="38" name="머리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경비절감 부서 집행액 관리</a:t>
            </a:r>
          </a:p>
        </p:txBody>
      </p:sp>
      <p:sp>
        <p:nvSpPr>
          <p:cNvPr id="39" name="머리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‘클릭 재무’ 실시간 확인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매출목표·부서 평가 연계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매출액 성장(4.6천억원↑)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예산 → 과거 실적比 평가 ➡ 관리비 절감(△5.3%)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사업·부서별 손익, KPI 달성도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경비절감 목표-실적 현황 등</a:t>
            </a: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121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안정적 유동성 및 부채관리, 금융비용 절감으로 재무건전성 확보</a:t>
            </a:r>
          </a:p>
        </p:txBody>
      </p:sp>
      <p:sp>
        <p:nvSpPr>
          <p:cNvPr id="12" name="번호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13" name="분야 박스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유동성</a:t>
            </a:r>
          </a:p>
        </p:txBody>
      </p:sp>
      <p:sp>
        <p:nvSpPr>
          <p:cNvPr id="15" name="소제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안정성은 높이면서 적기에 필요한 만큼만! 효율적인 유동성 관리</a:t>
            </a:r>
          </a:p>
        </p:txBody>
      </p:sp>
      <p:sp>
        <p:nvSpPr>
          <p:cNvPr id="16" name="태그칩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8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유동성</a:t>
            </a:r>
          </a:p>
        </p:txBody>
      </p:sp>
      <p:sp>
        <p:nvSpPr>
          <p:cNvPr id="19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지속적인 자금계획 수립체계 개선</a:t>
            </a:r>
          </a:p>
        </p:txBody>
      </p:sp>
      <p:sp>
        <p:nvSpPr>
          <p:cNvPr id="20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유동성 관리의 안전성·효율성 향상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배경 불필요한 차입 최소화 등 선제적 유동성 관리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‘사업별 자금 실적-예산’ 비교 분석(매월) → 예산 대비 불용자금 예측, 계획 오차 원인 규명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‘자금 유출입 규모 및 시기’ 예측력↑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과부족 최소화, 변동성↓: ’23년·’24년·’25년 월별 보유 현금 추이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유동성 규모 효율화: 유휴자금 305억원↓(금융비용 8억원 절감)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보유자금 최적 운용: 연기금투자풀 62% 예탁</a:t>
            </a:r>
          </a:p>
        </p:txBody>
      </p:sp>
      <p:sp>
        <p:nvSpPr>
          <p:cNvPr id="24" name="태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리스크 관리</a:t>
            </a:r>
          </a:p>
        </p:txBody>
      </p:sp>
      <p:sp>
        <p:nvSpPr>
          <p:cNvPr id="25" name="태그 설명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유동성 지표(보유현금/적정유동성) 모니터링 결과 매월 ‘정상’ 범위 내 운용</a:t>
            </a: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122</a:t>
            </a:r>
          </a:p>
        </p:txBody>
      </p:sp>
      <p:sp>
        <p:nvSpPr>
          <p:cNvPr id="4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5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부채관리</a:t>
            </a:r>
          </a:p>
        </p:txBody>
      </p:sp>
      <p:sp>
        <p:nvSpPr>
          <p:cNvPr id="7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기관 특성과 중장기재무계획을 고려한 부채 만기관리로 안정성 향상</a:t>
            </a:r>
          </a:p>
        </p:txBody>
      </p:sp>
      <p:sp>
        <p:nvSpPr>
          <p:cNvPr id="8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기관 특성</a:t>
            </a:r>
          </a:p>
        </p:txBody>
      </p:sp>
      <p:sp>
        <p:nvSpPr>
          <p:cNvPr id="11" name="단계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 기관 특성</a:t>
            </a:r>
          </a:p>
        </p:txBody>
      </p:sp>
      <p:sp>
        <p:nvSpPr>
          <p:cNvPr id="12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중장기재무관리계획(’25~’29년)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자산 투자 후 장기 회수(광역상수도 내용연수 20년)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부채 짧은 부채만기(7년), 3년 內 만기 집중(50%)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투자계획, 현금흐름 등 반영 차입규모·만기 설정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투자 확대로 금융부채↑, 3년 內 차환부담 증대</a:t>
            </a:r>
          </a:p>
        </p:txBody>
      </p:sp>
      <p:sp>
        <p:nvSpPr>
          <p:cNvPr id="17" name="레일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맞춤형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부채관리</a:t>
            </a:r>
          </a:p>
        </p:txBody>
      </p:sp>
      <p:sp>
        <p:nvSpPr>
          <p:cNvPr id="19" name="머리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만기 집중도 완화</a:t>
            </a:r>
          </a:p>
        </p:txBody>
      </p:sp>
      <p:sp>
        <p:nvSpPr>
          <p:cNvPr id="20" name="머리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금리부담을 낮추며 부채만기 확대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만기집중 구간(향후 3년)을 피해 신규차입 만기 조정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유동성, 차환 리스크 등 완화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3년내 만기도래 규모 0.2조원↓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장단기 금리차 축소기(0.2%p), 자산 특성 고려 장기채 발행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구분 장기물(10y↑) ’24년 0.2조원 → ’25년 0.4조원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신규차입 3.8년 → 6.7년, 전체만기 6.9년 → 7.1년</a:t>
            </a: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123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</a:t>
            </a:r>
          </a:p>
        </p:txBody>
      </p:sp>
      <p:sp>
        <p:nvSpPr>
          <p:cNvPr id="8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금융비용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관세로 인한 불확실성 극복! 맞춤형 전략으로 금융비용 절감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4" name="태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관세충격</a:t>
            </a:r>
          </a:p>
        </p:txBody>
      </p:sp>
      <p:sp>
        <p:nvSpPr>
          <p:cNvPr id="15" name="태그 설명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4월 외화채권 발행 추진 중 美 관세 발표</a:t>
            </a:r>
          </a:p>
        </p:txBody>
      </p:sp>
      <p:sp>
        <p:nvSpPr>
          <p:cNvPr id="16" name="태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채권시장</a:t>
            </a:r>
          </a:p>
        </p:txBody>
      </p:sp>
      <p:sp>
        <p:nvSpPr>
          <p:cNvPr id="17" name="태그 설명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미국채 0.5%p↑, 주요기관 발행보류</a:t>
            </a:r>
          </a:p>
        </p:txBody>
      </p:sp>
      <p:sp>
        <p:nvSpPr>
          <p:cNvPr id="18" name="레일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얼어붙은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채권시장</a:t>
            </a:r>
          </a:p>
        </p:txBody>
      </p:sp>
      <p:sp>
        <p:nvSpPr>
          <p:cNvPr id="20" name="머리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시장 불확실성</a:t>
            </a:r>
          </a:p>
        </p:txBody>
      </p:sp>
      <p:sp>
        <p:nvSpPr>
          <p:cNvPr id="21" name="머리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기관 인지도</a:t>
            </a:r>
          </a:p>
        </p:txBody>
      </p:sp>
      <p:sp>
        <p:nvSpPr>
          <p:cNvPr id="22" name="머리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ESG 투자 의무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변동성 큰 시장이라 투자하기 망설여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3년 만에 공모나선 기관이라 낯설어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투자자의 일정 비중은 ESG 투자여야</a:t>
            </a:r>
          </a:p>
        </p:txBody>
      </p:sp>
      <p:sp>
        <p:nvSpPr>
          <p:cNvPr id="28" name="레일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활로를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열 어</a:t>
            </a:r>
          </a:p>
        </p:txBody>
      </p:sp>
      <p:sp>
        <p:nvSpPr>
          <p:cNvPr id="29" name="단계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철저한 사전 준비, 시장 불확실성 뚫고 발행(3억 $) 결정</a:t>
            </a:r>
          </a:p>
        </p:txBody>
      </p:sp>
      <p:sp>
        <p:nvSpPr>
          <p:cNvPr id="30" name="단계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맞춤형 전략으로 수요 흡수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금리 등 시계열 분석, 과거 사례 등 → 데이터 분석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구조적 시장위기 아닌 일시 충격 판단 → 냉철한 판단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발행금리 상한 설정, 손실위험 통제 → 리스크 관리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기업설명회(33개 기관), 상시 메일링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물·재생e 등 주요사업 활용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ESG 강점 홍보, 그린본드 발행</a:t>
            </a:r>
          </a:p>
        </p:txBody>
      </p:sp>
      <p:sp>
        <p:nvSpPr>
          <p:cNvPr id="35" name="레일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채권발행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마중물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되 다</a:t>
            </a:r>
          </a:p>
        </p:txBody>
      </p:sp>
      <p:sp>
        <p:nvSpPr>
          <p:cNvPr id="37" name="태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언론보도</a:t>
            </a:r>
          </a:p>
        </p:txBody>
      </p:sp>
      <p:sp>
        <p:nvSpPr>
          <p:cNvPr id="38" name="태그 설명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“K-water 사전준비 빛났다.”, “공기업 복귀, 미·중 관세 합의 타이밍 포착”(연합뉴스 등, ’25.5)</a:t>
            </a:r>
          </a:p>
        </p:txBody>
      </p:sp>
      <p:sp>
        <p:nvSpPr>
          <p:cNvPr id="39" name="머리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투자 수요 압도적 흥행</a:t>
            </a:r>
          </a:p>
        </p:txBody>
      </p:sp>
      <p:sp>
        <p:nvSpPr>
          <p:cNvPr id="40" name="머리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금융비용 절감</a:t>
            </a:r>
          </a:p>
        </p:txBody>
      </p:sp>
      <p:sp>
        <p:nvSpPr>
          <p:cNvPr id="41" name="머리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외화채권 마중물 역할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14배 수요로 투자자 선별, 대형우량기관 중심 발행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시장 가격 이하로 발행, 원화比 금융비용 22억원 절감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타 공기관 발행(9억$) 마중물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절감된 금리 가이드라인 제시</a:t>
            </a:r>
          </a:p>
        </p:txBody>
      </p:sp>
      <p:sp>
        <p:nvSpPr>
          <p:cNvPr id="48" name="성과 라벨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종합성과</a:t>
            </a:r>
          </a:p>
        </p:txBody>
      </p:sp>
      <p:sp>
        <p:nvSpPr>
          <p:cNvPr id="49" name="성과 띠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자금운용 효율화 · 금융수익 초과 달성 · 저금리 조달 · 금융비용 절감(42억원)</a:t>
            </a:r>
          </a:p>
        </p:txBody>
      </p:sp>
      <p:sp>
        <p:nvSpPr>
          <p:cNvPr id="51" name="카드 문구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자금운용 효율화</a:t>
            </a:r>
          </a:p>
        </p:txBody>
      </p:sp>
      <p:sp>
        <p:nvSpPr>
          <p:cNvPr id="53" name="값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2373</a:t>
            </a:r>
          </a:p>
        </p:txBody>
      </p:sp>
      <p:sp>
        <p:nvSpPr>
          <p:cNvPr id="54" name="연도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’24년</a:t>
            </a:r>
          </a:p>
        </p:txBody>
      </p:sp>
      <p:sp>
        <p:nvSpPr>
          <p:cNvPr id="56" name="값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2068</a:t>
            </a:r>
          </a:p>
        </p:txBody>
      </p:sp>
      <p:sp>
        <p:nvSpPr>
          <p:cNvPr id="57" name="연도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’25년</a:t>
            </a:r>
          </a:p>
        </p:txBody>
      </p:sp>
      <p:sp>
        <p:nvSpPr>
          <p:cNvPr id="59" name="카드 문구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금융수익 초과 달성</a:t>
            </a:r>
          </a:p>
        </p:txBody>
      </p:sp>
      <p:sp>
        <p:nvSpPr>
          <p:cNvPr id="61" name="값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2.60%</a:t>
            </a:r>
          </a:p>
        </p:txBody>
      </p:sp>
      <p:sp>
        <p:nvSpPr>
          <p:cNvPr id="62" name="연도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기준</a:t>
            </a:r>
          </a:p>
        </p:txBody>
      </p:sp>
      <p:sp>
        <p:nvSpPr>
          <p:cNvPr id="64" name="값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2.69%</a:t>
            </a:r>
          </a:p>
        </p:txBody>
      </p:sp>
      <p:sp>
        <p:nvSpPr>
          <p:cNvPr id="65" name="연도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목표</a:t>
            </a:r>
          </a:p>
        </p:txBody>
      </p:sp>
      <p:sp>
        <p:nvSpPr>
          <p:cNvPr id="67" name="값"/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2.78%</a:t>
            </a:r>
          </a:p>
        </p:txBody>
      </p:sp>
      <p:sp>
        <p:nvSpPr>
          <p:cNvPr id="68" name="연도"/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’25년</a:t>
            </a:r>
          </a:p>
        </p:txBody>
      </p:sp>
      <p:sp>
        <p:nvSpPr>
          <p:cNvPr id="70" name="카드 문구"/>
          <p:cNvSpPr>
            <a:spLocks noGrp="1"/>
          </p:cNvSpPr>
          <p:nvPr>
            <p:ph type="body" sz="quarter" idx="6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저금리 조달</a:t>
            </a:r>
          </a:p>
        </p:txBody>
      </p:sp>
      <p:sp>
        <p:nvSpPr>
          <p:cNvPr id="72" name="값"/>
          <p:cNvSpPr>
            <a:spLocks noGrp="1"/>
          </p:cNvSpPr>
          <p:nvPr>
            <p:ph type="body" sz="quarter" idx="6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2.83%</a:t>
            </a:r>
          </a:p>
        </p:txBody>
      </p:sp>
      <p:sp>
        <p:nvSpPr>
          <p:cNvPr id="73" name="연도"/>
          <p:cNvSpPr>
            <a:spLocks noGrp="1"/>
          </p:cNvSpPr>
          <p:nvPr>
            <p:ph type="body" sz="quarter" idx="6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시장</a:t>
            </a:r>
          </a:p>
        </p:txBody>
      </p:sp>
      <p:sp>
        <p:nvSpPr>
          <p:cNvPr id="75" name="값"/>
          <p:cNvSpPr>
            <a:spLocks noGrp="1"/>
          </p:cNvSpPr>
          <p:nvPr>
            <p:ph type="body" sz="quarter" idx="6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2.77%</a:t>
            </a:r>
          </a:p>
        </p:txBody>
      </p:sp>
      <p:sp>
        <p:nvSpPr>
          <p:cNvPr id="76" name="연도"/>
          <p:cNvSpPr>
            <a:spLocks noGrp="1"/>
          </p:cNvSpPr>
          <p:nvPr>
            <p:ph type="body" sz="quarter" idx="6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조달</a:t>
            </a:r>
          </a:p>
        </p:txBody>
      </p:sp>
      <p:sp>
        <p:nvSpPr>
          <p:cNvPr id="78" name="카드 문구"/>
          <p:cNvSpPr>
            <a:spLocks noGrp="1"/>
          </p:cNvSpPr>
          <p:nvPr>
            <p:ph type="body" sz="quarter" idx="6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금융비용 절감(42억원)</a:t>
            </a:r>
          </a:p>
        </p:txBody>
      </p:sp>
      <p:sp>
        <p:nvSpPr>
          <p:cNvPr id="80" name="값"/>
          <p:cNvSpPr>
            <a:spLocks noGrp="1"/>
          </p:cNvSpPr>
          <p:nvPr>
            <p:ph type="body" sz="quarter" idx="7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8억</a:t>
            </a:r>
          </a:p>
        </p:txBody>
      </p:sp>
      <p:sp>
        <p:nvSpPr>
          <p:cNvPr id="81" name="연도"/>
          <p:cNvSpPr>
            <a:spLocks noGrp="1"/>
          </p:cNvSpPr>
          <p:nvPr>
            <p:ph type="body" sz="quarter" idx="7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유휴</a:t>
            </a:r>
          </a:p>
        </p:txBody>
      </p:sp>
      <p:sp>
        <p:nvSpPr>
          <p:cNvPr id="83" name="값"/>
          <p:cNvSpPr>
            <a:spLocks noGrp="1"/>
          </p:cNvSpPr>
          <p:nvPr>
            <p:ph type="body" sz="quarter" idx="7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3억</a:t>
            </a:r>
          </a:p>
        </p:txBody>
      </p:sp>
      <p:sp>
        <p:nvSpPr>
          <p:cNvPr id="84" name="연도"/>
          <p:cNvSpPr>
            <a:spLocks noGrp="1"/>
          </p:cNvSpPr>
          <p:nvPr>
            <p:ph type="body" sz="quarter" idx="7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녹색</a:t>
            </a:r>
          </a:p>
        </p:txBody>
      </p:sp>
      <p:sp>
        <p:nvSpPr>
          <p:cNvPr id="86" name="값"/>
          <p:cNvSpPr>
            <a:spLocks noGrp="1"/>
          </p:cNvSpPr>
          <p:nvPr>
            <p:ph type="body" sz="quarter" idx="7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31억</a:t>
            </a:r>
          </a:p>
        </p:txBody>
      </p:sp>
      <p:sp>
        <p:nvSpPr>
          <p:cNvPr id="87" name="연도"/>
          <p:cNvSpPr>
            <a:spLocks noGrp="1"/>
          </p:cNvSpPr>
          <p:nvPr>
            <p:ph type="body" sz="quarter" idx="7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외화</a:t>
            </a: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124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맞춤형 자산운영 및 AI 자산관리로 재무 패러다임 전환</a:t>
            </a:r>
          </a:p>
        </p:txBody>
      </p:sp>
      <p:sp>
        <p:nvSpPr>
          <p:cNvPr id="9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K-water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자산특성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사용권 등 무형자산(46%), 판매용 토지 등 재고자산(35%)이 대부분을 차지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보유자산 특성상 운영 및 활용에 한계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선택·집중 원칙으로 운영성과 제고 필요</a:t>
            </a:r>
          </a:p>
        </p:txBody>
      </p:sp>
      <p:sp>
        <p:nvSpPr>
          <p:cNvPr id="15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수익성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 선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재고자산 토지 판매촉진 통한 매출 증대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수변사업 조성-수납까지 긴 영업주기 따른 자금수지 일시 적자(~’26, 0.8조원) 해소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분양자 재무부담 완화 서비스 통한 토지 판매 확대로 조성비 조기 회수 ➡ 분양매출 1조 9백억원 달성(전년比 44.3%↑)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무형자산 항만시설관리권 경쟁입찰 매각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관리청의 관리권 매각물량 제한으로 아라뱃길 사업 투자비 회수 차질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신규 고객 유치 및 초과수요 유도, 경쟁률 제고 및 판매단가 상승 ➡ 항만관리권 매각 762억원(전년比 40억원↑)</a:t>
            </a:r>
          </a:p>
        </p:txBody>
      </p:sp>
      <p:sp>
        <p:nvSpPr>
          <p:cNvPr id="20" name="레일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자산가치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제 고</a:t>
            </a:r>
          </a:p>
        </p:txBody>
      </p:sp>
      <p:sp>
        <p:nvSpPr>
          <p:cNvPr id="21" name="단계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댐 자산 최적활용 제약</a:t>
            </a:r>
          </a:p>
        </p:txBody>
      </p:sp>
      <p:sp>
        <p:nvSpPr>
          <p:cNvPr id="22" name="단계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댐 자산가치 회복방안</a:t>
            </a:r>
          </a:p>
        </p:txBody>
      </p:sp>
      <p:sp>
        <p:nvSpPr>
          <p:cNvPr id="23" name="단계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댐 물그릇 1.3억톤 확대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안동댐 등 저수구역 내 장기간 불법가옥 잔존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댐 低수위 운영 불가피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전사 추진반 운영(’25.3) 통해 전수조사, 유형별 해소방안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취약층 1:1 주거안내, 간접지원 등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47채 철거 ➡ 댐용수 연 매출액 19억원 견인</a:t>
            </a:r>
          </a:p>
        </p:txBody>
      </p:sp>
      <p:sp>
        <p:nvSpPr>
          <p:cNvPr id="31" name="레일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국유재산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AI로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관리전환</a:t>
            </a:r>
          </a:p>
        </p:txBody>
      </p:sp>
      <p:sp>
        <p:nvSpPr>
          <p:cNvPr id="33" name="단계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국유재산 관리 대전환 필요</a:t>
            </a:r>
          </a:p>
        </p:txBody>
      </p:sp>
      <p:sp>
        <p:nvSpPr>
          <p:cNvPr id="34" name="단계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신규 AI기반 로드맵·시스템</a:t>
            </a:r>
          </a:p>
        </p:txBody>
      </p:sp>
      <p:sp>
        <p:nvSpPr>
          <p:cNvPr id="35" name="단계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기대 효과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광범위한 관리면적으로 무단점유 등 적시 적발 곤란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527㎢로 서울시 면적 87% 수준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토지변화 탐지시스템(시범)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캐코-LX 데이터 공유 협약(’25.9)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AI기반 자산관리로드맵(’25.12)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불법행위 절감비용 △8억원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데이터 취득비 △0.2억원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AI자산관리 체계 마련</a:t>
            </a:r>
          </a:p>
        </p:txBody>
      </p:sp>
      <p:sp>
        <p:nvSpPr>
          <p:cNvPr id="44" name="핵심성과 라벨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5" name="핵심성과 문구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자산운영 효율화를 통한 총자산회전율 22.6% 달성(전년 대비 1.4%p 상승)</a:t>
            </a: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125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출자회사 관리 고도화로 공공분야 자회사 운영 내실화</a:t>
            </a:r>
          </a:p>
        </p:txBody>
      </p:sp>
      <p:sp>
        <p:nvSpPr>
          <p:cNvPr id="12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해외SPC 영업손실 지속 등 해외사업 수익성 확대하기 위한 노력 필요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출자회사 관리 고도화 및 체계적 관리로 해외SPC 수익 확대 등 출자 성과 제고</a:t>
            </a:r>
          </a:p>
        </p:txBody>
      </p:sp>
      <p:sp>
        <p:nvSpPr>
          <p:cNvPr id="19" name="레일 태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기반마련</a:t>
            </a:r>
          </a:p>
        </p:txBody>
      </p:sp>
      <p:sp>
        <p:nvSpPr>
          <p:cNvPr id="20" name="레일 라벨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경영개선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한 걸음</a:t>
            </a:r>
          </a:p>
        </p:txBody>
      </p:sp>
      <p:sp>
        <p:nvSpPr>
          <p:cNvPr id="22" name="단계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관리체계 고도화(’24)</a:t>
            </a:r>
          </a:p>
        </p:txBody>
      </p:sp>
      <p:sp>
        <p:nvSpPr>
          <p:cNvPr id="23" name="단계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자회사 관리 내실화(’25)</a:t>
            </a:r>
          </a:p>
        </p:txBody>
      </p:sp>
      <p:sp>
        <p:nvSpPr>
          <p:cNvPr id="24" name="단계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관리선도·확산(’26~)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8개 우선과제 실행·관리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자회사 관리 포털 구축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생애주기 관리 프로세스 정립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 재무성과 분석·관리 강화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低성과 자회사 경영진단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경영개선·역량강화 지원</a:t>
            </a:r>
          </a:p>
        </p:txBody>
      </p:sp>
      <p:sp>
        <p:nvSpPr>
          <p:cNvPr id="33" name="레일 태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경영 안정화</a:t>
            </a:r>
          </a:p>
        </p:txBody>
      </p:sp>
      <p:sp>
        <p:nvSpPr>
          <p:cNvPr id="34" name="레일 라벨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체질개선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완 성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국내 기본에 충실한 자회사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재무건전 핵심사업 역량집중, 안정적 경영관리 ➡ 지속적인 수익 발생, 리스크 최소화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안전진단 조직 신설 등 개선대책 마련(’25.10)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청렴인권 청렴·인권경영 제고 컨설팅(’25.12) ➡ 내부체감 단계별 개선, 감사조직(3명) 확대 등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 국가리스크 극복하니 재무성과도 함께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 자회사 분기별 재무분석 및 환류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대표사례 ❶ 외환통제 등 파트린드HPP 사업 지연 ➡ 현지 외교망 활용, 대주단 협상으로 해결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❷ 낮은 전력요금, 앙갓댐 발전 매출 정체 ➡ 시설개선·효율적 댐 운영으로 극복</a:t>
            </a:r>
          </a:p>
        </p:txBody>
      </p:sp>
      <p:sp>
        <p:nvSpPr>
          <p:cNvPr id="40" name="핵심성과 라벨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1" name="핵심성과 문구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자회사 운영관리 실태평가 A등급(전년 B), 자회사 청렴도 평가 결과 평균 4.6점 상승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파트린드HPP 해외사업 최초 133억원 배당, 앙갓 역대 최고 매출 668억원 달성(107억원↑)</a:t>
            </a: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126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기후위기 시대, 새로운 성장을 견인할 예산편성 및 운용관리</a:t>
            </a:r>
          </a:p>
        </p:txBody>
      </p:sp>
      <p:sp>
        <p:nvSpPr>
          <p:cNvPr id="9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0" name="번호 띠 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환경분석</a:t>
            </a:r>
          </a:p>
        </p:txBody>
      </p:sp>
      <p:sp>
        <p:nvSpPr>
          <p:cNvPr id="13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외부환경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재무여건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산업 기후변화 등 물관리 투자 필요성 증가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 경제성장 둔화로 공공투자 확대 요구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신규 물관리, 정부정책 중점 투자 필요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요금 동결 지속, 수돗물 품질 투자 등 확대로 영업이익 2년 연속 하락 예상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수익성 개선 위한 세밀한 원가관리 필요</a:t>
            </a:r>
          </a:p>
        </p:txBody>
      </p:sp>
      <p:sp>
        <p:nvSpPr>
          <p:cNvPr id="19" name="태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20" name="캡션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국정·전략과제 투자는 확대하되, 효율적 예산운용으로 지속가능한 재무구조 정착</a:t>
            </a:r>
          </a:p>
        </p:txBody>
      </p:sp>
      <p:sp>
        <p:nvSpPr>
          <p:cNvPr id="22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정책연계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투자재원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 충</a:t>
            </a:r>
          </a:p>
        </p:txBody>
      </p:sp>
      <p:sp>
        <p:nvSpPr>
          <p:cNvPr id="23" name="배너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✔ track 1 정부정책 연계 사업의 재정·투자 기반 강화</a:t>
            </a:r>
          </a:p>
        </p:txBody>
      </p:sp>
      <p:sp>
        <p:nvSpPr>
          <p:cNvPr id="24" name="머리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K-물관리수출 활성화</a:t>
            </a:r>
          </a:p>
        </p:txBody>
      </p:sp>
      <p:sp>
        <p:nvSpPr>
          <p:cNvPr id="25" name="머리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 위한 기후안전망 강화</a:t>
            </a:r>
          </a:p>
        </p:txBody>
      </p:sp>
      <p:sp>
        <p:nvSpPr>
          <p:cNvPr id="26" name="머리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 최우선 일터 구현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국회·정부 대상 물산업 파급 공유, 정책 공감대 확산 노력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선도기관 선정(’25.10)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AI정수장 ’26~’30 955억원 반영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극한 기후 시대 새로운 물 인프라 확대, 시설 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지하수저류댐 118억원 반영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유지관리비 46억원/연 증액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중대재해법 등 제도 강화, 수도 감리요율 상향 先 제안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정부과제 선정 → 全기관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감리비 1,597억원(~’32년) 확충</a:t>
            </a:r>
          </a:p>
        </p:txBody>
      </p:sp>
      <p:sp>
        <p:nvSpPr>
          <p:cNvPr id="32" name="레일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투자사업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재구조화</a:t>
            </a:r>
          </a:p>
        </p:txBody>
      </p:sp>
      <p:sp>
        <p:nvSpPr>
          <p:cNvPr id="34" name="배너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✔ track 2 국정과제 및 중장기 전략과 연계한 사업 포트폴리오 및 투자예산 리밸런싱</a:t>
            </a:r>
          </a:p>
        </p:txBody>
      </p:sp>
      <p:sp>
        <p:nvSpPr>
          <p:cNvPr id="35" name="단계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 포트폴리오 선별</a:t>
            </a:r>
          </a:p>
        </p:txBody>
      </p:sp>
      <p:sp>
        <p:nvSpPr>
          <p:cNvPr id="36" name="단계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투자 우선순위 설정</a:t>
            </a:r>
          </a:p>
        </p:txBody>
      </p:sp>
      <p:sp>
        <p:nvSpPr>
          <p:cNvPr id="37" name="단계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국정과제 투자 1,744억원 확대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全부서 참여 성장 아이템 발굴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적합성·매력도 평가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사업적합성(설립목적 부합성, 기술 경쟁력 등) / 시장매력도(성장잠재력, 사회·환경 수요 등)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육성·유지·축소 분류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 연계성 고려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한도 내 우선순위 결정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예산부서 자체 결정 → 개선 사업계획심의위원회 심의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태양광·양수발전 등 신규사업 9건 반영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 안전망 3,434 → 3,974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AI·첨단산업 480 → 1,090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에너지 전환 559 → 1,109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물산업·글로벌 802 → 846</a:t>
            </a:r>
          </a:p>
        </p:txBody>
      </p:sp>
      <p:sp>
        <p:nvSpPr>
          <p:cNvPr id="45" name="레일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예산운용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체계개선</a:t>
            </a:r>
          </a:p>
        </p:txBody>
      </p:sp>
      <p:sp>
        <p:nvSpPr>
          <p:cNvPr id="47" name="배너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✔ track 3 체계적 경비 관리, 상시 원가점검으로 촘촘한 예산운용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경비예산 심의 강화 및 구조조정: 신규 예산편성 심의委(절감요소, 합·목적성 검토 / 집행증가율 높은 5개 항목 / 심의위원 5인 의결), 신규 부문예산 책임운영제(부문·과목별 한도부여 / 일상경비 전체 / 부서→‘부문’(추가)→총괄 심의)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5개 항목 146억원 절감 편성, 부문 책임운영 강화</a:t>
            </a:r>
          </a:p>
        </p:txBody>
      </p:sp>
      <p:sp>
        <p:nvSpPr>
          <p:cNvPr id="49" name="칸 본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사업별 원가점검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사업-재무-예산협업체계(재무혁신TF)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핵심원가 성과목표 설정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’26년 수도생산 원가 절감 265억원/연 목표 반영</a:t>
            </a:r>
          </a:p>
        </p:txBody>
      </p:sp>
      <p:sp>
        <p:nvSpPr>
          <p:cNvPr id="52" name="핵심성과 라벨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3" name="핵심성과 문구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국정·전략과제 실행기반 조성, 중장기 재무목표 준수(부채비율 97.9% 대비 △6.1%p) 예산편성</a:t>
            </a: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127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투자사업 계획·심사 강화, 사후 모니터링 신설 등 관리체계 정립</a:t>
            </a:r>
          </a:p>
        </p:txBody>
      </p:sp>
      <p:sp>
        <p:nvSpPr>
          <p:cNvPr id="12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3" name="번호 띠 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5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관리체계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기획단계 사업구상: 사전예비심사 → 예비투자심사 → 본투자심사 / 개선 각 단계별 7개 항목 사전검토(중장기 재무영향 추가)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건설·운영단계: 기존 사업비 관리 / 신규 사업성 점검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사후관리: 신규 손실사업 분석 / 신규 해외사업 관리</a:t>
            </a:r>
          </a:p>
        </p:txBody>
      </p:sp>
      <p:sp>
        <p:nvSpPr>
          <p:cNvPr id="21" name="배너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기존절차 보완 · 신규 全 생애주기 관리</a:t>
            </a:r>
          </a:p>
        </p:txBody>
      </p:sp>
      <p:sp>
        <p:nvSpPr>
          <p:cNvPr id="22" name="레일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개선방향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사업선정~투자심사 실효성·전문성 강화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건설·운영단계에서도 사업성 유지·관리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현안사업(손실, 고위험) 분석과 솔루션 제시</a:t>
            </a:r>
          </a:p>
        </p:txBody>
      </p:sp>
      <p:sp>
        <p:nvSpPr>
          <p:cNvPr id="31" name="레일 태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사업선정</a:t>
            </a:r>
          </a:p>
        </p:txBody>
      </p:sp>
      <p:sp>
        <p:nvSpPr>
          <p:cNvPr id="32" name="레일 라벨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투자 前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사전검토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화</a:t>
            </a:r>
          </a:p>
        </p:txBody>
      </p:sp>
      <p:sp>
        <p:nvSpPr>
          <p:cNvPr id="33" name="머리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수도 재정사업 심사절차 개선</a:t>
            </a:r>
          </a:p>
        </p:txBody>
      </p:sp>
      <p:sp>
        <p:nvSpPr>
          <p:cNvPr id="34" name="머리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해외 투자사업 기준수익률 개선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배경 국고 반영 후 투자심사, 실효성 저하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국고 신청 전 ‘적합성 심의’ 신설 → 기본구상 · 예·타 · 사업심의 · 국고신청 · 본심사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배경 사업 다변화, 수주 경쟁사 트렌드 고려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수익률 산정시 고려하는 리스크 세분화(4→13개) 및 가중치 차등 적용(0.25~3.0%)</a:t>
            </a:r>
          </a:p>
        </p:txBody>
      </p:sp>
      <p:sp>
        <p:nvSpPr>
          <p:cNvPr id="39" name="레일 태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투자심사</a:t>
            </a:r>
          </a:p>
        </p:txBody>
      </p:sp>
      <p:sp>
        <p:nvSpPr>
          <p:cNvPr id="40" name="레일 라벨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심사품질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고 도 화</a:t>
            </a:r>
          </a:p>
        </p:txBody>
      </p:sp>
      <p:sp>
        <p:nvSpPr>
          <p:cNvPr id="42" name="머리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투자심사 전문성과 신뢰도 제고 ✔평가지적</a:t>
            </a:r>
          </a:p>
        </p:txBody>
      </p:sp>
      <p:sp>
        <p:nvSpPr>
          <p:cNvPr id="43" name="머리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투자심사 재무검증 강화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외부위원 후보 확대, 기술분야 세분화 * 후보(55→100명), 디지털·AI등 분야 추가(5→9개)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외부위원 50% ‘초과’ 참여, 무작위 선정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 중장기 재무영향 사전검토 의무화 * 재무관리준칙 관리지표(3개), 매출액 등 영향 검토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 해외PF분석팀(8명) 신설 역량 강화</a:t>
            </a:r>
          </a:p>
        </p:txBody>
      </p:sp>
      <p:sp>
        <p:nvSpPr>
          <p:cNvPr id="48" name="레일 태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지속관리</a:t>
            </a:r>
          </a:p>
        </p:txBody>
      </p:sp>
      <p:sp>
        <p:nvSpPr>
          <p:cNvPr id="49" name="레일 라벨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 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리스크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상시관리</a:t>
            </a:r>
          </a:p>
        </p:txBody>
      </p:sp>
      <p:sp>
        <p:nvSpPr>
          <p:cNvPr id="51" name="머리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건설단계 중간평가 강화</a:t>
            </a:r>
          </a:p>
        </p:txBody>
      </p:sp>
      <p:sp>
        <p:nvSpPr>
          <p:cNvPr id="52" name="머리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현안사업 경영분석</a:t>
            </a:r>
          </a:p>
        </p:txBody>
      </p:sp>
      <p:sp>
        <p:nvSpPr>
          <p:cNvPr id="53" name="머리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해외사업 분기별 성과분석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사업비조정시 사업성 점검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사업비 30%, 60%, 준공시점 사업성 재분석 추가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IRR 1%p 하락 등 사업성 하락시 보완대책 마련</a:t>
            </a:r>
          </a:p>
        </p:txBody>
      </p:sp>
      <p:sp>
        <p:nvSpPr>
          <p:cNvPr id="55" name="칸 본문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손실사업의 재무구조를 진단하여 솔루션 제시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재무전략 전담조직 확충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기존사업 수익성 관리 및 재무건전성 강화</a:t>
            </a:r>
          </a:p>
        </p:txBody>
      </p:sp>
      <p:sp>
        <p:nvSpPr>
          <p:cNvPr id="57" name="칸 본문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고위험 해외 투자사업 재무성과 및 리스크 정기 분석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해외사업리스크관리위원회 연계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저수익·손실 우려 해외사업 조기 식별 및 대응</a:t>
            </a:r>
          </a:p>
        </p:txBody>
      </p:sp>
      <p:sp>
        <p:nvSpPr>
          <p:cNvPr id="60" name="핵심성과 라벨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61" name="핵심성과 문구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투자심사 全과정 고도화 및 강화된 심사 운영으로 요청 대비 566억원 절감</a:t>
            </a: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128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예산집행관리 강화로 투명·신속 집행 및 재정집행 성과 창출</a:t>
            </a:r>
          </a:p>
        </p:txBody>
      </p:sp>
      <p:sp>
        <p:nvSpPr>
          <p:cNvPr id="9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추진과제</a:t>
            </a:r>
          </a:p>
        </p:txBody>
      </p:sp>
      <p:sp>
        <p:nvSpPr>
          <p:cNvPr id="12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투명한 집행 노력</a:t>
            </a:r>
          </a:p>
        </p:txBody>
      </p:sp>
      <p:sp>
        <p:nvSpPr>
          <p:cNvPr id="13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경비절감 노력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재정집행 노력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예산 집행 리스크 선제적 관리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한정된 재원 효율적 배분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경기회복 위한 투자·집행</a:t>
            </a:r>
          </a:p>
        </p:txBody>
      </p:sp>
      <p:sp>
        <p:nvSpPr>
          <p:cNvPr id="20" name="레일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추진내용</a:t>
            </a:r>
          </a:p>
        </p:txBody>
      </p:sp>
      <p:sp>
        <p:nvSpPr>
          <p:cNvPr id="22" name="머리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교육 및 평가 강화</a:t>
            </a:r>
          </a:p>
        </p:txBody>
      </p:sp>
      <p:sp>
        <p:nvSpPr>
          <p:cNvPr id="23" name="머리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주요경비 심의위원회 운영</a:t>
            </a:r>
          </a:p>
        </p:txBody>
      </p:sp>
      <p:sp>
        <p:nvSpPr>
          <p:cNvPr id="24" name="머리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재정집행 프로세스 혁신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예산 집행 교육 시행(9회)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집행 모니터링 부서평가 연계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권익위 청렴도 결과 ‘예산 부당집행’ 92.3점(11.9점↑)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사내 전문가(30인) 위원회 구성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편성 합목적성, 절감요소 검토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경비절감(’25년 30건 71.6억원) 예산변경 신뢰성 확보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건설 패러다임 전환 등 재정집행 체계적 관리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집행목표 101.4% 달성으로 국민경제 활성화 기여</a:t>
            </a:r>
          </a:p>
        </p:txBody>
      </p:sp>
      <p:sp>
        <p:nvSpPr>
          <p:cNvPr id="31" name="핵심성과 라벨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2" name="핵심성과 문구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집행관리 고도화로 집행 투명·공정성 강화하여 ’25년 권익위 청렴도평가 1등급 달성 기여</a:t>
            </a: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129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공사 고유 재무특성을 반영한 재무목표 및 추진과제 선정</a:t>
            </a:r>
          </a:p>
        </p:txBody>
      </p:sp>
      <p:sp>
        <p:nvSpPr>
          <p:cNvPr id="12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3" name="번호 띠 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5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환경분석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 공적 역할·재무건전성 동시 요구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정부정책 공공기관 국정과제 선도 이행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재무체력 자구노력으로 재무여력 확충 요구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 투자는 늘고 내부조달 여건은 악화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경영전략 물관리 AI 전환, 안전 투자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재무여건 요금동결, 원가상승 등 수익성↓</a:t>
            </a:r>
          </a:p>
        </p:txBody>
      </p:sp>
      <p:sp>
        <p:nvSpPr>
          <p:cNvPr id="19" name="레일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K-water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재무특징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수익성 사업 외부영향多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부동산 경기-수변 매출, 유가, 강우량-에너지 매출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변수 극복, 신사업 확대 필요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다양한 사업 포트폴리오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요금(물공급), 정책(지방수도 등), 수익(재생e) 등 多사업 병행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사업별 맞춤형 관리 필요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지속적인 자본투자 요구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대규모 선투자·장기회수, 차입의존·4대강 우선상환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안정적 현금흐름 창출 필요</a:t>
            </a:r>
          </a:p>
        </p:txBody>
      </p:sp>
      <p:sp>
        <p:nvSpPr>
          <p:cNvPr id="26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재무지표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선 정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매출액 ‘투자 확대와 매출 성장 연계’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영업이익 ‘사업별 수익 구조 영향 반영’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부채비율, 순차입금/조정EBITDA ‘재무구조 안정성, 상환능력 반영’</a:t>
            </a:r>
          </a:p>
        </p:txBody>
      </p:sp>
      <p:sp>
        <p:nvSpPr>
          <p:cNvPr id="32" name="레일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목표설정</a:t>
            </a:r>
          </a:p>
        </p:txBody>
      </p:sp>
      <p:sp>
        <p:nvSpPr>
          <p:cNvPr id="33" name="배너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변화된 사업 여건 및 주요 재무지표 장기 추세분석으로 ‘적정 목표 수준’ 도출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매출액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영업이익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부채비율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순차입금/조정EBITDA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성장성 매출액 47,929억원: 기존·신규사업 조화 성장 반영 도전적 목표 설정 (’24년 4.5조원 → ’25년 4.8조원)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안정성 부채비율 98.1%: 고강도 자구노력 반영 100% 이하 유지 목표 (98.4% → 98.1%)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수익성 영업이익 1,869억원: 수익성 악화 재무 여건 반영 목표 재설정 (3,662억원 → 1,869억원)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현금흐름 순차입금/조정EBITDA 6.6 이하: 투자 확대 대응 위한 현금 기반 차입 한도 준수 (5.8 → 6.6)</a:t>
            </a:r>
          </a:p>
        </p:txBody>
      </p:sp>
      <p:sp>
        <p:nvSpPr>
          <p:cNvPr id="44" name="레일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추진과제</a:t>
            </a:r>
          </a:p>
        </p:txBody>
      </p:sp>
      <p:sp>
        <p:nvSpPr>
          <p:cNvPr id="45" name="머리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매출 확대 및 다각화</a:t>
            </a:r>
          </a:p>
        </p:txBody>
      </p:sp>
      <p:sp>
        <p:nvSpPr>
          <p:cNvPr id="46" name="머리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사업별 손익 개선·효율화</a:t>
            </a:r>
          </a:p>
        </p:txBody>
      </p:sp>
      <p:sp>
        <p:nvSpPr>
          <p:cNvPr id="47" name="머리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❸ 현금흐름 안정성 강화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수변·재생e 매출 조기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AI·DT 물관리 기술 수출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고품질 용수공급 업역 확대</a:t>
            </a:r>
          </a:p>
        </p:txBody>
      </p:sp>
      <p:sp>
        <p:nvSpPr>
          <p:cNvPr id="49" name="칸 본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요금사업 생산원가 절감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정책사업 국고 확보 반영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해외사업 리스크관리 강화</a:t>
            </a:r>
          </a:p>
        </p:txBody>
      </p:sp>
      <p:sp>
        <p:nvSpPr>
          <p:cNvPr id="51" name="칸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총사업비 관리 최적화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현금흐름 영향 검토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투자연계 차입 만기 개선</a:t>
            </a:r>
          </a:p>
        </p:txBody>
      </p:sp>
      <p:sp>
        <p:nvSpPr>
          <p:cNvPr id="53" name="레일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실행체계</a:t>
            </a:r>
          </a:p>
        </p:txBody>
      </p:sp>
      <p:sp>
        <p:nvSpPr>
          <p:cNvPr id="55" name="단계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P 재무목표 수립</a:t>
            </a:r>
          </a:p>
        </p:txBody>
      </p:sp>
      <p:sp>
        <p:nvSpPr>
          <p:cNvPr id="56" name="단계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D 목표달성 이행</a:t>
            </a:r>
          </a:p>
        </p:txBody>
      </p:sp>
      <p:sp>
        <p:nvSpPr>
          <p:cNvPr id="57" name="단계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C 모니터링</a:t>
            </a:r>
          </a:p>
        </p:txBody>
      </p:sp>
      <p:sp>
        <p:nvSpPr>
          <p:cNvPr id="58" name="단계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 이행평가·환류</a:t>
            </a:r>
          </a:p>
        </p:txBody>
      </p:sp>
      <p:sp>
        <p:nvSpPr>
          <p:cNvPr id="62" name="칸 본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사업·본부 목표 설정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이사회, 전사경영회의</a:t>
            </a:r>
          </a:p>
        </p:txBody>
      </p:sp>
      <p:sp>
        <p:nvSpPr>
          <p:cNvPr id="63" name="칸 본문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과제발굴 및 이행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재무혁신TF, 부문장회의</a:t>
            </a:r>
          </a:p>
        </p:txBody>
      </p:sp>
      <p:sp>
        <p:nvSpPr>
          <p:cNvPr id="65" name="칸 본문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과제 이행 점검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재무혁신TF, 부서장회의</a:t>
            </a:r>
          </a:p>
        </p:txBody>
      </p:sp>
      <p:sp>
        <p:nvSpPr>
          <p:cNvPr id="67" name="칸 본문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 평가 및 환류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내부평가</a:t>
            </a: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130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재무 목표 달성을 위한 맞춤형 개선과제 이행으로 초과 성과 창출</a:t>
            </a:r>
          </a:p>
        </p:txBody>
      </p:sp>
      <p:sp>
        <p:nvSpPr>
          <p:cNvPr id="9" name="번호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10" name="분야 박스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매출확대</a:t>
            </a:r>
          </a:p>
        </p:txBody>
      </p:sp>
      <p:sp>
        <p:nvSpPr>
          <p:cNvPr id="12" name="소제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혁신적 돌파구 마련으로 매출 확대 및 하이테크 수처리 사업 선도</a:t>
            </a:r>
          </a:p>
        </p:txBody>
      </p:sp>
      <p:sp>
        <p:nvSpPr>
          <p:cNvPr id="13" name="태그칩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5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기존사업 중심으로 지속 성장한 매출액 2년 연속 하락, 매출 정체 고착화 우려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기존사업 현안진단·개선 통한 매출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신규사업 高부가가치 미래형 매출 기반 발굴</a:t>
            </a:r>
          </a:p>
        </p:txBody>
      </p:sp>
      <p:sp>
        <p:nvSpPr>
          <p:cNvPr id="20" name="레일 태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기존사업</a:t>
            </a:r>
          </a:p>
        </p:txBody>
      </p:sp>
      <p:sp>
        <p:nvSpPr>
          <p:cNvPr id="21" name="레일 라벨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핵심사업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화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수변 고객 니즈 우선 대응으로 매출 증대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고객 맞춤 토지 이용계획 변경으로 사용 촉진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조기 토지 사용시 고객 부담 경감방안 시행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수변사업 역대 두 번째 최고 매출 1조원 달성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에너지 송전망 문제해결로 매출 조기 확보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임하 수상태양광 국내 최초 교차발전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주간 수상태양광-야간 수력 송전, 발전개시 5년 단축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매출 490억원(5년) 확보, 타사업 확장기능 모델 마련</a:t>
            </a:r>
          </a:p>
        </p:txBody>
      </p:sp>
      <p:sp>
        <p:nvSpPr>
          <p:cNvPr id="27" name="레일 태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신규사업</a:t>
            </a:r>
          </a:p>
        </p:txBody>
      </p:sp>
      <p:sp>
        <p:nvSpPr>
          <p:cNvPr id="28" name="레일 라벨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성장사업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 보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 新 비즈니스모델 활용 매출 다각화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AI·DT 디지털 물관리 기술 수출 본격화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日 나가이, 美 실리콘밸리 시범사업 개시, 보츠와나 통합물관리 사업 227억원 수주 등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산업용수 고품질 물 시장 新 업역 창출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초격차 기술 기반 물 공급 시장 선점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국내기업 최초 초순수 운영 개시(SK하이닉스), 국내 최대 해수담수화 준공(대산임해산업단지)</a:t>
            </a: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131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8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손익개선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사업별 맞춤형 개선으로 지속적 손익 개선 기반 구축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2" name="태그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요금 광역상수도사업</a:t>
            </a:r>
          </a:p>
        </p:txBody>
      </p:sp>
      <p:sp>
        <p:nvSpPr>
          <p:cNvPr id="16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정책 대행 및 수탁사업</a:t>
            </a:r>
          </a:p>
        </p:txBody>
      </p:sp>
      <p:sp>
        <p:nvSpPr>
          <p:cNvPr id="17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수익 해외사업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요금 동결, 원가급등으로 수익개선 구조적 한계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정책 필수 공공사업 수행 불구 낮은 대가 현실화율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수익 해외 주요 투자회사 일상적 재무리스크 노출</a:t>
            </a:r>
          </a:p>
        </p:txBody>
      </p:sp>
      <p:sp>
        <p:nvSpPr>
          <p:cNvPr id="23" name="레일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추진내용</a:t>
            </a:r>
          </a:p>
        </p:txBody>
      </p:sp>
      <p:sp>
        <p:nvSpPr>
          <p:cNvPr id="25" name="머리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운영혁신·원가절감</a:t>
            </a:r>
          </a:p>
        </p:txBody>
      </p:sp>
      <p:sp>
        <p:nvSpPr>
          <p:cNvPr id="26" name="머리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정부 재정 확대 반영</a:t>
            </a:r>
          </a:p>
        </p:txBody>
      </p:sp>
      <p:sp>
        <p:nvSpPr>
          <p:cNvPr id="27" name="머리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핵심 리스크 맞춤형 관리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AI물관리 확대(정수장~관망)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고효율설비 도입 원가 절감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현대화사업 수수료율 상향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유지관리비 적정 대가 반영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주요 사업 대상 분기별 재무성과 및 리스크 분석</a:t>
            </a:r>
          </a:p>
        </p:txBody>
      </p:sp>
      <p:sp>
        <p:nvSpPr>
          <p:cNvPr id="34" name="성과 라벨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5" name="성과 띠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단위당 전력사용 절감 · 생산원가 절감 · 수수료율 · 유지관리비 · 앙갓 흑자 · 파트린드 배당</a:t>
            </a:r>
          </a:p>
        </p:txBody>
      </p:sp>
      <p:sp>
        <p:nvSpPr>
          <p:cNvPr id="37" name="카드 문구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전력사용</a:t>
            </a:r>
          </a:p>
        </p:txBody>
      </p:sp>
      <p:sp>
        <p:nvSpPr>
          <p:cNvPr id="39" name="값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26</a:t>
            </a:r>
          </a:p>
        </p:txBody>
      </p:sp>
      <p:sp>
        <p:nvSpPr>
          <p:cNvPr id="40" name="연도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42" name="값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36</a:t>
            </a:r>
          </a:p>
        </p:txBody>
      </p:sp>
      <p:sp>
        <p:nvSpPr>
          <p:cNvPr id="43" name="연도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45" name="카드 문구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생산원가</a:t>
            </a:r>
          </a:p>
        </p:txBody>
      </p:sp>
      <p:sp>
        <p:nvSpPr>
          <p:cNvPr id="47" name="값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56</a:t>
            </a:r>
          </a:p>
        </p:txBody>
      </p:sp>
      <p:sp>
        <p:nvSpPr>
          <p:cNvPr id="48" name="연도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50" name="값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182</a:t>
            </a:r>
          </a:p>
        </p:txBody>
      </p:sp>
      <p:sp>
        <p:nvSpPr>
          <p:cNvPr id="51" name="연도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53" name="카드 문구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수수료율</a:t>
            </a:r>
          </a:p>
        </p:txBody>
      </p:sp>
      <p:sp>
        <p:nvSpPr>
          <p:cNvPr id="55" name="값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8%</a:t>
            </a:r>
          </a:p>
        </p:txBody>
      </p:sp>
      <p:sp>
        <p:nvSpPr>
          <p:cNvPr id="56" name="연도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58" name="값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12%</a:t>
            </a:r>
          </a:p>
        </p:txBody>
      </p:sp>
      <p:sp>
        <p:nvSpPr>
          <p:cNvPr id="59" name="연도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61" name="카드 문구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유지관리비</a:t>
            </a:r>
          </a:p>
        </p:txBody>
      </p:sp>
      <p:sp>
        <p:nvSpPr>
          <p:cNvPr id="63" name="값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601</a:t>
            </a:r>
          </a:p>
        </p:txBody>
      </p:sp>
      <p:sp>
        <p:nvSpPr>
          <p:cNvPr id="64" name="연도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66" name="값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647</a:t>
            </a:r>
          </a:p>
        </p:txBody>
      </p:sp>
      <p:sp>
        <p:nvSpPr>
          <p:cNvPr id="67" name="연도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’26</a:t>
            </a:r>
          </a:p>
        </p:txBody>
      </p:sp>
      <p:sp>
        <p:nvSpPr>
          <p:cNvPr id="69" name="카드 문구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앙갓</a:t>
            </a:r>
          </a:p>
        </p:txBody>
      </p:sp>
      <p:sp>
        <p:nvSpPr>
          <p:cNvPr id="71" name="값"/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139</a:t>
            </a:r>
          </a:p>
        </p:txBody>
      </p:sp>
      <p:sp>
        <p:nvSpPr>
          <p:cNvPr id="72" name="연도"/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74" name="값"/>
          <p:cNvSpPr>
            <a:spLocks noGrp="1"/>
          </p:cNvSpPr>
          <p:nvPr>
            <p:ph type="body" sz="quarter" idx="6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207</a:t>
            </a:r>
          </a:p>
        </p:txBody>
      </p:sp>
      <p:sp>
        <p:nvSpPr>
          <p:cNvPr id="75" name="연도"/>
          <p:cNvSpPr>
            <a:spLocks noGrp="1"/>
          </p:cNvSpPr>
          <p:nvPr>
            <p:ph type="body" sz="quarter" idx="6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77" name="카드 문구"/>
          <p:cNvSpPr>
            <a:spLocks noGrp="1"/>
          </p:cNvSpPr>
          <p:nvPr>
            <p:ph type="body" sz="quarter" idx="6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파트린드</a:t>
            </a:r>
          </a:p>
        </p:txBody>
      </p:sp>
      <p:sp>
        <p:nvSpPr>
          <p:cNvPr id="79" name="값"/>
          <p:cNvSpPr>
            <a:spLocks noGrp="1"/>
          </p:cNvSpPr>
          <p:nvPr>
            <p:ph type="body" sz="quarter" idx="6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538</a:t>
            </a:r>
          </a:p>
        </p:txBody>
      </p:sp>
      <p:sp>
        <p:nvSpPr>
          <p:cNvPr id="80" name="연도"/>
          <p:cNvSpPr>
            <a:spLocks noGrp="1"/>
          </p:cNvSpPr>
          <p:nvPr>
            <p:ph type="body" sz="quarter" idx="6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이익</a:t>
            </a:r>
          </a:p>
        </p:txBody>
      </p:sp>
      <p:sp>
        <p:nvSpPr>
          <p:cNvPr id="82" name="값"/>
          <p:cNvSpPr>
            <a:spLocks noGrp="1"/>
          </p:cNvSpPr>
          <p:nvPr>
            <p:ph type="body" sz="quarter" idx="6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133</a:t>
            </a:r>
          </a:p>
        </p:txBody>
      </p:sp>
      <p:sp>
        <p:nvSpPr>
          <p:cNvPr id="83" name="연도"/>
          <p:cNvSpPr>
            <a:spLocks noGrp="1"/>
          </p:cNvSpPr>
          <p:nvPr>
            <p:ph type="body" sz="quarter" idx="7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배당</a:t>
            </a: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132</a:t>
            </a:r>
          </a:p>
        </p:txBody>
      </p:sp>
      <p:sp>
        <p:nvSpPr>
          <p:cNvPr id="4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</a:t>
            </a:r>
          </a:p>
        </p:txBody>
      </p:sp>
      <p:sp>
        <p:nvSpPr>
          <p:cNvPr id="5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현금흐름</a:t>
            </a:r>
          </a:p>
        </p:txBody>
      </p:sp>
      <p:sp>
        <p:nvSpPr>
          <p:cNvPr id="7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현금흐름 안정성 제고로 중장기 재무리스크 선제적 관리</a:t>
            </a:r>
          </a:p>
        </p:txBody>
      </p:sp>
      <p:sp>
        <p:nvSpPr>
          <p:cNvPr id="8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1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대규모 자본 투자·장기 회수로 초기 투자 의사결정 및 자금조달·상환 관리 중요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추진내용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총사업비 최적화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투자-현금흐름 연계 관리</a:t>
            </a:r>
          </a:p>
        </p:txBody>
      </p:sp>
      <p:sp>
        <p:nvSpPr>
          <p:cNvPr id="16" name="머리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신규 차입 만기 조정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투자 효율성 강화를 위해 계획단계부터 사업비 절감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조정심사 566억원 절감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투자 조정 시 중장기 투자계획 연계 현금흐름 영향 분석 의무화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투자심사 사전 검토항목 제도화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투자~회수 장기간 소요 고려 수공채 장기물 발행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평균만기 3.8년(’24) → 6.9년(’25)</a:t>
            </a:r>
          </a:p>
        </p:txBody>
      </p:sp>
      <p:sp>
        <p:nvSpPr>
          <p:cNvPr id="23" name="성과 라벨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재무성과</a:t>
            </a:r>
          </a:p>
        </p:txBody>
      </p:sp>
      <p:sp>
        <p:nvSpPr>
          <p:cNvPr id="24" name="성과 띠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전사적 재무개선 노력을 통해 4개 핵심성과 全 재무지표 목표 초과 달성!</a:t>
            </a:r>
          </a:p>
        </p:txBody>
      </p:sp>
      <p:sp>
        <p:nvSpPr>
          <p:cNvPr id="26" name="카드 문구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매출액</a:t>
            </a:r>
          </a:p>
        </p:txBody>
      </p:sp>
      <p:sp>
        <p:nvSpPr>
          <p:cNvPr id="28" name="값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4.8</a:t>
            </a:r>
          </a:p>
        </p:txBody>
      </p:sp>
      <p:sp>
        <p:nvSpPr>
          <p:cNvPr id="29" name="연도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목표</a:t>
            </a:r>
          </a:p>
        </p:txBody>
      </p:sp>
      <p:sp>
        <p:nvSpPr>
          <p:cNvPr id="31" name="값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4.9</a:t>
            </a:r>
          </a:p>
        </p:txBody>
      </p:sp>
      <p:sp>
        <p:nvSpPr>
          <p:cNvPr id="32" name="연도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실적</a:t>
            </a:r>
          </a:p>
        </p:txBody>
      </p:sp>
      <p:sp>
        <p:nvSpPr>
          <p:cNvPr id="34" name="카드 문구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영업이익</a:t>
            </a:r>
          </a:p>
        </p:txBody>
      </p:sp>
      <p:sp>
        <p:nvSpPr>
          <p:cNvPr id="36" name="값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1869</a:t>
            </a:r>
          </a:p>
        </p:txBody>
      </p:sp>
      <p:sp>
        <p:nvSpPr>
          <p:cNvPr id="37" name="연도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목표</a:t>
            </a:r>
          </a:p>
        </p:txBody>
      </p:sp>
      <p:sp>
        <p:nvSpPr>
          <p:cNvPr id="39" name="값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2239</a:t>
            </a:r>
          </a:p>
        </p:txBody>
      </p:sp>
      <p:sp>
        <p:nvSpPr>
          <p:cNvPr id="40" name="연도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실적</a:t>
            </a:r>
          </a:p>
        </p:txBody>
      </p:sp>
      <p:sp>
        <p:nvSpPr>
          <p:cNvPr id="42" name="카드 문구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부채비율</a:t>
            </a:r>
          </a:p>
        </p:txBody>
      </p:sp>
      <p:sp>
        <p:nvSpPr>
          <p:cNvPr id="44" name="값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98.1%</a:t>
            </a:r>
          </a:p>
        </p:txBody>
      </p:sp>
      <p:sp>
        <p:nvSpPr>
          <p:cNvPr id="45" name="연도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목표</a:t>
            </a:r>
          </a:p>
        </p:txBody>
      </p:sp>
      <p:sp>
        <p:nvSpPr>
          <p:cNvPr id="47" name="값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92.7%</a:t>
            </a:r>
          </a:p>
        </p:txBody>
      </p:sp>
      <p:sp>
        <p:nvSpPr>
          <p:cNvPr id="48" name="연도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실적</a:t>
            </a:r>
          </a:p>
        </p:txBody>
      </p:sp>
      <p:sp>
        <p:nvSpPr>
          <p:cNvPr id="50" name="카드 문구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순차입금/EBITDA</a:t>
            </a:r>
          </a:p>
        </p:txBody>
      </p:sp>
      <p:sp>
        <p:nvSpPr>
          <p:cNvPr id="52" name="값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6.6</a:t>
            </a:r>
          </a:p>
        </p:txBody>
      </p:sp>
      <p:sp>
        <p:nvSpPr>
          <p:cNvPr id="53" name="연도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목표</a:t>
            </a:r>
          </a:p>
        </p:txBody>
      </p:sp>
      <p:sp>
        <p:nvSpPr>
          <p:cNvPr id="55" name="값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5.8</a:t>
            </a:r>
          </a:p>
        </p:txBody>
      </p:sp>
      <p:sp>
        <p:nvSpPr>
          <p:cNvPr id="56" name="연도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실적</a:t>
            </a: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133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전략목표·국정과제 실현을 위한 중장기(’25~’29년) 재무계획 수립</a:t>
            </a:r>
          </a:p>
        </p:txBody>
      </p:sp>
      <p:sp>
        <p:nvSpPr>
          <p:cNvPr id="13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정책 연계 투자, 일정 수준 수익성 및 안정성 구현으로 공기업 책임 실현</a:t>
            </a:r>
          </a:p>
        </p:txBody>
      </p:sp>
      <p:sp>
        <p:nvSpPr>
          <p:cNvPr id="14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비 전</a:t>
            </a:r>
          </a:p>
        </p:txBody>
      </p:sp>
      <p:sp>
        <p:nvSpPr>
          <p:cNvPr id="17" name="배너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기후위기를 극복하는 AI 물관리 세계1위 기업</a:t>
            </a:r>
          </a:p>
        </p:txBody>
      </p:sp>
      <p:sp>
        <p:nvSpPr>
          <p:cNvPr id="18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전략목표</a:t>
            </a:r>
          </a:p>
        </p:txBody>
      </p:sp>
      <p:sp>
        <p:nvSpPr>
          <p:cNvPr id="20" name="배너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새로운 물의 시대를 개척하는 기후위기 대응 솔루션 구현</a:t>
            </a:r>
          </a:p>
        </p:txBody>
      </p:sp>
      <p:sp>
        <p:nvSpPr>
          <p:cNvPr id="21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환경분석</a:t>
            </a:r>
          </a:p>
        </p:txBody>
      </p:sp>
      <p:sp>
        <p:nvSpPr>
          <p:cNvPr id="22" name="머리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S · O (강점·기회)</a:t>
            </a:r>
          </a:p>
        </p:txBody>
      </p:sp>
      <p:sp>
        <p:nvSpPr>
          <p:cNvPr id="23" name="머리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W · T (약점·위기)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강점 물관리 역량, AI 물관리 원천 기술 / AI정수장, DT 해외진출 등 글로벌 협력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기회 정책 투자 마중물 역할 수행 필요 / 첨단산단지원, 재생e, AI 투자 확대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약점 시설 노후화로 투자 수요 증가 및 유지 부담 / 장기 요금동결로 광역(상)사업 손실 전환(’23년~)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위기 공공부문 재무건전성 확보 요구 / 국민부담 완화를 위한 공공요금 동결 기조</a:t>
            </a:r>
          </a:p>
        </p:txBody>
      </p:sp>
      <p:sp>
        <p:nvSpPr>
          <p:cNvPr id="27" name="레일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 사 점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정책 연계 新성장 사업 투자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필수사업 수익성 개선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재무건전성 유지</a:t>
            </a:r>
          </a:p>
        </p:txBody>
      </p:sp>
      <p:sp>
        <p:nvSpPr>
          <p:cNvPr id="35" name="레일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기본방향</a:t>
            </a:r>
          </a:p>
        </p:txBody>
      </p:sp>
      <p:sp>
        <p:nvSpPr>
          <p:cNvPr id="36" name="배너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‘미래성장 투자 확대’ + ‘투자재원 확보를 위한 수익성 강화’ 노력 병행</a:t>
            </a:r>
          </a:p>
        </p:txBody>
      </p:sp>
      <p:sp>
        <p:nvSpPr>
          <p:cNvPr id="37" name="레일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중점사항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반 영</a:t>
            </a:r>
          </a:p>
        </p:txBody>
      </p:sp>
      <p:sp>
        <p:nvSpPr>
          <p:cNvPr id="39" name="머리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정책 연계 선도적 투자</a:t>
            </a:r>
          </a:p>
        </p:txBody>
      </p:sp>
      <p:sp>
        <p:nvSpPr>
          <p:cNvPr id="40" name="머리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자구노력 신규과제 반영</a:t>
            </a:r>
          </a:p>
        </p:txBody>
      </p:sp>
      <p:sp>
        <p:nvSpPr>
          <p:cNvPr id="41" name="머리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부채관리·재무건전성 유지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 전략 연계 반영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첨단산단, AI 등 우선 반영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국정과제·전사전략 연계 5개년 17.7조원 투자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고정단가계약 등 매출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低전력설비 등 원가절감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원가상승 압력 불구 연평균 영업이익 2,214억원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4대강 부채분담 의무이행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안정성 한도 내 투자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재무관리계획 5년 全기간 순차입금/조정EBITDA 10 이하</a:t>
            </a:r>
          </a:p>
        </p:txBody>
      </p:sp>
      <p:sp>
        <p:nvSpPr>
          <p:cNvPr id="47" name="레일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중 장 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재무목표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성장성 매출액(조원): ’25년 4.8 → ’29년 6.3 (연평균증가율 6.9%)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수익성 영업이익(억원): 1,869 → 3,432 (16.4%)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안정성 순차입금/조정EBITDA: 6.6 → 8.1 (全기간 10이하 유지)</a:t>
            </a:r>
          </a:p>
        </p:txBody>
      </p:sp>
      <p:sp>
        <p:nvSpPr>
          <p:cNvPr id="49" name="칸 본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수상태양광 투자 순차적 매출 실현, 투자 확대로 인한 민간투자매출 증대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 디지털설비 도입 원가절감, 재생e 시장가比 높은 고정단가계약 효과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총부채 증가에도 자구노력 관리 강화 * ’25년말 12.5조원 → ’29년말 18.0조원</a:t>
            </a:r>
          </a:p>
        </p:txBody>
      </p:sp>
      <p:sp>
        <p:nvSpPr>
          <p:cNvPr id="51" name="레일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이행점검</a:t>
            </a:r>
          </a:p>
        </p:txBody>
      </p:sp>
      <p:sp>
        <p:nvSpPr>
          <p:cNvPr id="53" name="머리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투자 예산집행 점검</a:t>
            </a:r>
          </a:p>
        </p:txBody>
      </p:sp>
      <p:sp>
        <p:nvSpPr>
          <p:cNvPr id="54" name="머리칸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 구분회계 월결산</a:t>
            </a:r>
          </a:p>
        </p:txBody>
      </p:sp>
      <p:sp>
        <p:nvSpPr>
          <p:cNvPr id="55" name="머리칸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리스크 중장기 위험 점검</a:t>
            </a:r>
          </a:p>
        </p:txBody>
      </p:sp>
      <p:sp>
        <p:nvSpPr>
          <p:cNvPr id="56" name="칸 본문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계획 기반 연도별 목표 설정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국정과제이행 TF 운영(’26~)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집행점검회의(’25년, 120회)</a:t>
            </a:r>
          </a:p>
        </p:txBody>
      </p:sp>
      <p:sp>
        <p:nvSpPr>
          <p:cNvPr id="57" name="칸 본문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재무목표 대비 실적점검 * 중장기재무계획 ’25년 전망 기준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부진시 개선과제 이행</a:t>
            </a:r>
          </a:p>
        </p:txBody>
      </p:sp>
      <p:sp>
        <p:nvSpPr>
          <p:cNvPr id="59" name="칸 본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4개 중장기 위험지표 설정 * 수도투자, 유가, 금리, 분양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반기 단위 점검·조치</a:t>
            </a: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134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新정부 국정과제를 충실히 반영한 확장적 투자계획 수립·확정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7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9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국정과제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반영체계</a:t>
            </a:r>
          </a:p>
        </p:txBody>
      </p:sp>
      <p:sp>
        <p:nvSpPr>
          <p:cNvPr id="10" name="단계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전사 전략 활동</a:t>
            </a:r>
          </a:p>
        </p:txBody>
      </p:sp>
      <p:sp>
        <p:nvSpPr>
          <p:cNvPr id="11" name="단계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중장기 전략과제 확정</a:t>
            </a:r>
          </a:p>
        </p:txBody>
      </p:sp>
      <p:sp>
        <p:nvSpPr>
          <p:cNvPr id="12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중장기재무관리계획 반영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First 전략기획단, 에너지 Reboot TF, 산업용수 활성화 TF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 제안·전략 반영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국정과제-전략과제 매칭: 39 에너지 / 44 반도체 / 72 노후관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태양광 · 산단물공급 · 시설안정화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전략과제별 투자액 부여: 태양광 0.8조원 / 산단물공급 1.0조원 / 시설안정화 3.7조원</a:t>
            </a:r>
          </a:p>
        </p:txBody>
      </p:sp>
      <p:sp>
        <p:nvSpPr>
          <p:cNvPr id="20" name="레일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투자계획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반영과정</a:t>
            </a:r>
          </a:p>
        </p:txBody>
      </p:sp>
      <p:sp>
        <p:nvSpPr>
          <p:cNvPr id="22" name="단계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최초안 19.0조원</a:t>
            </a:r>
          </a:p>
        </p:txBody>
      </p:sp>
      <p:sp>
        <p:nvSpPr>
          <p:cNvPr id="23" name="단계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안정성 관점 보완</a:t>
            </a:r>
          </a:p>
        </p:txBody>
      </p:sp>
      <p:sp>
        <p:nvSpPr>
          <p:cNvPr id="24" name="단계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최종안 17.7조원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전략과제 최우선 배정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타 사업 전년도 규모 유지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전년도 계획 최종연도 부채비율(’28년 108.8%) 수준 조정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전략과제 중심 투자 확정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우선순위 고려 사업조정</a:t>
            </a:r>
          </a:p>
        </p:txBody>
      </p:sp>
      <p:sp>
        <p:nvSpPr>
          <p:cNvPr id="32" name="레일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반영결과</a:t>
            </a:r>
          </a:p>
        </p:txBody>
      </p:sp>
      <p:sp>
        <p:nvSpPr>
          <p:cNvPr id="34" name="배너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전년도 계획(16.7조원) 대비 1.0조원 증가된 선택과 집중의 투자계획 수립</a:t>
            </a:r>
          </a:p>
        </p:txBody>
      </p:sp>
      <p:sp>
        <p:nvSpPr>
          <p:cNvPr id="35" name="머리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물공급·안전 등 9.3조원</a:t>
            </a:r>
          </a:p>
        </p:txBody>
      </p:sp>
      <p:sp>
        <p:nvSpPr>
          <p:cNvPr id="36" name="머리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재생에너지 2.0조원</a:t>
            </a:r>
          </a:p>
        </p:txBody>
      </p:sp>
      <p:sp>
        <p:nvSpPr>
          <p:cNvPr id="37" name="머리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수변·해외사업 6.4조원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AI·DT 활용 물관리, 첨단산단 물 공급, 노후 인프라 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전년도 계획 대비 +0.2조원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댐수면 활용 수상태양광, 지역개발 신규조력 추진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전년도 계획 대비 +1.3조원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 기술수출 중심 변경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연차별 투자계획 조정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전년도 계획 대비 △0.5조원</a:t>
            </a: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135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 전년도 대비 변동사항 반영 및 시나리오 분석을 통한 적정 재무목표 수립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변동사항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반 영</a:t>
            </a:r>
          </a:p>
        </p:txBody>
      </p:sp>
      <p:sp>
        <p:nvSpPr>
          <p:cNvPr id="12" name="머리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전년도 계획 대비 거시환경 변화</a:t>
            </a:r>
          </a:p>
        </p:txBody>
      </p:sp>
      <p:sp>
        <p:nvSpPr>
          <p:cNvPr id="13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’24년도 계획 대비 실적 차이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유가 하락 반영 발전판매단가 조정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기준금리 인하 반영 발행금리 조정(0.25%p↓)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차입금 등 총부채 0.3조원 증가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수변매출계획·실적차이 반영 조정</a:t>
            </a:r>
          </a:p>
        </p:txBody>
      </p:sp>
      <p:sp>
        <p:nvSpPr>
          <p:cNvPr id="17" name="레일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지표별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시나리오</a:t>
            </a:r>
          </a:p>
        </p:txBody>
      </p:sp>
      <p:sp>
        <p:nvSpPr>
          <p:cNvPr id="19" name="배너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“거시환경에 따라 재무영향이 큰 핵심 변동지표 도출 및 복합 시나리오 분석”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물가: 전력요금 인상 ➡ 수도생산원가 상승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전력비(원/kW) 낙관 동결 / 현실 동결 / 비관 10%↑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공공요금: 물요금 동결 지속 ➡ 물공급 매출 정체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수도요금(원/㎥) 낙관 10%↑ / 현실 동결 / 비관 동결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유가: 발전판매가 하락 ➡ 에너지 수익 감소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국제유가(’26년 $/배럴) 낙관 82 / 현실 64 / 비관 58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부동산 경기: 미분양, 연체 증가 ➡ 수변 수납 부진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분양수납액(5년) 낙관 10%↑ / 현실 사업계획 / 비관 10%↓</a:t>
            </a:r>
          </a:p>
        </p:txBody>
      </p:sp>
      <p:sp>
        <p:nvSpPr>
          <p:cNvPr id="27" name="레일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재무목표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산 출</a:t>
            </a:r>
          </a:p>
        </p:txBody>
      </p:sp>
      <p:sp>
        <p:nvSpPr>
          <p:cNvPr id="28" name="머리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낙관</a:t>
            </a:r>
          </a:p>
        </p:txBody>
      </p:sp>
      <p:sp>
        <p:nvSpPr>
          <p:cNvPr id="29" name="머리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현실</a:t>
            </a:r>
          </a:p>
        </p:txBody>
      </p:sp>
      <p:sp>
        <p:nvSpPr>
          <p:cNvPr id="30" name="머리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비관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매출액(조원) ’25 4.8 → ’29 6.6 / 영업이익(억원) 1,869 → 5,824 / 순차입금/조정EBITDA 6.6 → 6.5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현실(재무목표) 4.8 → 6.3 / 1,869 → 3,432 / 6.6 → 8.1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비관 4.8 → 6.2 / 1,869 → 1,658 / 6.6 → 9.6</a:t>
            </a:r>
          </a:p>
        </p:txBody>
      </p:sp>
      <p:sp>
        <p:nvSpPr>
          <p:cNvPr id="36" name="레일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재무목표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활용 등</a:t>
            </a:r>
          </a:p>
        </p:txBody>
      </p:sp>
      <p:sp>
        <p:nvSpPr>
          <p:cNvPr id="38" name="배너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‘고물가 등 악조건에서도 공기업 책임 실현 위한 확장적 투자·매출계획 수립’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전년도 계획대비 상향된 재무목표 수립: 매출액(연평균) 5.1조 → 5.6조원, 영업이익(연평균) 1,989 → 2,214억원, 투자금액(5년) 16.7 → 17.7조원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재무계획 적정성 증대, 전방위 활용: 성과관리 중장기재무관리계획 수립연도 재무목표 → 관리 목표로 활용 / 계획활용 관리·투자예산, 자금·자산계획 수립 및 요금 원가전망 등 활용</a:t>
            </a: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136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자구 노력 발굴 확대·중점 이행으로 중장기 재무 목표 실현 촉진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실효성 높은 개선 과제 중심 자구계획 수립 및 추가 개선방안 마련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사업조정에 집행예정액 이연과 자체 절감 구분, 이연 시 장기부채 관리 필요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자구계획에 예정액 이연과 자체 절감 분리, 투자재원 확보 위한 추가 노력 필요</a:t>
            </a:r>
          </a:p>
        </p:txBody>
      </p:sp>
      <p:sp>
        <p:nvSpPr>
          <p:cNvPr id="17" name="레일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기본방향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중장기(’25~’29) 재무관리계획 반영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중장기 수익성 추가 개선 노력 + α</a:t>
            </a:r>
          </a:p>
        </p:txBody>
      </p:sp>
      <p:sp>
        <p:nvSpPr>
          <p:cNvPr id="22" name="레일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매출증대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판매량 증대·고단가 판매 노력 0.2조원: 신규 재생e 고정단가계약(PPA) 체결로 시장거래比 초과 매출 증대 0.1조원↑ / 신규고객 발굴 등 수도매출 728억원↑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미래 매출 확대 노력: 대수력 PPA 최초 체결(1개소), 확대 예정 / 수변 토지계획 변경(원가성 → 수익성)으로 미래 매출 1.3조원 증가(송산GC 등)</a:t>
            </a:r>
          </a:p>
        </p:txBody>
      </p:sp>
      <p:sp>
        <p:nvSpPr>
          <p:cNvPr id="26" name="레일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이익개선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생산원가·경상경비 저감 노력 0.1조원: 신규 고효율설비, AI 도입 물원가 △0.1조원 / 목표부여·점검 통한 경상경비 △497억원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원가보전 위한 수탁 대가 증액 노력: 현대화사업 수수료 추가 반영(’24~, 516억원↑) / 댐유지관리비 정부예산 46억원/연 증액</a:t>
            </a:r>
          </a:p>
        </p:txBody>
      </p:sp>
      <p:sp>
        <p:nvSpPr>
          <p:cNvPr id="30" name="레일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자산수익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SOC 투자비 회수 위한 판매 등 0.4조원: 아라뱃길 투자비 보전 위한 항만시설 관리권(666억원/연), 배후부지 분양 회수액 등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 투자 회수 노력: 분기별 재무분석, 국가위험 대응 강화로 파트린드 배당 실현(133억원), 지속 회수 기반 마련</a:t>
            </a:r>
          </a:p>
        </p:txBody>
      </p:sp>
      <p:sp>
        <p:nvSpPr>
          <p:cNvPr id="35" name="레일 태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평가지적</a:t>
            </a:r>
          </a:p>
        </p:txBody>
      </p:sp>
      <p:sp>
        <p:nvSpPr>
          <p:cNvPr id="36" name="레일 라벨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사업조정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평 가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자체 조정심사 통한 사업비 감액 0.6조원: 신규 수변지구(송산) 총사업비 조정심사 감축 반영(요청 11.7조원 → 조정결과 11.1조원)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 투자기간·금액 현실화: 수변사업 등 연차별 투자계획 조정(1.3조원) * 순차입금/조정EBITDA 한도 기준 부채관리 중</a:t>
            </a:r>
          </a:p>
        </p:txBody>
      </p:sp>
      <p:sp>
        <p:nvSpPr>
          <p:cNvPr id="40" name="레일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기대효과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자구노력 1.3조원 당기 재무계획 반영, 전략과제 이행 투자 재원으로 활용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차기 중장기 재무계획 수익성·안정성 지표 개선으로 투자 확대 가능</a:t>
            </a: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137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어려운 대내·외 여건에도 강도 높은 자구노력으로 ’25년 목표 초과 달성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0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계획대비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실적차이</a:t>
            </a:r>
          </a:p>
        </p:txBody>
      </p:sp>
      <p:sp>
        <p:nvSpPr>
          <p:cNvPr id="13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지표명 · ’25(목표)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재무혁신TF 과제 이행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’25(실적) · 차이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성장성 매출액(억원) 47,929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수익성 영업이익(억원) 1,869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안정성 순차입금/조정EBITDA 6.6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수변 수익성 용지 매출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재생e 강우량 활용 24시간 발전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관리비 예산 통제 통한 집행관리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49,152 (차이 1,223, 2.6%)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2,239 (차이 370, 19.8%)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5.8 (차이 △0.8, △12.1%)</a:t>
            </a:r>
          </a:p>
        </p:txBody>
      </p:sp>
      <p:sp>
        <p:nvSpPr>
          <p:cNvPr id="23" name="레일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류</a:t>
            </a:r>
          </a:p>
        </p:txBody>
      </p:sp>
      <p:sp>
        <p:nvSpPr>
          <p:cNvPr id="24" name="배너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계획-실적 차이 분석으로 차년도 중장기재무관리계획 피드백</a:t>
            </a:r>
          </a:p>
        </p:txBody>
      </p:sp>
      <p:sp>
        <p:nvSpPr>
          <p:cNvPr id="25" name="단계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주요 차이 원인</a:t>
            </a:r>
          </a:p>
        </p:txBody>
      </p:sp>
      <p:sp>
        <p:nvSpPr>
          <p:cNvPr id="26" name="단계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피드백 사항</a:t>
            </a:r>
          </a:p>
        </p:txBody>
      </p:sp>
      <p:sp>
        <p:nvSpPr>
          <p:cNvPr id="27" name="단계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차기 재무계획 롤링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재무성과: 수변 매출확대 노력 등으로 1,412억원↑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재무상태: 솔로몬SPC 건설 집행·차입 지연 등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수변 필지 조기 인식 → 차기 매출 계획 조정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댐개발 일부 공정 이연 * 계획-결산 부채 차이 527억원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수변 매출 목표 및 관련 영업부채 조정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공정지연 → 연결기준 차입금 감액 반영</a:t>
            </a: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138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경영평가단 지적사항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1" name="머리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지적사항</a:t>
            </a:r>
          </a:p>
        </p:txBody>
      </p:sp>
      <p:sp>
        <p:nvSpPr>
          <p:cNvPr id="12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조치 및 개선실적</a:t>
            </a:r>
          </a:p>
        </p:txBody>
      </p:sp>
      <p:sp>
        <p:nvSpPr>
          <p:cNvPr id="13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개선효과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성과관리 만족도조사의 대표성 제고 및 종합적 피드백 확보 필요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노사공동 TF 운영, 설명회 개최 등을 통해 직원 관심도 제고 및 제도 개선 직원 의견수렴 강화 ▶ p.94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응답률 및 만족도 상승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응답률 27.4 → 33.8%(6.4%p↑)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만족도 80.1 → 81.3점(1.2점↑)</a:t>
            </a:r>
          </a:p>
        </p:txBody>
      </p:sp>
      <p:sp>
        <p:nvSpPr>
          <p:cNvPr id="19" name="레일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정량적 교육성과 측정 기반 경력개발 연계형 성과환류시스템 구축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직무별 역량과 수준 진단, 결과에 기반한 맞춤형 경력개발 교육과정 추천체계 마련 ▶ p.95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신뢰경영지수 ‘교육 경력개발’ 상승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’24년 89점 → ’25년 93점, 4점↑</a:t>
            </a:r>
          </a:p>
        </p:txBody>
      </p:sp>
      <p:sp>
        <p:nvSpPr>
          <p:cNvPr id="26" name="레일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정체된 인사·복지 만족도 개선방안 마련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공정성을 강화한 新승진제도(시험) 도입, 노사공동 전보제도 설계, 가족愛 행복캠프 실시 등 체감형 인사·복지제도 개선 ▶ p.99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역대최고 인사만족도(77.9점), 복지만족도(4.21점) 달성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신뢰경영지수(인사·복지) 상승 * 승진 공정성 7점↑, 인프라 4점↑</a:t>
            </a: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139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K-water 강점 기반, 국정목표 달성 리딩을 위한 조직 재정렬</a:t>
            </a:r>
          </a:p>
        </p:txBody>
      </p:sp>
      <p:sp>
        <p:nvSpPr>
          <p:cNvPr id="12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비 전</a:t>
            </a:r>
          </a:p>
        </p:txBody>
      </p:sp>
      <p:sp>
        <p:nvSpPr>
          <p:cNvPr id="15" name="배너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기후위기 대응을 선도하는 글로벌 물기업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전략목표</a:t>
            </a:r>
          </a:p>
        </p:txBody>
      </p:sp>
      <p:sp>
        <p:nvSpPr>
          <p:cNvPr id="18" name="배너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새로운 물의 시대를 개척하는 기후위기 대응 솔루션 구현(2030년 AI 물관리 세계 1위 기업)</a:t>
            </a:r>
          </a:p>
        </p:txBody>
      </p:sp>
      <p:sp>
        <p:nvSpPr>
          <p:cNvPr id="19" name="레일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전략방향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특화 안전 최우선 경영 + AI First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사업·기능 국민·자연을 위한 기후안전망 강화 / 하이테크 기반의 물서비스 확대 / 재생에너지 확대 녹색도시 조성 / 물관리 해외수출 기후테크 육성 / 세계 최고 수준의 ESG 혁신경영 구현</a:t>
            </a:r>
          </a:p>
        </p:txBody>
      </p:sp>
      <p:sp>
        <p:nvSpPr>
          <p:cNvPr id="25" name="캡션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【 【국정과제 중심의 전략체계 재정립을 토대로 조직진단 성과·분석 결과를 반영하여 조직 재설계】 】</a:t>
            </a:r>
          </a:p>
        </p:txBody>
      </p:sp>
      <p:sp>
        <p:nvSpPr>
          <p:cNvPr id="27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조직진단</a:t>
            </a:r>
          </a:p>
        </p:txBody>
      </p:sp>
      <p:sp>
        <p:nvSpPr>
          <p:cNvPr id="28" name="배너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 공동으로 건전한 토론과 협의를 통해 최적 조직개편방안 모색</a:t>
            </a:r>
          </a:p>
        </p:txBody>
      </p:sp>
      <p:sp>
        <p:nvSpPr>
          <p:cNvPr id="29" name="단계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희망 숲부서 방문</a:t>
            </a:r>
          </a:p>
        </p:txBody>
      </p:sp>
      <p:sp>
        <p:nvSpPr>
          <p:cNvPr id="30" name="단계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노사공동 조직발전TF 운영</a:t>
            </a:r>
          </a:p>
        </p:txBody>
      </p:sp>
      <p:sp>
        <p:nvSpPr>
          <p:cNvPr id="31" name="단계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직원 의견수렴</a:t>
            </a:r>
          </a:p>
        </p:txBody>
      </p:sp>
      <p:sp>
        <p:nvSpPr>
          <p:cNvPr id="32" name="단계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계획수립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노사공동 방문 진단(87개)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AI·안전·에너지·건설 등 직무 전문가 인터뷰, 심층토론(7회)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全직원 설문(2회)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전사 설명회(5회)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중기 조직·인력운용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단기 조직개편(안)</a:t>
            </a:r>
          </a:p>
        </p:txBody>
      </p:sp>
      <p:sp>
        <p:nvSpPr>
          <p:cNvPr id="43" name="레일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주요의견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미래성장동력 발굴·신속 대응(컨트롤타워 구축·역량 집중)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국정과제 이행 전담조직 권한·역할·책임 명확화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 이행·현장작동성 중심 효율적 인력배분</a:t>
            </a:r>
          </a:p>
        </p:txBody>
      </p:sp>
      <p:sp>
        <p:nvSpPr>
          <p:cNvPr id="51" name="태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52" name="캡션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‘미래성장 리딩을 위한 전략적 대응’과 ‘실행 중심 민첩대응’의 양손잡이 조직 설계</a:t>
            </a:r>
          </a:p>
        </p:txBody>
      </p:sp>
      <p:sp>
        <p:nvSpPr>
          <p:cNvPr id="54" name="레일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추진방향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실행과제</a:t>
            </a:r>
          </a:p>
        </p:txBody>
      </p:sp>
      <p:sp>
        <p:nvSpPr>
          <p:cNvPr id="55" name="머리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미래성장동력 드라이브</a:t>
            </a:r>
          </a:p>
        </p:txBody>
      </p:sp>
      <p:sp>
        <p:nvSpPr>
          <p:cNvPr id="56" name="머리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핵심기능 실행력 확보</a:t>
            </a:r>
          </a:p>
        </p:txBody>
      </p:sp>
      <p:sp>
        <p:nvSpPr>
          <p:cNvPr id="57" name="머리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최적 인력 운영</a:t>
            </a:r>
          </a:p>
        </p:txBody>
      </p:sp>
      <p:sp>
        <p:nvSpPr>
          <p:cNvPr id="58" name="칸 본문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총괄 컨트롤타워 신설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재생에너지 조직 대폭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첨단산업 물수요 적기 대응</a:t>
            </a:r>
          </a:p>
        </p:txBody>
      </p:sp>
      <p:sp>
        <p:nvSpPr>
          <p:cNvPr id="59" name="칸 본문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안전관리 실행체계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해외사업 R&amp;R 정립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이슈 연계형 전담조직 운영</a:t>
            </a:r>
          </a:p>
        </p:txBody>
      </p:sp>
      <p:sp>
        <p:nvSpPr>
          <p:cNvPr id="61" name="칸 본문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끊임없는 인력제도 혁신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최적 인력자원 배분관리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시스템 기반 조직관리 정착</a:t>
            </a:r>
          </a:p>
        </p:txBody>
      </p:sp>
      <p:sp>
        <p:nvSpPr>
          <p:cNvPr id="63" name="레일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조직인력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운영방향</a:t>
            </a:r>
          </a:p>
        </p:txBody>
      </p:sp>
      <p:sp>
        <p:nvSpPr>
          <p:cNvPr id="65" name="배너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중장기 조직·인력 운영방향</a:t>
            </a:r>
          </a:p>
        </p:txBody>
      </p:sp>
      <p:sp>
        <p:nvSpPr>
          <p:cNvPr id="66" name="단계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단기(’25~’27) ~’27 6,596명</a:t>
            </a:r>
          </a:p>
        </p:txBody>
      </p:sp>
      <p:sp>
        <p:nvSpPr>
          <p:cNvPr id="67" name="단계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중기(’28~’30) ~’30 6,747명</a:t>
            </a:r>
          </a:p>
        </p:txBody>
      </p:sp>
      <p:sp>
        <p:nvSpPr>
          <p:cNvPr id="68" name="단계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장기(’30~’33) ~’33 6,850명</a:t>
            </a:r>
          </a:p>
        </p:txBody>
      </p:sp>
      <p:sp>
        <p:nvSpPr>
          <p:cNvPr id="71" name="칸 본문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초순수·첨단용수 지원기반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시장진출 기반 조성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보강 거점 건설전담조직 집중 / 효율화 수도 AX, DX전환 돌입</a:t>
            </a:r>
          </a:p>
        </p:txBody>
      </p:sp>
      <p:sp>
        <p:nvSpPr>
          <p:cNvPr id="72" name="칸 본문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재생에너지 등 업무역량 결집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민관협력 글로벌시장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보강 반도체용수 2단계 착공 / 효율화 AI 완전 자율화 3단계 달성</a:t>
            </a:r>
          </a:p>
        </p:txBody>
      </p:sp>
      <p:sp>
        <p:nvSpPr>
          <p:cNvPr id="74" name="칸 본문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유역단위 시설 운영 최적화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글로벌사업 안착, 新사업 발굴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보강 新사업분야 발굴, 운영 / 효율화 기존사업 통합 운영</a:t>
            </a: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140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3대 전사 TF 기반 과감한 조직 정비를 통한 미래 준비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전사TF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운 영</a:t>
            </a:r>
          </a:p>
        </p:txBody>
      </p:sp>
      <p:sp>
        <p:nvSpPr>
          <p:cNvPr id="11" name="배너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AX와 녹색전환을 핵심 성장동력으로 설정, 3대 미래분야 전사TF를 선제 운영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First 전략기획단(6월~) / AI+Water 글로벌 모델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목표 2030 AI 물관리 글로벌 1위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물에너지 Re:boot TF(3월~) / 국가 탄소중립과 기업 RE100 달성 기여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목표 2030 재생e 10GW 개발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산업용수 활성화 TF(3월~) / 맞춤형 첨단용수 공급망 AtoZ 스피드업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목표 2030 일 87만㎥ 선제 공급</a:t>
            </a:r>
          </a:p>
        </p:txBody>
      </p:sp>
      <p:sp>
        <p:nvSpPr>
          <p:cNvPr id="17" name="배너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미래성장분야 2030 목표 달성 이행을 위해 실행조직 신속 정비</a:t>
            </a: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141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2020년부터 선도적으로 준비한 ‘AI 물관리 성과’ 본격 확산체계 마련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0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AI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FIRST</a:t>
            </a:r>
          </a:p>
        </p:txBody>
      </p:sp>
      <p:sp>
        <p:nvSpPr>
          <p:cNvPr id="13" name="태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정책</a:t>
            </a:r>
          </a:p>
        </p:txBody>
      </p:sp>
      <p:sp>
        <p:nvSpPr>
          <p:cNvPr id="14" name="태그 설명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3대 강국 도약(AX 통한 新산업 창출) ➡ 전략 AI+Water 분야 선점(물순환 全과정 AX 본격화)</a:t>
            </a:r>
          </a:p>
        </p:txBody>
      </p:sp>
      <p:sp>
        <p:nvSpPr>
          <p:cNvPr id="15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전담 실행조직 신설·강화</a:t>
            </a:r>
          </a:p>
        </p:txBody>
      </p:sp>
      <p:sp>
        <p:nvSpPr>
          <p:cNvPr id="16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유기적 AI 조직체계 구축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총괄 AI 본부 신설, 3처 7부(部) 구성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1단계/기반구축 디지털전환추진단 → 2단계/성과확산 AI 추진단 → 3단계/핵심화 AI 본부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AI혁신처 기획·정책지원 / 디지털관리처 정보시스템 관리 / AI데이터센터 데이터 총괄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연구 AI연구센터(’21~)를 연구소(부서)로 격상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총괄(본부) - 연구 - 도메인(현장) 협업체계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AI전환 총괄, 전사 전략화: AI 본부 ↔ AI 연구소(핵심기술 R&amp;D, 기술현안 검증)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보유기술 확산·사업화 ↔ 도메인조직(사업부문, 현장부서) ↔ 현장작동성·이슈 도출</a:t>
            </a:r>
          </a:p>
        </p:txBody>
      </p:sp>
      <p:sp>
        <p:nvSpPr>
          <p:cNvPr id="22" name="핵심성과 라벨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23" name="핵심성과 문구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공공부문(환경분야) AX 선도기관 지정(10월) 및 AI정수장 국제인증 등 AI 대전환 가속화</a:t>
            </a: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142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사각지대 없는 인력배분으로 정책·전략 실행기반 강화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부단한 인력운영제도 혁신으로 한정된 자원의 최적 활용 도모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2" name="태그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반도체 용수공급, 초순수 및 AI·DT 등 물공급 안전망 확보 중심의 인력배분 필요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자체 인력운영 혁신방안 활용, 국정과제, 경영전략 변경 중심으로 인력자원 재배분</a:t>
            </a:r>
          </a:p>
        </p:txBody>
      </p:sp>
      <p:sp>
        <p:nvSpPr>
          <p:cNvPr id="18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실행방향</a:t>
            </a:r>
          </a:p>
        </p:txBody>
      </p:sp>
      <p:sp>
        <p:nvSpPr>
          <p:cNvPr id="20" name="태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실행방향</a:t>
            </a:r>
          </a:p>
        </p:txBody>
      </p:sp>
      <p:sp>
        <p:nvSpPr>
          <p:cNvPr id="21" name="태그 설명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정책·전략 이행에 방점을 둔 안정적 인력 확보 및 최적 자원 배분</a:t>
            </a:r>
          </a:p>
        </p:txBody>
      </p:sp>
      <p:sp>
        <p:nvSpPr>
          <p:cNvPr id="22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최적의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인력자원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재배분</a:t>
            </a:r>
          </a:p>
        </p:txBody>
      </p:sp>
      <p:sp>
        <p:nvSpPr>
          <p:cNvPr id="24" name="배너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자체 인력운영제도 중심 재배치 자원 145명 확보 (’24년 123명 대비 118%)</a:t>
            </a:r>
          </a:p>
        </p:txBody>
      </p:sp>
      <p:sp>
        <p:nvSpPr>
          <p:cNvPr id="25" name="단계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’23 한시정원 +21명</a:t>
            </a:r>
          </a:p>
        </p:txBody>
      </p:sp>
      <p:sp>
        <p:nvSpPr>
          <p:cNvPr id="26" name="단계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 직렬정원탄력 +55명</a:t>
            </a:r>
          </a:p>
        </p:txBody>
      </p:sp>
      <p:sp>
        <p:nvSpPr>
          <p:cNvPr id="27" name="단계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 가변통합정원 +40명</a:t>
            </a:r>
          </a:p>
        </p:txBody>
      </p:sp>
      <p:sp>
        <p:nvSpPr>
          <p:cNvPr id="28" name="단계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기존 효율화 +29명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기한설정 정원 부여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00댐건설(’15~’25) 등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직무수요 변화 기반 정원 조정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탄력적 직렬 조정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3~5급 가변정원 확대 1.0 → 1.5%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현안 시 수시 재배치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현장건설기능 통합 감독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한강 동부 △7(43→36) / 금강 남부 △9(35→26) / 낙동강 북/남부 △13(54→41)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정책이행(28명): 자연성회복 추진(17명) * 취·양수장 시설개선 / 재생e 보급 확대(11명) * 녹색전환, RE100 달성기여</a:t>
            </a:r>
          </a:p>
        </p:txBody>
      </p:sp>
      <p:sp>
        <p:nvSpPr>
          <p:cNvPr id="40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전략실행(60명): AI 전환동력 확보(13명) / 안전수행인력 보강(13명) / 반도체 용수 공급(34명) * 용인·고덕산단 전담조직 신설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현안대응(57명): 건설사업인력 최대 확보(37명) * 최적사업추진 동력 마련 / 노무관리, 정보보안 등(20명) * 현안대응 및 현장 실행력 보강</a:t>
            </a:r>
          </a:p>
        </p:txBody>
      </p:sp>
      <p:sp>
        <p:nvSpPr>
          <p:cNvPr id="45" name="핵심성과 라벨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6" name="핵심성과 문구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내부 인력운영제도 혁신을 통한 역대 최대 재배치 달성으로 인력 소요 대응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내부혁신 성과를 인정받아 AI물관리, 첨단용수공급 등 정책드라이브 정부증원 39명</a:t>
            </a: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143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해가 갈수록 쌓이는 조직업무시스템 데이터와 신뢰도, 이제는 경영에 필수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조직업무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시스템</a:t>
            </a:r>
          </a:p>
        </p:txBody>
      </p:sp>
      <p:sp>
        <p:nvSpPr>
          <p:cNvPr id="12" name="배너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조직관리 全과정을 표준화하여 활용하는 K-water만의 혁신 시스템</a:t>
            </a:r>
          </a:p>
        </p:txBody>
      </p:sp>
      <p:sp>
        <p:nvSpPr>
          <p:cNvPr id="13" name="단계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조직 분석(사업·조직유형별 투입인력)</a:t>
            </a:r>
          </a:p>
        </p:txBody>
      </p:sp>
      <p:sp>
        <p:nvSpPr>
          <p:cNvPr id="14" name="단계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조직개편 수요조사</a:t>
            </a:r>
          </a:p>
        </p:txBody>
      </p:sp>
      <p:sp>
        <p:nvSpPr>
          <p:cNvPr id="15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검토·환류</a:t>
            </a:r>
          </a:p>
        </p:txBody>
      </p:sp>
      <p:sp>
        <p:nvSpPr>
          <p:cNvPr id="16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조직개편</a:t>
            </a:r>
          </a:p>
        </p:txBody>
      </p:sp>
      <p:sp>
        <p:nvSpPr>
          <p:cNvPr id="27" name="단계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 분석(489개 직위, 268개 직무)</a:t>
            </a:r>
          </a:p>
        </p:txBody>
      </p:sp>
      <p:sp>
        <p:nvSpPr>
          <p:cNvPr id="28" name="단계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직무분류</a:t>
            </a:r>
          </a:p>
        </p:txBody>
      </p:sp>
      <p:sp>
        <p:nvSpPr>
          <p:cNvPr id="29" name="단계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직무기술서</a:t>
            </a:r>
          </a:p>
        </p:txBody>
      </p:sp>
      <p:sp>
        <p:nvSpPr>
          <p:cNvPr id="30" name="단계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직무평가</a:t>
            </a:r>
          </a:p>
        </p:txBody>
      </p:sp>
      <p:sp>
        <p:nvSpPr>
          <p:cNvPr id="41" name="레일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시스템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로드맵</a:t>
            </a:r>
          </a:p>
        </p:txBody>
      </p:sp>
      <p:sp>
        <p:nvSpPr>
          <p:cNvPr id="43" name="단계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~’24 조직시스템 구축·확산</a:t>
            </a:r>
          </a:p>
        </p:txBody>
      </p:sp>
      <p:sp>
        <p:nvSpPr>
          <p:cNvPr id="44" name="단계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 직무중심 경영관리 정착</a:t>
            </a:r>
          </a:p>
        </p:txBody>
      </p:sp>
      <p:sp>
        <p:nvSpPr>
          <p:cNvPr id="45" name="단계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’26~ 조직관리 AI 도입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조직관리 표준화·시스템화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경영(조직·인사·교육) 분야 연계</a:t>
            </a:r>
          </a:p>
        </p:txBody>
      </p:sp>
      <p:sp>
        <p:nvSpPr>
          <p:cNvPr id="49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조직관리 데이터 DX 완료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경영전반 직무활용 제도화·확산</a:t>
            </a:r>
          </a:p>
        </p:txBody>
      </p:sp>
      <p:sp>
        <p:nvSpPr>
          <p:cNvPr id="51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데이터 기반 의사결정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활용 직무평가·재분류 등</a:t>
            </a:r>
          </a:p>
        </p:txBody>
      </p:sp>
      <p:sp>
        <p:nvSpPr>
          <p:cNvPr id="53" name="레일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시스템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고도화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분장업무(조직, 개인) 통합관리체계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분장업무 데이터 개별 관리(조직수기, 개인-시스템)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조직~개인 분장업무 전면 DB화, 자동맵핑</a:t>
            </a:r>
          </a:p>
        </p:txBody>
      </p:sp>
      <p:sp>
        <p:nvSpPr>
          <p:cNvPr id="55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부서업무 DB화 → 하부기구 모듈화 → 개인업무분장</a:t>
            </a:r>
          </a:p>
        </p:txBody>
      </p:sp>
      <p:sp>
        <p:nvSpPr>
          <p:cNvPr id="57" name="배너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중복·누락된 분장업무 실시간 모니터링으로 조직-직무 간 정합성 확보</a:t>
            </a:r>
          </a:p>
        </p:txBody>
      </p:sp>
      <p:sp>
        <p:nvSpPr>
          <p:cNvPr id="58" name="레일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9" name="배너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조직관리 데이터 활용, 직무 중심 경영활동 본격 가동</a:t>
            </a:r>
          </a:p>
        </p:txBody>
      </p:sp>
      <p:sp>
        <p:nvSpPr>
          <p:cNvPr id="60" name="머리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최적 조직운영안 마련</a:t>
            </a:r>
          </a:p>
        </p:txBody>
      </p:sp>
      <p:sp>
        <p:nvSpPr>
          <p:cNvPr id="61" name="머리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 기반 인사관리</a:t>
            </a:r>
          </a:p>
        </p:txBody>
      </p:sp>
      <p:sp>
        <p:nvSpPr>
          <p:cNvPr id="62" name="머리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 연계 교육운영</a:t>
            </a:r>
          </a:p>
        </p:txBody>
      </p:sp>
      <p:sp>
        <p:nvSpPr>
          <p:cNvPr id="63" name="칸 본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부서업무 기반 정원조정 시뮬레이션 및 조직설계</a:t>
            </a:r>
          </a:p>
        </p:txBody>
      </p:sp>
      <p:sp>
        <p:nvSpPr>
          <p:cNvPr id="64" name="칸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직무역량 기반 배치·승진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 단위 채용 확대</a:t>
            </a:r>
          </a:p>
        </p:txBody>
      </p:sp>
      <p:sp>
        <p:nvSpPr>
          <p:cNvPr id="66" name="칸 본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직무역량 교육모델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맞춤형 교육·성장경로 추천</a:t>
            </a: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144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성과 및 능력·직무 중심 체계적 성과평가시스템 구축·운영</a:t>
            </a:r>
          </a:p>
        </p:txBody>
      </p:sp>
      <p:sp>
        <p:nvSpPr>
          <p:cNvPr id="9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지표설정</a:t>
            </a:r>
          </a:p>
        </p:txBody>
      </p:sp>
      <p:sp>
        <p:nvSpPr>
          <p:cNvPr id="12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중장기 전략 연계</a:t>
            </a:r>
          </a:p>
        </p:txBody>
      </p:sp>
      <p:sp>
        <p:nvSpPr>
          <p:cNvPr id="13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新정부정책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내부 성과관리 여건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전략목표 ▶ 과제 ▶ KPI ▶ 성과지표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안전경영 강화, AI 강국 도약 등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청렴도·장애인 고용률 등 상향 필요</a:t>
            </a:r>
          </a:p>
        </p:txBody>
      </p:sp>
      <p:sp>
        <p:nvSpPr>
          <p:cNvPr id="20" name="레일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성과관리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조직평가 BSC 성과관리: 평가단위 부서평가 + 部평가 / 지표구성 전략과 연계한 BSC 관점 지표체계 운영(성격 공통 25 + 고유과제 75 · 유형 계량 50 + 비계량 50) / 평가방법 계량 달성도 평가(70) + 난이도 평가(30), 비계량 부문·본부평가(70) + 별도평가(30)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개인평가 MBO 성과관리 + 직무역량평가: 본부장·부서장 경영계약 본부 경영 및 부서 성과 책임 / 부장·직원 MBO 部 목표 및 과제실행 책임 / 직무역량평가(개선) 全직무 평가지표 정의, 지표별 ‘5단계 행동척도’ 제시 ➡ 평가자별 편차 완화로 정확한 직무역량평가 가능</a:t>
            </a:r>
          </a:p>
        </p:txBody>
      </p:sp>
      <p:sp>
        <p:nvSpPr>
          <p:cNvPr id="25" name="태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실시간</a:t>
            </a:r>
          </a:p>
        </p:txBody>
      </p:sp>
      <p:sp>
        <p:nvSpPr>
          <p:cNvPr id="26" name="태그 설명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K-Best 성과관리 ▶ 매월 CEO 경영진회의 + 분기 성과관리회의 + 반기 전사경영회의</a:t>
            </a:r>
          </a:p>
        </p:txBody>
      </p:sp>
      <p:sp>
        <p:nvSpPr>
          <p:cNvPr id="27" name="레일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결과활용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류</a:t>
            </a:r>
          </a:p>
        </p:txBody>
      </p:sp>
      <p:sp>
        <p:nvSpPr>
          <p:cNvPr id="29" name="머리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성과급 차등·인사 반영</a:t>
            </a:r>
          </a:p>
        </p:txBody>
      </p:sp>
      <p:sp>
        <p:nvSpPr>
          <p:cNvPr id="30" name="머리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평가제도 개선</a:t>
            </a:r>
          </a:p>
        </p:txBody>
      </p:sp>
      <p:sp>
        <p:nvSpPr>
          <p:cNvPr id="31" name="머리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내·외부 성과확산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본사·현장 설명회(1~2월, 5회): 평가제도 설명 및 직원니즈 청취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 공동 TF(10~11월): 개선사항 발굴 및 제도 반영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全직원 설문조사(12월): 평가제도 수용성 및 만족도 등</a:t>
            </a: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145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내부 성과관리 여건 및 정부정책 방향을 감안한 전략적 지표 개선</a:t>
            </a:r>
          </a:p>
        </p:txBody>
      </p:sp>
      <p:sp>
        <p:nvSpPr>
          <p:cNvPr id="12" name="번호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13" name="분야 박스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기존지표 보완</a:t>
            </a:r>
          </a:p>
        </p:txBody>
      </p:sp>
      <p:sp>
        <p:nvSpPr>
          <p:cNvPr id="15" name="소제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성과 개선 필요 지표 신속 분석·개선하여, 성과 창출 유인체계 보완</a:t>
            </a:r>
          </a:p>
        </p:txBody>
      </p:sp>
      <p:sp>
        <p:nvSpPr>
          <p:cNvPr id="16" name="태그칩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8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청 렴 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제 고</a:t>
            </a:r>
          </a:p>
        </p:txBody>
      </p:sp>
      <p:sp>
        <p:nvSpPr>
          <p:cNvPr id="19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성과관리 여건</a:t>
            </a:r>
          </a:p>
        </p:txBody>
      </p:sp>
      <p:sp>
        <p:nvSpPr>
          <p:cNvPr id="20" name="단계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지표 개선</a:t>
            </a:r>
          </a:p>
        </p:txBody>
      </p:sp>
      <p:sp>
        <p:nvSpPr>
          <p:cNvPr id="21" name="단계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전사적 청렴 노력에도 불구 ’24년 종합청렴도 3등급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특히, 토지보상 업무 외부체감도 점수 향상 시급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全부서 청렴의식 확산을 위해 ‘청렴 프로모터(신설)’ 활동 가점 부여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수자원·수도 토지보상 주관부서를 청렴도 핵심부서에 추가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종합청렴도 공사 최초 1등급 달성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토지보상 외부체감도 13.3점↑(79.1→92.4점)</a:t>
            </a:r>
          </a:p>
        </p:txBody>
      </p:sp>
      <p:sp>
        <p:nvSpPr>
          <p:cNvPr id="29" name="레일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일가정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양 립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다양한 제도 운영에도, 눈치 보이는 조직문화 잔존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가족친화경영 문화 적극 참여 부서에 인센티브 부여로 일·가정양립 유도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신뢰경영지수 역대 최고(91점) 달성</a:t>
            </a:r>
          </a:p>
        </p:txBody>
      </p:sp>
      <p:sp>
        <p:nvSpPr>
          <p:cNvPr id="36" name="레일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장애인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채 용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장애인 일자리 확대 정책 발맞추어 의무고용률(3.8%) 달성 독려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’24년 장애인 고용률 실적 3.48%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전사 장애인 고용 TF 결과를 반영, 사실상 획득이 어려운 現 가점기준 현실화, 全부서 동참 여건 조성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최소기준: (기존) 3.8% → (개선) 0.95%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역대 최고 장애인 고용률 3.8% 달성(법정의무고용률 준수)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전년比 0.32%p 상승</a:t>
            </a: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146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新정부정책 안전강화 등 주요 정책의 발빠른 이행을 위한 ’26년 지표 개선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7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9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0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정부정책 안전 최우선 일터, AI 강국 도약을 국정과제로 설정, 공공기관 책임·역할 강조</a:t>
            </a:r>
          </a:p>
        </p:txBody>
      </p:sp>
      <p:sp>
        <p:nvSpPr>
          <p:cNvPr id="11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‘안전경영’, ‘AI 전환’을 특화전략으로 반영, 실행력 제고 위한 ’26년 지표 개선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지표 개선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안전 全부서 안전경영 성과책임 부여</a:t>
            </a:r>
          </a:p>
        </p:txBody>
      </p:sp>
      <p:sp>
        <p:nvSpPr>
          <p:cNvPr id="16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활용 성과창출을 위한 가점지표 개선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시설관리와 공사를 실제 수행하는 현장부서만 ‘안전관리노력도’ 평가지표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안전조직·인력·예산 등 지원 강화를 위해 본사까지 포함한 全부서 안전 성과지표 부여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정부 주관 ‘혁신’ 분야 및 ‘국민협업’ 공모 참여 및 수상성과에 가점지표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기존 혁신뿐만 아니라 AI 혁신과제 수상실적까지 대상에 추가하여 AI 전환 유도</a:t>
            </a: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147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소통 기반의 투명한 성과평가 운영으로 수용도 제고</a:t>
            </a:r>
          </a:p>
        </p:txBody>
      </p:sp>
      <p:sp>
        <p:nvSpPr>
          <p:cNvPr id="12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3" name="번호 띠 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4" name="번호 띠 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추진체계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평가 실무자 및 경영진 중심의 개선사항 발굴 및 제도개선 시행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노사공동 TF를 통해 개선사항 발굴부터 제도개선 적정성까지 직원 의견 적극 수렴</a:t>
            </a:r>
          </a:p>
        </p:txBody>
      </p:sp>
      <p:sp>
        <p:nvSpPr>
          <p:cNvPr id="20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정책·전략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연계강화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주요업무 평가 가중치 확대: 新정부는 공공기관이 본연의 역할을 제대로 수행할 수 있도록 책임성 강화 요구 / 개선 주요업무 평가지표(고유지표) 배점확대 * (기존) 55점 → (개선) 65점으로 10점 확대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 연계지표 난이도 정량점수 상향: 전략연계 지표와 자체지표 간 난이도 정량점수가 같아 자체지표 설정 선호 / 개선 전략지표와 자체지표 난이도 점수 차등 * (전략) 43점 부여 (자체) 최고 42점~최저 33점</a:t>
            </a:r>
          </a:p>
        </p:txBody>
      </p:sp>
      <p:sp>
        <p:nvSpPr>
          <p:cNvPr id="25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투명성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수용성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제 고</a:t>
            </a:r>
          </a:p>
        </p:txBody>
      </p:sp>
      <p:sp>
        <p:nvSpPr>
          <p:cNvPr id="27" name="머리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난이도 산정 시스템 제공</a:t>
            </a:r>
          </a:p>
        </p:txBody>
      </p:sp>
      <p:sp>
        <p:nvSpPr>
          <p:cNvPr id="28" name="머리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결과공개 시점 명확화</a:t>
            </a:r>
          </a:p>
        </p:txBody>
      </p:sp>
      <p:sp>
        <p:nvSpPr>
          <p:cNvPr id="29" name="머리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성과향상 지원 확대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복잡한 산식으로 피평가부서 확인 및 검증에 애로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자동산정·예측시스템 도입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통상 7~8월 결과 공개하나, 구체적 시점은 유동적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매년 8월 첫째주로 명문화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2년 연속 부진부서(D등급) 대상 성과향상 컨설팅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당해 부진부서까지 확대</a:t>
            </a:r>
          </a:p>
        </p:txBody>
      </p:sp>
      <p:sp>
        <p:nvSpPr>
          <p:cNvPr id="36" name="핵심성과 라벨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7" name="핵심성과 문구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노사공동 TF 운영, 설명회 개최 등 직원 관심 제고로 설문조사 응답률 및 만족·수용도 향상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응답률 33.8%(6.4%p↑), 만족도 81.3(1.2↑), 수용도 80.1(0.9↑) / ’24년 27.4%, 80.1, 79.2</a:t>
            </a: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148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성과관리와 보수 및 인사관리 간 전략적 연계 및 활용</a:t>
            </a:r>
          </a:p>
        </p:txBody>
      </p:sp>
      <p:sp>
        <p:nvSpPr>
          <p:cNvPr id="9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보 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및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포상연계</a:t>
            </a:r>
          </a:p>
        </p:txBody>
      </p:sp>
      <p:sp>
        <p:nvSpPr>
          <p:cNvPr id="12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기준급·성과급 차등 적용</a:t>
            </a:r>
          </a:p>
        </p:txBody>
      </p:sp>
      <p:sp>
        <p:nvSpPr>
          <p:cNvPr id="13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공감·수용성 높은 포상 제도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성과급 부서 및 개인 성과평가 기반, 성과급 5(+1)등급 차등 적용(최대 2배) * 중징계자·주요 비위행위자 성과급 미지급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기준급 직무역량 등 개인평가 결과 활용, 기준급 인상률 5단계 차등 적용(최대 2%)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우수부서 당해연도 성과달성 우수부서 및 성과향상 우수부서 포상금 지급 * (달성) S등급 부서 / (우수) 3등급 이상 향상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유공직원 해당 부서 우수성과 창출 직원 및 위임지표 우수 직원 대상 사장표창 수여</a:t>
            </a:r>
          </a:p>
        </p:txBody>
      </p:sp>
      <p:sp>
        <p:nvSpPr>
          <p:cNvPr id="17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 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연 계</a:t>
            </a:r>
          </a:p>
        </p:txBody>
      </p:sp>
      <p:sp>
        <p:nvSpPr>
          <p:cNvPr id="19" name="머리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 기반 승진 문화</a:t>
            </a:r>
          </a:p>
        </p:txBody>
      </p:sp>
      <p:sp>
        <p:nvSpPr>
          <p:cNvPr id="20" name="머리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적소적재 인력 배치</a:t>
            </a:r>
          </a:p>
        </p:txBody>
      </p:sp>
      <p:sp>
        <p:nvSpPr>
          <p:cNvPr id="21" name="머리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우수 인재 육성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高성과 중심 승진자 선발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근무평가 연계 승진제도 운영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직무역량·성과 중심 주요 보직 직무 공모제 확대 적용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 우수자 교육파견 우대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교육 후 관련 직무 우선 배치</a:t>
            </a: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149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레일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외 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경</a:t>
            </a:r>
          </a:p>
        </p:txBody>
      </p:sp>
      <p:sp>
        <p:nvSpPr>
          <p:cNvPr id="9" name="칸 본문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정부정책 능력 중심의 인사를 기반으로 일 잘하는 공직사회 구현</a:t>
            </a:r>
          </a:p>
        </p:txBody>
      </p:sp>
      <p:sp>
        <p:nvSpPr>
          <p:cNvPr id="10" name="칸 본문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HRD 트렌드 첨단분야(AI, 디지털 등) 우수 인재 확보 및 전략적 육성에 사활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내 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여 건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개인의 경력개발과 연계할 수 있는 성과환류 시스템 구축 필요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직원니즈 역량강화·성장경로 비전 제시, 역량 기반의 공정한 인사 * 직원설문FGI</a:t>
            </a:r>
          </a:p>
        </p:txBody>
      </p:sp>
      <p:sp>
        <p:nvSpPr>
          <p:cNvPr id="18" name="태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19" name="캡션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직무를 기반으로 ‘교육 – 역량 – 성과 – 보상’의 체계적인 선순환을 통한 조직 경쟁력 제고</a:t>
            </a:r>
          </a:p>
        </p:txBody>
      </p:sp>
      <p:sp>
        <p:nvSpPr>
          <p:cNvPr id="21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 제</a:t>
            </a:r>
          </a:p>
        </p:txBody>
      </p:sp>
      <p:sp>
        <p:nvSpPr>
          <p:cNvPr id="22" name="머리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직무·역량 연계 강화</a:t>
            </a:r>
          </a:p>
        </p:txBody>
      </p:sp>
      <p:sp>
        <p:nvSpPr>
          <p:cNvPr id="23" name="머리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미래 물 전문가 양성</a:t>
            </a:r>
          </a:p>
        </p:txBody>
      </p:sp>
      <p:sp>
        <p:nvSpPr>
          <p:cNvPr id="24" name="머리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직무·성과 중시 문화 조성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 맞춤형 역량개발 모델 기반의 인재육성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미래기술 역량 내재화를 위한 성장 로드맵 수립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직무·역량·성과 기반의 인사체계 고도화</a:t>
            </a: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150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직무·역량 중심 경력개발 및 미래성장 전문 인재양성 HRD 체계 마련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직원의 직무역량 향상을 위한 체계적 경력개발 시스템 구축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2" name="태그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역량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모델</a:t>
            </a:r>
          </a:p>
        </p:txBody>
      </p:sp>
      <p:sp>
        <p:nvSpPr>
          <p:cNvPr id="15" name="배너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全직원의 직무 단위별 역량진단 모델 개발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역량 세분화 全직무 분석으로 조직 성과 달성을 위한 핵심역량 추출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1단계 직무별 특성을 고려한 전문역량(490개), 다수 직무에서 요구되는 공통역량(22개) 정의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2단계 역량별 수준 Level 1(기초)~5(전문가) 설정, 객관적 측정을 위한 행동지표(BARS) 설정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예시 직무: 수자원 운영관리 / 직무전문역량 수해대응 물관리(Lv1~5), 댐·보연계운영(Lv1~5) + 직무공통역량 위기대응(Lv1~5), 시설·설비관리(Lv1~5)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수해대응 물관리역량 Lv3 행동지표 ‘댐방류로 인한 하류영향을 분석하고 위기대응업무를 수행한다’</a:t>
            </a:r>
          </a:p>
        </p:txBody>
      </p:sp>
      <p:sp>
        <p:nvSpPr>
          <p:cNvPr id="17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맞춤형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교육·코칭</a:t>
            </a:r>
          </a:p>
        </p:txBody>
      </p:sp>
      <p:sp>
        <p:nvSpPr>
          <p:cNvPr id="19" name="배너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개인별 직무역량 진단 활용 맞춤형 교육·코칭 제시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교육 개인별 직무역량 진단 결과 ➡ 직무 역량 수준을 고려한 교육과정 추천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예시 직무 수자원 운영관리 / 역량명 수해대응 물관리 역량 / 진단결과 Lv.2 / 추천 교육과정 수문기상과 유역물관리, 분석모델링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코칭 역량별 상세 분석 결과 ➡ 필요역량 향상 ‘Action Plan’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예시 직무 수자원 운영관리 / 역량명·등급 위기대응(Lv.2) / 역량 개발 지휘통제능력 향상 / Action Plan “표준지휘체계를 배워서 지휘통제 능력을 키워보세요”</a:t>
            </a:r>
          </a:p>
        </p:txBody>
      </p:sp>
      <p:sp>
        <p:nvSpPr>
          <p:cNvPr id="23" name="레일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성장경로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 내</a:t>
            </a:r>
          </a:p>
        </p:txBody>
      </p:sp>
      <p:sp>
        <p:nvSpPr>
          <p:cNvPr id="24" name="배너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직무별 전문가 성장 로드맵 제공 예시</a:t>
            </a:r>
          </a:p>
        </p:txBody>
      </p:sp>
      <p:sp>
        <p:nvSpPr>
          <p:cNvPr id="25" name="단계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1단계 건설운영</a:t>
            </a:r>
          </a:p>
        </p:txBody>
      </p:sp>
      <p:sp>
        <p:nvSpPr>
          <p:cNvPr id="26" name="단계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2단계 품질안전</a:t>
            </a:r>
          </a:p>
        </p:txBody>
      </p:sp>
      <p:sp>
        <p:nvSpPr>
          <p:cNvPr id="27" name="단계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3단계 재난대응</a:t>
            </a:r>
          </a:p>
        </p:txBody>
      </p:sp>
      <p:sp>
        <p:nvSpPr>
          <p:cNvPr id="28" name="단계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4단계 통합운영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수자원시설 유지관리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수자원건설 품질관리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수해대응 물관리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댐·보 연계운영</a:t>
            </a:r>
          </a:p>
        </p:txBody>
      </p:sp>
      <p:sp>
        <p:nvSpPr>
          <p:cNvPr id="39" name="레일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중장기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인재육성</a:t>
            </a:r>
          </a:p>
        </p:txBody>
      </p:sp>
      <p:sp>
        <p:nvSpPr>
          <p:cNvPr id="41" name="배너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중장기 HRD체계 구축·인력자원 활용 확대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전사 강점 역량·레벨별 인원 등 조직역량 분석 데이터 활용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직무–역량 매칭 교육관리로 자발적 몰입 향상 제고 / 직무·직군 정보 + 직무역량 DB</a:t>
            </a:r>
          </a:p>
        </p:txBody>
      </p:sp>
      <p:sp>
        <p:nvSpPr>
          <p:cNvPr id="46" name="핵심성과 라벨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7" name="핵심성과 문구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‘교육·경력개발’ 신뢰경영지수(84 → 89 → 93점 ’25년), 교육만족도(95 → 96.1 → 96.3점 ’25년) 지속 상승</a:t>
            </a: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151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AI·데이터 기반 물 관리 인재 양성으로 글로벌 경쟁력을 갖춘 인재 확보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인재양성</a:t>
            </a:r>
          </a:p>
        </p:txBody>
      </p:sp>
      <p:sp>
        <p:nvSpPr>
          <p:cNvPr id="12" name="단계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기초 AI 리터러시</a:t>
            </a:r>
          </a:p>
        </p:txBody>
      </p:sp>
      <p:sp>
        <p:nvSpPr>
          <p:cNvPr id="13" name="단계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중급 AI 활용역량 강화</a:t>
            </a:r>
          </a:p>
        </p:txBody>
      </p:sp>
      <p:sp>
        <p:nvSpPr>
          <p:cNvPr id="14" name="단계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고급 전문역량 확산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AI-이해 직군별 특성을 고려, 실습 중심 생성형 AI 교육 개발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전사 조직진단·FGI로 맞춤형 과정 설계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기초역량 프롬프트 엔지니어링 + 직군별 스킬 도메인 데이터 활용 / 생성형 AI 실습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전통적 전문성 수자원·수도 분야 특화 AI 교육 개설·운영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AI 홍수모델, 스마트 AI 정수장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융합 전문가 직무 – 디지털 융합전문가 과정 운영(6개 과정)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기후대응 수자원, 스마트관망관리 등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전문가 과정 대학 특화과정(기후테크) 신설 및 에너지·AI 과정 확대운영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충남대 기후테크, KDI 기후에너지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생태계 전문기관 협업 AI 과정 신설(4개 과정), 공무원·물기업 재직자 AI 전문인재 양성</a:t>
            </a:r>
          </a:p>
        </p:txBody>
      </p:sp>
      <p:sp>
        <p:nvSpPr>
          <p:cNvPr id="22" name="배너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확산 물 디지털·AI 전환 선도 기술 국내·외 교류 파트너십(AI협회, 세계은행 등) 구축</a:t>
            </a:r>
          </a:p>
        </p:txBody>
      </p:sp>
      <p:sp>
        <p:nvSpPr>
          <p:cNvPr id="24" name="핵심성과 라벨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25" name="핵심성과 문구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기후테크 등 전문과정 확대(5 → 11명), 물관리 분야 AI 전문인력(공무원·물 재직자) 102명 신규양성</a:t>
            </a: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152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직무·성과 기반 전문성과 공정성이 축적되는 인사문화 내재화</a:t>
            </a:r>
          </a:p>
        </p:txBody>
      </p:sp>
      <p:sp>
        <p:nvSpPr>
          <p:cNvPr id="9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0" name="번호 띠 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직무중심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인사관리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화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내부성장(CDP): 개인 보유역량–희망직무 요구역량 분석·피드백 / AI 활용 맞춤 솔루션 제공 – 장단점, 성장경로가이드 등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직무·성과 중심 인사관리: 평가 全직무 평가지표 정립 / 배치 직무·역량중심 배치 / 승진 성과·능력 기반 승진 / 성과 低성과 맞춤형 지원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외부개방(Open): 개방형 직위제 운영(5개) * 건강관리, 정책, 도시, 미디어 등 / 전문기관 인사교류 활성(38명) * OECD, 유네스코, 환경공단 등</a:t>
            </a:r>
          </a:p>
        </p:txBody>
      </p:sp>
      <p:sp>
        <p:nvSpPr>
          <p:cNvPr id="19" name="레일 태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수평적 이동</a:t>
            </a:r>
          </a:p>
        </p:txBody>
      </p:sp>
      <p:sp>
        <p:nvSpPr>
          <p:cNvPr id="20" name="레일 라벨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직무중심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 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화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직무–역량 매칭 전보시스템 고도화: 관리자 직위정보 ↔ 직무역량 DB 연동, 직위별 ‘최적임 후보’ Pool 추천(1~3순위) / 직위 정보 · 관리자 역량 · 적임자 제시 / 추천–보임 정확도 1.3%p(73.5 → 74.8%) 향상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자기 주도적 성장 경로 확대: 전문직무 직무평가단(SME) 결과 기반 선정(42개) / 직무공모 전문직무(태양광·진단) 공모 확대(13 → 22개), 참여자 설문조사 만족 100%, 재참여 희망 95.4% / 복수보임 전문성 고려 직위·직급 분리 운영(11개)</a:t>
            </a:r>
          </a:p>
        </p:txBody>
      </p:sp>
      <p:sp>
        <p:nvSpPr>
          <p:cNvPr id="26" name="레일 태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수직적 이동</a:t>
            </a:r>
          </a:p>
        </p:txBody>
      </p:sp>
      <p:sp>
        <p:nvSpPr>
          <p:cNvPr id="27" name="레일 라벨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성과능력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중 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승 진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초급관리자 직무역량 중심 승진 패러다임 정립: 승진시험 직무지식, 문제해결능력 심층 검증 / 시험평가(55) 직무심화(객관식) 20 + 문제해결능력(서술) 35 · 종합역량평가(45) 근무평가 20 + 근속평가 15 + 다면평가 10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기존 대비 1~2년 조기 승진(26명, 20%)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특별승진 검증체계 강화를 통한 제도 내실화: 기존 담당부서 중심의 제한적 서면 검증 / 개선 全직원 설문, 공적평가 신설(K-water 人), 외부전문가 평가 확대(15 → 20%, 혁신챌린지) ➡ 공정하고 투명한 성과 검증으로 특별승진(5명), 수용성 제고·성과 창출 동기부여</a:t>
            </a:r>
          </a:p>
        </p:txBody>
      </p:sp>
      <p:sp>
        <p:nvSpPr>
          <p:cNvPr id="32" name="레일 태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평가지적</a:t>
            </a:r>
          </a:p>
        </p:txBody>
      </p:sp>
      <p:sp>
        <p:nvSpPr>
          <p:cNvPr id="33" name="레일 라벨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低성과자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 리</a:t>
            </a:r>
          </a:p>
        </p:txBody>
      </p:sp>
      <p:sp>
        <p:nvSpPr>
          <p:cNvPr id="35" name="머리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다각적 사전 진단</a:t>
            </a:r>
          </a:p>
        </p:txBody>
      </p:sp>
      <p:sp>
        <p:nvSpPr>
          <p:cNvPr id="36" name="머리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개인 맞춤형 학습 지원</a:t>
            </a:r>
          </a:p>
        </p:txBody>
      </p:sp>
      <p:sp>
        <p:nvSpPr>
          <p:cNvPr id="37" name="머리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현업 적응 기회 제공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역량진단·성향검사·면담으로 성과부진 원인 분석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진단결과 기반 맞춤형 학습과정 운영(독서+온라인+집합)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현업근무 평가시 희망부서 배치로 동기부여 강화</a:t>
            </a:r>
          </a:p>
        </p:txBody>
      </p:sp>
      <p:sp>
        <p:nvSpPr>
          <p:cNvPr id="43" name="배너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低성과자 교육 전·후 근무평가 20.9점 대폭 상향(61.8 → 82.7점)</a:t>
            </a:r>
          </a:p>
        </p:txBody>
      </p:sp>
      <p:sp>
        <p:nvSpPr>
          <p:cNvPr id="45" name="핵심성과 라벨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6" name="핵심성과 문구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권익위 종합청렴도 평가 인사부문 16.8점 비약적 상승(73.1 → 89.9점, 역대 최고 득점)</a:t>
            </a: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153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직무 전문성과 노하우를 활용한 임금피크제 운영 내실화</a:t>
            </a:r>
          </a:p>
        </p:txBody>
      </p:sp>
      <p:graphicFrame>
        <p:nvGraphicFramePr>
          <p:cNvPr id="12" name="실적표"/>
          <p:cNvGraphicFramePr>
            <a:graphicFrameLocks noGrp="1"/>
          </p:cNvGraphicFramePr>
          <p:nvPr/>
        </p:nvGraphicFramePr>
        <p:xfrm>
          <a:off x="536870" y="1161391"/>
          <a:ext cx="6300001" cy="723131"/>
        </p:xfrm>
        <a:graphic>
          <a:graphicData uri="http://schemas.openxmlformats.org/drawingml/2006/table">
            <a:tbl>
              <a:tblPr/>
              <a:tblGrid>
                <a:gridCol w="662870"/>
                <a:gridCol w="624522"/>
                <a:gridCol w="5012609"/>
              </a:tblGrid>
              <a:tr h="230087">
                <a:tc gridSpan="2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대상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유형 · 기간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연차별 임금감소 비율 · 누적 절감률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</a:tr>
              <a:tr h="24652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2급 이상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정년연장형 3.5년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6개월 5% → 1년차 10% → 2년차 20% → 3년차 30% (누적 65%)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3급 이하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정년연장형 2.0년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1년차 20% → 2년차 30% (누적 50%)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3" name="실적표"/>
          <p:cNvGraphicFramePr>
            <a:graphicFrameLocks noGrp="1"/>
          </p:cNvGraphicFramePr>
          <p:nvPr/>
        </p:nvGraphicFramePr>
        <p:xfrm>
          <a:off x="536870" y="1972174"/>
          <a:ext cx="6300001" cy="476609"/>
        </p:xfrm>
        <a:graphic>
          <a:graphicData uri="http://schemas.openxmlformats.org/drawingml/2006/table">
            <a:tbl>
              <a:tblPr/>
              <a:tblGrid>
                <a:gridCol w="662870"/>
                <a:gridCol w="624522"/>
                <a:gridCol w="5012609"/>
              </a:tblGrid>
              <a:tr h="230087">
                <a:tc gridSpan="2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구분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임금피크 인원 · 충당률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절감재원 · 신규채용보수(백만원)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</a:tr>
              <a:tr h="24652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’25년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422명 · 105%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6,192 · 5,876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5" name="핵심성과 라벨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핵심성과</a:t>
            </a:r>
          </a:p>
        </p:txBody>
      </p:sp>
      <p:sp>
        <p:nvSpPr>
          <p:cNvPr id="16" name="핵심성과 문구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정부 권고안 준수 총인건비 內 신규 채용 목표 100% 초과 달성</a:t>
            </a: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154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맞춤형 직무개발과 직무 중심 관리체계 강화로 ‘일’ 하고 싶은 동기 부여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8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직무개발</a:t>
            </a:r>
          </a:p>
        </p:txBody>
      </p:sp>
      <p:sp>
        <p:nvSpPr>
          <p:cNvPr id="9" name="배너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희망하고 필요한 직무 찾기 / 직무 IN &amp; OUT</a:t>
            </a:r>
          </a:p>
        </p:txBody>
      </p:sp>
      <p:sp>
        <p:nvSpPr>
          <p:cNvPr id="10" name="단계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 수요조사(’25.11)</a:t>
            </a:r>
          </a:p>
        </p:txBody>
      </p:sp>
      <p:sp>
        <p:nvSpPr>
          <p:cNvPr id="11" name="단계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 적합성 분석</a:t>
            </a:r>
          </a:p>
        </p:txBody>
      </p:sp>
      <p:sp>
        <p:nvSpPr>
          <p:cNvPr id="12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직무 IN &amp; OUT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부서의견 “인원이 부족한 분야에 업무를 지원해 주었으면 해요”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임금피크 직원 “재취업에 도움이 되고 업무 경험을 활용 할 수 있는 일을 하고 싶어요”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직무적합성분석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직무중복여부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필요성·기여도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업무 활용도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신설(3개) AI, 수자원 운영, 대외협력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폐지(2개) 연구 지원, 하수도 운영</a:t>
            </a:r>
          </a:p>
        </p:txBody>
      </p:sp>
      <p:sp>
        <p:nvSpPr>
          <p:cNvPr id="20" name="레일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직무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관리체계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화</a:t>
            </a:r>
          </a:p>
        </p:txBody>
      </p:sp>
      <p:sp>
        <p:nvSpPr>
          <p:cNvPr id="22" name="머리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직무 수준 체계화</a:t>
            </a:r>
          </a:p>
        </p:txBody>
      </p:sp>
      <p:sp>
        <p:nvSpPr>
          <p:cNvPr id="23" name="머리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자율적 직무 지원</a:t>
            </a:r>
          </a:p>
        </p:txBody>
      </p:sp>
      <p:sp>
        <p:nvSpPr>
          <p:cNvPr id="24" name="머리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❸ 인사·급여 연계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직무난이도·필요역량 고려, 직무등급(A~D등급) 설정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연 2회 직무공모 본인 희망직무 지원 가능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직무공모 배치기준 ❶ 파견·현업 직위 수행자 ❷ 지원순위 先 순위자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직무등급별 직무급 차등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근무평가 인사관리 적용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인사 근무 평점 85점 이하시 직무 변경 / 보수 직무급 차등 4등급 차등 적용(21,132천원~9,372천원/연)</a:t>
            </a: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155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숙련된 전문성 활용과 맞춤형 미래 준비를 통한 직무몰입도 향상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0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직무개발</a:t>
            </a:r>
          </a:p>
        </p:txBody>
      </p:sp>
      <p:sp>
        <p:nvSpPr>
          <p:cNvPr id="13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내부 지원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추가 활용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유지 감사·안전·대외협력: 예방감사관(5명) 사전컨설팅·적극행정 면책 / 안전패트롤(16명) 사고 취약분야 점검 / 대외협력관(3명) 물기술·거버넌스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 글로벌·R&amp;D: 전문역량·숙련경험 중심 분야 추가 활용 / 해외사업 PM 국제협력 업무 자문 / 연구 지원관 미래기술 개발·연구수행 코칭</a:t>
            </a:r>
          </a:p>
        </p:txBody>
      </p:sp>
      <p:sp>
        <p:nvSpPr>
          <p:cNvPr id="18" name="단계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수요 분석-직무 정교화 연계 기업매칭 강화</a:t>
            </a:r>
          </a:p>
        </p:txBody>
      </p:sp>
      <p:sp>
        <p:nvSpPr>
          <p:cNvPr id="19" name="단계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 세분화 매칭</a:t>
            </a:r>
          </a:p>
        </p:txBody>
      </p:sp>
      <p:sp>
        <p:nvSpPr>
          <p:cNvPr id="20" name="단계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역대 최대 참여 달성(79명)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셰르파 만족도 분석(’24) 기업(22社) · 직원(36명)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만족도 분석 결과: 기업 조직·경영관리 경험자 조언 필요 / 직원 직무설계 필요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경영·사업 컨설팅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정수장 진단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4년 연속 공공부문 참여 1위 33명 → 55명 → 73명 → 79명</a:t>
            </a:r>
          </a:p>
        </p:txBody>
      </p:sp>
      <p:sp>
        <p:nvSpPr>
          <p:cNvPr id="28" name="레일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직무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관리체계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화</a:t>
            </a:r>
          </a:p>
        </p:txBody>
      </p:sp>
      <p:sp>
        <p:nvSpPr>
          <p:cNvPr id="30" name="머리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임금피크 직원 설문조사</a:t>
            </a:r>
          </a:p>
        </p:txBody>
      </p:sp>
      <p:sp>
        <p:nvSpPr>
          <p:cNvPr id="31" name="머리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맞춤형 교육과정 확대</a:t>
            </a:r>
          </a:p>
        </p:txBody>
      </p:sp>
      <p:sp>
        <p:nvSpPr>
          <p:cNvPr id="32" name="머리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❸ 환류체계 강화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재취업 지원제도 실효성 점검·의견수렴(’25년 상반기)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공통의견 취업에 도움되는 교육과정 운영 필요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미래설계 맞춤형 교육과정 도입으로 재취업 역량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교육과정 재취업·창업·재무설계, 디지털역량 등 11개 과정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제도 개선으로 직원 만족도 98.6점 달성(전년比 1.2점↑)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퇴직자 재취업 실효성 평가 상·하반기 확대 운영(’26년)</a:t>
            </a:r>
          </a:p>
        </p:txBody>
      </p:sp>
      <p:sp>
        <p:nvSpPr>
          <p:cNvPr id="39" name="핵심성과 라벨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0" name="핵심성과 문구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임금피크제 절감 재원(422명, 61.9억원)을 활용하여 청년일자리(146명, 58.8억원) 창출</a:t>
            </a: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156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육아 걱정 없이·유연하게 일하는 방식 혁신으로 행복한 일터 조성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점검하고</a:t>
            </a:r>
          </a:p>
        </p:txBody>
      </p:sp>
      <p:sp>
        <p:nvSpPr>
          <p:cNvPr id="11" name="칸 본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노사공동 가족친화경영 TF 운영: 인사·복지·휴가·문화 등 대규모 개선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아쉬운 점 가족친화제도 안정적 정착 및 구성원 인식변화 유도·조직문화 확산 필요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의견을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모 아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평가위원 “제도 활용에 대한 인식개선 캠페인 등 문화적 수용성 강화 병행 필요”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내부직원 “가족친화제도를 부담없이 사용하고 꼭 필요한 일만 하는 건강한 조직”</a:t>
            </a:r>
          </a:p>
        </p:txBody>
      </p:sp>
      <p:sp>
        <p:nvSpPr>
          <p:cNvPr id="19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추진방향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 립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‘공공부문 최고 수준’ 가족친화 근무제도 정착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가족친화문화 확산과 근무만족도 제고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‘일하는 방식’ 개선 효율적인 근무문화 구축</a:t>
            </a: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157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제도 본격 도입 및 구성원 수용성 강화로 일·가정 양립 실현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0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全주기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가족친화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제 도</a:t>
            </a:r>
          </a:p>
        </p:txBody>
      </p:sp>
      <p:sp>
        <p:nvSpPr>
          <p:cNvPr id="14" name="배너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임신·출산부터 복직, 복직 후 양육까지 全주기를 아우르는 가족친화제도 완성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임신·출산 One-Stop 육아휴직 시스템: 임신 중 육아휴직 + 출산휴가 육아휴직 통합시스템 구축 ➡ 직원 편의성 향상, 부담 경감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양육 일·가정 모두의 안정 달성: 격주 4일제, 육아기 재택근무 등 육아집중형 新근무제도 최초 도입 / 육아시간 사무외출 사용 활성화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휴직 경력단절 걱정없는 동등한 기회: 육아 휴직기간 100% 근속기간 인정 / 육아휴직자 승진대상자 최초포함 ➡ 육아휴직 중 초급관리자 최초 승진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복직 본인 의사를 보장하는 제도: 분기별 육아휴직 복직 신청제도 실시 / 복직 희망일에 100% 희망부서 배치 / 직장어린이집 야간보육 정식 도입</a:t>
            </a:r>
          </a:p>
        </p:txBody>
      </p:sp>
      <p:sp>
        <p:nvSpPr>
          <p:cNvPr id="18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조직문화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 선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구성원 인식개선 변화유도·수용성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양성평등주간 남성 육아휴직 인식 제고 캠페인 개최(’25.9)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관리자 대상 조직문화 교육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함께 만드는 가족친화문화 정착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숏폼 공모전·사보 기획기사로 활용사례 공유·직원참여 유도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가족친화 우수부서 내부평가 반영</a:t>
            </a:r>
          </a:p>
        </p:txBody>
      </p:sp>
      <p:sp>
        <p:nvSpPr>
          <p:cNvPr id="24" name="성과 라벨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25" name="성과 띠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가족친화제도 완벽 정착으로 일·가정 양립 선도기관 인증(가족친화기업 ’09~’25년)</a:t>
            </a:r>
          </a:p>
        </p:txBody>
      </p:sp>
      <p:sp>
        <p:nvSpPr>
          <p:cNvPr id="27" name="카드 문구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육아휴직 사용자수</a:t>
            </a:r>
          </a:p>
        </p:txBody>
      </p:sp>
      <p:sp>
        <p:nvSpPr>
          <p:cNvPr id="29" name="값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243</a:t>
            </a:r>
          </a:p>
        </p:txBody>
      </p:sp>
      <p:sp>
        <p:nvSpPr>
          <p:cNvPr id="30" name="연도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’24년</a:t>
            </a:r>
          </a:p>
        </p:txBody>
      </p:sp>
      <p:sp>
        <p:nvSpPr>
          <p:cNvPr id="32" name="값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275</a:t>
            </a:r>
          </a:p>
        </p:txBody>
      </p:sp>
      <p:sp>
        <p:nvSpPr>
          <p:cNvPr id="33" name="연도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’25년</a:t>
            </a:r>
          </a:p>
        </p:txBody>
      </p:sp>
      <p:sp>
        <p:nvSpPr>
          <p:cNvPr id="35" name="카드 문구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배우자 출산휴가</a:t>
            </a:r>
          </a:p>
        </p:txBody>
      </p:sp>
      <p:sp>
        <p:nvSpPr>
          <p:cNvPr id="37" name="값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146</a:t>
            </a:r>
          </a:p>
        </p:txBody>
      </p:sp>
      <p:sp>
        <p:nvSpPr>
          <p:cNvPr id="38" name="연도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’24년</a:t>
            </a:r>
          </a:p>
        </p:txBody>
      </p:sp>
      <p:sp>
        <p:nvSpPr>
          <p:cNvPr id="40" name="값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210</a:t>
            </a:r>
          </a:p>
        </p:txBody>
      </p:sp>
      <p:sp>
        <p:nvSpPr>
          <p:cNvPr id="41" name="연도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’25년</a:t>
            </a:r>
          </a:p>
        </p:txBody>
      </p:sp>
      <p:sp>
        <p:nvSpPr>
          <p:cNvPr id="43" name="카드 문구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근무시간 단축제</a:t>
            </a:r>
          </a:p>
        </p:txBody>
      </p:sp>
      <p:sp>
        <p:nvSpPr>
          <p:cNvPr id="45" name="값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63</a:t>
            </a:r>
          </a:p>
        </p:txBody>
      </p:sp>
      <p:sp>
        <p:nvSpPr>
          <p:cNvPr id="46" name="연도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’24년</a:t>
            </a:r>
          </a:p>
        </p:txBody>
      </p:sp>
      <p:sp>
        <p:nvSpPr>
          <p:cNvPr id="48" name="값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102</a:t>
            </a:r>
          </a:p>
        </p:txBody>
      </p:sp>
      <p:sp>
        <p:nvSpPr>
          <p:cNvPr id="49" name="연도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’25년</a:t>
            </a:r>
          </a:p>
        </p:txBody>
      </p:sp>
      <p:sp>
        <p:nvSpPr>
          <p:cNvPr id="51" name="카드 문구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新 유연근무제</a:t>
            </a:r>
          </a:p>
        </p:txBody>
      </p:sp>
      <p:sp>
        <p:nvSpPr>
          <p:cNvPr id="53" name="값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17</a:t>
            </a:r>
          </a:p>
        </p:txBody>
      </p:sp>
      <p:sp>
        <p:nvSpPr>
          <p:cNvPr id="54" name="연도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육아기</a:t>
            </a:r>
          </a:p>
        </p:txBody>
      </p:sp>
      <p:sp>
        <p:nvSpPr>
          <p:cNvPr id="56" name="값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284</a:t>
            </a:r>
          </a:p>
        </p:txBody>
      </p:sp>
      <p:sp>
        <p:nvSpPr>
          <p:cNvPr id="57" name="연도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격주</a:t>
            </a: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158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소통·공감 기반의 인사·복지제도 개선을 통한 만족도 향상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7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8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K-water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가족친화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인사복지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제 도</a:t>
            </a:r>
          </a:p>
        </p:txBody>
      </p:sp>
      <p:sp>
        <p:nvSpPr>
          <p:cNvPr id="11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역량 기반의 새로운 승진제도 정립</a:t>
            </a:r>
          </a:p>
        </p:txBody>
      </p:sp>
      <p:sp>
        <p:nvSpPr>
          <p:cNvPr id="12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참여·소통 기반의 高체감 인사혁신 지속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승진 공정성을 강화한 新 승진제도: 신규 역량 중심 승진시험 최초 시행 * 근무성적·시험점수·다면평가 등 반영 / 효과 기존 승진 흐름 대비 1~2년 조기 승진자 배출(26명)로 조직 활력 제고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전보 직원이 설계하는 K-water型 전보제도: 노사공동 TF(66명, 총 21회 회의) → 全 직원 의견수렴(설문조사 2회, 현장설명회 22회) → 평등한 제도 본부·현장 고려 촘촘한 제도설계, 직원 수용성 제고</a:t>
            </a:r>
          </a:p>
        </p:txBody>
      </p:sp>
      <p:sp>
        <p:nvSpPr>
          <p:cNvPr id="16" name="배너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가족愛 행복캠프 가족 구성원간 유대 강화·이해와 공감 중심 소통의 場 마련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부모님 가족 마음 연결: 예술 감상 음악 치유 기성세대 부모·자녀직원 가족 이해증진·유대감 강화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부부 공감 소통: 부부 소통특강 심리진단 기반 부부간 대화법·소통 기술 학습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자녀 가족 유대 강화: 실내 올림픽 부모·자녀 간 애착 형성, 긍정적 가족 정서 경험</a:t>
            </a:r>
          </a:p>
        </p:txBody>
      </p:sp>
      <p:sp>
        <p:nvSpPr>
          <p:cNvPr id="22" name="배너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캠프참여자(478명) 대상 만족도 조사 96.1점 달성</a:t>
            </a:r>
          </a:p>
        </p:txBody>
      </p:sp>
      <p:sp>
        <p:nvSpPr>
          <p:cNvPr id="24" name="레일 태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자회사</a:t>
            </a:r>
          </a:p>
        </p:txBody>
      </p:sp>
      <p:sp>
        <p:nvSpPr>
          <p:cNvPr id="25" name="레일 라벨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우리도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함 께</a:t>
            </a:r>
          </a:p>
        </p:txBody>
      </p:sp>
      <p:sp>
        <p:nvSpPr>
          <p:cNvPr id="27" name="단계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모·자회사 공동 협의회</a:t>
            </a:r>
          </a:p>
        </p:txBody>
      </p:sp>
      <p:sp>
        <p:nvSpPr>
          <p:cNvPr id="28" name="단계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예산·인력 지원 확대</a:t>
            </a:r>
          </a:p>
        </p:txBody>
      </p:sp>
      <p:sp>
        <p:nvSpPr>
          <p:cNvPr id="29" name="단계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 창출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자회사 복지·예산 등 근무환경 개선사항 논의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모회사 수준 복지(중식·이전비)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안전인력(10명)·예산(0.9억원) 확대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자회사 운영 실태평가 최고점수(A등급) 달성</a:t>
            </a:r>
          </a:p>
        </p:txBody>
      </p:sp>
      <p:sp>
        <p:nvSpPr>
          <p:cNvPr id="38" name="핵심성과 라벨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9" name="핵심성과 문구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체감형 인사·복지제도 개선으로 역대 최고 인사만족도(77.9점), 복지만족도(4.21점) 달성</a:t>
            </a: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159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 ‘근무 환경’ &amp; ‘일하는 방식’ 개선으로 행복하고 효율적인 일터 조성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0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3" name="레일 태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근무환경</a:t>
            </a:r>
          </a:p>
        </p:txBody>
      </p:sp>
      <p:sp>
        <p:nvSpPr>
          <p:cNvPr id="14" name="레일 라벨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조직활력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제 고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부서별 코칭 + </a:t>
            </a:r>
          </a:p>
        </p:txBody>
      </p:sp>
      <p:sp>
        <p:nvSpPr>
          <p:cNvPr id="16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조직 융화 +</a:t>
            </a:r>
          </a:p>
        </p:txBody>
      </p:sp>
      <p:sp>
        <p:nvSpPr>
          <p:cNvPr id="17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조기 적응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맞춤형 조직문화 개선 코칭: 상향식 소통의 부서 코칭 확대(12 → 26개) 운영 / 부서선정 · 심층진단 · 맞춤코칭 · 확산활동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참여부서 신뢰경영지수 평균 11점 상승(77 → 88점)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계층별 조직적응 지원: 저연차 → 취약계층 확대 / 맞춤형 모듈 기획·운영 / 전문직·실무직·고참 차장 소통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참여자 만족도 97.4점(전년比 1.9점↑) 달성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전입·복직자 적응 교육: 업무 조기 적응향상을 위해 온라인 학습 지원 / 이러닝 · 온보딩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전입·복직자 니즈를 반영 교육 콘텐츠 32개 추가 반영</a:t>
            </a:r>
          </a:p>
        </p:txBody>
      </p:sp>
      <p:sp>
        <p:nvSpPr>
          <p:cNvPr id="23" name="배너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‘맞춤형 프로그램’을 통한 다양한 계층 튜아보기로 ‘일하고 싶은 문화’ 조성</a:t>
            </a:r>
          </a:p>
        </p:txBody>
      </p:sp>
      <p:sp>
        <p:nvSpPr>
          <p:cNvPr id="25" name="레일 태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일하는 방식</a:t>
            </a:r>
          </a:p>
        </p:txBody>
      </p:sp>
      <p:sp>
        <p:nvSpPr>
          <p:cNvPr id="26" name="레일 라벨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자유롭고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유연하게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일하기</a:t>
            </a:r>
          </a:p>
        </p:txBody>
      </p:sp>
      <p:sp>
        <p:nvSpPr>
          <p:cNvPr id="28" name="머리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자유로운 일방식 구현</a:t>
            </a:r>
          </a:p>
        </p:txBody>
      </p:sp>
      <p:sp>
        <p:nvSpPr>
          <p:cNvPr id="29" name="머리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일과 쉼의 조화 ‘워터케이션’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집중근무·디지털 오피스 근무여건 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탄력적 근무제도 도입(15분 단위 휴가사용)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근무시간 총량제 → 스마트 업무환경 → 근무시간 유연화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 일과 쉼의 조화 ‘워터케이션’: 동료型 이색장소 연계 새로운 인사이트 모색 / 가족型 집중근무 후 가족 여가·체험 활동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동료 업무 몰입도↑ 가족 일·가정 양립 만족도↑</a:t>
            </a:r>
          </a:p>
        </p:txBody>
      </p:sp>
      <p:sp>
        <p:nvSpPr>
          <p:cNvPr id="34" name="핵심성과 라벨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5" name="핵심성과 문구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직원만족 신뢰경영지수 역대 최고점수 91점 달성(응답률 역대최다 53.6%, 전년比 4점↑)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대외인정 ‘아시아에서 가장 일하기 좋은 200대 기업’ 포함(대기업 부문 22위, GPTW, ’25.9)</a:t>
            </a: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160</a:t>
            </a:r>
          </a:p>
        </p:txBody>
      </p:sp>
      <p:sp>
        <p:nvSpPr>
          <p:cNvPr id="4" name="주석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3B4951"/>
                </a:solidFill>
                <a:latin typeface="Pretendard"/>
                <a:ea typeface="Pretendard"/>
              </a:rPr>
              <a:t>가중치 2.5점  ·  평가방법 9등급 평가</a:t>
            </a:r>
          </a:p>
        </p:txBody>
      </p:sp>
      <p:sp>
        <p:nvSpPr>
          <p:cNvPr id="7" name="장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800" b="1" spc="-90" dirty="0">
                <a:solidFill>
                  <a:srgbClr val="000359"/>
                </a:solidFill>
                <a:latin typeface="Pretendard"/>
                <a:ea typeface="Pretendard"/>
              </a:rPr>
              <a:t>노사관계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지표정의</a:t>
            </a:r>
          </a:p>
        </p:txBody>
      </p:sp>
      <p:sp>
        <p:nvSpPr>
          <p:cNvPr id="11" name="본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협력적 노사관계를 위한 노력과 성과를 평가한다.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세부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평가</a:t>
            </a:r>
          </a:p>
        </p:txBody>
      </p:sp>
      <p:sp>
        <p:nvSpPr>
          <p:cNvPr id="14" name="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❶ 노사 간 협력체계 구축과 실질적 운영 등이 상호 협력과 참여에 기반하여 합리적이고 적법하게 이루어지고 있는지 여부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❷ 노사 간의 공감대 형성을 위한 의사소통과 노사관계 관리 역량 강화를 위한 노력과 성과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❸ 노사협력을 통한 근로조건의 실질적 향상과 구체적 성과</a:t>
            </a:r>
          </a:p>
        </p:txBody>
      </p:sp>
      <p:graphicFrame>
        <p:nvGraphicFramePr>
          <p:cNvPr id="15" name="실적표"/>
          <p:cNvGraphicFramePr>
            <a:graphicFrameLocks noGrp="1"/>
          </p:cNvGraphicFramePr>
          <p:nvPr/>
        </p:nvGraphicFramePr>
        <p:xfrm>
          <a:off x="723130" y="2662591"/>
          <a:ext cx="6300001" cy="969653"/>
        </p:xfrm>
        <a:graphic>
          <a:graphicData uri="http://schemas.openxmlformats.org/drawingml/2006/table">
            <a:tbl>
              <a:tblPr/>
              <a:tblGrid>
                <a:gridCol w="662870"/>
                <a:gridCol w="624522"/>
                <a:gridCol w="5012609"/>
              </a:tblGrid>
              <a:tr h="230087">
                <a:tc gridSpan="2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직위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성명 · 연락처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E-mail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</a:tr>
              <a:tr h="24652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경영부문장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남영현 · 042-629-2203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nyh@kwater.or.kr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노사협력처장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박혜원 · 042-629-2650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hyewon@kwater.or.kr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노사협력부장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이석원 · 042-629-2651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leesw@kwater.or.kr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161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9" name="장 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800" b="1" spc="-90" dirty="0">
                <a:solidFill>
                  <a:srgbClr val="000359"/>
                </a:solidFill>
                <a:latin typeface="Pretendard"/>
                <a:ea typeface="Pretendard"/>
              </a:rPr>
              <a:t>Contents</a:t>
            </a:r>
          </a:p>
        </p:txBody>
      </p:sp>
      <p:graphicFrame>
        <p:nvGraphicFramePr>
          <p:cNvPr id="11" name="실적표"/>
          <p:cNvGraphicFramePr>
            <a:graphicFrameLocks noGrp="1"/>
          </p:cNvGraphicFramePr>
          <p:nvPr/>
        </p:nvGraphicFramePr>
        <p:xfrm>
          <a:off x="536870" y="1276435"/>
          <a:ext cx="6300001" cy="2695307"/>
        </p:xfrm>
        <a:graphic>
          <a:graphicData uri="http://schemas.openxmlformats.org/drawingml/2006/table">
            <a:tbl>
              <a:tblPr/>
              <a:tblGrid>
                <a:gridCol w="662870"/>
                <a:gridCol w="624522"/>
                <a:gridCol w="5012609"/>
              </a:tblGrid>
              <a:tr h="230087">
                <a:tc gridSpan="2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장 · 평가내용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항목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쪽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</a:tr>
              <a:tr h="24652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Ⅰ. 2024년 지적사항 조치실적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100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Ⅱ. 2025년 주요 추진실적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100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Ⅲ. 2025년 세부평가내용별 추진실적 및 성과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101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 rowSpan="3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평가내용 1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1. 新노동 패러다임에 신속한 대응, 노사 全분야 펀더멘탈 확립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101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 v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2. 법과 원칙에 따른 노사기준 재정비 및 참여형 디지털 노무광장 오픈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102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 v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3. 분쟁 발생 이전에 작동하는 선제적 노사갈등 관리체계 도입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103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 rowSpan="2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평가내용 2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1. 한층 더 다가가는 노사리더, 직원 목소리로 다듬는 노동이사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104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 v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2. 노사전략과 환경변화를 연결하는 계층별 노무역량강화 모델 최적화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105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 rowSpan="2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평가내용 3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1. 직원 숙원을 해소하고, 더 나은 일터를 설계하는 노사 파트너십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106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 v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2. 가족과 안전은 지속가능한 근로조건의 근간, 노사가 함께 지속 혁신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107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162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新노동 패러다임에 신속한 대응, 노사 全분야 펀더멘탈 확립</a:t>
            </a:r>
          </a:p>
        </p:txBody>
      </p:sp>
      <p:sp>
        <p:nvSpPr>
          <p:cNvPr id="11" name="레일 태그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대외환경</a:t>
            </a:r>
          </a:p>
        </p:txBody>
      </p:sp>
      <p:sp>
        <p:nvSpPr>
          <p:cNvPr id="12" name="레일 라벨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 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 조</a:t>
            </a:r>
          </a:p>
        </p:txBody>
      </p:sp>
      <p:sp>
        <p:nvSpPr>
          <p:cNvPr id="13" name="배너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국정과제 93 차별과 배제 없는 일터 · 94 노동존중, 노동기본권 보장 · 95 행복한 일터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노동존중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노동안전</a:t>
            </a:r>
          </a:p>
        </p:txBody>
      </p:sp>
      <p:sp>
        <p:nvSpPr>
          <p:cNvPr id="16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일·생활 균형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노조법 개정, 노동기본권 보장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공정한 노사교섭 환경 구축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중대재해 예방·관리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근로자 권익 보호 중시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 노동시간 단축 추진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일·가정 양립 지원 강화</a:t>
            </a:r>
          </a:p>
        </p:txBody>
      </p:sp>
      <p:sp>
        <p:nvSpPr>
          <p:cNvPr id="23" name="레일 태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대내환경</a:t>
            </a:r>
          </a:p>
        </p:txBody>
      </p:sp>
      <p:sp>
        <p:nvSpPr>
          <p:cNvPr id="24" name="레일 라벨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의 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 렴</a:t>
            </a:r>
          </a:p>
        </p:txBody>
      </p:sp>
      <p:sp>
        <p:nvSpPr>
          <p:cNvPr id="26" name="머리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(使) K-water 소통</a:t>
            </a:r>
          </a:p>
        </p:txBody>
      </p:sp>
      <p:sp>
        <p:nvSpPr>
          <p:cNvPr id="27" name="머리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임직원 니즈 공정·미래</a:t>
            </a:r>
          </a:p>
        </p:txBody>
      </p:sp>
      <p:sp>
        <p:nvSpPr>
          <p:cNvPr id="28" name="머리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(勞) 노동조합 공정·협력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노사법치주의 토대 상생협력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최적 노무리스크 관리 필요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일·가정 양립 요구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노무역량 필요성 인지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노동법 개정에 따른 역할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조합원 근로조건 향상에 집중</a:t>
            </a:r>
          </a:p>
        </p:txBody>
      </p:sp>
      <p:sp>
        <p:nvSpPr>
          <p:cNvPr id="35" name="태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36" name="캡션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중장기 노사 발전전략 미션 + 新정책환경 + 노사니즈의 정합 필요</a:t>
            </a:r>
          </a:p>
        </p:txBody>
      </p:sp>
      <p:sp>
        <p:nvSpPr>
          <p:cNvPr id="38" name="레일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목 표</a:t>
            </a:r>
          </a:p>
        </p:txBody>
      </p:sp>
      <p:sp>
        <p:nvSpPr>
          <p:cNvPr id="39" name="배너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법과 원칙을 기반으로 상생협력을 지향하는 ‘4대 노사협력 실행체계’ 혁신</a:t>
            </a:r>
          </a:p>
        </p:txBody>
      </p:sp>
      <p:sp>
        <p:nvSpPr>
          <p:cNvPr id="40" name="레일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4 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실행체계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 운영방향 재수립: 중장기 전략 Rolling, 9대 실행과제 도출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핵심가치 등 노사전략에 부합하는 ’25년 방향수립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조직 전담조직 신설: 노사담당 독립 부서격상, 법·제도 담당 부(部) 신설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노사협력처 부서격상, 노무담당 인원 2배 증원(12명)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시스템 K-노무포털 신설: 데이터 기반 투명한 노사관계 확립 지원·관리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L-Guard, 노사협의회 관리, 노동정책·자료 공유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제도 단체협약 등 개정: 노동존중 등 정부정책 선도 기반 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건강한 노사관계, 근로자 안전, 일·가정 양립 등 21건 개정</a:t>
            </a:r>
          </a:p>
        </p:txBody>
      </p:sp>
      <p:sp>
        <p:nvSpPr>
          <p:cNvPr id="49" name="배너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중장기 Mission에 정합한 ’25년 노사관계 운영방향 9대 실행과제</a:t>
            </a:r>
          </a:p>
        </p:txBody>
      </p:sp>
      <p:sp>
        <p:nvSpPr>
          <p:cNvPr id="50" name="단계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공정과 협력의 노사관계</a:t>
            </a:r>
          </a:p>
        </p:txBody>
      </p:sp>
      <p:sp>
        <p:nvSpPr>
          <p:cNvPr id="51" name="단계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맞춤형 소통과 미래 역량 확보</a:t>
            </a:r>
          </a:p>
        </p:txBody>
      </p:sp>
      <p:sp>
        <p:nvSpPr>
          <p:cNvPr id="52" name="단계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협력 중심 미래 근로조건 향상</a:t>
            </a:r>
          </a:p>
        </p:txBody>
      </p:sp>
      <p:sp>
        <p:nvSpPr>
          <p:cNvPr id="55" name="칸 본문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협력적 노사기준 재정립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K-노무포털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갈등 관리체계 2.0 도입</a:t>
            </a:r>
          </a:p>
        </p:txBody>
      </p:sp>
      <p:sp>
        <p:nvSpPr>
          <p:cNvPr id="56" name="칸 본문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교차식 노사소통 창구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新노동이사 진단체계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노무역량강화 모델 구조화</a:t>
            </a:r>
          </a:p>
        </p:txBody>
      </p:sp>
      <p:sp>
        <p:nvSpPr>
          <p:cNvPr id="58" name="칸 본문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갈등별 구체적 솔루션 도출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無분규 제19차 단체협약 개정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가족·안전분야 근로조건 혁신</a:t>
            </a:r>
          </a:p>
        </p:txBody>
      </p:sp>
      <p:sp>
        <p:nvSpPr>
          <p:cNvPr id="61" name="성과 라벨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대표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성과</a:t>
            </a:r>
          </a:p>
        </p:txBody>
      </p:sp>
      <p:sp>
        <p:nvSpPr>
          <p:cNvPr id="62" name="성과 띠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노동법 위반, 시정명령 ‘Zero’ · 신뢰경영지수 역대 최고 · 공공기관 종합청렴도 1등급</a:t>
            </a:r>
          </a:p>
        </p:txBody>
      </p:sp>
      <p:sp>
        <p:nvSpPr>
          <p:cNvPr id="64" name="카드 문구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노동법 위반·시정명령 Zero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노사관계 만족도 0.7점↑(91.6 → 92.3점)</a:t>
            </a:r>
          </a:p>
        </p:txBody>
      </p:sp>
      <p:sp>
        <p:nvSpPr>
          <p:cNvPr id="66" name="카드 문구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신뢰경영지수 역대 최고점(91점)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아시아에서 일하기 좋은 기업 200대 선정, GPTW</a:t>
            </a:r>
          </a:p>
        </p:txBody>
      </p:sp>
      <p:sp>
        <p:nvSpPr>
          <p:cNvPr id="68" name="카드 문구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공공기관 종합청렴도 ‘1등급’ 달성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공기업 31개 기관 中 1위</a:t>
            </a: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163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법과 원칙에 따른 노사기준 재정비 및 참여형 디지털 노무광장 오픈</a:t>
            </a:r>
          </a:p>
        </p:txBody>
      </p:sp>
      <p:sp>
        <p:nvSpPr>
          <p:cNvPr id="13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 노와 사 한마음으로 차질 없는 국민 물공급 실현 및 적법한 노동권 보장</a:t>
            </a:r>
          </a:p>
        </p:txBody>
      </p:sp>
      <p:sp>
        <p:nvSpPr>
          <p:cNvPr id="14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공익 실현 국민생활과 경제의 안정성 확보를 위해 노동권(쟁의행위) 제한 범위 합리적 조정 필요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시설운영 강화 등 現 필수유지업무협정(’15년) 재검토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적법성 확보 근로시간면제제도 관행을 탈피, 실제 활동시간 기반 합법적 조합활동 보장 필요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’19년 합의 후 소정근로시간에 대한 재계산 추진</a:t>
            </a:r>
          </a:p>
        </p:txBody>
      </p:sp>
      <p:sp>
        <p:nvSpPr>
          <p:cNvPr id="20" name="레일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추진내용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필수유지업무협정 개정: 어떤 경우에도 24시간 안정적인 물공급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공사 측의 개정 필요성 제안 * 운영안정성 제고 및 변화된 시설 운영여건 반영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상호공감(교섭 4회) 기반 타결 / 물공급 시설 운영 중심 필수유지업무 비율 재조정: 운영업무(24시간 교대근무) 63% → 100%, 지원업무(일반행정 등) 40% → 20%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근로시간면제제도 재합의: 노사법치 기반, 건전한 노조활동 보장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노동조합 측 재검토 요청 * 소정근로시간(2,000시간)을 실제 휴일(토·일, 대체 등)로 계산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他기관 사례, 법률자문 기반 합의 / 매년 실제 활동시간 및 근로시간면제자 재산정: 면제한도 26,400시간, 활동시간 2,000시간, 전임직원 13.2명(고정) → 매년 계산(변동)</a:t>
            </a:r>
          </a:p>
        </p:txBody>
      </p:sp>
      <p:sp>
        <p:nvSpPr>
          <p:cNvPr id="26" name="핵심성과 라벨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27" name="핵심성과 문구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부당노동행위 등을 포함한 노동관계 법령 위반 및 시정명령 건수 Zero 달성(2 → 0건)</a:t>
            </a: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164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체계적 노사합의 관리 및 정보공유의 場, ‘K-노무포털(Portal)’ 런칭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7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9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성과환류</a:t>
            </a:r>
          </a:p>
        </p:txBody>
      </p:sp>
      <p:sp>
        <p:nvSpPr>
          <p:cNvPr id="10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全사업장 준법경영 기반: 노동관계 법령 준수 및 리스크 해소를 위한 체계적 대응 시스템 L-Guard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사전예방 경각심 환기, 간부 자율점검 / 대응지원 시스템 등록, 전문가 대응 / 사후관리 위반사례 DB화, 상시 컨설팅</a:t>
            </a:r>
          </a:p>
        </p:txBody>
      </p:sp>
      <p:sp>
        <p:nvSpPr>
          <p:cNvPr id="11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환류 빈틈없는 합의관리 및 정보공유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노조법 ‘명백한 단체협약(노사협의회) 위반 방지’를 목표로 근본적 관리방식 개선 필요 / 직원 변화된 노동기준에 대한 관심 증가, 노무정보에 대한 전사적 접근성 확대 필요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K-노무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포 털</a:t>
            </a:r>
          </a:p>
        </p:txBody>
      </p:sp>
      <p:sp>
        <p:nvSpPr>
          <p:cNvPr id="15" name="배너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노동법 위반방지 + ’25년 노사합의사항 관리 체계화 + 정보전달</a:t>
            </a:r>
          </a:p>
        </p:txBody>
      </p:sp>
      <p:sp>
        <p:nvSpPr>
          <p:cNvPr id="16" name="단계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K-노무포털 기존 L-Guard + 개선</a:t>
            </a:r>
          </a:p>
        </p:txBody>
      </p:sp>
      <p:sp>
        <p:nvSpPr>
          <p:cNvPr id="17" name="단계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노사합의 관리시스템화</a:t>
            </a:r>
          </a:p>
        </p:txBody>
      </p:sp>
      <p:sp>
        <p:nvSpPr>
          <p:cNvPr id="18" name="단계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❷ 참여형 노무정보 HUB 구현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❶ 관리시스템 ❷ 정보 HUB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노사합의사항 全직원 공유 및 이행·관리체계로 누수 방지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全과정 시스템 등록·관리 / 미이행 건 자동 메일링 알림 / 안건별 진행사항 시각화 표시 / 안건 담당자 실명제 운영·관리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정책(법률), 제도, 노사동향 등 직원맞춤형 정보 원스톱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자주묻는 자문, 휴가 Q&amp;A 등 현안에 대한 최적답안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현장까지 노무관리 내재화 실현</a:t>
            </a:r>
          </a:p>
        </p:txBody>
      </p:sp>
      <p:sp>
        <p:nvSpPr>
          <p:cNvPr id="27" name="핵심성과 라벨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28" name="핵심성과 문구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노무자문 이용건수 100% 증가(’24년 32건 → ’25년 64건), 현장 노동법 위반 전면차단(0건)</a:t>
            </a: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165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분쟁 발생 이전에 작동하는 선제적 노사갈등 관리체계 2.0 도입</a:t>
            </a:r>
          </a:p>
        </p:txBody>
      </p:sp>
      <p:sp>
        <p:nvSpPr>
          <p:cNvPr id="12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3" name="번호 띠 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6" name="레일 태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</a:t>
            </a:r>
          </a:p>
        </p:txBody>
      </p:sp>
      <p:sp>
        <p:nvSpPr>
          <p:cNvPr id="17" name="레일 라벨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그간의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갈등관리</a:t>
            </a:r>
          </a:p>
        </p:txBody>
      </p:sp>
      <p:sp>
        <p:nvSpPr>
          <p:cNvPr id="18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全직원 참여형 갈등관리 프로세스 1.0 도입</a:t>
            </a:r>
          </a:p>
        </p:txBody>
      </p:sp>
      <p:sp>
        <p:nvSpPr>
          <p:cNvPr id="19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유형별 갈등수준 진단</a:t>
            </a:r>
          </a:p>
        </p:txBody>
      </p:sp>
      <p:sp>
        <p:nvSpPr>
          <p:cNvPr id="20" name="단계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결과분석 및 갈등대응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4개 범주, 13개 갈등유형 정의: 노사간 이익갈등(근로조건·근무환경 2개), 노사간 규범갈등(조합활동·경영참여 2개), 직원간 이익갈등(승진전보 3개), 직원간 규범갈등(세대간 등 6개)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全직원 설문 등을 통한 유형별 갈등수준 진단 / 노사관계 영향도 분석 / 3단계(경계·주의·관심) 수준결정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대응주체 설정, 시나리오 기반 표준화된 갈등해결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 TF · 협의체 · 직원간 / 이익 공정배분 · 규범 대화협의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구체적 갈등대응 성과 ▶ p.106</a:t>
            </a:r>
          </a:p>
        </p:txBody>
      </p:sp>
      <p:sp>
        <p:nvSpPr>
          <p:cNvPr id="29" name="레일 태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</a:t>
            </a:r>
          </a:p>
        </p:txBody>
      </p:sp>
      <p:sp>
        <p:nvSpPr>
          <p:cNvPr id="30" name="레일 라벨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새롭게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직면한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경</a:t>
            </a:r>
          </a:p>
        </p:txBody>
      </p:sp>
      <p:sp>
        <p:nvSpPr>
          <p:cNvPr id="32" name="배너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노동조합법 개정(’26.3 시행)에 따라 폭넓은 대내외 노사·노노갈등이 예상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쟁의대상 확대(예측가능 갈등): 직원 인사, 신규사업(근로조건) 결정 등 노조 교섭요구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단협개정 등을 통해 선제적 갈등 해소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사용자 범위 확대(예측불가능 갈등): 용역·의제별 교섭요구, 창구 단일화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사전 시나리오 구축, 대응역량 확충</a:t>
            </a:r>
          </a:p>
        </p:txBody>
      </p:sp>
      <p:sp>
        <p:nvSpPr>
          <p:cNvPr id="37" name="태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38" name="캡션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환경변화에 따라 발생할 수 있는 갈등의 양상을 고려, 단계별 관리 고도화 필요</a:t>
            </a:r>
          </a:p>
        </p:txBody>
      </p:sp>
      <p:sp>
        <p:nvSpPr>
          <p:cNvPr id="41" name="레일 태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예측가능</a:t>
            </a:r>
          </a:p>
        </p:txBody>
      </p:sp>
      <p:sp>
        <p:nvSpPr>
          <p:cNvPr id="42" name="레일 라벨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갈등관리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대응역량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UP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잠재된 갈등 진단: 旣 정의된 13개 갈등유형 中 노동환경 변화에 따른 잠재갈등 요인 진단(FGI, 노사전문가 20인) / 단협 실무교섭委 노 7인 사 7인, 사내 전문가 변호사 1인 노무사 1인, 노동이사 1인, 전문기관 3인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진단결과 기반, 맞춤형 노사갈등 관리 2.0 실현: 예측되는 4개 갈등유형 선정, 법 개정 전 쟁점 해소 / 조합활동 · 경영참여 · 근로조건 · 모·자회사간 / 근로시간면제 및 필수유지업무협정서 재검토, 체결 / 단체협약 선제적 개정으로 경영참여권 확대 / 노사합의 기반 휴가·복지제도 전방위적 개선 / 모-자회사 소통 강화를 통한 갈등 해소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적용사례 표면화기 갈등진단: 경영참여 사업경영상 결정 선제적 단협개정 — 新사업(초순수 등) 추진시, 근로환경 변화 * 경영상 결정에 따른 근로조건 변경으로 쟁의 가능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고조기 갈등대응: 노사간 규범갈등 ➡ 단협 교섭에 따른 대화 협의 / 단체협약 실무위원 교섭(4회) * 초순수 등 신규사업 추진 필요성 * 직원·노조 의견수렴 절차 개선 필요</a:t>
            </a:r>
          </a:p>
        </p:txBody>
      </p:sp>
      <p:sp>
        <p:nvSpPr>
          <p:cNvPr id="49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모·자회사간 소통기반 안전격차 해소: 자회사 노조 민원발생, 집회예고 / 4자간(모·자회사 노사) 깊은 소통(2회) / 완화기 갈등해소: 사업개발委 도입, 집회철회·자회사 니즈 수용</a:t>
            </a:r>
          </a:p>
        </p:txBody>
      </p:sp>
      <p:sp>
        <p:nvSpPr>
          <p:cNvPr id="51" name="배너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갈등진단 결과, 13개 갈등 全유형 점수 하향(3.76 → 3.49점)</a:t>
            </a:r>
          </a:p>
        </p:txBody>
      </p:sp>
      <p:sp>
        <p:nvSpPr>
          <p:cNvPr id="53" name="레일 태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예측불가능</a:t>
            </a:r>
          </a:p>
        </p:txBody>
      </p:sp>
      <p:sp>
        <p:nvSpPr>
          <p:cNvPr id="54" name="레일 라벨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미래갈등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사전대비</a:t>
            </a:r>
          </a:p>
        </p:txBody>
      </p:sp>
      <p:sp>
        <p:nvSpPr>
          <p:cNvPr id="56" name="칸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사용자성 판단기준 진단: 노동조합법 개정 시행에 따른 갈등 예측(FGI, 이해관계자 14인) / 노무담당 6인 · 자회사 2인 · 전산유지 1인 · 노동조합 2인 · 점검정비 2인 · 수도검침 1인</a:t>
            </a:r>
          </a:p>
        </p:txBody>
      </p:sp>
      <p:sp>
        <p:nvSpPr>
          <p:cNvPr id="57" name="칸 본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갈등대응 컨틴전시 플랜 수립: 전문가 판례기반 30개 항목 진단, 실질적 갈등요인 분석 * 원청 사업수행 필수(10개), 단체교섭 필요(3개), 실질·구체적 지배(17개) / 선제적/예방 관리체계 정립 · 과업관리감독 시스템 개선 · 단체교섭 창구 일원화 · 노무관리체계 재구축</a:t>
            </a:r>
          </a:p>
        </p:txBody>
      </p:sp>
      <p:sp>
        <p:nvSpPr>
          <p:cNvPr id="60" name="핵심성과 라벨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61" name="핵심성과 문구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선제적 갈등 예방·관리로 중대갈등 Zero 달성 및 협력적 노사갈등해소 모델 제시</a:t>
            </a: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166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한층 더 다가가는 노사리더, 직원 목소리로 다듬는 노동이사</a:t>
            </a:r>
          </a:p>
        </p:txBody>
      </p:sp>
      <p:sp>
        <p:nvSpPr>
          <p:cNvPr id="9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0" name="번호 띠 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노사소통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現 주 소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 직원의 소통 인식: 공사·노조의 상·하향식 소통체계에 대한 직원 만족도 지속 상승 中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그러나, 외부 전문가(평가단)의 제언: 공사·노조 CSR 점수 하락에 대한 개선방안 마련 / 노동이사 경영활동에 대한 직원 환류체계 필요</a:t>
            </a:r>
          </a:p>
        </p:txBody>
      </p:sp>
      <p:sp>
        <p:nvSpPr>
          <p:cNvPr id="17" name="태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18" name="캡션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①노사리더 소통 중심 사회적 책임 향상과 ②노동이사-직원 간 긴밀한 소통체계 마련</a:t>
            </a:r>
          </a:p>
        </p:txBody>
      </p:sp>
      <p:sp>
        <p:nvSpPr>
          <p:cNvPr id="20" name="레일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양 방 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‘ 소 통 ’</a:t>
            </a:r>
          </a:p>
        </p:txBody>
      </p:sp>
      <p:sp>
        <p:nvSpPr>
          <p:cNvPr id="21" name="머리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CEO ↔ 직원</a:t>
            </a:r>
          </a:p>
        </p:txBody>
      </p:sp>
      <p:sp>
        <p:nvSpPr>
          <p:cNvPr id="22" name="머리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직원 ↔ 위원장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CEO 채널 현장 방문(14회), 톡톡水력 활성화(붐업 이벤트 등), 청렴 프로모터(24명)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 新전략·비전 공유 등 직원 의견 수렴을 위한 전사 타운홀 미팅(120명)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기타 직원이사회 20주년 기념행사 소통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위원장 채널 현장 직접 방문·조합원 소통(28회), 조합원의 목소리(322건) CEO 전달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 차세대 노동리더 양성, 소통체계 구축을 위한 희망노동위원회(14명) 신설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기타 현안대응 대의원대회 확대(1~3회)</a:t>
            </a:r>
          </a:p>
        </p:txBody>
      </p:sp>
      <p:sp>
        <p:nvSpPr>
          <p:cNvPr id="26" name="레일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한 단계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도약하는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‘핫라인’</a:t>
            </a:r>
          </a:p>
        </p:txBody>
      </p:sp>
      <p:sp>
        <p:nvSpPr>
          <p:cNvPr id="28" name="단계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비정형적 핫라인 운영 * 이슈발생시 24시간 이내 소집</a:t>
            </a:r>
          </a:p>
        </p:txBody>
      </p:sp>
      <p:sp>
        <p:nvSpPr>
          <p:cNvPr id="29" name="단계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개선 노사리더 ‘핫라인 발동요건’ 합의: 사회 이슈(국가재난 등) · 업무 중 직원사고 · 全직원 영향 제도·문화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비정형적 핫라인 운영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1회(국가재난) 경북 산불대응 노사공동 논의 → 피해구호 성금 지원 대규모 병물 지원 직원 건강검진 지원 / 2회(직원사고) 업무상 사고시 직원보호체계 마련 → 직원 밀착지원 안심케어센터 신설 / 3회(제도) 정부경영평가 직원 관심도 제고 → 경영평가 포털 신설, 노사TF 추진 / 4회(문화) 전사차원의 노사 소통·문화 활동 제안 → 노사 E-Sports 대회 Celebrate 58 등 컨텐츠 진행</a:t>
            </a:r>
          </a:p>
        </p:txBody>
      </p:sp>
      <p:sp>
        <p:nvSpPr>
          <p:cNvPr id="34" name="레일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노사협력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가 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‘노동이사’</a:t>
            </a:r>
          </a:p>
        </p:txBody>
      </p:sp>
      <p:sp>
        <p:nvSpPr>
          <p:cNvPr id="36" name="단계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’23.6 취임 제도정비 · 기반마련</a:t>
            </a:r>
          </a:p>
        </p:txBody>
      </p:sp>
      <p:sp>
        <p:nvSpPr>
          <p:cNvPr id="37" name="단계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역량강화 전문역량 확보 · 대외 네트워크 강화</a:t>
            </a:r>
          </a:p>
        </p:txBody>
      </p:sp>
      <p:sp>
        <p:nvSpPr>
          <p:cNvPr id="38" name="단계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’25년 소통 활성화 대내 직원 소통강화 · 직원 환류체계 신설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제도정비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기반마련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전문역량 확보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대외 네트워크 강화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대내 직원 소통강화 · 직원 환류체계 신설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노조 회의 참석·활동 공유(8회) / 현안·부서별 소통간담회(33회) / K-Study, 직원이사회 멘토링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진단 직원의견을 수렴하는 노동이사: 비상임이사 직무평가(재경부)에 직원입장에서 노동이사 활동의견을 청취하는 설문조사 신설 / 직무수행실적보고서(외부, 재경부) + 직원 만족도 조사(내부, 全직원) / 이사회 참여도/기여도 · 인식, 소통, 제도이해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결과, 환류 진단기반 노동이사 소통플랜: 진단결과(2,335명) 3개 문항 평균 95.2점 도출 / 인식도(경영참여 인식도) 95.9점 · 소통(직원 의사소통) 95.5점 · 제도(노동이사제도 이해) 94.2점 · 95.2점(노사관계 만족도 평균대비 2.9점↑) / 노동이사 직원소통계획 수립(노조회의, 부서소통 등)</a:t>
            </a:r>
          </a:p>
        </p:txBody>
      </p:sp>
      <p:sp>
        <p:nvSpPr>
          <p:cNvPr id="50" name="핵심성과 라벨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51" name="핵심성과 문구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신뢰경영지수 역대 최고점(91점) 달성(아시아에서 가장 일하기 좋은 기업 200대 선정, GPTW)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공사·노조 CSR 점수 각 1.6, 0.7점 상승(공사 92.7점 → 94.3점, 노조 95.5점 → 96.2점)</a:t>
            </a: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167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노사전략과 환경변화를 연결하는 계층별 노무역량강화 모델 최적화</a:t>
            </a:r>
          </a:p>
        </p:txBody>
      </p:sp>
      <p:sp>
        <p:nvSpPr>
          <p:cNvPr id="12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필요역량</a:t>
            </a:r>
          </a:p>
        </p:txBody>
      </p:sp>
      <p:sp>
        <p:nvSpPr>
          <p:cNvPr id="15" name="배너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중장기 발전전략: 노무관리를 위한 대표 직무역량 3가지(소통 · 협상력 · 전문성)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계층별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역량모델</a:t>
            </a:r>
          </a:p>
        </p:txBody>
      </p:sp>
      <p:sp>
        <p:nvSpPr>
          <p:cNvPr id="18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공통 기초(全직원)</a:t>
            </a:r>
          </a:p>
        </p:txBody>
      </p:sp>
      <p:sp>
        <p:nvSpPr>
          <p:cNvPr id="19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소통 노사주니어(일반조합원)</a:t>
            </a:r>
          </a:p>
        </p:txBody>
      </p:sp>
      <p:sp>
        <p:nvSpPr>
          <p:cNvPr id="20" name="단계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협상력 노사담당자(노조간부)</a:t>
            </a:r>
          </a:p>
        </p:txBody>
      </p:sp>
      <p:sp>
        <p:nvSpPr>
          <p:cNvPr id="21" name="단계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전문성 관리자, 경영진(노조집행부)</a:t>
            </a:r>
          </a:p>
        </p:txBody>
      </p:sp>
      <p:sp>
        <p:nvSpPr>
          <p:cNvPr id="32" name="레일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추진과제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도 출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❶ 조직문화교육 확대운영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❷ 사이버교육 실효성 제고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❷ 노무정보 HUB 구축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❸ 맞춤형 이음교육 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❹ 찾아가는 노사신뢰UP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❺ 소통촉진자 교육 다변화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❻ K-Study(CoP) 신설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❼ 외부기관 전문가과정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❼ 노동이사 역량강화</a:t>
            </a:r>
          </a:p>
        </p:txBody>
      </p:sp>
      <p:sp>
        <p:nvSpPr>
          <p:cNvPr id="39" name="레일 태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공통</a:t>
            </a:r>
          </a:p>
        </p:txBody>
      </p:sp>
      <p:sp>
        <p:nvSpPr>
          <p:cNvPr id="40" name="레일 라벨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기틀을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다지고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❶ 조직문화: 참여 부서 2배 확대, 진단·코칭 Tool 다변화 / 부서단위 + 개인단위, 대상확대(운영·실무직 등), 계층별 모듈 교육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❷ ON-OFF 교육연계: 대면교육 前 사이버교육 수강으로 교육 실효성 제고 * “온라인 교육내용이 문제로 출제되어 더 집중해서 수강했어요”(’25년 만족도조사 결과)</a:t>
            </a:r>
          </a:p>
        </p:txBody>
      </p:sp>
      <p:sp>
        <p:nvSpPr>
          <p:cNvPr id="45" name="레일 태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노사주니어</a:t>
            </a:r>
          </a:p>
        </p:txBody>
      </p:sp>
      <p:sp>
        <p:nvSpPr>
          <p:cNvPr id="46" name="레일 라벨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소통을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시작으로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❸ 입문교육(이음 120명): 직원의 니즈를 수렴 — 법령 해석(설명) 중심 설명 “법령 등 이해하기 너무 어려워요”(’24년 이음교육 피드백)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맞춤형 교육 추진: 노사관계 핵심 키워드(소통, 갈등)를 주제로 설정, 사례·체험 중심 맞춤형 강의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❹ 찾아가는 신뢰UP(80명): 현안 발생시 개별적 시스템 자문 / 노무환경 변화에 직원관심 증가 “뉴스에 자주 나오는 노란봉투법 개정에 대해 알고 싶어요”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L-Guard 內 주요 자문 사례(64개) 공유 / 新정부정책 등 변경사항 기초교육</a:t>
            </a:r>
          </a:p>
        </p:txBody>
      </p:sp>
      <p:sp>
        <p:nvSpPr>
          <p:cNvPr id="51" name="레일 태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노사담당자</a:t>
            </a:r>
          </a:p>
        </p:txBody>
      </p:sp>
      <p:sp>
        <p:nvSpPr>
          <p:cNvPr id="52" name="레일 라벨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상생의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협상력을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배양하고</a:t>
            </a:r>
          </a:p>
        </p:txBody>
      </p:sp>
      <p:sp>
        <p:nvSpPr>
          <p:cNvPr id="53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❺ 소통촉진자(506명): 기존 단발성 교육 — 사업장 현장방문, 갈등상황 Role-Play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‘소통·갈등’에 ‘권익보호’를 더한 다각적 교육: 소통촉진자 과정(소통·갈등 해결 교육과정 정규화·체계화) + 찾아가는 권익보호(성희롱·괴롭힘 예방·대처 교육)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❻ 학습연구회 K-Study(20명): 신설 학습과 업무가 연결된 CoP ‘K-Study(노사관계)’ 도입 — 노조법 개정, 정책변화 등 전문가 기초·심화교육 / 업무와 연관된 과제(제19차 단체협약 안건) 부여, 사내전문가 멘토링 및 수행결과 단체협약 반영</a:t>
            </a:r>
          </a:p>
        </p:txBody>
      </p:sp>
      <p:sp>
        <p:nvSpPr>
          <p:cNvPr id="57" name="레일 태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관리자·경영진</a:t>
            </a:r>
          </a:p>
        </p:txBody>
      </p:sp>
      <p:sp>
        <p:nvSpPr>
          <p:cNvPr id="58" name="레일 라벨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전문성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 보</a:t>
            </a:r>
          </a:p>
        </p:txBody>
      </p:sp>
      <p:sp>
        <p:nvSpPr>
          <p:cNvPr id="60" name="칸 본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❼ 노사 전문가 과정: 관리자 전문 노무역량 및 노조이해 — 전문 위탁교육(선우재, 고려대 등 7명), 1~2급 승진자 노사관계 교육(위원장)</a:t>
            </a:r>
          </a:p>
        </p:txBody>
      </p:sp>
      <p:sp>
        <p:nvSpPr>
          <p:cNvPr id="61" name="칸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노동이사 내부경영, 외부전문교육 — 사내 직무교육(경영, 청렴 등) 수강, 석사학위 취득(고려대 노동법학)</a:t>
            </a:r>
          </a:p>
        </p:txBody>
      </p:sp>
      <p:sp>
        <p:nvSpPr>
          <p:cNvPr id="64" name="핵심성과 라벨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65" name="핵심성과 문구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교육관련 문항 역대 최고득점으로 3년 연속 노사관계 만족도 지속 상승 견인(91.1 → 91.6 → 92.3점)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역량강화 기여도 1.0점 상승(92.0 → 93.0점), 프로그램 효과성 1.1점 상승, 피드백 수용성 1.3점 상승</a:t>
            </a:r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168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직원 숙원을 해소하고, 더 나은 일터를 설계하는 노사 파트너십</a:t>
            </a:r>
          </a:p>
        </p:txBody>
      </p:sp>
      <p:sp>
        <p:nvSpPr>
          <p:cNvPr id="9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1" name="소제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직원이 바라는 일터의 조건, 노사와 직원이 함께 솔루션 도출</a:t>
            </a:r>
          </a:p>
        </p:txBody>
      </p:sp>
      <p:sp>
        <p:nvSpPr>
          <p:cNvPr id="12" name="태그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3" name="태그칩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5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’24년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류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갈등진단 직원이 느끼는 개선과제 3가지 ①승진·전보 ②직군간 격차 ③근로조건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’24년 갈등진단 결과에 대한 유형별 구체적 개선방안 마련 필요</a:t>
            </a:r>
          </a:p>
        </p:txBody>
      </p:sp>
      <p:sp>
        <p:nvSpPr>
          <p:cNvPr id="19" name="배너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노사공동 TF 등 운영 및 직원 참여 기반 맞춤형 개선 적기 추진</a:t>
            </a:r>
          </a:p>
        </p:txBody>
      </p:sp>
      <p:sp>
        <p:nvSpPr>
          <p:cNvPr id="20" name="레일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내 용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승진 승진시험 최초시행, 육아휴직 승진차별 폐지: 승진시험 제도 최적화(노사공동 가족친화경영 TF 등) — 평가배점 상향 50점 → 55점, 승진비율 설정 심사 7 : 시험 3, 시험시간 확대 80분 → 90분, 육아휴직 응시 허용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시험승진 35명(25.7%) 배출(육아휴직 중 1명 포함)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전보 친분과 인맥 등이 아닌 객관적 전보 기준 수립: 노사공동 본사-본부 TF 및 全직원 설문을 통한 전보 기준 수립 — 근무부서 여건(오지 등)을 고려한 마일리지 산정, 부서별 마일리지 비율 설정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전보마일리지 도입(’26년 시행)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직군격차 근무유형(교대-통상)에 따른 휴식권 제한 등 해소: 노사공동 교대근무 TF 및 설문, 전사 설명회 등을 통한 제도개선 — 교대근무자 중간휴가 신설, 공백 해소(운영지원반 운영)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교대근무자 휴식권 강화 및 초과근무 최소화</a:t>
            </a:r>
          </a:p>
        </p:txBody>
      </p:sp>
      <p:sp>
        <p:nvSpPr>
          <p:cNvPr id="28" name="핵심성과 라벨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29" name="핵심성과 문구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갈등진단 결과 全유형 갈등점수 하향, 종합청렴도 內 청렴체감도 공기업 유일 1등급 달성</a:t>
            </a:r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169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노동존중 실현, 일-생활 균형을 위한 모두의 약속 ‘제19차 단체협약’ 체결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대외환경 국정94 노동존중 실현, 노동기본권 보장 / 국정95 일·쉼 공존하는 행복한 일터 조성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대내환경 안전우선, 신규사업(초순수) 등 경영환경변화 / 단체협약 직원 관심 증가, 근로조건 개선요구</a:t>
            </a:r>
          </a:p>
        </p:txBody>
      </p:sp>
      <p:sp>
        <p:nvSpPr>
          <p:cNvPr id="15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교섭과정</a:t>
            </a:r>
          </a:p>
        </p:txBody>
      </p:sp>
      <p:sp>
        <p:nvSpPr>
          <p:cNvPr id="17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직원 참여로 안건 도출</a:t>
            </a:r>
          </a:p>
        </p:txBody>
      </p:sp>
      <p:sp>
        <p:nvSpPr>
          <p:cNvPr id="18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신뢰 기반 교섭과 공감 형성</a:t>
            </a:r>
          </a:p>
        </p:txBody>
      </p:sp>
      <p:sp>
        <p:nvSpPr>
          <p:cNvPr id="19" name="단계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다각적 검증으로 이행력 확보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현장, 교육 등 의견 수렴(40건): K-water(16건) 찾아가는 유역간담회(8회), 톡톡수렴, K-Study(CoP) 과제 / 노동조합(24건) 현장지부 방문(70회), 조합원의 목소리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실무교섭 정례화 및 확대운영 * ’23년 2회 → ’25년 4회(월 1회)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실적, 사례 등 투명한 정보공유 * (使) 경영현황 등, (勞) 실제 현장사례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실효성(내부), 적법성(외부) 차원의 교차검증 완료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* (실효성) 노동이사, 직원이사회 / (적법성) 대외 전문기관 활용</a:t>
            </a:r>
          </a:p>
        </p:txBody>
      </p:sp>
      <p:sp>
        <p:nvSpPr>
          <p:cNvPr id="27" name="레일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28" name="배너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38년 연속 無분규, 정책이행과 조합원 복지증진이 조화로운 ‘제19차 단체협약’ 개정!</a:t>
            </a:r>
          </a:p>
        </p:txBody>
      </p:sp>
      <p:sp>
        <p:nvSpPr>
          <p:cNvPr id="29" name="머리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21건 합의</a:t>
            </a:r>
          </a:p>
        </p:txBody>
      </p:sp>
      <p:sp>
        <p:nvSpPr>
          <p:cNvPr id="30" name="머리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21건 합의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노동존중: 노조 전임직원 활동보장, 경영참여 인사위원회 등 조합참석 확대 / 국정94 노동존중 실현 및 경영참여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일-생활 자유로운 휴가사용, 가족친화문화 조성, 권리보호 권익·개인정보 보호, 연결되지 않을 권리 / 국정95 일·생활 균형 및 갑질 없는 일터 실현</a:t>
            </a:r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170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가족과 안전은 지속가능한 근로조건의 근간, 노사가 함께 지속 혁신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가족친화경영 혁신 후, ‘직원의 목소리’를 청취하여 ‘한 번 더 혁신’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변화 가족친화경영 TF를 통해 근로조건(14개) 개선(’24년)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 주 4.5일제 이용자 284명 사용, 육아휴직자 13% 증가(243 → 275명), 출산장려금 수령 38% 확대(194 → 268명)</a:t>
            </a:r>
          </a:p>
        </p:txBody>
      </p:sp>
      <p:sp>
        <p:nvSpPr>
          <p:cNvPr id="17" name="레일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중간점검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제도 경험자 “새로운 승진제도에 육아휴직자도 참여 가능하도록” “아이돌봄 3·3·6제도 사용을 더 활성화 하도록”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사각지대 “미혼자, 아이가 없는 직원들도 소외받지 않고 사용할 수 있는 제도를 만들어 주세요”</a:t>
            </a:r>
          </a:p>
        </p:txBody>
      </p:sp>
      <p:sp>
        <p:nvSpPr>
          <p:cNvPr id="22" name="레일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한 번 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혁 신</a:t>
            </a:r>
          </a:p>
        </p:txBody>
      </p:sp>
      <p:sp>
        <p:nvSpPr>
          <p:cNvPr id="24" name="머리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육아휴직자 승진제도</a:t>
            </a:r>
          </a:p>
        </p:txBody>
      </p:sp>
      <p:sp>
        <p:nvSpPr>
          <p:cNvPr id="25" name="머리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아이돌봄 3·3·6 활성화</a:t>
            </a:r>
          </a:p>
        </p:txBody>
      </p:sp>
      <p:sp>
        <p:nvSpPr>
          <p:cNvPr id="26" name="머리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보편적 복지제도 확대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승진시험제(’25년) 시행시, 육아휴직자 대상 포함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차별없는 승진시험제도 육아휴직자 승진자 배출(1명)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내부평가 지표 신설(가점) / 캠페인(월 1회 관리자 독려메일 등)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육아시간 사무외출 사용률 12.1%p 증가(54.0 → 66.1%)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유역별 문화예술행사 지원 / 가족愛 행복캠프(가족·직원간)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본부 문화행사 770명 이용, 직원간 행복캠프 194명 참여</a:t>
            </a:r>
          </a:p>
        </p:txBody>
      </p:sp>
      <p:sp>
        <p:nvSpPr>
          <p:cNvPr id="33" name="핵심성과 라벨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4" name="핵심성과 문구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대한민국 일하기 좋은 기업 Top3 및 아시아에서 가장 일하기 좋은 기업 200대 선정(GPTW 주관)</a:t>
            </a: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171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 안전에 타협 없는 노사, 예방부터 사후관리까지 안전 First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0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추진배경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평가단 제언 근로자 안전사고 상존, 안전관리체계 전반에 대한 보완 필요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CEO “더 이상의 안전사고는 없도록.. 제도정비” / 위원장 “안전문화확산, 세심한 피해직원 케어까지..”</a:t>
            </a:r>
          </a:p>
        </p:txBody>
      </p:sp>
      <p:sp>
        <p:nvSpPr>
          <p:cNvPr id="18" name="레일 태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예방강화</a:t>
            </a:r>
          </a:p>
        </p:txBody>
      </p:sp>
      <p:sp>
        <p:nvSpPr>
          <p:cNvPr id="19" name="레일 라벨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노사가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함께하는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안전일터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使 정교한 제도, 시스템 개발: 안전경영委, 안전경영책임계획 / 안전 컨설팅, 스마트 안전관리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예방적 안전관리 ‘안전기동반’(전담 16인)을 통한 상시 점검 및 현장 안전관리 컨설팅, 현장 유해 요소 120건(안전통로 확보 등) 개선 완료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스마트 안전관리 시스템 구축 및 스마트 장비 확대(스마트 안전모 등), 이동형 AI CCTV · 스마트 안전모 · 유해가스 측정기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勞 현장의 공감, 수용성을 결합: 상시 소통채널 등 현장 니즈 / 작업중지권, 안전보호구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작업중지권 활성화 ‘찾아가는 안전교육’, 안전모 QR 부착 등 제도 활용 증가(’24년 92건 → ’25년 132건, 43.5% 증가)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안전보호구 지급 ‘심쿵(CPR) 챌린지’ 노후 보호구 교체 간소, 적기지급 / 심쿵챌린지 420명, 全직원 안전보호구 개선 5.1억원 집행</a:t>
            </a:r>
          </a:p>
        </p:txBody>
      </p:sp>
      <p:sp>
        <p:nvSpPr>
          <p:cNvPr id="25" name="레일 태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사후대응</a:t>
            </a:r>
          </a:p>
        </p:txBody>
      </p:sp>
      <p:sp>
        <p:nvSpPr>
          <p:cNvPr id="26" name="레일 라벨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더나아가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안전사고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직원케어</a:t>
            </a:r>
          </a:p>
        </p:txBody>
      </p:sp>
      <p:sp>
        <p:nvSpPr>
          <p:cNvPr id="28" name="배너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업무 중 사고에 든든한 비바람막이 ‘안심케어센터’ + ‘상호부조 모금제’ 신설</a:t>
            </a:r>
          </a:p>
        </p:txBody>
      </p:sp>
      <p:sp>
        <p:nvSpPr>
          <p:cNvPr id="29" name="단계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담당부서를 찾기쉽고</a:t>
            </a:r>
          </a:p>
        </p:txBody>
      </p:sp>
      <p:sp>
        <p:nvSpPr>
          <p:cNvPr id="30" name="단계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대응은 신속하게</a:t>
            </a:r>
          </a:p>
        </p:txBody>
      </p:sp>
      <p:sp>
        <p:nvSpPr>
          <p:cNvPr id="31" name="단계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감성 케어까지</a:t>
            </a:r>
          </a:p>
        </p:txBody>
      </p:sp>
      <p:sp>
        <p:nvSpPr>
          <p:cNvPr id="32" name="단계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슬픔은 함께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분산된 기능 일원화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안전사고 연관 직원/부서 → (총괄) 안심케어센터 → 법무실 · 안전본부 · 인재경영실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단계별 신속·밀착지원 *안심케어 담당 사내변호사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재해발생 노동청, 경찰조사 초동대응(변호사) / 재해자(사망) 산재 행정지원 노사공동 유족케어 / 법적분쟁 수사·피의·피고시 법률 조력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감성적 직원 맞춤케어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부서상담 사고발생 부서 단위 집단상담 / 맞춤상담 ‘집중케어 대상’ PTSD 상담 안내 / 사후관리 호전여부 모니터링 고충상담 지원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노사·全직원 합심, 상호부조 개인급여 모금제 * 직원 찬성률: 63%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업무 중 사망(안전사고) → 全직원 모금(개인월봉의 0.6%) → 노사공동 모금액 유가족 지급</a:t>
            </a:r>
          </a:p>
        </p:txBody>
      </p:sp>
      <p:sp>
        <p:nvSpPr>
          <p:cNvPr id="44" name="핵심성과 라벨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5" name="핵심성과 문구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행정안전부 「안전문화 확산 유공」 최우수기관 선정·국무총리 표창 수상(’25년)</a:t>
            </a: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172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노사협력과 자율점검을 기반으로 정부지침에 발맞춘 체계 개선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목 표</a:t>
            </a:r>
          </a:p>
        </p:txBody>
      </p:sp>
      <p:sp>
        <p:nvSpPr>
          <p:cNvPr id="11" name="머리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혁신지침</a:t>
            </a:r>
          </a:p>
        </p:txBody>
      </p:sp>
      <p:sp>
        <p:nvSpPr>
          <p:cNvPr id="12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예산운용지침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혁신지침 잔여과제(4건) 조속 이행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 합의(’24.12) 선결 개선과제 적기 달성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예산운용지침 준수 지속 유지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자체 모니터링 통한 추가 개선사항 발굴</a:t>
            </a:r>
          </a:p>
        </p:txBody>
      </p:sp>
      <p:sp>
        <p:nvSpPr>
          <p:cNvPr id="16" name="번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17" name="분야 박스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혁신지침</a:t>
            </a:r>
          </a:p>
        </p:txBody>
      </p:sp>
      <p:sp>
        <p:nvSpPr>
          <p:cNvPr id="19" name="소제목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관리비 100% 직원 부담 숙소 확대목표 초과 달성</a:t>
            </a:r>
          </a:p>
        </p:txBody>
      </p:sp>
      <p:sp>
        <p:nvSpPr>
          <p:cNvPr id="20" name="태그칩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21" name="태그칩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23" name="레일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노사합의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(’24.12)</a:t>
            </a:r>
          </a:p>
        </p:txBody>
      </p:sp>
      <p:sp>
        <p:nvSpPr>
          <p:cNvPr id="24" name="단계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합숙소를 원룸형 개인숙소로 전환 * 니즈 일치 관리비 100% 직원 부담에도 휴식권 보장 위한 원룸형 숙소 확대 요구</a:t>
            </a:r>
          </a:p>
        </p:txBody>
      </p:sp>
      <p:sp>
        <p:nvSpPr>
          <p:cNvPr id="25" name="단계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770채(거주직원 25%) → ’25년 890채(29%)</a:t>
            </a:r>
          </a:p>
        </p:txBody>
      </p:sp>
      <p:sp>
        <p:nvSpPr>
          <p:cNvPr id="26" name="단계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’27년 1,165채(38%) → ’30년 1,510채(50%)</a:t>
            </a:r>
          </a:p>
        </p:txBody>
      </p:sp>
      <p:sp>
        <p:nvSpPr>
          <p:cNvPr id="34" name="레일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 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내 용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원룸형 숙소 확보 용이성 등 지역별 여건을 고려, 2-Track 방식 제도개선 추진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대도시 신속 전환: 現 아파트형 숙소(3인 거주) 임차계약 종료 즉시 대체(98채)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중소 시·군 거점별 대안: 거점도시 다가구주택 활용, 인근 지사 공동 사용(2채, 35세대)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➡ ’25년 원룸형 숙소 전환 목표 101.5% 달성(목표 890채(전년比 120채 증) → 실적 903채)</a:t>
            </a:r>
          </a:p>
        </p:txBody>
      </p:sp>
      <p:sp>
        <p:nvSpPr>
          <p:cNvPr id="40" name="핵심성과 라벨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1" name="핵심성과 문구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합숙소 관리비 100% 부담 직원 증가(770 → 903명)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연간 관리비 98백만원 감축(개인부담금 ’24년 1,116백만원 → ’25년 1,214백만원)</a:t>
            </a:r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173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8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모니터링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대내외 자율통제체제 강화로 정부기준에 부합하는 제도개선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2" name="태그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통 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 제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공공기관 합동 교차점검: ’25년 참여기관 확대(5 → 7개)로 기능 강화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내부통제(자체 감사): 국가공무원 기준 개정 등 선제적 발굴</a:t>
            </a:r>
          </a:p>
        </p:txBody>
      </p:sp>
      <p:sp>
        <p:nvSpPr>
          <p:cNvPr id="18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자율점검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제도개선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징계자 성과급 제한기준 정비: 음주측정 불응 관련 징계처분시 성과급 제한 / 他기관 벤치마킹으로 개선사항 발굴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성과급 ‘미지급’ 규정화(’25.12) ➡ 경영평가성과급, 내부평가급 일체 지급 제외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국외근무수당 산정기준 개선: 국외근무수당 산정 부양가족 범위 조정 / 국가공무원과 수당 지급기준 일치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부양가족에서 ‘직계존속’ 제외 규정화(’25.12) ➡ 배우자 및 19세 미만 자녀로 범위 한정</a:t>
            </a:r>
          </a:p>
        </p:txBody>
      </p:sp>
      <p:sp>
        <p:nvSpPr>
          <p:cNvPr id="24" name="핵심성과 라벨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25" name="핵심성과 문구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체계적인 보수·복지 제도 모니터링 및 노사협력을 통해 정부지침 이행 동력 확보</a:t>
            </a:r>
          </a:p>
        </p:txBody>
      </p:sp>
      <p:sp>
        <p:nvSpPr>
          <p:cNvPr id="27" name="성과 라벨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예산운용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지침</a:t>
            </a:r>
          </a:p>
        </p:txBody>
      </p:sp>
      <p:sp>
        <p:nvSpPr>
          <p:cNvPr id="28" name="성과 띠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지속 준수: 총인건비 · 복리비 · 복지 · 성과급 · 퇴직금</a:t>
            </a:r>
          </a:p>
        </p:txBody>
      </p:sp>
      <p:sp>
        <p:nvSpPr>
          <p:cNvPr id="30" name="카드 문구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총인건비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인상률(3%) 한도 준수</a:t>
            </a:r>
          </a:p>
        </p:txBody>
      </p:sp>
      <p:sp>
        <p:nvSpPr>
          <p:cNvPr id="32" name="카드 문구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복리비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2,850천원/인(전년比 12천원↓)</a:t>
            </a:r>
          </a:p>
        </p:txBody>
      </p:sp>
      <p:sp>
        <p:nvSpPr>
          <p:cNvPr id="34" name="카드 문구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신설항목 Zero</a:t>
            </a:r>
          </a:p>
        </p:txBody>
      </p:sp>
      <p:sp>
        <p:nvSpPr>
          <p:cNvPr id="36" name="카드 문구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중징계, 음주불응자 미지급</a:t>
            </a:r>
          </a:p>
        </p:txBody>
      </p:sp>
      <p:sp>
        <p:nvSpPr>
          <p:cNvPr id="38" name="카드 문구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퇴직금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누진제 및 산재 가산 미운영</a:t>
            </a:r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174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국민 공감과 직원 만족이 함께하는 균형 잡힌 복지 실현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목 표</a:t>
            </a:r>
          </a:p>
        </p:txBody>
      </p:sp>
      <p:sp>
        <p:nvSpPr>
          <p:cNvPr id="11" name="칸 본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복지만족도 제고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한정된 복리후생 재원의 효율적 운영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이행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계획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중장기(’24~’30) 복지 개선계획 고도화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 눈높이에 부합하는 제도개선·운용</a:t>
            </a: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175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정책·경영방향·직원 수요 조화 속 합리적 복지제도 개선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0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직원니즈  성과 환류(’24년 만족도 조사)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정부정책  안전한 일터 + 행복한 일터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보건분야 및 근무환경 형평성 제고 등 개선 필요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 최우선 경영 + 가족친화경영 추진</a:t>
            </a:r>
          </a:p>
        </p:txBody>
      </p:sp>
      <p:sp>
        <p:nvSpPr>
          <p:cNvPr id="19" name="레일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계획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롤링</a:t>
            </a:r>
          </a:p>
        </p:txBody>
      </p:sp>
      <p:sp>
        <p:nvSpPr>
          <p:cNvPr id="21" name="배너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중장기(’24~’30) 복지 개선계획 내 신규 단기과제(4건), 중점(안전)과제(3건) 추가</a:t>
            </a:r>
          </a:p>
        </p:txBody>
      </p:sp>
      <p:sp>
        <p:nvSpPr>
          <p:cNvPr id="23" name="태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과제</a:t>
            </a:r>
          </a:p>
        </p:txBody>
      </p:sp>
      <p:sp>
        <p:nvSpPr>
          <p:cNvPr id="24" name="그룹 제목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안심일터 · 가정친화 · 효율적 복지 · 직원 만족도 4영역</a:t>
            </a:r>
          </a:p>
        </p:txBody>
      </p:sp>
      <p:sp>
        <p:nvSpPr>
          <p:cNvPr id="27" name="태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안심일터</a:t>
            </a:r>
          </a:p>
        </p:txBody>
      </p:sp>
      <p:sp>
        <p:nvSpPr>
          <p:cNvPr id="28" name="카드 제목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안심케어센터 조직 신설</a:t>
            </a:r>
          </a:p>
        </p:txBody>
      </p:sp>
      <p:sp>
        <p:nvSpPr>
          <p:cNvPr id="29" name="카드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업무 관련 재해 직원 심리·법률 등 밀착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EAP 지원 및 건강증진 활동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노사공동 상호부조 모금제도 도입</a:t>
            </a:r>
          </a:p>
        </p:txBody>
      </p:sp>
      <p:sp>
        <p:nvSpPr>
          <p:cNvPr id="32" name="태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가정친화</a:t>
            </a:r>
          </a:p>
        </p:txBody>
      </p:sp>
      <p:sp>
        <p:nvSpPr>
          <p:cNvPr id="33" name="카드 제목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유역별 보육시설 확대 추진</a:t>
            </a:r>
          </a:p>
        </p:txBody>
      </p:sp>
      <p:sp>
        <p:nvSpPr>
          <p:cNvPr id="34" name="카드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K-water형 워케이션 시범운영 시행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가족친화 휴가제도 개선(임신검진 동행 10일 등)</a:t>
            </a:r>
          </a:p>
        </p:txBody>
      </p:sp>
      <p:sp>
        <p:nvSpPr>
          <p:cNvPr id="36" name="태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효율적 복지</a:t>
            </a:r>
          </a:p>
        </p:txBody>
      </p:sp>
      <p:sp>
        <p:nvSpPr>
          <p:cNvPr id="37" name="카드 제목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생활 밀착형 기업제휴 협약 확대</a:t>
            </a:r>
          </a:p>
        </p:txBody>
      </p:sp>
      <p:sp>
        <p:nvSpPr>
          <p:cNvPr id="38" name="카드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공유차량, 숙박, 쇼핑몰 등 제휴 할인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수기관리 특근식대 제도 개선</a:t>
            </a:r>
          </a:p>
        </p:txBody>
      </p:sp>
      <p:sp>
        <p:nvSpPr>
          <p:cNvPr id="41" name="태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직원 만족도</a:t>
            </a:r>
          </a:p>
        </p:txBody>
      </p:sp>
      <p:sp>
        <p:nvSpPr>
          <p:cNvPr id="42" name="카드 제목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전사 휴게·위생·복지공간 개선</a:t>
            </a:r>
          </a:p>
        </p:txBody>
      </p:sp>
      <p:sp>
        <p:nvSpPr>
          <p:cNvPr id="43" name="카드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휴게·화장실 151개소, 구내식당 등 285개소 개선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통합 복지포털 구축</a:t>
            </a:r>
          </a:p>
        </p:txBody>
      </p:sp>
      <p:sp>
        <p:nvSpPr>
          <p:cNvPr id="45" name="태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핵심 제도</a:t>
            </a:r>
          </a:p>
        </p:txBody>
      </p:sp>
      <p:sp>
        <p:nvSpPr>
          <p:cNvPr id="46" name="그룹 제목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재원 효율화와 직원 편의를 함께 높이는 핵심 제도 2건</a:t>
            </a:r>
          </a:p>
        </p:txBody>
      </p:sp>
      <p:sp>
        <p:nvSpPr>
          <p:cNvPr id="48" name="탭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투명성</a:t>
            </a:r>
          </a:p>
        </p:txBody>
      </p:sp>
      <p:sp>
        <p:nvSpPr>
          <p:cNvPr id="49" name="카드 제목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특근식대 시스템 도입</a:t>
            </a:r>
          </a:p>
        </p:txBody>
      </p:sp>
      <p:sp>
        <p:nvSpPr>
          <p:cNvPr id="50" name="카드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근태와 연계한 모바일 식권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복지축소 우려 노조 협의 중단(’24.6) → 소통·합의(’24.11) → 도입(’25.1~3) → 확산(’25.4~)</a:t>
            </a:r>
          </a:p>
        </p:txBody>
      </p:sp>
      <p:sp>
        <p:nvSpPr>
          <p:cNvPr id="51" name="카드 요약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전년比 특근식대 5억원 절감(19 → 14억원)</a:t>
            </a:r>
          </a:p>
        </p:txBody>
      </p:sp>
      <p:sp>
        <p:nvSpPr>
          <p:cNvPr id="53" name="탭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효율성</a:t>
            </a:r>
          </a:p>
        </p:txBody>
      </p:sp>
      <p:sp>
        <p:nvSpPr>
          <p:cNvPr id="54" name="카드 제목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통합 복지포털 구축</a:t>
            </a:r>
          </a:p>
        </p:txBody>
      </p:sp>
      <p:sp>
        <p:nvSpPr>
          <p:cNvPr id="55" name="카드 본문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산재한 정보 창구 일원화 및 연계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수기관리 → 신청·관리 시스템 구축, 복지예산 집행현황 실시간 모니터링</a:t>
            </a:r>
          </a:p>
        </p:txBody>
      </p:sp>
      <p:sp>
        <p:nvSpPr>
          <p:cNvPr id="56" name="카드 요약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복지포털 만족도 4.39점 달성(’25년)</a:t>
            </a:r>
          </a:p>
        </p:txBody>
      </p:sp>
      <p:sp>
        <p:nvSpPr>
          <p:cNvPr id="58" name="성과 라벨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성과</a:t>
            </a:r>
          </a:p>
        </p:txBody>
      </p:sp>
      <p:sp>
        <p:nvSpPr>
          <p:cNvPr id="59" name="성과 띠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1인당 복리후생비 감축 + 직원 복지만족도 향상</a:t>
            </a:r>
          </a:p>
        </p:txBody>
      </p:sp>
      <p:sp>
        <p:nvSpPr>
          <p:cNvPr id="61" name="카드 문구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1인당 복리후생비(천원)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12천원 감축</a:t>
            </a:r>
          </a:p>
        </p:txBody>
      </p:sp>
      <p:sp>
        <p:nvSpPr>
          <p:cNvPr id="63" name="값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2,862</a:t>
            </a:r>
          </a:p>
        </p:txBody>
      </p:sp>
      <p:sp>
        <p:nvSpPr>
          <p:cNvPr id="64" name="연도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66" name="값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2,850</a:t>
            </a:r>
          </a:p>
        </p:txBody>
      </p:sp>
      <p:sp>
        <p:nvSpPr>
          <p:cNvPr id="67" name="연도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69" name="카드 문구"/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직원 복지만족도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0.03점 향상</a:t>
            </a:r>
          </a:p>
        </p:txBody>
      </p:sp>
      <p:sp>
        <p:nvSpPr>
          <p:cNvPr id="71" name="값"/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4.18점</a:t>
            </a:r>
          </a:p>
        </p:txBody>
      </p:sp>
      <p:sp>
        <p:nvSpPr>
          <p:cNvPr id="72" name="연도"/>
          <p:cNvSpPr>
            <a:spLocks noGrp="1"/>
          </p:cNvSpPr>
          <p:nvPr>
            <p:ph type="body" sz="quarter" idx="6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74" name="값"/>
          <p:cNvSpPr>
            <a:spLocks noGrp="1"/>
          </p:cNvSpPr>
          <p:nvPr>
            <p:ph type="body" sz="quarter" idx="6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4.21점</a:t>
            </a:r>
          </a:p>
        </p:txBody>
      </p:sp>
      <p:sp>
        <p:nvSpPr>
          <p:cNvPr id="75" name="연도"/>
          <p:cNvSpPr>
            <a:spLocks noGrp="1"/>
          </p:cNvSpPr>
          <p:nvPr>
            <p:ph type="body" sz="quarter" idx="6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176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직무중심 보수체계 기반으로 통상임금 판례 변경 파고(波高) 극복</a:t>
            </a:r>
          </a:p>
        </p:txBody>
      </p:sp>
      <p:sp>
        <p:nvSpPr>
          <p:cNvPr id="9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통상임금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변경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가능성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통상임금 ‘고정성’ 쟁점 사건 대법원 전원합의체 회부로 해석변경 가능성 증가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고정성 요건 완화(제외)시 통상임금 확대로 법정초과수당 증가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 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영향진단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총인건비</a:t>
            </a:r>
          </a:p>
        </p:txBody>
      </p:sp>
      <p:sp>
        <p:nvSpPr>
          <p:cNvPr id="16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보수체계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수당 증가 규모는 총인건비 내 해소 가능하나, 증가 최소화 필요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수행직무에 따른 보수영향 차이 발생으로 직원 수용성 저하 우려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통상직무: 수당 미증가 → 보상휴가제 / 교대직무: 수당 증가 → 보상휴가제 적용 불가</a:t>
            </a:r>
          </a:p>
        </p:txBody>
      </p:sp>
      <p:sp>
        <p:nvSpPr>
          <p:cNvPr id="20" name="레일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진단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결과</a:t>
            </a:r>
          </a:p>
        </p:txBody>
      </p:sp>
      <p:sp>
        <p:nvSpPr>
          <p:cNvPr id="21" name="배너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진단 결과에 기반하여 변경판례 확정(’24.12)에 따른 신속한 대응체계 마련</a:t>
            </a:r>
          </a:p>
        </p:txBody>
      </p:sp>
      <p:sp>
        <p:nvSpPr>
          <p:cNvPr id="22" name="레일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대 응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 계</a:t>
            </a:r>
          </a:p>
        </p:txBody>
      </p:sp>
      <p:sp>
        <p:nvSpPr>
          <p:cNvPr id="23" name="머리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법·제도 불확실성 해소</a:t>
            </a:r>
          </a:p>
        </p:txBody>
      </p:sp>
      <p:sp>
        <p:nvSpPr>
          <p:cNvPr id="24" name="머리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직원니즈 수렴 및 소통</a:t>
            </a:r>
          </a:p>
        </p:txBody>
      </p:sp>
      <p:sp>
        <p:nvSpPr>
          <p:cNvPr id="25" name="머리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❸ 노사협의체 운영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통상임금 산입여부 확인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노무전문가 자문(’25.3), 고용노동부 유권해석(’25.8)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직무가치의 합리적 평가 및 보상 연계 강화 요구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노사공동 전직원 설명회(5회)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보수체계 개편 대안 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임금협약(’25.6~12), 노사 교대근무 TF(’25.5~12)</a:t>
            </a:r>
          </a:p>
        </p:txBody>
      </p:sp>
      <p:sp>
        <p:nvSpPr>
          <p:cNvPr id="31" name="레일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제 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 선</a:t>
            </a:r>
          </a:p>
        </p:txBody>
      </p:sp>
      <p:sp>
        <p:nvSpPr>
          <p:cNvPr id="32" name="머리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임금협약  직무급 재설계</a:t>
            </a:r>
          </a:p>
        </p:txBody>
      </p:sp>
      <p:sp>
        <p:nvSpPr>
          <p:cNvPr id="33" name="머리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교대근무TF  초과근무 축소 및 휴식권 향상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직무가치 재진단으로 직무급 재설계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통상·교대 직무급 불균형 보완, 직무급 비중 확대(21.42% → 21.97% → 22.88%)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‘운영관리 지원반’ 운영: 주간 근무일 휴가·외출 사용시 교체 투입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초과근무 축소(수당 축소), 휴가사용 제약 완화</a:t>
            </a:r>
          </a:p>
        </p:txBody>
      </p:sp>
      <p:sp>
        <p:nvSpPr>
          <p:cNvPr id="37" name="레일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개편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방향</a:t>
            </a:r>
          </a:p>
        </p:txBody>
      </p:sp>
      <p:sp>
        <p:nvSpPr>
          <p:cNvPr id="39" name="배너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노사협력·소통에 기반하여 총인건비 제도 내에서 수용성 높은 보수체계로 개편</a:t>
            </a:r>
          </a:p>
        </p:txBody>
      </p:sp>
      <p:sp>
        <p:nvSpPr>
          <p:cNvPr id="41" name="성과 라벨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성과</a:t>
            </a:r>
          </a:p>
        </p:txBody>
      </p:sp>
      <p:sp>
        <p:nvSpPr>
          <p:cNvPr id="42" name="성과 띠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직무 및 업무 성과 기반 공정한 보상체계에 대한 조직 수용성 제고(’25년 신뢰경영지수)</a:t>
            </a:r>
          </a:p>
        </p:txBody>
      </p:sp>
      <p:sp>
        <p:nvSpPr>
          <p:cNvPr id="44" name="카드 문구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존중: 업무성과와 노력에 대한 인정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3점 향상</a:t>
            </a:r>
          </a:p>
        </p:txBody>
      </p:sp>
      <p:sp>
        <p:nvSpPr>
          <p:cNvPr id="46" name="값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89점</a:t>
            </a:r>
          </a:p>
        </p:txBody>
      </p:sp>
      <p:sp>
        <p:nvSpPr>
          <p:cNvPr id="47" name="연도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49" name="값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92점</a:t>
            </a:r>
          </a:p>
        </p:txBody>
      </p:sp>
      <p:sp>
        <p:nvSpPr>
          <p:cNvPr id="50" name="연도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  <p:sp>
        <p:nvSpPr>
          <p:cNvPr id="52" name="카드 문구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공정성: 자신의 업무에 대한 공정한 보상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6점 향상</a:t>
            </a:r>
          </a:p>
        </p:txBody>
      </p:sp>
      <p:sp>
        <p:nvSpPr>
          <p:cNvPr id="54" name="값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81점</a:t>
            </a:r>
          </a:p>
        </p:txBody>
      </p:sp>
      <p:sp>
        <p:nvSpPr>
          <p:cNvPr id="55" name="연도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’24</a:t>
            </a:r>
          </a:p>
        </p:txBody>
      </p:sp>
      <p:sp>
        <p:nvSpPr>
          <p:cNvPr id="57" name="값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b="1" spc="-45" dirty="0">
                <a:solidFill>
                  <a:srgbClr val="000359"/>
                </a:solidFill>
                <a:latin typeface="Pretendard"/>
                <a:ea typeface="Pretendard"/>
              </a:rPr>
              <a:t>87점</a:t>
            </a:r>
          </a:p>
        </p:txBody>
      </p:sp>
      <p:sp>
        <p:nvSpPr>
          <p:cNvPr id="58" name="연도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900" spc="-45" dirty="0">
                <a:solidFill>
                  <a:srgbClr val="3B4951"/>
                </a:solidFill>
                <a:latin typeface="Pretendard"/>
                <a:ea typeface="Pretendard"/>
              </a:rPr>
              <a:t>’25</a:t>
            </a:r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177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사업영역 · 물순환 체계 전반과 에너지·도시사업을 아우르는 종합 물기업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개념도</a:t>
            </a:r>
          </a:p>
        </p:txBody>
      </p:sp>
      <p:sp>
        <p:nvSpPr>
          <p:cNvPr id="11" name="칸 본문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물순환 체계 전반: 유역 물환경 관리 · 용수확보 · 물재해 대응 · 수돗물 생산·공급 · 하수 재이용 · 물에너지 발전 · 수변공간 조성 · 글로벌 물산업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주요사업 ① 수도 ② 수자원 ③ 융합</a:t>
            </a:r>
          </a:p>
        </p:txBody>
      </p:sp>
      <p:sp>
        <p:nvSpPr>
          <p:cNvPr id="12" name="사진 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사업영역 개념도</a:t>
            </a:r>
          </a:p>
        </p:txBody>
      </p:sp>
      <p:sp>
        <p:nvSpPr>
          <p:cNvPr id="14" name="패널 머리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수자원 관리체계</a:t>
            </a:r>
          </a:p>
        </p:txBody>
      </p:sp>
      <p:sp>
        <p:nvSpPr>
          <p:cNvPr id="15" name="패널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 및 하천의 종류에 따라 관리주체 분절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K-water는 다목적댐과 그 직상하류만 관리</a:t>
            </a:r>
          </a:p>
        </p:txBody>
      </p:sp>
      <p:sp>
        <p:nvSpPr>
          <p:cNvPr id="16" name="요약 바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다목적댐 · 발전댐 · 농업용 저수지 · 국가하천 · 지방하천</a:t>
            </a:r>
          </a:p>
        </p:txBody>
      </p:sp>
      <p:sp>
        <p:nvSpPr>
          <p:cNvPr id="18" name="패널 머리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수돗물 공급체계</a:t>
            </a:r>
          </a:p>
        </p:txBody>
      </p:sp>
      <p:sp>
        <p:nvSpPr>
          <p:cNvPr id="19" name="패널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광역상수도(K-water)와 지방상수도(지자체)로 분절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K-water는 물을 생산해 지자체에 공급하는 역할</a:t>
            </a:r>
          </a:p>
        </p:txBody>
      </p:sp>
      <p:sp>
        <p:nvSpPr>
          <p:cNvPr id="20" name="요약 바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취수장 → 정수장 → 배수지 → 급수관 → 국민 · 기업</a:t>
            </a:r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178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수도서비스 사업</a:t>
            </a:r>
          </a:p>
        </p:txBody>
      </p:sp>
      <p:sp>
        <p:nvSpPr>
          <p:cNvPr id="11" name="배너 글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국민·기업이 만족하는 고품질 물공급으로 물복지 제고 및 산업 경쟁력 강화</a:t>
            </a:r>
          </a:p>
        </p:txBody>
      </p:sp>
      <p:sp>
        <p:nvSpPr>
          <p:cNvPr id="12" name="배너 글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전국 수돗물의 51% 공급 및 지방상수도 운영 선진화 지원 등</a:t>
            </a:r>
          </a:p>
        </p:txBody>
      </p:sp>
      <p:sp>
        <p:nvSpPr>
          <p:cNvPr id="14" name="소제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사업구성 · 수돗물 공급 혁신, 포용적 물복지 강화, 국민체감 서비스 개선, 안전관리</a:t>
            </a:r>
          </a:p>
        </p:txBody>
      </p:sp>
      <p:graphicFrame>
        <p:nvGraphicFramePr>
          <p:cNvPr id="15" name="실적표"/>
          <p:cNvGraphicFramePr>
            <a:graphicFrameLocks noGrp="1"/>
          </p:cNvGraphicFramePr>
          <p:nvPr/>
        </p:nvGraphicFramePr>
        <p:xfrm>
          <a:off x="723130" y="2125565"/>
          <a:ext cx="6300001" cy="1216175"/>
        </p:xfrm>
        <a:graphic>
          <a:graphicData uri="http://schemas.openxmlformats.org/drawingml/2006/table">
            <a:tbl>
              <a:tblPr/>
              <a:tblGrid>
                <a:gridCol w="662870"/>
                <a:gridCol w="624522"/>
                <a:gridCol w="5012609"/>
              </a:tblGrid>
              <a:tr h="230087">
                <a:tc gridSpan="2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대상사업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사업범위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주요 미션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</a:tr>
              <a:tr h="24652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수돗물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공급혁신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광역상수도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전국 113개 지자체와 산단에 수돗물 안정 공급(50개 수도시설 · 1,942만㎥/일)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포용적 물복지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강화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지방상수도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지방상수도 운영 선진화 지원(23개 지자체 운영관리 · 116개 노후 정비)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국민체감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서비스 개선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국민 및 기업니즈 대응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국민 눈높이를 충족하는 맞춤형 물 토탈서비스(물문제 해결 · 고객정보 · 산업 맞춤)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수도서비스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안전관리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사업 추진 과정의 근로자 및 시민 안전 확보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179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주요사업 정의 및 평가대상 사업 선정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설 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목 적</a:t>
            </a:r>
          </a:p>
        </p:txBody>
      </p:sp>
      <p:sp>
        <p:nvSpPr>
          <p:cNvPr id="14" name="단계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수자원 개발·관리</a:t>
            </a:r>
          </a:p>
        </p:txBody>
      </p:sp>
      <p:sp>
        <p:nvSpPr>
          <p:cNvPr id="15" name="단계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수질 개선</a:t>
            </a:r>
          </a:p>
        </p:txBody>
      </p:sp>
      <p:sp>
        <p:nvSpPr>
          <p:cNvPr id="16" name="단계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안정적 용수공급</a:t>
            </a:r>
          </a:p>
        </p:txBody>
      </p:sp>
      <p:sp>
        <p:nvSpPr>
          <p:cNvPr id="17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국민생활 향상</a:t>
            </a:r>
          </a:p>
        </p:txBody>
      </p:sp>
      <p:sp>
        <p:nvSpPr>
          <p:cNvPr id="18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공공복리 증진</a:t>
            </a:r>
          </a:p>
        </p:txBody>
      </p:sp>
      <p:sp>
        <p:nvSpPr>
          <p:cNvPr id="32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비 전</a:t>
            </a:r>
          </a:p>
        </p:txBody>
      </p:sp>
      <p:sp>
        <p:nvSpPr>
          <p:cNvPr id="34" name="배너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기후위기 대응을 선도하는 글로벌 물기업 / AI 특화비전: 기후위기를 극복하는 AI 물관리 세계 1위 기업</a:t>
            </a:r>
          </a:p>
        </p:txBody>
      </p:sp>
      <p:sp>
        <p:nvSpPr>
          <p:cNvPr id="35" name="레일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 략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목 표</a:t>
            </a:r>
          </a:p>
        </p:txBody>
      </p:sp>
      <p:sp>
        <p:nvSpPr>
          <p:cNvPr id="36" name="배너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새로운 물의 시대를 개척하는 기후위기 대응 솔루션 구현(~2030년 Water Storage 20% 확충 및 녹색수출 20조원)</a:t>
            </a:r>
          </a:p>
        </p:txBody>
      </p:sp>
      <p:sp>
        <p:nvSpPr>
          <p:cNvPr id="37" name="레일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 략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 향</a:t>
            </a:r>
          </a:p>
        </p:txBody>
      </p:sp>
      <p:sp>
        <p:nvSpPr>
          <p:cNvPr id="38" name="단계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고품질 물공급 실현</a:t>
            </a:r>
          </a:p>
        </p:txBody>
      </p:sp>
      <p:sp>
        <p:nvSpPr>
          <p:cNvPr id="39" name="단계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물관리 시스템 구축</a:t>
            </a:r>
          </a:p>
        </p:txBody>
      </p:sp>
      <p:sp>
        <p:nvSpPr>
          <p:cNvPr id="40" name="단계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물가치 창출</a:t>
            </a:r>
          </a:p>
        </p:txBody>
      </p:sp>
      <p:sp>
        <p:nvSpPr>
          <p:cNvPr id="48" name="레일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전 략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 제</a:t>
            </a:r>
          </a:p>
        </p:txBody>
      </p:sp>
      <p:sp>
        <p:nvSpPr>
          <p:cNvPr id="49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물공급 全프로세스 고도화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첨단기술 기반 상수도 혁신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지방 지원 상수도 패키지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국민·기업 안심 물공급 서비스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기후위기 대응 물안전 확보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스마트 기반 물관리 혁신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수자원 확보·물이용 효율 제고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댐주변활성화, 물환경 건전성 향상</a:t>
            </a:r>
          </a:p>
        </p:txBody>
      </p:sp>
      <p:sp>
        <p:nvSpPr>
          <p:cNvPr id="52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물에너지 활용 저탄소 전환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특화도시 조성 및 혁신모델 창출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기후테크 생태계 확장 및 수출지원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협력 기반 물 시장 개척</a:t>
            </a:r>
          </a:p>
        </p:txBody>
      </p:sp>
      <p:sp>
        <p:nvSpPr>
          <p:cNvPr id="54" name="레일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주 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 업</a:t>
            </a:r>
          </a:p>
        </p:txBody>
      </p:sp>
      <p:sp>
        <p:nvSpPr>
          <p:cNvPr id="55" name="단계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수도서비스 사업</a:t>
            </a:r>
          </a:p>
        </p:txBody>
      </p:sp>
      <p:sp>
        <p:nvSpPr>
          <p:cNvPr id="56" name="단계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수자원서비스 사업</a:t>
            </a:r>
          </a:p>
        </p:txBody>
      </p:sp>
      <p:sp>
        <p:nvSpPr>
          <p:cNvPr id="57" name="단계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융합서비스 사업</a:t>
            </a:r>
          </a:p>
        </p:txBody>
      </p:sp>
      <p:sp>
        <p:nvSpPr>
          <p:cNvPr id="65" name="레일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정의 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대표성</a:t>
            </a:r>
          </a:p>
        </p:txBody>
      </p:sp>
      <p:sp>
        <p:nvSpPr>
          <p:cNvPr id="66" name="배너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깨끗하고 효율적인 수돗물의 생산과 중단 없는 공급을 통해 건강하고 쾌적한 생활환경을 조성하는 사업</a:t>
            </a:r>
          </a:p>
        </p:txBody>
      </p:sp>
      <p:sp>
        <p:nvSpPr>
          <p:cNvPr id="67" name="머리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인력 비중</a:t>
            </a:r>
          </a:p>
        </p:txBody>
      </p:sp>
      <p:sp>
        <p:nvSpPr>
          <p:cNvPr id="68" name="머리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사업비 비중</a:t>
            </a:r>
          </a:p>
        </p:txBody>
      </p:sp>
      <p:sp>
        <p:nvSpPr>
          <p:cNvPr id="69" name="머리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정책우선 비중</a:t>
            </a:r>
          </a:p>
        </p:txBody>
      </p:sp>
      <p:sp>
        <p:nvSpPr>
          <p:cNvPr id="70" name="칸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58.5%(3,049명)</a:t>
            </a:r>
          </a:p>
        </p:txBody>
      </p:sp>
      <p:sp>
        <p:nvSpPr>
          <p:cNvPr id="71" name="칸 본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56.8%(25,670억원)</a:t>
            </a:r>
          </a:p>
        </p:txBody>
      </p:sp>
      <p:sp>
        <p:nvSpPr>
          <p:cNvPr id="73" name="칸 본문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39.5%</a:t>
            </a:r>
          </a:p>
        </p:txBody>
      </p:sp>
      <p:sp>
        <p:nvSpPr>
          <p:cNvPr id="75" name="레일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평가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대상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사업</a:t>
            </a:r>
          </a:p>
        </p:txBody>
      </p:sp>
      <p:sp>
        <p:nvSpPr>
          <p:cNvPr id="76" name="배너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사업별 우선순위 설정: 외부환경 변화를 고려한 STEEP 분석 및 AHP 기법 적용</a:t>
            </a:r>
          </a:p>
        </p:txBody>
      </p:sp>
      <p:sp>
        <p:nvSpPr>
          <p:cNvPr id="77" name="단계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수돗물 공급 혁신</a:t>
            </a:r>
          </a:p>
        </p:txBody>
      </p:sp>
      <p:sp>
        <p:nvSpPr>
          <p:cNvPr id="78" name="단계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포용적 물복지 강화</a:t>
            </a:r>
          </a:p>
        </p:txBody>
      </p:sp>
      <p:sp>
        <p:nvSpPr>
          <p:cNvPr id="79" name="단계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국민체감 서비스 개선</a:t>
            </a:r>
          </a:p>
        </p:txBody>
      </p:sp>
      <p:sp>
        <p:nvSpPr>
          <p:cNvPr id="80" name="단계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수도서비스 안전관리</a:t>
            </a:r>
          </a:p>
        </p:txBody>
      </p:sp>
      <p:sp>
        <p:nvSpPr>
          <p:cNvPr id="84" name="칸 본문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(광역상수도)</a:t>
            </a:r>
          </a:p>
        </p:txBody>
      </p:sp>
      <p:sp>
        <p:nvSpPr>
          <p:cNvPr id="85" name="칸 본문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(지방상수도)</a:t>
            </a:r>
          </a:p>
        </p:txBody>
      </p:sp>
      <p:sp>
        <p:nvSpPr>
          <p:cNvPr id="87" name="칸 본문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(국민과 기업 니즈 대응)</a:t>
            </a:r>
          </a:p>
        </p:txBody>
      </p:sp>
      <p:sp>
        <p:nvSpPr>
          <p:cNvPr id="89" name="칸 본문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(근로자·시민 안전 강화)</a:t>
            </a:r>
          </a:p>
        </p:txBody>
      </p:sp>
      <p:sp>
        <p:nvSpPr>
          <p:cNvPr id="91" name="레일"/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 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목 표</a:t>
            </a:r>
          </a:p>
        </p:txBody>
      </p:sp>
      <p:sp>
        <p:nvSpPr>
          <p:cNvPr id="92" name="칸 본문"/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기후위기에 강한 안정적인 고품질 수돗물 생산 및 공급</a:t>
            </a:r>
          </a:p>
        </p:txBody>
      </p:sp>
      <p:sp>
        <p:nvSpPr>
          <p:cNvPr id="93" name="칸 본문"/>
          <p:cNvSpPr>
            <a:spLocks noGrp="1"/>
          </p:cNvSpPr>
          <p:nvPr>
            <p:ph type="body" sz="quarter" idx="6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간 차별 없는 국민 물복지 혜택 확산</a:t>
            </a:r>
          </a:p>
        </p:txBody>
      </p:sp>
      <p:sp>
        <p:nvSpPr>
          <p:cNvPr id="95" name="칸 본문"/>
          <p:cNvSpPr>
            <a:spLocks noGrp="1"/>
          </p:cNvSpPr>
          <p:nvPr>
            <p:ph type="body" sz="quarter" idx="6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대국민 서비스 향상 및 첨단산업 경쟁력 제고</a:t>
            </a:r>
          </a:p>
        </p:txBody>
      </p:sp>
      <p:sp>
        <p:nvSpPr>
          <p:cNvPr id="97" name="칸 본문"/>
          <p:cNvSpPr>
            <a:spLocks noGrp="1"/>
          </p:cNvSpPr>
          <p:nvPr>
            <p:ph type="body" sz="quarter" idx="6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근로자와 국민 모두 안전한 수도사업장 조성</a:t>
            </a:r>
          </a:p>
        </p:txBody>
      </p:sp>
      <p:sp>
        <p:nvSpPr>
          <p:cNvPr id="99" name="레일"/>
          <p:cNvSpPr>
            <a:spLocks noGrp="1"/>
          </p:cNvSpPr>
          <p:nvPr>
            <p:ph type="body" sz="quarter" idx="6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핵심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지표</a:t>
            </a:r>
          </a:p>
        </p:txBody>
      </p:sp>
      <p:sp>
        <p:nvSpPr>
          <p:cNvPr id="100" name="칸 본문"/>
          <p:cNvSpPr>
            <a:spLocks noGrp="1"/>
          </p:cNvSpPr>
          <p:nvPr>
            <p:ph type="body" sz="quarter" idx="6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단수시 비상공급률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AX기반 기후대응력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고도정수처리 도입률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국민기대수질 달성률</a:t>
            </a:r>
          </a:p>
        </p:txBody>
      </p:sp>
      <p:sp>
        <p:nvSpPr>
          <p:cNvPr id="101" name="칸 본문"/>
          <p:cNvSpPr>
            <a:spLocks noGrp="1"/>
          </p:cNvSpPr>
          <p:nvPr>
            <p:ph type="body" sz="quarter" idx="6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지방상수도 유수율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노후상수도 정비사업 달성도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지방상수도 선진화 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급수 취약지역 인구해소</a:t>
            </a:r>
          </a:p>
        </p:txBody>
      </p:sp>
      <p:sp>
        <p:nvSpPr>
          <p:cNvPr id="103" name="칸 본문"/>
          <p:cNvSpPr>
            <a:spLocks noGrp="1"/>
          </p:cNvSpPr>
          <p:nvPr>
            <p:ph type="body" sz="quarter" idx="7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국민친화 물서비스 제공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지방상수도 고객만족도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상수도정보서비스 이용만족도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산업 맞춤형 서비스 강화</a:t>
            </a:r>
          </a:p>
        </p:txBody>
      </p:sp>
      <p:sp>
        <p:nvSpPr>
          <p:cNvPr id="105" name="칸 본문"/>
          <p:cNvSpPr>
            <a:spLocks noGrp="1"/>
          </p:cNvSpPr>
          <p:nvPr>
            <p:ph type="body" sz="quarter" idx="7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 특화 안전관리 강화</a:t>
            </a:r>
          </a:p>
        </p:txBody>
      </p:sp>
      <p:sp>
        <p:nvSpPr>
          <p:cNvPr id="107" name="레일"/>
          <p:cNvSpPr>
            <a:spLocks noGrp="1"/>
          </p:cNvSpPr>
          <p:nvPr>
            <p:ph type="body" sz="quarter" idx="7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 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 제</a:t>
            </a:r>
          </a:p>
        </p:txBody>
      </p:sp>
      <p:sp>
        <p:nvSpPr>
          <p:cNvPr id="109" name="칸 본문"/>
          <p:cNvSpPr>
            <a:spLocks noGrp="1"/>
          </p:cNvSpPr>
          <p:nvPr>
            <p:ph type="body" sz="quarter" idx="7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안정적 고품질 물공급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AX기반 자율운영 전환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운영혁신 및 원가절감</a:t>
            </a:r>
          </a:p>
        </p:txBody>
      </p:sp>
      <p:sp>
        <p:nvSpPr>
          <p:cNvPr id="110" name="칸 본문"/>
          <p:cNvSpPr>
            <a:spLocks noGrp="1"/>
          </p:cNvSpPr>
          <p:nvPr>
            <p:ph type="body" sz="quarter" idx="7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유수율 관리효율 향상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노후상수도 정비와 확산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재난지원 및 물복지</a:t>
            </a:r>
          </a:p>
        </p:txBody>
      </p:sp>
      <p:sp>
        <p:nvSpPr>
          <p:cNvPr id="112" name="칸 본문"/>
          <p:cNvSpPr>
            <a:spLocks noGrp="1"/>
          </p:cNvSpPr>
          <p:nvPr>
            <p:ph type="body" sz="quarter" idx="7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물문제 해소, 서비스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첨단산업용수 안정공급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초순수 해외의존 극복</a:t>
            </a:r>
          </a:p>
        </p:txBody>
      </p:sp>
      <p:sp>
        <p:nvSpPr>
          <p:cNvPr id="114" name="칸 본문"/>
          <p:cNvSpPr>
            <a:spLocks noGrp="1"/>
          </p:cNvSpPr>
          <p:nvPr>
            <p:ph type="body" sz="quarter" idx="7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 특화 맞춤 대책으로 근로자 안전확보, 시민 안전일상 수호</a:t>
            </a:r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180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성과목표 및 성과지표 설정(생산성 향상, 서비스 질 제고, 공공성 강화)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경영환경 변화를 반영한 성과목표 정의</a:t>
            </a:r>
          </a:p>
        </p:txBody>
      </p:sp>
      <p:graphicFrame>
        <p:nvGraphicFramePr>
          <p:cNvPr id="11" name="다열 표"/>
          <p:cNvGraphicFramePr>
            <a:graphicFrameLocks noGrp="1"/>
          </p:cNvGraphicFramePr>
          <p:nvPr/>
        </p:nvGraphicFramePr>
        <p:xfrm>
          <a:off x="723130" y="1522957"/>
          <a:ext cx="6300000" cy="2394471"/>
        </p:xfrm>
        <a:graphic>
          <a:graphicData uri="http://schemas.openxmlformats.org/drawingml/2006/table">
            <a:tbl>
              <a:tblPr/>
              <a:tblGrid>
                <a:gridCol w="882000"/>
                <a:gridCol w="1764000"/>
                <a:gridCol w="1764000"/>
                <a:gridCol w="1890000"/>
              </a:tblGrid>
              <a:tr h="230087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대상사업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’24년도 평가환류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경영환경 변화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성과목표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</a:tr>
              <a:tr h="541096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수돗물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공급혁신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이상기후, 노후화 대비 첨단기술 기반 물공급 전환 필요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재난피해 최소화, PFAS 규제 예고 등 수돗물 안전요구 강화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기후위기에 강한 안정적인 고품질 수돗물 생산·공급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541096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포용적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물복지 강화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지역 물문제에 대응할 수 있도록 지자체 역량 육성 필요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국가 재난, 지자체 재정 악화 등 공공기관의 공적역할 강조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지역간 차별 없는 국민 물 복지 혜택 확산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541096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국민체감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서비스 개선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요금동결 속 서비스 유지와 첨단산업 물공급 노력 필요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수돗물 정보서비스 확대와 지방 첨단산단 물수요 증가 등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대국민 서비스 향상 및 첨단산업 경쟁력 제고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541096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수도서비스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안전관리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사업 특성에 맞는 실효적 산재예방 및 시민안전 대책 필요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서울시 싱크홀 사고 등 국민 불안 증가, 수도사업 지속 확대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근로자와 국민 모두 안전한 수도사업장 조성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181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성과목표 달성을 위한 성과지표 개발·선정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성과지표 pool에 대한 적합성 평가를 통해 최종 성과지표 도출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검토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단계</a:t>
            </a:r>
          </a:p>
        </p:txBody>
      </p:sp>
      <p:sp>
        <p:nvSpPr>
          <p:cNvPr id="13" name="단계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유효성 검토 및 Pool 구성</a:t>
            </a:r>
          </a:p>
        </p:txBody>
      </p:sp>
      <p:sp>
        <p:nvSpPr>
          <p:cNvPr id="14" name="단계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성과지표 선정(적합성 평가)</a:t>
            </a:r>
          </a:p>
        </p:txBody>
      </p:sp>
      <p:sp>
        <p:nvSpPr>
          <p:cNvPr id="15" name="단계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성과지표 선정 결과</a:t>
            </a:r>
          </a:p>
        </p:txBody>
      </p:sp>
      <p:sp>
        <p:nvSpPr>
          <p:cNvPr id="16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연중 환류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경영전략: 전략과제 및 KPI 설정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평가환류: 지적사항 등 반영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1단계 정책연계·전략부합 우선고려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2단계 정책+전략+SMART 득점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총 12개 성과지표 선정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2개, 계량 6개, 비계량 4개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비계량 신규 1개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 2개</a:t>
            </a:r>
          </a:p>
        </p:txBody>
      </p:sp>
      <p:graphicFrame>
        <p:nvGraphicFramePr>
          <p:cNvPr id="27" name="다열 표"/>
          <p:cNvGraphicFramePr>
            <a:graphicFrameLocks noGrp="1"/>
          </p:cNvGraphicFramePr>
          <p:nvPr/>
        </p:nvGraphicFramePr>
        <p:xfrm>
          <a:off x="536870" y="2843217"/>
          <a:ext cx="6300000" cy="4016351"/>
        </p:xfrm>
        <a:graphic>
          <a:graphicData uri="http://schemas.openxmlformats.org/drawingml/2006/table">
            <a:tbl>
              <a:tblPr/>
              <a:tblGrid>
                <a:gridCol w="819000"/>
                <a:gridCol w="1827000"/>
                <a:gridCol w="504000"/>
                <a:gridCol w="504000"/>
                <a:gridCol w="504000"/>
                <a:gridCol w="441000"/>
                <a:gridCol w="1701000"/>
              </a:tblGrid>
              <a:tr h="230087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대상사업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성과지표 Pool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전략연계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정책부합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SMART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판정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적합성 평가결과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</a:tr>
              <a:tr h="386296">
                <a:tc rowSpan="4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수돗물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공급혁신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단수시 비상공급률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8.6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8.2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8.9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유지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(국정43) 안전한 물 공급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386296">
                <a:tc v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첨단기술 기반 물공급 전환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8.1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8.3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7.3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기존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연중 정책환경변화에 따른 개선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386296">
                <a:tc v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AX기반 기후대응력 강화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8.8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8.9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7.5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개선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(국정43) 기후위기 대비 국가 인프라 강화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386296">
                <a:tc v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고도정수처리 도입률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8.8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8.2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9.2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유지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(국정43) 기후위기 시대 물 안보 확립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541096">
                <a:tc rowSpan="2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포용적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물복지 강화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지방상수도 유수율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8.7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8.1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9.1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유지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(국정15) 지역 간 물복지 편차 해소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386296">
                <a:tc v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노후상수도 정비사업 달성도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8.9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8.4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8.5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유지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(국정72) 노후상수관 정비 확대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541096">
                <a:tc rowSpan="2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국민체감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서비스 개선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국민친화 요금제도 운영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7.4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7.6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8.1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기존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연중 정책환경변화에 따른 개선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386296">
                <a:tc v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상수도정보서비스 이용만족도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8.8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8.2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8.4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개선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(국정14) 국민 맞춤 공공서비스 제공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386296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안전관리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수도 특화 안전관리 강화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8.3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8.1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8.1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신규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(국정72·75) 모든 사람이 안전한 나라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28" name="다열 표"/>
          <p:cNvGraphicFramePr>
            <a:graphicFrameLocks noGrp="1"/>
          </p:cNvGraphicFramePr>
          <p:nvPr/>
        </p:nvGraphicFramePr>
        <p:xfrm>
          <a:off x="536870" y="6936261"/>
          <a:ext cx="6300000" cy="1543775"/>
        </p:xfrm>
        <a:graphic>
          <a:graphicData uri="http://schemas.openxmlformats.org/drawingml/2006/table">
            <a:tbl>
              <a:tblPr/>
              <a:tblGrid>
                <a:gridCol w="1008000"/>
                <a:gridCol w="2016000"/>
                <a:gridCol w="3276000"/>
              </a:tblGrid>
              <a:tr h="230087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구 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성과지표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변경사유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</a:tr>
              <a:tr h="541096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성과지표 선정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개선(1개)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상수도정보서비스 이용만족도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’24년 평가 실사시 제시된 의견에 따라 사용자 중심의 서비스 개선과 질적 향상을 위해 만족도 비중 확대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386296">
                <a:tc rowSpan="2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연중 환류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신규(1개)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수도 특화 안전관리 강화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연중 발표된 평가단 지적 및 新정부 안전강화 정책을 반영해 근로자안전 및 시민재해 예방을 위한 지표 신설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386296">
                <a:tc v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AX기반 기후대응력 강화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新정부 AI 정책을 반영해 기존 첨단기술과 함께 全과정 AI 전환을 통한 기후위기 대응력 강화로 성과관리 확장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182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전략과제에 따른 평가대상 사업별 중장기계획</a:t>
            </a:r>
          </a:p>
        </p:txBody>
      </p:sp>
      <p:graphicFrame>
        <p:nvGraphicFramePr>
          <p:cNvPr id="6" name="다열 표"/>
          <p:cNvGraphicFramePr>
            <a:graphicFrameLocks noGrp="1"/>
          </p:cNvGraphicFramePr>
          <p:nvPr/>
        </p:nvGraphicFramePr>
        <p:xfrm>
          <a:off x="723130" y="1095652"/>
          <a:ext cx="6300000" cy="3576680"/>
        </p:xfrm>
        <a:graphic>
          <a:graphicData uri="http://schemas.openxmlformats.org/drawingml/2006/table">
            <a:tbl>
              <a:tblPr/>
              <a:tblGrid>
                <a:gridCol w="882000"/>
                <a:gridCol w="378000"/>
                <a:gridCol w="1701000"/>
                <a:gridCol w="1701000"/>
                <a:gridCol w="1638000"/>
              </a:tblGrid>
              <a:tr h="328696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평가대상사업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전략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과제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’25년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~’27년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~’29년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</a:tr>
              <a:tr h="1005496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수돗물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공급혁신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❶❸❺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AI(정) 고도화 및 AX 기반 마련</a:t>
                      </a:r>
                    </a:p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운영고도화(원가 172억원/연 저감)</a:t>
                      </a:r>
                    </a:p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기후대응 인프라 개선 계획 수립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AI(정) 국제표준 및 AX 확대</a:t>
                      </a:r>
                    </a:p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잠재e 발굴(원가 370억원/연 저감)</a:t>
                      </a:r>
                    </a:p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안정화, 고도 등 사업시행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AX 자율운영 및 사업화 확대</a:t>
                      </a:r>
                    </a:p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AI 고도화(원가 467억원/연 저감)</a:t>
                      </a:r>
                    </a:p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글로벌 수준 고도도입 등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850696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포용적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물복지 강화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❶❻❼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SWNM 표준모델 구축</a:t>
                      </a:r>
                    </a:p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지방(상) 사업모델 다각화</a:t>
                      </a:r>
                    </a:p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취약지역 맞춤형 지원 확대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SWNM 국내 선도사업 추진</a:t>
                      </a:r>
                    </a:p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지방(상) 신규사업 확대</a:t>
                      </a:r>
                    </a:p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데이터 기반 취약점 선제적 발굴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SWNM 국내외 사업화 확대</a:t>
                      </a:r>
                    </a:p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AI 활용, 지방(상) 운영고도화</a:t>
                      </a:r>
                    </a:p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물복지 사각지대 해소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005496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국민체감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서비스 개선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❷❹❽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첨단용수 최적공급방안 마련</a:t>
                      </a:r>
                    </a:p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초순수 운영관리 사업 진출</a:t>
                      </a:r>
                    </a:p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물이용개선방안 제안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첨단용수 공급망 조성 시행</a:t>
                      </a:r>
                    </a:p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초순수 기반 사업모델 다각화</a:t>
                      </a:r>
                    </a:p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물이용체계 개선 수립·실행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첨단 용수공급 인프라 준공 등</a:t>
                      </a:r>
                    </a:p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사업확대 및 민간 동반성장 추진</a:t>
                      </a:r>
                    </a:p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워터믹스 등 물이용체계 혁신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386296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수도서비스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안전관리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❼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수도특화 안전설계기준 마련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안전 인프라 구축 및 AI기술 확대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위험 제로 안전 관리체계 완성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183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성과목표 달성을 위한 자원배분 계획, 모니터링 및 평가 계획</a:t>
            </a:r>
          </a:p>
        </p:txBody>
      </p:sp>
      <p:sp>
        <p:nvSpPr>
          <p:cNvPr id="13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사업별 성과목표 달성을 위한 자원배분 계획</a:t>
            </a:r>
          </a:p>
        </p:txBody>
      </p:sp>
      <p:sp>
        <p:nvSpPr>
          <p:cNvPr id="15" name="소제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자원배분 기본방향</a:t>
            </a:r>
          </a:p>
        </p:txBody>
      </p:sp>
      <p:sp>
        <p:nvSpPr>
          <p:cNvPr id="17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주요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이슈</a:t>
            </a:r>
          </a:p>
        </p:txBody>
      </p:sp>
      <p:sp>
        <p:nvSpPr>
          <p:cNvPr id="18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물공급 혁신</a:t>
            </a:r>
          </a:p>
        </p:txBody>
      </p:sp>
      <p:sp>
        <p:nvSpPr>
          <p:cNvPr id="19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물복지 강화</a:t>
            </a:r>
          </a:p>
        </p:txBody>
      </p:sp>
      <p:sp>
        <p:nvSpPr>
          <p:cNvPr id="20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서비스 개선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노후화 가속, 원가 상승 지속 등 전년보다 수돗물 공급여건 악화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균형성장 이행과 인력 한계를 극복하는 수탁사업 개선 필요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국가 첨단산업 현안(수량, 수질)에 대한 K-water 역할 대두</a:t>
            </a:r>
          </a:p>
        </p:txBody>
      </p:sp>
      <p:sp>
        <p:nvSpPr>
          <p:cNvPr id="26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예산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고품질 수돗물 공급을 위한 혁신과 전략적 예산배분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취약 지자체 중심 사업확대와 적극적 재원 확보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기술중심 서비스 혁신으로 예산 효율성 제고</a:t>
            </a:r>
          </a:p>
        </p:txBody>
      </p:sp>
      <p:sp>
        <p:nvSpPr>
          <p:cNvPr id="33" name="레일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조직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인력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물공급 안전망 강화를 위한 인력 효율적 재배치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통합수탁 등 사업 다각화로 조직·인력 최적배분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국가 첨단산업 지원을 위한 조직·인력 강화</a:t>
            </a:r>
          </a:p>
        </p:txBody>
      </p:sp>
      <p:sp>
        <p:nvSpPr>
          <p:cNvPr id="41" name="소제목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재무예산 배분 계획(단위: 억원)</a:t>
            </a:r>
          </a:p>
        </p:txBody>
      </p:sp>
      <p:graphicFrame>
        <p:nvGraphicFramePr>
          <p:cNvPr id="42" name="다열 표"/>
          <p:cNvGraphicFramePr>
            <a:graphicFrameLocks noGrp="1"/>
          </p:cNvGraphicFramePr>
          <p:nvPr/>
        </p:nvGraphicFramePr>
        <p:xfrm>
          <a:off x="536870" y="4218417"/>
          <a:ext cx="6300000" cy="1388975"/>
        </p:xfrm>
        <a:graphic>
          <a:graphicData uri="http://schemas.openxmlformats.org/drawingml/2006/table">
            <a:tbl>
              <a:tblPr/>
              <a:tblGrid>
                <a:gridCol w="1008000"/>
                <a:gridCol w="567000"/>
                <a:gridCol w="567000"/>
                <a:gridCol w="567000"/>
                <a:gridCol w="3591000"/>
              </a:tblGrid>
              <a:tr h="230087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대상사업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’23년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’24년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’25년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운영방향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</a:tr>
              <a:tr h="386296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수돗물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공급혁신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19,391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17,628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17,365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고도정수처리 사업 등 건설 완료에 따라 예산이 소폭 감소하였으며, 노후시설 개선 등에 집중투자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386296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포용적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물복지 강화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7,010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7,520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7,915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안전·혁신기술 예산 전략적 확대와 취약 지자체 정비사업 재원 집중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386296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국민체감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서비스 개선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141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463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390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초순수 등 성장분야 및 대국민 서비스 투자는 확대하되, 기술기반 원가저감으로 한정된 재원 활용 효율 극대화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44" name="소제목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조직·인력 배분 계획(단위: 명)</a:t>
            </a:r>
          </a:p>
        </p:txBody>
      </p:sp>
      <p:graphicFrame>
        <p:nvGraphicFramePr>
          <p:cNvPr id="45" name="다열 표"/>
          <p:cNvGraphicFramePr>
            <a:graphicFrameLocks noGrp="1"/>
          </p:cNvGraphicFramePr>
          <p:nvPr/>
        </p:nvGraphicFramePr>
        <p:xfrm>
          <a:off x="536870" y="6045652"/>
          <a:ext cx="6300000" cy="1388975"/>
        </p:xfrm>
        <a:graphic>
          <a:graphicData uri="http://schemas.openxmlformats.org/drawingml/2006/table">
            <a:tbl>
              <a:tblPr/>
              <a:tblGrid>
                <a:gridCol w="1008000"/>
                <a:gridCol w="567000"/>
                <a:gridCol w="567000"/>
                <a:gridCol w="567000"/>
                <a:gridCol w="3591000"/>
              </a:tblGrid>
              <a:tr h="230087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대상사업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’23년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’24년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’25년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운영방향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</a:tr>
              <a:tr h="386296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수돗물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공급혁신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1,985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2,030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2,034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물공급 안전망 투자 확대에 맞춰 운영·건설 병행조직에서 건설 전담조직을 분리·확대(4→8개소)하는 등 조직·인력 조정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386296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포용적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물복지 강화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712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684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650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노후상수도 정비사업 통합 운영, 정비사업 완료(12개) 및 신규협약(24개)에 따른 인력 조정배치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386296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국민체감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서비스 개선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304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331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365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초순수 운영 전담조직 신설 및 운영관리 인력 증원(37명) 등 산업용수 인력 재배치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184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성과목표 관리를 위한 모니터링 및 평가 계획</a:t>
            </a:r>
          </a:p>
        </p:txBody>
      </p:sp>
      <p:graphicFrame>
        <p:nvGraphicFramePr>
          <p:cNvPr id="6" name="다열 표"/>
          <p:cNvGraphicFramePr>
            <a:graphicFrameLocks noGrp="1"/>
          </p:cNvGraphicFramePr>
          <p:nvPr/>
        </p:nvGraphicFramePr>
        <p:xfrm>
          <a:off x="723130" y="1095652"/>
          <a:ext cx="6300000" cy="2544727"/>
        </p:xfrm>
        <a:graphic>
          <a:graphicData uri="http://schemas.openxmlformats.org/drawingml/2006/table">
            <a:tbl>
              <a:tblPr/>
              <a:tblGrid>
                <a:gridCol w="2520000"/>
                <a:gridCol w="630000"/>
                <a:gridCol w="3150000"/>
              </a:tblGrid>
              <a:tr h="230087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성과지표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주기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모니터링 방법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</a:tr>
              <a:tr h="386296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고도정수처리 도입률(%)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분기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측정시스템: 운영통합(WRO), 시설통합(WFM), 수질통합(WQE)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1043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지방상수도 유수율(%)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월간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성과관리시스템, 국가상수도정보시스템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1043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단수시 비상공급률(%)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분기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국민소통센터(BP발굴)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1043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국민기대수질 달성률(%)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수시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점검: 전사경영회의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1043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노후(상) 정비사업 달성도(%)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분기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점검: 성과관리회의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1043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급수 취약지역 인구 해소(누계, 천명)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분기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1043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지방상수도 고객만족도(점)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연간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1043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상수도정보서비스 만족도(점)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연간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1043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AX기반 기후대응력 강화 등 5개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분기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8" name="레일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평가·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환류</a:t>
            </a:r>
          </a:p>
        </p:txBody>
      </p:sp>
      <p:sp>
        <p:nvSpPr>
          <p:cNvPr id="9" name="단계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실행계획</a:t>
            </a:r>
          </a:p>
        </p:txBody>
      </p:sp>
      <p:sp>
        <p:nvSpPr>
          <p:cNvPr id="10" name="단계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중간평가</a:t>
            </a:r>
          </a:p>
        </p:txBody>
      </p:sp>
      <p:sp>
        <p:nvSpPr>
          <p:cNvPr id="11" name="단계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최종평가</a:t>
            </a:r>
          </a:p>
        </p:txBody>
      </p:sp>
      <p:sp>
        <p:nvSpPr>
          <p:cNvPr id="12" name="단계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피드백</a:t>
            </a:r>
          </a:p>
        </p:txBody>
      </p:sp>
      <p:sp>
        <p:nvSpPr>
          <p:cNvPr id="23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관리</a:t>
            </a:r>
          </a:p>
        </p:txBody>
      </p:sp>
      <p:sp>
        <p:nvSpPr>
          <p:cNvPr id="25" name="배너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내부성과관리체계: ESG경영위원회 성과관리회의 · 국민소통 플랫폼 · 경영목표·ESG지표</a:t>
            </a:r>
          </a:p>
        </p:txBody>
      </p:sp>
      <p:sp>
        <p:nvSpPr>
          <p:cNvPr id="26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공유·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확산</a:t>
            </a:r>
          </a:p>
        </p:txBody>
      </p:sp>
      <p:sp>
        <p:nvSpPr>
          <p:cNvPr id="28" name="단계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혁신챌린지</a:t>
            </a:r>
          </a:p>
        </p:txBody>
      </p:sp>
      <p:sp>
        <p:nvSpPr>
          <p:cNvPr id="29" name="단계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문제해결 CoP</a:t>
            </a:r>
          </a:p>
        </p:txBody>
      </p:sp>
      <p:sp>
        <p:nvSpPr>
          <p:cNvPr id="30" name="단계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성과홍보</a:t>
            </a:r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185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미래 상수도 전략 실행 원년, 전략목표 달성을 위한 Action Plan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변 화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해마다 어려워지는 수돗물 공급 여건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新정부 국정과제 선도체계로 물관리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역대 최장 조류경보 발령(14개 지점 961일), 시설노후 티핑포인트 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10년간 요금동결로 투자재원 부족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한정된 자원 최적배분으로 선제적 대비 필요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강국 · 국민 안전 · 균형발전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AI정수장 등 글로벌 시장 선도와 예방적 재난관리, 지역물문제 해소로 정책 부합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미래상수도 적기 실행이 곧 국정과제 이행의 지름길</a:t>
            </a:r>
          </a:p>
        </p:txBody>
      </p:sp>
      <p:sp>
        <p:nvSpPr>
          <p:cNvPr id="19" name="레일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로드맵</a:t>
            </a:r>
          </a:p>
        </p:txBody>
      </p:sp>
      <p:sp>
        <p:nvSpPr>
          <p:cNvPr id="21" name="배너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전략수립에서 나아가 ’25년 변화된 환경·정책을 반영한 ‘실행중심 체계’로 전환</a:t>
            </a:r>
          </a:p>
        </p:txBody>
      </p:sp>
      <p:sp>
        <p:nvSpPr>
          <p:cNvPr id="22" name="레일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미 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상수도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로드맵</a:t>
            </a:r>
          </a:p>
        </p:txBody>
      </p:sp>
      <p:sp>
        <p:nvSpPr>
          <p:cNvPr id="23" name="단계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전략(Strategy)</a:t>
            </a:r>
          </a:p>
        </p:txBody>
      </p:sp>
      <p:sp>
        <p:nvSpPr>
          <p:cNvPr id="24" name="단계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실행(Action Plan)</a:t>
            </a:r>
          </a:p>
        </p:txBody>
      </p:sp>
      <p:sp>
        <p:nvSpPr>
          <p:cNvPr id="25" name="단계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’26년~ 신속 추진(Execution)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국민안심을 위한 미래 수도 4대 전략 수립 · 안정화, 스마트, 고품질, 운영혁신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전략목표 달성을 위한 실행과제 구체화 및 이행</a:t>
            </a:r>
          </a:p>
        </p:txBody>
      </p:sp>
      <p:sp>
        <p:nvSpPr>
          <p:cNvPr id="31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물공급 全과정 전략과제 실행 가속화 성과창출</a:t>
            </a:r>
          </a:p>
        </p:txBody>
      </p:sp>
      <p:sp>
        <p:nvSpPr>
          <p:cNvPr id="33" name="레일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4대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계획</a:t>
            </a:r>
          </a:p>
        </p:txBody>
      </p:sp>
      <p:sp>
        <p:nvSpPr>
          <p:cNvPr id="34" name="머리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안정화 · 스마트</a:t>
            </a:r>
          </a:p>
        </p:txBody>
      </p:sp>
      <p:sp>
        <p:nvSpPr>
          <p:cNvPr id="35" name="머리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고품질 · 운영혁신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재난·사고에 대비한 안정적인 수돗물: 취약요인(밸브, 하천) 발굴·해소로 선제적 개선, 사고 예방 중심의 관로 안정화 실행계획(~’40, 17조원)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미래상: 단수시 비상공급률 100%, 실 단수 Zero 수준 유지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 특화 AX 기반 스마트한 수돗물: AI 기술 사업화(8건)·ISO 표준화로 국내외 선도, 수도서비스 全과정 AX 사업화(~’30, 0.1조원)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미래상: 물 공급 全과정 AX전환, 全사업장 완전자율운영</a:t>
            </a:r>
          </a:p>
        </p:txBody>
      </p:sp>
      <p:sp>
        <p:nvSpPr>
          <p:cNvPr id="40" name="머리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고품질: 국민이 안심할 수 있는 고품질 수돗물</a:t>
            </a:r>
          </a:p>
        </p:txBody>
      </p:sp>
      <p:sp>
        <p:nvSpPr>
          <p:cNvPr id="41" name="머리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운영혁신: 低원가, 高효율의 지속가능한 수돗물</a:t>
            </a:r>
          </a:p>
        </p:txBody>
      </p:sp>
      <p:sp>
        <p:nvSpPr>
          <p:cNvPr id="42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계절별 취약요소 관리 및 신종오염물질 대비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복합수질 대응을 위한 정수장 종합개선 계획(~’40, 5조원)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미래상: 고도정수처리 100% 도입, 초고도 시범도입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고효율 설비, 운영 혁신 중심 원가절감 확대(~’30)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자산관리체계 고도화 및 한강유역 확대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미래상: 수돗물 생산원가 절감 484억원/연, 에너지 자립</a:t>
            </a:r>
          </a:p>
        </p:txBody>
      </p:sp>
      <p:sp>
        <p:nvSpPr>
          <p:cNvPr id="45" name="레일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 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 과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단수 취약요인 선제개선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안정화 사업계획 재수립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ISO 인증 등 글로벌 선도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 AX 추진계획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국민기대수질 98.3%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PFAS OUT 로드맵 마련</a:t>
            </a:r>
          </a:p>
        </p:txBody>
      </p:sp>
      <p:sp>
        <p:nvSpPr>
          <p:cNvPr id="52" name="칸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원가절감 목표 比 105%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자산체계 활용 의사결정</a:t>
            </a:r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186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사고 환류와 실행력이 담보된 안정화 계획 이행으로 비상공급률 향상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배경</a:t>
            </a:r>
          </a:p>
        </p:txBody>
      </p:sp>
      <p:sp>
        <p:nvSpPr>
          <p:cNvPr id="11" name="머리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현황  연평균 50㎞ 사업에도</a:t>
            </a:r>
          </a:p>
        </p:txBody>
      </p:sp>
      <p:sp>
        <p:nvSpPr>
          <p:cNvPr id="12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한계  다양한 요인으로 인한 단수사고 발생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단수시 비상공급률 87.3%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연평균 약 0.5조원 안정화 투자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사고: 숨은 사각지대 존재 → 예기치 못한 사고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사업비: 건설원가 상승 → 사업비 부족 → 사업지연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우선순위: 공급량 중심 → 단수위험 반영 부족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 향</a:t>
            </a:r>
          </a:p>
        </p:txBody>
      </p:sp>
      <p:sp>
        <p:nvSpPr>
          <p:cNvPr id="18" name="배너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성과는 유지, 한계는 보완하여 속도와 효율을 높인 안정화 실행계획 전면 재수립</a:t>
            </a: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187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8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취약요인 개선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예기치 못한 단수, 사고원인 환류로 선제적 개선대책 마련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3" name="태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14" name="배너 글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사고의 원인을 복기하여 시스템 근본적 개선 도모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사례 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한 계</a:t>
            </a:r>
          </a:p>
        </p:txBody>
      </p:sp>
      <p:sp>
        <p:nvSpPr>
          <p:cNvPr id="17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잠재적 단수위험 노후 밸브</a:t>
            </a:r>
          </a:p>
        </p:txBody>
      </p:sp>
      <p:sp>
        <p:nvSpPr>
          <p:cNvPr id="18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강물로 복구가 어려운 하천관로</a:t>
            </a:r>
          </a:p>
        </p:txBody>
      </p:sp>
      <p:sp>
        <p:nvSpPr>
          <p:cNvPr id="19" name="머리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부단수공법 사고대비 미흡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서산 등 31만명 단수(’24.11) (원인: 노후 밸브 작동불량)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4만개 밸브 상태 불확실 및 노후(20년이상 66%)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증평군 3.7만명 단수(’25.8) (원인: 집중호우로 관 주변 세굴)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집중호우로 하상변동 심하고, 복구 지난(전체 313㎞)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파주시 29만명 단수(’25.11) (원인: 연약지반, 고수압 등 복합원인)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고수압·노후·연약지반 등 잠재 위험 대비 부족, 지자체 미협의</a:t>
            </a:r>
          </a:p>
        </p:txBody>
      </p:sp>
      <p:sp>
        <p:nvSpPr>
          <p:cNvPr id="25" name="레일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방안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체계: 전수조사 및 신뢰지수 개발 → 교체 대상 선정 및 우선교체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밸브상태 자산 DB화 → 자산체계 활용 순차 교체(1만개)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우선: 임시관로(265m) 설치로 2일만에 용수공급 개시, 680m 복선화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하천 취약시설 관리 체계화 및 복선화 등 설계지침 개정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기준: 잠재 위험 선제적 제거를 위한 시방서, 설계기준 강화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절차: 계획단수 절차 개선 → 지자체 사전협의, 공법검토 강화</a:t>
            </a: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188</a:t>
            </a:r>
          </a:p>
        </p:txBody>
      </p:sp>
      <p:sp>
        <p:nvSpPr>
          <p:cNvPr id="4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5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실행력 강화</a:t>
            </a:r>
          </a:p>
        </p:txBody>
      </p:sp>
      <p:sp>
        <p:nvSpPr>
          <p:cNvPr id="7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안정화 시행 15년, 실행력과 형평성을 높인 계획으로 재탄생</a:t>
            </a:r>
          </a:p>
        </p:txBody>
      </p:sp>
      <p:sp>
        <p:nvSpPr>
          <p:cNvPr id="8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0" name="태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11" name="배너 글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실행력이 담보된 사업계획 재수립이 필요한 시점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충분한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사업비</a:t>
            </a:r>
          </a:p>
        </p:txBody>
      </p:sp>
      <p:sp>
        <p:nvSpPr>
          <p:cNvPr id="14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비효율은 줄이고</a:t>
            </a:r>
          </a:p>
        </p:txBody>
      </p:sp>
      <p:sp>
        <p:nvSpPr>
          <p:cNvPr id="15" name="단계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지연 원인분석 및 환류로</a:t>
            </a:r>
          </a:p>
        </p:txBody>
      </p:sp>
      <p:sp>
        <p:nvSpPr>
          <p:cNvPr id="16" name="단계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신속 사업지연요인 해소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시기 조정 등 중복사업 통합으로 사업비(2.2조원) 절감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추가 투자예산 확보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안전 가시설, 추진공사 등 총사업비 증가요인 최소화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현실화: 준공수준 사업비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총사업비 현실화(12.4 → 17.4조원, 증 5조원)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사업지연, 비용증가 요인 선제 반영 → 실행력 강화</a:t>
            </a:r>
          </a:p>
        </p:txBody>
      </p:sp>
      <p:sp>
        <p:nvSpPr>
          <p:cNvPr id="24" name="레일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효율적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사업계획</a:t>
            </a:r>
          </a:p>
        </p:txBody>
      </p:sp>
      <p:sp>
        <p:nvSpPr>
          <p:cNvPr id="26" name="머리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직접조사 한계</a:t>
            </a:r>
          </a:p>
        </p:txBody>
      </p:sp>
      <p:sp>
        <p:nvSpPr>
          <p:cNvPr id="27" name="머리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취약요인 + 인력부족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단수, 안전 문제로 직접조사 제한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6,970개소 중 457개소 조사(6.6%)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정확: AI 노후도 예측, 영상판독 등 기술도입으로 극복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본관 중심 개량으로 취약요인 잔존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밸브, 분기관 등에서 연평균 9.9건 사고발생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선제: 부속시설 포함 개량 → 잠재적 취약요인 최소화 / 전담조직 2배(4→8개)</a:t>
            </a:r>
          </a:p>
        </p:txBody>
      </p:sp>
      <p:sp>
        <p:nvSpPr>
          <p:cNvPr id="31" name="레일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우선순위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재조정</a:t>
            </a:r>
          </a:p>
        </p:txBody>
      </p:sp>
      <p:sp>
        <p:nvSpPr>
          <p:cNvPr id="33" name="단계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시설규모 중심</a:t>
            </a:r>
          </a:p>
        </p:txBody>
      </p:sp>
      <p:sp>
        <p:nvSpPr>
          <p:cNvPr id="34" name="단계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금회 단수발생 확률 중심</a:t>
            </a:r>
          </a:p>
        </p:txBody>
      </p:sp>
      <p:sp>
        <p:nvSpPr>
          <p:cNvPr id="35" name="단계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효율 취약시설 우선시행</a:t>
            </a:r>
          </a:p>
        </p:txBody>
      </p:sp>
      <p:sp>
        <p:nvSpPr>
          <p:cNvPr id="38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기법: 그룹화 방식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공급량이 많을수록 유리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한계: 노후관 개량과 복선화 동일기준 → 사업특성 미반영</a:t>
            </a:r>
          </a:p>
        </p:txBody>
      </p:sp>
      <p:sp>
        <p:nvSpPr>
          <p:cNvPr id="39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기법: AHP 가중치 방식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노후도와 단수위험도 우선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개선: 사업별 별도 기준 마련 → 우선순위 의사결정 정교화</a:t>
            </a:r>
          </a:p>
        </p:txBody>
      </p:sp>
      <p:sp>
        <p:nvSpPr>
          <p:cNvPr id="41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단수 위험이 높은 시설에 선투자하여 투자 효율성 제고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지역사업 포함 30건 우선순위 상향 조정</a:t>
            </a:r>
          </a:p>
        </p:txBody>
      </p:sp>
      <p:sp>
        <p:nvSpPr>
          <p:cNvPr id="44" name="핵심성과 라벨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5" name="핵심성과 문구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어려운 여건에서 노후관 개량, 복선화 등 60.8km 및 비상공급률 87.6%(목표 대비 100%) 달성</a:t>
            </a: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189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3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AI 정수장 Step-up, 상수도 全과정 AX 실현으로 자율운영체계 전환</a:t>
            </a:r>
          </a:p>
        </p:txBody>
      </p:sp>
      <p:sp>
        <p:nvSpPr>
          <p:cNvPr id="13" name="태그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필요성</a:t>
            </a:r>
          </a:p>
        </p:txBody>
      </p:sp>
      <p:sp>
        <p:nvSpPr>
          <p:cNvPr id="14" name="배너 글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인력 중심 대응의 한계 → AI 활용 의사결정 필요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혁신</a:t>
            </a:r>
          </a:p>
        </p:txBody>
      </p:sp>
      <p:sp>
        <p:nvSpPr>
          <p:cNvPr id="17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그간의 성과  AI정수장(43개소) 구축</a:t>
            </a:r>
          </a:p>
        </p:txBody>
      </p:sp>
      <p:sp>
        <p:nvSpPr>
          <p:cNvPr id="18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한번 더 혁신!  글로벌 선도체계 확립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AI정수장 AI자율운영 등 기술 도입·검증 주력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WEF 등대공장 선정(’23), 인도네시아 첫 사업(’24)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디지털전환: 관망·정수장 DT 구현, 자산관리체계(7개소) 시범구축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앞선 기술인 AI정수장은 고도화·사업화로 격차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CEO 메시지: 새로운 기준을 만드는 선도자가 되는 것 AI 정수장은 첫 대답입니다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DX 성과는 AI와 접목, AX로 성장 가속 → 수도 특화 AX 계획을 국가 정책사업에 반영</a:t>
            </a:r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190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AI(정) 고도화와 기술 사업화를 통해 글로벌 선도기술로 자리매김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7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9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AI정수장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로드맵</a:t>
            </a:r>
          </a:p>
        </p:txBody>
      </p:sp>
      <p:sp>
        <p:nvSpPr>
          <p:cNvPr id="10" name="단계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~’24년 AI기술 도입·검증 2.0</a:t>
            </a:r>
          </a:p>
        </p:txBody>
      </p:sp>
      <p:sp>
        <p:nvSpPr>
          <p:cNvPr id="11" name="단계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고도화·사업화 확대 2.0+</a:t>
            </a:r>
          </a:p>
        </p:txBody>
      </p:sp>
      <p:sp>
        <p:nvSpPr>
          <p:cNvPr id="12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~’30년 완전 자율운영 3.0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예측 기반 의사결정(설명 한계)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정수공정 중심 AI 운영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근거를 설명하는 eXplainable AI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취수, 관망포함 피지컬 AI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국제표준 및 사업화(8건) 확대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AI·DT·로봇 융합운영으로 全 수도시설 완전자율운영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국제표준 제정, 글로벌 확대</a:t>
            </a:r>
          </a:p>
        </p:txBody>
      </p:sp>
      <p:sp>
        <p:nvSpPr>
          <p:cNvPr id="20" name="번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■</a:t>
            </a:r>
          </a:p>
        </p:txBody>
      </p:sp>
      <p:sp>
        <p:nvSpPr>
          <p:cNvPr id="21" name="분야 박스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고도화</a:t>
            </a:r>
          </a:p>
        </p:txBody>
      </p:sp>
      <p:sp>
        <p:nvSpPr>
          <p:cNvPr id="23" name="소제목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분석/의사결정 지원을 넘어 행동하는 ‘AI 정수장 2.0+’ 현안 해결형 AI로 진화</a:t>
            </a:r>
          </a:p>
        </p:txBody>
      </p:sp>
      <p:sp>
        <p:nvSpPr>
          <p:cNvPr id="25" name="패널 머리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설명가능 AI(XAI) 도입</a:t>
            </a:r>
          </a:p>
        </p:txBody>
      </p:sp>
      <p:sp>
        <p:nvSpPr>
          <p:cNvPr id="26" name="패널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XAI 개발·시범운영(4개 정수장), 국제발명전시회 금상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운영 가이드라인 제정 → 운영 표준화</a:t>
            </a:r>
          </a:p>
        </p:txBody>
      </p:sp>
      <p:sp>
        <p:nvSpPr>
          <p:cNvPr id="27" name="요약 바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XAI 도입 후 약품량을 4ppm 상향</a:t>
            </a:r>
          </a:p>
        </p:txBody>
      </p:sp>
      <p:sp>
        <p:nvSpPr>
          <p:cNvPr id="29" name="패널 머리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Physical AI 확대</a:t>
            </a:r>
          </a:p>
        </p:txBody>
      </p:sp>
      <p:sp>
        <p:nvSpPr>
          <p:cNvPr id="30" name="패널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정수장 → 全 공정(취수장+관망) AI 예측·연계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드론·로봇의 시범운영 확대 및 성능검증</a:t>
            </a:r>
          </a:p>
        </p:txBody>
      </p:sp>
      <p:sp>
        <p:nvSpPr>
          <p:cNvPr id="31" name="요약 바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AI취수원 · AI정수장 · AI관망</a:t>
            </a:r>
          </a:p>
        </p:txBody>
      </p:sp>
      <p:sp>
        <p:nvSpPr>
          <p:cNvPr id="33" name="핵심성과 라벨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4" name="핵심성과 문구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AI 정수장 고도화로 운영원가 110억원/연 절감, 운영 표준화를 통해 사업화 기반 강화</a:t>
            </a:r>
          </a:p>
        </p:txBody>
      </p:sp>
      <p:sp>
        <p:nvSpPr>
          <p:cNvPr id="35" name="번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■</a:t>
            </a:r>
          </a:p>
        </p:txBody>
      </p:sp>
      <p:sp>
        <p:nvSpPr>
          <p:cNvPr id="36" name="분야 박스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사업화</a:t>
            </a:r>
          </a:p>
        </p:txBody>
      </p:sp>
      <p:sp>
        <p:nvSpPr>
          <p:cNvPr id="38" name="소제목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세계가 인정한 AI 정수장, 핵심 기술력을 기반으로 글로벌 기술 사업화 확대</a:t>
            </a:r>
          </a:p>
        </p:txBody>
      </p:sp>
      <p:sp>
        <p:nvSpPr>
          <p:cNvPr id="40" name="레일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표준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선도</a:t>
            </a:r>
          </a:p>
        </p:txBody>
      </p:sp>
      <p:sp>
        <p:nvSpPr>
          <p:cNvPr id="41" name="머리칸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국제 규범으로 채택</a:t>
            </a:r>
          </a:p>
        </p:txBody>
      </p:sp>
      <p:sp>
        <p:nvSpPr>
          <p:cNvPr id="42" name="머리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정부10대 AI선도기관 선정!</a:t>
            </a:r>
          </a:p>
        </p:txBody>
      </p:sp>
      <p:sp>
        <p:nvSpPr>
          <p:cNvPr id="43" name="머리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Biz 모델 우수성 국제 인증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제안(’23) → 개발(’24) → 심의(’25) → 위원회 승인(’26.1) → 최종안 → 제정(’27)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국제표준특허 2건 출원</a:t>
            </a:r>
          </a:p>
        </p:txBody>
      </p:sp>
      <p:sp>
        <p:nvSpPr>
          <p:cNvPr id="45" name="칸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확산 주도·기준점 제시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동반성장 기업기술이전 35건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투자가치 OECD 인증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해외 수요 활성화</a:t>
            </a:r>
          </a:p>
        </p:txBody>
      </p:sp>
      <p:sp>
        <p:nvSpPr>
          <p:cNvPr id="49" name="레일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국내외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확산</a:t>
            </a:r>
          </a:p>
        </p:txBody>
      </p:sp>
      <p:sp>
        <p:nvSpPr>
          <p:cNvPr id="51" name="머리칸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인정  ‘First Mover’ 위상 제고</a:t>
            </a:r>
          </a:p>
        </p:txBody>
      </p:sp>
      <p:sp>
        <p:nvSpPr>
          <p:cNvPr id="52" name="머리칸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국내  국가 상수도 선진화</a:t>
            </a:r>
          </a:p>
        </p:txBody>
      </p:sp>
      <p:sp>
        <p:nvSpPr>
          <p:cNvPr id="53" name="머리칸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국외  글로벌 시장 개척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국내 최고권위 산업 기술상 ‘장영실상’ 수상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물관리 혁신을 국가 핵심기술력으로 평가</a:t>
            </a:r>
          </a:p>
        </p:txBody>
      </p:sp>
      <p:sp>
        <p:nvSpPr>
          <p:cNvPr id="55" name="칸 본문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부산시 수도 AX MOU 체결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수원시·함평군·광해공단(타분야) AI 기술 지원</a:t>
            </a:r>
          </a:p>
        </p:txBody>
      </p:sp>
      <p:sp>
        <p:nvSpPr>
          <p:cNvPr id="57" name="칸 본문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‘베트남 켄동 정수장’ 기술 수출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기술 컨설팅 3건</a:t>
            </a:r>
          </a:p>
        </p:txBody>
      </p:sp>
      <p:sp>
        <p:nvSpPr>
          <p:cNvPr id="60" name="핵심성과 라벨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61" name="핵심성과 문구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사업화 8건+국제 표준화(ISO)로 글로벌 사업화 기반 강화, 지자체 확대로 서비스 격차 해소</a:t>
            </a:r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191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디지털 전환(DX)을 넘어, AI가 융합된 미래 상수도 ‘AI for water’ 수도AX 슬로건으로 도약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■</a:t>
            </a:r>
          </a:p>
        </p:txBody>
      </p:sp>
      <p:sp>
        <p:nvSpPr>
          <p:cNvPr id="11" name="분야 박스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전환계획</a:t>
            </a:r>
          </a:p>
        </p:txBody>
      </p:sp>
      <p:sp>
        <p:nvSpPr>
          <p:cNvPr id="13" name="소제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취수원부터 관말까지, 물공급 전과정 AI 내재화를 위한 수도 AX 계획 마련</a:t>
            </a:r>
          </a:p>
        </p:txBody>
      </p:sp>
      <p:sp>
        <p:nvSpPr>
          <p:cNvPr id="15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목 표</a:t>
            </a:r>
          </a:p>
        </p:txBody>
      </p:sp>
      <p:sp>
        <p:nvSpPr>
          <p:cNvPr id="16" name="배너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수도 생애주기(Life Cycle) 전반, AI·DT 기반의 종합적인 의사결정 체계 완성</a:t>
            </a:r>
          </a:p>
        </p:txBody>
      </p:sp>
      <p:sp>
        <p:nvSpPr>
          <p:cNvPr id="17" name="레일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수도 AX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중장기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비 전</a:t>
            </a:r>
          </a:p>
        </p:txBody>
      </p:sp>
      <p:sp>
        <p:nvSpPr>
          <p:cNvPr id="19" name="단계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취수·정수장</a:t>
            </a:r>
          </a:p>
        </p:txBody>
      </p:sp>
      <p:sp>
        <p:nvSpPr>
          <p:cNvPr id="20" name="단계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가압장</a:t>
            </a:r>
          </a:p>
        </p:txBody>
      </p:sp>
      <p:sp>
        <p:nvSpPr>
          <p:cNvPr id="21" name="단계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배수지</a:t>
            </a:r>
          </a:p>
        </p:txBody>
      </p:sp>
      <p:sp>
        <p:nvSpPr>
          <p:cNvPr id="22" name="단계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 망</a:t>
            </a:r>
          </a:p>
        </p:txBody>
      </p:sp>
      <p:sp>
        <p:nvSpPr>
          <p:cNvPr id="23" name="단계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수요자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AI·DT 기반 통합플랫폼 · Agent AI · 수질예측 · 공정최적화 · 무인점검 · 최적투자 · 실시간 운영 · 진단 고도화</a:t>
            </a:r>
          </a:p>
        </p:txBody>
      </p:sp>
      <p:sp>
        <p:nvSpPr>
          <p:cNvPr id="38" name="사진 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수도 AX 개념도</a:t>
            </a:r>
          </a:p>
        </p:txBody>
      </p:sp>
      <p:sp>
        <p:nvSpPr>
          <p:cNvPr id="39" name="배너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미래상: 현실과 동일한 AI·DT 통합플랫폼, 스스로 판단·행동하는 Agent AI</a:t>
            </a:r>
          </a:p>
        </p:txBody>
      </p:sp>
      <p:sp>
        <p:nvSpPr>
          <p:cNvPr id="40" name="레일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로드맵</a:t>
            </a:r>
          </a:p>
        </p:txBody>
      </p:sp>
      <p:sp>
        <p:nvSpPr>
          <p:cNvPr id="41" name="단계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~’24년 Digital 전환</a:t>
            </a:r>
          </a:p>
        </p:txBody>
      </p:sp>
      <p:sp>
        <p:nvSpPr>
          <p:cNvPr id="42" name="단계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AX 추진계획</a:t>
            </a:r>
          </a:p>
        </p:txBody>
      </p:sp>
      <p:sp>
        <p:nvSpPr>
          <p:cNvPr id="43" name="단계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’28년 AI·DT 통합연계</a:t>
            </a:r>
          </a:p>
        </p:txBody>
      </p:sp>
      <p:sp>
        <p:nvSpPr>
          <p:cNvPr id="44" name="단계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’30년 AI 내재화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디지털 요소기술 개발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관망·정수장 DT(시범)</a:t>
            </a:r>
          </a:p>
        </p:txBody>
      </p:sp>
      <p:sp>
        <p:nvSpPr>
          <p:cNvPr id="49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디지털 요소기술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수도AX 과제 발굴(27개)</a:t>
            </a:r>
          </a:p>
        </p:txBody>
      </p:sp>
      <p:sp>
        <p:nvSpPr>
          <p:cNvPr id="51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요소기술 기반 자율운영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AI·DT 통합플랫폼 확대</a:t>
            </a:r>
          </a:p>
        </p:txBody>
      </p:sp>
      <p:sp>
        <p:nvSpPr>
          <p:cNvPr id="53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완전 자율운영 정착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AI·DT 통합플랫폼 완성</a:t>
            </a:r>
          </a:p>
        </p:txBody>
      </p:sp>
      <p:sp>
        <p:nvSpPr>
          <p:cNvPr id="55" name="레일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주 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 제</a:t>
            </a:r>
          </a:p>
        </p:txBody>
      </p:sp>
      <p:sp>
        <p:nvSpPr>
          <p:cNvPr id="57" name="칸 본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설계·시공: BIM 확대, 디지털 트윈 기반 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운영관리: AI운영 고도화, Agent/Physical AI 확대</a:t>
            </a:r>
          </a:p>
        </p:txBody>
      </p:sp>
      <p:sp>
        <p:nvSpPr>
          <p:cNvPr id="58" name="칸 본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유지관리: 진단 기술 혁신, 관망·정수장 진단 AI 결합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자산관리: 투자 최적화, 자산평가 기반 의사결정</a:t>
            </a:r>
          </a:p>
        </p:txBody>
      </p:sp>
      <p:sp>
        <p:nvSpPr>
          <p:cNvPr id="60" name="번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■</a:t>
            </a:r>
          </a:p>
        </p:txBody>
      </p:sp>
      <p:sp>
        <p:nvSpPr>
          <p:cNvPr id="61" name="분야 박스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개발성과</a:t>
            </a:r>
          </a:p>
        </p:txBody>
      </p:sp>
      <p:sp>
        <p:nvSpPr>
          <p:cNvPr id="63" name="소제목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2025 수도 특화 AX를 위한 요소기술을 지속적으로 발굴·내재화</a:t>
            </a:r>
          </a:p>
        </p:txBody>
      </p:sp>
      <p:sp>
        <p:nvSpPr>
          <p:cNvPr id="65" name="태그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AI·DT</a:t>
            </a:r>
          </a:p>
        </p:txBody>
      </p:sp>
      <p:sp>
        <p:nvSpPr>
          <p:cNvPr id="66" name="그룹 제목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현안 해결형 요소기술 4건</a:t>
            </a:r>
          </a:p>
        </p:txBody>
      </p:sp>
      <p:sp>
        <p:nvSpPr>
          <p:cNvPr id="69" name="태그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딥러닝</a:t>
            </a:r>
          </a:p>
        </p:txBody>
      </p:sp>
      <p:sp>
        <p:nvSpPr>
          <p:cNvPr id="70" name="카드 제목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보이지 않는 싱크홀, 지반침하 AI 분석</a:t>
            </a:r>
          </a:p>
        </p:txBody>
      </p:sp>
      <p:sp>
        <p:nvSpPr>
          <p:cNvPr id="71" name="카드 본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현황: 5년 주기 점검, 적기 포착 한계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개선: 관로 주변 AI 침하 예측 → 선제적 싱크홀 사고 대응</a:t>
            </a:r>
          </a:p>
        </p:txBody>
      </p:sp>
      <p:sp>
        <p:nvSpPr>
          <p:cNvPr id="74" name="태그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DT</a:t>
            </a:r>
          </a:p>
        </p:txBody>
      </p:sp>
      <p:sp>
        <p:nvSpPr>
          <p:cNvPr id="75" name="카드 제목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현장관리를 위한 全광역 water-NET Field 확대</a:t>
            </a:r>
          </a:p>
        </p:txBody>
      </p:sp>
      <p:sp>
        <p:nvSpPr>
          <p:cNvPr id="76" name="카드 본문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현황: 사무실 위주 정보·2D 관리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개선: 모바일·AR 구현 → 시설관리 효율↑, 성과 확산(지방)</a:t>
            </a:r>
          </a:p>
        </p:txBody>
      </p:sp>
      <p:sp>
        <p:nvSpPr>
          <p:cNvPr id="78" name="태그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생성형 AI</a:t>
            </a:r>
          </a:p>
        </p:txBody>
      </p:sp>
      <p:sp>
        <p:nvSpPr>
          <p:cNvPr id="79" name="카드 제목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CCTV-AI 기반 지능형 건설 안전관리</a:t>
            </a:r>
          </a:p>
        </p:txBody>
      </p:sp>
      <p:sp>
        <p:nvSpPr>
          <p:cNvPr id="80" name="카드 본문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현황: 인력 점검, 사고 인지 지연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개선: 위험요인 자동탐지·예측 → 중대재해↓, 자율형 예방체계</a:t>
            </a:r>
          </a:p>
        </p:txBody>
      </p:sp>
      <p:sp>
        <p:nvSpPr>
          <p:cNvPr id="83" name="태그"/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Physical AI</a:t>
            </a:r>
          </a:p>
        </p:txBody>
      </p:sp>
      <p:sp>
        <p:nvSpPr>
          <p:cNvPr id="84" name="카드 제목"/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드론 기반 무인 자율점검체계 시범적용</a:t>
            </a:r>
          </a:p>
        </p:txBody>
      </p:sp>
      <p:sp>
        <p:nvSpPr>
          <p:cNvPr id="85" name="카드 본문"/>
          <p:cNvSpPr>
            <a:spLocks noGrp="1"/>
          </p:cNvSpPr>
          <p:nvPr>
            <p:ph type="body" sz="quarter" idx="6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현황: 취약구간(교량 등) 인력점검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개선: 드론 무인점검, AI 분석 → 점검효율↑, 점검자 안전성↑</a:t>
            </a:r>
          </a:p>
        </p:txBody>
      </p:sp>
      <p:sp>
        <p:nvSpPr>
          <p:cNvPr id="87" name="성과 라벨"/>
          <p:cNvSpPr>
            <a:spLocks noGrp="1"/>
          </p:cNvSpPr>
          <p:nvPr>
            <p:ph type="body" sz="quarter" idx="6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특별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성과</a:t>
            </a:r>
          </a:p>
        </p:txBody>
      </p:sp>
      <p:sp>
        <p:nvSpPr>
          <p:cNvPr id="88" name="성과 띠"/>
          <p:cNvSpPr>
            <a:spLocks noGrp="1"/>
          </p:cNvSpPr>
          <p:nvPr>
            <p:ph type="body" sz="quarter" idx="6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광역상수도 SWM 고도화 사업(’26~’30, 955억원), 국가 정책사업 반영으로 AX 추진동력 확보</a:t>
            </a:r>
          </a:p>
        </p:txBody>
      </p:sp>
      <p:sp>
        <p:nvSpPr>
          <p:cNvPr id="90" name="카드 문구"/>
          <p:cNvSpPr>
            <a:spLocks noGrp="1"/>
          </p:cNvSpPr>
          <p:nvPr>
            <p:ph type="body" sz="quarter" idx="6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취수원 AI 수질 예측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이상수질 등 예측으로 선제적 대응체계 구축</a:t>
            </a:r>
          </a:p>
        </p:txBody>
      </p:sp>
      <p:sp>
        <p:nvSpPr>
          <p:cNvPr id="92" name="카드 문구"/>
          <p:cNvSpPr>
            <a:spLocks noGrp="1"/>
          </p:cNvSpPr>
          <p:nvPr>
            <p:ph type="body" sz="quarter" idx="6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AI정수장 고도화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자율운영 완성을 위한 인프라 확충·로직 최적화</a:t>
            </a:r>
          </a:p>
        </p:txBody>
      </p:sp>
      <p:sp>
        <p:nvSpPr>
          <p:cNvPr id="94" name="카드 문구"/>
          <p:cNvSpPr>
            <a:spLocks noGrp="1"/>
          </p:cNvSpPr>
          <p:nvPr>
            <p:ph type="body" sz="quarter" idx="6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점검로봇 도입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무인자율점검을 통한 사고예방·점검효율화</a:t>
            </a:r>
          </a:p>
        </p:txBody>
      </p:sp>
      <p:sp>
        <p:nvSpPr>
          <p:cNvPr id="96" name="카드 문구"/>
          <p:cNvSpPr>
            <a:spLocks noGrp="1"/>
          </p:cNvSpPr>
          <p:nvPr>
            <p:ph type="body" sz="quarter" idx="7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AI·DT 통합플랫폼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AI, 데이터 기반 종합의사결정 지원</a:t>
            </a:r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192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취약 수질 핀셋관리와 신종 유해물질 선제 대비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 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리스크</a:t>
            </a:r>
          </a:p>
        </p:txBody>
      </p:sp>
      <p:sp>
        <p:nvSpPr>
          <p:cNvPr id="11" name="칸 본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전국 폭염일수 최근 10년간 2배 증가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12월 겨울한파에도 지속된 조류경보 등 수처리 여건 악화로 기후리스크 일상화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 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화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물공급 전 과정 인프라 고도화 필요성 대두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기후부 과불화화합물(PFAS) 규제강화 예고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핵심산업 자원안보 강조, 자원순환 활성화 촉구</a:t>
            </a:r>
          </a:p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193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8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국민기대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야열대화 여건을 기후적응 기술로 극복, 역대 최고 국민기대수질 달성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배너 글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국민기대수질: 체감도가 높은 5대 항목(조류독소, 냄새, 소독부산물, 망간), ‘불검출’ 수준 관리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취약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요소</a:t>
            </a:r>
          </a:p>
        </p:txBody>
      </p:sp>
      <p:sp>
        <p:nvSpPr>
          <p:cNvPr id="17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봄~가을 조류독소·냄새</a:t>
            </a:r>
          </a:p>
        </p:txBody>
      </p:sp>
      <p:sp>
        <p:nvSpPr>
          <p:cNvPr id="18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여름 소독부산물</a:t>
            </a:r>
          </a:p>
        </p:txBody>
      </p:sp>
      <p:sp>
        <p:nvSpPr>
          <p:cNvPr id="19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가을~겨울 망간</a:t>
            </a:r>
          </a:p>
        </p:txBody>
      </p:sp>
      <p:sp>
        <p:nvSpPr>
          <p:cNvPr id="20" name="머리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연중 깔따구 유충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분말활성탄 투입 자동화: 휴일 등 취약시기 즉각 대응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독소 불검출, 냄새민원 Zero(’25년 他 지자체 민원 80건)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수도꼭지까지 수질예측 확대: 소독공정 AI 시뮬레이션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無염소 국가 수준 운영(국내 수질기준보다 4배 강화)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가정용필터 감시 병행: 필터변색 징후 사전감지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망간 민원 Zero(’25년 他 지자체 민원 180건)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다채널 유충계측기 기술개발: 원수~정수 24시간 감시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全 정수장 유충 미발생(’25년 3개 지자체 발생)</a:t>
            </a:r>
          </a:p>
        </p:txBody>
      </p:sp>
      <p:sp>
        <p:nvSpPr>
          <p:cNvPr id="29" name="핵심성과 라벨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0" name="핵심성과 문구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선진국 최고 수질기준 대비 최대 2배 상회한 ‘국민기대수질’ 설정, 달성률 98.3%(역대 최고)</a:t>
            </a:r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194</a:t>
            </a:r>
          </a:p>
        </p:txBody>
      </p:sp>
      <p:sp>
        <p:nvSpPr>
          <p:cNvPr id="4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5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인프라 강화</a:t>
            </a:r>
          </a:p>
        </p:txBody>
      </p:sp>
      <p:sp>
        <p:nvSpPr>
          <p:cNvPr id="7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미래 수질이슈 및 규제강화 대비, 정수장 종합계획(Master Plan) 추진</a:t>
            </a:r>
          </a:p>
        </p:txBody>
      </p:sp>
      <p:sp>
        <p:nvSpPr>
          <p:cNvPr id="8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정수 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배출수</a:t>
            </a:r>
          </a:p>
        </p:txBody>
      </p:sp>
      <p:sp>
        <p:nvSpPr>
          <p:cNvPr id="11" name="단계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~’24년 기존</a:t>
            </a:r>
          </a:p>
        </p:txBody>
      </p:sp>
      <p:sp>
        <p:nvSpPr>
          <p:cNvPr id="12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추진실적</a:t>
            </a:r>
          </a:p>
        </p:txBody>
      </p:sp>
      <p:sp>
        <p:nvSpPr>
          <p:cNvPr id="13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~’40년 개선계획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표준 공정중심 + 고도확대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한강·낙동강 고도도입(13개소)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고형물 중심 표준 1차 처리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미래형 혁신정수장 시범도입(5개소)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공주(정) 등 8개소 설계·타당성 조사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미량물질 제거 2차 처리시설 확대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초고도 도입(활성탄+미세막)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全 유역 고도 100% 확대(39개소)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친환경 수처리로 폐수 재이용</a:t>
            </a:r>
          </a:p>
        </p:txBody>
      </p:sp>
      <p:sp>
        <p:nvSpPr>
          <p:cNvPr id="22" name="핵심성과 라벨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23" name="핵심성과 문구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고품질 수돗물 생산 기반 고도정수처리 도입률 56.6%, ’25년 성과목표 101% 초과 달성</a:t>
            </a:r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195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다.</a:t>
            </a:r>
          </a:p>
        </p:txBody>
      </p:sp>
      <p:sp>
        <p:nvSpPr>
          <p:cNvPr id="8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규제대비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‘PFAS OUT’ 로드맵과 활성탄 순환체계 구축으로 선제적 대비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4" name="배너 글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과불화화합물(PFAS): WHO 신규 발암물질, ‘Forever Chemical’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4대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대응</a:t>
            </a:r>
          </a:p>
        </p:txBody>
      </p:sp>
      <p:sp>
        <p:nvSpPr>
          <p:cNvPr id="17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모니터링 항목·범위 확대</a:t>
            </a:r>
          </a:p>
        </p:txBody>
      </p:sp>
      <p:sp>
        <p:nvSpPr>
          <p:cNvPr id="18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정수처리 고도처리 강화</a:t>
            </a:r>
          </a:p>
        </p:txBody>
      </p:sp>
      <p:sp>
        <p:nvSpPr>
          <p:cNvPr id="19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무해화 배출원 관리</a:t>
            </a:r>
          </a:p>
        </p:txBody>
      </p:sp>
      <p:sp>
        <p:nvSpPr>
          <p:cNvPr id="20" name="머리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정책선도 선제적 R&amp;D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이슈: PFAS 검출빈도↑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항목 3 → 40(정수 · 원수 확대)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’26년~ 분기 1회 → 월 1회, 선제적 감시 강화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이슈: 활성탄 수급 불안정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운영고도화 · 전 유역 재생시설 · 고도도입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’40년 고도100%, 초고도 3개 → 순환형 수급체계 준비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이슈: PFAS 함유 폐수처리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활성탄 재생 시 고농도 응축 폐수 생성 가능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’30년 자체처리로 無배출 → PFAS 배출경로 차단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이슈: 중장기적 대응 필요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기후부 대응 협의체 참여로 국가 R&amp;D 정책 견인(384억원 규모 예산 확보)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’30년 대체재 등 기술확보 → 국가 PFAS 대응 선도</a:t>
            </a:r>
          </a:p>
        </p:txBody>
      </p:sp>
      <p:sp>
        <p:nvSpPr>
          <p:cNvPr id="28" name="레일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핵심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자원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활성탄</a:t>
            </a:r>
          </a:p>
        </p:txBody>
      </p:sp>
      <p:sp>
        <p:nvSpPr>
          <p:cNvPr id="30" name="머리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비축 1년치 구매량 비축</a:t>
            </a:r>
          </a:p>
        </p:txBody>
      </p:sp>
      <p:sp>
        <p:nvSpPr>
          <p:cNvPr id="31" name="머리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재생 교체량의 85% 재생</a:t>
            </a:r>
          </a:p>
        </p:txBody>
      </p:sp>
      <p:sp>
        <p:nvSpPr>
          <p:cNvPr id="32" name="머리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대비 선제 준비로 대응강화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한강 준공, 낙동강 공사중 조달청 합동비축(군산) 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8천㎥ 규모(1년 구매량)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全유역 재생시설 도입: 한강·낙동강 공사 중, 금강·영섭 계획 완료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126㎥/일(연 교체량 85%)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활성탄 자급체계 구축: 신탄 구매 85%(355억원/연) 절감효과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재생기술 수출로 우수성 입증(美 실증 MOU, 태국 성능평가)</a:t>
            </a: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196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5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지능형 AI 기반 운영혁신과 자산 데이터 기반 투자 최적화로 원가 저감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 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분 석</a:t>
            </a:r>
          </a:p>
        </p:txBody>
      </p:sp>
      <p:sp>
        <p:nvSpPr>
          <p:cNvPr id="11" name="칸 본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수도원가 상승을 극복하기 위해 디지털 혁신·저에너지 운영체계 추진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에너지 전환 정책, 전력수요 증가 대응을 위한 운영혁신 및 자산관리 기반 원가절감 필요</a:t>
            </a:r>
          </a:p>
        </p:txBody>
      </p:sp>
      <p:sp>
        <p:nvSpPr>
          <p:cNvPr id="14" name="배너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시사점: 비용 저감 중심의 단기 목표를 넘어, 효율 기반의 중장기 관리체계로 전환(당초 ’26년 → ’30년 확대)</a:t>
            </a:r>
          </a:p>
        </p:txBody>
      </p:sp>
      <p:sp>
        <p:nvSpPr>
          <p:cNvPr id="15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 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 향</a:t>
            </a:r>
          </a:p>
        </p:txBody>
      </p:sp>
      <p:sp>
        <p:nvSpPr>
          <p:cNvPr id="17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기존 ’24~’26 생산원가 저감</a:t>
            </a:r>
          </a:p>
        </p:txBody>
      </p:sp>
      <p:sp>
        <p:nvSpPr>
          <p:cNvPr id="18" name="단계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미래 전환 대응</a:t>
            </a:r>
          </a:p>
        </p:txBody>
      </p:sp>
      <p:sp>
        <p:nvSpPr>
          <p:cNvPr id="19" name="단계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~’30년 운영혁신 완성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디지털·고효율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생산공급 全과정 에너지효율화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 원가절감 목표 55 → 172 → 225억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AI운영·미래 환경 대응 운영체계 고도화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자립형 e체계 전환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지능형 AI 운영 확립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에너지 효율화 선순환 구조 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2030 원가절감 목표 484억</a:t>
            </a:r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197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가.</a:t>
            </a:r>
          </a:p>
        </p:txBody>
      </p:sp>
      <p:sp>
        <p:nvSpPr>
          <p:cNvPr id="8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운영 고도화</a:t>
            </a:r>
          </a:p>
        </p:txBody>
      </p:sp>
      <p:sp>
        <p:nvSpPr>
          <p:cNvPr id="10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인프라 운영에 지능과 효율을 더하여 생산원가 저감 Scale-up</a:t>
            </a:r>
          </a:p>
        </p:txBody>
      </p:sp>
      <p:sp>
        <p:nvSpPr>
          <p:cNvPr id="11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 적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디지털·저에너지 전환으로 원가저감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실적 지능형 AI기반 e소비 체질 개선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디지털운영 혁신 ’29억원/연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고효율 도입 ’11억원/연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재생에너지 활용 ’16억원/연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목표 55억원 대비 56억원 저감 달성(102%)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주요 과제 전략 고도화+신규과제 발굴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최적 운영, 고효율설비 확대, 재생e 추가발굴로 미래 대응 기반 확보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전년 대비 320%(182억원) 절감(목표 대비 105% 달성)</a:t>
            </a:r>
          </a:p>
        </p:txBody>
      </p:sp>
      <p:sp>
        <p:nvSpPr>
          <p:cNvPr id="19" name="레일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실적</a:t>
            </a:r>
          </a:p>
        </p:txBody>
      </p:sp>
      <p:sp>
        <p:nvSpPr>
          <p:cNvPr id="21" name="머리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AI정수장 최적 운영</a:t>
            </a:r>
          </a:p>
        </p:txBody>
      </p:sp>
      <p:sp>
        <p:nvSpPr>
          <p:cNvPr id="22" name="머리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고효율설비 확대</a:t>
            </a:r>
          </a:p>
        </p:txBody>
      </p:sp>
      <p:sp>
        <p:nvSpPr>
          <p:cNvPr id="23" name="머리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미래에너지 확보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기술 고도화 전략 추진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맞춤 공정 알고리즘 개선 및 AI정수장 운영 정착(43개소)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최적운영으로 110억원 저감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수도설비 고도화 MP 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고효율설비 체계적 도입 확대(427대) 및 촉진제도 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효율개선으로 46억원 저감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신재생에너지 개발 전략 추진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태양광(8개소), ESS 도입(2개소), 추가 잠재e 발굴(52개소)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에너지 공급개선 26억원 저감</a:t>
            </a:r>
          </a:p>
        </p:txBody>
      </p:sp>
      <p:sp>
        <p:nvSpPr>
          <p:cNvPr id="29" name="레일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신규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과제</a:t>
            </a:r>
          </a:p>
        </p:txBody>
      </p:sp>
      <p:sp>
        <p:nvSpPr>
          <p:cNvPr id="31" name="머리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디지털 운영관리</a:t>
            </a:r>
          </a:p>
        </p:txBody>
      </p:sp>
      <p:sp>
        <p:nvSpPr>
          <p:cNvPr id="32" name="머리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에너지 절감형 운영개선</a:t>
            </a:r>
          </a:p>
        </p:txBody>
      </p:sp>
      <p:sp>
        <p:nvSpPr>
          <p:cNvPr id="33" name="머리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재생e 신기술 개발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점검 로봇 도입 실증 완료(’25) 및 확대 추진(’26~’30년)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점검비 22억원/연 절감 효과 기대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분석 기반 공급체계 재구성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전력비 1.7억원/연 절감 효과 기대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 생산시 폐열·가스 Re-Cycling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운영비 56백만원/연+α 절감 효과 기대</a:t>
            </a:r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198</a:t>
            </a:r>
          </a:p>
        </p:txBody>
      </p:sp>
      <p:sp>
        <p:nvSpPr>
          <p:cNvPr id="4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나.</a:t>
            </a:r>
          </a:p>
        </p:txBody>
      </p:sp>
      <p:sp>
        <p:nvSpPr>
          <p:cNvPr id="5" name="분야 박스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자산관리 확대</a:t>
            </a:r>
          </a:p>
        </p:txBody>
      </p:sp>
      <p:sp>
        <p:nvSpPr>
          <p:cNvPr id="7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K-AMS 자산관리시스템 확대로 자산체계중심 의사결정 강화</a:t>
            </a:r>
          </a:p>
        </p:txBody>
      </p:sp>
      <p:sp>
        <p:nvSpPr>
          <p:cNvPr id="8" name="태그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활용</a:t>
            </a:r>
          </a:p>
        </p:txBody>
      </p:sp>
      <p:sp>
        <p:nvSpPr>
          <p:cNvPr id="12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성과와 한계  수도시설 맞춤, 자산시스템 시범구축</a:t>
            </a:r>
          </a:p>
        </p:txBody>
      </p:sp>
      <p:sp>
        <p:nvSpPr>
          <p:cNvPr id="13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활용과 확대  개대체 의사결정 활용 및 도입확대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7개 사업장 시범사업(27,967개 자산에 대한 DB 구축)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한계점: 의사결정 즉시 활용 곤란(일부 사업장만 적용 연계데이터 부족)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DB부족 · DB신뢰도(일부상이) · 투자계획 차이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시범사업 성과 보완 및 활용: 신규 자산·진단결과 DB 보완, 자산시스템 활용 의사결정 의무화 → 개대체 일치율 91.1%(전년비 102.2%)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확대구축: 한강 유역 8개소 확대 구축 · ’26년 낙동강(13개소) → ’27년 금영섭(22개소) 확대 / 공기업 최초 자산 Biz모델 특허등록 / 개방형 R&amp;D로 자산관리체계 강화</a:t>
            </a:r>
          </a:p>
        </p:txBody>
      </p:sp>
      <p:sp>
        <p:nvSpPr>
          <p:cNvPr id="18" name="핵심성과 라벨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19" name="핵심성과 문구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생산원가 절감 182억원/연 달성(목표 172억원/연 比 105%) 및 데이터 기반 투자 최적화</a:t>
            </a:r>
          </a:p>
        </p:txBody>
      </p:sp>
    </p:spTree>
  </p:cSld>
  <p:clrMapOvr>
    <a:masterClrMapping/>
  </p:clrMapOvr>
</p:sld>
</file>

<file path=ppt/slides/slide1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199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지방상수도 Restart 추진전략, 변화된 환경에 맞춰 로드맵 재정립</a:t>
            </a:r>
          </a:p>
        </p:txBody>
      </p:sp>
      <p:sp>
        <p:nvSpPr>
          <p:cNvPr id="13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’24년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Restart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추진전략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운영  상수도 운영관리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건설  노후상수도 정비</a:t>
            </a:r>
          </a:p>
        </p:txBody>
      </p:sp>
      <p:sp>
        <p:nvSpPr>
          <p:cNvPr id="16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지원  유역수도지원</a:t>
            </a:r>
          </a:p>
        </p:txBody>
      </p:sp>
      <p:sp>
        <p:nvSpPr>
          <p:cNvPr id="17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복지  취약지역 물복지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❶ 사업모델 다각화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❷ 첨단 물기술 확보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❸ 운영·서비스 개선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❹ 유수율 제고 지원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❺ 성과유지체계 강화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❻ 초격차기술 확산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❼ 통합운영체계 구축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❽ 체감형서비스 창출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❾ 사고대응역량 강화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❿ 지역맞춤사업 이행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⓫ 군부대 물문제 해결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⓬ 글로벌 기술 확산</a:t>
            </a:r>
          </a:p>
        </p:txBody>
      </p:sp>
      <p:sp>
        <p:nvSpPr>
          <p:cNvPr id="25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그간의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성과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운영: 전국 23개 지자체, 유수율 60.1 → 85.3%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건설: 수탁 92개, 성과판정(유수율 85% 달성) 34개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지원: 기술지원 6천건(누계), 운영지원시스템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복지: 취약지역 25.2천명 물공급</a:t>
            </a:r>
          </a:p>
        </p:txBody>
      </p:sp>
      <p:sp>
        <p:nvSpPr>
          <p:cNvPr id="30" name="레일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변 화</a:t>
            </a:r>
          </a:p>
        </p:txBody>
      </p:sp>
      <p:sp>
        <p:nvSpPr>
          <p:cNvPr id="31" name="머리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新정부정책</a:t>
            </a:r>
          </a:p>
        </p:txBody>
      </p:sp>
      <p:sp>
        <p:nvSpPr>
          <p:cNvPr id="32" name="머리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여전한 물공급 격차</a:t>
            </a:r>
          </a:p>
        </p:txBody>
      </p:sp>
      <p:sp>
        <p:nvSpPr>
          <p:cNvPr id="33" name="머리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극한의 자연재해 빈번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강국 · 국민안전 · 균형발전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시·군평균 81.6% vs 특·광역시 93.1%, 유수율 차이 大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초대형 경북 산불, 강릉 가뭄 등 주민 피해 심각</a:t>
            </a:r>
          </a:p>
        </p:txBody>
      </p:sp>
      <p:sp>
        <p:nvSpPr>
          <p:cNvPr id="39" name="레일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 향</a:t>
            </a:r>
          </a:p>
        </p:txBody>
      </p:sp>
      <p:sp>
        <p:nvSpPr>
          <p:cNvPr id="40" name="배너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20년 노하우와 미래를 담은 ‘지방상수도 Restart 추진전략’ 토대로 사업방향 재정립</a:t>
            </a:r>
          </a:p>
        </p:txBody>
      </p:sp>
      <p:sp>
        <p:nvSpPr>
          <p:cNvPr id="41" name="레일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’25년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로드맵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재정립</a:t>
            </a:r>
          </a:p>
        </p:txBody>
      </p:sp>
      <p:sp>
        <p:nvSpPr>
          <p:cNvPr id="42" name="단계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전략 수립</a:t>
            </a:r>
          </a:p>
        </p:txBody>
      </p:sp>
      <p:sp>
        <p:nvSpPr>
          <p:cNvPr id="43" name="단계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환경변화 연계 재정립</a:t>
            </a:r>
          </a:p>
        </p:txBody>
      </p:sp>
      <p:sp>
        <p:nvSpPr>
          <p:cNvPr id="44" name="단계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~’29년 Restart 정착</a:t>
            </a:r>
          </a:p>
        </p:txBody>
      </p:sp>
      <p:sp>
        <p:nvSpPr>
          <p:cNvPr id="47" name="칸 본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20년 지방상수도 운영성과 기반 업역 확장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Restart 추진전략 수립</a:t>
            </a:r>
          </a:p>
        </p:txBody>
      </p:sp>
      <p:sp>
        <p:nvSpPr>
          <p:cNvPr id="48" name="칸 본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현장 특화 AI도입 운영효율 향상 및 맞춤형 사업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재난, 취약지역 공적역할 강화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고품질 포용적 물복지 실현 위한 전략과제 이행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지역간 물복지 격차 해소</a:t>
            </a:r>
          </a:p>
        </p:txBody>
      </p:sp>
      <p:sp>
        <p:nvSpPr>
          <p:cNvPr id="52" name="레일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4대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과제</a:t>
            </a:r>
          </a:p>
        </p:txBody>
      </p:sp>
      <p:sp>
        <p:nvSpPr>
          <p:cNvPr id="53" name="머리칸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운영관리  작지만 강한 AI, 운영효율 및 서비스 고도화</a:t>
            </a:r>
          </a:p>
        </p:txBody>
      </p:sp>
      <p:sp>
        <p:nvSpPr>
          <p:cNvPr id="54" name="머리칸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노후상수도  사업 성과달성으로 물 복지 및 해외 확산</a:t>
            </a:r>
          </a:p>
        </p:txBody>
      </p:sp>
      <p:sp>
        <p:nvSpPr>
          <p:cNvPr id="55" name="칸 본문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기술을 접목한 관망·안전관리 효율성 제고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 기대를 충족하는 수질관리, 서비스 개선</a:t>
            </a:r>
          </a:p>
        </p:txBody>
      </p:sp>
      <p:sp>
        <p:nvSpPr>
          <p:cNvPr id="56" name="칸 본문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취약 지자체 수탁 확대 및 사업 수행체계 내실화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SWNM 기술 표준화 및 Biz 모델 개발로 글로벌 진출</a:t>
            </a:r>
          </a:p>
        </p:txBody>
      </p:sp>
      <p:sp>
        <p:nvSpPr>
          <p:cNvPr id="58" name="머리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유역수도  국가적 재난 지원과 지자체 역량 향상</a:t>
            </a:r>
          </a:p>
        </p:txBody>
      </p:sp>
      <p:sp>
        <p:nvSpPr>
          <p:cNvPr id="59" name="머리칸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 복지  군부대, 도서·산간까지 빈틈없는 물복지 실현</a:t>
            </a:r>
          </a:p>
        </p:txBody>
      </p:sp>
      <p:sp>
        <p:nvSpPr>
          <p:cNvPr id="60" name="칸 본문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물공급 중단 지자체 총력지원, 국민불편 단축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시스템 개선·확대를 통한 지자체 역량 육성 지원</a:t>
            </a:r>
          </a:p>
        </p:txBody>
      </p:sp>
      <p:sp>
        <p:nvSpPr>
          <p:cNvPr id="61" name="칸 본문"/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도서지역 수원개발 및 중점현안사항 기술지원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마지막 남은 0.5%까지 소외없는 전국민 혜택 실현</a:t>
            </a:r>
          </a:p>
        </p:txBody>
      </p:sp>
      <p:sp>
        <p:nvSpPr>
          <p:cNvPr id="63" name="레일"/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’25년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실행성과</a:t>
            </a:r>
          </a:p>
        </p:txBody>
      </p:sp>
      <p:sp>
        <p:nvSpPr>
          <p:cNvPr id="65" name="칸 본문"/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유수율 85.4%(수탁前 60.1%)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글로벌 수질기준 100% 만족</a:t>
            </a:r>
          </a:p>
        </p:txBody>
      </p:sp>
      <p:sp>
        <p:nvSpPr>
          <p:cNvPr id="66" name="칸 본문"/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신규사업 최다 협약(24개)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성과판정 13개(누적 47개) 합격</a:t>
            </a:r>
          </a:p>
        </p:txBody>
      </p:sp>
      <p:sp>
        <p:nvSpPr>
          <p:cNvPr id="68" name="칸 본문"/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재난대응 등 지원 1천건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AI기반 위기감시·대응 확대</a:t>
            </a:r>
          </a:p>
        </p:txBody>
      </p:sp>
      <p:sp>
        <p:nvSpPr>
          <p:cNvPr id="70" name="칸 본문"/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급수취약 10.2천명 해소</a:t>
            </a:r>
          </a:p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지역별 맞춤형 물복지 확대</a:t>
            </a:r>
          </a:p>
        </p:txBody>
      </p:sp>
    </p:spTree>
  </p:cSld>
  <p:clrMapOvr>
    <a:masterClrMapping/>
  </p:clrMapOvr>
</p:sld>
</file>

<file path=ppt/slides/slide2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200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스마트 기술 기반 운영관리를 지속 혁신하고, ‘지방상수도 AI 전환’을 준비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8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운영관리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혁 신</a:t>
            </a:r>
          </a:p>
        </p:txBody>
      </p:sp>
      <p:sp>
        <p:nvSpPr>
          <p:cNvPr id="9" name="머리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시설안전  침수 예·경보시스템 구축(논산시)</a:t>
            </a:r>
          </a:p>
        </p:txBody>
      </p:sp>
      <p:sp>
        <p:nvSpPr>
          <p:cNvPr id="10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민원처리  One-Stop 모바일 업무처리(공통)</a:t>
            </a:r>
          </a:p>
        </p:txBody>
      </p:sp>
      <p:sp>
        <p:nvSpPr>
          <p:cNvPr id="11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배경: 논산가압장 침수로 단수위기(’23~’24, 3회)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개선: 영상분석·모델링으로 침수 예측(3시간前)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침수 사전예측·대응으로 용수공급 중단예방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배경: 접수 ↔ 현장조치 이원화로 처리시간 과다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개선: 현장에서 접속하는 모바일시스템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조회 · 입력 · 공유를 통한 신속 응대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시사점</a:t>
            </a:r>
          </a:p>
        </p:txBody>
      </p:sp>
      <p:sp>
        <p:nvSpPr>
          <p:cNvPr id="16" name="배너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新정부의 ‘AI 3대 강국’ 정책에 발맞춰 ‘지방상수도 운영’과 ‘AI’ 접목을 통한 한단계 더 도약</a:t>
            </a:r>
          </a:p>
        </p:txBody>
      </p:sp>
      <p:sp>
        <p:nvSpPr>
          <p:cNvPr id="17" name="레일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AI 전환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로 드 맵</a:t>
            </a:r>
          </a:p>
        </p:txBody>
      </p:sp>
      <p:sp>
        <p:nvSpPr>
          <p:cNvPr id="18" name="단계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~’24년 데이터인프라 구축</a:t>
            </a:r>
          </a:p>
        </p:txBody>
      </p:sp>
      <p:sp>
        <p:nvSpPr>
          <p:cNvPr id="19" name="단계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요소기술 개발·실증</a:t>
            </a:r>
          </a:p>
        </p:txBody>
      </p:sp>
      <p:sp>
        <p:nvSpPr>
          <p:cNvPr id="20" name="단계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’26년~ AX 전략수립·확산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스마트 관망관리 기반, 운영데이터 확보체계 구축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통합관리시스템 구축 및 고도화(분석기능 추가 등)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AI 활용 파일럿 프로젝트 개발 및 실사업장 실증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실증 기반 모델 최적화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생산·공급·서비스 全과정 AI 전환 전략 수립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지방(상) AI 정책 정책화</a:t>
            </a:r>
          </a:p>
        </p:txBody>
      </p:sp>
      <p:sp>
        <p:nvSpPr>
          <p:cNvPr id="28" name="레일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AI 기술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개발·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 증</a:t>
            </a:r>
          </a:p>
        </p:txBody>
      </p:sp>
      <p:sp>
        <p:nvSpPr>
          <p:cNvPr id="30" name="배너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인력 중심 수동적 관망운영 → AI 연계 능동적 관망운영으로 누수시간 최소화 및 신속대응</a:t>
            </a:r>
          </a:p>
        </p:txBody>
      </p:sp>
      <p:sp>
        <p:nvSpPr>
          <p:cNvPr id="31" name="머리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데이터 분석</a:t>
            </a:r>
          </a:p>
        </p:txBody>
      </p:sp>
      <p:sp>
        <p:nvSpPr>
          <p:cNvPr id="32" name="머리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사고인지</a:t>
            </a:r>
          </a:p>
        </p:txBody>
      </p:sp>
      <p:sp>
        <p:nvSpPr>
          <p:cNvPr id="33" name="머리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AI 누수저감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생성형 AI 활용, 관망데이터 자동분석(부여군)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신속한 분석과 이상감지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수압데이터 활용, AI예측과 실측치 비교로 사고인지(장흥군)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누수시간 최소화로 누수량 저감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구역별 유량 모니터링 및 분석을 통한 누수 사전예측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선제적 누수탐사·복구 가능</a:t>
            </a: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201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글로벌 수질기준을 충족하는 철저한 수돗물 품질관리로 국민 눈높이에 부응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맞춤형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수질관리</a:t>
            </a:r>
          </a:p>
        </p:txBody>
      </p:sp>
      <p:sp>
        <p:nvSpPr>
          <p:cNvPr id="12" name="배너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수돗물 먹는 실태조사 → 수돗물 수질 이용불편 경험, 원수 수질관리 정책 응답</a:t>
            </a:r>
          </a:p>
        </p:txBody>
      </p:sp>
      <p:sp>
        <p:nvSpPr>
          <p:cNvPr id="13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VOC 연계, 가정 방문 수질검사 서비스 개선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상수원수 및 정수 수질이슈 대응 강화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VOC: “싱크대에 하얀 자국이 남아요”(석회·경도 증가), “수도꼭지 필터 색깔이 변해요”(망간 검출), “수돗물이 너무 뜨거워요”(수온 상승)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고객수용성 제고, 지역별 수질 특성 고려, 수질 검사항목 탄력적 확대(5→8개)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수질데이터 지역·시기별 분석, 이슈 도출 → 3대 이슈 항목(냄새, 알루미늄, 망간) 선정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냄새: 방선균 발생(동절기) 대비 활성탄 선제주입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알루미늄: pH 관리목표 도출, 취약시기 CO₂ 주입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망간: 취약시기 선택 취수, 염소 소독강화 등</a:t>
            </a:r>
          </a:p>
        </p:txBody>
      </p:sp>
      <p:sp>
        <p:nvSpPr>
          <p:cNvPr id="19" name="핵심성과 라벨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20" name="핵심성과 문구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지방정수장 글로벌 수질기준 100% 만족 최초 달성(기준초과 ’23년 9건 → ’24년 3건 → ’25년 0건)</a:t>
            </a: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202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규모는 키우고, 효율성은 높여 보다 빠른 성과 창출로 서비스 격차 해소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7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9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신규협약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지자체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맞춤형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사업모델</a:t>
            </a:r>
          </a:p>
        </p:txBody>
      </p:sp>
      <p:sp>
        <p:nvSpPr>
          <p:cNvPr id="10" name="배너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’24년 ‘건설 6년(유수율제고) + 운영 4년(성과유지)’ 복합모델 개발 → ’25년 통합형·일괄형 新모델로 진화</a:t>
            </a:r>
          </a:p>
        </p:txBody>
      </p:sp>
      <p:sp>
        <p:nvSpPr>
          <p:cNvPr id="11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충남서부  인근 지자체 동시 요청 → 통합형</a:t>
            </a:r>
          </a:p>
        </p:txBody>
      </p:sp>
      <p:sp>
        <p:nvSpPr>
          <p:cNvPr id="12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제주도  同지자체 다수 사업 → 일괄형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이슈: 성과유지 복합모델 위탁요구 지자체↑ → K-water 인력 부족, 전체 개별수탁 수용불가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제안: 인근 지자체 간 통합형 모델 수탁 → 충남서부 5개 지자체(개별) → 2개 권역(’25.7)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이슈: 유수율 전국 최저지역이나, K-water 시범사업의 유수율 제고 가능성 확인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요청: 신규 정비사업 일괄 수탁(4→14개) → 全지역 집중관리로 단기간 유수율 제고 계획(’24년 55% → ’31년 81%)</a:t>
            </a:r>
          </a:p>
        </p:txBody>
      </p:sp>
      <p:sp>
        <p:nvSpPr>
          <p:cNvPr id="16" name="레일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수행체계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효율성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화</a:t>
            </a:r>
          </a:p>
        </p:txBody>
      </p:sp>
      <p:sp>
        <p:nvSpPr>
          <p:cNvPr id="18" name="머리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사업기간</a:t>
            </a:r>
          </a:p>
        </p:txBody>
      </p:sp>
      <p:sp>
        <p:nvSpPr>
          <p:cNvPr id="19" name="머리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사업비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수행절차 개선으로 성과 조기 창출: 협약체결(4개월 단축) → 지자체협의 → 예산확정 → 내부절차 → 협약체결 / 설계용역 착수(3개월 단축)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기존: 예산확정 후 협의+설계 개별 발주 → 개선: 예산확정 전 협의+설계 일괄 발주 → 사업기간 7개월 단축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기후부 협업, 총사업비 체계 개편: 건설사업관리비 확보 9.2억원 ▲/사업당(24.7 → 33.9억원), 우수기술 예산 확대 15억원 ▲/사업당(5 → 20억원)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이슈: 법·제도 강화 불구, 안전·기술 예산 부족 → 개선: 예산 확대 근거 마련, 재원 추가확보 → 38개 사업 감리 351억원, 우수기술 570억원 증액</a:t>
            </a:r>
          </a:p>
        </p:txBody>
      </p:sp>
      <p:sp>
        <p:nvSpPr>
          <p:cNvPr id="24" name="핵심성과 라벨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25" name="핵심성과 문구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신규 협약 역대 최다 24개 체결(전체 43개, 55.8%)로 공적 역할 집중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성과판정 100% 13개(누적 47개) 합격 → 유수율 89.6% 달성(수탁 前 대비 35.6%p↑, 목표 대비 4.6%p↑)</a:t>
            </a:r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203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SWNM 기술 표준화 및 맞춤형 Biz모델 개발을 통한 글로벌 진출 확대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스마트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관망관리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글로벌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진출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체계화</a:t>
            </a:r>
          </a:p>
        </p:txBody>
      </p:sp>
      <p:sp>
        <p:nvSpPr>
          <p:cNvPr id="12" name="배너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 관망관리에 스마트기술을 결합한 SWNM, 글로벌 진출의 핵심수단으로 전략화</a:t>
            </a:r>
          </a:p>
        </p:txBody>
      </p:sp>
      <p:sp>
        <p:nvSpPr>
          <p:cNvPr id="13" name="배너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SWNM: 수돗물 공급 全과정에 IoT·AI기술 결합, 평상시 운영효율 제고 및 사고시 선제·능동적 대처 가능한 시스템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요소기술 정립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사업비 표준화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기술정의서(45개) 도출(해외 제안 활용)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국가별 표준사업비 산출 Tool 구축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필요한 것만 골라 담는 국가 기술수준(Lv1~3) 맞춤형 요소기술 패키지화(솔루션 제시)</a:t>
            </a:r>
          </a:p>
        </p:txBody>
      </p:sp>
      <p:sp>
        <p:nvSpPr>
          <p:cNvPr id="20" name="사진 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spc="-50" dirty="0">
                <a:solidFill>
                  <a:srgbClr val="5D7280"/>
                </a:solidFill>
                <a:latin typeface="Pretendard"/>
                <a:ea typeface="Pretendard"/>
              </a:rPr>
              <a:t>SWNM 기술정의서 · Biz 모델</a:t>
            </a:r>
          </a:p>
        </p:txBody>
      </p:sp>
      <p:sp>
        <p:nvSpPr>
          <p:cNvPr id="22" name="핵심성과 라벨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23" name="핵심성과 문구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필리핀 등 5개국 사업개발·검증 및 엘살바도르·과테말라 사업 발굴(’26~’30년, 사업비 1,068억원)</a:t>
            </a:r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204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국가적 재난 속 국민·지자체 물 위기 극복의 든든한 지원군, K-water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7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9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경북산불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복구지원</a:t>
            </a:r>
          </a:p>
        </p:txBody>
      </p:sp>
      <p:sp>
        <p:nvSpPr>
          <p:cNvPr id="10" name="배너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화마에 휩싸이고 전력공급 중단 상황에서도 멈추지 않은 수돗물 공급!</a:t>
            </a:r>
          </a:p>
        </p:txBody>
      </p:sp>
      <p:sp>
        <p:nvSpPr>
          <p:cNvPr id="11" name="단계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위기 상황</a:t>
            </a:r>
          </a:p>
        </p:txBody>
      </p:sp>
      <p:sp>
        <p:nvSpPr>
          <p:cNvPr id="12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비상 대응</a:t>
            </a:r>
          </a:p>
        </p:txBody>
      </p:sp>
      <p:sp>
        <p:nvSpPr>
          <p:cNvPr id="13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대응 성과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물공급: 청송군 단전으로 정수장(2개) 공급중단 위기 → 중단시 8,000세대 단수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상수도: 불에 탄 수도관, 누수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비상발전기 가동 후 긴급대피 → 정수장 무중단 가동으로 단수 최소화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긴급 시설복구반 투입(132명) 및 2차피해 예방 음용안전 수질검사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6일만에 청송군 수도 공급 조기 정상화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산불영향 지자체(5개, 20만명) 수질안전 확보</a:t>
            </a:r>
          </a:p>
        </p:txBody>
      </p:sp>
      <p:sp>
        <p:nvSpPr>
          <p:cNvPr id="21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강릉가뭄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극복지원</a:t>
            </a:r>
          </a:p>
        </p:txBody>
      </p:sp>
      <p:sp>
        <p:nvSpPr>
          <p:cNvPr id="23" name="배너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강릉시민 18만명의 물공급 중단 위기, 가용가능한 모든 지원대책 총동원</a:t>
            </a:r>
          </a:p>
        </p:txBody>
      </p:sp>
      <p:sp>
        <p:nvSpPr>
          <p:cNvPr id="24" name="단계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위기 상황 및 여건</a:t>
            </a:r>
          </a:p>
        </p:txBody>
      </p:sp>
      <p:sp>
        <p:nvSpPr>
          <p:cNvPr id="25" name="단계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비상 대응</a:t>
            </a:r>
          </a:p>
        </p:txBody>
      </p:sp>
      <p:sp>
        <p:nvSpPr>
          <p:cNvPr id="26" name="단계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대응 성과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물부족: 핵심상수원 오봉댐 저수율 11%로 취수중단 위기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대체수원: 도암댐 수질 불신 지역의 취수반대여론 大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강릉시 운휴정수장 재가동 지원, 관로 누수(30%) 저감방안 제시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도암댐 수질검증위원회 참여 → 수질검사 &amp; 안정성 검증(취수 결정)</a:t>
            </a:r>
          </a:p>
        </p:txBody>
      </p:sp>
      <p:sp>
        <p:nvSpPr>
          <p:cNvPr id="32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비상용수공급 대안 마련(14천㎥/일)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강릉시 인구 13%(2.6만명) 사용분(유사시 활용 가능)</a:t>
            </a:r>
          </a:p>
        </p:txBody>
      </p:sp>
      <p:sp>
        <p:nvSpPr>
          <p:cNvPr id="35" name="핵심성과 라벨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6" name="핵심성과 문구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K-water 전문가 178명 지자체 투입, 피해 영향지역(6개 지자체) 수돗물 공급 정상화 촉진</a:t>
            </a:r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205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전국 수도사업자 업무효율 제고를 위한 기술지원 시스템 개선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0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평가지적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위기대응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강 화</a:t>
            </a:r>
          </a:p>
        </p:txBody>
      </p:sp>
      <p:sp>
        <p:nvSpPr>
          <p:cNvPr id="13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공동대응  유역수도 운영지원시스템 공유 확대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실시간 감시  저수조 모니터링 도입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지자체 사고 공동대응 가능한 데이터감시체계 전국 확대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금강유역(31개) → ’25년 전국(114개)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대수용가 저수조(민간데이터) 실시간 감시체계 시범구축·운영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금산군 대수용가 유량·수위 모니터링</a:t>
            </a:r>
          </a:p>
        </p:txBody>
      </p:sp>
      <p:sp>
        <p:nvSpPr>
          <p:cNvPr id="18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선제적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기술지원</a:t>
            </a:r>
          </a:p>
        </p:txBody>
      </p:sp>
      <p:sp>
        <p:nvSpPr>
          <p:cNvPr id="20" name="머리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수질 이슈 발생  기술지원 자동 안내</a:t>
            </a:r>
          </a:p>
        </p:txBody>
      </p:sp>
      <p:sp>
        <p:nvSpPr>
          <p:cNvPr id="21" name="머리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수질기준 초과  법적 절차 이행 조건부 안내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상시안내 팝업 외 추가안내 팝업 신설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소형생물, 조류경보 등 수질이슈 발생시 운영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수질기준 초과시, 조치사항 자동안내(조치가이드, 기술지원 이력, 수질트렌드 등)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수도담당자의 법적 절차 미이행 방지 지원</a:t>
            </a:r>
          </a:p>
        </p:txBody>
      </p:sp>
      <p:sp>
        <p:nvSpPr>
          <p:cNvPr id="26" name="핵심성과 라벨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27" name="핵심성과 문구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데이터와 AI를 활용, 수도종사자 역량 향상과 수도사업자 간 소통으로 위기대응체계 강화</a:t>
            </a: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206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‘국민에게는 안심을, 기업·지자체에게는 든든한’ K-water 물관리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국민체감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서 비 스</a:t>
            </a:r>
          </a:p>
        </p:txBody>
      </p:sp>
      <p:sp>
        <p:nvSpPr>
          <p:cNvPr id="11" name="배너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물공급을 넘어 국민·지자체·기업의 개별적 고충을 선제적으로 발굴·해소하는 체감 가치 제공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 향</a:t>
            </a:r>
          </a:p>
        </p:txBody>
      </p:sp>
      <p:sp>
        <p:nvSpPr>
          <p:cNvPr id="14" name="배너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변화하는 환경을 고려, 국민·지자체·기업 관점에서의 니즈를 발굴·신속 이행</a:t>
            </a:r>
          </a:p>
        </p:txBody>
      </p:sp>
      <p:sp>
        <p:nvSpPr>
          <p:cNvPr id="15" name="레일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환 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변 화</a:t>
            </a:r>
          </a:p>
        </p:txBody>
      </p:sp>
      <p:sp>
        <p:nvSpPr>
          <p:cNvPr id="16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新정부 국정방향</a:t>
            </a:r>
          </a:p>
        </p:txBody>
      </p:sp>
      <p:sp>
        <p:nvSpPr>
          <p:cNvPr id="17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복합적 외부 이슈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국민안전 · 혁신경제 · 기후위기 대응 · 균형발전 · 민생안정 · 공공혁신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기후위기 심화에 따른 물 부족·불균형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첨단기술 중심 산업전환으로 물수요 변화</a:t>
            </a:r>
          </a:p>
        </p:txBody>
      </p:sp>
      <p:sp>
        <p:nvSpPr>
          <p:cNvPr id="21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발 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 정</a:t>
            </a:r>
          </a:p>
        </p:txBody>
      </p:sp>
      <p:sp>
        <p:nvSpPr>
          <p:cNvPr id="22" name="머리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현황 진단</a:t>
            </a:r>
          </a:p>
        </p:txBody>
      </p:sp>
      <p:sp>
        <p:nvSpPr>
          <p:cNvPr id="23" name="머리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소통채널 운영</a:t>
            </a:r>
          </a:p>
        </p:txBody>
      </p:sp>
      <p:sp>
        <p:nvSpPr>
          <p:cNvPr id="24" name="머리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사내 전문가 워크숍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고객만족도, VOC 분석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대국민 설문·제안 분석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국민소통센터(국민디자인단 등)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지자체·기업소통채널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정책, 요금, 고객만족분야 전문가 및 담당·연계부서</a:t>
            </a:r>
          </a:p>
        </p:txBody>
      </p:sp>
      <p:sp>
        <p:nvSpPr>
          <p:cNvPr id="30" name="레일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니 즈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도 출</a:t>
            </a:r>
          </a:p>
        </p:txBody>
      </p:sp>
      <p:sp>
        <p:nvSpPr>
          <p:cNvPr id="31" name="머리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국민</a:t>
            </a:r>
          </a:p>
        </p:txBody>
      </p:sp>
      <p:sp>
        <p:nvSpPr>
          <p:cNvPr id="32" name="머리칸"/>
          <p:cNvSpPr>
            <a:spLocks noGrp="1"/>
          </p:cNvSpPr>
          <p:nvPr>
            <p:ph type="body" sz="quarter" idx="4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지자체</a:t>
            </a:r>
          </a:p>
        </p:txBody>
      </p:sp>
      <p:sp>
        <p:nvSpPr>
          <p:cNvPr id="33" name="머리칸"/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기업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4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막연한 수돗물 불신 상존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사회안전망 등 눈높이 상향</a:t>
            </a:r>
          </a:p>
        </p:txBody>
      </p:sp>
      <p:sp>
        <p:nvSpPr>
          <p:cNvPr id="35" name="칸 본문"/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현안해소 기술·재원 부족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기후위기, 물복지 불균형 대응</a:t>
            </a:r>
          </a:p>
        </p:txBody>
      </p:sp>
      <p:sp>
        <p:nvSpPr>
          <p:cNvPr id="37" name="칸 본문"/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지역간 용수확보 경쟁 심화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첨단 산업용수 수요 급증</a:t>
            </a:r>
          </a:p>
        </p:txBody>
      </p:sp>
      <p:sp>
        <p:nvSpPr>
          <p:cNvPr id="39" name="레일"/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실 행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과 제</a:t>
            </a:r>
          </a:p>
        </p:txBody>
      </p:sp>
      <p:sp>
        <p:nvSpPr>
          <p:cNvPr id="40" name="머리칸"/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수돗물 신뢰 증대</a:t>
            </a:r>
          </a:p>
        </p:txBody>
      </p:sp>
      <p:sp>
        <p:nvSpPr>
          <p:cNvPr id="41" name="머리칸"/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물위기 선제 대응</a:t>
            </a:r>
          </a:p>
        </p:txBody>
      </p:sp>
      <p:sp>
        <p:nvSpPr>
          <p:cNvPr id="42" name="머리칸"/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다각적 공급방안 마련</a:t>
            </a:r>
          </a:p>
        </p:txBody>
      </p:sp>
      <p:sp>
        <p:nvSpPr>
          <p:cNvPr id="43" name="칸 본문"/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민생경제 안정, 수돗물 안심 정보</a:t>
            </a:r>
          </a:p>
        </p:txBody>
      </p:sp>
      <p:sp>
        <p:nvSpPr>
          <p:cNvPr id="44" name="칸 본문"/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지자체 이슈 해소 지원</a:t>
            </a:r>
          </a:p>
        </p:txBody>
      </p:sp>
      <p:sp>
        <p:nvSpPr>
          <p:cNvPr id="46" name="칸 본문"/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첨단용수 국가차원 검토</a:t>
            </a:r>
          </a:p>
        </p:txBody>
      </p:sp>
      <p:sp>
        <p:nvSpPr>
          <p:cNvPr id="48" name="레일"/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49" name="칸 본문"/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역대 최고 고객만족(85.27점 → 87.03점)</a:t>
            </a:r>
          </a:p>
        </p:txBody>
      </p:sp>
      <p:sp>
        <p:nvSpPr>
          <p:cNvPr id="50" name="칸 본문"/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국가상수도정보시스템 역대 최고 만족 96.6점</a:t>
            </a:r>
          </a:p>
        </p:txBody>
      </p:sp>
      <p:sp>
        <p:nvSpPr>
          <p:cNvPr id="52" name="칸 본문"/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낙동강 맑은 물 공급 사업화 등 현안 해소</a:t>
            </a:r>
          </a:p>
        </p:txBody>
      </p:sp>
      <p:sp>
        <p:nvSpPr>
          <p:cNvPr id="54" name="칸 본문"/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첨단산업 최적 공급방안 마련·사업 추진</a:t>
            </a:r>
          </a:p>
        </p:txBody>
      </p:sp>
      <p:sp>
        <p:nvSpPr>
          <p:cNvPr id="56" name="칸 본문"/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SKhynix 초순수 공급 해외 독점시장 타파</a:t>
            </a:r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207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실질적 도움이 되는 정보와 요금부담 완화로 안정된 일상 지원</a:t>
            </a:r>
          </a:p>
        </p:txBody>
      </p:sp>
      <p:sp>
        <p:nvSpPr>
          <p:cNvPr id="12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요금부담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경 감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장기간 요금동결 지속(’16~)</a:t>
            </a:r>
          </a:p>
        </p:txBody>
      </p:sp>
      <p:sp>
        <p:nvSpPr>
          <p:cNvPr id="16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사회적배려계층 감면</a:t>
            </a:r>
          </a:p>
        </p:txBody>
      </p:sp>
      <p:sp>
        <p:nvSpPr>
          <p:cNvPr id="17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재난지역 감면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연간 1,483억원 인하 효과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원가절감 지속(’25년 182억원)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지자체의 先감면액 정산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99개 지자체, 8.2억원 감면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산불, 집중호우 피해지역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19개 지자체, 0.8억원 감면</a:t>
            </a:r>
          </a:p>
        </p:txBody>
      </p:sp>
      <p:sp>
        <p:nvSpPr>
          <p:cNvPr id="23" name="레일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대화형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수도정보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서비스</a:t>
            </a:r>
          </a:p>
        </p:txBody>
      </p:sp>
      <p:sp>
        <p:nvSpPr>
          <p:cNvPr id="25" name="머리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사용자 소통·의견 수렴</a:t>
            </a:r>
          </a:p>
        </p:txBody>
      </p:sp>
      <p:sp>
        <p:nvSpPr>
          <p:cNvPr id="26" name="머리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국가수도정보시스템 내 대화형 AI 플랫폼 도입 및 확대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참여: 국민디자인단 + 만족도조사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국민: “수돗물 어디서 오는지 쉽게 찾고 싶어요”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지자체: “민원관련 수도기술자료 어디있죠?”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워터365 ‘런칭’: 사용자 위치 자동 인식 기반 우리집 수돗물 공급경로, 수질정보 등 시각화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워터챗 ‘확대’: 총 1,093건 최신정보 학습·제공 / ’24년 런칭(낙동강) → ’25년 전국(2천명 활용)</a:t>
            </a:r>
          </a:p>
        </p:txBody>
      </p:sp>
      <p:sp>
        <p:nvSpPr>
          <p:cNvPr id="31" name="핵심성과 라벨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32" name="핵심성과 문구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고객만족도 87.03점(역대 최고) 획득(3년 연속 상승, ’23년 84.16점 → ’24년 85.27점)</a:t>
            </a:r>
          </a:p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’25년 국가수도정보시스템 이용자 76만명, 상수도정보서비스 이용만족도 96.6점 달성</a:t>
            </a: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208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지자체가 해결하기 어려운 물 문제, K-water의 아이디어와 기술로 해결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8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대 응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 향</a:t>
            </a:r>
          </a:p>
        </p:txBody>
      </p:sp>
      <p:sp>
        <p:nvSpPr>
          <p:cNvPr id="9" name="머리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지역맞춤형 대안</a:t>
            </a:r>
          </a:p>
        </p:txBody>
      </p:sp>
      <p:sp>
        <p:nvSpPr>
          <p:cNvPr id="10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수원 다변화</a:t>
            </a:r>
          </a:p>
        </p:txBody>
      </p:sp>
      <p:sp>
        <p:nvSpPr>
          <p:cNvPr id="11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발상의 전환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지역 정서·니즈의 충족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댐·하천 非의존형 수원 발굴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독보적 기술의 융합·활용</a:t>
            </a:r>
          </a:p>
        </p:txBody>
      </p:sp>
      <p:sp>
        <p:nvSpPr>
          <p:cNvPr id="17" name="배너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지자체의 물 관리 어려움에 때로는 해결사로! 때로는 중재자로! 맞춤형 대응</a:t>
            </a:r>
          </a:p>
        </p:txBody>
      </p:sp>
      <p:sp>
        <p:nvSpPr>
          <p:cNvPr id="18" name="레일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1·2</a:t>
            </a:r>
          </a:p>
        </p:txBody>
      </p:sp>
      <p:sp>
        <p:nvSpPr>
          <p:cNvPr id="20" name="머리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대구 맑은 물 공급</a:t>
            </a:r>
          </a:p>
        </p:txBody>
      </p:sp>
      <p:sp>
        <p:nvSpPr>
          <p:cNvPr id="21" name="머리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강릉 가뭄 대응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수원 다변화(하천 복류수) 제안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배경: ’91년 페놀사건 이후 대구시는 취수원 이전 지속 추진 중, 최근 안동댐 활용 검토 요청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해결: 現취수원 인근 복류수 도입 제안·정책화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→ 복류수 공급사업 시행근거 확보(타당성조사 용역비 국고 45억원 반영)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인력·기술·비상식수 지원 + 대책 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배경: 단일 수원 저수율 11%↓, ‘재난사태’ 선포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해결: 단기대응 지원 및 항구대책 마련·수행(운휴시설 재가동 기술지원, 지하수저류댐 건설)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→ 가뭄 적극 대응 노력 인정, 재난관리평가 ‘국무총리 표창’(’25.12)</a:t>
            </a:r>
          </a:p>
        </p:txBody>
      </p:sp>
      <p:sp>
        <p:nvSpPr>
          <p:cNvPr id="25" name="레일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사례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3·4</a:t>
            </a:r>
          </a:p>
        </p:txBody>
      </p:sp>
      <p:sp>
        <p:nvSpPr>
          <p:cNvPr id="27" name="머리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대산 산단 해수담수화 도입</a:t>
            </a:r>
          </a:p>
        </p:txBody>
      </p:sp>
      <p:sp>
        <p:nvSpPr>
          <p:cNvPr id="28" name="머리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부산 산단 공업용수 공급</a:t>
            </a:r>
          </a:p>
        </p:txBody>
      </p:sp>
      <p:sp>
        <p:nvSpPr>
          <p:cNvPr id="29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수원 다변화(해수담수화) 성공적 완수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배경: 충남서부지역 가뭄 반복, 대산석유화학단지 공업용수 수요 증대로 만성적 물 부족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해결: 국내최대(10만 톤/일) 해수담수화 준공(’25.12)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→ (대산 산단) 無限 수원 확보, (충남서부지역) 만성적 물 부족 문제 해소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첨단 수처리기술 활용, 현안 해소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배경: 방사능 우려로 해수담수화시설(부산 기장)을 활용한 식수공급 반대로 10년간 시설 방치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해결: 해·담 시설을 하수재이용 시설로 전환, 공업용수 공급에 기술지원 및 운영 참여 추진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→ 동부산 산단 공업용수 공급 MOU 체결(’25.9)</a:t>
            </a:r>
          </a:p>
        </p:txBody>
      </p:sp>
    </p:spTree>
  </p:cSld>
  <p:clrMapOvr>
    <a:masterClrMapping/>
  </p:clrMapOvr>
</p:sld>
</file>

<file path=ppt/slides/slide2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209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근본적인 지역 물 문제 해결을 위한 ‘물 이용 개선방안’ 수립·정부 제안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개선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방안</a:t>
            </a:r>
          </a:p>
        </p:txBody>
      </p:sp>
      <p:sp>
        <p:nvSpPr>
          <p:cNvPr id="12" name="머리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물 이용 관리체계 혁신</a:t>
            </a:r>
          </a:p>
        </p:txBody>
      </p:sp>
      <p:sp>
        <p:nvSpPr>
          <p:cNvPr id="13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극한가뭄 대응 기반 조성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워터믹스로 댐 의존도↓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국가계획 주기(5→2년), 지자체계획 연계 + 물수급협의체 신설(정부·지자체·산업)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수요변화 대응 적시성·유연성 제고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가뭄취약지역 평가 고도화: 다양한 가뭄 시나리오, 물 수급 여건 등을 반영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지자체 계획: 가뭄대책 반영 의무화 / 워터그리드: 기존 수원 간 연계체계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다목적댐·발전용댐·지하수저류댐·농업용저수지를 연계하는 워터믹스(watermix)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수요처별 최적 수원 연계</a:t>
            </a:r>
          </a:p>
        </p:txBody>
      </p:sp>
      <p:sp>
        <p:nvSpPr>
          <p:cNvPr id="20" name="배너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K-water가 제안한 ‘물 이용 개선방안’ 기반, 기후부 ‘물 이용 체계 혁신방안’ 수립</a:t>
            </a:r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210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4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첨단산업 성장을 뒷받침하는 안정적인 용수공급으로 국가경쟁력 제고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니 즈</a:t>
            </a:r>
          </a:p>
        </p:txBody>
      </p:sp>
      <p:sp>
        <p:nvSpPr>
          <p:cNvPr id="11" name="칸 본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첨단기술 패권경쟁 우위 선점은 ‘규모의 경제’와 ‘속도’가 결정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대규모 ‘용수’가 필수적인 첨단산업 기업은 신속한 인프라 확충에 갈증</a:t>
            </a:r>
          </a:p>
        </p:txBody>
      </p:sp>
      <p:sp>
        <p:nvSpPr>
          <p:cNvPr id="13" name="태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 역할</a:t>
            </a:r>
          </a:p>
        </p:txBody>
      </p:sp>
      <p:sp>
        <p:nvSpPr>
          <p:cNvPr id="14" name="배너 글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1" spc="-70" dirty="0">
                <a:solidFill>
                  <a:srgbClr val="000359"/>
                </a:solidFill>
                <a:latin typeface="Pretendard"/>
                <a:ea typeface="Pretendard"/>
              </a:rPr>
              <a:t>합리적 수요산정·체계적 공급여건 마련</a:t>
            </a:r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211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첨단산단 특성과 입지여건을 고려, 최적 용수공급방안 마련·사업 추진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그간의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성 과</a:t>
            </a:r>
          </a:p>
        </p:txBody>
      </p:sp>
      <p:sp>
        <p:nvSpPr>
          <p:cNvPr id="12" name="머리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’23년 정부  첨단산업 육성전략 발표</a:t>
            </a:r>
          </a:p>
        </p:txBody>
      </p:sp>
      <p:sp>
        <p:nvSpPr>
          <p:cNvPr id="13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~’24년 선도  용인반도체 첨단산단 조성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정부는 ‘용수 확보’ 계획없이 첨단산단(27개소) 지정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→ 적기 인프라 구축 어려움 가중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발전댐(화천댐) 연계, 용수공급방안 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반도체클러스터 용수공급 사업 신속 추진 → 국가산단(삼성), 일반산단(SK hynix) 통합기반 마련</a:t>
            </a:r>
          </a:p>
        </p:txBody>
      </p:sp>
      <p:sp>
        <p:nvSpPr>
          <p:cNvPr id="17" name="배너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확대: 용인반도체 통합용수공급방안 확정에 이어 ‘지방권 첨단산단’ 공급방안 선제적 대응</a:t>
            </a:r>
          </a:p>
        </p:txBody>
      </p:sp>
      <p:sp>
        <p:nvSpPr>
          <p:cNvPr id="18" name="레일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지방권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첨단산단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용수공급</a:t>
            </a:r>
          </a:p>
        </p:txBody>
      </p:sp>
      <p:sp>
        <p:nvSpPr>
          <p:cNvPr id="20" name="머리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용인 반도체 클러스터(’25년 추진계획 변경)</a:t>
            </a:r>
          </a:p>
        </p:txBody>
      </p:sp>
      <p:sp>
        <p:nvSpPr>
          <p:cNvPr id="21" name="머리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고흥 우주항공 산단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반도체 산업 적기 추진 기반 마련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관로통합: 관로위치 조정 및 3→2열로 통합, 사업비 0.25조원 절감(타당성조사 완료)</a:t>
            </a:r>
          </a:p>
        </p:txBody>
      </p:sp>
      <p:sp>
        <p:nvSpPr>
          <p:cNvPr id="23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사업기간 2년 단축 + 사업비 363억원 절감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기업니즈: 원거리의 광역(상) 공급(사업기간 7년, 767억원) / 개선: 인근의 지방(상) 개량·공급(사업기간 5년, 404억원)</a:t>
            </a:r>
          </a:p>
        </p:txBody>
      </p:sp>
      <p:sp>
        <p:nvSpPr>
          <p:cNvPr id="25" name="머리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울진 원자력수소 산단</a:t>
            </a:r>
          </a:p>
        </p:txBody>
      </p:sp>
      <p:sp>
        <p:nvSpPr>
          <p:cNvPr id="26" name="머리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울산 샤힌 프로젝트</a:t>
            </a:r>
          </a:p>
        </p:txBody>
      </p:sp>
      <p:sp>
        <p:nvSpPr>
          <p:cNvPr id="27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수소원료인 물 단가 절감, 산업경쟁력 제고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기업니즈: 해수담수화 공급(고비용) 수요량 40천톤/일, 사업비 1,554억원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개선: 수요 재추정, 지방수원 공급활용 수요량 28천톤/일, 1,268억원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 니즈 반영, 산업시설 적기 가동 가능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기업니즈: 첨단석유화학 플랜트 조기 가동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개선: 국가계획 반영·국고 조기 확보 → 공급시기 1년 단축</a:t>
            </a:r>
          </a:p>
        </p:txBody>
      </p:sp>
    </p:spTree>
  </p:cSld>
  <p:clrMapOvr>
    <a:masterClrMapping/>
  </p:clrMapOvr>
</p:sld>
</file>

<file path=ppt/slides/slide2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212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산업단지 출발은 물길부터, 물공급 인프라 사전 검토 가이드라인 마련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8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현 황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분 석</a:t>
            </a:r>
          </a:p>
        </p:txBody>
      </p:sp>
      <p:sp>
        <p:nvSpPr>
          <p:cNvPr id="9" name="칸 본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용인 반도체산단 조성에서 얻은 교훈 → 산업단지 조성의 핵심은 ‘인프라’ 확보</a:t>
            </a:r>
          </a:p>
        </p:txBody>
      </p:sp>
      <p:sp>
        <p:nvSpPr>
          <p:cNvPr id="10" name="칸 본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현실: 先산단지정·後인프라 검토 방식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용수 확보 불가시, 산단 조성에 난항</a:t>
            </a:r>
          </a:p>
        </p:txBody>
      </p:sp>
      <p:sp>
        <p:nvSpPr>
          <p:cNvPr id="12" name="레일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제도개선</a:t>
            </a:r>
          </a:p>
        </p:txBody>
      </p:sp>
      <p:sp>
        <p:nvSpPr>
          <p:cNvPr id="14" name="배너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산단 계획부터 인프라를 검토하도록 ‘산업입지 수급계획 수립 국가기준’ 마련(’25.10)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산업입지별 용수 수요산정 방법 + 시기 제안(→국토부)</a:t>
            </a:r>
          </a:p>
        </p:txBody>
      </p:sp>
      <p:sp>
        <p:nvSpPr>
          <p:cNvPr id="16" name="머리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용수수요: 업종별 추정(업종별 원단위 × 부지 면적)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확보계획: 수요량 ↔ 지역 물여유량 비교(부족시 수립)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산정시기: 산업단지 조성 최초 계획 수립시 검토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전국 17개 시·도 제5차 산업입지 수급계획 즉시 반영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산업단지 수급계획 수립(용수·전력 인프라 검토) → 산업단지 지정 → 산업단지 계획승인</a:t>
            </a:r>
          </a:p>
        </p:txBody>
      </p:sp>
      <p:sp>
        <p:nvSpPr>
          <p:cNvPr id="21" name="주요성과 라벨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기대효과</a:t>
            </a:r>
          </a:p>
        </p:txBody>
      </p:sp>
      <p:sp>
        <p:nvSpPr>
          <p:cNvPr id="22" name="주요성과 문구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인프라 적기 구축을 통한 첨단산단의 원활한 조성으로 국가 산업경쟁력 강화</a:t>
            </a:r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213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5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글로벌 기업이 독점한 초순수 분야, K-water 중심으로 개척</a:t>
            </a:r>
          </a:p>
        </p:txBody>
      </p:sp>
      <p:sp>
        <p:nvSpPr>
          <p:cNvPr id="12" name="번호 띠 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14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니즈의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일 치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초순수 수요기업(반도체 등)</a:t>
            </a:r>
          </a:p>
        </p:txBody>
      </p:sp>
      <p:sp>
        <p:nvSpPr>
          <p:cNvPr id="16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초순수 협력기업(시공·장비 등)</a:t>
            </a:r>
          </a:p>
        </p:txBody>
      </p:sp>
      <p:sp>
        <p:nvSpPr>
          <p:cNvPr id="17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K-water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안정적 공급망 확보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개발기술 검증·실증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통합물관리 업역 확대</a:t>
            </a:r>
          </a:p>
        </p:txBody>
      </p:sp>
      <p:sp>
        <p:nvSpPr>
          <p:cNvPr id="23" name="레일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방 향</a:t>
            </a:r>
          </a:p>
        </p:txBody>
      </p:sp>
      <p:sp>
        <p:nvSpPr>
          <p:cNvPr id="25" name="배너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新정부의 ‘안정적인 반도체 초순수 공급체계 구축’으로 사업 가속화(국정과제 43 국가 경제 적응력 강화)</a:t>
            </a:r>
          </a:p>
        </p:txBody>
      </p:sp>
      <p:sp>
        <p:nvSpPr>
          <p:cNvPr id="26" name="레일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로드맵</a:t>
            </a:r>
          </a:p>
        </p:txBody>
      </p:sp>
      <p:sp>
        <p:nvSpPr>
          <p:cNvPr id="28" name="단계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~’24 기술완성·사업기반조성</a:t>
            </a:r>
          </a:p>
        </p:txBody>
      </p:sp>
      <p:sp>
        <p:nvSpPr>
          <p:cNvPr id="29" name="단계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 성능검증·사업진출</a:t>
            </a:r>
          </a:p>
        </p:txBody>
      </p:sp>
      <p:sp>
        <p:nvSpPr>
          <p:cNvPr id="30" name="단계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’26~ 기술고도화·사업확대</a:t>
            </a:r>
          </a:p>
        </p:txBody>
      </p:sp>
      <p:sp>
        <p:nvSpPr>
          <p:cNvPr id="33" name="칸 본문"/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R&amp;D: 국산화(설계·시공·운영·장비)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사업화: 사업진출 협약 체결</a:t>
            </a:r>
          </a:p>
        </p:txBody>
      </p:sp>
      <p:sp>
        <p:nvSpPr>
          <p:cNvPr id="34" name="칸 본문"/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實공급 기반 장기성능 검증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초순수 운영사업 최초 진출</a:t>
            </a:r>
          </a:p>
        </p:txBody>
      </p:sp>
      <p:sp>
        <p:nvSpPr>
          <p:cNvPr id="36" name="칸 본문"/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국산장비 고도화 R&amp;D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용인산단 통합 물서비스</a:t>
            </a: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214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1차 국산화 R&amp;D(’21~’25) 성공을 통한 확신, 완전 기술자립을 위한 새로운 도전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8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기술자립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주 도</a:t>
            </a:r>
          </a:p>
        </p:txBody>
      </p:sp>
      <p:sp>
        <p:nvSpPr>
          <p:cNvPr id="9" name="머리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1차 국산화 R&amp;D 성공적 마무리(’21~’25)</a:t>
            </a:r>
          </a:p>
        </p:txBody>
      </p:sp>
      <p:sp>
        <p:nvSpPr>
          <p:cNvPr id="10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 R&amp;D 참여기업 가시적 성과 창출</a:t>
            </a:r>
          </a:p>
        </p:txBody>
      </p:sp>
      <p:sp>
        <p:nvSpPr>
          <p:cNvPr id="11" name="칸 본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국산화 목표: 장비 70% + 설계·시공·운영 100%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’24년 SK실트론內 R&amp;D 시설 활용, 초순수 實공급 및 웨이퍼 생산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’25년 장기운전 신뢰 검증, 노하우 축적</a:t>
            </a:r>
          </a:p>
        </p:txBody>
      </p:sp>
      <p:sp>
        <p:nvSpPr>
          <p:cNvPr id="12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한성크린텍 — 설계+시공: 삼성전자 EPC사업 수주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SAMYANG — 장비: 군산에 300억원 시설투자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SepraTek — 장비: 삼양社와 탈기막 공동사업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— 총괄+운영: R&amp;D 연계, 전문인력 양성</a:t>
            </a:r>
          </a:p>
        </p:txBody>
      </p:sp>
      <p:sp>
        <p:nvSpPr>
          <p:cNvPr id="14" name="배너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1차 성과 기반으로 2차 국산화 R&amp;D 기획(반도체급 실증플랜트 구축 + 장비 국산화 90% 확대)</a:t>
            </a: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215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반도체와 함께 커가는 물산업 경쟁력, 국가 초순수 생태계 육성 로드맵 구축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정 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선 도</a:t>
            </a:r>
          </a:p>
        </p:txBody>
      </p:sp>
      <p:sp>
        <p:nvSpPr>
          <p:cNvPr id="12" name="배너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반도체 산업 급부상으로 뒤늦게 발견된 ‘초순수 산업’의 가치, 국가 전략화 추진(’24.11~)</a:t>
            </a:r>
          </a:p>
        </p:txBody>
      </p:sp>
      <p:sp>
        <p:nvSpPr>
          <p:cNvPr id="13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국가전략  산업 全주기 지원 청사진 제시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실행체계  초순수 산업 활성화 Action Plan 마련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정부정책, 산·학·연 니즈 분석 기반, 「국가 초순수 전략 수립」 직접 참여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K-water 자체TF(산업용수 활성화) 운영, 국가전략과 연계한 종합 실행계획 수립</a:t>
            </a:r>
          </a:p>
        </p:txBody>
      </p:sp>
      <p:sp>
        <p:nvSpPr>
          <p:cNvPr id="18" name="단계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❶ 자립화 및 고도화</a:t>
            </a:r>
          </a:p>
        </p:txBody>
      </p:sp>
      <p:sp>
        <p:nvSpPr>
          <p:cNvPr id="19" name="단계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❷ 산업 경쟁력 강화</a:t>
            </a:r>
          </a:p>
        </p:txBody>
      </p:sp>
      <p:sp>
        <p:nvSpPr>
          <p:cNvPr id="20" name="단계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❸ 시장·판로지원</a:t>
            </a:r>
          </a:p>
        </p:txBody>
      </p:sp>
      <p:sp>
        <p:nvSpPr>
          <p:cNvPr id="21" name="단계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❹ 지속성장 기반구축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공공랩 구축 · 진단기술 확보</a:t>
            </a:r>
          </a:p>
        </p:txBody>
      </p:sp>
      <p:sp>
        <p:nvSpPr>
          <p:cNvPr id="26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전문인력 양성 · 민간기업 지원</a:t>
            </a:r>
          </a:p>
        </p:txBody>
      </p:sp>
      <p:sp>
        <p:nvSpPr>
          <p:cNvPr id="28" name="칸 본문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사업추진·협력</a:t>
            </a:r>
          </a:p>
        </p:txBody>
      </p:sp>
      <p:sp>
        <p:nvSpPr>
          <p:cNvPr id="30" name="칸 본문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국가R&amp;D 참여</a:t>
            </a:r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216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모두가 불가능이라 했지만, 국내기업 최초 초순수 운영관리 사업 진출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신규</a:t>
            </a:r>
          </a:p>
        </p:txBody>
      </p:sp>
      <p:sp>
        <p:nvSpPr>
          <p:cNvPr id="8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SK hynix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초순수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운영관리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사업진출</a:t>
            </a:r>
          </a:p>
        </p:txBody>
      </p:sp>
      <p:sp>
        <p:nvSpPr>
          <p:cNvPr id="9" name="배너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2012년 첫발을 디딘 K-water 초순수 연구, 13년만에 국내 반도체 기업의 파트너로 성장</a:t>
            </a:r>
          </a:p>
        </p:txBody>
      </p:sp>
      <p:sp>
        <p:nvSpPr>
          <p:cNvPr id="10" name="단계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’12년 요소기술 확보</a:t>
            </a:r>
          </a:p>
        </p:txBody>
      </p:sp>
      <p:sp>
        <p:nvSpPr>
          <p:cNvPr id="11" name="단계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’21년 생산능력 검증</a:t>
            </a:r>
          </a:p>
        </p:txBody>
      </p:sp>
      <p:sp>
        <p:nvSpPr>
          <p:cNvPr id="12" name="단계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’25년 사업진출</a:t>
            </a:r>
          </a:p>
        </p:txBody>
      </p:sp>
      <p:sp>
        <p:nvSpPr>
          <p:cNvPr id="13" name="단계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’25년~ 반도체 플랜트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24㎥/일 → X100배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2,400㎥/일 → X10배</a:t>
            </a:r>
          </a:p>
        </p:txBody>
      </p:sp>
      <p:sp>
        <p:nvSpPr>
          <p:cNvPr id="20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24,400㎥/일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HBM 반도체 수요 대응 신규공장(M15X-청주) 신설 / (3월) 실시협약 → (~12월) 인계·시운전</a:t>
            </a:r>
          </a:p>
        </p:txBody>
      </p:sp>
      <p:sp>
        <p:nvSpPr>
          <p:cNvPr id="24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’12~’21년 파일럿플랜트: 자체연구, 장기간 기술개발 노력</a:t>
            </a:r>
          </a:p>
        </p:txBody>
      </p:sp>
      <p:sp>
        <p:nvSpPr>
          <p:cNvPr id="25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’21~’25년 실증플랜트: 국가R&amp;D, 웨이퍼 공정 實공급</a:t>
            </a:r>
          </a:p>
        </p:txBody>
      </p:sp>
      <p:sp>
        <p:nvSpPr>
          <p:cNvPr id="28" name="핵심성과 라벨"/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추진성과</a:t>
            </a:r>
          </a:p>
        </p:txBody>
      </p:sp>
      <p:sp>
        <p:nvSpPr>
          <p:cNvPr id="29" name="핵심성과 문구"/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공공성 · 차별성 · 도전성 · 상징성: 민간기업 협력 기술자립 성공, 글로벌 유일 물공급 全기술 보유, 해외 전문기업 독점시장 진입, 국내기업 최초 운영사업 진출</a:t>
            </a:r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217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레일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사업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특 성</a:t>
            </a:r>
          </a:p>
        </p:txBody>
      </p:sp>
      <p:sp>
        <p:nvSpPr>
          <p:cNvPr id="9" name="칸 본문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 이동: 취수장 → 정수장 → 고객 간 물 이동을 위해 고압전기, 복잡한 설비(회전체 등) 운영. 물 공급관로·밸브설비는 지하(밀폐)에 매설, 일부구간 도심/도로 횡단(전국 5.5만㎞)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물 생산: 하천수 등을 수심 깊은 저수조에서 다량(중량물)의 화학물질(정수약품)을 사용, 정수 처리</a:t>
            </a:r>
          </a:p>
        </p:txBody>
      </p:sp>
      <p:sp>
        <p:nvSpPr>
          <p:cNvPr id="10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주요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 험</a:t>
            </a:r>
          </a:p>
        </p:txBody>
      </p:sp>
      <p:sp>
        <p:nvSpPr>
          <p:cNvPr id="12" name="머리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밀폐공간</a:t>
            </a:r>
          </a:p>
        </p:txBody>
      </p:sp>
      <p:sp>
        <p:nvSpPr>
          <p:cNvPr id="13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복합 고위험 시설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산재된 시설</a:t>
            </a:r>
          </a:p>
        </p:txBody>
      </p:sp>
      <p:sp>
        <p:nvSpPr>
          <p:cNvPr id="15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시민재해 요인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관로상 밸브실 등 밀폐장소(5만개) 작업</a:t>
            </a:r>
          </a:p>
        </p:txBody>
      </p:sp>
      <p:sp>
        <p:nvSpPr>
          <p:cNvPr id="17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고위험(약품, 전기 등) 공정운영(2천개)</a:t>
            </a:r>
          </a:p>
        </p:txBody>
      </p:sp>
      <p:sp>
        <p:nvSpPr>
          <p:cNvPr id="19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관로 5.5만㎞ 산재로 감시와 접근 한계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60"/>
              </a:spcAft>
              <a:buNone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싱크홀 원인의 6% 노후상수도관 파손</a:t>
            </a:r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218</a:t>
            </a:r>
          </a:p>
        </p:txBody>
      </p:sp>
      <p:sp>
        <p:nvSpPr>
          <p:cNvPr id="5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수도 특화 안전설계기준과 맞춤형 대책으로 근로자 안전 확보</a:t>
            </a:r>
          </a:p>
        </p:txBody>
      </p:sp>
      <p:sp>
        <p:nvSpPr>
          <p:cNvPr id="6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7" name="태그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B.P</a:t>
            </a:r>
          </a:p>
        </p:txBody>
      </p:sp>
      <p:sp>
        <p:nvSpPr>
          <p:cNvPr id="9" name="레일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수도특화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안전설계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기 준</a:t>
            </a:r>
          </a:p>
        </p:txBody>
      </p:sp>
      <p:sp>
        <p:nvSpPr>
          <p:cNvPr id="10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위험요소 맞춤형 기준 제시</a:t>
            </a:r>
          </a:p>
        </p:txBody>
      </p:sp>
      <p:sp>
        <p:nvSpPr>
          <p:cNvPr id="11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다양한 안전 기준 통합</a:t>
            </a:r>
          </a:p>
        </p:txBody>
      </p:sp>
      <p:sp>
        <p:nvSpPr>
          <p:cNvPr id="12" name="머리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실행력 확보와 확산</a:t>
            </a:r>
          </a:p>
        </p:txBody>
      </p:sp>
      <p:sp>
        <p:nvSpPr>
          <p:cNvPr id="13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61개 시설 특성·위험분석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위험성평가 반복지적 2천여건 분석 → 부위별 위험별 기준 제시</a:t>
            </a:r>
          </a:p>
        </p:txBody>
      </p:sp>
      <p:sp>
        <p:nvSpPr>
          <p:cNvPr id="14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5천건의 안전기준 → 수도시설에 맞는 522개 항목으로 통합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표준작업절차서 131종, 안전시설 개선계획 수립(예산 80억원 확보)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지자체 확산 및 공동활용</a:t>
            </a:r>
          </a:p>
        </p:txBody>
      </p:sp>
      <p:sp>
        <p:nvSpPr>
          <p:cNvPr id="18" name="배너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한번에 쉽고 빠르게 찾는 안전수칙 마련과 실행·확산으로 국가 상수도 안전 표준 제시</a:t>
            </a:r>
          </a:p>
        </p:txBody>
      </p:sp>
      <p:sp>
        <p:nvSpPr>
          <p:cNvPr id="19" name="레일"/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위험요소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맞춤형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대 책</a:t>
            </a:r>
          </a:p>
        </p:txBody>
      </p:sp>
      <p:sp>
        <p:nvSpPr>
          <p:cNvPr id="21" name="칸 본문"/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밀폐공간: ‘eCall’ 전사 도입 — 출입통제, 유해가스 실시간 감지, 움직임 감지 → 경보 알림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시설 산재: 기술과 인력으로 사각지대 최소화 — AI+CCTV, 스마트 안전장비, 자회사 안전인력 全사업소(46명) 반영</a:t>
            </a:r>
          </a:p>
        </p:txBody>
      </p:sp>
      <p:sp>
        <p:nvSpPr>
          <p:cNvPr id="22" name="칸 본문"/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복합설비: 위험제거·통제로 실효적 재해예방 — 보호구 4종 추가, 안전거울, 약품 자동투입설비 도입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제도개선: 안전 최우선 가치로 발주자 역할 수행 — 안전중심 평가, 정부 총사업비지침 개정 통해 감리비 현실화(76 → 96%)</a:t>
            </a: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219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8" name="소제목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노후관로 선제 정비와 실시간 누수 감지를 통한 시민의 안전한 일상 보장</a:t>
            </a:r>
          </a:p>
        </p:txBody>
      </p:sp>
      <p:sp>
        <p:nvSpPr>
          <p:cNvPr id="9" name="태그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✔ 개선</a:t>
            </a:r>
          </a:p>
        </p:txBody>
      </p:sp>
      <p:sp>
        <p:nvSpPr>
          <p:cNvPr id="11" name="레일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시민밀접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시 설</a:t>
            </a:r>
          </a:p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FFFFFF"/>
                </a:solidFill>
                <a:latin typeface="Pretendard"/>
                <a:ea typeface="Pretendard"/>
              </a:rPr>
              <a:t>안전확보</a:t>
            </a:r>
          </a:p>
        </p:txBody>
      </p:sp>
      <p:sp>
        <p:nvSpPr>
          <p:cNvPr id="12" name="머리칸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노후관 정비  싱크홀 예방</a:t>
            </a:r>
          </a:p>
        </p:txBody>
      </p:sp>
      <p:sp>
        <p:nvSpPr>
          <p:cNvPr id="13" name="머리칸"/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누수 감지  침수사고 예방</a:t>
            </a:r>
          </a:p>
        </p:txBody>
      </p:sp>
      <p:sp>
        <p:nvSpPr>
          <p:cNvPr id="14" name="머리칸"/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spc="-50" dirty="0">
                <a:solidFill>
                  <a:srgbClr val="000359"/>
                </a:solidFill>
                <a:latin typeface="Pretendard"/>
                <a:ea typeface="Pretendard"/>
              </a:rPr>
              <a:t>맨홀 개선  차량사고 예방</a:t>
            </a:r>
          </a:p>
        </p:txBody>
      </p:sp>
      <p:sp>
        <p:nvSpPr>
          <p:cNvPr id="15" name="칸 본문"/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광역상수도 노후관 개량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지자체 지방상수도 노후관 정비 수탁 수행·운영(116개)</a:t>
            </a:r>
          </a:p>
        </p:txBody>
      </p:sp>
      <p:sp>
        <p:nvSpPr>
          <p:cNvPr id="16" name="칸 본문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수압·유량 관망해석 및 AI 활용, 실시간 누수감지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관망분석 전담인력 확대</a:t>
            </a:r>
          </a:p>
        </p:txBody>
      </p:sp>
      <p:sp>
        <p:nvSpPr>
          <p:cNvPr id="18" name="칸 본문"/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맨홀 ↔ 도로 높낮이 차이 개선계획 수립(729개)</a:t>
            </a:r>
          </a:p>
          <a:p>
            <a:pPr marL="118800" indent="-118800" algn="l">
              <a:lnSpc>
                <a:spcPct val="110000"/>
              </a:lnSpc>
              <a:spcBef>
                <a:spcPts val="0"/>
              </a:spcBef>
              <a:spcAft>
                <a:spcPts val="5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000" spc="-50" dirty="0">
                <a:solidFill>
                  <a:srgbClr val="000359"/>
                </a:solidFill>
                <a:latin typeface="Pretendard"/>
                <a:ea typeface="Pretendard"/>
              </a:rPr>
              <a:t>관로 일일점검 강화</a:t>
            </a:r>
          </a:p>
        </p:txBody>
      </p:sp>
      <p:sp>
        <p:nvSpPr>
          <p:cNvPr id="21" name="주요성과 라벨"/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 spc="-55" dirty="0">
                <a:solidFill>
                  <a:srgbClr val="FFFFFF"/>
                </a:solidFill>
                <a:latin typeface="Pretendard"/>
                <a:ea typeface="Pretendard"/>
              </a:rPr>
              <a:t>종합성과</a:t>
            </a:r>
          </a:p>
        </p:txBody>
      </p:sp>
      <p:sp>
        <p:nvSpPr>
          <p:cNvPr id="22" name="주요성과 문구"/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pPr marL="151200" indent="-151200" algn="l">
              <a:lnSpc>
                <a:spcPct val="110000"/>
              </a:lnSpc>
              <a:spcBef>
                <a:spcPts val="0"/>
              </a:spcBef>
              <a:spcAft>
                <a:spcPts val="100"/>
              </a:spcAft>
              <a:buClr>
                <a:srgbClr val="000359"/>
              </a:buClr>
              <a:buFont typeface="Pretendard"/>
              <a:buChar char="•"/>
            </a:pPr>
            <a:r>
              <a:rPr lang="ko-KR" sz="1100" b="1" spc="-55" dirty="0">
                <a:solidFill>
                  <a:srgbClr val="000359"/>
                </a:solidFill>
                <a:latin typeface="Pretendard"/>
                <a:ea typeface="Pretendard"/>
              </a:rPr>
              <a:t>수도서비스 실효적 안전대책·싱크홀 방지 등 국정과제 이행과 산업·시민재해 저감(△27%)</a:t>
            </a: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노사관계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220</a:t>
            </a:r>
          </a:p>
        </p:txBody>
      </p:sp>
      <p:sp>
        <p:nvSpPr>
          <p:cNvPr id="7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1</a:t>
            </a:r>
          </a:p>
        </p:txBody>
      </p:sp>
      <p:sp>
        <p:nvSpPr>
          <p:cNvPr id="8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조직·인력·예산 운용 등의 효율성 제고노력</a:t>
            </a:r>
          </a:p>
        </p:txBody>
      </p:sp>
      <p:graphicFrame>
        <p:nvGraphicFramePr>
          <p:cNvPr id="9" name="다열 표"/>
          <p:cNvGraphicFramePr>
            <a:graphicFrameLocks noGrp="1"/>
          </p:cNvGraphicFramePr>
          <p:nvPr/>
        </p:nvGraphicFramePr>
        <p:xfrm>
          <a:off x="723130" y="1161391"/>
          <a:ext cx="6300000" cy="3398559"/>
        </p:xfrm>
        <a:graphic>
          <a:graphicData uri="http://schemas.openxmlformats.org/drawingml/2006/table">
            <a:tbl>
              <a:tblPr/>
              <a:tblGrid>
                <a:gridCol w="882000"/>
                <a:gridCol w="693000"/>
                <a:gridCol w="2835000"/>
                <a:gridCol w="1890000"/>
              </a:tblGrid>
              <a:tr h="230087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대상사업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구분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주요내용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성과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</a:tr>
              <a:tr h="386296">
                <a:tc rowSpan="2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수돗물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공급혁신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조직·인력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인력 중심 고비용 노후관로 상태평가를 AI를 활용한 평가 예측과 영상판독으로 개선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평가 비용을 인력수행 比 최대 455억원 절감 효과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386296">
                <a:tc v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프로세스 개선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AI 정수장 데이터 관리·성능 및 품질관리·장애대응 등 표준 운영 가이드라인 마련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운영편차 최소화를 통한 휴먼에러 저감(신뢰도 95%)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541096">
                <a:tc rowSpan="2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포용적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물복지 강화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조직·인력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노후 상수도 정비사업 통합수탁(5개 개별 지자체 → 2개 권역 통합)으로 적은 인원으로 성과 창출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K-water 인력부족으로 인한 개별수탁 수용불가 문제 해결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541096">
                <a:tc v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프로세스 개선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노후 상수도 정비사업 프로세스 간소화로 성과 조기 창출(순차적 협의 → 지자체 우선협의+설계 일괄발주)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정비사업 기간 7개월 단축(전체 사업기간의 10%)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386296">
                <a:tc rowSpan="2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국민체감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서비스개선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조직·인력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국내 기업 최초 초순수 운영관리 사업 진출에 따라 전문성을 갖춘 전담 조직 신설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공백없는 시설운영(인수인계, 시운전 등 사전수행)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386296">
                <a:tc v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/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프로세스 개선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산업단지 계획단계부터 인프라(용수, 전력 등) 사전 검토 가이드라인 마련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산단 입주에 맞춘 적기 물공급으로 기업 니즈 충족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541096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수도서비스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안전관리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프로세스 개선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수도시설에 맞는 안전기준 집약(5천건 → 522개 항목), 표준작업절차서 131종 마련, 자회사 안전인력 확충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국가 상수도 안전 표준 제시 및 산업재해 저감 기여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 Placeholder 1"/>
          <p:cNvSpPr>
            <a:spLocks noGrp="1"/>
          </p:cNvSpPr>
          <p:nvPr>
            <p:ph type="body" idx="13" sz="quarter"/>
          </p:nvPr>
        </p:nvSpPr>
        <p:spPr/>
        <p:txBody>
          <a:bodyPr/>
          <a:lstStyle/>
          <a:p>
            <a:r>
              <a:t>4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4" sz="quarter"/>
          </p:nvPr>
        </p:nvSpPr>
        <p:spPr/>
        <p:txBody>
          <a:bodyPr/>
          <a:lstStyle/>
          <a:p>
            <a:r>
              <a:t>Ⅰ. 경영관리 범주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5" sz="quarter"/>
          </p:nvPr>
        </p:nvSpPr>
        <p:spPr/>
        <p:txBody>
          <a:bodyPr/>
          <a:lstStyle/>
          <a:p>
            <a:r>
              <a:t>조직 운영 및 관리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6" sz="quarter"/>
          </p:nvPr>
        </p:nvSpPr>
        <p:spPr/>
        <p:txBody>
          <a:bodyPr/>
          <a:lstStyle/>
          <a:p>
            <a:r>
              <a:t>221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idx="17" sz="quarter"/>
          </p:nvPr>
        </p:nvSpPr>
        <p:spPr/>
        <p:txBody>
          <a:bodyPr/>
          <a:lstStyle/>
          <a:p>
            <a:r>
              <a:t>2025년도 경영실적보고서</a:t>
            </a:r>
          </a:p>
        </p:txBody>
      </p:sp>
      <p:sp>
        <p:nvSpPr>
          <p:cNvPr id="10" name="번호"/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2200" b="1" spc="-110" dirty="0">
                <a:solidFill>
                  <a:srgbClr val="FFFFFF"/>
                </a:solidFill>
                <a:latin typeface="Pretendard"/>
                <a:ea typeface="Pretendard"/>
              </a:rPr>
              <a:t>2</a:t>
            </a:r>
          </a:p>
        </p:txBody>
      </p:sp>
      <p:sp>
        <p:nvSpPr>
          <p:cNvPr id="11" name="번호 띠 제목"/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1" spc="-75" dirty="0">
                <a:solidFill>
                  <a:srgbClr val="000359"/>
                </a:solidFill>
                <a:latin typeface="Pretendard"/>
                <a:ea typeface="Pretendard"/>
              </a:rPr>
              <a:t>대국민 서비스 질 제고 및 공공성 강화 노력</a:t>
            </a:r>
          </a:p>
        </p:txBody>
      </p:sp>
      <p:sp>
        <p:nvSpPr>
          <p:cNvPr id="13" name="소제목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대국민 서비스 질 제고 노력</a:t>
            </a:r>
          </a:p>
        </p:txBody>
      </p:sp>
      <p:graphicFrame>
        <p:nvGraphicFramePr>
          <p:cNvPr id="14" name="실적표"/>
          <p:cNvGraphicFramePr>
            <a:graphicFrameLocks noGrp="1"/>
          </p:cNvGraphicFramePr>
          <p:nvPr/>
        </p:nvGraphicFramePr>
        <p:xfrm>
          <a:off x="536870" y="1522957"/>
          <a:ext cx="6300001" cy="1216175"/>
        </p:xfrm>
        <a:graphic>
          <a:graphicData uri="http://schemas.openxmlformats.org/drawingml/2006/table">
            <a:tbl>
              <a:tblPr/>
              <a:tblGrid>
                <a:gridCol w="662870"/>
                <a:gridCol w="624522"/>
                <a:gridCol w="5012609"/>
              </a:tblGrid>
              <a:tr h="230087">
                <a:tc gridSpan="2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대상사업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주요내용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성과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</a:tr>
              <a:tr h="24652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수돗물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공급혁신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계절별 수질 취약요소 관리강화로 국민체감도가 높은 냄새, 망간 등을 불검출 수준 관리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이상수질 증가에도 역대 최고 국민기대수질 98.3% 달성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포용적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물복지 강화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현장에서 접속, 민원 일괄처리가 가능한 One-Stop 모바일 지방상수도 업무처리 시스템 구축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수도 민원 신속 응대로 국민 편의성 제고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국민체감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서비스개선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10년간 요금동결 등 재정적 어려움에도 급수 취약지역 해소, 사회적 배려계층 지원 확대 등 국민 고충 해결 노력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보편적 물 수혜확대와 물 복지 사각지대 해소기여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수도서비스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안전관리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노후 상수도관 신속정비, AI 활용 누수관리 강화 등을 통해 국민 불안이 높은 싱크홀 예방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K-water 관리 상수도관 관련 싱크홀 제로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6" name="소제목"/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1" spc="-60" dirty="0">
                <a:solidFill>
                  <a:srgbClr val="000359"/>
                </a:solidFill>
                <a:latin typeface="Pretendard"/>
                <a:ea typeface="Pretendard"/>
              </a:rPr>
              <a:t>공공성 강화 노력</a:t>
            </a:r>
          </a:p>
        </p:txBody>
      </p:sp>
      <p:graphicFrame>
        <p:nvGraphicFramePr>
          <p:cNvPr id="17" name="실적표"/>
          <p:cNvGraphicFramePr>
            <a:graphicFrameLocks noGrp="1"/>
          </p:cNvGraphicFramePr>
          <p:nvPr/>
        </p:nvGraphicFramePr>
        <p:xfrm>
          <a:off x="536870" y="3188348"/>
          <a:ext cx="6300001" cy="1216175"/>
        </p:xfrm>
        <a:graphic>
          <a:graphicData uri="http://schemas.openxmlformats.org/drawingml/2006/table">
            <a:tbl>
              <a:tblPr/>
              <a:tblGrid>
                <a:gridCol w="662870"/>
                <a:gridCol w="624522"/>
                <a:gridCol w="5012609"/>
              </a:tblGrid>
              <a:tr h="230087">
                <a:tc gridSpan="2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대상사업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주요내용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성과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BDE0FF"/>
                    </a:solidFill>
                  </a:tcPr>
                </a:tc>
              </a:tr>
              <a:tr h="24652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수돗물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공급혁신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글로벌 선도 AI정수장 기술 민간기업 기술이전 활성화로 국내 물산업 육성 및 공적 역할 강화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기술이전 35건으로 중소기업 동반성장 도모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포용적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물복지 강화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산불·가뭄 등 재난 시 피해복구 지원, 수질검사, 정수처리 컨설팅 등 총력지원으로 물 공급 조기 정상화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재난피해 6개 지자체, 22만여명 국민의 빠른 일상회복에 기여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국민체감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서비스개선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초순수 R&amp;D 민관 합동 수행을 통한 기술 자립으로 민간 기업의 사업확장과 기술경쟁력 제고 도모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국가 전략산업(반도체) 기반 강화 및 동반성장 도모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46522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수도서비스</a:t>
                      </a:r>
                    </a:p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안전관리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b="1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맨홀 단차에 의한 차량 사고 예방과 실시간 누수감지로 침수사고 예방 등 시민재해 예방활동 적극 추진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DEEE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1000" spc="-50" dirty="0">
                          <a:solidFill>
                            <a:srgbClr val="000359"/>
                          </a:solidFill>
                          <a:latin typeface="Pretendard"/>
                          <a:ea typeface="Pretendard"/>
                        </a:rPr>
                        <a:t>국민생활 밀접 수도시설 관리 강화로 안전한 일상 보장</a:t>
                      </a:r>
                    </a:p>
                  </a:txBody>
                  <a:tcPr marL="36000" marR="36000" marT="7200" marB="7200" anchor="ctr">
                    <a:lnL w="9525" cap="flat" cmpd="sng" algn="ctr">
                      <a:solidFill>
                        <a:srgbClr val="BDE0FF"/>
                      </a:solidFill>
                      <a:prstDash val="solid"/>
                    </a:lnL>
                    <a:lnR w="9525" cap="flat" cmpd="sng" algn="ctr">
                      <a:solidFill>
                        <a:srgbClr val="BDE0FF"/>
                      </a:solidFill>
                      <a:prstDash val="solid"/>
                    </a:lnR>
                    <a:lnT w="9525" cap="flat" cmpd="sng" algn="ctr">
                      <a:solidFill>
                        <a:srgbClr val="BDE0FF"/>
                      </a:solidFill>
                      <a:prstDash val="solid"/>
                    </a:lnT>
                    <a:lnB w="9525" cap="flat" cmpd="sng" algn="ctr">
                      <a:solidFill>
                        <a:srgbClr val="BDE0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KORAD 경영평가">
      <a:dk1>
        <a:srgbClr val="000359"/>
      </a:dk1>
      <a:lt1>
        <a:srgbClr val="FFFFFF"/>
      </a:lt1>
      <a:dk2>
        <a:srgbClr val="001A7A"/>
      </a:dk2>
      <a:lt2>
        <a:srgbClr val="E6F4FF"/>
      </a:lt2>
      <a:accent1>
        <a:srgbClr val="008EFF"/>
      </a:accent1>
      <a:accent2>
        <a:srgbClr val="00A4A8"/>
      </a:accent2>
      <a:accent3>
        <a:srgbClr val="0051BC"/>
      </a:accent3>
      <a:accent4>
        <a:srgbClr val="30C2FF"/>
      </a:accent4>
      <a:accent5>
        <a:srgbClr val="00BE83"/>
      </a:accent5>
      <a:accent6>
        <a:srgbClr val="FBAE40"/>
      </a:accent6>
      <a:hlink>
        <a:srgbClr val="0061DE"/>
      </a:hlink>
      <a:folHlink>
        <a:srgbClr val="5D7280"/>
      </a:folHlink>
    </a:clrScheme>
    <a:fontScheme name="Pretendard">
      <a:majorFont>
        <a:latin typeface="Pretendard"/>
        <a:ea typeface="Pretendard"/>
        <a:cs typeface=""/>
        <a:font script="Jpan" typeface="ＭＳ Ｐゴシック"/>
        <a:font script="Hang" typeface="Pretendard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Pretendard"/>
        <a:ea typeface="Pretendard"/>
        <a:cs typeface=""/>
        <a:font script="Jpan" typeface="ＭＳ Ｐゴシック"/>
        <a:font script="Hang" typeface="Pretendard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0</Words>
  <Application>Microsoft Macintosh PowerPoint</Application>
  <PresentationFormat>On-screen Show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Steve Canny</cp:lastModifiedBy>
  <cp:revision>1</cp:revision>
  <dcterms:created xsi:type="dcterms:W3CDTF">2013-01-27T09:14:16Z</dcterms:created>
  <dcterms:modified xsi:type="dcterms:W3CDTF">2013-01-27T09:15:58Z</dcterms:modified>
  <cp:category/>
</cp:coreProperties>
</file>