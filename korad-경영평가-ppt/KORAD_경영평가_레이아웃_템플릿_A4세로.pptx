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60.xml" ContentType="application/vnd.openxmlformats-officedocument.presentationml.slideLayout+xml"/>
  <Override PartName="/ppt/slideLayouts/slideLayout261.xml" ContentType="application/vnd.openxmlformats-officedocument.presentationml.slideLayout+xml"/>
  <Override PartName="/ppt/slideLayouts/slideLayout262.xml" ContentType="application/vnd.openxmlformats-officedocument.presentationml.slideLayout+xml"/>
  <Override PartName="/ppt/slideLayouts/slideLayout263.xml" ContentType="application/vnd.openxmlformats-officedocument.presentationml.slideLayout+xml"/>
  <Override PartName="/ppt/slideLayouts/slideLayout264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  <p:sldId id="469" r:id="rId221"/>
    <p:sldId id="470" r:id="rId222"/>
    <p:sldId id="471" r:id="rId223"/>
    <p:sldId id="472" r:id="rId224"/>
    <p:sldId id="473" r:id="rId225"/>
    <p:sldId id="474" r:id="rId226"/>
    <p:sldId id="475" r:id="rId227"/>
    <p:sldId id="476" r:id="rId228"/>
    <p:sldId id="477" r:id="rId229"/>
    <p:sldId id="478" r:id="rId230"/>
    <p:sldId id="479" r:id="rId231"/>
    <p:sldId id="480" r:id="rId232"/>
    <p:sldId id="481" r:id="rId233"/>
    <p:sldId id="482" r:id="rId234"/>
    <p:sldId id="483" r:id="rId235"/>
    <p:sldId id="484" r:id="rId236"/>
    <p:sldId id="485" r:id="rId237"/>
    <p:sldId id="486" r:id="rId238"/>
    <p:sldId id="487" r:id="rId239"/>
    <p:sldId id="488" r:id="rId240"/>
    <p:sldId id="489" r:id="rId241"/>
    <p:sldId id="490" r:id="rId242"/>
    <p:sldId id="491" r:id="rId243"/>
    <p:sldId id="492" r:id="rId244"/>
    <p:sldId id="493" r:id="rId245"/>
    <p:sldId id="494" r:id="rId246"/>
    <p:sldId id="495" r:id="rId247"/>
    <p:sldId id="496" r:id="rId248"/>
    <p:sldId id="497" r:id="rId249"/>
    <p:sldId id="498" r:id="rId250"/>
    <p:sldId id="499" r:id="rId251"/>
    <p:sldId id="500" r:id="rId252"/>
    <p:sldId id="501" r:id="rId253"/>
    <p:sldId id="502" r:id="rId254"/>
    <p:sldId id="503" r:id="rId255"/>
    <p:sldId id="504" r:id="rId256"/>
    <p:sldId id="505" r:id="rId257"/>
    <p:sldId id="506" r:id="rId258"/>
    <p:sldId id="507" r:id="rId259"/>
    <p:sldId id="508" r:id="rId260"/>
    <p:sldId id="509" r:id="rId261"/>
    <p:sldId id="510" r:id="rId262"/>
    <p:sldId id="511" r:id="rId263"/>
    <p:sldId id="512" r:id="rId264"/>
    <p:sldId id="513" r:id="rId265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Relationship Id="rId221" Type="http://schemas.openxmlformats.org/officeDocument/2006/relationships/slide" Target="slides/slide214.xml"/><Relationship Id="rId222" Type="http://schemas.openxmlformats.org/officeDocument/2006/relationships/slide" Target="slides/slide215.xml"/><Relationship Id="rId223" Type="http://schemas.openxmlformats.org/officeDocument/2006/relationships/slide" Target="slides/slide216.xml"/><Relationship Id="rId224" Type="http://schemas.openxmlformats.org/officeDocument/2006/relationships/slide" Target="slides/slide217.xml"/><Relationship Id="rId225" Type="http://schemas.openxmlformats.org/officeDocument/2006/relationships/slide" Target="slides/slide218.xml"/><Relationship Id="rId226" Type="http://schemas.openxmlformats.org/officeDocument/2006/relationships/slide" Target="slides/slide219.xml"/><Relationship Id="rId227" Type="http://schemas.openxmlformats.org/officeDocument/2006/relationships/slide" Target="slides/slide220.xml"/><Relationship Id="rId228" Type="http://schemas.openxmlformats.org/officeDocument/2006/relationships/slide" Target="slides/slide221.xml"/><Relationship Id="rId229" Type="http://schemas.openxmlformats.org/officeDocument/2006/relationships/slide" Target="slides/slide222.xml"/><Relationship Id="rId230" Type="http://schemas.openxmlformats.org/officeDocument/2006/relationships/slide" Target="slides/slide22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Relationship Id="rId250" Type="http://schemas.openxmlformats.org/officeDocument/2006/relationships/slide" Target="slides/slide243.xml"/><Relationship Id="rId251" Type="http://schemas.openxmlformats.org/officeDocument/2006/relationships/slide" Target="slides/slide244.xml"/><Relationship Id="rId252" Type="http://schemas.openxmlformats.org/officeDocument/2006/relationships/slide" Target="slides/slide245.xml"/><Relationship Id="rId253" Type="http://schemas.openxmlformats.org/officeDocument/2006/relationships/slide" Target="slides/slide246.xml"/><Relationship Id="rId254" Type="http://schemas.openxmlformats.org/officeDocument/2006/relationships/slide" Target="slides/slide247.xml"/><Relationship Id="rId255" Type="http://schemas.openxmlformats.org/officeDocument/2006/relationships/slide" Target="slides/slide248.xml"/><Relationship Id="rId256" Type="http://schemas.openxmlformats.org/officeDocument/2006/relationships/slide" Target="slides/slide249.xml"/><Relationship Id="rId257" Type="http://schemas.openxmlformats.org/officeDocument/2006/relationships/slide" Target="slides/slide250.xml"/><Relationship Id="rId258" Type="http://schemas.openxmlformats.org/officeDocument/2006/relationships/slide" Target="slides/slide251.xml"/><Relationship Id="rId259" Type="http://schemas.openxmlformats.org/officeDocument/2006/relationships/slide" Target="slides/slide252.xml"/><Relationship Id="rId260" Type="http://schemas.openxmlformats.org/officeDocument/2006/relationships/slide" Target="slides/slide253.xml"/><Relationship Id="rId261" Type="http://schemas.openxmlformats.org/officeDocument/2006/relationships/slide" Target="slides/slide254.xml"/><Relationship Id="rId262" Type="http://schemas.openxmlformats.org/officeDocument/2006/relationships/slide" Target="slides/slide255.xml"/><Relationship Id="rId263" Type="http://schemas.openxmlformats.org/officeDocument/2006/relationships/slide" Target="slides/slide256.xml"/><Relationship Id="rId264" Type="http://schemas.openxmlformats.org/officeDocument/2006/relationships/slide" Target="slides/slide257.xml"/><Relationship Id="rId265" Type="http://schemas.openxmlformats.org/officeDocument/2006/relationships/slide" Target="slides/slide2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_rels/notesSlide2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0.xml"/></Relationships>
</file>

<file path=ppt/notesSlides/_rels/notesSlide2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1.xml"/></Relationships>
</file>

<file path=ppt/notesSlides/_rels/notesSlide2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2.xml"/></Relationships>
</file>

<file path=ppt/notesSlides/_rels/notesSlide2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3.xml"/></Relationships>
</file>

<file path=ppt/notesSlides/_rels/notesSlide2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4.xml"/></Relationships>
</file>

<file path=ppt/notesSlides/_rels/notesSlide2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5.xml"/></Relationships>
</file>

<file path=ppt/notesSlides/_rels/notesSlide2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6.xml"/></Relationships>
</file>

<file path=ppt/notesSlides/_rels/notesSlide2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7.xml"/></Relationships>
</file>

<file path=ppt/notesSlides/_rels/notesSlide2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9 서사 · 주요사업 정의 및 평가대상 사업 선정(설립목적 → 비전 → 전략 → 주요사업 정의·대표성 → 평가대상사업 → 성과목표·지표·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7761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8" name="단계"/>
          <p:cNvSpPr/>
          <p:nvPr/>
        </p:nvSpPr>
        <p:spPr>
          <a:xfrm>
            <a:off x="1161391" y="115591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20" name="단계"/>
          <p:cNvSpPr/>
          <p:nvPr/>
        </p:nvSpPr>
        <p:spPr>
          <a:xfrm>
            <a:off x="2291009" y="115591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2291009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22" name="단계"/>
          <p:cNvSpPr/>
          <p:nvPr/>
        </p:nvSpPr>
        <p:spPr>
          <a:xfrm>
            <a:off x="3420626" y="115591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420626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24" name="단계"/>
          <p:cNvSpPr/>
          <p:nvPr/>
        </p:nvSpPr>
        <p:spPr>
          <a:xfrm>
            <a:off x="4550243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550243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26" name="단계"/>
          <p:cNvSpPr/>
          <p:nvPr/>
        </p:nvSpPr>
        <p:spPr>
          <a:xfrm>
            <a:off x="5679861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67986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291008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42062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55024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5679860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2301965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4"/>
          <p:cNvCxnSpPr/>
          <p:nvPr/>
        </p:nvCxnSpPr>
        <p:spPr>
          <a:xfrm flipV="1">
            <a:off x="2291009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3431583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6"/>
          <p:cNvCxnSpPr/>
          <p:nvPr/>
        </p:nvCxnSpPr>
        <p:spPr>
          <a:xfrm flipV="1">
            <a:off x="3420626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4561200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8"/>
          <p:cNvCxnSpPr/>
          <p:nvPr/>
        </p:nvCxnSpPr>
        <p:spPr>
          <a:xfrm flipV="1">
            <a:off x="4550243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5690817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30"/>
          <p:cNvCxnSpPr/>
          <p:nvPr/>
        </p:nvCxnSpPr>
        <p:spPr>
          <a:xfrm flipV="1">
            <a:off x="5679861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15586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1959965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599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8" name="배너"/>
          <p:cNvSpPr/>
          <p:nvPr/>
        </p:nvSpPr>
        <p:spPr>
          <a:xfrm>
            <a:off x="1161391" y="19818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818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50" name="레일"/>
          <p:cNvSpPr/>
          <p:nvPr/>
        </p:nvSpPr>
        <p:spPr>
          <a:xfrm>
            <a:off x="547826" y="23846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46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2406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2406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2406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240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2406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 txBox="1"/>
          <p:nvPr/>
        </p:nvSpPr>
        <p:spPr>
          <a:xfrm>
            <a:off x="1172348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1" name="칸 본문"/>
          <p:cNvSpPr txBox="1"/>
          <p:nvPr/>
        </p:nvSpPr>
        <p:spPr>
          <a:xfrm>
            <a:off x="3055043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2" name="Connector 44"/>
          <p:cNvCxnSpPr/>
          <p:nvPr/>
        </p:nvCxnSpPr>
        <p:spPr>
          <a:xfrm flipV="1">
            <a:off x="3044087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4937739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6"/>
          <p:cNvCxnSpPr/>
          <p:nvPr/>
        </p:nvCxnSpPr>
        <p:spPr>
          <a:xfrm flipV="1">
            <a:off x="4926783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2809252"/>
            <a:ext cx="580696" cy="84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809252"/>
            <a:ext cx="580696" cy="84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3670904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3670904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3692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3692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2"/>
          </p:nvPr>
        </p:nvSpPr>
        <p:spPr>
          <a:xfrm>
            <a:off x="3044087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3692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43"/>
          </p:nvPr>
        </p:nvSpPr>
        <p:spPr>
          <a:xfrm>
            <a:off x="4926783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3692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3692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 txBox="1"/>
          <p:nvPr/>
        </p:nvSpPr>
        <p:spPr>
          <a:xfrm>
            <a:off x="1172348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3" name="칸 본문"/>
          <p:cNvSpPr txBox="1"/>
          <p:nvPr/>
        </p:nvSpPr>
        <p:spPr>
          <a:xfrm>
            <a:off x="3055043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4" name="Connector 61"/>
          <p:cNvCxnSpPr/>
          <p:nvPr/>
        </p:nvCxnSpPr>
        <p:spPr>
          <a:xfrm flipV="1">
            <a:off x="3044087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37739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6" name="Connector 63"/>
          <p:cNvCxnSpPr/>
          <p:nvPr/>
        </p:nvCxnSpPr>
        <p:spPr>
          <a:xfrm flipV="1">
            <a:off x="4926783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4095548"/>
            <a:ext cx="580696" cy="723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95548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89" name="배너"/>
          <p:cNvSpPr/>
          <p:nvPr/>
        </p:nvSpPr>
        <p:spPr>
          <a:xfrm>
            <a:off x="1161391" y="41174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0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1174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91" name="머리칸"/>
          <p:cNvSpPr/>
          <p:nvPr/>
        </p:nvSpPr>
        <p:spPr>
          <a:xfrm>
            <a:off x="1161391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93" name="머리칸"/>
          <p:cNvSpPr/>
          <p:nvPr/>
        </p:nvSpPr>
        <p:spPr>
          <a:xfrm>
            <a:off x="3044087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47"/>
          </p:nvPr>
        </p:nvSpPr>
        <p:spPr>
          <a:xfrm>
            <a:off x="3044087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95" name="머리칸"/>
          <p:cNvSpPr/>
          <p:nvPr/>
        </p:nvSpPr>
        <p:spPr>
          <a:xfrm>
            <a:off x="4926783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48"/>
          </p:nvPr>
        </p:nvSpPr>
        <p:spPr>
          <a:xfrm>
            <a:off x="4926783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044087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4926783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547826" y="4835113"/>
            <a:ext cx="580696" cy="73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835113"/>
            <a:ext cx="580696" cy="73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4" name="배너"/>
          <p:cNvSpPr/>
          <p:nvPr/>
        </p:nvSpPr>
        <p:spPr>
          <a:xfrm>
            <a:off x="1161391" y="4857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배너"/>
          <p:cNvSpPr>
            <a:spLocks noGrp="1"/>
          </p:cNvSpPr>
          <p:nvPr>
            <p:ph type="body" sz="quarter" idx="53"/>
          </p:nvPr>
        </p:nvSpPr>
        <p:spPr>
          <a:xfrm>
            <a:off x="1161391" y="4857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106" name="단계"/>
          <p:cNvSpPr/>
          <p:nvPr/>
        </p:nvSpPr>
        <p:spPr>
          <a:xfrm>
            <a:off x="1161391" y="50925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108" name="단계"/>
          <p:cNvSpPr/>
          <p:nvPr/>
        </p:nvSpPr>
        <p:spPr>
          <a:xfrm>
            <a:off x="2573413" y="50925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9" name="단계"/>
          <p:cNvSpPr>
            <a:spLocks noGrp="1"/>
          </p:cNvSpPr>
          <p:nvPr>
            <p:ph type="body" sz="quarter" idx="55"/>
          </p:nvPr>
        </p:nvSpPr>
        <p:spPr>
          <a:xfrm>
            <a:off x="2573413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110" name="단계"/>
          <p:cNvSpPr/>
          <p:nvPr/>
        </p:nvSpPr>
        <p:spPr>
          <a:xfrm>
            <a:off x="3985435" y="50925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1" name="단계"/>
          <p:cNvSpPr>
            <a:spLocks noGrp="1"/>
          </p:cNvSpPr>
          <p:nvPr>
            <p:ph type="body" sz="quarter" idx="56"/>
          </p:nvPr>
        </p:nvSpPr>
        <p:spPr>
          <a:xfrm>
            <a:off x="3985435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112" name="단계"/>
          <p:cNvSpPr/>
          <p:nvPr/>
        </p:nvSpPr>
        <p:spPr>
          <a:xfrm>
            <a:off x="5397457" y="50925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57"/>
          </p:nvPr>
        </p:nvSpPr>
        <p:spPr>
          <a:xfrm>
            <a:off x="5397457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114" name="단계 삼각형"/>
          <p:cNvSpPr/>
          <p:nvPr/>
        </p:nvSpPr>
        <p:spPr>
          <a:xfrm>
            <a:off x="2573413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단계 삼각형"/>
          <p:cNvSpPr/>
          <p:nvPr/>
        </p:nvSpPr>
        <p:spPr>
          <a:xfrm>
            <a:off x="3985434" y="50925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단계 삼각형"/>
          <p:cNvSpPr/>
          <p:nvPr/>
        </p:nvSpPr>
        <p:spPr>
          <a:xfrm>
            <a:off x="5397456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59"/>
          </p:nvPr>
        </p:nvSpPr>
        <p:spPr>
          <a:xfrm>
            <a:off x="2584370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cxnSp>
        <p:nvCxnSpPr>
          <p:cNvPr id="119" name="Connector 85"/>
          <p:cNvCxnSpPr/>
          <p:nvPr/>
        </p:nvCxnSpPr>
        <p:spPr>
          <a:xfrm>
            <a:off x="2573413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칸 본문"/>
          <p:cNvSpPr>
            <a:spLocks noGrp="1"/>
          </p:cNvSpPr>
          <p:nvPr>
            <p:ph type="body" sz="quarter" idx="60"/>
          </p:nvPr>
        </p:nvSpPr>
        <p:spPr>
          <a:xfrm>
            <a:off x="3996391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cxnSp>
        <p:nvCxnSpPr>
          <p:cNvPr id="121" name="Connector 87"/>
          <p:cNvCxnSpPr/>
          <p:nvPr/>
        </p:nvCxnSpPr>
        <p:spPr>
          <a:xfrm>
            <a:off x="3985435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2" name="칸 본문"/>
          <p:cNvSpPr>
            <a:spLocks noGrp="1"/>
          </p:cNvSpPr>
          <p:nvPr>
            <p:ph type="body" sz="quarter" idx="61"/>
          </p:nvPr>
        </p:nvSpPr>
        <p:spPr>
          <a:xfrm>
            <a:off x="5408413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cxnSp>
        <p:nvCxnSpPr>
          <p:cNvPr id="123" name="Connector 89"/>
          <p:cNvCxnSpPr/>
          <p:nvPr/>
        </p:nvCxnSpPr>
        <p:spPr>
          <a:xfrm>
            <a:off x="5397457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4" name="레일"/>
          <p:cNvSpPr/>
          <p:nvPr/>
        </p:nvSpPr>
        <p:spPr>
          <a:xfrm>
            <a:off x="547826" y="5585635"/>
            <a:ext cx="580696" cy="519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558563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64"/>
          </p:nvPr>
        </p:nvSpPr>
        <p:spPr>
          <a:xfrm>
            <a:off x="2584370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66"/>
          </p:nvPr>
        </p:nvSpPr>
        <p:spPr>
          <a:xfrm>
            <a:off x="5408413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6121252"/>
            <a:ext cx="580696" cy="1000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6121252"/>
            <a:ext cx="580696" cy="1000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69"/>
          </p:nvPr>
        </p:nvSpPr>
        <p:spPr>
          <a:xfrm>
            <a:off x="2584370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cxnSp>
        <p:nvCxnSpPr>
          <p:cNvPr id="137" name="Connector 101"/>
          <p:cNvCxnSpPr/>
          <p:nvPr/>
        </p:nvCxnSpPr>
        <p:spPr>
          <a:xfrm>
            <a:off x="2573413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cxnSp>
        <p:nvCxnSpPr>
          <p:cNvPr id="139" name="Connector 103"/>
          <p:cNvCxnSpPr/>
          <p:nvPr/>
        </p:nvCxnSpPr>
        <p:spPr>
          <a:xfrm>
            <a:off x="3985435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71"/>
          </p:nvPr>
        </p:nvSpPr>
        <p:spPr>
          <a:xfrm>
            <a:off x="5408413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cxnSp>
        <p:nvCxnSpPr>
          <p:cNvPr id="141" name="Connector 105"/>
          <p:cNvCxnSpPr/>
          <p:nvPr/>
        </p:nvCxnSpPr>
        <p:spPr>
          <a:xfrm>
            <a:off x="5397457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47826" y="7137704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137704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44" name="레일 삼각형"/>
          <p:cNvSpPr/>
          <p:nvPr/>
        </p:nvSpPr>
        <p:spPr>
          <a:xfrm>
            <a:off x="547826" y="71377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73"/>
          </p:nvPr>
        </p:nvSpPr>
        <p:spPr>
          <a:xfrm>
            <a:off x="1172348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74"/>
          </p:nvPr>
        </p:nvSpPr>
        <p:spPr>
          <a:xfrm>
            <a:off x="2584370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cxnSp>
        <p:nvCxnSpPr>
          <p:cNvPr id="147" name="Connector 110"/>
          <p:cNvCxnSpPr/>
          <p:nvPr/>
        </p:nvCxnSpPr>
        <p:spPr>
          <a:xfrm>
            <a:off x="2573413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cxnSp>
        <p:nvCxnSpPr>
          <p:cNvPr id="149" name="Connector 112"/>
          <p:cNvCxnSpPr/>
          <p:nvPr/>
        </p:nvCxnSpPr>
        <p:spPr>
          <a:xfrm>
            <a:off x="3985435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0" name="칸 본문"/>
          <p:cNvSpPr>
            <a:spLocks noGrp="1"/>
          </p:cNvSpPr>
          <p:nvPr>
            <p:ph type="body" sz="quarter" idx="76"/>
          </p:nvPr>
        </p:nvSpPr>
        <p:spPr>
          <a:xfrm>
            <a:off x="5408413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  <p:cxnSp>
        <p:nvCxnSpPr>
          <p:cNvPr id="151" name="Connector 114"/>
          <p:cNvCxnSpPr/>
          <p:nvPr/>
        </p:nvCxnSpPr>
        <p:spPr>
          <a:xfrm>
            <a:off x="5397457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0 서사 · 경영환경 변화를 반영한 성과목표 정의(4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226997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1 서사 · 성과지표 개발·선정(검토 4단계 띠 → 지표 pool 적합성 평가표 → 변경 사유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444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281913"/>
            <a:ext cx="36442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413391"/>
            <a:ext cx="6300000" cy="135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429826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451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9" name="단계"/>
          <p:cNvSpPr/>
          <p:nvPr/>
        </p:nvSpPr>
        <p:spPr>
          <a:xfrm>
            <a:off x="2573413" y="1451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21" name="단계"/>
          <p:cNvSpPr/>
          <p:nvPr/>
        </p:nvSpPr>
        <p:spPr>
          <a:xfrm>
            <a:off x="3985435" y="1451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23" name="단계"/>
          <p:cNvSpPr/>
          <p:nvPr/>
        </p:nvSpPr>
        <p:spPr>
          <a:xfrm>
            <a:off x="5397457" y="1451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73413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85434" y="145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7456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573413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5397457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2 서사 · 전략과제에 따른 평가대상 사업별 중장기계획(연도 3구간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651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3 서사 · 자원배분 계획(기본방향 → 재무예산 배분표 → 조직·인력 배분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709217"/>
            <a:ext cx="11108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5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840696"/>
            <a:ext cx="6300000" cy="1939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85713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791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791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7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cxnSp>
        <p:nvCxnSpPr>
          <p:cNvPr id="38" name="Connector 29"/>
          <p:cNvCxnSpPr/>
          <p:nvPr/>
        </p:nvCxnSpPr>
        <p:spPr>
          <a:xfrm>
            <a:off x="3044087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224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24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224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3044087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cxnSp>
        <p:nvCxnSpPr>
          <p:cNvPr id="48" name="Connector 38"/>
          <p:cNvCxnSpPr/>
          <p:nvPr/>
        </p:nvCxnSpPr>
        <p:spPr>
          <a:xfrm>
            <a:off x="4926783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형광 밑줄"/>
          <p:cNvSpPr/>
          <p:nvPr/>
        </p:nvSpPr>
        <p:spPr>
          <a:xfrm>
            <a:off x="536870" y="4054070"/>
            <a:ext cx="18697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소제목"/>
          <p:cNvSpPr>
            <a:spLocks noGrp="1"/>
          </p:cNvSpPr>
          <p:nvPr>
            <p:ph type="body" sz="quarter" idx="39"/>
          </p:nvPr>
        </p:nvSpPr>
        <p:spPr>
          <a:xfrm>
            <a:off x="536870" y="39006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sp>
        <p:nvSpPr>
          <p:cNvPr id="51" name="형광 밑줄"/>
          <p:cNvSpPr/>
          <p:nvPr/>
        </p:nvSpPr>
        <p:spPr>
          <a:xfrm>
            <a:off x="536870" y="5881304"/>
            <a:ext cx="17810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소제목"/>
          <p:cNvSpPr>
            <a:spLocks noGrp="1"/>
          </p:cNvSpPr>
          <p:nvPr>
            <p:ph type="body" sz="quarter" idx="40"/>
          </p:nvPr>
        </p:nvSpPr>
        <p:spPr>
          <a:xfrm>
            <a:off x="536870" y="572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4 서사 · 모니터링 및 평가 계획(성과지표 · 주기 · 모니터링 방법 표 → 평가·환류 순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036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sp>
        <p:nvSpPr>
          <p:cNvPr id="11" name="표 외곽"/>
          <p:cNvSpPr/>
          <p:nvPr/>
        </p:nvSpPr>
        <p:spPr>
          <a:xfrm>
            <a:off x="723130" y="3684209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370064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37006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4" name="단계"/>
          <p:cNvSpPr/>
          <p:nvPr/>
        </p:nvSpPr>
        <p:spPr>
          <a:xfrm>
            <a:off x="1347652" y="37225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1347652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6" name="단계"/>
          <p:cNvSpPr/>
          <p:nvPr/>
        </p:nvSpPr>
        <p:spPr>
          <a:xfrm>
            <a:off x="2759674" y="37225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2759674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8" name="단계"/>
          <p:cNvSpPr/>
          <p:nvPr/>
        </p:nvSpPr>
        <p:spPr>
          <a:xfrm>
            <a:off x="4171696" y="37225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4171696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20" name="단계"/>
          <p:cNvSpPr/>
          <p:nvPr/>
        </p:nvSpPr>
        <p:spPr>
          <a:xfrm>
            <a:off x="5583717" y="37225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583717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759673" y="3722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4171695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583717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 txBox="1"/>
          <p:nvPr/>
        </p:nvSpPr>
        <p:spPr>
          <a:xfrm>
            <a:off x="1358609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26" name="칸 본문"/>
          <p:cNvSpPr txBox="1"/>
          <p:nvPr/>
        </p:nvSpPr>
        <p:spPr>
          <a:xfrm>
            <a:off x="2770630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7" name="Connector 17"/>
          <p:cNvCxnSpPr/>
          <p:nvPr/>
        </p:nvCxnSpPr>
        <p:spPr>
          <a:xfrm flipV="1">
            <a:off x="2759674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 txBox="1"/>
          <p:nvPr/>
        </p:nvSpPr>
        <p:spPr>
          <a:xfrm>
            <a:off x="4182652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9" name="Connector 19"/>
          <p:cNvCxnSpPr/>
          <p:nvPr/>
        </p:nvCxnSpPr>
        <p:spPr>
          <a:xfrm flipV="1">
            <a:off x="4171696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5594674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1" name="Connector 21"/>
          <p:cNvCxnSpPr/>
          <p:nvPr/>
        </p:nvCxnSpPr>
        <p:spPr>
          <a:xfrm flipV="1">
            <a:off x="5583717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4125287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412528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41252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41472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41472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37" name="레일"/>
          <p:cNvSpPr/>
          <p:nvPr/>
        </p:nvSpPr>
        <p:spPr>
          <a:xfrm>
            <a:off x="734087" y="468140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46814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4681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347652" y="47033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42" name="단계"/>
          <p:cNvSpPr/>
          <p:nvPr/>
        </p:nvSpPr>
        <p:spPr>
          <a:xfrm>
            <a:off x="3230348" y="47033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44" name="단계"/>
          <p:cNvSpPr/>
          <p:nvPr/>
        </p:nvSpPr>
        <p:spPr>
          <a:xfrm>
            <a:off x="5113043" y="47033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230347" y="47033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113043" y="47033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358609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3241304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4"/>
          <p:cNvCxnSpPr/>
          <p:nvPr/>
        </p:nvCxnSpPr>
        <p:spPr>
          <a:xfrm flipV="1">
            <a:off x="3230348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5124000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6"/>
          <p:cNvCxnSpPr/>
          <p:nvPr/>
        </p:nvCxnSpPr>
        <p:spPr>
          <a:xfrm flipV="1">
            <a:off x="5113043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5 서사 · 전략 실행 원년 Action Plan(환경변화 → 로드맵 → 4대 실행계획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5208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09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2406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2406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24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2262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262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641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641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26638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26638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26638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26638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26638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3080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3080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985435" y="37266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7565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55" name="머리칸"/>
          <p:cNvSpPr/>
          <p:nvPr/>
        </p:nvSpPr>
        <p:spPr>
          <a:xfrm>
            <a:off x="1161391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3985435" y="50523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608227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60822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60822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2584370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2573413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985435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408413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5397457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6 서사 · 추진배경(현황 · 한계 두 칸 + 세부 3줄) → 개선 방향 배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349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1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1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580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7 서사 · 취약요인 개선(시사점 → 사례·한계 3칸 → 개선 방안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3403" y="920348"/>
            <a:ext cx="33363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3403" y="766957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5" name="태그칩"/>
          <p:cNvSpPr/>
          <p:nvPr/>
        </p:nvSpPr>
        <p:spPr>
          <a:xfrm>
            <a:off x="51083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083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0518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06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756000" y="1106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5"/>
          </p:nvPr>
        </p:nvSpPr>
        <p:spPr>
          <a:xfrm>
            <a:off x="1249654" y="1051826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369565"/>
            <a:ext cx="6300000" cy="2196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386000"/>
            <a:ext cx="580696" cy="1188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86000"/>
            <a:ext cx="580696" cy="1188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3044087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926783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591217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9121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591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8 서사 · 실행력 강화(시사점 → 사업비 · 사업계획 · 우선순위 재조정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350332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14" name="태그칩"/>
          <p:cNvSpPr/>
          <p:nvPr/>
        </p:nvSpPr>
        <p:spPr>
          <a:xfrm>
            <a:off x="53518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518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062782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175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175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5"/>
          </p:nvPr>
        </p:nvSpPr>
        <p:spPr>
          <a:xfrm>
            <a:off x="1435915" y="1062783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380522"/>
            <a:ext cx="6300000" cy="294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396957"/>
            <a:ext cx="580696" cy="947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96957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41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41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41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41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41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3230348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113043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36113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113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36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347652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171696" y="2656957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58174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58174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58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38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38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38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38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38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3230348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5113043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4410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426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9 서사 · AI 정수장 Step-up(필요성 → 그간의 성과 | 한번 더 혁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5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태그"/>
          <p:cNvSpPr/>
          <p:nvPr/>
        </p:nvSpPr>
        <p:spPr>
          <a:xfrm>
            <a:off x="756000" y="1172348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2"/>
          </p:nvPr>
        </p:nvSpPr>
        <p:spPr>
          <a:xfrm>
            <a:off x="756000" y="1172348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3"/>
          </p:nvPr>
        </p:nvSpPr>
        <p:spPr>
          <a:xfrm>
            <a:off x="1249654" y="1117565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24" name="머리칸"/>
          <p:cNvSpPr/>
          <p:nvPr/>
        </p:nvSpPr>
        <p:spPr>
          <a:xfrm>
            <a:off x="3985435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0 서사 · AI(정) 고도화와 기술 사업화(로드맵 → 고도화 두 패널 → 성과 → 사업화 표준선도 · 국내외 확산 →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2950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11" name="태그칩"/>
          <p:cNvSpPr/>
          <p:nvPr/>
        </p:nvSpPr>
        <p:spPr>
          <a:xfrm>
            <a:off x="46512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512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0236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0236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86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번호"/>
          <p:cNvSpPr>
            <a:spLocks noGrp="1"/>
          </p:cNvSpPr>
          <p:nvPr>
            <p:ph type="body" sz="quarter" idx="30"/>
          </p:nvPr>
        </p:nvSpPr>
        <p:spPr>
          <a:xfrm>
            <a:off x="723130" y="2043391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2" name="분야 박스"/>
          <p:cNvSpPr/>
          <p:nvPr/>
        </p:nvSpPr>
        <p:spPr>
          <a:xfrm>
            <a:off x="914248" y="207626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분야 박스"/>
          <p:cNvSpPr>
            <a:spLocks noGrp="1"/>
          </p:cNvSpPr>
          <p:nvPr>
            <p:ph type="body" sz="quarter" idx="31"/>
          </p:nvPr>
        </p:nvSpPr>
        <p:spPr>
          <a:xfrm>
            <a:off x="914248" y="207626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4" name="형광 밑줄"/>
          <p:cNvSpPr/>
          <p:nvPr/>
        </p:nvSpPr>
        <p:spPr>
          <a:xfrm>
            <a:off x="1462685" y="2196783"/>
            <a:ext cx="4566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소제목"/>
          <p:cNvSpPr>
            <a:spLocks noGrp="1"/>
          </p:cNvSpPr>
          <p:nvPr>
            <p:ph type="body" sz="quarter" idx="32"/>
          </p:nvPr>
        </p:nvSpPr>
        <p:spPr>
          <a:xfrm>
            <a:off x="1462685" y="2043391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36" name="패널 외곽"/>
          <p:cNvSpPr/>
          <p:nvPr/>
        </p:nvSpPr>
        <p:spPr>
          <a:xfrm>
            <a:off x="723130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패널 머리"/>
          <p:cNvSpPr/>
          <p:nvPr/>
        </p:nvSpPr>
        <p:spPr>
          <a:xfrm>
            <a:off x="723130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패널 머리"/>
          <p:cNvSpPr>
            <a:spLocks noGrp="1"/>
          </p:cNvSpPr>
          <p:nvPr>
            <p:ph type="body" sz="quarter" idx="33"/>
          </p:nvPr>
        </p:nvSpPr>
        <p:spPr>
          <a:xfrm>
            <a:off x="723130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34"/>
          </p:nvPr>
        </p:nvSpPr>
        <p:spPr>
          <a:xfrm>
            <a:off x="745043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40" name="요약 바"/>
          <p:cNvSpPr/>
          <p:nvPr/>
        </p:nvSpPr>
        <p:spPr>
          <a:xfrm>
            <a:off x="745043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요약 바"/>
          <p:cNvSpPr>
            <a:spLocks noGrp="1"/>
          </p:cNvSpPr>
          <p:nvPr>
            <p:ph type="body" sz="quarter" idx="35"/>
          </p:nvPr>
        </p:nvSpPr>
        <p:spPr>
          <a:xfrm>
            <a:off x="745043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42" name="패널 외곽"/>
          <p:cNvSpPr/>
          <p:nvPr/>
        </p:nvSpPr>
        <p:spPr>
          <a:xfrm>
            <a:off x="3895043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3895043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3895043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3916957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46" name="요약 바"/>
          <p:cNvSpPr/>
          <p:nvPr/>
        </p:nvSpPr>
        <p:spPr>
          <a:xfrm>
            <a:off x="3916957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요약 바"/>
          <p:cNvSpPr>
            <a:spLocks noGrp="1"/>
          </p:cNvSpPr>
          <p:nvPr>
            <p:ph type="body" sz="quarter" idx="38"/>
          </p:nvPr>
        </p:nvSpPr>
        <p:spPr>
          <a:xfrm>
            <a:off x="3916957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723130" y="3412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429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52" name="번호"/>
          <p:cNvSpPr>
            <a:spLocks noGrp="1"/>
          </p:cNvSpPr>
          <p:nvPr>
            <p:ph type="body" sz="quarter" idx="41"/>
          </p:nvPr>
        </p:nvSpPr>
        <p:spPr>
          <a:xfrm>
            <a:off x="723130" y="384495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53" name="분야 박스"/>
          <p:cNvSpPr/>
          <p:nvPr/>
        </p:nvSpPr>
        <p:spPr>
          <a:xfrm>
            <a:off x="914248" y="3877826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분야 박스"/>
          <p:cNvSpPr>
            <a:spLocks noGrp="1"/>
          </p:cNvSpPr>
          <p:nvPr>
            <p:ph type="body" sz="quarter" idx="42"/>
          </p:nvPr>
        </p:nvSpPr>
        <p:spPr>
          <a:xfrm>
            <a:off x="914248" y="3877826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55" name="형광 밑줄"/>
          <p:cNvSpPr/>
          <p:nvPr/>
        </p:nvSpPr>
        <p:spPr>
          <a:xfrm>
            <a:off x="1462685" y="3998348"/>
            <a:ext cx="43819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소제목"/>
          <p:cNvSpPr>
            <a:spLocks noGrp="1"/>
          </p:cNvSpPr>
          <p:nvPr>
            <p:ph type="body" sz="quarter" idx="43"/>
          </p:nvPr>
        </p:nvSpPr>
        <p:spPr>
          <a:xfrm>
            <a:off x="1462685" y="3844957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57" name="표 외곽"/>
          <p:cNvSpPr/>
          <p:nvPr/>
        </p:nvSpPr>
        <p:spPr>
          <a:xfrm>
            <a:off x="723130" y="4129826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734087" y="4146261"/>
            <a:ext cx="580696" cy="936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4146261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60" name="머리칸"/>
          <p:cNvSpPr/>
          <p:nvPr/>
        </p:nvSpPr>
        <p:spPr>
          <a:xfrm>
            <a:off x="1347652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62" name="머리칸"/>
          <p:cNvSpPr/>
          <p:nvPr/>
        </p:nvSpPr>
        <p:spPr>
          <a:xfrm>
            <a:off x="3230348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6"/>
          </p:nvPr>
        </p:nvSpPr>
        <p:spPr>
          <a:xfrm>
            <a:off x="3230348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64" name="머리칸"/>
          <p:cNvSpPr/>
          <p:nvPr/>
        </p:nvSpPr>
        <p:spPr>
          <a:xfrm>
            <a:off x="5113043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7"/>
          </p:nvPr>
        </p:nvSpPr>
        <p:spPr>
          <a:xfrm>
            <a:off x="5113043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cxnSp>
        <p:nvCxnSpPr>
          <p:cNvPr id="68" name="Connector 45"/>
          <p:cNvCxnSpPr/>
          <p:nvPr/>
        </p:nvCxnSpPr>
        <p:spPr>
          <a:xfrm>
            <a:off x="3230348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cxnSp>
        <p:nvCxnSpPr>
          <p:cNvPr id="70" name="Connector 47"/>
          <p:cNvCxnSpPr/>
          <p:nvPr/>
        </p:nvCxnSpPr>
        <p:spPr>
          <a:xfrm>
            <a:off x="5113043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734087" y="509947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09947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734086" y="509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머리칸"/>
          <p:cNvSpPr/>
          <p:nvPr/>
        </p:nvSpPr>
        <p:spPr>
          <a:xfrm>
            <a:off x="1347652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76" name="머리칸"/>
          <p:cNvSpPr/>
          <p:nvPr/>
        </p:nvSpPr>
        <p:spPr>
          <a:xfrm>
            <a:off x="3230348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78" name="머리칸"/>
          <p:cNvSpPr/>
          <p:nvPr/>
        </p:nvSpPr>
        <p:spPr>
          <a:xfrm>
            <a:off x="5113043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cxnSp>
        <p:nvCxnSpPr>
          <p:cNvPr id="82" name="Connector 55"/>
          <p:cNvCxnSpPr/>
          <p:nvPr/>
        </p:nvCxnSpPr>
        <p:spPr>
          <a:xfrm>
            <a:off x="3230348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cxnSp>
        <p:nvCxnSpPr>
          <p:cNvPr id="84" name="Connector 57"/>
          <p:cNvCxnSpPr/>
          <p:nvPr/>
        </p:nvCxnSpPr>
        <p:spPr>
          <a:xfrm>
            <a:off x="5113043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핵심성과 박스"/>
          <p:cNvSpPr/>
          <p:nvPr/>
        </p:nvSpPr>
        <p:spPr>
          <a:xfrm>
            <a:off x="723130" y="6140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핵심성과 라벨"/>
          <p:cNvSpPr/>
          <p:nvPr/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7" name="핵심성과 라벨"/>
          <p:cNvSpPr>
            <a:spLocks noGrp="1"/>
          </p:cNvSpPr>
          <p:nvPr>
            <p:ph type="body" sz="quarter" idx="58"/>
          </p:nvPr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8" name="핵심성과 문구"/>
          <p:cNvSpPr>
            <a:spLocks noGrp="1"/>
          </p:cNvSpPr>
          <p:nvPr>
            <p:ph type="body" sz="quarter" idx="59"/>
          </p:nvPr>
        </p:nvSpPr>
        <p:spPr>
          <a:xfrm>
            <a:off x="1501043" y="6156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1 서사 · 수도 AX 슬로건 도약(AI 전환계획: 목표·비전·공정 → 로드맵 → 주요과제 → AI 개발성과 4카드 → 특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54411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12" name="태그칩"/>
          <p:cNvSpPr/>
          <p:nvPr/>
        </p:nvSpPr>
        <p:spPr>
          <a:xfrm>
            <a:off x="6076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6076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727987" y="1161391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727987" y="1161391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40364" y="1281913"/>
            <a:ext cx="433235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40364" y="1128522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3314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699670"/>
            <a:ext cx="580696" cy="1627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9670"/>
            <a:ext cx="580696" cy="162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96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172158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9" name="단계"/>
          <p:cNvSpPr/>
          <p:nvPr/>
        </p:nvSpPr>
        <p:spPr>
          <a:xfrm>
            <a:off x="2291009" y="172158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291009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31" name="단계"/>
          <p:cNvSpPr/>
          <p:nvPr/>
        </p:nvSpPr>
        <p:spPr>
          <a:xfrm>
            <a:off x="3420626" y="172158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420626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33" name="단계"/>
          <p:cNvSpPr/>
          <p:nvPr/>
        </p:nvSpPr>
        <p:spPr>
          <a:xfrm>
            <a:off x="4550243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550243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35" name="단계"/>
          <p:cNvSpPr/>
          <p:nvPr/>
        </p:nvSpPr>
        <p:spPr>
          <a:xfrm>
            <a:off x="5679861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67986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291008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3420626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550243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5679860" y="17215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 txBox="1"/>
          <p:nvPr/>
        </p:nvSpPr>
        <p:spPr>
          <a:xfrm>
            <a:off x="1172348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2" name="칸 본문"/>
          <p:cNvSpPr txBox="1"/>
          <p:nvPr/>
        </p:nvSpPr>
        <p:spPr>
          <a:xfrm>
            <a:off x="2301965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3" name="Connector 29"/>
          <p:cNvCxnSpPr/>
          <p:nvPr/>
        </p:nvCxnSpPr>
        <p:spPr>
          <a:xfrm flipV="1">
            <a:off x="2291009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 txBox="1"/>
          <p:nvPr/>
        </p:nvSpPr>
        <p:spPr>
          <a:xfrm>
            <a:off x="3431583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31"/>
          <p:cNvCxnSpPr/>
          <p:nvPr/>
        </p:nvCxnSpPr>
        <p:spPr>
          <a:xfrm flipV="1">
            <a:off x="3420626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4561200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3"/>
          <p:cNvCxnSpPr/>
          <p:nvPr/>
        </p:nvCxnSpPr>
        <p:spPr>
          <a:xfrm flipV="1">
            <a:off x="4550243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 txBox="1"/>
          <p:nvPr/>
        </p:nvSpPr>
        <p:spPr>
          <a:xfrm>
            <a:off x="5690817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9" name="Connector 35"/>
          <p:cNvCxnSpPr/>
          <p:nvPr/>
        </p:nvCxnSpPr>
        <p:spPr>
          <a:xfrm flipV="1">
            <a:off x="5679861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44800"/>
            <a:ext cx="451408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51" name="사진 칸"/>
          <p:cNvSpPr/>
          <p:nvPr/>
        </p:nvSpPr>
        <p:spPr>
          <a:xfrm>
            <a:off x="5730261" y="2050278"/>
            <a:ext cx="1079217" cy="1029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2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50278"/>
            <a:ext cx="1079217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53" name="배너"/>
          <p:cNvSpPr/>
          <p:nvPr/>
        </p:nvSpPr>
        <p:spPr>
          <a:xfrm>
            <a:off x="1161391" y="310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310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55" name="레일"/>
          <p:cNvSpPr/>
          <p:nvPr/>
        </p:nvSpPr>
        <p:spPr>
          <a:xfrm>
            <a:off x="547826" y="3343148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343148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단계"/>
          <p:cNvSpPr/>
          <p:nvPr/>
        </p:nvSpPr>
        <p:spPr>
          <a:xfrm>
            <a:off x="1161391" y="336506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59" name="단계"/>
          <p:cNvSpPr/>
          <p:nvPr/>
        </p:nvSpPr>
        <p:spPr>
          <a:xfrm>
            <a:off x="2573413" y="336506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61" name="단계"/>
          <p:cNvSpPr/>
          <p:nvPr/>
        </p:nvSpPr>
        <p:spPr>
          <a:xfrm>
            <a:off x="3985435" y="336506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63" name="단계"/>
          <p:cNvSpPr/>
          <p:nvPr/>
        </p:nvSpPr>
        <p:spPr>
          <a:xfrm>
            <a:off x="5397457" y="336506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2573413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3985434" y="33650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397456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2573413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3985435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cxnSp>
        <p:nvCxnSpPr>
          <p:cNvPr id="74" name="Connector 53"/>
          <p:cNvCxnSpPr/>
          <p:nvPr/>
        </p:nvCxnSpPr>
        <p:spPr>
          <a:xfrm>
            <a:off x="5397457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41362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1362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547826" y="41362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7"/>
          </p:nvPr>
        </p:nvSpPr>
        <p:spPr>
          <a:xfrm>
            <a:off x="3996391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3985435" y="41910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번호"/>
          <p:cNvSpPr>
            <a:spLocks noGrp="1"/>
          </p:cNvSpPr>
          <p:nvPr>
            <p:ph type="body" sz="quarter" idx="48"/>
          </p:nvPr>
        </p:nvSpPr>
        <p:spPr>
          <a:xfrm>
            <a:off x="536870" y="484841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82" name="분야 박스"/>
          <p:cNvSpPr/>
          <p:nvPr/>
        </p:nvSpPr>
        <p:spPr>
          <a:xfrm>
            <a:off x="727987" y="4881287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분야 박스"/>
          <p:cNvSpPr>
            <a:spLocks noGrp="1"/>
          </p:cNvSpPr>
          <p:nvPr>
            <p:ph type="body" sz="quarter" idx="49"/>
          </p:nvPr>
        </p:nvSpPr>
        <p:spPr>
          <a:xfrm>
            <a:off x="727987" y="4881287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84" name="형광 밑줄"/>
          <p:cNvSpPr/>
          <p:nvPr/>
        </p:nvSpPr>
        <p:spPr>
          <a:xfrm>
            <a:off x="1540364" y="5001809"/>
            <a:ext cx="38047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소제목"/>
          <p:cNvSpPr>
            <a:spLocks noGrp="1"/>
          </p:cNvSpPr>
          <p:nvPr>
            <p:ph type="body" sz="quarter" idx="50"/>
          </p:nvPr>
        </p:nvSpPr>
        <p:spPr>
          <a:xfrm>
            <a:off x="1540364" y="4848417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86" name="아이콘 칸"/>
          <p:cNvSpPr/>
          <p:nvPr/>
        </p:nvSpPr>
        <p:spPr>
          <a:xfrm>
            <a:off x="536870" y="51880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87" name="태그"/>
          <p:cNvSpPr/>
          <p:nvPr/>
        </p:nvSpPr>
        <p:spPr>
          <a:xfrm>
            <a:off x="756000" y="5188070"/>
            <a:ext cx="43701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5188070"/>
            <a:ext cx="43701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89" name="그룹 제목"/>
          <p:cNvSpPr>
            <a:spLocks noGrp="1"/>
          </p:cNvSpPr>
          <p:nvPr>
            <p:ph type="body" sz="quarter" idx="52"/>
          </p:nvPr>
        </p:nvSpPr>
        <p:spPr>
          <a:xfrm>
            <a:off x="1236836" y="5166157"/>
            <a:ext cx="557812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90" name="그룹 틀"/>
          <p:cNvSpPr/>
          <p:nvPr/>
        </p:nvSpPr>
        <p:spPr>
          <a:xfrm>
            <a:off x="536870" y="54072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카드 머리"/>
          <p:cNvSpPr/>
          <p:nvPr/>
        </p:nvSpPr>
        <p:spPr>
          <a:xfrm>
            <a:off x="569739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태그"/>
          <p:cNvSpPr/>
          <p:nvPr/>
        </p:nvSpPr>
        <p:spPr>
          <a:xfrm>
            <a:off x="613565" y="5451026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5451026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94" name="카드 제목"/>
          <p:cNvSpPr>
            <a:spLocks noGrp="1"/>
          </p:cNvSpPr>
          <p:nvPr>
            <p:ph type="body" sz="quarter" idx="54"/>
          </p:nvPr>
        </p:nvSpPr>
        <p:spPr>
          <a:xfrm>
            <a:off x="1239478" y="5429113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95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3675913" y="54619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카드 머리"/>
          <p:cNvSpPr/>
          <p:nvPr/>
        </p:nvSpPr>
        <p:spPr>
          <a:xfrm>
            <a:off x="3686870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태그"/>
          <p:cNvSpPr/>
          <p:nvPr/>
        </p:nvSpPr>
        <p:spPr>
          <a:xfrm>
            <a:off x="3730696" y="5451026"/>
            <a:ext cx="27626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태그"/>
          <p:cNvSpPr>
            <a:spLocks noGrp="1"/>
          </p:cNvSpPr>
          <p:nvPr>
            <p:ph type="body" sz="quarter" idx="56"/>
          </p:nvPr>
        </p:nvSpPr>
        <p:spPr>
          <a:xfrm>
            <a:off x="3730696" y="5451026"/>
            <a:ext cx="27626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100" name="카드 제목"/>
          <p:cNvSpPr>
            <a:spLocks noGrp="1"/>
          </p:cNvSpPr>
          <p:nvPr>
            <p:ph type="body" sz="quarter" idx="57"/>
          </p:nvPr>
        </p:nvSpPr>
        <p:spPr>
          <a:xfrm>
            <a:off x="4039828" y="5429113"/>
            <a:ext cx="272034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101" name="카드 본문"/>
          <p:cNvSpPr>
            <a:spLocks noGrp="1"/>
          </p:cNvSpPr>
          <p:nvPr>
            <p:ph type="body" sz="quarter" idx="58"/>
          </p:nvPr>
        </p:nvSpPr>
        <p:spPr>
          <a:xfrm>
            <a:off x="3686870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102" name="카드 머리"/>
          <p:cNvSpPr/>
          <p:nvPr/>
        </p:nvSpPr>
        <p:spPr>
          <a:xfrm>
            <a:off x="569739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태그"/>
          <p:cNvSpPr/>
          <p:nvPr/>
        </p:nvSpPr>
        <p:spPr>
          <a:xfrm>
            <a:off x="613565" y="6546678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04" name="태그"/>
          <p:cNvSpPr>
            <a:spLocks noGrp="1"/>
          </p:cNvSpPr>
          <p:nvPr>
            <p:ph type="body" sz="quarter" idx="59"/>
          </p:nvPr>
        </p:nvSpPr>
        <p:spPr>
          <a:xfrm>
            <a:off x="613565" y="6546678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105" name="카드 제목"/>
          <p:cNvSpPr>
            <a:spLocks noGrp="1"/>
          </p:cNvSpPr>
          <p:nvPr>
            <p:ph type="body" sz="quarter" idx="60"/>
          </p:nvPr>
        </p:nvSpPr>
        <p:spPr>
          <a:xfrm>
            <a:off x="1239478" y="6524765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106" name="카드 본문"/>
          <p:cNvSpPr>
            <a:spLocks noGrp="1"/>
          </p:cNvSpPr>
          <p:nvPr>
            <p:ph type="body" sz="quarter" idx="61"/>
          </p:nvPr>
        </p:nvSpPr>
        <p:spPr>
          <a:xfrm>
            <a:off x="569739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675913" y="65576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카드 머리"/>
          <p:cNvSpPr/>
          <p:nvPr/>
        </p:nvSpPr>
        <p:spPr>
          <a:xfrm>
            <a:off x="3686870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태그"/>
          <p:cNvSpPr/>
          <p:nvPr/>
        </p:nvSpPr>
        <p:spPr>
          <a:xfrm>
            <a:off x="3730696" y="6546678"/>
            <a:ext cx="76408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태그"/>
          <p:cNvSpPr>
            <a:spLocks noGrp="1"/>
          </p:cNvSpPr>
          <p:nvPr>
            <p:ph type="body" sz="quarter" idx="62"/>
          </p:nvPr>
        </p:nvSpPr>
        <p:spPr>
          <a:xfrm>
            <a:off x="3730696" y="6546678"/>
            <a:ext cx="76408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111" name="카드 제목"/>
          <p:cNvSpPr>
            <a:spLocks noGrp="1"/>
          </p:cNvSpPr>
          <p:nvPr>
            <p:ph type="body" sz="quarter" idx="63"/>
          </p:nvPr>
        </p:nvSpPr>
        <p:spPr>
          <a:xfrm>
            <a:off x="4527648" y="6524765"/>
            <a:ext cx="223252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112" name="카드 본문"/>
          <p:cNvSpPr>
            <a:spLocks noGrp="1"/>
          </p:cNvSpPr>
          <p:nvPr>
            <p:ph type="body" sz="quarter" idx="64"/>
          </p:nvPr>
        </p:nvSpPr>
        <p:spPr>
          <a:xfrm>
            <a:off x="3686870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113" name="틀"/>
          <p:cNvSpPr/>
          <p:nvPr/>
        </p:nvSpPr>
        <p:spPr>
          <a:xfrm>
            <a:off x="536870" y="7740939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775189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5"/>
          </p:nvPr>
        </p:nvSpPr>
        <p:spPr>
          <a:xfrm>
            <a:off x="547826" y="775189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777380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6"/>
          </p:nvPr>
        </p:nvSpPr>
        <p:spPr>
          <a:xfrm>
            <a:off x="1172348" y="777380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67"/>
          </p:nvPr>
        </p:nvSpPr>
        <p:spPr>
          <a:xfrm>
            <a:off x="1194261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120" name="카드"/>
          <p:cNvSpPr/>
          <p:nvPr/>
        </p:nvSpPr>
        <p:spPr>
          <a:xfrm>
            <a:off x="259121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카드 문구"/>
          <p:cNvSpPr>
            <a:spLocks noGrp="1"/>
          </p:cNvSpPr>
          <p:nvPr>
            <p:ph type="body" sz="quarter" idx="68"/>
          </p:nvPr>
        </p:nvSpPr>
        <p:spPr>
          <a:xfrm>
            <a:off x="261313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122" name="카드"/>
          <p:cNvSpPr/>
          <p:nvPr/>
        </p:nvSpPr>
        <p:spPr>
          <a:xfrm>
            <a:off x="401008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카드 문구"/>
          <p:cNvSpPr>
            <a:spLocks noGrp="1"/>
          </p:cNvSpPr>
          <p:nvPr>
            <p:ph type="body" sz="quarter" idx="69"/>
          </p:nvPr>
        </p:nvSpPr>
        <p:spPr>
          <a:xfrm>
            <a:off x="403200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124" name="카드"/>
          <p:cNvSpPr/>
          <p:nvPr/>
        </p:nvSpPr>
        <p:spPr>
          <a:xfrm>
            <a:off x="542895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카드 문구"/>
          <p:cNvSpPr>
            <a:spLocks noGrp="1"/>
          </p:cNvSpPr>
          <p:nvPr>
            <p:ph type="body" sz="quarter" idx="70"/>
          </p:nvPr>
        </p:nvSpPr>
        <p:spPr>
          <a:xfrm>
            <a:off x="545087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2 서사 · 기후리스크 · 정책강화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9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722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722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7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4174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3 서사 · 국민기대수질(체감도 높은 5대 항목 → 계절별 취약요소 4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5" name="태그칩"/>
          <p:cNvSpPr/>
          <p:nvPr/>
        </p:nvSpPr>
        <p:spPr>
          <a:xfrm>
            <a:off x="55532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32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2865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881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4 서사 · 인프라 강화(정수 · 배출수 × 기존 → 추진실적 → 개선계획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41728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14" name="태그칩"/>
          <p:cNvSpPr/>
          <p:nvPr/>
        </p:nvSpPr>
        <p:spPr>
          <a:xfrm>
            <a:off x="602138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602138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166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핵심성과 박스"/>
          <p:cNvSpPr/>
          <p:nvPr/>
        </p:nvSpPr>
        <p:spPr>
          <a:xfrm>
            <a:off x="723130" y="2317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333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5 서사 · 규제대비 PFAS OUT 로드맵(과불화화합물 4대 대응 → 고도처리 핵심자원 활성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6727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5" name="태그칩"/>
          <p:cNvSpPr/>
          <p:nvPr/>
        </p:nvSpPr>
        <p:spPr>
          <a:xfrm>
            <a:off x="51959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959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2799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76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76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237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237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23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6 서사 · 현황 분석(두 칸 + 시사점) → 개선 방향(기존 → 개선, 연도 3단 + 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46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배너"/>
          <p:cNvSpPr/>
          <p:nvPr/>
        </p:nvSpPr>
        <p:spPr>
          <a:xfrm>
            <a:off x="1347652" y="1566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66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07826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07826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0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347652" y="1829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829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829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829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829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7 서사 · 운영 고도화 인프라(’24 디지털·저에너지 → ’25 지능형 AI → 추진실적 3칸 → 신규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679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5" name="태그칩"/>
          <p:cNvSpPr/>
          <p:nvPr/>
        </p:nvSpPr>
        <p:spPr>
          <a:xfrm>
            <a:off x="53418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3418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3985435" y="136408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96783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96783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96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32" name="머리칸"/>
          <p:cNvSpPr/>
          <p:nvPr/>
        </p:nvSpPr>
        <p:spPr>
          <a:xfrm>
            <a:off x="3044087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926783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044087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4926783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12957"/>
            <a:ext cx="580696" cy="92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12957"/>
            <a:ext cx="580696" cy="92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1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46" name="머리칸"/>
          <p:cNvSpPr/>
          <p:nvPr/>
        </p:nvSpPr>
        <p:spPr>
          <a:xfrm>
            <a:off x="3044087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48" name="머리칸"/>
          <p:cNvSpPr/>
          <p:nvPr/>
        </p:nvSpPr>
        <p:spPr>
          <a:xfrm>
            <a:off x="4926783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044087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926783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8 서사 · 자산관리 확대 K-AMS(성과와 한계 | 활용과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859664" y="931304"/>
            <a:ext cx="35981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859664" y="777913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55640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55640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610752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0752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451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141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141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cxnSp>
        <p:nvCxnSpPr>
          <p:cNvPr id="27" name="Connector 15"/>
          <p:cNvCxnSpPr/>
          <p:nvPr/>
        </p:nvCxnSpPr>
        <p:spPr>
          <a:xfrm>
            <a:off x="4171696" y="1375043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핵심성과 박스"/>
          <p:cNvSpPr/>
          <p:nvPr/>
        </p:nvSpPr>
        <p:spPr>
          <a:xfrm>
            <a:off x="723130" y="2602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핵심성과 라벨"/>
          <p:cNvSpPr/>
          <p:nvPr/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0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618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9 서사 · Restart 추진전략 재정립(4대 분야 전략 → 그간의 성과 → 환경변화 → 로드맵 재정립 → 4대 실행과제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7016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20" name="머리칸"/>
          <p:cNvSpPr/>
          <p:nvPr/>
        </p:nvSpPr>
        <p:spPr>
          <a:xfrm>
            <a:off x="2573413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5397457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257341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539745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94478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9447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985435" y="1999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2500904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00904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044087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4926783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3311687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31168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4" name="배너"/>
          <p:cNvSpPr/>
          <p:nvPr/>
        </p:nvSpPr>
        <p:spPr>
          <a:xfrm>
            <a:off x="1161391" y="3333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333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56" name="레일"/>
          <p:cNvSpPr/>
          <p:nvPr/>
        </p:nvSpPr>
        <p:spPr>
          <a:xfrm>
            <a:off x="547826" y="3581530"/>
            <a:ext cx="580696" cy="827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581530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58" name="단계"/>
          <p:cNvSpPr/>
          <p:nvPr/>
        </p:nvSpPr>
        <p:spPr>
          <a:xfrm>
            <a:off x="1161391" y="36034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4"/>
          </p:nvPr>
        </p:nvSpPr>
        <p:spPr>
          <a:xfrm>
            <a:off x="1161391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36034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5"/>
          </p:nvPr>
        </p:nvSpPr>
        <p:spPr>
          <a:xfrm>
            <a:off x="3044087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36034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6"/>
          </p:nvPr>
        </p:nvSpPr>
        <p:spPr>
          <a:xfrm>
            <a:off x="4926783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36034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36034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cxnSp>
        <p:nvCxnSpPr>
          <p:cNvPr id="68" name="Connector 48"/>
          <p:cNvCxnSpPr/>
          <p:nvPr/>
        </p:nvCxnSpPr>
        <p:spPr>
          <a:xfrm>
            <a:off x="3044087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926783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4425183"/>
            <a:ext cx="580696" cy="162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4425183"/>
            <a:ext cx="580696" cy="162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2"/>
          </p:nvPr>
        </p:nvSpPr>
        <p:spPr>
          <a:xfrm>
            <a:off x="3985435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4"/>
          </p:nvPr>
        </p:nvSpPr>
        <p:spPr>
          <a:xfrm>
            <a:off x="3996391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985435" y="47210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칸"/>
          <p:cNvSpPr/>
          <p:nvPr/>
        </p:nvSpPr>
        <p:spPr>
          <a:xfrm>
            <a:off x="1161391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82" name="머리칸"/>
          <p:cNvSpPr/>
          <p:nvPr/>
        </p:nvSpPr>
        <p:spPr>
          <a:xfrm>
            <a:off x="3985435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6"/>
          </p:nvPr>
        </p:nvSpPr>
        <p:spPr>
          <a:xfrm>
            <a:off x="3985435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8"/>
          </p:nvPr>
        </p:nvSpPr>
        <p:spPr>
          <a:xfrm>
            <a:off x="3996391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cxnSp>
        <p:nvCxnSpPr>
          <p:cNvPr id="86" name="Connector 61"/>
          <p:cNvCxnSpPr/>
          <p:nvPr/>
        </p:nvCxnSpPr>
        <p:spPr>
          <a:xfrm>
            <a:off x="3985435" y="5526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606318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06318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606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61"/>
          </p:nvPr>
        </p:nvSpPr>
        <p:spPr>
          <a:xfrm>
            <a:off x="2584370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2573413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칸 본문"/>
          <p:cNvSpPr>
            <a:spLocks noGrp="1"/>
          </p:cNvSpPr>
          <p:nvPr>
            <p:ph type="body" sz="quarter" idx="62"/>
          </p:nvPr>
        </p:nvSpPr>
        <p:spPr>
          <a:xfrm>
            <a:off x="3996391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cxnSp>
        <p:nvCxnSpPr>
          <p:cNvPr id="94" name="Connector 68"/>
          <p:cNvCxnSpPr/>
          <p:nvPr/>
        </p:nvCxnSpPr>
        <p:spPr>
          <a:xfrm>
            <a:off x="3985435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3"/>
          </p:nvPr>
        </p:nvSpPr>
        <p:spPr>
          <a:xfrm>
            <a:off x="5408413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  <p:cxnSp>
        <p:nvCxnSpPr>
          <p:cNvPr id="96" name="Connector 70"/>
          <p:cNvCxnSpPr/>
          <p:nvPr/>
        </p:nvCxnSpPr>
        <p:spPr>
          <a:xfrm>
            <a:off x="5397457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0 서사 · 스마트 기술 기반 운영관리 혁신(운영관리 혁신 2칸 → 시사점 → AI 전환 로드맵 → AI 기술 개발·실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954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11" name="태그칩"/>
          <p:cNvSpPr/>
          <p:nvPr/>
        </p:nvSpPr>
        <p:spPr>
          <a:xfrm>
            <a:off x="51171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171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4581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2477583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7583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4994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4994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4994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4994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4994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cxnSp>
        <p:nvCxnSpPr>
          <p:cNvPr id="40" name="Connector 24"/>
          <p:cNvCxnSpPr/>
          <p:nvPr/>
        </p:nvCxnSpPr>
        <p:spPr>
          <a:xfrm>
            <a:off x="3230348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5113043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452713"/>
            <a:ext cx="580696" cy="1051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4527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4527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배너"/>
          <p:cNvSpPr/>
          <p:nvPr/>
        </p:nvSpPr>
        <p:spPr>
          <a:xfrm>
            <a:off x="1347652" y="34746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4746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1 서사 · 글로벌 수질기준을 충족하는 수돗물 품질관리(실태조사 → VOC · 수질이슈 두 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863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502179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2179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7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핵심성과 박스"/>
          <p:cNvSpPr/>
          <p:nvPr/>
        </p:nvSpPr>
        <p:spPr>
          <a:xfrm>
            <a:off x="536870" y="2717217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핵심성과 라벨"/>
          <p:cNvSpPr/>
          <p:nvPr/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8" name="핵심성과 라벨"/>
          <p:cNvSpPr>
            <a:spLocks noGrp="1"/>
          </p:cNvSpPr>
          <p:nvPr>
            <p:ph type="body" sz="quarter" idx="28"/>
          </p:nvPr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29"/>
          </p:nvPr>
        </p:nvSpPr>
        <p:spPr>
          <a:xfrm>
            <a:off x="1314783" y="2733652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2 서사 · 규모는 키우고 효율성은 높여 서비스 격차 해소(신규협약 지자체 맞춤형 모델 → 수행체계 효율성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003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492205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2205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47317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47317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0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6405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6405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2640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cxnSp>
        <p:nvCxnSpPr>
          <p:cNvPr id="36" name="Connector 21"/>
          <p:cNvCxnSpPr/>
          <p:nvPr/>
        </p:nvCxnSpPr>
        <p:spPr>
          <a:xfrm>
            <a:off x="4171696" y="29363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핵심성과 박스"/>
          <p:cNvSpPr/>
          <p:nvPr/>
        </p:nvSpPr>
        <p:spPr>
          <a:xfrm>
            <a:off x="723130" y="405391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408678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08678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075826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3 서사 · SWNM 기술 표준화 및 Biz모델 개발을 통한 글로벌 진출(SWNM 정의 → 기술 표준화 · 맞춤형 Biz모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1348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4896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4896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80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77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325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83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35130"/>
            <a:ext cx="451408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9" name="사진 칸"/>
          <p:cNvSpPr/>
          <p:nvPr/>
        </p:nvSpPr>
        <p:spPr>
          <a:xfrm>
            <a:off x="5730261" y="2240609"/>
            <a:ext cx="1079217" cy="591652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30"/>
          </p:nvPr>
        </p:nvSpPr>
        <p:spPr>
          <a:xfrm>
            <a:off x="5730261" y="2240609"/>
            <a:ext cx="1079217" cy="591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536870" y="2947304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963739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4 서사 · 국가적 재난 속 지원군(경북산불 · 강릉가뭄 지원: 위기 상황 → 비상 대응 → 대응 성과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470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11" name="태그칩"/>
          <p:cNvSpPr/>
          <p:nvPr/>
        </p:nvSpPr>
        <p:spPr>
          <a:xfrm>
            <a:off x="484644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4644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39756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39756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6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35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454261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454261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454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2476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476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2711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2711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2711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271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271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3230348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cxnSp>
        <p:nvCxnSpPr>
          <p:cNvPr id="50" name="Connector 32"/>
          <p:cNvCxnSpPr/>
          <p:nvPr/>
        </p:nvCxnSpPr>
        <p:spPr>
          <a:xfrm>
            <a:off x="5113043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723130" y="3916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33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5 서사 · 전국 수도사업자 기술지원 시스템 개선(위기대응 강화 · 선제적 기술지원 각 두 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419633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19633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747451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47451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68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9009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9009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900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9678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53687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6 서사 · 국민체감서비스 정의 → 환경변화 → 발굴과정 → 니즈 도출 → 실행과제 → 추진성과(5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974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9" name="레일"/>
          <p:cNvSpPr/>
          <p:nvPr/>
        </p:nvSpPr>
        <p:spPr>
          <a:xfrm>
            <a:off x="734087" y="15696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696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915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915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19709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9709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22667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606400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064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37" name="머리칸"/>
          <p:cNvSpPr/>
          <p:nvPr/>
        </p:nvSpPr>
        <p:spPr>
          <a:xfrm>
            <a:off x="3230348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39" name="머리칸"/>
          <p:cNvSpPr/>
          <p:nvPr/>
        </p:nvSpPr>
        <p:spPr>
          <a:xfrm>
            <a:off x="5113043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cxnSp>
        <p:nvCxnSpPr>
          <p:cNvPr id="43" name="Connector 26"/>
          <p:cNvCxnSpPr/>
          <p:nvPr/>
        </p:nvCxnSpPr>
        <p:spPr>
          <a:xfrm>
            <a:off x="3230348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5113043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07617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076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4008835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400883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6"/>
          </p:nvPr>
        </p:nvSpPr>
        <p:spPr>
          <a:xfrm>
            <a:off x="1347652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3230348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5113043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cxnSp>
        <p:nvCxnSpPr>
          <p:cNvPr id="69" name="Connector 44"/>
          <p:cNvCxnSpPr/>
          <p:nvPr/>
        </p:nvCxnSpPr>
        <p:spPr>
          <a:xfrm>
            <a:off x="3230348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cxnSp>
        <p:nvCxnSpPr>
          <p:cNvPr id="71" name="Connector 46"/>
          <p:cNvCxnSpPr/>
          <p:nvPr/>
        </p:nvCxnSpPr>
        <p:spPr>
          <a:xfrm>
            <a:off x="5113043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734087" y="4567617"/>
            <a:ext cx="580696" cy="519183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567617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2488226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cxnSp>
        <p:nvCxnSpPr>
          <p:cNvPr id="76" name="Connector 50"/>
          <p:cNvCxnSpPr/>
          <p:nvPr/>
        </p:nvCxnSpPr>
        <p:spPr>
          <a:xfrm>
            <a:off x="2477270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3617843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cxnSp>
        <p:nvCxnSpPr>
          <p:cNvPr id="78" name="Connector 52"/>
          <p:cNvCxnSpPr/>
          <p:nvPr/>
        </p:nvCxnSpPr>
        <p:spPr>
          <a:xfrm>
            <a:off x="3606887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6"/>
          </p:nvPr>
        </p:nvSpPr>
        <p:spPr>
          <a:xfrm>
            <a:off x="4747461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4736504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7"/>
          </p:nvPr>
        </p:nvSpPr>
        <p:spPr>
          <a:xfrm>
            <a:off x="5877078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866122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7 서사 · 실질적 도움이 되는 정보와 요금부담 완화(요금부담 경감 3칸 → 대화형 수도정보서비스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94478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44783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985435" y="2240609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핵심성과 박스"/>
          <p:cNvSpPr/>
          <p:nvPr/>
        </p:nvSpPr>
        <p:spPr>
          <a:xfrm>
            <a:off x="536870" y="3040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핵심성과 라벨"/>
          <p:cNvSpPr/>
          <p:nvPr/>
        </p:nvSpPr>
        <p:spPr>
          <a:xfrm>
            <a:off x="569739" y="3073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073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062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8 서사 · 지자체가 해결하기 어려운 물 문제(대응 방향 3칸 → 사례 4건: 배경 · 해결 · 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00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지자체가 해결하기 어려운 물 문제, K-water의 아이디어와 기술로 해결</a:t>
            </a:r>
          </a:p>
        </p:txBody>
      </p:sp>
      <p:sp>
        <p:nvSpPr>
          <p:cNvPr id="11" name="태그칩"/>
          <p:cNvSpPr/>
          <p:nvPr/>
        </p:nvSpPr>
        <p:spPr>
          <a:xfrm>
            <a:off x="503175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3175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15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지역맞춤형 대안</a:t>
            </a:r>
          </a:p>
        </p:txBody>
      </p:sp>
      <p:sp>
        <p:nvSpPr>
          <p:cNvPr id="18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</a:t>
            </a:r>
          </a:p>
        </p:txBody>
      </p:sp>
      <p:sp>
        <p:nvSpPr>
          <p:cNvPr id="20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발상의 전환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정서·니즈의 충족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댐·하천 非의존형 수원 발굴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3230348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독보적 기술의 융합·활용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5113043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1665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665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지자체의 물 관리 어려움에 때로는 해결사로! 때로는 중재자로! 맞춤형 대응</a:t>
            </a:r>
          </a:p>
        </p:txBody>
      </p:sp>
      <p:sp>
        <p:nvSpPr>
          <p:cNvPr id="29" name="레일"/>
          <p:cNvSpPr/>
          <p:nvPr/>
        </p:nvSpPr>
        <p:spPr>
          <a:xfrm>
            <a:off x="734087" y="1906435"/>
            <a:ext cx="580696" cy="1638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06435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1·2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1906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머리칸"/>
          <p:cNvSpPr/>
          <p:nvPr/>
        </p:nvSpPr>
        <p:spPr>
          <a:xfrm>
            <a:off x="1347652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대구 맑은 물 공급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 가뭄 대응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다변화(하천 복류수)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’91년 페놀사건 이후 대구시는 취수원 이전 지속 추진 중, 최근 안동댐 활용 검토 요청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現취수원 인근 복류수 도입 제안·정책화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복류수 공급사업 시행근거 확보(타당성조사 용역비 국고 45억원 반영)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인력·기술·비상식수 지원 + 대책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단일 수원 저수율 11%↓, ‘재난사태’ 선포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단기대응 지원 및 항구대책 마련·수행(운휴시설 재가동 기술지원, 지하수저류댐 건설)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가뭄 적극 대응 노력 인정, 재난관리평가 ‘국무총리 표창’(’25.12)</a:t>
            </a:r>
          </a:p>
        </p:txBody>
      </p:sp>
      <p:cxnSp>
        <p:nvCxnSpPr>
          <p:cNvPr id="38" name="Connector 23"/>
          <p:cNvCxnSpPr/>
          <p:nvPr/>
        </p:nvCxnSpPr>
        <p:spPr>
          <a:xfrm>
            <a:off x="4171696" y="2202261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560870"/>
            <a:ext cx="580696" cy="163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560870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3·4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5608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대산 산단 해수담수화 도입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 산단 공업용수 공급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다변화(해수담수화)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충남서부지역 가뭄 반복, 대산석유화학단지 공업용수 수요 증대로 만성적 물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국내최대(10만 톤/일) 해수담수화 준공(’25.12)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(대산 산단) 無限 수원 확보, (충남서부지역) 만성적 물 부족 문제 해소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첨단 수처리기술 활용, 현안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방사능 우려로 해수담수화시설(부산 기장)을 활용한 식수공급 반대로 10년간 시설 방치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해·담 시설을 하수재이용 시설로 전환, 공업용수 공급에 기술지원 및 운영 참여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동부산 산단 공업용수 공급 MOU 체결(’25.9)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4171696" y="3856696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9 서사 · 근본적 지역 물 문제 해결을 위한 물 이용 개선방안(관리체계 혁신 · 극한가뭄 대응 · 워터믹스 3칸 → 기후부 방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5306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근본적인 지역 물 문제 해결을 위한 ‘물 이용 개선방안’ 수립·정부 제안</a:t>
            </a:r>
          </a:p>
        </p:txBody>
      </p:sp>
      <p:sp>
        <p:nvSpPr>
          <p:cNvPr id="12" name="태그칩"/>
          <p:cNvSpPr/>
          <p:nvPr/>
        </p:nvSpPr>
        <p:spPr>
          <a:xfrm>
            <a:off x="468853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8853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3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0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0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이용 관리체계 혁신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극한가뭄 대응 기반 조성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워터믹스로 댐 의존도↓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국가계획 주기(5→2년), 지자체계획 연계 + 물수급협의체 신설(정부·지자체·산업)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수요변화 대응 적시성·유연성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가뭄취약지역 평가 고도화: 다양한 가뭄 시나리오, 물 수급 여건 등을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계획: 가뭄대책 반영 의무화 / 워터그리드: 기존 수원 간 연계체계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다목적댐·발전용댐·지하수저류댐·농업용저수지를 연계하는 워터믹스(watermix)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수요처별 최적 수원 연계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161391" y="2344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344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K-water가 제안한 ‘물 이용 개선방안’ 기반, 기후부 ‘물 이용 체계 혁신방안’ 수립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0 서사 · 기업니즈 → K-water 역할(번호 띠 바로 아래 한 줄 + 역할 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첨단산업 성장을 뒷받침하는 안정적인 용수공급으로 국가경쟁력 제고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패권경쟁 우위 선점은 ‘규모의 경제’와 ‘속도’가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‘용수’가 필수적인 첨단산업 기업은 신속한 인프라 확충에 갈증</a:t>
            </a:r>
          </a:p>
        </p:txBody>
      </p:sp>
      <p:sp>
        <p:nvSpPr>
          <p:cNvPr id="18" name="배너"/>
          <p:cNvSpPr/>
          <p:nvPr/>
        </p:nvSpPr>
        <p:spPr>
          <a:xfrm>
            <a:off x="723130" y="16134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태그"/>
          <p:cNvSpPr/>
          <p:nvPr/>
        </p:nvSpPr>
        <p:spPr>
          <a:xfrm>
            <a:off x="942261" y="1668209"/>
            <a:ext cx="837635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668209"/>
            <a:ext cx="837635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역할</a:t>
            </a:r>
          </a:p>
        </p:txBody>
      </p:sp>
      <p:sp>
        <p:nvSpPr>
          <p:cNvPr id="21" name="배너 글"/>
          <p:cNvSpPr>
            <a:spLocks noGrp="1"/>
          </p:cNvSpPr>
          <p:nvPr>
            <p:ph type="body" sz="quarter" idx="25"/>
          </p:nvPr>
        </p:nvSpPr>
        <p:spPr>
          <a:xfrm>
            <a:off x="1834678" y="1613426"/>
            <a:ext cx="5024105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합리적 수요산정·체계적 공급여건 마련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1 서사 · 첨단산단 최적 용수공급방안(그간의 성과 → 확대 배너 → 지방권 첨단산단 4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379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첨단산단 특성과 입지여건을 고려, 최적 용수공급방안 마련·사업 추진</a:t>
            </a:r>
          </a:p>
        </p:txBody>
      </p:sp>
      <p:sp>
        <p:nvSpPr>
          <p:cNvPr id="12" name="태그칩"/>
          <p:cNvSpPr/>
          <p:nvPr/>
        </p:nvSpPr>
        <p:spPr>
          <a:xfrm>
            <a:off x="467343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7343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43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06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정부  첨단산업 육성전략 발표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선도  용인반도체 첨단산단 조성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‘용수 확보’ 계획없이 첨단산단(27개소)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적기 인프라 구축 어려움 가중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발전댐(화천댐) 연계, 용수공급방안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반도체클러스터 용수공급 사업 신속 추진 → 국가산단(삼성), 일반산단(SK hynix) 통합기반 마련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161391" y="1950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50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확대: 용인반도체 통합용수공급방안 확정에 이어 ‘지방권 첨단산단’ 공급방안 선제적 대응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191304"/>
            <a:ext cx="580696" cy="227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91304"/>
            <a:ext cx="580696" cy="227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지방권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첨단산단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19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 클러스터(’25년 추진계획 변경)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고흥 우주항공 산단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적기 추진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관로통합: 관로위치 조정 및 3→2열로 통합, 사업비 0.25조원 절감(타당성조사 완료)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사업기간 2년 단축 + 사업비 363억원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원거리의 광역(상) 공급(사업기간 7년, 767억원) / 개선: 인근의 지방(상) 개량·공급(사업기간 5년, 404억원)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487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머리칸"/>
          <p:cNvSpPr/>
          <p:nvPr/>
        </p:nvSpPr>
        <p:spPr>
          <a:xfrm>
            <a:off x="1161391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울진 원자력수소 산단</a:t>
            </a:r>
          </a:p>
        </p:txBody>
      </p:sp>
      <p:sp>
        <p:nvSpPr>
          <p:cNvPr id="38" name="머리칸"/>
          <p:cNvSpPr/>
          <p:nvPr/>
        </p:nvSpPr>
        <p:spPr>
          <a:xfrm>
            <a:off x="3985435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울산 샤힌 프로젝트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수소원료인 물 단가 절감, 산업경쟁력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해수담수화 공급(고비용) 수요량 40천톤/일, 사업비 1,554억원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수요 재추정, 지방수원 공급활용 수요량 28천톤/일, 1,268억원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니즈 반영, 산업시설 적기 가동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첨단석유화학 플랜트 조기 가동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국가계획 반영·국고 조기 확보 → 공급시기 1년 단축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985435" y="3621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2 서사 · 산업단지 물공급 인프라 사전 검토 가이드라인(현황 분석 → 제도개선 + 추진성과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산업단지 출발은 물길부터, 물공급 인프라 사전 검토 가이드라인 마련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조성에서 얻은 교훈 → 산업단지 조성의 핵심은 ‘인프라’ 확보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현실: 先산단지정·後인프라 검토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 확보 불가시, 산단 조성에 난항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산단 계획부터 인프라를 검토하도록 ‘산업입지 수급계획 수립 국가기준’ 마련(’25.10)</a:t>
            </a:r>
          </a:p>
        </p:txBody>
      </p:sp>
      <p:sp>
        <p:nvSpPr>
          <p:cNvPr id="24" name="머리칸"/>
          <p:cNvSpPr/>
          <p:nvPr/>
        </p:nvSpPr>
        <p:spPr>
          <a:xfrm>
            <a:off x="1347652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산업입지별 용수 수요산정 방법 + 시기 제안(→국토부)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용수수요: 업종별 추정(업종별 원단위 × 부지 면적)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확보계획: 수요량 ↔ 지역 물여유량 비교(부족시 수립)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산정시기: 산업단지 조성 최초 계획 수립시 검토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17개 시·도 제5차 산업입지 수급계획 즉시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 수급계획 수립(용수·전력 인프라 검토) → 산업단지 지정 → 산업단지 계획승인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2035252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주요성과 박스"/>
          <p:cNvSpPr/>
          <p:nvPr/>
        </p:nvSpPr>
        <p:spPr>
          <a:xfrm>
            <a:off x="723130" y="282412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주요성과 라벨"/>
          <p:cNvSpPr/>
          <p:nvPr/>
        </p:nvSpPr>
        <p:spPr>
          <a:xfrm>
            <a:off x="756000" y="285699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주요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85699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34" name="주요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84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인프라 적기 구축을 통한 첨단산단의 원활한 조성으로 국가 산업경쟁력 강화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3 서사 · 니즈의 일치 → 신정부 정책 → 로드맵(초순수 3자 협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글로벌 기업이 독점한 초순수 분야, K-water 중심으로 개척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02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수요기업(반도체 등)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협력기업(시공·장비 등)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공급망 확보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개발기술 검증·실증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통합물관리 업역 확대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725652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25652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725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17475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7475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‘안정적인 반도체 초순수 공급체계 구축’으로 사업 가속화(국정과제 43 국가 경제 적응력 강화)</a:t>
            </a:r>
          </a:p>
        </p:txBody>
      </p:sp>
      <p:sp>
        <p:nvSpPr>
          <p:cNvPr id="36" name="레일"/>
          <p:cNvSpPr/>
          <p:nvPr/>
        </p:nvSpPr>
        <p:spPr>
          <a:xfrm>
            <a:off x="547826" y="21269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269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1269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1488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기술완성·사업기반조성</a:t>
            </a:r>
          </a:p>
        </p:txBody>
      </p:sp>
      <p:sp>
        <p:nvSpPr>
          <p:cNvPr id="41" name="단계"/>
          <p:cNvSpPr/>
          <p:nvPr/>
        </p:nvSpPr>
        <p:spPr>
          <a:xfrm>
            <a:off x="3044087" y="21488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성능검증·사업진출</a:t>
            </a:r>
          </a:p>
        </p:txBody>
      </p:sp>
      <p:sp>
        <p:nvSpPr>
          <p:cNvPr id="43" name="단계"/>
          <p:cNvSpPr/>
          <p:nvPr/>
        </p:nvSpPr>
        <p:spPr>
          <a:xfrm>
            <a:off x="4926783" y="21488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기술고도화·사업확대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3044086" y="21488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926782" y="21488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국산화(설계·시공·운영·장비)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사업화: 사업진출 협약 체결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實공급 기반 장기성능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운영사업 최초 진출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국산장비 고도화 R&amp;D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용인산단 통합 물서비스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4 서사 · 1차 국산화 R&amp;D 성공 → 새로운 도전(기술자립 주도: 마무리 → 참여기업 성과 → 2차 기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73035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1차 국산화 R&amp;D(’21~’25) 성공을 통한 확신, 완전 기술자립을 위한 새로운 도전</a:t>
            </a:r>
          </a:p>
        </p:txBody>
      </p:sp>
      <p:sp>
        <p:nvSpPr>
          <p:cNvPr id="11" name="태그칩"/>
          <p:cNvSpPr/>
          <p:nvPr/>
        </p:nvSpPr>
        <p:spPr>
          <a:xfrm>
            <a:off x="55520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5520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국산화 R&amp;D 성공적 마무리(’21~’25)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R&amp;D 참여기업 가시적 성과 창출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국산화 목표: 장비 70% + 설계·시공·운영 100%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SK실트론內 R&amp;D 시설 활용, 초순수 實공급 및 웨이퍼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장기운전 신뢰 검증, 노하우 축적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한성크린텍 — 설계+시공: 삼성전자 EPC사업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SAMYANG — 장비: 군산에 300억원 시설투자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SepraTek — 장비: 삼양社와 탈기막 공동사업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— 총괄+운영: R&amp;D 연계, 전문인력 양성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배너"/>
          <p:cNvSpPr/>
          <p:nvPr/>
        </p:nvSpPr>
        <p:spPr>
          <a:xfrm>
            <a:off x="1347652" y="218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성과 기반으로 2차 국산화 R&amp;D 기획(반도체급 실증플랜트 구축 + 장비 국산화 90% 확대)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5 서사 · 국가 초순수 생태계 육성 로드맵(정책선도: 국가전략 → 실행체계 → 전략-실행 연계 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637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반도체와 함께 커가는 물산업 경쟁력, 국가 초순수 생태계 육성 로드맵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9992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992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58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257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257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급부상으로 뒤늦게 발견된 ‘초순수 산업’의 가치, 국가 전략화 추진(’24.11~)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국가전략  산업 全주기 지원 청사진 제시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실행체계  초순수 산업 활성화 Action Plan 마련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정부정책, 산·학·연 니즈 분석 기반, 「국가 초순수 전략 수립」 직접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자체TF(산업용수 활성화) 운영, 국가전략과 연계한 종합 실행계획 수립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199956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자립화 및 고도화</a:t>
            </a:r>
          </a:p>
        </p:txBody>
      </p:sp>
      <p:sp>
        <p:nvSpPr>
          <p:cNvPr id="28" name="단계"/>
          <p:cNvSpPr/>
          <p:nvPr/>
        </p:nvSpPr>
        <p:spPr>
          <a:xfrm>
            <a:off x="2573413" y="199956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산업 경쟁력 강화</a:t>
            </a:r>
          </a:p>
        </p:txBody>
      </p:sp>
      <p:sp>
        <p:nvSpPr>
          <p:cNvPr id="30" name="단계"/>
          <p:cNvSpPr/>
          <p:nvPr/>
        </p:nvSpPr>
        <p:spPr>
          <a:xfrm>
            <a:off x="3985435" y="199956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시장·판로지원</a:t>
            </a:r>
          </a:p>
        </p:txBody>
      </p:sp>
      <p:sp>
        <p:nvSpPr>
          <p:cNvPr id="32" name="단계"/>
          <p:cNvSpPr/>
          <p:nvPr/>
        </p:nvSpPr>
        <p:spPr>
          <a:xfrm>
            <a:off x="5397457" y="199956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❹ 지속성장 기반구축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257341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3985434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397456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공공랩 구축 · 진단기술 확보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2584370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전문인력 양성 · 민간기업 지원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2573413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사업추진·협력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985435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5408413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국가R&amp;D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397457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6 서사 · 국내기업 최초 초순수 운영관리 사업 진출(12년 연구 → 반도체 플랜트 → 추진성과 3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모두가 불가능이라 했지만, 국내기업 최초 초순수 운영관리 사업 진출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0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476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47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초순수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사업진출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2012년 첫발을 디딘 K-water 초순수 연구, 13년만에 국내 반도체 기업의 파트너로 성장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’12년 요소기술 확보</a:t>
            </a:r>
          </a:p>
        </p:txBody>
      </p:sp>
      <p:sp>
        <p:nvSpPr>
          <p:cNvPr id="20" name="단계"/>
          <p:cNvSpPr/>
          <p:nvPr/>
        </p:nvSpPr>
        <p:spPr>
          <a:xfrm>
            <a:off x="2759674" y="133669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2759674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’21년 생산능력 검증</a:t>
            </a:r>
          </a:p>
        </p:txBody>
      </p:sp>
      <p:sp>
        <p:nvSpPr>
          <p:cNvPr id="22" name="단계"/>
          <p:cNvSpPr/>
          <p:nvPr/>
        </p:nvSpPr>
        <p:spPr>
          <a:xfrm>
            <a:off x="4171696" y="133669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사업진출</a:t>
            </a:r>
          </a:p>
        </p:txBody>
      </p:sp>
      <p:sp>
        <p:nvSpPr>
          <p:cNvPr id="24" name="단계"/>
          <p:cNvSpPr/>
          <p:nvPr/>
        </p:nvSpPr>
        <p:spPr>
          <a:xfrm>
            <a:off x="5583717" y="133669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583717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반도체 플랜트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2759673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583717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24㎥/일 → X100배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2770630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2,400㎥/일 → X10배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2759674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24,400㎥/일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5594674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HBM 반도체 수요 대응 신규공장(M15X-청주) 신설 / (3월) 실시협약 → (~12월) 인계·시운전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583717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’12~’21년 파일럿플랜트: 자체연구, 장기간 기술개발 노력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’21~’25년 실증플랜트: 국가R&amp;D, 웨이퍼 공정 實공급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3173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2730991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2747426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공공성 · 차별성 · 도전성 · 상징성: 민간기업 협력 기술자립 성공, 글로벌 유일 물공급 全기술 보유, 해외 전문기업 독점시장 진입, 국내기업 최초 운영사업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7 서사 · 수도서비스 사업특성 · 주요위험(번호 띠 없는 두 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30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30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 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562617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이동: 취수장 → 정수장 → 고객 간 물 이동을 위해 고압전기, 복잡한 설비(회전체 등) 운영. 물 공급관로·밸브설비는 지하(밀폐)에 매설, 일부구간 도심/도로 횡단(전국 5.5만㎞)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생산: 하천수 등을 수심 깊은 저수조에서 다량(중량물)의 화학물질(정수약품)을 사용, 정수 처리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429826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429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밀폐공간</a:t>
            </a:r>
          </a:p>
        </p:txBody>
      </p:sp>
      <p:sp>
        <p:nvSpPr>
          <p:cNvPr id="19" name="머리칸"/>
          <p:cNvSpPr/>
          <p:nvPr/>
        </p:nvSpPr>
        <p:spPr>
          <a:xfrm>
            <a:off x="2573413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 고위험 시설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산재된 시설</a:t>
            </a:r>
          </a:p>
        </p:txBody>
      </p:sp>
      <p:sp>
        <p:nvSpPr>
          <p:cNvPr id="23" name="머리칸"/>
          <p:cNvSpPr/>
          <p:nvPr/>
        </p:nvSpPr>
        <p:spPr>
          <a:xfrm>
            <a:off x="5397457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시민재해 요인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관로상 밸브실 등 밀폐장소(5만개) 작업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고위험(약품, 전기 등) 공정운영(2천개)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2573413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5.5만㎞ 산재로 감시와 접근 한계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싱크홀 원인의 6% 노후상수도관 파손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5397457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8 서사 · 수도 특화 안전설계기준과 맞춤형 대책(기준제정 3칸 → 위험요소 맞춤형 대책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수도 특화 안전설계기준과 맞춤형 대책으로 근로자 안전 확보</a:t>
            </a:r>
          </a:p>
        </p:txBody>
      </p:sp>
      <p:sp>
        <p:nvSpPr>
          <p:cNvPr id="11" name="태그칩"/>
          <p:cNvSpPr/>
          <p:nvPr/>
        </p:nvSpPr>
        <p:spPr>
          <a:xfrm>
            <a:off x="438259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8259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33712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33712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388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21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안전설계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준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위험요소 맞춤형 기준 제시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안전 기준 통합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확보와 확산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시설 특성·위험분석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반복지적 2천여건 분석 → 부위별 위험별 기준 제시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5천건의 안전기준 → 수도시설에 맞는 522개 항목으로 통합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표준작업절차서 131종, 안전시설 개선계획 수립(예산 80억원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확산 및 공동활용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07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07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한번에 쉽고 빠르게 찾는 안전수칙 마련과 실행·확산으로 국가 상수도 안전 표준 제시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311826"/>
            <a:ext cx="580696" cy="1123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311826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11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밀폐공간: ‘eCall’ 전사 도입 — 출입통제, 유해가스 실시간 감지, 움직임 감지 → 경보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산재: 기술과 인력으로 사각지대 최소화 — AI+CCTV, 스마트 안전장비, 자회사 안전인력 全사업소(46명)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복합설비: 위험제거·통제로 실효적 재해예방 — 보호구 4종 추가, 안전거울, 약품 자동투입설비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제도개선: 안전 최우선 가치로 발주자 역할 수행 — 안전중심 평가, 정부 총사업비지침 개정 통해 감리비 현실화(76 → 96%)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36660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9 서사 · 노후관로 선제 정비와 실시간 누수 감지(시민밀접시설 안전확보 3칸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931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노후관로 선제 정비와 실시간 누수 감지를 통한 시민의 안전한 일상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82859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2859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849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시민밀접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안전확보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노후관 정비  싱크홀 예방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누수 감지  침수사고 예방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맨홀 개선  차량사고 예방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노후관 개량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지방상수도 노후관 정비 수탁 수행·운영(116개)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수압·유량 관망해석 및 AI 활용, 실시간 누수감지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관망분석 전담인력 확대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맨홀 ↔ 도로 높낮이 차이 개선계획 수립(729개)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일일점검 강화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주요성과 박스"/>
          <p:cNvSpPr/>
          <p:nvPr/>
        </p:nvSpPr>
        <p:spPr>
          <a:xfrm>
            <a:off x="536870" y="197765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주요성과 라벨"/>
          <p:cNvSpPr/>
          <p:nvPr/>
        </p:nvSpPr>
        <p:spPr>
          <a:xfrm>
            <a:off x="569739" y="2010522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주요성과 라벨"/>
          <p:cNvSpPr>
            <a:spLocks noGrp="1"/>
          </p:cNvSpPr>
          <p:nvPr>
            <p:ph type="body" sz="quarter" idx="29"/>
          </p:nvPr>
        </p:nvSpPr>
        <p:spPr>
          <a:xfrm>
            <a:off x="569739" y="2010522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1" name="주요성과 문구"/>
          <p:cNvSpPr>
            <a:spLocks noGrp="1"/>
          </p:cNvSpPr>
          <p:nvPr>
            <p:ph type="body" sz="quarter" idx="30"/>
          </p:nvPr>
        </p:nvSpPr>
        <p:spPr>
          <a:xfrm>
            <a:off x="1314783" y="1994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수도서비스 실효적 안전대책·싱크홀 방지 등 국정과제 이행과 산업·시민재해 저감(△27%)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0 서사 · 조직·인력·예산 운용 등의 효율성 제고노력(4열 표: 대상사업 · 구분 · 주요내용 ·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조직·인력·예산 운용 등의 효율성 제고노력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1 서사 · 대국민 서비스 질 제고 및 공공성 강화 노력(3열 표 2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및 공공성 강화 노력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16113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노력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3013043"/>
            <a:ext cx="10142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28596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공공성 강화 노력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2 서사 · 경영환경 변화에 따른 대응노력 및 성과(3열 표: 경영환경 · 위험요인 칩 → 대응노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경영환경 변화에 따른 대응노력 및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3 서사 · 추진성과의 설립목적 및 경영목표 달성 기여도(주요사업 추진성과 → 경영목표 달성기여 → 설립목적 달성기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추진성과의 설립목적 및 경영목표 달성 기여도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315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수돗물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공급혁신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155913"/>
            <a:ext cx="562617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 및 안정화 신속 추진으로 비상공급률 목표(100%)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AI(정) 고도화와 국제표준 인증으로 사업화 확대(8건)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취약요인 집중관리로 역대 최고 국민기대수질(98.3%)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에너지절감으로 원가절감 목표(105%) 달성</a:t>
            </a:r>
          </a:p>
        </p:txBody>
      </p:sp>
      <p:sp>
        <p:nvSpPr>
          <p:cNvPr id="19" name="레일"/>
          <p:cNvSpPr/>
          <p:nvPr/>
        </p:nvSpPr>
        <p:spPr>
          <a:xfrm>
            <a:off x="547826" y="185713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물복지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879043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활용, 운영·서비스 개선으로 최고실적(유수율, 고객만족도)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사업모델 다각화(통합형 등)와 수행체계 개선으로 누수량 70백만톤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재난대응·기술지원으로 국민(22만명) 급수 정상화 및 취약인구(1만명) 해소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2413252"/>
            <a:ext cx="580696" cy="530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413252"/>
            <a:ext cx="580696" cy="530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2435165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연간 1,483억원 인하효과 등 국민 부담완화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맞춤형 대응방안 제시로 물 문제 해결 및 지역균형발전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최적 용수공급과 초순수 운영 국산화로 첨단산업 경쟁력 제고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959826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95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981739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 권으로 끝내는 수도특화 안전설계기준 마련으로 산업재해 저감(Δ30%)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노후관 정비와 실시간 누수감지로 싱크홀 및 침수사고 Zero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3384470"/>
            <a:ext cx="580696" cy="2117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384470"/>
            <a:ext cx="580696" cy="211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31" name="단계"/>
          <p:cNvSpPr/>
          <p:nvPr/>
        </p:nvSpPr>
        <p:spPr>
          <a:xfrm>
            <a:off x="1161391" y="34063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33" name="단계"/>
          <p:cNvSpPr/>
          <p:nvPr/>
        </p:nvSpPr>
        <p:spPr>
          <a:xfrm>
            <a:off x="3044087" y="34063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044087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34063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4926783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044086" y="3406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4926782" y="3406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수요를 충족하는 고품질 물공급 실현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극한기후에 안전한 물관리 시스템 구축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3044087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민관·지역·글로벌 협력 중심 물가치 창출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4926783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머리칸"/>
          <p:cNvSpPr/>
          <p:nvPr/>
        </p:nvSpPr>
        <p:spPr>
          <a:xfrm>
            <a:off x="1161391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全 프로세스 고도화</a:t>
            </a:r>
          </a:p>
        </p:txBody>
      </p:sp>
      <p:sp>
        <p:nvSpPr>
          <p:cNvPr id="46" name="머리칸"/>
          <p:cNvSpPr/>
          <p:nvPr/>
        </p:nvSpPr>
        <p:spPr>
          <a:xfrm>
            <a:off x="3985435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중단없는 안전한 수돗물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안심하는 고품질 수돗물 생산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중심의 상수도 全 분야 AX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기반 시설 운영고도화로 원가절감</a:t>
            </a:r>
          </a:p>
        </p:txBody>
      </p:sp>
      <p:cxnSp>
        <p:nvCxnSpPr>
          <p:cNvPr id="50" name="Connector 36"/>
          <p:cNvCxnSpPr/>
          <p:nvPr/>
        </p:nvCxnSpPr>
        <p:spPr>
          <a:xfrm>
            <a:off x="3985435" y="4285722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머리칸"/>
          <p:cNvSpPr/>
          <p:nvPr/>
        </p:nvSpPr>
        <p:spPr>
          <a:xfrm>
            <a:off x="1161391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</p:txBody>
      </p:sp>
      <p:sp>
        <p:nvSpPr>
          <p:cNvPr id="53" name="머리칸"/>
          <p:cNvSpPr/>
          <p:nvPr/>
        </p:nvSpPr>
        <p:spPr>
          <a:xfrm>
            <a:off x="3985435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지방상수도 적기 개선으로 누수저감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취약시설 맞춤형 기술지원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첨단용수(초순수 등) 안정적 용수공급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체감 물정보 제공 및 수돗물 인식 개선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985435" y="5036243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5518330"/>
            <a:ext cx="580696" cy="289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18330"/>
            <a:ext cx="580696" cy="289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55183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"/>
          <p:cNvSpPr/>
          <p:nvPr/>
        </p:nvSpPr>
        <p:spPr>
          <a:xfrm>
            <a:off x="1161391" y="554024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63" name="단계"/>
          <p:cNvSpPr/>
          <p:nvPr/>
        </p:nvSpPr>
        <p:spPr>
          <a:xfrm>
            <a:off x="2291009" y="554024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2291009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65" name="단계"/>
          <p:cNvSpPr/>
          <p:nvPr/>
        </p:nvSpPr>
        <p:spPr>
          <a:xfrm>
            <a:off x="3420626" y="554024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3420626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67" name="단계"/>
          <p:cNvSpPr/>
          <p:nvPr/>
        </p:nvSpPr>
        <p:spPr>
          <a:xfrm>
            <a:off x="4550243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9"/>
          </p:nvPr>
        </p:nvSpPr>
        <p:spPr>
          <a:xfrm>
            <a:off x="4550243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69" name="단계"/>
          <p:cNvSpPr/>
          <p:nvPr/>
        </p:nvSpPr>
        <p:spPr>
          <a:xfrm>
            <a:off x="5679861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50"/>
          </p:nvPr>
        </p:nvSpPr>
        <p:spPr>
          <a:xfrm>
            <a:off x="567986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2291008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3420626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4550243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 삼각형"/>
          <p:cNvSpPr/>
          <p:nvPr/>
        </p:nvSpPr>
        <p:spPr>
          <a:xfrm>
            <a:off x="5679860" y="55402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칸 본문"/>
          <p:cNvSpPr txBox="1"/>
          <p:nvPr/>
        </p:nvSpPr>
        <p:spPr>
          <a:xfrm>
            <a:off x="1172348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76" name="칸 본문"/>
          <p:cNvSpPr txBox="1"/>
          <p:nvPr/>
        </p:nvSpPr>
        <p:spPr>
          <a:xfrm>
            <a:off x="2301965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7" name="Connector 55"/>
          <p:cNvCxnSpPr/>
          <p:nvPr/>
        </p:nvCxnSpPr>
        <p:spPr>
          <a:xfrm flipV="1">
            <a:off x="2291009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 txBox="1"/>
          <p:nvPr/>
        </p:nvSpPr>
        <p:spPr>
          <a:xfrm>
            <a:off x="3431583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9" name="Connector 57"/>
          <p:cNvCxnSpPr/>
          <p:nvPr/>
        </p:nvCxnSpPr>
        <p:spPr>
          <a:xfrm flipV="1">
            <a:off x="3420626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 txBox="1"/>
          <p:nvPr/>
        </p:nvSpPr>
        <p:spPr>
          <a:xfrm>
            <a:off x="4561200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1" name="Connector 59"/>
          <p:cNvCxnSpPr/>
          <p:nvPr/>
        </p:nvCxnSpPr>
        <p:spPr>
          <a:xfrm flipV="1">
            <a:off x="4550243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 txBox="1"/>
          <p:nvPr/>
        </p:nvSpPr>
        <p:spPr>
          <a:xfrm>
            <a:off x="5690817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3" name="Connector 61"/>
          <p:cNvCxnSpPr/>
          <p:nvPr/>
        </p:nvCxnSpPr>
        <p:spPr>
          <a:xfrm flipV="1">
            <a:off x="5679861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머리칸"/>
          <p:cNvSpPr/>
          <p:nvPr/>
        </p:nvSpPr>
        <p:spPr>
          <a:xfrm>
            <a:off x="1161391" y="5863461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5863461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2"/>
          </p:nvPr>
        </p:nvSpPr>
        <p:spPr>
          <a:xfrm>
            <a:off x="1172348" y="610450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국민기대수질, 고도도입률 향상으로 고품질 수돗물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기반 엄격한 수질관리로 수돗물 신뢰 향상</a:t>
            </a:r>
          </a:p>
        </p:txBody>
      </p:sp>
      <p:sp>
        <p:nvSpPr>
          <p:cNvPr id="87" name="머리칸"/>
          <p:cNvSpPr/>
          <p:nvPr/>
        </p:nvSpPr>
        <p:spPr>
          <a:xfrm>
            <a:off x="1161391" y="6504417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3"/>
          </p:nvPr>
        </p:nvSpPr>
        <p:spPr>
          <a:xfrm>
            <a:off x="1161391" y="6504417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6745461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사고에 대비한 취약시설 집중개선으로 물 공급 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안정적 용수공급으로 국가 경쟁력 제고</a:t>
            </a:r>
          </a:p>
        </p:txBody>
      </p:sp>
      <p:sp>
        <p:nvSpPr>
          <p:cNvPr id="90" name="머리칸"/>
          <p:cNvSpPr/>
          <p:nvPr/>
        </p:nvSpPr>
        <p:spPr>
          <a:xfrm>
            <a:off x="1161391" y="7145374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7145374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6"/>
          </p:nvPr>
        </p:nvSpPr>
        <p:spPr>
          <a:xfrm>
            <a:off x="1172348" y="7386417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요금동결과 강도 높은 원가저감으로 국민부담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등 국가적 재난 총력지원으로 국민의 빠른 일상 회복 기여</a:t>
            </a:r>
          </a:p>
        </p:txBody>
      </p:sp>
      <p:sp>
        <p:nvSpPr>
          <p:cNvPr id="93" name="머리칸"/>
          <p:cNvSpPr/>
          <p:nvPr/>
        </p:nvSpPr>
        <p:spPr>
          <a:xfrm>
            <a:off x="1161391" y="7786330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57"/>
          </p:nvPr>
        </p:nvSpPr>
        <p:spPr>
          <a:xfrm>
            <a:off x="1161391" y="7786330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802737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상수도 누수 저감과 서비스 수준 향상으로 공공복리 증진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軍부대·산간·도서지역 등 급수취약지역 물복지 확산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4 서사 · 전년도 자체 환류활동 추진성과(’24 개선·확산 과제 → ’25 추진성과 3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 및 ’25년 자체 환류활동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183968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5 서사 · 성과지표별 목표수준 설정(글로벌 · 계량 · 비계량 성과지표 3묶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15411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성과지표별 목표수준 설정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3" name="분야 박스"/>
          <p:cNvSpPr/>
          <p:nvPr/>
        </p:nvSpPr>
        <p:spPr>
          <a:xfrm>
            <a:off x="727987" y="116139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분야 박스"/>
          <p:cNvSpPr>
            <a:spLocks noGrp="1"/>
          </p:cNvSpPr>
          <p:nvPr>
            <p:ph type="body" sz="quarter" idx="22"/>
          </p:nvPr>
        </p:nvSpPr>
        <p:spPr>
          <a:xfrm>
            <a:off x="727987" y="116139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1276424" y="1281913"/>
            <a:ext cx="9790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3"/>
          </p:nvPr>
        </p:nvSpPr>
        <p:spPr>
          <a:xfrm>
            <a:off x="1276424" y="1128522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성과지표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13391"/>
            <a:ext cx="6300000" cy="2509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29826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2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 대응강화: 위성 활용기술 수준(%) (’30년도까지 90% 달성)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85447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5447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85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76383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미국(NASA, Global Top 1) Catch-Up: 100%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76383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80%</a:t>
            </a:r>
          </a:p>
        </p:txBody>
      </p:sp>
      <p:cxnSp>
        <p:nvCxnSpPr>
          <p:cNvPr id="27" name="Connector 19"/>
          <p:cNvCxnSpPr/>
          <p:nvPr/>
        </p:nvCxnSpPr>
        <p:spPr>
          <a:xfrm>
            <a:off x="3985435" y="1909252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2410591"/>
            <a:ext cx="580696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41059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Gap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32504"/>
            <a:ext cx="5626174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 3개 분야(분석·운영·데이터) 기술격차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분석: 활용산출물 제공 ↔ 시범테스트 / 운영: 전용 S/W 보유 ↔ 수신 S/W·H/W 보유 / 데이터: 글로벌 데이터 제공 ↔ 테스트 데이터 제공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951687"/>
            <a:ext cx="580696" cy="5301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951687"/>
            <a:ext cx="580696" cy="530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9516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973600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분석기술: 위성 검보정 기술선진국(DLR) 국제협력으로 원천기술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운영기술: 해외위성 자료획득 노하우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품질: AI기반 위성 활용산출물 정확도 향상</a:t>
            </a:r>
          </a:p>
        </p:txBody>
      </p:sp>
      <p:sp>
        <p:nvSpPr>
          <p:cNvPr id="35" name="레일"/>
          <p:cNvSpPr/>
          <p:nvPr/>
        </p:nvSpPr>
        <p:spPr>
          <a:xfrm>
            <a:off x="547826" y="3498261"/>
            <a:ext cx="580696" cy="4082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352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352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82% 이상(’30년 90% 수준 달성을 위하여 연간 약 2%p 향상 목표)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35"/>
          </p:nvPr>
        </p:nvSpPr>
        <p:spPr>
          <a:xfrm>
            <a:off x="536870" y="4043426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40" name="분야 박스"/>
          <p:cNvSpPr/>
          <p:nvPr/>
        </p:nvSpPr>
        <p:spPr>
          <a:xfrm>
            <a:off x="727987" y="407629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분야 박스"/>
          <p:cNvSpPr>
            <a:spLocks noGrp="1"/>
          </p:cNvSpPr>
          <p:nvPr>
            <p:ph type="body" sz="quarter" idx="36"/>
          </p:nvPr>
        </p:nvSpPr>
        <p:spPr>
          <a:xfrm>
            <a:off x="727987" y="407629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계량</a:t>
            </a:r>
          </a:p>
        </p:txBody>
      </p:sp>
      <p:sp>
        <p:nvSpPr>
          <p:cNvPr id="42" name="형광 밑줄"/>
          <p:cNvSpPr/>
          <p:nvPr/>
        </p:nvSpPr>
        <p:spPr>
          <a:xfrm>
            <a:off x="1166655" y="4196817"/>
            <a:ext cx="8473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소제목"/>
          <p:cNvSpPr>
            <a:spLocks noGrp="1"/>
          </p:cNvSpPr>
          <p:nvPr>
            <p:ph type="body" sz="quarter" idx="37"/>
          </p:nvPr>
        </p:nvSpPr>
        <p:spPr>
          <a:xfrm>
            <a:off x="1166655" y="4043426"/>
            <a:ext cx="567021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계량 성과지표</a:t>
            </a:r>
          </a:p>
        </p:txBody>
      </p:sp>
      <p:sp>
        <p:nvSpPr>
          <p:cNvPr id="44" name="번호"/>
          <p:cNvSpPr>
            <a:spLocks noGrp="1"/>
          </p:cNvSpPr>
          <p:nvPr>
            <p:ph type="body" sz="quarter" idx="38"/>
          </p:nvPr>
        </p:nvSpPr>
        <p:spPr>
          <a:xfrm>
            <a:off x="536870" y="7184348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45" name="분야 박스"/>
          <p:cNvSpPr/>
          <p:nvPr/>
        </p:nvSpPr>
        <p:spPr>
          <a:xfrm>
            <a:off x="727987" y="7217217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분야 박스"/>
          <p:cNvSpPr>
            <a:spLocks noGrp="1"/>
          </p:cNvSpPr>
          <p:nvPr>
            <p:ph type="body" sz="quarter" idx="39"/>
          </p:nvPr>
        </p:nvSpPr>
        <p:spPr>
          <a:xfrm>
            <a:off x="727987" y="7217217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비계량</a:t>
            </a:r>
          </a:p>
        </p:txBody>
      </p:sp>
      <p:sp>
        <p:nvSpPr>
          <p:cNvPr id="47" name="형광 밑줄"/>
          <p:cNvSpPr/>
          <p:nvPr/>
        </p:nvSpPr>
        <p:spPr>
          <a:xfrm>
            <a:off x="1276424" y="7337739"/>
            <a:ext cx="9790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소제목"/>
          <p:cNvSpPr>
            <a:spLocks noGrp="1"/>
          </p:cNvSpPr>
          <p:nvPr>
            <p:ph type="body" sz="quarter" idx="40"/>
          </p:nvPr>
        </p:nvSpPr>
        <p:spPr>
          <a:xfrm>
            <a:off x="1276424" y="7184348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비계량 성과지표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6 서사 · 추진배경(물관리 여건 | 정부정책) → 추진방향 → 추진과제 3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99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양극화로 극한홍수, 극한가뭄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예측적 댐운영 및 저수량 관리 어려움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물재해 감시위성 등 기후적응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대비, 물관리 인프라 안정성 확보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17478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174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17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39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39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기술 기반의 과학적 물관리와 인프라 고도화로 안전한 물관리 실현 필요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2073600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36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대응 고도화</a:t>
            </a:r>
          </a:p>
        </p:txBody>
      </p:sp>
      <p:sp>
        <p:nvSpPr>
          <p:cNvPr id="29" name="머리칸"/>
          <p:cNvSpPr/>
          <p:nvPr/>
        </p:nvSpPr>
        <p:spPr>
          <a:xfrm>
            <a:off x="3230348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230348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 안전성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5113043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5113043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선도 혁신기술 확산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DT 기반 홍수대응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대응 가뭄 극복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 안전관리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구조개선 등 댐 안전 강화</a:t>
            </a:r>
          </a:p>
        </p:txBody>
      </p:sp>
      <p:cxnSp>
        <p:nvCxnSpPr>
          <p:cNvPr id="35" name="Connector 20"/>
          <p:cNvCxnSpPr/>
          <p:nvPr/>
        </p:nvCxnSpPr>
        <p:spPr>
          <a:xfrm>
            <a:off x="3230348" y="23694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DT성과 글로벌·민간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물재해 감시 위성분야 선도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5113043" y="23694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7 서사 · 홍수 대응체계 고도화와 댐 운영 제약요건 영구해소(홍수대응 준비 → 체계 고도화 3단 → 제약요건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불확실한 기후 여건 맞춤형 댐 운영으로 물재해 Zero 달성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91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홍수 대응체계 고도화와 댐 운영 제약요건 영구해소로 홍수대비 완료</a:t>
            </a:r>
          </a:p>
        </p:txBody>
      </p:sp>
      <p:sp>
        <p:nvSpPr>
          <p:cNvPr id="17" name="태그칩"/>
          <p:cNvSpPr/>
          <p:nvPr/>
        </p:nvSpPr>
        <p:spPr>
          <a:xfrm>
            <a:off x="4626623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626623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7283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 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5626174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여건조사: ’25.2~6 全댐 운영여건 조사를 통해 댐 운영시 영향을 받는 1,771개소 점검 → 방류시 하류 침수위험 128개소, 시민 고립 우려지역 81개소 등 포함 DT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이상홍수: 기상예보와 다른 이상 극한홍수 대비 모의훈련 실시(2회, 200년 빈도 이상) → 극한홍수 상황시 DT 활용 등 실제 상황과 동일한 의사결정 과정을 통한 대응역량 강화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2207739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207739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220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161391" y="2229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2229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피해는 예보를 초과한 집중호우로 대다수 발생, 스마트기술 활용 모니터링 체계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1161391" y="24652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 AI 활용 극한강우 예측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24652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분석 방류 의사결정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24652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감시 하류 모니터링 강화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24652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24652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기상청 정보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AI 활용 기상 예측(실황기반 최적모델 선별)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단일조건(강우×방류)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최대 48개(강우8×방류6) 동시 시뮬레이션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2750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하천 CCTV 46개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 CCTV 1,800개 추가 연계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2750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341739"/>
            <a:ext cx="580696" cy="8492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341739"/>
            <a:ext cx="580696" cy="849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안동댐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제약요건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영구해소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341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363652"/>
            <a:ext cx="562617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’76년 안동댐 준공 이후 댐 국유지 내 47가구 불법 점유 중으로, 침수 우려로 비워둔 댐 용량 활용 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추진: ’24년 국유재산 관리 목적 행정대집행 권한 확보에도, 1:1 이주 상담·설계, 정부지원 안내 등 맞춤형 이주 설득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주민 100% 이주로 안동댐 물그릇 100% 활용(물그릇 1.3억톤 회복, 운문댐 1개 규모의 이·치수 물량 확보)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8 서사 · AI·DT 활용 이상기후 맞춤형 홍수 대응(홍수기 중 · 홍수기 후: 운영여건 | 대응실적 + 사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564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AI, DT를 활용한 이상기후 맞춤형 홍수 대응으로 하류 피해 예방</a:t>
            </a:r>
          </a:p>
        </p:txBody>
      </p:sp>
      <p:sp>
        <p:nvSpPr>
          <p:cNvPr id="11" name="태그칩"/>
          <p:cNvSpPr/>
          <p:nvPr/>
        </p:nvSpPr>
        <p:spPr>
          <a:xfrm>
            <a:off x="457823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7823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2935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2935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30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97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97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6~9월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中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운영: AI 기반 극한호우 가능성까지 고려, DT 분석에 기반한 최적 의사결정 시행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지역·시기별 이상기후에 따른 극한홍수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예년比 7월 남강 2배, 8~9월 섬진강 1.3배 강우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극한호우 대응, 사전방류·홍수저류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활용한 댐 하류지역 방류 영향 분석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0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사례1 7.17~19 남강댐 역대 최대 홍수: 강우 3일간 518㎜(역대 1위), 유입 16,951㎥/초(댐 설계기준 1.6배 초과)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사례2 7.16~20 합천댐 하류 집중 호우: 강우 4일간 댐하류 500㎜↑(댐상류의 약 2배), 하천 공사현장(7개소) 등 침수 피해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10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후속강우 예측, 신속 수위저하(22시간 동안 1.2억㎥ 용량 확보), DT 분석, 최적시기 방류로 하류피해 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극한호우까지 대응 가능한 조절용량 확보(홍수기 전 4.8억㎥, 설계용량의 6배), DT 하류 모니터링, 2일간 전량 홍수 저류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4171696" y="2043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3073304"/>
            <a:ext cx="580696" cy="997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3304"/>
            <a:ext cx="580696" cy="99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後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3073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배너"/>
          <p:cNvSpPr/>
          <p:nvPr/>
        </p:nvSpPr>
        <p:spPr>
          <a:xfrm>
            <a:off x="1347652" y="3095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095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운영: 8~9월 지역별 강우 편차로 저수상황 상이, 댐별 맞춤형 홍수대응 실시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3330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330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3330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3330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71826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태풍 없이 10월 역대 1위 강우 발생(다목적댐 164㎜, 예년의 3배)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571826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댐-하천 상황 고려, 홍수 저류 위주 대응 → 다목적댐 중 남강·횡성댐 2개소만 방류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4171696" y="3604696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4174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4212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4212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4190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하류 안전까지 물재해 Zero 기여, 이상기후에도 물재해 대응성과 인정(합천군 감사패)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9 서사 · 선제적 대응, 비상체계 가동으로 가뭄 극복(강우 부족 · 짧은 장마 · 역대 강우: 운영여건 | 대응실적 + 특별실적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선제적 대응, 비상체계 가동으로 가뭄 극복 및 재난상황 적극 지원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3158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97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97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1~5월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강우 부족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이른 봄가뭄으로 모든 댐 강우 부족 발생(예년比 다목적댐 0.9배, 용수댐 0.8배 강우)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댐간 연계, 하천유지용수 감축 등 선제 대응 → 보령 등 3개 댐 0.4억㎥ 비축으로 정상화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특별실적: 국가재난 상황에서 댐 저수량을 활용, 경북 산불 진화 총력 대응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065304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현안사항: ’25.3 봄가뭄 영향, 역대 최악의 초대형 산불 발생 → 안동하천 취수를 통해 대량의 소방용수, 긴급 공급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사상최초: 안동댐, 성덕댐 방류로 하류 하천 인근지역에 소방용수 대량 공급(5일간 26백만㎥, 전국민 2일 사용량)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골든타임: ‘인지-협의-통보(SMS)-방류’까지 90분(통상 7시간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추진성과: 재난시 댐 역할 재조명, 긴급구조지원 최우수기관(소방청장)</a:t>
            </a:r>
          </a:p>
        </p:txBody>
      </p:sp>
      <p:sp>
        <p:nvSpPr>
          <p:cNvPr id="28" name="레일"/>
          <p:cNvSpPr/>
          <p:nvPr/>
        </p:nvSpPr>
        <p:spPr>
          <a:xfrm>
            <a:off x="547826" y="3128087"/>
            <a:ext cx="580696" cy="57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312808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6~9월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짧은 장마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312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3150000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남부지방 역대 2위 짧은 장마(13일)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경북·영동 중심 강우 부족 심화(예년比 안동댐 0.6배, 광동댐 0.4배 강우)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3150000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비상대책본부 가동, 수질개선용수까지 감축 → 안동·임하·광동댐 0.7억㎥ 댐용수 비축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비상대책 시행에도 안동·임하댐 가뭄 주의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318287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371973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71973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강우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3719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741652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태풍 없이 10월 역대 1위 강우 발생(다목적댐 164㎜, 예년의 3배)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741652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활용 물그릇 채우기(85 → 93, 8억㎥ 증) → 全댐 가뭄 정상화 및 차년도 용수 확보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985435" y="3774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핵심성과 박스"/>
          <p:cNvSpPr/>
          <p:nvPr/>
        </p:nvSpPr>
        <p:spPr>
          <a:xfrm>
            <a:off x="536870" y="43635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44018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4018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799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8억㎥ 강우 비축, 1.1억㎥ 댐용수 비축(댐간 연계 등)으로 안정적 용수공급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0 서사 · 차세대 댐 시설관리 시스템(추진배경 → 스마트댐 안전관리 로드맵 → 추진내용 → 추진성과 3칸 → 대외인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 기술로 관리하고 성능개선으로 완성하는 국가 댐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262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시설관리에 필요한 모든 정보와 기능을 융합한 차세대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84801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4801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9036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정책: 기후변화 대비, 댐 안전성 및 재해 대응력 강화로 안정적 국민 생활 기반 마련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노후화: K-water 관리댐 노후화(54%, 30년 이상), 최상의 성능 유지 및 안전관리 중요성 증대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31165"/>
            <a:ext cx="580696" cy="662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29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1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205078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도입: 스마트 댐 안전관리 시범도입 및 확대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205078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시행: 全 국가 댐(37개소) 구축 완료 및 시스템 고도화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230348" y="22379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205078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확대: 스마트 댐 관리 표준모델 정립 및 국내·외 확대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5113043" y="22379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2610470"/>
            <a:ext cx="580696" cy="134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610470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42" name="배너"/>
          <p:cNvSpPr/>
          <p:nvPr/>
        </p:nvSpPr>
        <p:spPr>
          <a:xfrm>
            <a:off x="1347652" y="26323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26323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스마트 기술 활용, 댐 시설물을 실시간 감시·분석하여 선제적 위험관리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67948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~’24년 요소기술 적용으로 인력중심 한계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모니터링: 열화상카메라(누수), GPS(변위)를 활용하여 실시간 시설안전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드론: 항공·수중 드론을 활용하여 접근이 어려운 사각지대 점검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67948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AI 분석·진단으로 관리효율성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누수, 변위 등의 오·결측 자동 검출 → 계측자료 실시간 산출, 정확성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신규: 드론 촬영 결과물을 AI 분석·진단 → 시설물 결함 신속 검출, 판정정확도 향상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171696" y="290081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347652" y="3728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728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적용: 지진시 자동 경보, 드론 점검 등 스마트 기술 활용 실제훈련으로 재난 대응력 입증</a:t>
            </a:r>
          </a:p>
        </p:txBody>
      </p:sp>
      <p:sp>
        <p:nvSpPr>
          <p:cNvPr id="49" name="레일"/>
          <p:cNvSpPr/>
          <p:nvPr/>
        </p:nvSpPr>
        <p:spPr>
          <a:xfrm>
            <a:off x="734087" y="3969078"/>
            <a:ext cx="580696" cy="40820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969078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990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정확성: 데이터 결측률 감소(32% → 3%)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990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효율성: 점검 투입시간 감소(육상 90%, 수중 67%)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230348" y="4023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990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경제성: 점검 투입비용 감소(육상 95%, 수중 85%)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5113043" y="4023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주요성과 박스"/>
          <p:cNvSpPr/>
          <p:nvPr/>
        </p:nvSpPr>
        <p:spPr>
          <a:xfrm>
            <a:off x="723130" y="4470417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주요성과 라벨"/>
          <p:cNvSpPr/>
          <p:nvPr/>
        </p:nvSpPr>
        <p:spPr>
          <a:xfrm>
            <a:off x="756000" y="4503287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4503287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대외인정</a:t>
            </a:r>
          </a:p>
        </p:txBody>
      </p:sp>
      <p:sp>
        <p:nvSpPr>
          <p:cNvPr id="59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4486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행안부 주관, 全국가기관이 참여하는 안전한국훈련, ‘우수’ 등급 달성(335개 기관 참여)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1 서사 · 재난 대비 대규모 성능개선부터 선제적 사고예방까지 댐 안전 강화(구조적 개선 | 3대 취약시설 → 추진계획 → 대외인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5942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재난 대비 대규모 성능개선부터 선제적 사고예방까지 댐 안전 강화</a:t>
            </a:r>
          </a:p>
        </p:txBody>
      </p:sp>
      <p:sp>
        <p:nvSpPr>
          <p:cNvPr id="12" name="태그칩"/>
          <p:cNvSpPr/>
          <p:nvPr/>
        </p:nvSpPr>
        <p:spPr>
          <a:xfrm>
            <a:off x="44949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949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4602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4602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3897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지진, 노후화 위험 증가로 노후댐 내진보강 등 댐 본체 구조적 개선 추진 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한발 더 나아가 댐 운영시 취약시설 등을 발굴·개선하여 댐 안전 강화 필요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492904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290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개선  댐 안전성 강화사업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 댐사고 3대 취약시설 개선사업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5861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합천·임하·충주댐 3개 댐 기본계획 고시(全댐 24개 고시 完), 13개 댐 설계·공사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대곡·달방·횡성댐 3개 댐 준공(누적 11개)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강화된 내진설계기준 만족, 비상시 신속한 댐 수위저하(上10일, 下50일 이내 방류)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5861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 전수조사를 통해 반복 사고유형, 위험지역 등 3대 취약요인 포착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高위험 10개 댐 안전 인프라 개선설계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취약사면(낙석방지망, 옹벽) · 접근제약(점검로, 장비진입로) · 배수체계(배수측구, 침사지)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788730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709078"/>
            <a:ext cx="580696" cy="131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09078"/>
            <a:ext cx="580696" cy="131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73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73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73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73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73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73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73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73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82991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용수댐 8개 준공(3,441억원)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82991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1개, 용수댐 10개 준공(4,456억원, 누계)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30158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82991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 24개 준공(9,113억원, 누계)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30158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3382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382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’25년~</a:t>
            </a:r>
          </a:p>
        </p:txBody>
      </p:sp>
      <p:sp>
        <p:nvSpPr>
          <p:cNvPr id="49" name="단계"/>
          <p:cNvSpPr/>
          <p:nvPr/>
        </p:nvSpPr>
        <p:spPr>
          <a:xfrm>
            <a:off x="3044087" y="3382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3044087" y="3382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51" name="단계"/>
          <p:cNvSpPr/>
          <p:nvPr/>
        </p:nvSpPr>
        <p:spPr>
          <a:xfrm>
            <a:off x="4926783" y="3382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4926783" y="3382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3044086" y="3382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26782" y="3382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34904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다목적댐(10개)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634904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다목적댐(+10개), 홍수댐(3개)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044087" y="366777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634904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용수댐(14개)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4926783" y="366777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40402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402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40402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06220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국가중요시설 안전 확보, 재난 대비 역량 강화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06220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사각지대 해소로 근로자·시민 안전 확보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3985435" y="4095078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주요성과 박스"/>
          <p:cNvSpPr/>
          <p:nvPr/>
        </p:nvSpPr>
        <p:spPr>
          <a:xfrm>
            <a:off x="536870" y="4518313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주요성과 라벨"/>
          <p:cNvSpPr/>
          <p:nvPr/>
        </p:nvSpPr>
        <p:spPr>
          <a:xfrm>
            <a:off x="569739" y="4551183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주요성과 라벨"/>
          <p:cNvSpPr>
            <a:spLocks noGrp="1"/>
          </p:cNvSpPr>
          <p:nvPr>
            <p:ph type="body" sz="quarter" idx="47"/>
          </p:nvPr>
        </p:nvSpPr>
        <p:spPr>
          <a:xfrm>
            <a:off x="569739" y="4551183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대외인정</a:t>
            </a:r>
          </a:p>
        </p:txBody>
      </p:sp>
      <p:sp>
        <p:nvSpPr>
          <p:cNvPr id="69" name="주요성과 문구"/>
          <p:cNvSpPr>
            <a:spLocks noGrp="1"/>
          </p:cNvSpPr>
          <p:nvPr>
            <p:ph type="body" sz="quarter" idx="48"/>
          </p:nvPr>
        </p:nvSpPr>
        <p:spPr>
          <a:xfrm>
            <a:off x="1314783" y="45347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행안부 주관 ‘국가핵심기반 재난관리평가’ 우수기관 선정, 국무총리표창 수상(157개 기관 대상)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2 서사 · 디지털트윈 기술 노하우의 전방위 확산(혁신과정 3단계 → 그간의 성과 → 고도화 및 글로벌 확산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수혜국에서, 이제는 세계를 주도하는 K-water 물관리 기술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91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수요에 대응하며 진화한 디지털트윈 기술 노하우의 전방위 확산</a:t>
            </a:r>
          </a:p>
        </p:txBody>
      </p:sp>
      <p:sp>
        <p:nvSpPr>
          <p:cNvPr id="16" name="태그칩"/>
          <p:cNvSpPr/>
          <p:nvPr/>
        </p:nvSpPr>
        <p:spPr>
          <a:xfrm>
            <a:off x="48128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128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36400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6400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381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002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002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5284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Step1 댐 운영 중심 DT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5284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8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Step2 도시분야 확장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5284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8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Step3 재난분야로 다각화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528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528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80435"/>
            <a:ext cx="1860783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’20년 대규모 하천범람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실무형 물관리 DT 구축(’21~’23), 플랫폼 통합으로 시너지화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80435"/>
            <a:ext cx="1860783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’22년 수도권 집중호우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도림천 도시침수 DT 구축(’22), 도시침수 DT 요소기술 확보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3230348" y="1813304"/>
            <a:ext cx="0" cy="657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80435"/>
            <a:ext cx="1860783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위험자동감지 기술수요(’22년~)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위험자동감지 기술개발(~’25), 세종시 맞춤 DT 구축(’24~’25)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13304"/>
            <a:ext cx="0" cy="657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525478"/>
            <a:ext cx="580696" cy="646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525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525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배너"/>
          <p:cNvSpPr/>
          <p:nvPr/>
        </p:nvSpPr>
        <p:spPr>
          <a:xfrm>
            <a:off x="1347652" y="254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0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54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Step2 모델 수출: 사우디 제다市 등 DT 구축사업에 네이버와 공동참여(’23.11~)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782957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도시홍수: 기후위기 영향, 대도시 극한호우(6시간 동안 연강우 2.3배) 등 홍수 피해 발생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782957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도시특화: 도시홍수 특화 DT 구축(실시간 모니터링-도시홍수 분석-물순환 분석)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4171696" y="28158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734087" y="3188348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188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6" name="배너"/>
          <p:cNvSpPr/>
          <p:nvPr/>
        </p:nvSpPr>
        <p:spPr>
          <a:xfrm>
            <a:off x="1347652" y="3210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210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물관리를 가장 잘 아는 조직이 만든, 전 세계에서 가장 많이 실증된 DT로 맞춤형 솔루션 제시</a:t>
            </a:r>
          </a:p>
        </p:txBody>
      </p:sp>
      <p:sp>
        <p:nvSpPr>
          <p:cNvPr id="48" name="레일"/>
          <p:cNvSpPr/>
          <p:nvPr/>
        </p:nvSpPr>
        <p:spPr>
          <a:xfrm>
            <a:off x="734087" y="3458191"/>
            <a:ext cx="580696" cy="1396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458191"/>
            <a:ext cx="580696" cy="139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34581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48010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Step2 고도화 기후리스크 평가 모델: 기업수요 — 기업의 사업장 단위, 물재해 위험도 정량화 필요 / 핀셋분석 — DT+3D 공간정보 결합, 홍수위를 ㎝단위까지 예측 → 리스크 평가, 민간 확대(’26년~)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48010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Step2·3 수출 일본 나가이市: 방재약화 — 전문인력 감소, 2D 정보 활용으로 재난대응 효율 저하 / 역량강화 — 실시간 AI CCTV 감지 등 직관적 3D 재난관리시스템 구축 → 과거 기술 수혜국에서 선진 물관리 DT 기술 공여국으로 전환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230348" y="3512974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48010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Step1~3 수출 미국 산타클라라: 독립시스템 — 분산형 시스템으로 신속·효율적 의사결정 한계 / 통합관리 — 물관리 DT 플랫폼 기반 K-water형 통합물관리 실현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5113043" y="3512974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3 서사 · 물재해 감시 전용위성 혁신기술 강화 및 글로벌 기후테크 선도(추진배경 → 로드맵 3단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959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물재해 감시 전용위성 혁신기술 강화 및 글로벌 기후테크 선도</a:t>
            </a:r>
          </a:p>
        </p:txBody>
      </p:sp>
      <p:sp>
        <p:nvSpPr>
          <p:cNvPr id="12" name="태그칩"/>
          <p:cNvSpPr/>
          <p:nvPr/>
        </p:nvSpPr>
        <p:spPr>
          <a:xfrm>
            <a:off x="42314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14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7748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동향: 미계측 지역에 대한 기후변화 및 물재해 감시 전용위성 관측 수요 급증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기술을 DT 등 물관리 경험과 접목, 글로벌 물재해 감시 위성분야 주도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929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2904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~’25 위성 기술·인프라 구축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~’27 전용위성 발사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 플랫폼 운영·기술 수출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68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수자원위성 운영센터 신축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초소형 군집위성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수자원위성 품질최적화 기술 및 활용기술 개발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7668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수자원 전용 초소형 위성 발사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산출물 분석·활용기술 성능검증 및 고도화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17996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7668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 위성 발사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초소형 위성 군집화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위성 플랫폼 시범운영 및 관측·운영기술 해외수출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17996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250090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00904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500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수자원 전용위성 추진</a:t>
            </a:r>
          </a:p>
        </p:txBody>
      </p:sp>
      <p:sp>
        <p:nvSpPr>
          <p:cNvPr id="41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위성 기술 현업·재해분석 적용</a:t>
            </a:r>
          </a:p>
        </p:txBody>
      </p:sp>
      <p:sp>
        <p:nvSpPr>
          <p:cNvPr id="43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기후테크 R&amp;D 주도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7638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수자원위성 운용을 위한 센터 준공(’25.8), 국가 수자원 위성(’28년 발사)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수자원 전용 초소형 군집위성 개발 기획(’25.6)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7638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민간위성 활용: 남북접경 영상 적기 제공, 현업부서 의사결정 지원(’24년 327회 → ’25년 350회)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국내·외 홍수 및 가뭄 분석 기술 개발(16종, 전년比 3개↑)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044087" y="27967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7638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기반 글로벌 기후테크 R&amp;D 주도: 한·EU 글로벌 컨소시엄(7개국 18개 기관) 구성(’25.6)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호라이즌 유럽 공동 연구 제안(’25.9)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4926783" y="27967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핵심성과 박스"/>
          <p:cNvSpPr/>
          <p:nvPr/>
        </p:nvSpPr>
        <p:spPr>
          <a:xfrm>
            <a:off x="536870" y="3914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핵심성과 라벨"/>
          <p:cNvSpPr/>
          <p:nvPr/>
        </p:nvSpPr>
        <p:spPr>
          <a:xfrm>
            <a:off x="569739" y="3952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2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3952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3930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NASA(글로벌 No.1) 대비 위성 활용기술 82% 수준 달성, 호라이즌 유럽 R&amp;D 주도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4 서사 · 추진배경(물관리 여건 | 정부정책) → 추진방향 → 추진과제 4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18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 중인 댐 91%가 상수원(전국 상수원의 76.2%)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목소리: 먹는물 만족도 향상을 위한 정책 1순위는 ‘상수원 수질관리(27.7%)’(’24 기후부 조사)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쾌적한 물환경 구현, 생물다양성 회복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패러다임: 물관리 일원화(’18) 이후, 수량+수질+수생태 통합관리 정책 강화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6270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64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 안전을 위한 과학적 수질 관리와 수생태 복원을 통한 건강한 물환경 조성 필요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2183165"/>
            <a:ext cx="580696" cy="765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83165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183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상시관리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오염발생·유입 저감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녹조 등 수질관리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수생태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오염원 관리기술 고도화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농·축산 오염원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사업 추진</a:t>
            </a:r>
          </a:p>
        </p:txBody>
      </p:sp>
      <p:cxnSp>
        <p:nvCxnSpPr>
          <p:cNvPr id="37" name="Connector 21"/>
          <p:cNvCxnSpPr/>
          <p:nvPr/>
        </p:nvCxnSpPr>
        <p:spPr>
          <a:xfrm>
            <a:off x="2759674" y="2478991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녹조제거 新기술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물환경설비 개선·확대</a:t>
            </a:r>
          </a:p>
        </p:txBody>
      </p:sp>
      <p:cxnSp>
        <p:nvCxnSpPr>
          <p:cNvPr id="39" name="Connector 23"/>
          <p:cNvCxnSpPr/>
          <p:nvPr/>
        </p:nvCxnSpPr>
        <p:spPr>
          <a:xfrm>
            <a:off x="4171696" y="2478991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생태복원 가치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강의 연속성 회복 추진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5583717" y="2478991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5 서사 · 스마트 기술 적용 오염원 통합관리체계 구축(추진배경 → 그림 배너 → 기존 · 개선 3칸 → 추진성과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12622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663094" y="799826"/>
            <a:ext cx="9510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663094" y="799826"/>
            <a:ext cx="9510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상시관리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9877" y="920348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9877" y="766957"/>
            <a:ext cx="515699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적용 오염원 통합관리체계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3470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3470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48981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8981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265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777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중심, 분산된 오염원 관리의 한계로 첨단기술 기반 감시체계 전환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47652"/>
            <a:ext cx="4514087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유역 오염원 감시부터 저감까지 일원화한 통합관리체계 구축</a:t>
            </a:r>
          </a:p>
        </p:txBody>
      </p:sp>
      <p:sp>
        <p:nvSpPr>
          <p:cNvPr id="24" name="사진 칸"/>
          <p:cNvSpPr/>
          <p:nvPr/>
        </p:nvSpPr>
        <p:spPr>
          <a:xfrm>
            <a:off x="5730261" y="1353130"/>
            <a:ext cx="1079217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5" name="사진 칸"/>
          <p:cNvSpPr>
            <a:spLocks noGrp="1"/>
          </p:cNvSpPr>
          <p:nvPr>
            <p:ph type="body" sz="quarter" idx="28"/>
          </p:nvPr>
        </p:nvSpPr>
        <p:spPr>
          <a:xfrm>
            <a:off x="5730261" y="1353130"/>
            <a:ext cx="1079217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통합관리체계 그림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862609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62609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현장·인력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물환경관리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86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884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84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감시: 현장 중심 국지적 감시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884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84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관리: 인력 기반 수동 관리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884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84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시설운영: 기관별 운영센터 운영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25565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물리적·시간적 비용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오염원 감시 곤란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25565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조회·선별시간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선별 작업 中 휴먼에러 발생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2158435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25565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오염저감시설 연계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 경계의 사각지대 발생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2158435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750087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750087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물환경관리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2750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머리칸"/>
          <p:cNvSpPr/>
          <p:nvPr/>
        </p:nvSpPr>
        <p:spPr>
          <a:xfrm>
            <a:off x="1161391" y="2772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772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위성·드론 全유역 감시</a:t>
            </a:r>
          </a:p>
        </p:txBody>
      </p:sp>
      <p:sp>
        <p:nvSpPr>
          <p:cNvPr id="45" name="머리칸"/>
          <p:cNvSpPr/>
          <p:nvPr/>
        </p:nvSpPr>
        <p:spPr>
          <a:xfrm>
            <a:off x="3044087" y="2772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2772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데이터 자동 관리</a:t>
            </a:r>
          </a:p>
        </p:txBody>
      </p:sp>
      <p:sp>
        <p:nvSpPr>
          <p:cNvPr id="47" name="머리칸"/>
          <p:cNvSpPr/>
          <p:nvPr/>
        </p:nvSpPr>
        <p:spPr>
          <a:xfrm>
            <a:off x="4926783" y="2772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2772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오염저감시설 통합운영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13043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활용, 토지 변화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야적 퇴비 등 식별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 활용, 정밀 감시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13043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RPA(로봇 프로세스 자동화) 활용 선별자료 자동 생성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 선별 Tool 개발·적용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044087" y="3045913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13043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오염저감시설 통합운영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오염원 감시부터 처리까지 全과정 통합관리(연계운영)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오염유입 예측시 선제 가동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4926783" y="3045913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536870" y="3790957"/>
            <a:ext cx="6300000" cy="91721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569739" y="3823826"/>
            <a:ext cx="657391" cy="85147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569739" y="3823826"/>
            <a:ext cx="657391" cy="85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314783" y="3812870"/>
            <a:ext cx="5456348" cy="873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국내 최초 댐 상류 유역 오염원 통합관리시스템 구축(’25.12, 기후부·경상북도 등 5개 기관 MOU)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 관리 소요시간 2시간 → 10분(△92%), 수동 관리 대비 휴먼에러 방지(5.4% → 0%)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기후에너지환경부 환경데이터 분석·활용 공모전 ‘대상’ 수상(’25.11)</a:t>
            </a:r>
          </a:p>
        </p:txBody>
      </p:sp>
      <p:sp>
        <p:nvSpPr>
          <p:cNvPr id="58" name="주요성과 박스"/>
          <p:cNvSpPr/>
          <p:nvPr/>
        </p:nvSpPr>
        <p:spPr>
          <a:xfrm>
            <a:off x="536870" y="4784870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주요성과 라벨"/>
          <p:cNvSpPr/>
          <p:nvPr/>
        </p:nvSpPr>
        <p:spPr>
          <a:xfrm>
            <a:off x="569739" y="4817739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817739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1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8013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오염원 변화 인지 범위 확대(우려 지점 → 全유역) 및 조기 대응 역량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6 서사 · 발생원 맞춤형 협력 확대(추진배경 → 추진계획 2묶음 → 추진내용 + 그림 → 추진성과 두 칸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14780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870938" y="810783"/>
            <a:ext cx="109665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870938" y="810783"/>
            <a:ext cx="109665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오염발생·유입 저감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2033335" y="931304"/>
            <a:ext cx="313055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2033335" y="777913"/>
            <a:ext cx="498979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민간 협력 강화로 실행하는 주민체감 오염원 저감사업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139478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172348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172348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발생원 관리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749896" y="1292870"/>
            <a:ext cx="336765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5"/>
          </p:nvPr>
        </p:nvSpPr>
        <p:spPr>
          <a:xfrm>
            <a:off x="1749896" y="1139478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유역 오염 발생 최소화를 위한 발생원 맞춤형 협력 확대</a:t>
            </a:r>
          </a:p>
        </p:txBody>
      </p:sp>
      <p:sp>
        <p:nvSpPr>
          <p:cNvPr id="19" name="태그칩"/>
          <p:cNvSpPr/>
          <p:nvPr/>
        </p:nvSpPr>
        <p:spPr>
          <a:xfrm>
            <a:off x="5216163" y="1172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6"/>
          </p:nvPr>
        </p:nvSpPr>
        <p:spPr>
          <a:xfrm>
            <a:off x="5216163" y="1172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24348"/>
            <a:ext cx="6300000" cy="288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44078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44078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62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상수원 수질 문제를 야기하는 오염원의 89% 이상은 농·축산업이 차지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62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농·축산 오염원 저감 실효성 확보를 위해 주민(민간) 참여 필요</a:t>
            </a:r>
          </a:p>
        </p:txBody>
      </p:sp>
      <p:cxnSp>
        <p:nvCxnSpPr>
          <p:cNvPr id="26" name="Connector 16"/>
          <p:cNvCxnSpPr/>
          <p:nvPr/>
        </p:nvCxnSpPr>
        <p:spPr>
          <a:xfrm>
            <a:off x="4171696" y="1495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865426"/>
            <a:ext cx="580696" cy="12135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65426"/>
            <a:ext cx="580696" cy="1213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8654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887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887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887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887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’25~’27년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887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887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’28년~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887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887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13933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축분 고체연료 사업모델 개발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13933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시범사업(운영 및 효과 검증)</a:t>
            </a:r>
          </a:p>
        </p:txBody>
      </p:sp>
      <p:cxnSp>
        <p:nvCxnSpPr>
          <p:cNvPr id="40" name="Connector 26"/>
          <p:cNvCxnSpPr/>
          <p:nvPr/>
        </p:nvCxnSpPr>
        <p:spPr>
          <a:xfrm>
            <a:off x="3230348" y="21722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13933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본사업 및 全댐 확대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5113043" y="21722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단계"/>
          <p:cNvSpPr/>
          <p:nvPr/>
        </p:nvSpPr>
        <p:spPr>
          <a:xfrm>
            <a:off x="1347652" y="24927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4927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45" name="단계"/>
          <p:cNvSpPr/>
          <p:nvPr/>
        </p:nvSpPr>
        <p:spPr>
          <a:xfrm>
            <a:off x="3230348" y="24927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4927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7" name="단계"/>
          <p:cNvSpPr/>
          <p:nvPr/>
        </p:nvSpPr>
        <p:spPr>
          <a:xfrm>
            <a:off x="5113043" y="24927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4927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3230347" y="24927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113043" y="24927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744765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댐상류 보급(논, 밭, 과수원)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744765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 댐상류 보급(시설재배단지)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230348" y="2777635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744765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댐상류 보급(고랭지 밭 등)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5113043" y="2777635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30953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0953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30953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머리칸"/>
          <p:cNvSpPr/>
          <p:nvPr/>
        </p:nvSpPr>
        <p:spPr>
          <a:xfrm>
            <a:off x="1347652" y="31172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31172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영주댐 가축분뇨 고체연료화 사업</a:t>
            </a:r>
          </a:p>
        </p:txBody>
      </p:sp>
      <p:sp>
        <p:nvSpPr>
          <p:cNvPr id="61" name="머리칸"/>
          <p:cNvSpPr/>
          <p:nvPr/>
        </p:nvSpPr>
        <p:spPr>
          <a:xfrm>
            <a:off x="4171696" y="31172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31172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상류 주민참여 농업오염 저감 사업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3358330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고체연료화 시설 준공(’25.2) 및 시험운영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가축분뇨(우분) 고체연료화 사업 공동 추진 협약(’25.3, 축협·발전사 등 5개 기관) → 민·관·공 협력을 통한 원활한 사업 추진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4182652" y="3358330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확대(3 → 5개 댐) 및 기법보급(’25.5~)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주민의견 반영, 방치 영농부산물 집하장 신설 추진(’25.9 계획수립, ’26년 설치) → 상향식(주민의견) 의사결정을 통한 신규대책 도출</a:t>
            </a:r>
          </a:p>
        </p:txBody>
      </p:sp>
      <p:cxnSp>
        <p:nvCxnSpPr>
          <p:cNvPr id="65" name="Connector 45"/>
          <p:cNvCxnSpPr/>
          <p:nvPr/>
        </p:nvCxnSpPr>
        <p:spPr>
          <a:xfrm>
            <a:off x="4171696" y="33912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표 외곽"/>
          <p:cNvSpPr/>
          <p:nvPr/>
        </p:nvSpPr>
        <p:spPr>
          <a:xfrm>
            <a:off x="723130" y="4355374"/>
            <a:ext cx="6300000" cy="44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"/>
          <p:cNvSpPr/>
          <p:nvPr/>
        </p:nvSpPr>
        <p:spPr>
          <a:xfrm>
            <a:off x="734087" y="4371809"/>
            <a:ext cx="580696" cy="410870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8"/>
          </p:nvPr>
        </p:nvSpPr>
        <p:spPr>
          <a:xfrm>
            <a:off x="734087" y="4371809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3937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가축분뇨 고체연료 생산(’25.5~, 40톤)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한우 260마리 분뇨처리(오염원 T-P 9.3kg/일↓)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3937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 댐 상류 주민 협약체결·기법 보급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물꼬장치 등 1,400세대(오염원 T-P 7.9kg/일↓)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4171696" y="44265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주요성과 박스"/>
          <p:cNvSpPr/>
          <p:nvPr/>
        </p:nvSpPr>
        <p:spPr>
          <a:xfrm>
            <a:off x="723130" y="4875809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주요성과 라벨"/>
          <p:cNvSpPr/>
          <p:nvPr/>
        </p:nvSpPr>
        <p:spPr>
          <a:xfrm>
            <a:off x="756000" y="4908678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4" name="주요성과 라벨"/>
          <p:cNvSpPr>
            <a:spLocks noGrp="1"/>
          </p:cNvSpPr>
          <p:nvPr>
            <p:ph type="body" sz="quarter" idx="51"/>
          </p:nvPr>
        </p:nvSpPr>
        <p:spPr>
          <a:xfrm>
            <a:off x="756000" y="49086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75" name="주요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4892243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저감 오염배출량(17.2kg/일)은 1.3만명(3개 면 인구)의 배출 오염원을 매일 정화하는 수준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고체연료 생산량(40톤)은 석탄 22톤 대체하는 수준(48tCO₂eq 저감 ≒ 소나무 1.2만 그루)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7 서사 · 국내 최초 정부·K-water·기업간 협력 물 복원사업 성공(추진배경 → 기반 마련 → 사업 추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유입 저감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5258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국내 최초 정부·K-water·기업간 협력으로 물 복원사업 성공</a:t>
            </a:r>
          </a:p>
        </p:txBody>
      </p:sp>
      <p:sp>
        <p:nvSpPr>
          <p:cNvPr id="15" name="태그칩"/>
          <p:cNvSpPr/>
          <p:nvPr/>
        </p:nvSpPr>
        <p:spPr>
          <a:xfrm>
            <a:off x="50782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782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62939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62939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2917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5626174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글로벌 ESG 공시에서 물 복원 성과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풍부한 수질개선 경험 보유</a:t>
            </a:r>
          </a:p>
        </p:txBody>
      </p:sp>
      <p:sp>
        <p:nvSpPr>
          <p:cNvPr id="23" name="배너"/>
          <p:cNvSpPr/>
          <p:nvPr/>
        </p:nvSpPr>
        <p:spPr>
          <a:xfrm>
            <a:off x="1161391" y="1449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449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 Positive란? 기업이 사용한 물 이상의 물을 수질개선 등을 통해 자연으로 반환(=물 복원)</a:t>
            </a:r>
          </a:p>
        </p:txBody>
      </p:sp>
      <p:sp>
        <p:nvSpPr>
          <p:cNvPr id="25" name="레일"/>
          <p:cNvSpPr/>
          <p:nvPr/>
        </p:nvSpPr>
        <p:spPr>
          <a:xfrm>
            <a:off x="547826" y="1690122"/>
            <a:ext cx="580696" cy="1051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90122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712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712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기업의 물 복원사업 참여 확대를 위한 제도적 기반 마련</a:t>
            </a:r>
          </a:p>
        </p:txBody>
      </p:sp>
      <p:sp>
        <p:nvSpPr>
          <p:cNvPr id="30" name="머리칸"/>
          <p:cNvSpPr/>
          <p:nvPr/>
        </p:nvSpPr>
        <p:spPr>
          <a:xfrm>
            <a:off x="1161391" y="1947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거버넌스  협의체 출범(’25.8)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947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947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 물 복원량 산정기준 마련(’25.11)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886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실천을 위한 협의체(K-water 운영기관 선정, 삼성전자, SK 등 8개社 참여)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 사업발굴, 물 이슈 논의 등 협력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886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민·관·공 협력, 물 복원량 산정 방법과 공식 인증체계 정립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14개 물 복원 활동 및 16개 산정방식 제시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3985435" y="22215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758383"/>
            <a:ext cx="580696" cy="1194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58383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758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780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780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물 복원 선도 습지 개선사업 성공적 완료 및 후속사업 확대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301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01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’24.11 선도사업 협약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301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01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장흥댐 습지 개선 완료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301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01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사업 지속 확대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301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301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67861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최초(삼성전자) 장흥댐 습지 개선 협약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67861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퇴적토 제거 등 습지용량 회복(47%↑)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유입比 유출 수질개선 기대(4→2등급)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3044087" y="3300730"/>
            <a:ext cx="0" cy="613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67861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 소양강댐 비점오염 저감사업 추진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4926783" y="3300730"/>
            <a:ext cx="0" cy="613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536870" y="4056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569739" y="4095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4095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4073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기업협력型 오염원 유입저감 지속성 확보, 삼성전자 2천명/연 사용분 물 복원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8 서사 · 녹조 등 수질관리(관리여건 → 관리강화 배너 → 4대 대응 2×2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15212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875253" y="810783"/>
            <a:ext cx="98031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875253" y="810783"/>
            <a:ext cx="9803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녹조 등 수질관리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92130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921306" y="777913"/>
            <a:ext cx="510182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안전한 물환경 관리로 역대급 녹조 발생에 완벽 대응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062783"/>
            <a:ext cx="6300000" cy="23777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5626174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최다지점에서 조류경보제 발령(전국 경보지점 운영 29개소 中 14개소 발령)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안전지대였던 주암댐도 15년만에 조류경보 ‘관심’ 발령 등 전국에 걸쳐 녹조 심화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심화되는 녹조, 국민이 안심할 수 있도록 관리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2059983"/>
            <a:ext cx="580696" cy="136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59983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2059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81896"/>
            <a:ext cx="2802130" cy="1336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① 준비 발생저감을 위한 녹조관리 新기술 도입: 기술대전·심층토론회를 통해 산·학·관이 협업한 기술 발굴로 부력수차 등 시범 도입(대청 등 6개소)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③ 독소 안전성 검증을 위한 全주기 모니터링 강화: 상수원부터 생산된 먹는물까지 全주기에 걸쳐 모니터링 확대(2개 유역 15 → 전체 4개 유역 45개소) → 상수원 比 정수장 원수 독소 저감(89%↓), 먹는물 불검출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81896"/>
            <a:ext cx="2802130" cy="1336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② 대응 녹조발생 패턴 변화, 제거설비 운영 개선: 제거설비 적재적소에 즉시, 확대(28 → 35대)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④ 홍보 다양한 채널을 통한 국민 맞춤형 정보 제공: 全社 보도 표준안 마련, 선제 홍보(14회), 녹조 부정보도 비율 38% → 32%(-6%p)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2114765"/>
            <a:ext cx="0" cy="127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35281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5665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5665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5445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취수원 집중 녹조 수거량(5,099톤, 1.9배↑), 상수원 比 정수장 유입원수 조류개체수(75%↓)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9 서사 · 국정과제 이행 생태개선 노력(번호 띠 + 가. 친환경 공간 · 나. 강의 연속성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15495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691821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691821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수생태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89066" y="920348"/>
            <a:ext cx="28802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89066" y="766957"/>
            <a:ext cx="534780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국정과제 이행에 발맞춘 K-water 생태개선 노력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281913"/>
            <a:ext cx="41316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상류 친환경 공간 확대를 통한 자연성 회복 및 탄소 흡수원 지속 발굴</a:t>
            </a:r>
          </a:p>
        </p:txBody>
      </p:sp>
      <p:sp>
        <p:nvSpPr>
          <p:cNvPr id="17" name="태그칩"/>
          <p:cNvSpPr/>
          <p:nvPr/>
        </p:nvSpPr>
        <p:spPr>
          <a:xfrm>
            <a:off x="4767126" y="1161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767126" y="1161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1416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45173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생태 서비스 공간 확대 및 탄소 흡수원 지속 확충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45173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친환경 공간: 댐 상류에 정화림, 생태습지 등을 조성, 생태계 건강성 증진 및 탄소흡수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846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4470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5447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876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876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댐 상류 친환경 공간 조성</a:t>
            </a:r>
          </a:p>
        </p:txBody>
      </p:sp>
      <p:sp>
        <p:nvSpPr>
          <p:cNvPr id="30" name="단계"/>
          <p:cNvSpPr/>
          <p:nvPr/>
        </p:nvSpPr>
        <p:spPr>
          <a:xfrm>
            <a:off x="3985435" y="1876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876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친환경 공간 양적·질적 향상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985434" y="1876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2838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조성사업 지속: 축구장 20개 규모(14ha) 친환경 공간 조성 완료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2838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대상지 발굴: 단일사업 최대규모(29ha) 대상지(임하댐 상류) 발굴 / 탄소 흡수원 인증: 기조성지 탄소 흡수원 인증(주암댐 등 6.7ha, CO₂ 3천t 인증)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216125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536870" y="2917252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569739" y="2955600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955600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933687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여의도공원 1.3배 규모(29ha) 생태쉼터 발굴, 2.7천명 사용전력 상당 탄소 저감 인증(3천tCO₂eq)</a:t>
            </a:r>
          </a:p>
        </p:txBody>
      </p:sp>
      <p:sp>
        <p:nvSpPr>
          <p:cNvPr id="40" name="형광 밑줄"/>
          <p:cNvSpPr/>
          <p:nvPr/>
        </p:nvSpPr>
        <p:spPr>
          <a:xfrm>
            <a:off x="536870" y="3682643"/>
            <a:ext cx="38537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소제목"/>
          <p:cNvSpPr>
            <a:spLocks noGrp="1"/>
          </p:cNvSpPr>
          <p:nvPr>
            <p:ph type="body" sz="quarter" idx="35"/>
          </p:nvPr>
        </p:nvSpPr>
        <p:spPr>
          <a:xfrm>
            <a:off x="536870" y="35292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민관 소통 강화 및 체계적 준비를 통한 江의 연속성 회복 기반 마련</a:t>
            </a:r>
          </a:p>
        </p:txBody>
      </p:sp>
      <p:sp>
        <p:nvSpPr>
          <p:cNvPr id="42" name="태그칩"/>
          <p:cNvSpPr/>
          <p:nvPr/>
        </p:nvSpPr>
        <p:spPr>
          <a:xfrm>
            <a:off x="4489243" y="3562122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태그칩"/>
          <p:cNvSpPr>
            <a:spLocks noGrp="1"/>
          </p:cNvSpPr>
          <p:nvPr>
            <p:ph type="body" sz="quarter" idx="36"/>
          </p:nvPr>
        </p:nvSpPr>
        <p:spPr>
          <a:xfrm>
            <a:off x="4489243" y="3562122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4" name="표 외곽"/>
          <p:cNvSpPr/>
          <p:nvPr/>
        </p:nvSpPr>
        <p:spPr>
          <a:xfrm>
            <a:off x="536870" y="3814122"/>
            <a:ext cx="6300000" cy="152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547826" y="38305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305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524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4대강 자연성 및 생물다양성 회복: 수생태계 연속성 확보로 건강한 하천 환경 조성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8524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江의 연속성 회복을 위한 선결과제 해소 필요: 하천 수위저하로 인한 지역민원 우려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3985435" y="38853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4255200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5200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42552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42771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771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신속한 정부정책 이행을 위해 ‘수자원정책지원단’ 전담조직 신설, 추진동력 확보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45126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45126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생태계 변화 모니터링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45126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45126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지역의견 수렴 및 물이용 제약해소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45126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764678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 경관(80지점) 및 어도(11개소)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 주변 지하수위 실시간 모니터링(405공)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764678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지역소통: 사회적 공감대 형성(주민·환경단체·전문가 등) / 시설개선: 취·양수장 개선(총 70개 中 4개 완료·30개 추진中)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4797548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54220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54604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54604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54385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지역합의를 통한 보 개방 확대(승촌·백제, ’25.11)로 공감대 및 江 연속성 회복 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0 서사 · 지속가능한 물관리 개요(정의 → 추진배경 → 추진방향 → 추진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2681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지속가능한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12" name="배너"/>
          <p:cNvSpPr/>
          <p:nvPr/>
        </p:nvSpPr>
        <p:spPr>
          <a:xfrm>
            <a:off x="1347652" y="81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" name="배너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지역과 상생하며 수자원을 다변화하여 안전하고 깨끗한 물을 안정적으로 공급</a:t>
            </a:r>
          </a:p>
        </p:txBody>
      </p:sp>
      <p:sp>
        <p:nvSpPr>
          <p:cNvPr id="14" name="레일"/>
          <p:cNvSpPr/>
          <p:nvPr/>
        </p:nvSpPr>
        <p:spPr>
          <a:xfrm>
            <a:off x="734087" y="121899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21899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734086" y="121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347652" y="1240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240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물관리(지역) 여건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240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240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819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성장, 가뭄으로 물 부족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지자체 71개의 69%(49개) 소멸위험지역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819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확보, 투명한 거버넌스로 물 안보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자생력 확보를 통한 지역 균형발전 실현</a:t>
            </a:r>
          </a:p>
        </p:txBody>
      </p:sp>
      <p:cxnSp>
        <p:nvCxnSpPr>
          <p:cNvPr id="23" name="Connector 12"/>
          <p:cNvCxnSpPr/>
          <p:nvPr/>
        </p:nvCxnSpPr>
        <p:spPr>
          <a:xfrm>
            <a:off x="4171696" y="15148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202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202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6" name="배너"/>
          <p:cNvSpPr/>
          <p:nvPr/>
        </p:nvSpPr>
        <p:spPr>
          <a:xfrm>
            <a:off x="1347652" y="1942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42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성장을 위한 물그릇 확보 및 지역의 자생력을 키우는 로컬 활력 모델 필요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234485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4485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448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347652" y="23667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3667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지산지소型 물 부족 해소</a:t>
            </a:r>
          </a:p>
        </p:txBody>
      </p:sp>
      <p:sp>
        <p:nvSpPr>
          <p:cNvPr id="33" name="머리칸"/>
          <p:cNvSpPr/>
          <p:nvPr/>
        </p:nvSpPr>
        <p:spPr>
          <a:xfrm>
            <a:off x="3230348" y="23667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230348" y="23667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소통·공감을 통한 신규댐</a:t>
            </a:r>
          </a:p>
        </p:txBody>
      </p:sp>
      <p:sp>
        <p:nvSpPr>
          <p:cNvPr id="35" name="머리칸"/>
          <p:cNvSpPr/>
          <p:nvPr/>
        </p:nvSpPr>
        <p:spPr>
          <a:xfrm>
            <a:off x="5113043" y="23667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5113043" y="23667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로컬브랜딩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0780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수자원시설 효율적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다변화로 물 부족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60780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부족지역 신규 물그릇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공론화를 통한 공감대 형성</a:t>
            </a:r>
          </a:p>
        </p:txBody>
      </p:sp>
      <p:cxnSp>
        <p:nvCxnSpPr>
          <p:cNvPr id="39" name="Connector 22"/>
          <p:cNvCxnSpPr/>
          <p:nvPr/>
        </p:nvCxnSpPr>
        <p:spPr>
          <a:xfrm>
            <a:off x="3230348" y="264067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60780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댐과 지역주민의 상생과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맞춤·자립형 댐 브랜드化</a:t>
            </a:r>
          </a:p>
        </p:txBody>
      </p:sp>
      <p:cxnSp>
        <p:nvCxnSpPr>
          <p:cNvPr id="41" name="Connector 24"/>
          <p:cNvCxnSpPr/>
          <p:nvPr/>
        </p:nvCxnSpPr>
        <p:spPr>
          <a:xfrm>
            <a:off x="5113043" y="264067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1 서사 · 지산지소형 물 부족 해결(수자원 지산지소 정의 → 대체수자원 기술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기존 시설 최적 활용과 수원 다각화를 통한 지산지소형 물 부족 해결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142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지산지소</a:t>
            </a:r>
          </a:p>
        </p:txBody>
      </p:sp>
      <p:sp>
        <p:nvSpPr>
          <p:cNvPr id="18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생산(産)된 물을 그 지역에서 소비(消)할 수 있게 맞춤형 공급</a:t>
            </a:r>
          </a:p>
        </p:txBody>
      </p:sp>
      <p:sp>
        <p:nvSpPr>
          <p:cNvPr id="20" name="레일"/>
          <p:cNvSpPr/>
          <p:nvPr/>
        </p:nvSpPr>
        <p:spPr>
          <a:xfrm>
            <a:off x="547826" y="1558643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558643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대체수자원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확보기술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하수재이용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해수담수화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16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버려지던 하수를 막여과 등으로 수질개선 후 재활용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216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해수로부터 염분 등 용해 물질을 제거 후 용수로 활용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544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216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 차수벽 설치로 지하수를 저장해 활용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544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2 서사 · 부산시 10년 과제 하수재이용시설 재탄생(니즈의 일치 → 추진내용 + 단계 띠 → 기대효과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18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부산시 10년 과제, 하수재이용시설로 재탄생하여 지역 현안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459356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9356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4469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4469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31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부산광역시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동부산 산업단지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 넘게 방치된 기장 해수담수화시설 활용 모색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공업용수 공급망이 없어 비싼 생활용수 사용(2,410원/㎥)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경기서남(화성, 수원) 등 하수재이용 사업 지속 추진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1780435"/>
            <a:ext cx="580696" cy="1024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024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347652" y="180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0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기장 해수담수화시설 활용, 하수재이용 방안 사업화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7913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부산시와 협업, 최적의 공업용수 공급방안 마련 * 해수담수화 → 하수재이용 변환 기술지원, 사업성 등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의견수렴을 통한 공감대 형성(’25.9, 150명)</a:t>
            </a:r>
          </a:p>
        </p:txBody>
      </p:sp>
      <p:sp>
        <p:nvSpPr>
          <p:cNvPr id="35" name="단계"/>
          <p:cNvSpPr/>
          <p:nvPr/>
        </p:nvSpPr>
        <p:spPr>
          <a:xfrm>
            <a:off x="1347652" y="2492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492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일광·기장 하수처리수</a:t>
            </a:r>
          </a:p>
        </p:txBody>
      </p:sp>
      <p:sp>
        <p:nvSpPr>
          <p:cNvPr id="37" name="단계"/>
          <p:cNvSpPr/>
          <p:nvPr/>
        </p:nvSpPr>
        <p:spPr>
          <a:xfrm>
            <a:off x="3230348" y="2492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492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기장 해수담수화시설 여과</a:t>
            </a:r>
          </a:p>
        </p:txBody>
      </p:sp>
      <p:sp>
        <p:nvSpPr>
          <p:cNvPr id="39" name="단계"/>
          <p:cNvSpPr/>
          <p:nvPr/>
        </p:nvSpPr>
        <p:spPr>
          <a:xfrm>
            <a:off x="5113043" y="2492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492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동부산 산업단지 공업용수 공급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3230347" y="2492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5113043" y="2492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 txBox="1"/>
          <p:nvPr/>
        </p:nvSpPr>
        <p:spPr>
          <a:xfrm>
            <a:off x="1358609" y="2744609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4" name="칸 본문"/>
          <p:cNvSpPr txBox="1"/>
          <p:nvPr/>
        </p:nvSpPr>
        <p:spPr>
          <a:xfrm>
            <a:off x="3241304" y="2744609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28"/>
          <p:cNvCxnSpPr/>
          <p:nvPr/>
        </p:nvCxnSpPr>
        <p:spPr>
          <a:xfrm flipV="1">
            <a:off x="3230348" y="2766522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5124000" y="2744609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0"/>
          <p:cNvCxnSpPr/>
          <p:nvPr/>
        </p:nvCxnSpPr>
        <p:spPr>
          <a:xfrm flipV="1">
            <a:off x="5113043" y="2766522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8213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8213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효과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821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843217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 절감: 해수담수화시설 개량시 하수재이용시설 신설 대비 60억원 절감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기업부담완화: 기업의 용수 비용을 대폭 절감하여 산업경쟁력 강화(2,410 → 800원/㎥, Δ67%)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친환경수자원: 하수처리수를 방류하지 않고 재사용함으로써 지속가능한 물관리 모델 구축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465078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503426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503426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481513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동부산 하수재이용 공급 MOU 체결(’25.9, 부산시↔기업↔K-water) → ’31년 공급개시(3.6만㎥/일)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3 서사 · 무한한 해수 자원 활용(추진배경 | 추진내용 + 규모 추이 → 추진성과 두 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003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무한한 해수 자원 활용, 대산임해 지역의 지속가능한 물 공급 기반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79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79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128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최대 대산임해 해수담수화 적기 준공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일반공장 온배수 활용 「물재이용법」 개정 주도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충남서부지역 가뭄 반복, 대산산업단지 공업용수 수요 증대로 만성적 물 부족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해수담수 원수로 온배수 활용시 경제적이나, 발전소 온배수만 활용 가능한 제한적 구조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879043"/>
            <a:ext cx="580696" cy="860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79043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900957"/>
            <a:ext cx="2802130" cy="832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운영을 위한 ‘주민소통협의체’ 가동(’25.11)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최대(10만㎥/일) 해수담수화 준공(’25.12) → 가뭄·수질변동에도 산단 물공급 리스크 완전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’04년 50㎥/일 도서 최초 → ’20년 2천㎥/일 도서지역 최대 → ’25년 10만㎥/일 국내 단일 최대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900957"/>
            <a:ext cx="2802130" cy="832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21대 국회 개정 불발, 국회·임해지역 지속 설득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물재이용 범위 및 국고지원 확대(’25.3) → 온배수 활용성 증대 + 해수담수화 공급단가 13% 인하 효과(국고지원 및 운영비 절감)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3985435" y="1933826"/>
            <a:ext cx="0" cy="766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755565"/>
            <a:ext cx="580696" cy="40820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75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77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대산산업단지 항구수원 10만㎥/일 확보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77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물재이용 범위 확대, 해수담수화 사업성 제고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985435" y="281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4 서사 · 지하수저류댐 활용 다변화로 물공급 취약지역 맞춤형 해결사(추진배경 → 추진내용 지역확대 | 용도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228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지하수저류댐 활용 다변화로 물공급 취약지역 맞춤형 해결사 역할 수행</a:t>
            </a:r>
          </a:p>
        </p:txBody>
      </p:sp>
      <p:sp>
        <p:nvSpPr>
          <p:cNvPr id="11" name="태그칩"/>
          <p:cNvSpPr/>
          <p:nvPr/>
        </p:nvSpPr>
        <p:spPr>
          <a:xfrm>
            <a:off x="49446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446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673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상습 물 부족을 겪는 도서지역을 중심으로 대체수자원으로서의 효과성 인정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용수공급이 불안정한 지역, 산업단지에 안정적인 용수 공급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도서지역, 생활용수 공급에서 내륙지역, 공업용수까지 맞춤형 확대 적용</a:t>
            </a:r>
          </a:p>
        </p:txBody>
      </p:sp>
      <p:sp>
        <p:nvSpPr>
          <p:cNvPr id="24" name="머리칸"/>
          <p:cNvSpPr/>
          <p:nvPr/>
        </p:nvSpPr>
        <p:spPr>
          <a:xfrm>
            <a:off x="1347652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지역확대  도서 → 내륙(주민)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용도확대  생활 → 공업(산단)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023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지표수 취수로 오염 등에 취약한 지방상수도 취수원 개선 마중물 사업을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양평 내륙 최초 지하수저류댐 설치(’25.9) → 1천㎥/일, 지역주민 2.6천명 공급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023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산업단지의 물 리스크 완화를 위해 지하수저류댐을 활용, 공업용수 공급모델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경주 SMR 국가산단, 16천㎥/일(조사 完) / 청양 수소 지역산단, 5천㎥/일(설계 完)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20352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8241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8624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8624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84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취약지역 맞춤형 대체수원 다변화를 통해 2.2만㎥/일 규모의 안정적 신규 수원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5 서사 · 신규댐 추진(추진배경 → 추진 로드맵 3단 → 패러다임 전환 배너 → 추진실적 3칸 + 요약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관계기관 협력, 지역 소통으로 모두 공감하는 신규댐 추진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878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댐은 사회 전반에 영향, 계획 적정성 검증으로 본격적인 사업 추진단계 진입 발판 마련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865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5805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 ~’24년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5805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5805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 ’25년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5805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5805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 ’26년~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580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580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댐별 이·치수 평가 등 데이터 분석 기반 후보지 선정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댐별 대안·사업 타당성 정밀 검증 및 객관적 관점 공론화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654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댐별 최적 개발방안에 대한 사업 구체화 및 실행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654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배너"/>
          <p:cNvSpPr/>
          <p:nvPr/>
        </p:nvSpPr>
        <p:spPr>
          <a:xfrm>
            <a:off x="1161391" y="2199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199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‘他부처·기관 수자원시설 활용’ 패러다임 전환 + 기술적 타당성 및 공감대 기반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440643"/>
            <a:ext cx="580696" cy="1539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440643"/>
            <a:ext cx="580696" cy="153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440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2462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62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기관협력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2462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2462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지역소통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2462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2462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공론화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70360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기관간 칸막이 제거: 농공·한수원·K-water 협력, 농업·발전용댐 치수기능 부여 * 한수원 업무협약 체결(’25.12)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70360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요구 반영: 주민 현장소통(1,000여명), 워터투어 확대(4회, 400여명), 주민·기관 협의체 운영(15회)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044087" y="2736470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70360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전문성·공신력 확보: 정밀 검토로 최적규모 도출, 중립적 기술검증을 위한 공론화위원회 구성·운영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926783" y="2736470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배너"/>
          <p:cNvSpPr/>
          <p:nvPr/>
        </p:nvSpPr>
        <p:spPr>
          <a:xfrm>
            <a:off x="1161391" y="33883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33883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후보지 14개소 → 공감대 형성 10개소 기본구상 → 7개소 추진, 3개소 대안 전환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23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 5개소: 신규댐 기본구상을 통한 사업 구체화 / 2개소: 찬반대립, 공론화를 통해 방향성 도출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623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대안 3개소: 정부·기관·지역 협력 기반, 기존시설 활용 등 대안으로 추진 방향 선회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985435" y="3656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536870" y="40841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569739" y="41224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569739" y="41224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314783" y="410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정책 방향에 부합한 실용적인 신규댐 추진방안 마련 및 지역 물문제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6 서사 · 지원사업으로 만든 지역자립기반(댐주변지역 지원사업 정의 → 추진배경 | 복지 확대 2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지원사업으로 만든 지역자립기반, 로컬브랜딩으로 지역가치 창출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댐주변지역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지원사업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댐건설·운영 영향 댐주변지역의 경제·사회적 발전 지원, 지역 상생을 위한 사업</a:t>
            </a:r>
          </a:p>
        </p:txBody>
      </p:sp>
      <p:sp>
        <p:nvSpPr>
          <p:cNvPr id="19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15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댐주변지역 지자체 71개의 69%(49개)가 소멸위험지역으로 생활 인프라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915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의료·문화 등 체감형 복지 인프라 확충 및 댐 지역 활성화로 지방소멸 대응 필요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6243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형광 밑줄"/>
          <p:cNvSpPr/>
          <p:nvPr/>
        </p:nvSpPr>
        <p:spPr>
          <a:xfrm>
            <a:off x="723130" y="2399635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소제목"/>
          <p:cNvSpPr>
            <a:spLocks noGrp="1"/>
          </p:cNvSpPr>
          <p:nvPr>
            <p:ph type="body" sz="quarter" idx="27"/>
          </p:nvPr>
        </p:nvSpPr>
        <p:spPr>
          <a:xfrm>
            <a:off x="723130" y="224624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찾아가는 맞춤형 돌봄과 네트워크 구축으로 지역 공동체 강화</a:t>
            </a:r>
          </a:p>
        </p:txBody>
      </p:sp>
      <p:sp>
        <p:nvSpPr>
          <p:cNvPr id="27" name="태그칩"/>
          <p:cNvSpPr/>
          <p:nvPr/>
        </p:nvSpPr>
        <p:spPr>
          <a:xfrm>
            <a:off x="4382591" y="22791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칩"/>
          <p:cNvSpPr>
            <a:spLocks noGrp="1"/>
          </p:cNvSpPr>
          <p:nvPr>
            <p:ph type="body" sz="quarter" idx="28"/>
          </p:nvPr>
        </p:nvSpPr>
        <p:spPr>
          <a:xfrm>
            <a:off x="4382591" y="22791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531113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547548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547548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569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694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의료 돌봄, 낙동강을 넘어 한강까지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569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694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공동체 지원으로 사회관계망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8105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의료 돌봄 대상지역 확대(낙동 3 → 낙동·한강 6개면)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니즈에 맞춘 서비스 양적·질적 향상 → 추적검진 전년比 2배↑, 녹내장·치매검사 도입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8105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지역정착을 돕는 맞춤 커뮤니티 지원(남강댐)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귀농 멘토링, 아빠육아교실, 청소년 문화교육 → 7개 커뮤니티 구축, 지역주민 204명 지원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8433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7 서사 · 상품개발에서 온·오프라인 이음장날까지 농가 소득 확보(지역특화 상품개발 3단 → 온오프라인 이음장날 3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808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상품개발에서 온·오프라인 ‘이음장날’까지 실질적 농가 소득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41631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1631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70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상품개발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지속 모델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참여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지역특화 상품 개발·판매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댐과 지역사회가 동반성장 → K-water 홍보, 협동조합 관리, 주민 생산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참여 무농약 들깨 재배 → 축구장 3배 넓이 밀원식물 생산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무농약 들기름 1,150병 생산 → 일자리 19명, 매출 37백만원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911913"/>
            <a:ext cx="580696" cy="827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11913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온오프라인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이음장날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911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"/>
          <p:cNvSpPr/>
          <p:nvPr/>
        </p:nvSpPr>
        <p:spPr>
          <a:xfrm>
            <a:off x="1161391" y="19338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33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직거래 행사 확대</a:t>
            </a:r>
          </a:p>
        </p:txBody>
      </p:sp>
      <p:sp>
        <p:nvSpPr>
          <p:cNvPr id="35" name="단계"/>
          <p:cNvSpPr/>
          <p:nvPr/>
        </p:nvSpPr>
        <p:spPr>
          <a:xfrm>
            <a:off x="3044087" y="19338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33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오프라인 매장 확대</a:t>
            </a:r>
          </a:p>
        </p:txBody>
      </p:sp>
      <p:sp>
        <p:nvSpPr>
          <p:cNvPr id="37" name="단계"/>
          <p:cNvSpPr/>
          <p:nvPr/>
        </p:nvSpPr>
        <p:spPr>
          <a:xfrm>
            <a:off x="4926783" y="19338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33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 온라인 커머스 입점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044086" y="19338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4926782" y="1933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5826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대전 중심에서 전국 유역 거점으로 확대(2→5회) → 매출 213백만원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5826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서울정원박람회, 대전파머스 농가·청년창업 식품 40종 → 이틀 동안 매출 45백만원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21869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5826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공공형 쇼핑몰(남도장터) 농가제품 18종 입점 → 7천여명 시청, 매출 63백만원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21869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8 서사 · 댐이 그려내는 지역가치 재창출(댐 가치 재창출 3칸 → 로컬브랜딩 론칭 3칸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6519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댐이 그려내는 지역가치 재창출, 소멸의 벽을 넘어 로컬 활력 프로젝트</a:t>
            </a:r>
          </a:p>
        </p:txBody>
      </p:sp>
      <p:sp>
        <p:nvSpPr>
          <p:cNvPr id="11" name="태그칩"/>
          <p:cNvSpPr/>
          <p:nvPr/>
        </p:nvSpPr>
        <p:spPr>
          <a:xfrm>
            <a:off x="488693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693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438052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438052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021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재창출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댐-잇 프로젝트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연계 철도여행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역사·문화 발굴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한탄강댐, 군남댐 여행코스 발굴 및 인플루언서 활용·홍보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댐잇투어 프로그램 팝업스토어 → SNS 379건, 30백만원 판매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코레일 협업 댐 기차여행 상품 출시(영주·섬진강·밀양)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연계 지역특산물 판매 → 방문객 270명, 지역매출 18백만원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충주댐 역사문화자원 사진전, 제천시 문화유산 학술대회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인문경관자원 다큐 제작 → 다큐방송 3회, 숏폼 제작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95391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9539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9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347652" y="2317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317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지역가치 재창출 가능성 발견, 댐 로컬브랜딩 론칭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2696713"/>
            <a:ext cx="580696" cy="1051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967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로컬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브랜딩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6967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27186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7186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주변이 사람들이 찾는 매력적인 곳이 되도록 댐 지역 고유자원을 활용, 브랜드化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954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954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 매칭 공모 확대</a:t>
            </a:r>
          </a:p>
        </p:txBody>
      </p:sp>
      <p:sp>
        <p:nvSpPr>
          <p:cNvPr id="41" name="머리칸"/>
          <p:cNvSpPr/>
          <p:nvPr/>
        </p:nvSpPr>
        <p:spPr>
          <a:xfrm>
            <a:off x="3230348" y="2954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230348" y="2954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 특화사업 22건 발굴</a:t>
            </a:r>
          </a:p>
        </p:txBody>
      </p:sp>
      <p:sp>
        <p:nvSpPr>
          <p:cNvPr id="43" name="머리칸"/>
          <p:cNvSpPr/>
          <p:nvPr/>
        </p:nvSpPr>
        <p:spPr>
          <a:xfrm>
            <a:off x="5113043" y="2954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54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로컬브랜딩 전용 앱 개발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195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최다 지자체 공모신청(34건)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 공모 규모확대(9건)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로컬브랜딩 댐-지자체 3개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3195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용담댐-진안군 로컬브랜딩 아이디어 발굴 대학생 해커톤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충남대, 전북대 등 청년 73명 참여</a:t>
            </a:r>
          </a:p>
        </p:txBody>
      </p:sp>
      <p:cxnSp>
        <p:nvCxnSpPr>
          <p:cNvPr id="47" name="Connector 28"/>
          <p:cNvCxnSpPr/>
          <p:nvPr/>
        </p:nvCxnSpPr>
        <p:spPr>
          <a:xfrm>
            <a:off x="3230348" y="3228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95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맞춤형 플랫폼(App) ‘로컬바이브’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정보·커뮤니티·마켓·예약 등</a:t>
            </a:r>
          </a:p>
        </p:txBody>
      </p:sp>
      <p:cxnSp>
        <p:nvCxnSpPr>
          <p:cNvPr id="49" name="Connector 30"/>
          <p:cNvCxnSpPr/>
          <p:nvPr/>
        </p:nvCxnSpPr>
        <p:spPr>
          <a:xfrm>
            <a:off x="5113043" y="3228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주요성과 박스"/>
          <p:cNvSpPr/>
          <p:nvPr/>
        </p:nvSpPr>
        <p:spPr>
          <a:xfrm>
            <a:off x="723130" y="3841670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주요성과 라벨"/>
          <p:cNvSpPr/>
          <p:nvPr/>
        </p:nvSpPr>
        <p:spPr>
          <a:xfrm>
            <a:off x="756000" y="3874539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주요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874539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3" name="주요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858104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국정과제(취약지역 의료서비스 확대) 이행, 의료돌봄 만족도 2년 연속 99%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지역특화 상품개발 중기부 원원아너스 우수, 이음장날 매출 321백만원 달성(전년比 3.2배)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로컬브랜딩 선정 3개 댐-지자체 MP 수립 착수, 역대 최대 지역상생협력사업 200억원 발굴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9 서사 · 스마트 기술 활용 및 구조적 작업방식 개선으로 안전예방체계 마련(고소 · 수중 · 선박작업 + 제도개선 4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94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활용 및 구조적 작업방식 개선 통해 안전예방체계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53002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002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11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11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항공드론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용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위험구간·사각지대 외관점검 인력 대체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인력 대체 업무범위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홍수기 후 시설외관점검을 인력 의존에서 드론 영상촬영으로 대체(AI 활용, 안전진단) / ’24년 7개 댐 → ’25년 37개 全댐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외부세척(콘크리트)에 드론 최초 활용(충주댐) * 고압 살수로 표면 이물질 제거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879043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9043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수중작업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최소화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00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00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수중드론 활용 안전점검 일상화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00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00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대안공법 마련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4200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인력점검 대체, 잠수 전 드론 점검체계 도입 / ’24년 5건 → ’25년 24건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4200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여건 고려, 非수중공사로 공법 변경 * 기존시설 수중 보강 → 신규시설 육상 공사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74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2580261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운행환경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602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02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선박 안전 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602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02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승무원·근로자 안전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43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안전점검: 선박실태점검 강화(연 1회 →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표준화: 용도별 선박 형식 통일(5종) * 선박규격 체계화로 운항·정비 등 효율성 제고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43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선상안전: 안전장치(미끄럼 방지 등)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계류시설: 진입도교 등 노후시설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안전교육: 선장 교육 강화(1회/5년 → 1회/2년)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876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67739"/>
            <a:ext cx="580696" cy="871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467739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46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머리칸"/>
          <p:cNvSpPr/>
          <p:nvPr/>
        </p:nvSpPr>
        <p:spPr>
          <a:xfrm>
            <a:off x="1161391" y="3489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489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수중작업 기술기준 개정</a:t>
            </a:r>
          </a:p>
        </p:txBody>
      </p:sp>
      <p:sp>
        <p:nvSpPr>
          <p:cNvPr id="50" name="머리칸"/>
          <p:cNvSpPr/>
          <p:nvPr/>
        </p:nvSpPr>
        <p:spPr>
          <a:xfrm>
            <a:off x="3985435" y="3489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489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건설공사 안전체계 개선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730696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 수중작업 여건 보장을 위해 적정 인력, 대가, 공법선정 방식 등 기준 마련 * 설계 단계부터 수중공사 작업자 안전 확보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730696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全댐건설사업에 감리제도 도입(공사 최초) / 기존 35명 자체 → 개선 69명 자체+감리 * 전액 재정사업인 댐건설에 자체예산 투입(540억원)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3985435" y="3763565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50 서사 · 시민재해 Zero구역 조성(능동적 수문방류 경보 | 국민이용시설 개선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947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안심하고 댐을 찾고 즐길 수 있도록 시민재해 Zero구역 조성</a:t>
            </a:r>
          </a:p>
        </p:txBody>
      </p:sp>
      <p:sp>
        <p:nvSpPr>
          <p:cNvPr id="11" name="태그칩"/>
          <p:cNvSpPr/>
          <p:nvPr/>
        </p:nvSpPr>
        <p:spPr>
          <a:xfrm>
            <a:off x="491647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1647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44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시민재해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능동적 수문방류 경보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 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안내·경보방식 다각화 → 범용성 높은 매체로 인근 시민에게 실시간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~’24년 SMS, 내비게이션, 방류 전 안내음성 / ’25년 카카오톡 추가알림(全댐), 시각정보 상시 송출(8개댐)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노후시설 교체 및 안전시설 투자 확대 * 댐 정상부, 문화관, 공원 등 국민이용시설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6건, 13억원 / ’24년 11건, 23억원 / ’25년 12건, 43억원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777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주요성과 박스"/>
          <p:cNvSpPr/>
          <p:nvPr/>
        </p:nvSpPr>
        <p:spPr>
          <a:xfrm>
            <a:off x="723130" y="2284435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주요성과 라벨"/>
          <p:cNvSpPr/>
          <p:nvPr/>
        </p:nvSpPr>
        <p:spPr>
          <a:xfrm>
            <a:off x="756000" y="231730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주요성과 라벨"/>
          <p:cNvSpPr>
            <a:spLocks noGrp="1"/>
          </p:cNvSpPr>
          <p:nvPr>
            <p:ph type="body" sz="quarter" idx="27"/>
          </p:nvPr>
        </p:nvSpPr>
        <p:spPr>
          <a:xfrm>
            <a:off x="756000" y="231730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6" name="주요성과 문구"/>
          <p:cNvSpPr>
            <a:spLocks noGrp="1"/>
          </p:cNvSpPr>
          <p:nvPr>
            <p:ph type="body" sz="quarter" idx="28"/>
          </p:nvPr>
        </p:nvSpPr>
        <p:spPr>
          <a:xfrm>
            <a:off x="1501043" y="2300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스마트기술 활용 및 선제적 안전관리를 통한 산업·시민재해 저감(△32%)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1 서사 · 추진배경(글로벌 환경 + 국정과제 + 중장기전략) → 추진방향 → 추진과제 3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974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환경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39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기후공시 등 요구로 기업 탄소경쟁력 강화 필수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위한 재생에너지 중심 에너지 대전환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재생에너지 직접공급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484609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846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484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506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506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저탄소 물에너지 확산을 통한 탄소중립 사회 전환 선도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040730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04073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2040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머리칸"/>
          <p:cNvSpPr/>
          <p:nvPr/>
        </p:nvSpPr>
        <p:spPr>
          <a:xfrm>
            <a:off x="1161391" y="20626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0626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전략수립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0626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0626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내실 있는 사업추진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0626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0626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수출기업 지원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0368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재생e 10GW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국가목표의 4% → 10% 수준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0368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· 수열에너지 · 조력발전 · 그린수소</a:t>
            </a:r>
          </a:p>
        </p:txBody>
      </p:sp>
      <p:cxnSp>
        <p:nvCxnSpPr>
          <p:cNvPr id="40" name="Connector 26"/>
          <p:cNvCxnSpPr/>
          <p:nvPr/>
        </p:nvCxnSpPr>
        <p:spPr>
          <a:xfrm>
            <a:off x="3044087" y="2336557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0368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제도적 한계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RE100 글로벌 인증기준 개선 등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4926783" y="2336557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52 서사 · 재생e 10GW 개발을 위한 Re:boot 로드맵(Re:boot TF 3단 → 요약 배너 → 주요내용 3칸 → 2030 미래상 2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재생e 10GW 개발을 위한 Re:boot 로드맵 마련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5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재생e 설비용량 1위(1,541MW)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단, 글로벌 규제 등 수요폭증 대비 최근 10년간 성장 정체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신성장 SPEED UP 전략방향② 물에너지 선도기술 육성·사업화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166870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’25~’29 전략환류: ‘물에너지 기반 저탄소 에너지 전환’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새정부 123대 국정과제 ‘재생e 중심 대전환’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199739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166870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Re:boot TF로 퀀텀점프: ‘2030년까지 재생에너지 10GW(누적) 개발’, 국가 탄소중립 실현 및 PPA확대 선도적 역할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상생 모델 확산 + 재생e 개발 가속화 + 기업 RE100 지원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199739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394000"/>
            <a:ext cx="580696" cy="920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394000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재생e 10GW(既 1.5GW + 新 8.5GW) 개발 추진으로 국가 목표의 10% 달성</a:t>
            </a:r>
          </a:p>
        </p:txBody>
      </p:sp>
      <p:sp>
        <p:nvSpPr>
          <p:cNvPr id="29" name="머리칸"/>
          <p:cNvSpPr/>
          <p:nvPr/>
        </p:nvSpPr>
        <p:spPr>
          <a:xfrm>
            <a:off x="1347652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지역 상생 모델 확산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재생e 개발 가속화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 기업 RE100 지원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8925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주민이익공유형 마을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투자자금 지원방안 마련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8925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전원별 물에너지 개발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 추진으로 선도기술 확보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925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8925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수출기업·산단 PPA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PPA시장분석 등 전략 고도화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925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3078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33078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 상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30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35269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주민이익공유형 마을: 총 32개소 447개 마을(누적) 조성 / ’25년 총 3개소 54마을 조성, 주민소득 연 8.7억 실현 中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335269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재생e 직접공급: PPA 총 26건(누적) 체결 / ’25년 총 6건 299MW 체결, 국내 직접PPA 49% 공급 中 / 100% 재생에너지 사용 · 에너지절감 · 간헐성보완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4171696" y="3385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3 서사 · 국민과 공유하고 공공·지자체와 협력하는 물에너지 확산(수상태양광 · 수열 · 조력 · 그린수소 4행 → 추진성과 두 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국민과 공유하고 공공·지자체와 협력하는 물에너지 확산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10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설치 주민반대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모델 제시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주민반대 극복 신규 개발 착수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40791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현안: 환경훼손 우려 및 지역소외로 수용성 저하 → 공공주도 사업 한계 봉착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40791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대응: 지역민과 발전수익을 공유하는 모델 제안·설득 → 임하 수상태양광 준공(’25.7)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044087" y="144078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40791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환류: 합천(2단계) 수상태양광 개발 사업 착수(이익공유형) → 주민참여모델 본격 확대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4926783" y="144078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977652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776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97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99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99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수열e 대용량 히트펌프 기술실증·상용화</a:t>
            </a:r>
          </a:p>
        </p:txBody>
      </p:sp>
      <p:sp>
        <p:nvSpPr>
          <p:cNvPr id="38" name="머리칸"/>
          <p:cNvSpPr/>
          <p:nvPr/>
        </p:nvSpPr>
        <p:spPr>
          <a:xfrm>
            <a:off x="3985435" y="199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199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주거 공간으로 첫 접목 시도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4060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평가단: 대용량 히트펌프 기술 실증 및 상용화를 위한 체계적 추진전략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대용량 히트펌프 실증운영(한강본부)으로 성능검증 완료(에너지사용량 약 40% 절감) → 실증 후 코엑스 설치(’25.6), 미래에셋 설계적용(’25.12)으로 상용화 기반 마련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4060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롯데월드타워, 상주 스마트팜 등 대형건물·랜드마크 중심 수열공급(~’24)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최초: 경기도 공동주택(604세대) 수열 도입 시범추진(냉난방 비용 최대 약 66% 절감 기대) → 경기도 3기 신도시 등 전국 공동주택 수열에너지 공급 확대기반 마련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985435" y="2273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3303391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303391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발전</a:t>
            </a:r>
          </a:p>
        </p:txBody>
      </p:sp>
      <p:sp>
        <p:nvSpPr>
          <p:cNvPr id="45" name="머리칸"/>
          <p:cNvSpPr/>
          <p:nvPr/>
        </p:nvSpPr>
        <p:spPr>
          <a:xfrm>
            <a:off x="1161391" y="332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32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시화 조력 증설</a:t>
            </a:r>
          </a:p>
        </p:txBody>
      </p:sp>
      <p:sp>
        <p:nvSpPr>
          <p:cNvPr id="47" name="머리칸"/>
          <p:cNvSpPr/>
          <p:nvPr/>
        </p:nvSpPr>
        <p:spPr>
          <a:xfrm>
            <a:off x="3985435" y="332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3985435" y="332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새만금 조력 개발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566348"/>
            <a:ext cx="2802130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평가단: 조력 증설사업은 수익성이 낮아 재무적 부담 우려, 개선방안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해수유통을 통한 수질개선, 홍수억제 등 국고지원이 가능한 공익가치 제시(’25.11)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566348"/>
            <a:ext cx="2802130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현안: 부족한 사업성 및 타 기관(농공) 관리시설로 진입장벽 존재(경쟁 분위기)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수문증설 기본구상 국고확보(5억원) 및 새만금 공동협정(기후부·농공·한수원) 체결(’25.12)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3985435" y="359921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4256609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6609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수소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425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배너"/>
          <p:cNvSpPr/>
          <p:nvPr/>
        </p:nvSpPr>
        <p:spPr>
          <a:xfrm>
            <a:off x="1161391" y="427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7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평가단: 그린수소 기술은 아직 초기단계에 머물고 있어 실증 및 상용화 전략 필요</a:t>
            </a:r>
          </a:p>
        </p:txBody>
      </p:sp>
      <p:sp>
        <p:nvSpPr>
          <p:cNvPr id="57" name="단계"/>
          <p:cNvSpPr/>
          <p:nvPr/>
        </p:nvSpPr>
        <p:spPr>
          <a:xfrm>
            <a:off x="1161391" y="4514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4514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실증기반 기술 개발</a:t>
            </a:r>
          </a:p>
        </p:txBody>
      </p:sp>
      <p:sp>
        <p:nvSpPr>
          <p:cNvPr id="59" name="단계"/>
          <p:cNvSpPr/>
          <p:nvPr/>
        </p:nvSpPr>
        <p:spPr>
          <a:xfrm>
            <a:off x="3044087" y="4514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3044087" y="4514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상업판매</a:t>
            </a:r>
          </a:p>
        </p:txBody>
      </p:sp>
      <p:sp>
        <p:nvSpPr>
          <p:cNvPr id="61" name="단계"/>
          <p:cNvSpPr/>
          <p:nvPr/>
        </p:nvSpPr>
        <p:spPr>
          <a:xfrm>
            <a:off x="4926783" y="4514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4926783" y="4514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 대체수자원 활용 상용화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044086" y="4514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4926782" y="451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766087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성남·안산 실증운영 기반 핵심기술 연구개발 수행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6"/>
          </p:nvPr>
        </p:nvSpPr>
        <p:spPr>
          <a:xfrm>
            <a:off x="3055043" y="4766087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수력e 기반 그린수소 최초 상업판매 개시(성남, ’25.7)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044087" y="4798957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4937739" y="4766087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하수 활용 그린수소 생산 상용화 협약(제주, ’25.11)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4926783" y="4798957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536870" y="5313913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569739" y="5346783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569739" y="5346783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314783" y="5335826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임하·합천(2단계) 수상태양광 신규 추진으로 재생e 발전용량 전년대비 116% 확대(58 → 125MW)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그린수소 실증 및 최적 운영방안 도입으로 그린수소 30톤/연 생산능력 확보(전년대비 76% 향상)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54 서사 · RE100 인증 글로벌 기준 개정으로 수출기업 지원 확대(추진배경 → 글로벌 신뢰 확보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RE100 인증 글로벌 기준 개정으로 수출기업 지원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기업: 수요 대비 부족한 공급량(RE12), 그마저도 RE100에는 대부분 태양광만 활용 → 재생e의 공급량과 공급 다양성 확대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국내 재생e 보유 1위 기업을 넘어 조력 등 활용, 기업의 든든한 RE100 지원군 역할 → 수력을 활용한 PPA 사업 확대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681826"/>
            <a:ext cx="580696" cy="93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81826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 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681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347652" y="1703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1703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수력에 적합한 ‘지속가능성 인증’ 발굴로 세계에서 통용되는 고품질 RE100 자원 공급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39304"/>
            <a:ext cx="2802130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문제점: 국내 수력은 글로벌 RE100으로 미인정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수력의 글로벌 RE100 적용은 ‘지속가능성 인증’ 필수, But 유럽·북미 중심으로 적용 → 국내 수력도 통용될 수 있는 인증기준 발굴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39304"/>
            <a:ext cx="2802130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극복: K-인증수단 발굴로 글로벌 기준 획득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사례조사 통해 WCD(세계댐위원회)에 유사 인증제도 발굴, 대체인정 허용 요청 → RE100 기술기준에 WCD 기준 추가·개정 완료(3월)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171696" y="197217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723130" y="271721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756000" y="275008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5008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3913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수출기업 RE100 이행 지원을 위한 계약(PPA) 3건 추가 달성(누적 6건)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확대기반 마련으로 수출기업 RE100 이행률 2.3%p 상향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5 서사 · 수변도시 도시 활성화 위한 고객 니즈 반영 및 재무부담 완화(송산GC · 시화MTV · 부산EDC · 공통: 이슈 및 니즈 → 추진실적 → 효과 및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12622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663094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663094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수변도시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321299" y="920348"/>
            <a:ext cx="29373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321299" y="766957"/>
            <a:ext cx="551557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도시 활성화 위한 고객 니즈 반영 및 재무부담 완화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3572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3572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490839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90839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608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161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161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송산GC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동측 주거지역 정착(분양률 80%), 남측 산업용지 적기 공급 및 지역니즈 부응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이슈 및 니즈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효과 및 성과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577739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수도권 과밀억제로 공장이전 등 용지확보 니즈↑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안산지역 인구계획 대비 에너지 공급 부족 우려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577739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이전기업 수요 고려 산업용지 신속 공급(’26년 → ’25년, 출시 목표 대비 125% 출시)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적기 공급 위한 선제적 계획 변경(열병합발전소 면적 확대, 조기 계획반영)</a:t>
            </a:r>
          </a:p>
        </p:txBody>
      </p:sp>
      <p:cxnSp>
        <p:nvCxnSpPr>
          <p:cNvPr id="34" name="Connector 22"/>
          <p:cNvCxnSpPr/>
          <p:nvPr/>
        </p:nvCxnSpPr>
        <p:spPr>
          <a:xfrm>
            <a:off x="3044087" y="161060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577739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2,964억원(전년比 147%) 분양(산업용지 45개 기업 입주 확정)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발전사(남동발전) 유치 성공으로 에너지 조기 안정화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4926783" y="161060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695304"/>
            <a:ext cx="580696" cy="144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695304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시화MTV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695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71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71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조성공사 마무리 및 분양률 90%, 토지분양 이후 지역 활성화 위한 상생 노력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952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952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이슈 및 니즈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52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3044087" y="2952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52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926783" y="2952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효과 및 성과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52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5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20478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거북섬 상가 공실 심각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대중교통 및 주차 인프라 부족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20478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거북섬 활력증진 TF구성, 대안 모색(시흥시·K-water·민간)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미분양용지 주거용도 전환, 순환버스 지원, 임시 무료 주차장(2,140대) 확충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044087" y="3237652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20478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정주인구 확대 전망(당초 계획 대비 4천명 인구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지역활성화 위한 주차 인프라 등 제공(지역행사 방문객 확대)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926783" y="3237652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4158000"/>
            <a:ext cx="580696" cy="161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158000"/>
            <a:ext cx="580696" cy="161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부산EDC</a:t>
            </a:r>
          </a:p>
        </p:txBody>
      </p:sp>
      <p:sp>
        <p:nvSpPr>
          <p:cNvPr id="57" name="배너"/>
          <p:cNvSpPr/>
          <p:nvPr/>
        </p:nvSpPr>
        <p:spPr>
          <a:xfrm>
            <a:off x="1161391" y="4179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4179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서부산 발전과 경제 활성화 선도(공사 81%, 분양 43%), 도시자족 위한 기업 유치 박차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4415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4415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이슈 및 니즈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4415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4415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4415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4415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효과 및 성과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4415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4415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667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주거용지 분양률(72%) 대비 산업용지 저조(22%)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EDC 도시자족기능 향상 위한 기업 유치 필요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667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EDC 기회발전특구 지정(세금 감면, 보조금 지원, 근로자 주택 특별공급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한시적 분양가 인하 시행(산업입지법 근거, 당초 분양단가의 90% 수준으로 할인)</a:t>
            </a:r>
          </a:p>
        </p:txBody>
      </p:sp>
      <p:cxnSp>
        <p:nvCxnSpPr>
          <p:cNvPr id="69" name="Connector 47"/>
          <p:cNvCxnSpPr/>
          <p:nvPr/>
        </p:nvCxnSpPr>
        <p:spPr>
          <a:xfrm>
            <a:off x="3044087" y="4700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667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산업용지 1,268억원 분양(데이터센터 등 12개 기업 유치)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제도개선에 따른 기업유치 활성화로 도시자족기능 강화</a:t>
            </a:r>
          </a:p>
        </p:txBody>
      </p:sp>
      <p:cxnSp>
        <p:nvCxnSpPr>
          <p:cNvPr id="71" name="Connector 49"/>
          <p:cNvCxnSpPr/>
          <p:nvPr/>
        </p:nvCxnSpPr>
        <p:spPr>
          <a:xfrm>
            <a:off x="4926783" y="4700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785043"/>
            <a:ext cx="580696" cy="1336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5785043"/>
            <a:ext cx="580696" cy="133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통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78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배너"/>
          <p:cNvSpPr/>
          <p:nvPr/>
        </p:nvSpPr>
        <p:spPr>
          <a:xfrm>
            <a:off x="1161391" y="5806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6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5806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적극적인 소통으로 분양고객의 이슈 파악 및 제도 개선</a:t>
            </a:r>
          </a:p>
        </p:txBody>
      </p:sp>
      <p:sp>
        <p:nvSpPr>
          <p:cNvPr id="77" name="단계"/>
          <p:cNvSpPr/>
          <p:nvPr/>
        </p:nvSpPr>
        <p:spPr>
          <a:xfrm>
            <a:off x="1161391" y="6042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이슈 및 니즈</a:t>
            </a:r>
          </a:p>
        </p:txBody>
      </p:sp>
      <p:sp>
        <p:nvSpPr>
          <p:cNvPr id="79" name="단계"/>
          <p:cNvSpPr/>
          <p:nvPr/>
        </p:nvSpPr>
        <p:spPr>
          <a:xfrm>
            <a:off x="3044087" y="6042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6042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81" name="단계"/>
          <p:cNvSpPr/>
          <p:nvPr/>
        </p:nvSpPr>
        <p:spPr>
          <a:xfrm>
            <a:off x="4926783" y="6042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6042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효과 및 성과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3044086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4926782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6294522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사용(착공)시 대금완납 또는 보증보험 가입 등 고객부담 高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6294522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토지사용시 재무부담 경감방안 시행: 납부조건완화 · 할부이자면제 · 담보물건확대(정기예금증서, 기타 담보(부동산 등) 확대)</a:t>
            </a:r>
          </a:p>
        </p:txBody>
      </p:sp>
      <p:cxnSp>
        <p:nvCxnSpPr>
          <p:cNvPr id="87" name="Connector 60"/>
          <p:cNvCxnSpPr/>
          <p:nvPr/>
        </p:nvCxnSpPr>
        <p:spPr>
          <a:xfrm>
            <a:off x="3044087" y="6327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6294522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 사용(착공) 확대로 4,214억원 조기 매출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상가, 주차장 등 생활인프라 본격 건설로 정주 여건 개선</a:t>
            </a:r>
          </a:p>
        </p:txBody>
      </p:sp>
      <p:cxnSp>
        <p:nvCxnSpPr>
          <p:cNvPr id="89" name="Connector 62"/>
          <p:cNvCxnSpPr/>
          <p:nvPr/>
        </p:nvCxnSpPr>
        <p:spPr>
          <a:xfrm>
            <a:off x="4926783" y="6327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핵심성과 박스"/>
          <p:cNvSpPr/>
          <p:nvPr/>
        </p:nvSpPr>
        <p:spPr>
          <a:xfrm>
            <a:off x="536870" y="722582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7264174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7"/>
          </p:nvPr>
        </p:nvSpPr>
        <p:spPr>
          <a:xfrm>
            <a:off x="569739" y="7264174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8"/>
          </p:nvPr>
        </p:nvSpPr>
        <p:spPr>
          <a:xfrm>
            <a:off x="1314783" y="7242261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고객 니즈 해소와 제도개선으로 재무성과 창출(총매출 1조원, 분양 6,786억원) 및 도시 활성화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56 서사 · 국정과제의 차질없는 이행을 위한 AI·기후대응 미래도시 선도(번호 띠 + 가. 스마트시티 준비된 K-AI 시티 · 나. 기후위험 대비 도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14780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870938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870938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특화도시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29143" y="931304"/>
            <a:ext cx="35869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29143" y="777913"/>
            <a:ext cx="549398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국정과제의 차질없는 이행을 위한 AI·기후대응 미래도시 선도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139478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172348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172348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스마트시티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720624" y="1292870"/>
            <a:ext cx="296356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5"/>
          </p:nvPr>
        </p:nvSpPr>
        <p:spPr>
          <a:xfrm>
            <a:off x="1720624" y="1139478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준비된 K-AI 시티, 부산EDC 스마트서비스 본격화</a:t>
            </a:r>
          </a:p>
        </p:txBody>
      </p:sp>
      <p:sp>
        <p:nvSpPr>
          <p:cNvPr id="19" name="태그칩"/>
          <p:cNvSpPr/>
          <p:nvPr/>
        </p:nvSpPr>
        <p:spPr>
          <a:xfrm>
            <a:off x="4782794" y="1172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6"/>
          </p:nvPr>
        </p:nvSpPr>
        <p:spPr>
          <a:xfrm>
            <a:off x="4782794" y="1172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333915" y="1172348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7"/>
          </p:nvPr>
        </p:nvSpPr>
        <p:spPr>
          <a:xfrm>
            <a:off x="5333915" y="1172348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24348"/>
            <a:ext cx="6300000" cy="40102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44078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44078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462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~’24년 스마트빌리지(리빙랩) 운영, 혁신기술(88개) 실증, 민·관 공동 SPC 설립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462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스마트서비스 조기 개시(’29년 → ’25년), K-AI 시티로의 구현 사전 준비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495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1865426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654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18654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87339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플랫폼·인프라 先구축(~’28) 후, 서비스 운영계획(’29~)이었으나, 기술변화 가속화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新정부의 속도감 있는 AI 정책에 발맞춰 신속한 스마트서비스 개시 및 AI 시티 구현 필요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421548"/>
            <a:ext cx="580696" cy="1539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421548"/>
            <a:ext cx="580696" cy="153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조기개시</a:t>
            </a:r>
          </a:p>
        </p:txBody>
      </p:sp>
      <p:sp>
        <p:nvSpPr>
          <p:cNvPr id="35" name="단계"/>
          <p:cNvSpPr/>
          <p:nvPr/>
        </p:nvSpPr>
        <p:spPr>
          <a:xfrm>
            <a:off x="1347652" y="24434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24434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론칭 계획 조정</a:t>
            </a:r>
          </a:p>
        </p:txBody>
      </p:sp>
      <p:sp>
        <p:nvSpPr>
          <p:cNvPr id="37" name="단계"/>
          <p:cNvSpPr/>
          <p:nvPr/>
        </p:nvSpPr>
        <p:spPr>
          <a:xfrm>
            <a:off x="3230348" y="24434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5"/>
          </p:nvPr>
        </p:nvSpPr>
        <p:spPr>
          <a:xfrm>
            <a:off x="3230348" y="24434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피드백 반영</a:t>
            </a:r>
          </a:p>
        </p:txBody>
      </p:sp>
      <p:sp>
        <p:nvSpPr>
          <p:cNvPr id="39" name="단계"/>
          <p:cNvSpPr/>
          <p:nvPr/>
        </p:nvSpPr>
        <p:spPr>
          <a:xfrm>
            <a:off x="5113043" y="24434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6"/>
          </p:nvPr>
        </p:nvSpPr>
        <p:spPr>
          <a:xfrm>
            <a:off x="5113043" y="24434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스마트서비스 조기도입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3230347" y="24434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5113043" y="24434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95461"/>
            <a:ext cx="1860783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서비스 워크숍 운영(9회): 서비스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중앙정부 · 지자체(부산시) · K-water · 스마트시티SPC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신속한 서비스 도입 + 플랫폼·인프라 구축 병행 결정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695461"/>
            <a:ext cx="1860783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입주민 의견수렴·피드백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“통학을 지원하는 버스 운영해주세요”, “생활편의·안전까지 지원해주세요”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“신도시의 교통여건 고려, 운영시간 조정”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3230348" y="2728330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695461"/>
            <a:ext cx="1860783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공동주택(1,080세대) 로봇서비스, 자율주행차(버스)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생활편의 로봇(순찰, 짐운반, 청소, 바리스타)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통학로 중심 자율주행차(통학 시간대 집중 운영)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5113043" y="2728330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39773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39773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시티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구현준비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39773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머리칸"/>
          <p:cNvSpPr/>
          <p:nvPr/>
        </p:nvSpPr>
        <p:spPr>
          <a:xfrm>
            <a:off x="1347652" y="39992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9992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분산 에너지 특구 지정</a:t>
            </a:r>
          </a:p>
        </p:txBody>
      </p:sp>
      <p:sp>
        <p:nvSpPr>
          <p:cNvPr id="53" name="머리칸"/>
          <p:cNvSpPr/>
          <p:nvPr/>
        </p:nvSpPr>
        <p:spPr>
          <a:xfrm>
            <a:off x="3230348" y="39992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9992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특화 데이터 개방</a:t>
            </a:r>
          </a:p>
        </p:txBody>
      </p:sp>
      <p:sp>
        <p:nvSpPr>
          <p:cNvPr id="55" name="머리칸"/>
          <p:cNvSpPr/>
          <p:nvPr/>
        </p:nvSpPr>
        <p:spPr>
          <a:xfrm>
            <a:off x="5113043" y="39992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9992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실증 사이트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240330"/>
            <a:ext cx="1860783" cy="117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부산시와 협력으로 국내 1호 특구 지정 성공(’25.11)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특구 지정 TF 참여(’24~), 부산시·발전사업자 협약(’25) 등 공동 노력 → AI 운영 전력 안정성 확보, 기업 전기료·시설투자 부담↓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240330"/>
            <a:ext cx="1860783" cy="117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스마트빌리지 운영(’21~), 축적 데이터 관리·합성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도시 구현을 위한 생활데이터 개방·제공(세대별 스마트가전 계측정보 등) → 민간 AI 스마트홈 개발 활용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3230348" y="4273200"/>
            <a:ext cx="0" cy="110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240330"/>
            <a:ext cx="1860783" cy="117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스마트빌리지, 국제 공동 연구 실증 활용(덴마크 등 4개국 공동)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탄소중립 스마트건물시스템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스마트도시 혁신기술 보유 기업 실증 기회 제공(5개社)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5113043" y="4273200"/>
            <a:ext cx="0" cy="110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55222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55605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7"/>
          </p:nvPr>
        </p:nvSpPr>
        <p:spPr>
          <a:xfrm>
            <a:off x="756000" y="55605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8"/>
          </p:nvPr>
        </p:nvSpPr>
        <p:spPr>
          <a:xfrm>
            <a:off x="1501043" y="55386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스마트서비스 이용 주민 만족도 90점 달성 및 국내 대표 K-AI 시티 선도도시 도약</a:t>
            </a:r>
          </a:p>
        </p:txBody>
      </p:sp>
      <p:sp>
        <p:nvSpPr>
          <p:cNvPr id="66" name="번호"/>
          <p:cNvSpPr>
            <a:spLocks noGrp="1"/>
          </p:cNvSpPr>
          <p:nvPr>
            <p:ph type="body" sz="quarter" idx="49"/>
          </p:nvPr>
        </p:nvSpPr>
        <p:spPr>
          <a:xfrm>
            <a:off x="723130" y="59542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67" name="분야 박스"/>
          <p:cNvSpPr/>
          <p:nvPr/>
        </p:nvSpPr>
        <p:spPr>
          <a:xfrm>
            <a:off x="952651" y="5987113"/>
            <a:ext cx="95761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분야 박스"/>
          <p:cNvSpPr>
            <a:spLocks noGrp="1"/>
          </p:cNvSpPr>
          <p:nvPr>
            <p:ph type="body" sz="quarter" idx="50"/>
          </p:nvPr>
        </p:nvSpPr>
        <p:spPr>
          <a:xfrm>
            <a:off x="952651" y="5987113"/>
            <a:ext cx="95761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물순환·탄소중립</a:t>
            </a:r>
          </a:p>
        </p:txBody>
      </p:sp>
      <p:sp>
        <p:nvSpPr>
          <p:cNvPr id="69" name="형광 밑줄"/>
          <p:cNvSpPr/>
          <p:nvPr/>
        </p:nvSpPr>
        <p:spPr>
          <a:xfrm>
            <a:off x="1976008" y="6107635"/>
            <a:ext cx="3394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소제목"/>
          <p:cNvSpPr>
            <a:spLocks noGrp="1"/>
          </p:cNvSpPr>
          <p:nvPr>
            <p:ph type="body" sz="quarter" idx="51"/>
          </p:nvPr>
        </p:nvSpPr>
        <p:spPr>
          <a:xfrm>
            <a:off x="1976008" y="5954243"/>
            <a:ext cx="504712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기후위험에 대비한 도시 구현으로 기후적응 국가정책 선도</a:t>
            </a:r>
          </a:p>
        </p:txBody>
      </p:sp>
      <p:sp>
        <p:nvSpPr>
          <p:cNvPr id="71" name="태그칩"/>
          <p:cNvSpPr/>
          <p:nvPr/>
        </p:nvSpPr>
        <p:spPr>
          <a:xfrm>
            <a:off x="5468620" y="59871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태그칩"/>
          <p:cNvSpPr>
            <a:spLocks noGrp="1"/>
          </p:cNvSpPr>
          <p:nvPr>
            <p:ph type="body" sz="quarter" idx="52"/>
          </p:nvPr>
        </p:nvSpPr>
        <p:spPr>
          <a:xfrm>
            <a:off x="5468620" y="59871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3" name="표 외곽"/>
          <p:cNvSpPr/>
          <p:nvPr/>
        </p:nvSpPr>
        <p:spPr>
          <a:xfrm>
            <a:off x="723130" y="623911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"/>
          <p:cNvSpPr/>
          <p:nvPr/>
        </p:nvSpPr>
        <p:spPr>
          <a:xfrm>
            <a:off x="734087" y="6255548"/>
            <a:ext cx="580696" cy="1265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6255548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76" name="머리칸"/>
          <p:cNvSpPr/>
          <p:nvPr/>
        </p:nvSpPr>
        <p:spPr>
          <a:xfrm>
            <a:off x="1347652" y="6277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62774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물순환  국가 정책 실행 지원</a:t>
            </a:r>
          </a:p>
        </p:txBody>
      </p:sp>
      <p:sp>
        <p:nvSpPr>
          <p:cNvPr id="78" name="머리칸"/>
          <p:cNvSpPr/>
          <p:nvPr/>
        </p:nvSpPr>
        <p:spPr>
          <a:xfrm>
            <a:off x="4171696" y="6277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62774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  선도도시 사업 본격화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6518504"/>
            <a:ext cx="2802130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물순환: ’24년 물순환촉진법 시행, 지원센터 단독 지정 → ’25년 기본방침 수립 및 촉진구역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기본방침 법 시행 1년 내 국가계획 신속 수립 / 공모준비 촉진구역 공모·평가계획 마련 / 표준조례 물순환 촉진 표준 조례(안)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물순환도시(=물 걱정없는 도시) 확산 기반 구축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6518504"/>
            <a:ext cx="2802130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탄소중립: ’24년 탄소중립 선도도시 선정 완료(4개) → ’25년 4개 선도도시 지역특화 기본계획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지역니즈 연계 특화 탄소중립 계획 수립(서울 노원, 당진, 보령, 제주)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707만tCO₂eq↓(소나무 약 70억 그루, 기본계획 기준 추정치)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4171696" y="6551374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주요성과 박스"/>
          <p:cNvSpPr/>
          <p:nvPr/>
        </p:nvSpPr>
        <p:spPr>
          <a:xfrm>
            <a:off x="723130" y="7614157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주요성과 라벨"/>
          <p:cNvSpPr/>
          <p:nvPr/>
        </p:nvSpPr>
        <p:spPr>
          <a:xfrm>
            <a:off x="756000" y="7647026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주요성과 라벨"/>
          <p:cNvSpPr>
            <a:spLocks noGrp="1"/>
          </p:cNvSpPr>
          <p:nvPr>
            <p:ph type="body" sz="quarter" idx="58"/>
          </p:nvPr>
        </p:nvSpPr>
        <p:spPr>
          <a:xfrm>
            <a:off x="756000" y="7647026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향후계획</a:t>
            </a:r>
          </a:p>
        </p:txBody>
      </p:sp>
      <p:sp>
        <p:nvSpPr>
          <p:cNvPr id="86" name="주요성과 문구"/>
          <p:cNvSpPr>
            <a:spLocks noGrp="1"/>
          </p:cNvSpPr>
          <p:nvPr>
            <p:ph type="body" sz="quarter" idx="59"/>
          </p:nvPr>
        </p:nvSpPr>
        <p:spPr>
          <a:xfrm>
            <a:off x="1501043" y="76305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물순환 촉진구역(4개소) 선정, 탄소중립 선도도시 추가 선정(1개소)·관리 등 기후대응 도시 선도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7 서사 · 추진방향(물산업 넘어 기후·워터테크로) → 추진과제 4단 화살 띠(번호 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9065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물산업의 변화 방향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35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디지털 기술 등을 활용하여 지속성장 예상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신기술로 성장하고, 글로벌로 도약하는 중소기업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484609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846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484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506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506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물산업을 넘어 기후·워터테크로, 글로벌 스탠다드를 선점하는 First Mover로 도약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040730"/>
            <a:ext cx="580696" cy="6163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040730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2040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206264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06264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 및 자금지원</a:t>
            </a:r>
          </a:p>
        </p:txBody>
      </p:sp>
      <p:sp>
        <p:nvSpPr>
          <p:cNvPr id="34" name="단계"/>
          <p:cNvSpPr/>
          <p:nvPr/>
        </p:nvSpPr>
        <p:spPr>
          <a:xfrm>
            <a:off x="2573413" y="206264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2573413" y="206264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 및 실증</a:t>
            </a:r>
          </a:p>
        </p:txBody>
      </p:sp>
      <p:sp>
        <p:nvSpPr>
          <p:cNvPr id="36" name="단계"/>
          <p:cNvSpPr/>
          <p:nvPr/>
        </p:nvSpPr>
        <p:spPr>
          <a:xfrm>
            <a:off x="3985435" y="206264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985435" y="206264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판로개척</a:t>
            </a:r>
          </a:p>
        </p:txBody>
      </p:sp>
      <p:sp>
        <p:nvSpPr>
          <p:cNvPr id="38" name="단계"/>
          <p:cNvSpPr/>
          <p:nvPr/>
        </p:nvSpPr>
        <p:spPr>
          <a:xfrm>
            <a:off x="5397457" y="206264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397457" y="206264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 주도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2573413" y="2062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3985434" y="2062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5397456" y="2062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314643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 / 벤처펀드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2584370" y="2314643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인프라 지원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2573413" y="2347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314643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및 해외시장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3985435" y="2347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5408413" y="2314643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민관협력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5397457" y="2347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58 서사 · 기후·워터테크 유망기업 발굴 및 성장 지원(창업지원 강화 · 컴퍼니빌더 · 벤처펀드 3행 → 추진성과 두 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기후·워터테크 시장을 선도할 유망기업 발굴 및 성장 지원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63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947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창업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6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참가기업 업력 제한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6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업력 제한 폐지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6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6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18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추천트랙 참가자격 10년 이내 창업기업으로 제한 → 딥테크(AI 등)스타트업 상업화까지 평균 10년 이상 소요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18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추천트랙 참가자격 10년 폐지, 기술·성장가능성 중심 선발 → 고성장 스타트업 및 스케일업 단계의 기업 참여율↑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451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18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 이상 스타트업 ’25년 11개社 선발 → 예비유니콘 GRINERGY 육성(기업가치 1,000억원 이상)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451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109130"/>
            <a:ext cx="580696" cy="206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109130"/>
            <a:ext cx="580696" cy="206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컴퍼니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빌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(신설)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109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 스타트업을 직접 설립 또는 초기 단계부터 투자·운영에 적극 참여, 성장을 주도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366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366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높은 진입장벽</a:t>
            </a:r>
          </a:p>
        </p:txBody>
      </p:sp>
      <p:sp>
        <p:nvSpPr>
          <p:cNvPr id="39" name="단계"/>
          <p:cNvSpPr/>
          <p:nvPr/>
        </p:nvSpPr>
        <p:spPr>
          <a:xfrm>
            <a:off x="3230348" y="2366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366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컴퍼니빌더 설립 추진</a:t>
            </a:r>
          </a:p>
        </p:txBody>
      </p:sp>
      <p:sp>
        <p:nvSpPr>
          <p:cNvPr id="41" name="단계"/>
          <p:cNvSpPr/>
          <p:nvPr/>
        </p:nvSpPr>
        <p:spPr>
          <a:xfrm>
            <a:off x="5113043" y="2366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366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민관 협업체계 완성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3230347" y="2366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113043" y="2366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618609"/>
            <a:ext cx="1860783" cy="1314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등을 위해 물산업 분야의 기후테크 육성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기반 高 진입장벽으로 초기 사업화 공백 발생 → 민·관 원팀 전문 지원기관 필요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618609"/>
            <a:ext cx="1860783" cy="1314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기반마련: 내·외부 전문가 협업을 위한 설립 추진단 운영 → 운영구조·로드맵 수립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지분공모: 공동 출자기관 설명회 및 지분공모 완료(’25.8) → 10개社 15억원 출자 확약(K-water 45억원 포함 자본금 60억원)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3230348" y="2651478"/>
            <a:ext cx="0" cy="1249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618609"/>
            <a:ext cx="1860783" cy="1314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총괄: 산업(4社) 실증·공급연계, 공공(2社) 기술·인재제공, 투자(4社) 후속·매칭투자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113043" y="2651478"/>
            <a:ext cx="0" cy="1249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배너"/>
          <p:cNvSpPr/>
          <p:nvPr/>
        </p:nvSpPr>
        <p:spPr>
          <a:xfrm>
            <a:off x="1347652" y="394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94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출자회사 설립을 위한 정부 실무협의 지속(’25.3~) * 기후부 협의完, 재경부 진행中</a:t>
            </a:r>
          </a:p>
        </p:txBody>
      </p:sp>
      <p:sp>
        <p:nvSpPr>
          <p:cNvPr id="52" name="레일"/>
          <p:cNvSpPr/>
          <p:nvPr/>
        </p:nvSpPr>
        <p:spPr>
          <a:xfrm>
            <a:off x="734087" y="419087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190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벤 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펀 드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41908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배너"/>
          <p:cNvSpPr/>
          <p:nvPr/>
        </p:nvSpPr>
        <p:spPr>
          <a:xfrm>
            <a:off x="1347652" y="4212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212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실적: 정부·지자체와 4,668억원 조성(K-water 999억원), 물산업 전용 2,801억원 확보</a:t>
            </a:r>
          </a:p>
        </p:txBody>
      </p:sp>
      <p:sp>
        <p:nvSpPr>
          <p:cNvPr id="57" name="단계"/>
          <p:cNvSpPr/>
          <p:nvPr/>
        </p:nvSpPr>
        <p:spPr>
          <a:xfrm>
            <a:off x="1347652" y="4448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44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 규모 확대(→5,254억원)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4448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44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리스크 해소(중간회수 신설)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4448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44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4448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4448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700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투자운용 등 기반 586억원 민간자본추가확보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전체 5,254억원의 60%, 물산업 전용펀드 확대(351억원↑, 2,801 → 3,152억원)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700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장기투자(8년↑) 대응, K-water 유동성 연계 지분 중간회수(적정유동성 2,500억원 미달 시 회수 예정)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물산업투자기관 협의회 대상 전문심사역(누적 69명) 양성</a:t>
            </a:r>
          </a:p>
        </p:txBody>
      </p:sp>
      <p:cxnSp>
        <p:nvCxnSpPr>
          <p:cNvPr id="67" name="Connector 45"/>
          <p:cNvCxnSpPr/>
          <p:nvPr/>
        </p:nvCxnSpPr>
        <p:spPr>
          <a:xfrm>
            <a:off x="3230348" y="4733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700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자금 사용 적시성 및 적정 유동성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최근 3개년 물산업 실투자액(’23년 592 → ’24년 1,180 → ’25년 1,606억원)</a:t>
            </a:r>
          </a:p>
        </p:txBody>
      </p:sp>
      <p:cxnSp>
        <p:nvCxnSpPr>
          <p:cNvPr id="69" name="Connector 47"/>
          <p:cNvCxnSpPr/>
          <p:nvPr/>
        </p:nvCxnSpPr>
        <p:spPr>
          <a:xfrm>
            <a:off x="5113043" y="4733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585078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5883652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47"/>
          </p:nvPr>
        </p:nvSpPr>
        <p:spPr>
          <a:xfrm>
            <a:off x="756000" y="5883652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48"/>
          </p:nvPr>
        </p:nvSpPr>
        <p:spPr>
          <a:xfrm>
            <a:off x="1501043" y="5872696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딥테크 혁신기업 115개社 발굴(전년 比 117%), IPO 2개社(예비심사), 예비유니콘 4개社(누적)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창업지원사업 ‘최우수’ 운영기관(’25.11), 벤처기업협회 창업지원 ‘우수기관’(’25.11)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Relationship Id="rId183" Type="http://schemas.openxmlformats.org/officeDocument/2006/relationships/slideLayout" Target="../slideLayouts/slideLayout185.xml"/><Relationship Id="rId184" Type="http://schemas.openxmlformats.org/officeDocument/2006/relationships/slideLayout" Target="../slideLayouts/slideLayout186.xml"/><Relationship Id="rId185" Type="http://schemas.openxmlformats.org/officeDocument/2006/relationships/slideLayout" Target="../slideLayouts/slideLayout187.xml"/><Relationship Id="rId186" Type="http://schemas.openxmlformats.org/officeDocument/2006/relationships/slideLayout" Target="../slideLayouts/slideLayout188.xml"/><Relationship Id="rId187" Type="http://schemas.openxmlformats.org/officeDocument/2006/relationships/slideLayout" Target="../slideLayouts/slideLayout189.xml"/><Relationship Id="rId188" Type="http://schemas.openxmlformats.org/officeDocument/2006/relationships/slideLayout" Target="../slideLayouts/slideLayout190.xml"/><Relationship Id="rId189" Type="http://schemas.openxmlformats.org/officeDocument/2006/relationships/slideLayout" Target="../slideLayouts/slideLayout191.xml"/><Relationship Id="rId190" Type="http://schemas.openxmlformats.org/officeDocument/2006/relationships/slideLayout" Target="../slideLayouts/slideLayout192.xml"/><Relationship Id="rId191" Type="http://schemas.openxmlformats.org/officeDocument/2006/relationships/slideLayout" Target="../slideLayouts/slideLayout193.xml"/><Relationship Id="rId192" Type="http://schemas.openxmlformats.org/officeDocument/2006/relationships/slideLayout" Target="../slideLayouts/slideLayout194.xml"/><Relationship Id="rId193" Type="http://schemas.openxmlformats.org/officeDocument/2006/relationships/slideLayout" Target="../slideLayouts/slideLayout195.xml"/><Relationship Id="rId194" Type="http://schemas.openxmlformats.org/officeDocument/2006/relationships/slideLayout" Target="../slideLayouts/slideLayout196.xml"/><Relationship Id="rId195" Type="http://schemas.openxmlformats.org/officeDocument/2006/relationships/slideLayout" Target="../slideLayouts/slideLayout197.xml"/><Relationship Id="rId196" Type="http://schemas.openxmlformats.org/officeDocument/2006/relationships/slideLayout" Target="../slideLayouts/slideLayout198.xml"/><Relationship Id="rId197" Type="http://schemas.openxmlformats.org/officeDocument/2006/relationships/slideLayout" Target="../slideLayouts/slideLayout199.xml"/><Relationship Id="rId198" Type="http://schemas.openxmlformats.org/officeDocument/2006/relationships/slideLayout" Target="../slideLayouts/slideLayout200.xml"/><Relationship Id="rId199" Type="http://schemas.openxmlformats.org/officeDocument/2006/relationships/slideLayout" Target="../slideLayouts/slideLayout201.xml"/><Relationship Id="rId200" Type="http://schemas.openxmlformats.org/officeDocument/2006/relationships/slideLayout" Target="../slideLayouts/slideLayout202.xml"/><Relationship Id="rId201" Type="http://schemas.openxmlformats.org/officeDocument/2006/relationships/slideLayout" Target="../slideLayouts/slideLayout203.xml"/><Relationship Id="rId202" Type="http://schemas.openxmlformats.org/officeDocument/2006/relationships/slideLayout" Target="../slideLayouts/slideLayout204.xml"/><Relationship Id="rId203" Type="http://schemas.openxmlformats.org/officeDocument/2006/relationships/slideLayout" Target="../slideLayouts/slideLayout205.xml"/><Relationship Id="rId204" Type="http://schemas.openxmlformats.org/officeDocument/2006/relationships/slideLayout" Target="../slideLayouts/slideLayout206.xml"/><Relationship Id="rId205" Type="http://schemas.openxmlformats.org/officeDocument/2006/relationships/slideLayout" Target="../slideLayouts/slideLayout207.xml"/><Relationship Id="rId206" Type="http://schemas.openxmlformats.org/officeDocument/2006/relationships/slideLayout" Target="../slideLayouts/slideLayout208.xml"/><Relationship Id="rId207" Type="http://schemas.openxmlformats.org/officeDocument/2006/relationships/slideLayout" Target="../slideLayouts/slideLayout209.xml"/><Relationship Id="rId208" Type="http://schemas.openxmlformats.org/officeDocument/2006/relationships/slideLayout" Target="../slideLayouts/slideLayout210.xml"/><Relationship Id="rId209" Type="http://schemas.openxmlformats.org/officeDocument/2006/relationships/slideLayout" Target="../slideLayouts/slideLayout211.xml"/><Relationship Id="rId210" Type="http://schemas.openxmlformats.org/officeDocument/2006/relationships/slideLayout" Target="../slideLayouts/slideLayout212.xml"/><Relationship Id="rId211" Type="http://schemas.openxmlformats.org/officeDocument/2006/relationships/slideLayout" Target="../slideLayouts/slideLayout213.xml"/><Relationship Id="rId212" Type="http://schemas.openxmlformats.org/officeDocument/2006/relationships/slideLayout" Target="../slideLayouts/slideLayout214.xml"/><Relationship Id="rId213" Type="http://schemas.openxmlformats.org/officeDocument/2006/relationships/slideLayout" Target="../slideLayouts/slideLayout215.xml"/><Relationship Id="rId214" Type="http://schemas.openxmlformats.org/officeDocument/2006/relationships/slideLayout" Target="../slideLayouts/slideLayout216.xml"/><Relationship Id="rId215" Type="http://schemas.openxmlformats.org/officeDocument/2006/relationships/slideLayout" Target="../slideLayouts/slideLayout217.xml"/><Relationship Id="rId216" Type="http://schemas.openxmlformats.org/officeDocument/2006/relationships/slideLayout" Target="../slideLayouts/slideLayout218.xml"/><Relationship Id="rId217" Type="http://schemas.openxmlformats.org/officeDocument/2006/relationships/slideLayout" Target="../slideLayouts/slideLayout219.xml"/><Relationship Id="rId218" Type="http://schemas.openxmlformats.org/officeDocument/2006/relationships/slideLayout" Target="../slideLayouts/slideLayout220.xml"/><Relationship Id="rId219" Type="http://schemas.openxmlformats.org/officeDocument/2006/relationships/slideLayout" Target="../slideLayouts/slideLayout221.xml"/><Relationship Id="rId220" Type="http://schemas.openxmlformats.org/officeDocument/2006/relationships/slideLayout" Target="../slideLayouts/slideLayout222.xml"/><Relationship Id="rId221" Type="http://schemas.openxmlformats.org/officeDocument/2006/relationships/slideLayout" Target="../slideLayouts/slideLayout223.xml"/><Relationship Id="rId222" Type="http://schemas.openxmlformats.org/officeDocument/2006/relationships/slideLayout" Target="../slideLayouts/slideLayout224.xml"/><Relationship Id="rId223" Type="http://schemas.openxmlformats.org/officeDocument/2006/relationships/slideLayout" Target="../slideLayouts/slideLayout225.xml"/><Relationship Id="rId224" Type="http://schemas.openxmlformats.org/officeDocument/2006/relationships/slideLayout" Target="../slideLayouts/slideLayout226.xml"/><Relationship Id="rId225" Type="http://schemas.openxmlformats.org/officeDocument/2006/relationships/slideLayout" Target="../slideLayouts/slideLayout227.xml"/><Relationship Id="rId226" Type="http://schemas.openxmlformats.org/officeDocument/2006/relationships/slideLayout" Target="../slideLayouts/slideLayout228.xml"/><Relationship Id="rId227" Type="http://schemas.openxmlformats.org/officeDocument/2006/relationships/slideLayout" Target="../slideLayouts/slideLayout229.xml"/><Relationship Id="rId228" Type="http://schemas.openxmlformats.org/officeDocument/2006/relationships/slideLayout" Target="../slideLayouts/slideLayout230.xml"/><Relationship Id="rId229" Type="http://schemas.openxmlformats.org/officeDocument/2006/relationships/slideLayout" Target="../slideLayouts/slideLayout231.xml"/><Relationship Id="rId230" Type="http://schemas.openxmlformats.org/officeDocument/2006/relationships/slideLayout" Target="../slideLayouts/slideLayout232.xml"/><Relationship Id="rId231" Type="http://schemas.openxmlformats.org/officeDocument/2006/relationships/slideLayout" Target="../slideLayouts/slideLayout233.xml"/><Relationship Id="rId232" Type="http://schemas.openxmlformats.org/officeDocument/2006/relationships/slideLayout" Target="../slideLayouts/slideLayout234.xml"/><Relationship Id="rId233" Type="http://schemas.openxmlformats.org/officeDocument/2006/relationships/slideLayout" Target="../slideLayouts/slideLayout235.xml"/><Relationship Id="rId234" Type="http://schemas.openxmlformats.org/officeDocument/2006/relationships/slideLayout" Target="../slideLayouts/slideLayout236.xml"/><Relationship Id="rId235" Type="http://schemas.openxmlformats.org/officeDocument/2006/relationships/slideLayout" Target="../slideLayouts/slideLayout237.xml"/><Relationship Id="rId236" Type="http://schemas.openxmlformats.org/officeDocument/2006/relationships/slideLayout" Target="../slideLayouts/slideLayout238.xml"/><Relationship Id="rId237" Type="http://schemas.openxmlformats.org/officeDocument/2006/relationships/slideLayout" Target="../slideLayouts/slideLayout239.xml"/><Relationship Id="rId238" Type="http://schemas.openxmlformats.org/officeDocument/2006/relationships/slideLayout" Target="../slideLayouts/slideLayout240.xml"/><Relationship Id="rId239" Type="http://schemas.openxmlformats.org/officeDocument/2006/relationships/slideLayout" Target="../slideLayouts/slideLayout241.xml"/><Relationship Id="rId240" Type="http://schemas.openxmlformats.org/officeDocument/2006/relationships/slideLayout" Target="../slideLayouts/slideLayout242.xml"/><Relationship Id="rId241" Type="http://schemas.openxmlformats.org/officeDocument/2006/relationships/slideLayout" Target="../slideLayouts/slideLayout243.xml"/><Relationship Id="rId242" Type="http://schemas.openxmlformats.org/officeDocument/2006/relationships/slideLayout" Target="../slideLayouts/slideLayout244.xml"/><Relationship Id="rId243" Type="http://schemas.openxmlformats.org/officeDocument/2006/relationships/slideLayout" Target="../slideLayouts/slideLayout245.xml"/><Relationship Id="rId244" Type="http://schemas.openxmlformats.org/officeDocument/2006/relationships/slideLayout" Target="../slideLayouts/slideLayout246.xml"/><Relationship Id="rId245" Type="http://schemas.openxmlformats.org/officeDocument/2006/relationships/slideLayout" Target="../slideLayouts/slideLayout247.xml"/><Relationship Id="rId246" Type="http://schemas.openxmlformats.org/officeDocument/2006/relationships/slideLayout" Target="../slideLayouts/slideLayout248.xml"/><Relationship Id="rId247" Type="http://schemas.openxmlformats.org/officeDocument/2006/relationships/slideLayout" Target="../slideLayouts/slideLayout249.xml"/><Relationship Id="rId248" Type="http://schemas.openxmlformats.org/officeDocument/2006/relationships/slideLayout" Target="../slideLayouts/slideLayout250.xml"/><Relationship Id="rId249" Type="http://schemas.openxmlformats.org/officeDocument/2006/relationships/slideLayout" Target="../slideLayouts/slideLayout251.xml"/><Relationship Id="rId250" Type="http://schemas.openxmlformats.org/officeDocument/2006/relationships/slideLayout" Target="../slideLayouts/slideLayout252.xml"/><Relationship Id="rId251" Type="http://schemas.openxmlformats.org/officeDocument/2006/relationships/slideLayout" Target="../slideLayouts/slideLayout253.xml"/><Relationship Id="rId252" Type="http://schemas.openxmlformats.org/officeDocument/2006/relationships/slideLayout" Target="../slideLayouts/slideLayout254.xml"/><Relationship Id="rId253" Type="http://schemas.openxmlformats.org/officeDocument/2006/relationships/slideLayout" Target="../slideLayouts/slideLayout255.xml"/><Relationship Id="rId254" Type="http://schemas.openxmlformats.org/officeDocument/2006/relationships/slideLayout" Target="../slideLayouts/slideLayout256.xml"/><Relationship Id="rId255" Type="http://schemas.openxmlformats.org/officeDocument/2006/relationships/slideLayout" Target="../slideLayouts/slideLayout257.xml"/><Relationship Id="rId256" Type="http://schemas.openxmlformats.org/officeDocument/2006/relationships/slideLayout" Target="../slideLayouts/slideLayout258.xml"/><Relationship Id="rId257" Type="http://schemas.openxmlformats.org/officeDocument/2006/relationships/slideLayout" Target="../slideLayouts/slideLayout259.xml"/><Relationship Id="rId258" Type="http://schemas.openxmlformats.org/officeDocument/2006/relationships/slideLayout" Target="../slideLayouts/slideLayout260.xml"/><Relationship Id="rId259" Type="http://schemas.openxmlformats.org/officeDocument/2006/relationships/slideLayout" Target="../slideLayouts/slideLayout261.xml"/><Relationship Id="rId260" Type="http://schemas.openxmlformats.org/officeDocument/2006/relationships/slideLayout" Target="../slideLayouts/slideLayout262.xml"/><Relationship Id="rId261" Type="http://schemas.openxmlformats.org/officeDocument/2006/relationships/slideLayout" Target="../slideLayouts/slideLayout263.xml"/><Relationship Id="rId262" Type="http://schemas.openxmlformats.org/officeDocument/2006/relationships/slideLayout" Target="../slideLayouts/slideLayout26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  <p:sldLayoutId id="2147483833" r:id="rId183"/>
    <p:sldLayoutId id="2147483834" r:id="rId184"/>
    <p:sldLayoutId id="2147483835" r:id="rId185"/>
    <p:sldLayoutId id="2147483836" r:id="rId186"/>
    <p:sldLayoutId id="2147483837" r:id="rId187"/>
    <p:sldLayoutId id="2147483838" r:id="rId188"/>
    <p:sldLayoutId id="2147483839" r:id="rId189"/>
    <p:sldLayoutId id="2147483840" r:id="rId190"/>
    <p:sldLayoutId id="2147483841" r:id="rId191"/>
    <p:sldLayoutId id="2147483842" r:id="rId192"/>
    <p:sldLayoutId id="2147483843" r:id="rId193"/>
    <p:sldLayoutId id="2147483844" r:id="rId194"/>
    <p:sldLayoutId id="2147483845" r:id="rId195"/>
    <p:sldLayoutId id="2147483846" r:id="rId196"/>
    <p:sldLayoutId id="2147483847" r:id="rId197"/>
    <p:sldLayoutId id="2147483848" r:id="rId198"/>
    <p:sldLayoutId id="2147483849" r:id="rId199"/>
    <p:sldLayoutId id="2147483850" r:id="rId200"/>
    <p:sldLayoutId id="2147483851" r:id="rId201"/>
    <p:sldLayoutId id="2147483852" r:id="rId202"/>
    <p:sldLayoutId id="2147483853" r:id="rId203"/>
    <p:sldLayoutId id="2147483854" r:id="rId204"/>
    <p:sldLayoutId id="2147483855" r:id="rId205"/>
    <p:sldLayoutId id="2147483856" r:id="rId206"/>
    <p:sldLayoutId id="2147483857" r:id="rId207"/>
    <p:sldLayoutId id="2147483858" r:id="rId208"/>
    <p:sldLayoutId id="2147483859" r:id="rId209"/>
    <p:sldLayoutId id="2147483860" r:id="rId210"/>
    <p:sldLayoutId id="2147483861" r:id="rId211"/>
    <p:sldLayoutId id="2147483862" r:id="rId212"/>
    <p:sldLayoutId id="2147483863" r:id="rId213"/>
    <p:sldLayoutId id="2147483864" r:id="rId214"/>
    <p:sldLayoutId id="2147483865" r:id="rId215"/>
    <p:sldLayoutId id="2147483866" r:id="rId216"/>
    <p:sldLayoutId id="2147483867" r:id="rId217"/>
    <p:sldLayoutId id="2147483868" r:id="rId218"/>
    <p:sldLayoutId id="2147483869" r:id="rId219"/>
    <p:sldLayoutId id="2147483870" r:id="rId220"/>
    <p:sldLayoutId id="2147483871" r:id="rId221"/>
    <p:sldLayoutId id="2147483872" r:id="rId222"/>
    <p:sldLayoutId id="2147483873" r:id="rId223"/>
    <p:sldLayoutId id="2147483874" r:id="rId224"/>
    <p:sldLayoutId id="2147483875" r:id="rId225"/>
    <p:sldLayoutId id="2147483876" r:id="rId226"/>
    <p:sldLayoutId id="2147483877" r:id="rId227"/>
    <p:sldLayoutId id="2147483878" r:id="rId228"/>
    <p:sldLayoutId id="2147483879" r:id="rId229"/>
    <p:sldLayoutId id="2147483880" r:id="rId230"/>
    <p:sldLayoutId id="2147483881" r:id="rId231"/>
    <p:sldLayoutId id="2147483882" r:id="rId232"/>
    <p:sldLayoutId id="2147483883" r:id="rId233"/>
    <p:sldLayoutId id="2147483884" r:id="rId234"/>
    <p:sldLayoutId id="2147483885" r:id="rId235"/>
    <p:sldLayoutId id="2147483886" r:id="rId236"/>
    <p:sldLayoutId id="2147483887" r:id="rId237"/>
    <p:sldLayoutId id="2147483888" r:id="rId238"/>
    <p:sldLayoutId id="2147483889" r:id="rId239"/>
    <p:sldLayoutId id="2147483890" r:id="rId240"/>
    <p:sldLayoutId id="2147483891" r:id="rId241"/>
    <p:sldLayoutId id="2147483892" r:id="rId242"/>
    <p:sldLayoutId id="2147483893" r:id="rId243"/>
    <p:sldLayoutId id="2147483894" r:id="rId244"/>
    <p:sldLayoutId id="2147483895" r:id="rId245"/>
    <p:sldLayoutId id="2147483896" r:id="rId246"/>
    <p:sldLayoutId id="2147483897" r:id="rId247"/>
    <p:sldLayoutId id="2147483898" r:id="rId248"/>
    <p:sldLayoutId id="2147483899" r:id="rId249"/>
    <p:sldLayoutId id="2147483900" r:id="rId250"/>
    <p:sldLayoutId id="2147483901" r:id="rId251"/>
    <p:sldLayoutId id="2147483902" r:id="rId252"/>
    <p:sldLayoutId id="2147483903" r:id="rId253"/>
    <p:sldLayoutId id="2147483904" r:id="rId254"/>
    <p:sldLayoutId id="2147483905" r:id="rId255"/>
    <p:sldLayoutId id="2147483906" r:id="rId256"/>
    <p:sldLayoutId id="2147483907" r:id="rId257"/>
    <p:sldLayoutId id="2147483908" r:id="rId258"/>
    <p:sldLayoutId id="2147483909" r:id="rId259"/>
    <p:sldLayoutId id="2147483910" r:id="rId260"/>
    <p:sldLayoutId id="2147483911" r:id="rId261"/>
    <p:sldLayoutId id="2147483912" r:id="rId26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3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4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9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0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2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3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5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6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9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2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3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4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5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6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8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0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2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3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6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8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9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0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1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2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3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4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5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6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7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8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9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0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2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3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4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5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6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7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8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9.xml"/><Relationship Id="rId2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0.xml"/><Relationship Id="rId2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1.xml"/><Relationship Id="rId2" Type="http://schemas.openxmlformats.org/officeDocument/2006/relationships/notesSlide" Target="../notesSlides/notesSlide17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2.xml"/><Relationship Id="rId2" Type="http://schemas.openxmlformats.org/officeDocument/2006/relationships/notesSlide" Target="../notesSlides/notesSlide17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3.xml"/><Relationship Id="rId2" Type="http://schemas.openxmlformats.org/officeDocument/2006/relationships/notesSlide" Target="../notesSlides/notesSlide17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4.xml"/><Relationship Id="rId2" Type="http://schemas.openxmlformats.org/officeDocument/2006/relationships/notesSlide" Target="../notesSlides/notesSlide178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5.xml"/><Relationship Id="rId2" Type="http://schemas.openxmlformats.org/officeDocument/2006/relationships/notesSlide" Target="../notesSlides/notesSlide179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6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7.xml"/><Relationship Id="rId2" Type="http://schemas.openxmlformats.org/officeDocument/2006/relationships/notesSlide" Target="../notesSlides/notesSlide181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8.xml"/><Relationship Id="rId2" Type="http://schemas.openxmlformats.org/officeDocument/2006/relationships/notesSlide" Target="../notesSlides/notesSlide18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9.xml"/><Relationship Id="rId2" Type="http://schemas.openxmlformats.org/officeDocument/2006/relationships/notesSlide" Target="../notesSlides/notesSlide183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0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1.xml"/><Relationship Id="rId2" Type="http://schemas.openxmlformats.org/officeDocument/2006/relationships/notesSlide" Target="../notesSlides/notesSlide185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2.xml"/><Relationship Id="rId2" Type="http://schemas.openxmlformats.org/officeDocument/2006/relationships/notesSlide" Target="../notesSlides/notesSlide186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3.xml"/><Relationship Id="rId2" Type="http://schemas.openxmlformats.org/officeDocument/2006/relationships/notesSlide" Target="../notesSlides/notesSlide18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4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5.xml"/><Relationship Id="rId2" Type="http://schemas.openxmlformats.org/officeDocument/2006/relationships/notesSlide" Target="../notesSlides/notesSlide189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6.xml"/><Relationship Id="rId2" Type="http://schemas.openxmlformats.org/officeDocument/2006/relationships/notesSlide" Target="../notesSlides/notesSlide190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7.xml"/><Relationship Id="rId2" Type="http://schemas.openxmlformats.org/officeDocument/2006/relationships/notesSlide" Target="../notesSlides/notesSlide191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8.xml"/><Relationship Id="rId2" Type="http://schemas.openxmlformats.org/officeDocument/2006/relationships/notesSlide" Target="../notesSlides/notesSlide19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9.xml"/><Relationship Id="rId2" Type="http://schemas.openxmlformats.org/officeDocument/2006/relationships/notesSlide" Target="../notesSlides/notesSlide193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0.xml"/><Relationship Id="rId2" Type="http://schemas.openxmlformats.org/officeDocument/2006/relationships/notesSlide" Target="../notesSlides/notesSlide194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1.xml"/><Relationship Id="rId2" Type="http://schemas.openxmlformats.org/officeDocument/2006/relationships/notesSlide" Target="../notesSlides/notesSlide195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2.xml"/><Relationship Id="rId2" Type="http://schemas.openxmlformats.org/officeDocument/2006/relationships/notesSlide" Target="../notesSlides/notesSlide196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3.xml"/><Relationship Id="rId2" Type="http://schemas.openxmlformats.org/officeDocument/2006/relationships/notesSlide" Target="../notesSlides/notesSlide19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4.xml"/><Relationship Id="rId2" Type="http://schemas.openxmlformats.org/officeDocument/2006/relationships/notesSlide" Target="../notesSlides/notesSlide198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5.xml"/><Relationship Id="rId2" Type="http://schemas.openxmlformats.org/officeDocument/2006/relationships/notesSlide" Target="../notesSlides/notesSlide199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6.xml"/><Relationship Id="rId2" Type="http://schemas.openxmlformats.org/officeDocument/2006/relationships/notesSlide" Target="../notesSlides/notesSlide200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Relationship Id="rId2" Type="http://schemas.openxmlformats.org/officeDocument/2006/relationships/notesSlide" Target="../notesSlides/notesSlide201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8.xml"/><Relationship Id="rId2" Type="http://schemas.openxmlformats.org/officeDocument/2006/relationships/notesSlide" Target="../notesSlides/notesSlide20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9.xml"/><Relationship Id="rId2" Type="http://schemas.openxmlformats.org/officeDocument/2006/relationships/notesSlide" Target="../notesSlides/notesSlide203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0.xml"/><Relationship Id="rId2" Type="http://schemas.openxmlformats.org/officeDocument/2006/relationships/notesSlide" Target="../notesSlides/notesSlide204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1.xml"/><Relationship Id="rId2" Type="http://schemas.openxmlformats.org/officeDocument/2006/relationships/notesSlide" Target="../notesSlides/notesSlide205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2.xml"/><Relationship Id="rId2" Type="http://schemas.openxmlformats.org/officeDocument/2006/relationships/notesSlide" Target="../notesSlides/notesSlide206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3.xml"/><Relationship Id="rId2" Type="http://schemas.openxmlformats.org/officeDocument/2006/relationships/notesSlide" Target="../notesSlides/notesSlide20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4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5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6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7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8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9.xml"/><Relationship Id="rId2" Type="http://schemas.openxmlformats.org/officeDocument/2006/relationships/notesSlide" Target="../notesSlides/notesSlide213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0.xml"/><Relationship Id="rId2" Type="http://schemas.openxmlformats.org/officeDocument/2006/relationships/notesSlide" Target="../notesSlides/notesSlide214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1.xml"/><Relationship Id="rId2" Type="http://schemas.openxmlformats.org/officeDocument/2006/relationships/notesSlide" Target="../notesSlides/notesSlide215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2.xml"/><Relationship Id="rId2" Type="http://schemas.openxmlformats.org/officeDocument/2006/relationships/notesSlide" Target="../notesSlides/notesSlide216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3.xml"/><Relationship Id="rId2" Type="http://schemas.openxmlformats.org/officeDocument/2006/relationships/notesSlide" Target="../notesSlides/notesSlide21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4.xml"/><Relationship Id="rId2" Type="http://schemas.openxmlformats.org/officeDocument/2006/relationships/notesSlide" Target="../notesSlides/notesSlide218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5.xml"/><Relationship Id="rId2" Type="http://schemas.openxmlformats.org/officeDocument/2006/relationships/notesSlide" Target="../notesSlides/notesSlide219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6.xml"/><Relationship Id="rId2" Type="http://schemas.openxmlformats.org/officeDocument/2006/relationships/notesSlide" Target="../notesSlides/notesSlide220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7.xml"/><Relationship Id="rId2" Type="http://schemas.openxmlformats.org/officeDocument/2006/relationships/notesSlide" Target="../notesSlides/notesSlide221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8.xml"/><Relationship Id="rId2" Type="http://schemas.openxmlformats.org/officeDocument/2006/relationships/notesSlide" Target="../notesSlides/notesSlide222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9.xml"/><Relationship Id="rId2" Type="http://schemas.openxmlformats.org/officeDocument/2006/relationships/notesSlide" Target="../notesSlides/notesSlide223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0.xml"/><Relationship Id="rId2" Type="http://schemas.openxmlformats.org/officeDocument/2006/relationships/notesSlide" Target="../notesSlides/notesSlide224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1.xml"/><Relationship Id="rId2" Type="http://schemas.openxmlformats.org/officeDocument/2006/relationships/notesSlide" Target="../notesSlides/notesSlide225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2.xml"/><Relationship Id="rId2" Type="http://schemas.openxmlformats.org/officeDocument/2006/relationships/notesSlide" Target="../notesSlides/notesSlide226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3.xml"/><Relationship Id="rId2" Type="http://schemas.openxmlformats.org/officeDocument/2006/relationships/notesSlide" Target="../notesSlides/notesSlide22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4.xml"/><Relationship Id="rId2" Type="http://schemas.openxmlformats.org/officeDocument/2006/relationships/notesSlide" Target="../notesSlides/notesSlide228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5.xml"/><Relationship Id="rId2" Type="http://schemas.openxmlformats.org/officeDocument/2006/relationships/notesSlide" Target="../notesSlides/notesSlide229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6.xml"/><Relationship Id="rId2" Type="http://schemas.openxmlformats.org/officeDocument/2006/relationships/notesSlide" Target="../notesSlides/notesSlide230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7.xml"/><Relationship Id="rId2" Type="http://schemas.openxmlformats.org/officeDocument/2006/relationships/notesSlide" Target="../notesSlides/notesSlide231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8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9.xml"/><Relationship Id="rId2" Type="http://schemas.openxmlformats.org/officeDocument/2006/relationships/notesSlide" Target="../notesSlides/notesSlide233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0.xml"/><Relationship Id="rId2" Type="http://schemas.openxmlformats.org/officeDocument/2006/relationships/notesSlide" Target="../notesSlides/notesSlide234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2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3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4.xml"/><Relationship Id="rId2" Type="http://schemas.openxmlformats.org/officeDocument/2006/relationships/notesSlide" Target="../notesSlides/notesSlide238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5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6.xml"/><Relationship Id="rId2" Type="http://schemas.openxmlformats.org/officeDocument/2006/relationships/notesSlide" Target="../notesSlides/notesSlide240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7.xml"/><Relationship Id="rId2" Type="http://schemas.openxmlformats.org/officeDocument/2006/relationships/notesSlide" Target="../notesSlides/notesSlide241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8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9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0.xml"/><Relationship Id="rId2" Type="http://schemas.openxmlformats.org/officeDocument/2006/relationships/notesSlide" Target="../notesSlides/notesSlide244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1.xml"/><Relationship Id="rId2" Type="http://schemas.openxmlformats.org/officeDocument/2006/relationships/notesSlide" Target="../notesSlides/notesSlide245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2.xml"/><Relationship Id="rId2" Type="http://schemas.openxmlformats.org/officeDocument/2006/relationships/notesSlide" Target="../notesSlides/notesSlide246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3.xml"/><Relationship Id="rId2" Type="http://schemas.openxmlformats.org/officeDocument/2006/relationships/notesSlide" Target="../notesSlides/notesSlide24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4.xml"/><Relationship Id="rId2" Type="http://schemas.openxmlformats.org/officeDocument/2006/relationships/notesSlide" Target="../notesSlides/notesSlide248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5.xml"/><Relationship Id="rId2" Type="http://schemas.openxmlformats.org/officeDocument/2006/relationships/notesSlide" Target="../notesSlides/notesSlide249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6.xml"/><Relationship Id="rId2" Type="http://schemas.openxmlformats.org/officeDocument/2006/relationships/notesSlide" Target="../notesSlides/notesSlide250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7.xml"/><Relationship Id="rId2" Type="http://schemas.openxmlformats.org/officeDocument/2006/relationships/notesSlide" Target="../notesSlides/notesSlide251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8.xml"/><Relationship Id="rId2" Type="http://schemas.openxmlformats.org/officeDocument/2006/relationships/notesSlide" Target="../notesSlides/notesSlide252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9.xml"/><Relationship Id="rId2" Type="http://schemas.openxmlformats.org/officeDocument/2006/relationships/notesSlide" Target="../notesSlides/notesSlide253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0.xml"/><Relationship Id="rId2" Type="http://schemas.openxmlformats.org/officeDocument/2006/relationships/notesSlide" Target="../notesSlides/notesSlide254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1.xml"/><Relationship Id="rId2" Type="http://schemas.openxmlformats.org/officeDocument/2006/relationships/notesSlide" Target="../notesSlides/notesSlide255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2.xml"/><Relationship Id="rId2" Type="http://schemas.openxmlformats.org/officeDocument/2006/relationships/notesSlide" Target="../notesSlides/notesSlide256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3.xml"/><Relationship Id="rId2" Type="http://schemas.openxmlformats.org/officeDocument/2006/relationships/notesSlide" Target="../notesSlides/notesSlide257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4.xml"/><Relationship Id="rId2" Type="http://schemas.openxmlformats.org/officeDocument/2006/relationships/notesSlide" Target="../notesSlides/notesSlide25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15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sp>
        <p:nvSpPr>
          <p:cNvPr id="31" name="주요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주요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1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sp>
        <p:nvSpPr>
          <p:cNvPr id="6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sp>
        <p:nvSpPr>
          <p:cNvPr id="48" name="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9" name="성과 띠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9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7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72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78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sp>
        <p:nvSpPr>
          <p:cNvPr id="20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sp>
        <p:nvSpPr>
          <p:cNvPr id="34" name="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37" name="카드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2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0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sp>
        <p:nvSpPr>
          <p:cNvPr id="23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24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26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28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29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1" name="값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6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2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44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45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0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52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53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sp>
        <p:nvSpPr>
          <p:cNvPr id="35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2" name="캡션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65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sp>
        <p:nvSpPr>
          <p:cNvPr id="26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graphicFrame>
        <p:nvGraphicFramePr>
          <p:cNvPr id="12" name="실적표"/>
          <p:cNvGraphicFramePr>
            <a:graphicFrameLocks noGrp="1"/>
          </p:cNvGraphicFramePr>
          <p:nvPr/>
        </p:nvGraphicFramePr>
        <p:xfrm>
          <a:off x="536870" y="1161391"/>
          <a:ext cx="6300001" cy="723131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유형 · 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연차별 임금감소 비율 · 누적 절감률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 이상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3.5년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6개월 5% → 1년차 10% → 2년차 20% → 3년차 30% (누적 65%)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3급 이하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2.0년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1년차 20% → 2년차 30% (누적 50%)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실적표"/>
          <p:cNvGraphicFramePr>
            <a:graphicFrameLocks noGrp="1"/>
          </p:cNvGraphicFramePr>
          <p:nvPr/>
        </p:nvGraphicFramePr>
        <p:xfrm>
          <a:off x="536870" y="1972174"/>
          <a:ext cx="6300001" cy="476609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임금피크 인원 · 충당률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절감재원 · 신규채용보수(백만원)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422명 · 105%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6,192 · 5,876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핵심성과 라벨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sp>
        <p:nvSpPr>
          <p:cNvPr id="24" name="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성과 띠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27" name="카드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29" name="값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30" name="연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32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33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5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45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24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5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160</a:t>
            </a:r>
          </a:p>
        </p:txBody>
      </p:sp>
      <p:sp>
        <p:nvSpPr>
          <p:cNvPr id="4" name="주석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7" name="장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662591"/>
          <a:ext cx="6300001" cy="96965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성명 · 연락처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E-mail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경영부문장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남영현 · 042-629-2203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nyh@kwater.or.kr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노사협력처장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박혜원 · 042-629-2650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hyewon@kwater.or.kr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노사협력부장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이석원 · 042-629-2651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leesw@kwater.or.kr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graphicFrame>
        <p:nvGraphicFramePr>
          <p:cNvPr id="11" name="실적표"/>
          <p:cNvGraphicFramePr>
            <a:graphicFrameLocks noGrp="1"/>
          </p:cNvGraphicFramePr>
          <p:nvPr/>
        </p:nvGraphicFramePr>
        <p:xfrm>
          <a:off x="536870" y="1276435"/>
          <a:ext cx="6300001" cy="2695307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장 · 평가내용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Ⅰ. 2024년 지적사항 조치실적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Ⅱ. 2025년 주요 추진실적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Ⅲ. 2025년 세부평가내용별 추진실적 및 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新노동 패러다임에 신속한 대응, 노사 全분야 펀더멘탈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법과 원칙에 따른 노사기준 재정비 및 참여형 디지털 노무광장 오픈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 분쟁 발생 이전에 작동하는 선제적 노사갈등 관리체계 도입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한층 더 다가가는 노사리더, 직원 목소리로 다듬는 노동이사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노사전략과 환경변화를 연결하는 계층별 노무역량강화 모델 최적화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직원 숙원을 해소하고, 더 나은 일터를 설계하는 노사 파트너십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가족과 안전은 지속가능한 근로조건의 근간, 노사가 함께 지속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1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2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sp>
        <p:nvSpPr>
          <p:cNvPr id="49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sp>
        <p:nvSpPr>
          <p:cNvPr id="61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2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66" name="카드 문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68" name="카드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sp>
        <p:nvSpPr>
          <p:cNvPr id="26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7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41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8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sp>
        <p:nvSpPr>
          <p:cNvPr id="64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소제목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0" name="태그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27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28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30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32" name="카드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36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4" name="그룹 제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36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sp>
        <p:nvSpPr>
          <p:cNvPr id="41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42" name="카드 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43" name="카드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46" name="그룹 제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48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51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53" name="탭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56" name="카드 요약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58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9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41" name="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2" name="성과 띠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44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46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9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2" name="사진 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4" name="패널 머리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16" name="요약 바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18" name="패널 머리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0" name="요약 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4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125565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사업범위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 미션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광역상수도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전국 113개 지자체와 산단에 수돗물 안정 공급(50개 수도시설 · 1,942만㎥/일)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 물복지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운영 선진화 지원(23개 지자체 운영관리 · 116개 노후 정비)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및 기업니즈 대응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눈높이를 충족하는 맞춤형 물 토탈서비스(물문제 해결 · 고객정보 · 산업 맞춤)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 추진 과정의 근로자 및 시민 안전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65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66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sp>
        <p:nvSpPr>
          <p:cNvPr id="7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76" name="배너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78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sp>
        <p:nvSpPr>
          <p:cNvPr id="99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sp>
        <p:nvSpPr>
          <p:cNvPr id="107" name="레일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  <p:graphicFrame>
        <p:nvGraphicFramePr>
          <p:cNvPr id="11" name="다열 표"/>
          <p:cNvGraphicFramePr>
            <a:graphicFrameLocks noGrp="1"/>
          </p:cNvGraphicFramePr>
          <p:nvPr/>
        </p:nvGraphicFramePr>
        <p:xfrm>
          <a:off x="723130" y="1522957"/>
          <a:ext cx="6300000" cy="2394471"/>
        </p:xfrm>
        <a:graphic>
          <a:graphicData uri="http://schemas.openxmlformats.org/drawingml/2006/table">
            <a:tbl>
              <a:tblPr/>
              <a:tblGrid>
                <a:gridCol w="882000"/>
                <a:gridCol w="1764000"/>
                <a:gridCol w="1764000"/>
                <a:gridCol w="189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’24년도 평가환류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 변화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성과목표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이상기후, 노후화 대비 첨단기술 기반 물공급 전환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재난피해 최소화, PFAS 규제 예고 등 수돗물 안전요구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기후위기에 강한 안정적인 고품질 수돗물 생산·공급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 물문제에 대응할 수 있도록 지자체 역량 육성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 재난, 지자체 재정 악화 등 공공기관의 공적역할 강조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지역간 차별 없는 국민 물 복지 혜택 확산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요금동결 속 서비스 유지와 첨단산업 물공급 노력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 정보서비스 확대와 지방 첨단산단 물수요 증가 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대국민 서비스 향상 및 첨단산업 경쟁력 제고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 특성에 맞는 실효적 산재예방 및 시민안전 대책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서울시 싱크홀 사고 등 국민 불안 증가, 수도사업 지속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근로자와 국민 모두 안전한 수도사업장 조성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graphicFrame>
        <p:nvGraphicFramePr>
          <p:cNvPr id="27" name="다열 표"/>
          <p:cNvGraphicFramePr>
            <a:graphicFrameLocks noGrp="1"/>
          </p:cNvGraphicFramePr>
          <p:nvPr/>
        </p:nvGraphicFramePr>
        <p:xfrm>
          <a:off x="536870" y="2843217"/>
          <a:ext cx="6300000" cy="4016351"/>
        </p:xfrm>
        <a:graphic>
          <a:graphicData uri="http://schemas.openxmlformats.org/drawingml/2006/table">
            <a:tbl>
              <a:tblPr/>
              <a:tblGrid>
                <a:gridCol w="819000"/>
                <a:gridCol w="1827000"/>
                <a:gridCol w="504000"/>
                <a:gridCol w="504000"/>
                <a:gridCol w="504000"/>
                <a:gridCol w="441000"/>
                <a:gridCol w="170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 Pool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전략연계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정책부합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SMART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판정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적합성 평가결과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 rowSpan="4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단수시 비상공급률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안전한 물 공급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첨단기술 기반 물공급 전환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정책환경변화에 따른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기후위기 대비 국가 인프라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도입률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기후위기 시대 물 안보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유수율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(국정15) 지역 간 물복지 편차 해소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노후상수도 정비사업 달성도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(국정72) 노후상수관 정비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국민친화 요금제도 운영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정책환경변화에 따른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이용만족도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(국정14) 국민 맞춤 공공서비스 제공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(국정72·75) 모든 사람이 안전한 나라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다열 표"/>
          <p:cNvGraphicFramePr>
            <a:graphicFrameLocks noGrp="1"/>
          </p:cNvGraphicFramePr>
          <p:nvPr/>
        </p:nvGraphicFramePr>
        <p:xfrm>
          <a:off x="536870" y="6936261"/>
          <a:ext cx="6300000" cy="1543775"/>
        </p:xfrm>
        <a:graphic>
          <a:graphicData uri="http://schemas.openxmlformats.org/drawingml/2006/table">
            <a:tbl>
              <a:tblPr/>
              <a:tblGrid>
                <a:gridCol w="1008000"/>
                <a:gridCol w="2016000"/>
                <a:gridCol w="3276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변경사유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 선정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개선(1개)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이용만족도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 평가 실사시 제시된 의견에 따라 사용자 중심의 서비스 개선과 질적 향상을 위해 만족도 비중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환류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신규(1개)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발표된 평가단 지적 및 新정부 안전강화 정책을 반영해 근로자안전 및 시민재해 예방을 위한 지표 신설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新정부 AI 정책을 반영해 기존 첨단기술과 함께 全과정 AI 전환을 통한 기후위기 대응력 강화로 성과관리 확장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  <p:graphicFrame>
        <p:nvGraphicFramePr>
          <p:cNvPr id="6" name="다열 표"/>
          <p:cNvGraphicFramePr>
            <a:graphicFrameLocks noGrp="1"/>
          </p:cNvGraphicFramePr>
          <p:nvPr/>
        </p:nvGraphicFramePr>
        <p:xfrm>
          <a:off x="723130" y="1095652"/>
          <a:ext cx="6300000" cy="3576680"/>
        </p:xfrm>
        <a:graphic>
          <a:graphicData uri="http://schemas.openxmlformats.org/drawingml/2006/table">
            <a:tbl>
              <a:tblPr/>
              <a:tblGrid>
                <a:gridCol w="882000"/>
                <a:gridCol w="378000"/>
                <a:gridCol w="1701000"/>
                <a:gridCol w="1701000"/>
                <a:gridCol w="1638000"/>
              </a:tblGrid>
              <a:tr h="328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전략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과제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~’27년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~’29년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10054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❶❸❺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AI(정) 고도화 및 AX 기반 마련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운영고도화(원가 172억원/연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기후대응 인프라 개선 계획 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AI(정) 국제표준 및 AX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잠재e 발굴(원가 370억원/연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안정화, 고도 등 사업시행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 자율운영 및 사업화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고도화(원가 467억원/연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글로벌 수준 고도도입 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0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❶❻❼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표준모델 구축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지방(상) 사업모델 다각화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취약지역 맞춤형 지원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국내 선도사업 추진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지방(상) 신규사업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취약점 선제적 발굴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국내외 사업화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활용, 지방(상) 운영고도화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사각지대 해소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054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❷❹❽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첨단용수 최적공급방안 마련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운영관리 사업 진출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물이용개선방안 제안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첨단용수 공급망 조성 시행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기반 사업모델 다각화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물이용체계 개선 수립·실행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 용수공급 인프라 준공 등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사업확대 및 민간 동반성장 추진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워터믹스 등 물이용체계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수도특화 안전설계기준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 인프라 구축 및 AI기술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 제로 안전 관리체계 완성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sp>
        <p:nvSpPr>
          <p:cNvPr id="41" name="소제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graphicFrame>
        <p:nvGraphicFramePr>
          <p:cNvPr id="42" name="다열 표"/>
          <p:cNvGraphicFramePr>
            <a:graphicFrameLocks noGrp="1"/>
          </p:cNvGraphicFramePr>
          <p:nvPr/>
        </p:nvGraphicFramePr>
        <p:xfrm>
          <a:off x="536870" y="4218417"/>
          <a:ext cx="6300000" cy="1388975"/>
        </p:xfrm>
        <a:graphic>
          <a:graphicData uri="http://schemas.openxmlformats.org/drawingml/2006/table">
            <a:tbl>
              <a:tblPr/>
              <a:tblGrid>
                <a:gridCol w="1008000"/>
                <a:gridCol w="567000"/>
                <a:gridCol w="567000"/>
                <a:gridCol w="567000"/>
                <a:gridCol w="359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운영방향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19,391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17,628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17,365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사업 등 건설 완료에 따라 예산이 소폭 감소하였으며, 노후시설 개선 등에 집중투자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7,010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7,520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7,915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안전·혁신기술 예산 전략적 확대와 취약 지자체 정비사업 재원 집중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141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463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390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등 성장분야 및 대국민 서비스 투자는 확대하되, 기술기반 원가저감으로 한정된 재원 활용 효율 극대화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  <p:graphicFrame>
        <p:nvGraphicFramePr>
          <p:cNvPr id="45" name="다열 표"/>
          <p:cNvGraphicFramePr>
            <a:graphicFrameLocks noGrp="1"/>
          </p:cNvGraphicFramePr>
          <p:nvPr/>
        </p:nvGraphicFramePr>
        <p:xfrm>
          <a:off x="536870" y="6045652"/>
          <a:ext cx="6300000" cy="1388975"/>
        </p:xfrm>
        <a:graphic>
          <a:graphicData uri="http://schemas.openxmlformats.org/drawingml/2006/table">
            <a:tbl>
              <a:tblPr/>
              <a:tblGrid>
                <a:gridCol w="1008000"/>
                <a:gridCol w="567000"/>
                <a:gridCol w="567000"/>
                <a:gridCol w="567000"/>
                <a:gridCol w="359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운영방향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1,985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2,030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2,034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물공급 안전망 투자 확대에 맞춰 운영·건설 병행조직에서 건설 전담조직을 분리·확대(4→8개소)하는 등 조직·인력 조정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712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684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노후상수도 정비사업 통합 운영, 정비사업 완료(12개) 및 신규협약(24개)에 따른 인력 조정배치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331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365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운영 전담조직 신설 및 운영관리 인력 증원(37명) 등 산업용수 인력 재배치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graphicFrame>
        <p:nvGraphicFramePr>
          <p:cNvPr id="6" name="다열 표"/>
          <p:cNvGraphicFramePr>
            <a:graphicFrameLocks noGrp="1"/>
          </p:cNvGraphicFramePr>
          <p:nvPr/>
        </p:nvGraphicFramePr>
        <p:xfrm>
          <a:off x="723130" y="1095652"/>
          <a:ext cx="6300000" cy="2544727"/>
        </p:xfrm>
        <a:graphic>
          <a:graphicData uri="http://schemas.openxmlformats.org/drawingml/2006/table">
            <a:tbl>
              <a:tblPr/>
              <a:tblGrid>
                <a:gridCol w="2520000"/>
                <a:gridCol w="630000"/>
                <a:gridCol w="315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모니터링 방법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도입률(%)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측정시스템: 운영통합(WRO), 시설통합(WFM), 수질통합(WQE)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유수율(%)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월간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성과관리시스템, 국가상수도정보시스템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단수시 비상공급률(%)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국민소통센터(BP발굴)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국민기대수질 달성률(%)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점검: 전사경영회의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노후(상) 정비사업 달성도(%)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점검: 성과관리회의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급수 취약지역 인구 해소(누계, 천명)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고객만족도(점)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만족도(점)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 등 5개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sp>
        <p:nvSpPr>
          <p:cNvPr id="20" name="번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21" name="분야 박스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3" name="소제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25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27" name="요약 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29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31" name="요약 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35" name="번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6" name="분야 박스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38" name="소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38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sp>
        <p:nvSpPr>
          <p:cNvPr id="60" name="번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61" name="분야 박스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63" name="소제목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69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75" name="카드 제목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76" name="카드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7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79" name="카드 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80" name="카드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sp>
        <p:nvSpPr>
          <p:cNvPr id="83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87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8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94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sp>
        <p:nvSpPr>
          <p:cNvPr id="18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9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0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0" name="사진 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0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sp>
        <p:nvSpPr>
          <p:cNvPr id="26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7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지자체가 해결하기 어려운 물 문제, K-water의 아이디어와 기술로 해결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지역맞춤형 대안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발상의 전환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정서·니즈의 충족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댐·하천 非의존형 수원 발굴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독보적 기술의 융합·활용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지자체의 물 관리 어려움에 때로는 해결사로! 때로는 중재자로! 맞춤형 대응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1·2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대구 맑은 물 공급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 가뭄 대응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다변화(하천 복류수)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’91년 페놀사건 이후 대구시는 취수원 이전 지속 추진 중, 최근 안동댐 활용 검토 요청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現취수원 인근 복류수 도입 제안·정책화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복류수 공급사업 시행근거 확보(타당성조사 용역비 국고 45억원 반영)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인력·기술·비상식수 지원 + 대책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단일 수원 저수율 11%↓, ‘재난사태’ 선포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단기대응 지원 및 항구대책 마련·수행(운휴시설 재가동 기술지원, 지하수저류댐 건설)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가뭄 적극 대응 노력 인정, 재난관리평가 ‘국무총리 표창’(’25.12)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3·4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대산 산단 해수담수화 도입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 산단 공업용수 공급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다변화(해수담수화)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충남서부지역 가뭄 반복, 대산석유화학단지 공업용수 수요 증대로 만성적 물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국내최대(10만 톤/일) 해수담수화 준공(’25.12)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(대산 산단) 無限 수원 확보, (충남서부지역) 만성적 물 부족 문제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첨단 수처리기술 활용, 현안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방사능 우려로 해수담수화시설(부산 기장)을 활용한 식수공급 반대로 10년간 시설 방치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해·담 시설을 하수재이용 시설로 전환, 공업용수 공급에 기술지원 및 운영 참여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동부산 산단 공업용수 공급 MOU 체결(’25.9)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근본적인 지역 물 문제 해결을 위한 ‘물 이용 개선방안’ 수립·정부 제안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이용 관리체계 혁신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극한가뭄 대응 기반 조성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워터믹스로 댐 의존도↓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국가계획 주기(5→2년), 지자체계획 연계 + 물수급협의체 신설(정부·지자체·산업)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수요변화 대응 적시성·유연성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가뭄취약지역 평가 고도화: 다양한 가뭄 시나리오, 물 수급 여건 등을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계획: 가뭄대책 반영 의무화 / 워터그리드: 기존 수원 간 연계체계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다목적댐·발전용댐·지하수저류댐·농업용저수지를 연계하는 워터믹스(watermix)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수요처별 최적 수원 연계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K-water가 제안한 ‘물 이용 개선방안’ 기반, 기후부 ‘물 이용 체계 혁신방안’ 수립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첨단산업 성장을 뒷받침하는 안정적인 용수공급으로 국가경쟁력 제고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패권경쟁 우위 선점은 ‘규모의 경제’와 ‘속도’가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‘용수’가 필수적인 첨단산업 기업은 신속한 인프라 확충에 갈증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역할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합리적 수요산정·체계적 공급여건 마련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첨단산단 특성과 입지여건을 고려, 최적 용수공급방안 마련·사업 추진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정부  첨단산업 육성전략 발표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선도  용인반도체 첨단산단 조성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‘용수 확보’ 계획없이 첨단산단(27개소)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적기 인프라 구축 어려움 가중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발전댐(화천댐) 연계, 용수공급방안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반도체클러스터 용수공급 사업 신속 추진 → 국가산단(삼성), 일반산단(SK hynix) 통합기반 마련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확대: 용인반도체 통합용수공급방안 확정에 이어 ‘지방권 첨단산단’ 공급방안 선제적 대응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지방권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첨단산단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 클러스터(’25년 추진계획 변경)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고흥 우주항공 산단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적기 추진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관로통합: 관로위치 조정 및 3→2열로 통합, 사업비 0.25조원 절감(타당성조사 완료)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사업기간 2년 단축 + 사업비 363억원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원거리의 광역(상) 공급(사업기간 7년, 767억원) / 개선: 인근의 지방(상) 개량·공급(사업기간 5년, 404억원)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울진 원자력수소 산단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울산 샤힌 프로젝트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수소원료인 물 단가 절감, 산업경쟁력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해수담수화 공급(고비용) 수요량 40천톤/일, 사업비 1,554억원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수요 재추정, 지방수원 공급활용 수요량 28천톤/일, 1,268억원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니즈 반영, 산업시설 적기 가동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첨단석유화학 플랜트 조기 가동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국가계획 반영·국고 조기 확보 → 공급시기 1년 단축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산업단지 출발은 물길부터, 물공급 인프라 사전 검토 가이드라인 마련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조성에서 얻은 교훈 → 산업단지 조성의 핵심은 ‘인프라’ 확보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현실: 先산단지정·後인프라 검토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 확보 불가시, 산단 조성에 난항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산단 계획부터 인프라를 검토하도록 ‘산업입지 수급계획 수립 국가기준’ 마련(’25.10)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산업입지별 용수 수요산정 방법 + 시기 제안(→국토부)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용수수요: 업종별 추정(업종별 원단위 × 부지 면적)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확보계획: 수요량 ↔ 지역 물여유량 비교(부족시 수립)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산정시기: 산업단지 조성 최초 계획 수립시 검토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17개 시·도 제5차 산업입지 수급계획 즉시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 수급계획 수립(용수·전력 인프라 검토) → 산업단지 지정 → 산업단지 계획승인</a:t>
            </a:r>
          </a:p>
        </p:txBody>
      </p:sp>
      <p:sp>
        <p:nvSpPr>
          <p:cNvPr id="21" name="주요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22" name="주요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인프라 적기 구축을 통한 첨단산단의 원활한 조성으로 국가 산업경쟁력 강화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글로벌 기업이 독점한 초순수 분야, K-water 중심으로 개척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수요기업(반도체 등)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협력기업(시공·장비 등)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공급망 확보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개발기술 검증·실증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통합물관리 업역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‘안정적인 반도체 초순수 공급체계 구축’으로 사업 가속화(국정과제 43 국가 경제 적응력 강화)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기술완성·사업기반조성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성능검증·사업진출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기술고도화·사업확대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국산화(설계·시공·운영·장비)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사업화: 사업진출 협약 체결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實공급 기반 장기성능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운영사업 최초 진출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국산장비 고도화 R&amp;D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용인산단 통합 물서비스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1차 국산화 R&amp;D(’21~’25) 성공을 통한 확신, 완전 기술자립을 위한 새로운 도전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국산화 R&amp;D 성공적 마무리(’21~’25)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R&amp;D 참여기업 가시적 성과 창출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국산화 목표: 장비 70% + 설계·시공·운영 100%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SK실트론內 R&amp;D 시설 활용, 초순수 實공급 및 웨이퍼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장기운전 신뢰 검증, 노하우 축적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한성크린텍 — 설계+시공: 삼성전자 EPC사업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SAMYANG — 장비: 군산에 300억원 시설투자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SepraTek — 장비: 삼양社와 탈기막 공동사업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— 총괄+운영: R&amp;D 연계, 전문인력 양성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성과 기반으로 2차 국산화 R&amp;D 기획(반도체급 실증플랜트 구축 + 장비 국산화 90% 확대)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반도체와 함께 커가는 물산업 경쟁력, 국가 초순수 생태계 육성 로드맵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급부상으로 뒤늦게 발견된 ‘초순수 산업’의 가치, 국가 전략화 추진(’24.11~)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국가전략  산업 全주기 지원 청사진 제시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실행체계  초순수 산업 활성화 Action Plan 마련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정부정책, 산·학·연 니즈 분석 기반, 「국가 초순수 전략 수립」 직접 참여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자체TF(산업용수 활성화) 운영, 국가전략과 연계한 종합 실행계획 수립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자립화 및 고도화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산업 경쟁력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시장·판로지원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❹ 지속성장 기반구축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공공랩 구축 · 진단기술 확보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전문인력 양성 · 민간기업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사업추진·협력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국가R&amp;D 참여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모두가 불가능이라 했지만, 국내기업 최초 초순수 운영관리 사업 진출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초순수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사업진출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2012년 첫발을 디딘 K-water 초순수 연구, 13년만에 국내 반도체 기업의 파트너로 성장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’12년 요소기술 확보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’21년 생산능력 검증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사업진출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반도체 플랜트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24㎥/일 → X100배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2,400㎥/일 → X10배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24,400㎥/일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HBM 반도체 수요 대응 신규공장(M15X-청주) 신설 / (3월) 실시협약 → (~12월) 인계·시운전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’12~’21년 파일럿플랜트: 자체연구, 장기간 기술개발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’21~’25년 실증플랜트: 국가R&amp;D, 웨이퍼 공정 實공급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공공성 · 차별성 · 도전성 · 상징성: 민간기업 협력 기술자립 성공, 글로벌 유일 물공급 全기술 보유, 해외 전문기업 독점시장 진입, 국내기업 최초 운영사업 진출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 성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이동: 취수장 → 정수장 → 고객 간 물 이동을 위해 고압전기, 복잡한 설비(회전체 등) 운영. 물 공급관로·밸브설비는 지하(밀폐)에 매설, 일부구간 도심/도로 횡단(전국 5.5만㎞)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생산: 하천수 등을 수심 깊은 저수조에서 다량(중량물)의 화학물질(정수약품)을 사용, 정수 처리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밀폐공간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 고위험 시설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산재된 시설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시민재해 요인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관로상 밸브실 등 밀폐장소(5만개) 작업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고위험(약품, 전기 등) 공정운영(2천개)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5.5만㎞ 산재로 감시와 접근 한계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싱크홀 원인의 6% 노후상수도관 파손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수도 특화 안전설계기준과 맞춤형 대책으로 근로자 안전 확보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안전설계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준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위험요소 맞춤형 기준 제시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안전 기준 통합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확보와 확산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시설 특성·위험분석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반복지적 2천여건 분석 → 부위별 위험별 기준 제시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5천건의 안전기준 → 수도시설에 맞는 522개 항목으로 통합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표준작업절차서 131종, 안전시설 개선계획 수립(예산 80억원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확산 및 공동활용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한번에 쉽고 빠르게 찾는 안전수칙 마련과 실행·확산으로 국가 상수도 안전 표준 제시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책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밀폐공간: ‘eCall’ 전사 도입 — 출입통제, 유해가스 실시간 감지, 움직임 감지 → 경보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산재: 기술과 인력으로 사각지대 최소화 — AI+CCTV, 스마트 안전장비, 자회사 안전인력 全사업소(46명) 반영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복합설비: 위험제거·통제로 실효적 재해예방 — 보호구 4종 추가, 안전거울, 약품 자동투입설비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제도개선: 안전 최우선 가치로 발주자 역할 수행 — 안전중심 평가, 정부 총사업비지침 개정 통해 감리비 현실화(76 → 96%)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노후관로 선제 정비와 실시간 누수 감지를 통한 시민의 안전한 일상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시민밀접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안전확보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노후관 정비  싱크홀 예방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누수 감지  침수사고 예방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맨홀 개선  차량사고 예방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노후관 개량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지방상수도 노후관 정비 수탁 수행·운영(116개)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수압·유량 관망해석 및 AI 활용, 실시간 누수감지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관망분석 전담인력 확대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맨홀 ↔ 도로 높낮이 차이 개선계획 수립(729개)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일일점검 강화</a:t>
            </a:r>
          </a:p>
        </p:txBody>
      </p:sp>
      <p:sp>
        <p:nvSpPr>
          <p:cNvPr id="21" name="주요성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주요성과 문구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수도서비스 실효적 안전대책·싱크홀 방지 등 국정과제 이행과 산업·시민재해 저감(△27%)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조직·인력·예산 운용 등의 효율성 제고노력</a:t>
            </a:r>
          </a:p>
        </p:txBody>
      </p:sp>
      <p:graphicFrame>
        <p:nvGraphicFramePr>
          <p:cNvPr id="9" name="다열 표"/>
          <p:cNvGraphicFramePr>
            <a:graphicFrameLocks noGrp="1"/>
          </p:cNvGraphicFramePr>
          <p:nvPr/>
        </p:nvGraphicFramePr>
        <p:xfrm>
          <a:off x="723130" y="1161391"/>
          <a:ext cx="6300000" cy="3398559"/>
        </p:xfrm>
        <a:graphic>
          <a:graphicData uri="http://schemas.openxmlformats.org/drawingml/2006/table">
            <a:tbl>
              <a:tblPr/>
              <a:tblGrid>
                <a:gridCol w="882000"/>
                <a:gridCol w="693000"/>
                <a:gridCol w="2835000"/>
                <a:gridCol w="189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조직·인력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인력 중심 고비용 노후관로 상태평가를 AI를 활용한 평가 예측과 영상판독으로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 비용을 인력수행 比 최대 455억원 절감 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정수장 데이터 관리·성능 및 품질관리·장애대응 등 표준 운영 가이드라인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운영편차 최소화를 통한 휴먼에러 저감(신뢰도 95%)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조직·인력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 상수도 정비사업 통합수탁(5개 개별 지자체 → 2개 권역 통합)으로 적은 인원으로 성과 창출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K-water 인력부족으로 인한 개별수탁 수용불가 문제 해결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 상수도 정비사업 프로세스 간소화로 성과 조기 창출(순차적 협의 → 지자체 우선협의+설계 일괄발주)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정비사업 기간 7개월 단축(전체 사업기간의 10%)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조직·인력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국내 기업 최초 초순수 운영관리 사업 진출에 따라 전문성을 갖춘 전담 조직 신설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공백없는 시설운영(인수인계, 시운전 등 사전수행)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산업단지 계획단계부터 인프라(용수, 전력 등) 사전 검토 가이드라인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산단 입주에 맞춘 적기 물공급으로 기업 니즈 충족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수도시설에 맞는 안전기준 집약(5천건 → 522개 항목), 표준작업절차서 131종 마련, 자회사 안전인력 확충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 상수도 안전 표준 제시 및 산업재해 저감 기여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및 공공성 강화 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노력</a:t>
            </a:r>
          </a:p>
        </p:txBody>
      </p:sp>
      <p:graphicFrame>
        <p:nvGraphicFramePr>
          <p:cNvPr id="14" name="실적표"/>
          <p:cNvGraphicFramePr>
            <a:graphicFrameLocks noGrp="1"/>
          </p:cNvGraphicFramePr>
          <p:nvPr/>
        </p:nvGraphicFramePr>
        <p:xfrm>
          <a:off x="536870" y="1522957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계절별 수질 취약요소 관리강화로 국민체감도가 높은 냄새, 망간 등을 불검출 수준 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이상수질 증가에도 역대 최고 국민기대수질 98.3% 달성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현장에서 접속, 민원 일괄처리가 가능한 One-Stop 모바일 지방상수도 업무처리 시스템 구축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민원 신속 응대로 국민 편의성 제고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10년간 요금동결 등 재정적 어려움에도 급수 취약지역 해소, 사회적 배려계층 지원 확대 등 국민 고충 해결 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보편적 물 수혜확대와 물 복지 사각지대 해소기여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 상수도관 신속정비, AI 활용 누수관리 강화 등을 통해 국민 불안이 높은 싱크홀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K-water 관리 상수도관 관련 싱크홀 제로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공공성 강화 노력</a:t>
            </a:r>
          </a:p>
        </p:txBody>
      </p:sp>
      <p:graphicFrame>
        <p:nvGraphicFramePr>
          <p:cNvPr id="17" name="실적표"/>
          <p:cNvGraphicFramePr>
            <a:graphicFrameLocks noGrp="1"/>
          </p:cNvGraphicFramePr>
          <p:nvPr/>
        </p:nvGraphicFramePr>
        <p:xfrm>
          <a:off x="536870" y="3188348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글로벌 선도 AI정수장 기술 민간기업 기술이전 활성화로 국내 물산업 육성 및 공적 역할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기술이전 35건으로 중소기업 동반성장 도모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산불·가뭄 등 재난 시 피해복구 지원, 수질검사, 정수처리 컨설팅 등 총력지원으로 물 공급 조기 정상화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재난피해 6개 지자체, 22만여명 국민의 빠른 일상회복에 기여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R&amp;D 민관 합동 수행을 통한 기술 자립으로 민간 기업의 사업확장과 기술경쟁력 제고 도모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 전략산업(반도체) 기반 강화 및 동반성장 도모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맨홀 단차에 의한 차량 사고 예방과 실시간 누수감지로 침수사고 예방 등 시민재해 예방활동 적극 추진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국민생활 밀접 수도시설 관리 강화로 안전한 일상 보장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경영환경 변화에 따른 대응노력 및 성과</a:t>
            </a:r>
          </a:p>
        </p:txBody>
      </p:sp>
      <p:graphicFrame>
        <p:nvGraphicFramePr>
          <p:cNvPr id="9" name="실적표"/>
          <p:cNvGraphicFramePr>
            <a:graphicFrameLocks noGrp="1"/>
          </p:cNvGraphicFramePr>
          <p:nvPr/>
        </p:nvGraphicFramePr>
        <p:xfrm>
          <a:off x="723130" y="1172348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 변화 및 위험요인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대응노력 및 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과불화화합물 규제강화 예고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WHO 발암물질 지정, 선제 대비 중요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활성탄 순환 생태계 선제 구축 및 국가 R&amp;D 정책 견인으로 PFAS 대응 선도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가뭄, 산불 등 대형 국가재난 지속 발생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재난발생으로 물 공급 중단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인력·자재·기술 등 지자체 총력지원과 합동 위기대응으로 용수공급 조기 정상화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첨단산단 중심 물수요 지속 증가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댐개발 불투명, 가용수자원 한정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산업입지에 적합한 최적 용수공급 방안 제시 및 근본적 물 문제해소 방안 정책화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근로자, 국민 안전 최우선 경영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수도시설은 시민밀접시설로 전국 산재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밀폐공간, 스마트 안전장비로 근로자 안전, 노후관 정비로 싱크홀 예방 등 국민 안전 보장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추진성과의 설립목적 및 경영목표 달성 기여도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수돗물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공급혁신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 및 안정화 신속 추진으로 비상공급률 목표(100%)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AI(정) 고도화와 국제표준 인증으로 사업화 확대(8건)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취약요인 집중관리로 역대 최고 국민기대수질(98.3%)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에너지절감으로 원가절감 목표(105%) 달성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물복지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활용, 운영·서비스 개선으로 최고실적(유수율, 고객만족도)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사업모델 다각화(통합형 등)와 수행체계 개선으로 누수량 70백만톤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재난대응·기술지원으로 국민(22만명) 급수 정상화 및 취약인구(1만명) 해소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연간 1,483억원 인하효과 등 국민 부담완화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맞춤형 대응방안 제시로 물 문제 해결 및 지역균형발전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최적 용수공급과 초순수 운영 국산화로 첨단산업 경쟁력 제고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 권으로 끝내는 수도특화 안전설계기준 마련으로 산업재해 저감(Δ30%)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노후관 정비와 실시간 누수감지로 싱크홀 및 침수사고 Zero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수요를 충족하는 고품질 물공급 실현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극한기후에 안전한 물관리 시스템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민관·지역·글로벌 협력 중심 물가치 창출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全 프로세스 고도화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중단없는 안전한 수돗물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안심하는 고품질 수돗물 생산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중심의 상수도 全 분야 AX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기반 시설 운영고도화로 원가절감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지방상수도 적기 개선으로 누수저감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취약시설 맞춤형 기술지원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첨단용수(초순수 등) 안정적 용수공급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체감 물정보 제공 및 수돗물 인식 개선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국민기대수질, 고도도입률 향상으로 고품질 수돗물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기반 엄격한 수질관리로 수돗물 신뢰 향상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사고에 대비한 취약시설 집중개선으로 물 공급 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안정적 용수공급으로 국가 경쟁력 제고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요금동결과 강도 높은 원가저감으로 국민부담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등 국가적 재난 총력지원으로 국민의 빠른 일상 회복 기여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상수도 누수 저감과 서비스 수준 향상으로 공공복리 증진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軍부대·산간·도서지역 등 급수취약지역 물복지 확산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 및 ’25년 자체 환류활동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</a:t>
            </a:r>
          </a:p>
        </p:txBody>
      </p:sp>
      <p:graphicFrame>
        <p:nvGraphicFramePr>
          <p:cNvPr id="11" name="실적표"/>
          <p:cNvGraphicFramePr>
            <a:graphicFrameLocks noGrp="1"/>
          </p:cNvGraphicFramePr>
          <p:nvPr/>
        </p:nvGraphicFramePr>
        <p:xfrm>
          <a:off x="723130" y="1533913"/>
          <a:ext cx="6300001" cy="1109427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 개선 및 확산 과제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 추진성과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AI정수장 기술최적화 지속(생성형AI), 수도통합 DT 기반 의사결정 Solution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정수장 고도화(피지컬 AI 등)와 통합 의사결정 플랫폼 구축으로 성과 확산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수요 맞춤 모듈형 사업모델 기반, 기존 사업 재협약과 신규사업 발굴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통합형(충남), 일괄형(제주) 수탁 등 사업모델 다변화로 신규사업 최다(24개)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활용도 제고를 위한 지자체 연계 홍보 실시 및 서비스 대상 지자체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사용자 맞춤형 상수도정보 소통플랫폼 런칭·서비스 확대로 이용자 확대(증 103천), 서비스만족도 96.6점 달성(목표대비 100.1%)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성과지표별 목표수준 설정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성과지표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 대응강화: 위성 활용기술 수준(%) (’30년도까지 90% 달성)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미국(NASA, Global Top 1) Catch-Up: 100%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80%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Gap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 3개 분야(분석·운영·데이터) 기술격차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분석: 활용산출물 제공 ↔ 시범테스트 / 운영: 전용 S/W 보유 ↔ 수신 S/W·H/W 보유 / 데이터: 글로벌 데이터 제공 ↔ 테스트 데이터 제공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분석기술: 위성 검보정 기술선진국(DLR) 국제협력으로 원천기술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운영기술: 해외위성 자료획득 노하우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품질: AI기반 위성 활용산출물 정확도 향상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82% 이상(’30년 90% 수준 달성을 위하여 연간 약 2%p 향상 목표)</a:t>
            </a:r>
          </a:p>
        </p:txBody>
      </p:sp>
      <p:sp>
        <p:nvSpPr>
          <p:cNvPr id="28" name="번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29" name="분야 박스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계량</a:t>
            </a:r>
          </a:p>
        </p:txBody>
      </p:sp>
      <p:sp>
        <p:nvSpPr>
          <p:cNvPr id="31" name="소제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계량 성과지표</a:t>
            </a:r>
          </a:p>
        </p:txBody>
      </p:sp>
      <p:graphicFrame>
        <p:nvGraphicFramePr>
          <p:cNvPr id="32" name="다열 표"/>
          <p:cNvGraphicFramePr>
            <a:graphicFrameLocks noGrp="1"/>
          </p:cNvGraphicFramePr>
          <p:nvPr/>
        </p:nvGraphicFramePr>
        <p:xfrm>
          <a:off x="536870" y="4361165"/>
          <a:ext cx="6300000" cy="2702663"/>
        </p:xfrm>
        <a:graphic>
          <a:graphicData uri="http://schemas.openxmlformats.org/drawingml/2006/table">
            <a:tbl>
              <a:tblPr/>
              <a:tblGrid>
                <a:gridCol w="1260000"/>
                <a:gridCol w="567000"/>
                <a:gridCol w="567000"/>
                <a:gridCol w="567000"/>
                <a:gridCol w="3339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 목표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설정근거 및 도전성·제약요인 분석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 최적운영 달성률(%)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전략경영계획 / 이상기후 심화에도 물재해 Zero 달성을 위해 100% 목표 설정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노후시설 재해대응력 확보율(%)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20.8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33.3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45.8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국정과제-43 / 불리한 공정추진 여건에도 2년 연속 3개소 완료로 목표 설정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 환경기준 1등급 달성도(%)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98.5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경영목표 / 수질관리 어려움에도 목표 상향 및 검증항목 확대(2 → 4 → 5개)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물환경 개선사업 추진댐(누적, 개소)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댐별 오염원 특성 맞춤형 저감, ’24년 목표(23개소)보다 5개소 추가 상향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대체수자원 시설용량(천㎥/일)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179.5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263.4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288.5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취약지역 물부족 해소를 위해 전년 실적 대비 약 10% 상향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 상생협력 사업비(억원)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161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185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국정과제-15·107 / 지역소멸 대응, 전년 실적 比 15% 목표 상향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번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4" name="분야 박스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비계량</a:t>
            </a:r>
          </a:p>
        </p:txBody>
      </p:sp>
      <p:sp>
        <p:nvSpPr>
          <p:cNvPr id="36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비계량 성과지표</a:t>
            </a:r>
          </a:p>
        </p:txBody>
      </p:sp>
      <p:graphicFrame>
        <p:nvGraphicFramePr>
          <p:cNvPr id="37" name="다열 표"/>
          <p:cNvGraphicFramePr>
            <a:graphicFrameLocks noGrp="1"/>
          </p:cNvGraphicFramePr>
          <p:nvPr/>
        </p:nvGraphicFramePr>
        <p:xfrm>
          <a:off x="536870" y="7502087"/>
          <a:ext cx="6300000" cy="2394471"/>
        </p:xfrm>
        <a:graphic>
          <a:graphicData uri="http://schemas.openxmlformats.org/drawingml/2006/table">
            <a:tbl>
              <a:tblPr/>
              <a:tblGrid>
                <a:gridCol w="1071000"/>
                <a:gridCol w="945000"/>
                <a:gridCol w="945000"/>
                <a:gridCol w="945000"/>
                <a:gridCol w="945000"/>
                <a:gridCol w="1449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설정근거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AI·DT 기반 기술 고도화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홍수분석 고도화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국가하천 CCTV 연계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고도화 기술 홍수기 시범적용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핵심기술 안정화 완료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국정과제-23·73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 상류 유역 오염원 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 사업 추진계획 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 대상지 사업설명회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참여농가 이행협약 체결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오염저감기법 보급 및 주민교육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전략경영계획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국민소통 기반 물그릇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신규댐 관련 국가계획 반영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 거버넌스 구축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신규댐 지역 수용성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댐별 사업 추진계획 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전략경영계획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수자원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 계획수립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 안내방식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스마트기술 적용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 제도개선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전략경영계획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양극화로 극한홍수, 극한가뭄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예측적 댐운영 및 저수량 관리 어려움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물재해 감시위성 등 기후적응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대비, 물관리 인프라 안정성 확보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기술 기반의 과학적 물관리와 인프라 고도화로 안전한 물관리 실현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대응 고도화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 안전성 강화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선도 혁신기술 확산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DT 기반 홍수대응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대응 가뭄 극복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 안전관리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구조개선 등 댐 안전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DT성과 글로벌·민간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물재해 감시 위성분야 선도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불확실한 기후 여건 맞춤형 댐 운영으로 물재해 Zero 달성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홍수 대응체계 고도화와 댐 운영 제약요건 영구해소로 홍수대비 완료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 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여건조사: ’25.2~6 全댐 운영여건 조사를 통해 댐 운영시 영향을 받는 1,771개소 점검 → 방류시 하류 침수위험 128개소, 시민 고립 우려지역 81개소 등 포함 DT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이상홍수: 기상예보와 다른 이상 극한홍수 대비 모의훈련 실시(2회, 200년 빈도 이상) → 극한홍수 상황시 DT 활용 등 실제 상황과 동일한 의사결정 과정을 통한 대응역량 강화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피해는 예보를 초과한 집중호우로 대다수 발생, 스마트기술 활용 모니터링 체계 강화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 AI 활용 극한강우 예측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분석 방류 의사결정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감시 하류 모니터링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기상청 정보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AI 활용 기상 예측(실황기반 최적모델 선별)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단일조건(강우×방류)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최대 48개(강우8×방류6) 동시 시뮬레이션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하천 CCTV 46개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 CCTV 1,800개 추가 연계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안동댐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제약요건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영구해소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’76년 안동댐 준공 이후 댐 국유지 내 47가구 불법 점유 중으로, 침수 우려로 비워둔 댐 용량 활용 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추진: ’24년 국유재산 관리 목적 행정대집행 권한 확보에도, 1:1 이주 상담·설계, 정부지원 안내 등 맞춤형 이주 설득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주민 100% 이주로 안동댐 물그릇 100% 활용(물그릇 1.3억톤 회복, 운문댐 1개 규모의 이·치수 물량 확보)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AI, DT를 활용한 이상기후 맞춤형 홍수 대응으로 하류 피해 예방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6~9월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中</a:t>
            </a:r>
          </a:p>
        </p:txBody>
      </p:sp>
      <p:sp>
        <p:nvSpPr>
          <p:cNvPr id="10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운영: AI 기반 극한호우 가능성까지 고려, DT 분석에 기반한 최적 의사결정 시행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지역·시기별 이상기후에 따른 극한홍수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예년比 7월 남강 2배, 8~9월 섬진강 1.3배 강우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극한호우 대응, 사전방류·홍수저류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활용한 댐 하류지역 방류 영향 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사례1 7.17~19 남강댐 역대 최대 홍수: 강우 3일간 518㎜(역대 1위), 유입 16,951㎥/초(댐 설계기준 1.6배 초과)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사례2 7.16~20 합천댐 하류 집중 호우: 강우 4일간 댐하류 500㎜↑(댐상류의 약 2배), 하천 공사현장(7개소) 등 침수 피해 우려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후속강우 예측, 신속 수위저하(22시간 동안 1.2억㎥ 용량 확보), DT 분석, 최적시기 방류로 하류피해 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극한호우까지 대응 가능한 조절용량 확보(홍수기 전 4.8억㎥, 설계용량의 6배), DT 하류 모니터링, 2일간 전량 홍수 저류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後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운영: 8~9월 지역별 강우 편차로 저수상황 상이, 댐별 맞춤형 홍수대응 실시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태풍 없이 10월 역대 1위 강우 발생(다목적댐 164㎜, 예년의 3배)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댐-하천 상황 고려, 홍수 저류 위주 대응 → 다목적댐 중 남강·횡성댐 2개소만 방류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하류 안전까지 물재해 Zero 기여, 이상기후에도 물재해 대응성과 인정(합천군 감사패)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선제적 대응, 비상체계 가동으로 가뭄 극복 및 재난상황 적극 지원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1~5월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강우 부족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이른 봄가뭄으로 모든 댐 강우 부족 발생(예년比 다목적댐 0.9배, 용수댐 0.8배 강우)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댐간 연계, 하천유지용수 감축 등 선제 대응 → 보령 등 3개 댐 0.4억㎥ 비축으로 정상화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특별실적: 국가재난 상황에서 댐 저수량을 활용, 경북 산불 진화 총력 대응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현안사항: ’25.3 봄가뭄 영향, 역대 최악의 초대형 산불 발생 → 안동하천 취수를 통해 대량의 소방용수, 긴급 공급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사상최초: 안동댐, 성덕댐 방류로 하류 하천 인근지역에 소방용수 대량 공급(5일간 26백만㎥, 전국민 2일 사용량)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골든타임: ‘인지-협의-통보(SMS)-방류’까지 90분(통상 7시간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추진성과: 재난시 댐 역할 재조명, 긴급구조지원 최우수기관(소방청장)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6~9월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짧은 장마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남부지방 역대 2위 짧은 장마(13일)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경북·영동 중심 강우 부족 심화(예년比 안동댐 0.6배, 광동댐 0.4배 강우)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비상대책본부 가동, 수질개선용수까지 감축 → 안동·임하·광동댐 0.7억㎥ 댐용수 비축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비상대책 시행에도 안동·임하댐 가뭄 주의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강우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태풍 없이 10월 역대 1위 강우 발생(다목적댐 164㎜, 예년의 3배)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활용 물그릇 채우기(85 → 93, 8억㎥ 증) → 全댐 가뭄 정상화 및 차년도 용수 확보</a:t>
            </a:r>
          </a:p>
        </p:txBody>
      </p:sp>
      <p:sp>
        <p:nvSpPr>
          <p:cNvPr id="32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8억㎥ 강우 비축, 1.1억㎥ 댐용수 비축(댐간 연계 등)으로 안정적 용수공급 달성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 기술로 관리하고 성능개선으로 완성하는 국가 댐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시설관리에 필요한 모든 정보와 기능을 융합한 차세대 시스템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정책: 기후변화 대비, 댐 안전성 및 재해 대응력 강화로 안정적 국민 생활 기반 마련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노후화: K-water 관리댐 노후화(54%, 30년 이상), 최상의 성능 유지 및 안전관리 중요성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도입: 스마트 댐 안전관리 시범도입 및 확대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시행: 全 국가 댐(37개소) 구축 완료 및 시스템 고도화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확대: 스마트 댐 관리 표준모델 정립 및 국내·외 확대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스마트 기술 활용, 댐 시설물을 실시간 감시·분석하여 선제적 위험관리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~’24년 요소기술 적용으로 인력중심 한계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모니터링: 열화상카메라(누수), GPS(변위)를 활용하여 실시간 시설안전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드론: 항공·수중 드론을 활용하여 접근이 어려운 사각지대 점검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AI 분석·진단으로 관리효율성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누수, 변위 등의 오·결측 자동 검출 → 계측자료 실시간 산출, 정확성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신규: 드론 촬영 결과물을 AI 분석·진단 → 시설물 결함 신속 검출, 판정정확도 향상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적용: 지진시 자동 경보, 드론 점검 등 스마트 기술 활용 실제훈련으로 재난 대응력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정확성: 데이터 결측률 감소(32% → 3%)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효율성: 점검 투입시간 감소(육상 90%, 수중 67%)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경제성: 점검 투입비용 감소(육상 95%, 수중 85%)</a:t>
            </a:r>
          </a:p>
        </p:txBody>
      </p:sp>
      <p:sp>
        <p:nvSpPr>
          <p:cNvPr id="42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대외인정</a:t>
            </a:r>
          </a:p>
        </p:txBody>
      </p:sp>
      <p:sp>
        <p:nvSpPr>
          <p:cNvPr id="43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행안부 주관, 全국가기관이 참여하는 안전한국훈련, ‘우수’ 등급 달성(335개 기관 참여)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재난 대비 대규모 성능개선부터 선제적 사고예방까지 댐 안전 강화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지진, 노후화 위험 증가로 노후댐 내진보강 등 댐 본체 구조적 개선 추진 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한발 더 나아가 댐 운영시 취약시설 등을 발굴·개선하여 댐 안전 강화 필요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개선  댐 안전성 강화사업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 댐사고 3대 취약시설 개선사업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합천·임하·충주댐 3개 댐 기본계획 고시(全댐 24개 고시 完), 13개 댐 설계·공사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대곡·달방·횡성댐 3개 댐 준공(누적 11개)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강화된 내진설계기준 만족, 비상시 신속한 댐 수위저하(上10일, 下50일 이내 방류)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 전수조사를 통해 반복 사고유형, 위험지역 등 3대 취약요인 포착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高위험 10개 댐 안전 인프라 개선설계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취약사면(낙석방지망, 옹벽) · 접근제약(점검로, 장비진입로) · 배수체계(배수측구, 침사지)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용수댐 8개 준공(3,441억원)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1개, 용수댐 10개 준공(4,456억원, 누계)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 24개 준공(9,113억원, 누계)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’25년~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다목적댐(10개)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다목적댐(+10개), 홍수댐(3개)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용수댐(14개)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국가중요시설 안전 확보, 재난 대비 역량 강화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사각지대 해소로 근로자·시민 안전 확보</a:t>
            </a:r>
          </a:p>
        </p:txBody>
      </p:sp>
      <p:sp>
        <p:nvSpPr>
          <p:cNvPr id="50" name="주요성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대외인정</a:t>
            </a:r>
          </a:p>
        </p:txBody>
      </p:sp>
      <p:sp>
        <p:nvSpPr>
          <p:cNvPr id="51" name="주요성과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행안부 주관 ‘국가핵심기반 재난관리평가’ 우수기관 선정, 국무총리표창 수상(157개 기관 대상)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수혜국에서, 이제는 세계를 주도하는 K-water 물관리 기술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수요에 대응하며 진화한 디지털트윈 기술 노하우의 전방위 확산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Step1 댐 운영 중심 DT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Step2 도시분야 확장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Step3 재난분야로 다각화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’20년 대규모 하천범람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실무형 물관리 DT 구축(’21~’23), 플랫폼 통합으로 시너지화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’22년 수도권 집중호우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도림천 도시침수 DT 구축(’22), 도시침수 DT 요소기술 확보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위험자동감지 기술수요(’22년~)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위험자동감지 기술개발(~’25), 세종시 맞춤 DT 구축(’24~’25)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Step2 모델 수출: 사우디 제다市 등 DT 구축사업에 네이버와 공동참여(’23.11~)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도시홍수: 기후위기 영향, 대도시 극한호우(6시간 동안 연강우 2.3배) 등 홍수 피해 발생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도시특화: 도시홍수 특화 DT 구축(실시간 모니터링-도시홍수 분석-물순환 분석)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물관리를 가장 잘 아는 조직이 만든, 전 세계에서 가장 많이 실증된 DT로 맞춤형 솔루션 제시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Step2 고도화 기후리스크 평가 모델: 기업수요 — 기업의 사업장 단위, 물재해 위험도 정량화 필요 / 핀셋분석 — DT+3D 공간정보 결합, 홍수위를 ㎝단위까지 예측 → 리스크 평가, 민간 확대(’26년~)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Step2·3 수출 일본 나가이市: 방재약화 — 전문인력 감소, 2D 정보 활용으로 재난대응 효율 저하 / 역량강화 — 실시간 AI CCTV 감지 등 직관적 3D 재난관리시스템 구축 → 과거 기술 수혜국에서 선진 물관리 DT 기술 공여국으로 전환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Step1~3 수출 미국 산타클라라: 독립시스템 — 분산형 시스템으로 신속·효율적 의사결정 한계 / 통합관리 — 물관리 DT 플랫폼 기반 K-water형 통합물관리 실현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물재해 감시 전용위성 혁신기술 강화 및 글로벌 기후테크 선도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동향: 미계측 지역에 대한 기후변화 및 물재해 감시 전용위성 관측 수요 급증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기술을 DT 등 물관리 경험과 접목, 글로벌 물재해 감시 위성분야 주도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~’25 위성 기술·인프라 구축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~’27 전용위성 발사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 플랫폼 운영·기술 수출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수자원위성 운영센터 신축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초소형 군집위성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수자원위성 품질최적화 기술 및 활용기술 개발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수자원 전용 초소형 위성 발사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산출물 분석·활용기술 성능검증 및 고도화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 위성 발사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초소형 위성 군집화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위성 플랫폼 시범운영 및 관측·운영기술 해외수출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수자원 전용위성 추진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위성 기술 현업·재해분석 적용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기후테크 R&amp;D 주도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수자원위성 운용을 위한 센터 준공(’25.8), 국가 수자원 위성(’28년 발사)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수자원 전용 초소형 군집위성 개발 기획(’25.6)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민간위성 활용: 남북접경 영상 적기 제공, 현업부서 의사결정 지원(’24년 327회 → ’25년 350회)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국내·외 홍수 및 가뭄 분석 기술 개발(16종, 전년比 3개↑)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기반 글로벌 기후테크 R&amp;D 주도: 한·EU 글로벌 컨소시엄(7개국 18개 기관) 구성(’25.6)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호라이즌 유럽 공동 연구 제안(’25.9)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NASA(글로벌 No.1) 대비 위성 활용기술 82% 수준 달성, 호라이즌 유럽 R&amp;D 주도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234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 중인 댐 91%가 상수원(전국 상수원의 76.2%)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목소리: 먹는물 만족도 향상을 위한 정책 1순위는 ‘상수원 수질관리(27.7%)’(’24 기후부 조사)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쾌적한 물환경 구현, 생물다양성 회복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패러다임: 물관리 일원화(’18) 이후, 수량+수질+수생태 통합관리 정책 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 안전을 위한 과학적 수질 관리와 수생태 복원을 통한 건강한 물환경 조성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상시관리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오염발생·유입 저감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녹조 등 수질관리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수생태 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오염원 관리기술 고도화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농·축산 오염원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사업 추진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녹조제거 新기술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물환경설비 개선·확대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생태복원 가치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강의 연속성 회복 추진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상시관리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적용 오염원 통합관리체계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중심, 분산된 오염원 관리의 한계로 첨단기술 기반 감시체계 전환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유역 오염원 감시부터 저감까지 일원화한 통합관리체계 구축</a:t>
            </a:r>
          </a:p>
        </p:txBody>
      </p:sp>
      <p:sp>
        <p:nvSpPr>
          <p:cNvPr id="17" name="사진 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통합관리체계 그림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현장·인력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물환경관리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감시: 현장 중심 국지적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관리: 인력 기반 수동 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시설운영: 기관별 운영센터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물리적·시간적 비용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오염원 감시 곤란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조회·선별시간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선별 작업 中 휴먼에러 발생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오염저감시설 연계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 경계의 사각지대 발생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물환경관리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위성·드론 全유역 감시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데이터 자동 관리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오염저감시설 통합운영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활용, 토지 변화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야적 퇴비 등 식별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 활용, 정밀 감시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RPA(로봇 프로세스 자동화) 활용 선별자료 자동 생성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 선별 Tool 개발·적용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오염저감시설 통합운영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오염원 감시부터 처리까지 全과정 통합관리(연계운영)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오염유입 예측시 선제 가동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국내 최초 댐 상류 유역 오염원 통합관리시스템 구축(’25.12, 기후부·경상북도 등 5개 기관 MOU)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 관리 소요시간 2시간 → 10분(△92%), 수동 관리 대비 휴먼에러 방지(5.4% → 0%)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기후에너지환경부 환경데이터 분석·활용 공모전 ‘대상’ 수상(’25.11)</a:t>
            </a:r>
          </a:p>
        </p:txBody>
      </p:sp>
      <p:sp>
        <p:nvSpPr>
          <p:cNvPr id="42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43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오염원 변화 인지 범위 확대(우려 지점 → 全유역) 및 조기 대응 역량 강화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오염발생·유입 저감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민간 협력 강화로 실행하는 주민체감 오염원 저감사업</a:t>
            </a:r>
          </a:p>
        </p:txBody>
      </p:sp>
      <p:sp>
        <p:nvSpPr>
          <p:cNvPr id="8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9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발생원 관리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유역 오염 발생 최소화를 위한 발생원 맞춤형 협력 확대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상수원 수질 문제를 야기하는 오염원의 89% 이상은 농·축산업이 차지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농·축산 오염원 저감 실효성 확보를 위해 주민(민간) 참여 필요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’25~’27년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’28년~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축분 고체연료 사업모델 개발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시범사업(운영 및 효과 검증)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본사업 및 全댐 확대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댐상류 보급(논, 밭, 과수원)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 댐상류 보급(시설재배단지)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댐상류 보급(고랭지 밭 등)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영주댐 가축분뇨 고체연료화 사업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상류 주민참여 농업오염 저감 사업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고체연료화 시설 준공(’25.2) 및 시험운영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가축분뇨(우분) 고체연료화 사업 공동 추진 협약(’25.3, 축협·발전사 등 5개 기관) → 민·관·공 협력을 통한 원활한 사업 추진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확대(3 → 5개 댐) 및 기법보급(’25.5~)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주민의견 반영, 방치 영농부산물 집하장 신설 추진(’25.9 계획수립, ’26년 설치) → 상향식(주민의견) 의사결정을 통한 신규대책 도출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가축분뇨 고체연료 생산(’25.5~, 40톤)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한우 260마리 분뇨처리(오염원 T-P 9.3kg/일↓)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 댐 상류 주민 협약체결·기법 보급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물꼬장치 등 1,400세대(오염원 T-P 7.9kg/일↓)</a:t>
            </a:r>
          </a:p>
        </p:txBody>
      </p:sp>
      <p:sp>
        <p:nvSpPr>
          <p:cNvPr id="53" name="주요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저감 오염배출량(17.2kg/일)은 1.3만명(3개 면 인구)의 배출 오염원을 매일 정화하는 수준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고체연료 생산량(40톤)은 석탄 22톤 대체하는 수준(48tCO₂eq 저감 ≒ 소나무 1.2만 그루)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유입 저감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국내 최초 정부·K-water·기업간 협력으로 물 복원사업 성공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글로벌 ESG 공시에서 물 복원 성과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풍부한 수질개선 경험 보유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 Positive란? 기업이 사용한 물 이상의 물을 수질개선 등을 통해 자연으로 반환(=물 복원)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기업의 물 복원사업 참여 확대를 위한 제도적 기반 마련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거버넌스  협의체 출범(’25.8)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 물 복원량 산정기준 마련(’25.11)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실천을 위한 협의체(K-water 운영기관 선정, 삼성전자, SK 등 8개社 참여)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 사업발굴, 물 이슈 논의 등 협력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민·관·공 협력, 물 복원량 산정 방법과 공식 인증체계 정립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14개 물 복원 활동 및 16개 산정방식 제시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물 복원 선도 습지 개선사업 성공적 완료 및 후속사업 확대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’24.11 선도사업 협약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장흥댐 습지 개선 완료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사업 지속 확대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최초(삼성전자) 장흥댐 습지 개선 협약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퇴적토 제거 등 습지용량 회복(47%↑)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유입比 유출 수질개선 기대(4→2등급)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 소양강댐 비점오염 저감사업 추진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기업협력型 오염원 유입저감 지속성 확보, 삼성전자 2천명/연 사용분 물 복원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녹조 등 수질관리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안전한 물환경 관리로 역대급 녹조 발생에 완벽 대응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여건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최다지점에서 조류경보제 발령(전국 경보지점 운영 29개소 中 14개소 발령)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안전지대였던 주암댐도 15년만에 조류경보 ‘관심’ 발령 등 전국에 걸쳐 녹조 심화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심화되는 녹조, 국민이 안심할 수 있도록 관리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① 준비 발생저감을 위한 녹조관리 新기술 도입: 기술대전·심층토론회를 통해 산·학·관이 협업한 기술 발굴로 부력수차 등 시범 도입(대청 등 6개소)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③ 독소 안전성 검증을 위한 全주기 모니터링 강화: 상수원부터 생산된 먹는물까지 全주기에 걸쳐 모니터링 확대(2개 유역 15 → 전체 4개 유역 45개소) → 상수원 比 정수장 원수 독소 저감(89%↓), 먹는물 불검출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② 대응 녹조발생 패턴 변화, 제거설비 운영 개선: 제거설비 적재적소에 즉시, 확대(28 → 35대)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④ 홍보 다양한 채널을 통한 국민 맞춤형 정보 제공: 全社 보도 표준안 마련, 선제 홍보(14회), 녹조 부정보도 비율 38% → 32%(-6%p)</a:t>
            </a:r>
          </a:p>
        </p:txBody>
      </p:sp>
      <p:sp>
        <p:nvSpPr>
          <p:cNvPr id="20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1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취수원 집중 녹조 수거량(5,099톤, 1.9배↑), 상수원 比 정수장 유입원수 조류개체수(75%↓)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수생태 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국정과제 이행에 발맞춘 K-water 생태개선 노력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상류 친환경 공간 확대를 통한 자연성 회복 및 탄소 흡수원 지속 발굴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생태 서비스 공간 확대 및 탄소 흡수원 지속 확충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친환경 공간: 댐 상류에 정화림, 생태습지 등을 조성, 생태계 건강성 증진 및 탄소흡수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댐 상류 친환경 공간 조성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친환경 공간 양적·질적 향상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조성사업 지속: 축구장 20개 규모(14ha) 친환경 공간 조성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대상지 발굴: 단일사업 최대규모(29ha) 대상지(임하댐 상류) 발굴 / 탄소 흡수원 인증: 기조성지 탄소 흡수원 인증(주암댐 등 6.7ha, CO₂ 3천t 인증)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여의도공원 1.3배 규모(29ha) 생태쉼터 발굴, 2.7천명 사용전력 상당 탄소 저감 인증(3천tCO₂eq)</a:t>
            </a:r>
          </a:p>
        </p:txBody>
      </p:sp>
      <p:sp>
        <p:nvSpPr>
          <p:cNvPr id="31" name="소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민관 소통 강화 및 체계적 준비를 통한 江의 연속성 회복 기반 마련</a:t>
            </a:r>
          </a:p>
        </p:txBody>
      </p:sp>
      <p:sp>
        <p:nvSpPr>
          <p:cNvPr id="32" name="태그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4대강 자연성 및 생물다양성 회복: 수생태계 연속성 확보로 건강한 하천 환경 조성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江의 연속성 회복을 위한 선결과제 해소 필요: 하천 수위저하로 인한 지역민원 우려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신속한 정부정책 이행을 위해 ‘수자원정책지원단’ 전담조직 신설, 추진동력 확보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생태계 변화 모니터링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지역의견 수렴 및 물이용 제약해소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 경관(80지점) 및 어도(11개소)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 주변 지하수위 실시간 모니터링(405공)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지역소통: 사회적 공감대 형성(주민·환경단체·전문가 등) / 시설개선: 취·양수장 개선(총 70개 中 4개 완료·30개 추진中)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지역합의를 통한 보 개방 확대(승촌·백제, ’25.11)로 공감대 및 江 연속성 회복 기반 마련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240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지속가능한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" name="배너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지역과 상생하며 수자원을 다변화하여 안전하고 깨끗한 물을 안정적으로 공급</a:t>
            </a:r>
          </a:p>
        </p:txBody>
      </p:sp>
      <p:sp>
        <p:nvSpPr>
          <p:cNvPr id="7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물관리(지역) 여건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성장, 가뭄으로 물 부족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지자체 71개의 69%(49개) 소멸위험지역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확보, 투명한 거버넌스로 물 안보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자생력 확보를 통한 지역 균형발전 실현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성장을 위한 물그릇 확보 및 지역의 자생력을 키우는 로컬 활력 모델 필요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지산지소型 물 부족 해소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소통·공감을 통한 신규댐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로컬브랜딩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수자원시설 효율적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다변화로 물 부족 해소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부족지역 신규 물그릇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공론화를 통한 공감대 형성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댐과 지역주민의 상생과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맞춤·자립형 댐 브랜드化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기존 시설 최적 활용과 수원 다각화를 통한 지산지소형 물 부족 해결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지산지소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생산(産)된 물을 그 지역에서 소비(消)할 수 있게 맞춤형 공급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대체수자원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확보기술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하수재이용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해수담수화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버려지던 하수를 막여과 등으로 수질개선 후 재활용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해수로부터 염분 등 용해 물질을 제거 후 용수로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 차수벽 설치로 지하수를 저장해 활용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부산시 10년 과제, 하수재이용시설로 재탄생하여 지역 현안 해소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부산광역시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동부산 산업단지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 넘게 방치된 기장 해수담수화시설 활용 모색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공업용수 공급망이 없어 비싼 생활용수 사용(2,410원/㎥)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경기서남(화성, 수원) 등 하수재이용 사업 지속 추진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기장 해수담수화시설 활용, 하수재이용 방안 사업화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부산시와 협업, 최적의 공업용수 공급방안 마련 * 해수담수화 → 하수재이용 변환 기술지원, 사업성 등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의견수렴을 통한 공감대 형성(’25.9, 150명)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일광·기장 하수처리수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기장 해수담수화시설 여과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동부산 산업단지 공업용수 공급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효과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 절감: 해수담수화시설 개량시 하수재이용시설 신설 대비 60억원 절감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기업부담완화: 기업의 용수 비용을 대폭 절감하여 산업경쟁력 강화(2,410 → 800원/㎥, Δ67%)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친환경수자원: 하수처리수를 방류하지 않고 재사용함으로써 지속가능한 물관리 모델 구축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동부산 하수재이용 공급 MOU 체결(’25.9, 부산시↔기업↔K-water) → ’31년 공급개시(3.6만㎥/일)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무한한 해수 자원 활용, 대산임해 지역의 지속가능한 물 공급 기반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최대 대산임해 해수담수화 적기 준공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일반공장 온배수 활용 「물재이용법」 개정 주도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충남서부지역 가뭄 반복, 대산산업단지 공업용수 수요 증대로 만성적 물 부족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해수담수 원수로 온배수 활용시 경제적이나, 발전소 온배수만 활용 가능한 제한적 구조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운영을 위한 ‘주민소통협의체’ 가동(’25.11)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최대(10만㎥/일) 해수담수화 준공(’25.12) → 가뭄·수질변동에도 산단 물공급 리스크 완전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’04년 50㎥/일 도서 최초 → ’20년 2천㎥/일 도서지역 최대 → ’25년 10만㎥/일 국내 단일 최대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21대 국회 개정 불발, 국회·임해지역 지속 설득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물재이용 범위 및 국고지원 확대(’25.3) → 온배수 활용성 증대 + 해수담수화 공급단가 13% 인하 효과(국고지원 및 운영비 절감)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대산산업단지 항구수원 10만㎥/일 확보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물재이용 범위 확대, 해수담수화 사업성 제고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지하수저류댐 활용 다변화로 물공급 취약지역 맞춤형 해결사 역할 수행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상습 물 부족을 겪는 도서지역을 중심으로 대체수자원으로서의 효과성 인정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용수공급이 불안정한 지역, 산업단지에 안정적인 용수 공급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도서지역, 생활용수 공급에서 내륙지역, 공업용수까지 맞춤형 확대 적용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지역확대  도서 → 내륙(주민)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용도확대  생활 → 공업(산단)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지표수 취수로 오염 등에 취약한 지방상수도 취수원 개선 마중물 사업을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양평 내륙 최초 지하수저류댐 설치(’25.9) → 1천㎥/일, 지역주민 2.6천명 공급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산업단지의 물 리스크 완화를 위해 지하수저류댐을 활용, 공업용수 공급모델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경주 SMR 국가산단, 16천㎥/일(조사 完) / 청양 수소 지역산단, 5천㎥/일(설계 完)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취약지역 맞춤형 대체수원 다변화를 통해 2.2만㎥/일 규모의 안정적 신규 수원 확보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관계기관 협력, 지역 소통으로 모두 공감하는 신규댐 추진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댐은 사회 전반에 영향, 계획 적정성 검증으로 본격적인 사업 추진단계 진입 발판 마련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 ~’24년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 ’25년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 ’26년~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댐별 이·치수 평가 등 데이터 분석 기반 후보지 선정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댐별 대안·사업 타당성 정밀 검증 및 객관적 관점 공론화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댐별 최적 개발방안에 대한 사업 구체화 및 실행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‘他부처·기관 수자원시설 활용’ 패러다임 전환 + 기술적 타당성 및 공감대 기반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기관협력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지역소통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공론화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기관간 칸막이 제거: 농공·한수원·K-water 협력, 농업·발전용댐 치수기능 부여 * 한수원 업무협약 체결(’25.12)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요구 반영: 주민 현장소통(1,000여명), 워터투어 확대(4회, 400여명), 주민·기관 협의체 운영(15회)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전문성·공신력 확보: 정밀 검토로 최적규모 도출, 중립적 기술검증을 위한 공론화위원회 구성·운영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후보지 14개소 → 공감대 형성 10개소 기본구상 → 7개소 추진, 3개소 대안 전환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 5개소: 신규댐 기본구상을 통한 사업 구체화 / 2개소: 찬반대립, 공론화를 통해 방향성 도출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대안 3개소: 정부·기관·지역 협력 기반, 기존시설 활용 등 대안으로 추진 방향 선회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정책 방향에 부합한 실용적인 신규댐 추진방안 마련 및 지역 물문제 해결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지원사업으로 만든 지역자립기반, 로컬브랜딩으로 지역가치 창출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댐주변지역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지원사업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댐건설·운영 영향 댐주변지역의 경제·사회적 발전 지원, 지역 상생을 위한 사업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댐주변지역 지자체 71개의 69%(49개)가 소멸위험지역으로 생활 인프라 부족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의료·문화 등 체감형 복지 인프라 확충 및 댐 지역 활성화로 지방소멸 대응 필요</a:t>
            </a:r>
          </a:p>
        </p:txBody>
      </p:sp>
      <p:sp>
        <p:nvSpPr>
          <p:cNvPr id="18" name="소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찾아가는 맞춤형 돌봄과 네트워크 구축으로 지역 공동체 강화</a:t>
            </a:r>
          </a:p>
        </p:txBody>
      </p:sp>
      <p:sp>
        <p:nvSpPr>
          <p:cNvPr id="19" name="태그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의료 돌봄, 낙동강을 넘어 한강까지 확대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공동체 지원으로 사회관계망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의료 돌봄 대상지역 확대(낙동 3 → 낙동·한강 6개면)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니즈에 맞춘 서비스 양적·질적 향상 → 추적검진 전년比 2배↑, 녹내장·치매검사 도입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지역정착을 돕는 맞춤 커뮤니티 지원(남강댐)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귀농 멘토링, 아빠육아교실, 청소년 문화교육 → 7개 커뮤니티 구축, 지역주민 204명 지원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상품개발에서 온·오프라인 ‘이음장날’까지 실질적 농가 소득 확보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상품개발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지속 모델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참여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지역특화 상품 개발·판매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댐과 지역사회가 동반성장 → K-water 홍보, 협동조합 관리, 주민 생산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참여 무농약 들깨 재배 → 축구장 3배 넓이 밀원식물 생산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무농약 들기름 1,150병 생산 → 일자리 19명, 매출 37백만원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온오프라인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이음장날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직거래 행사 확대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오프라인 매장 확대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 온라인 커머스 입점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대전 중심에서 전국 유역 거점으로 확대(2→5회) → 매출 213백만원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서울정원박람회, 대전파머스 농가·청년창업 식품 40종 → 이틀 동안 매출 45백만원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공공형 쇼핑몰(남도장터) 농가제품 18종 입점 → 7천여명 시청, 매출 63백만원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댐이 그려내는 지역가치 재창출, 소멸의 벽을 넘어 로컬 활력 프로젝트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재창출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댐-잇 프로젝트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연계 철도여행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역사·문화 발굴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한탄강댐, 군남댐 여행코스 발굴 및 인플루언서 활용·홍보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댐잇투어 프로그램 팝업스토어 → SNS 379건, 30백만원 판매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코레일 협업 댐 기차여행 상품 출시(영주·섬진강·밀양)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연계 지역특산물 판매 → 방문객 270명, 지역매출 18백만원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충주댐 역사문화자원 사진전, 제천시 문화유산 학술대회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인문경관자원 다큐 제작 → 다큐방송 3회, 숏폼 제작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지역가치 재창출 가능성 발견, 댐 로컬브랜딩 론칭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로컬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주변이 사람들이 찾는 매력적인 곳이 되도록 댐 지역 고유자원을 활용, 브랜드化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 매칭 공모 확대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 특화사업 22건 발굴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로컬브랜딩 전용 앱 개발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최다 지자체 공모신청(34건)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 공모 규모확대(9건)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로컬브랜딩 댐-지자체 3개 선정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용담댐-진안군 로컬브랜딩 아이디어 발굴 대학생 해커톤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충남대, 전북대 등 청년 73명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맞춤형 플랫폼(App) ‘로컬바이브’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정보·커뮤니티·마켓·예약 등</a:t>
            </a:r>
          </a:p>
        </p:txBody>
      </p:sp>
      <p:sp>
        <p:nvSpPr>
          <p:cNvPr id="33" name="주요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4" name="주요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국정과제(취약지역 의료서비스 확대) 이행, 의료돌봄 만족도 2년 연속 99%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지역특화 상품개발 중기부 원원아너스 우수, 이음장날 매출 321백만원 달성(전년比 3.2배)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로컬브랜딩 선정 3개 댐-지자체 MP 수립 착수, 역대 최대 지역상생협력사업 200억원 발굴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활용 및 구조적 작업방식 개선 통해 안전예방체계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항공드론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위험구간·사각지대 외관점검 인력 대체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인력 대체 업무범위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홍수기 후 시설외관점검을 인력 의존에서 드론 영상촬영으로 대체(AI 활용, 안전진단) / ’24년 7개 댐 → ’25년 37개 全댐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외부세척(콘크리트)에 드론 최초 활용(충주댐) * 고압 살수로 표면 이물질 제거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수중작업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최소화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수중드론 활용 안전점검 일상화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대안공법 마련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인력점검 대체, 잠수 전 드론 점검체계 도입 / ’24년 5건 → ’25년 24건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여건 고려, 非수중공사로 공법 변경 * 기존시설 수중 보강 → 신규시설 육상 공사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운행환경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선박 안전 강화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승무원·근로자 안전 강화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안전점검: 선박실태점검 강화(연 1회 →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표준화: 용도별 선박 형식 통일(5종) * 선박규격 체계화로 운항·정비 등 효율성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선상안전: 안전장치(미끄럼 방지 등)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계류시설: 진입도교 등 노후시설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안전교육: 선장 교육 강화(1회/5년 → 1회/2년)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수중작업 기술기준 개정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건설공사 안전체계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 수중작업 여건 보장을 위해 적정 인력, 대가, 공법선정 방식 등 기준 마련 * 설계 단계부터 수중공사 작업자 안전 확보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全댐건설사업에 감리제도 도입(공사 최초) / 기존 35명 자체 → 개선 69명 자체+감리 * 전액 재정사업인 댐건설에 자체예산 투입(540억원)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250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안심하고 댐을 찾고 즐길 수 있도록 시민재해 Zero구역 조성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시민재해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능동적 수문방류 경보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 개선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안내·경보방식 다각화 → 범용성 높은 매체로 인근 시민에게 실시간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~’24년 SMS, 내비게이션, 방류 전 안내음성 / ’25년 카카오톡 추가알림(全댐), 시각정보 상시 송출(8개댐)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노후시설 교체 및 안전시설 투자 확대 * 댐 정상부, 문화관, 공원 등 국민이용시설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6건, 13억원 / ’24년 11건, 23억원 / ’25년 12건, 43억원</a:t>
            </a:r>
          </a:p>
        </p:txBody>
      </p:sp>
      <p:sp>
        <p:nvSpPr>
          <p:cNvPr id="15" name="주요성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6" name="주요성과 문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스마트기술 활용 및 선제적 안전관리를 통한 산업·시민재해 저감(△32%)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환경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39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기후공시 등 요구로 기업 탄소경쟁력 강화 필수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위한 재생에너지 중심 에너지 대전환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재생에너지 직접공급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저탄소 물에너지 확산을 통한 탄소중립 사회 전환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전략수립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내실 있는 사업추진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수출기업 지원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재생e 10GW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국가목표의 4% → 10% 수준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· 수열에너지 · 조력발전 · 그린수소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제도적 한계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RE100 글로벌 인증기준 개선 등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252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재생e 10GW 개발을 위한 Re:boot 로드맵 마련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재생e 설비용량 1위(1,541MW)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단, 글로벌 규제 등 수요폭증 대비 최근 10년간 성장 정체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신성장 SPEED UP 전략방향② 물에너지 선도기술 육성·사업화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’25~’29 전략환류: ‘물에너지 기반 저탄소 에너지 전환’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새정부 123대 국정과제 ‘재생e 중심 대전환’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Re:boot TF로 퀀텀점프: ‘2030년까지 재생에너지 10GW(누적) 개발’, 국가 탄소중립 실현 및 PPA확대 선도적 역할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상생 모델 확산 + 재생e 개발 가속화 + 기업 RE100 지원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재생e 10GW(既 1.5GW + 新 8.5GW) 개발 추진으로 국가 목표의 10% 달성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지역 상생 모델 확산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재생e 개발 가속화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 기업 RE100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주민이익공유형 마을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투자자금 지원방안 마련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전원별 물에너지 개발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 추진으로 선도기술 확보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수출기업·산단 PPA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PPA시장분석 등 전략 고도화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 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주민이익공유형 마을: 총 32개소 447개 마을(누적) 조성 / ’25년 총 3개소 54마을 조성, 주민소득 연 8.7억 실현 中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재생e 직접공급: PPA 총 26건(누적) 체결 / ’25년 총 6건 299MW 체결, 국내 직접PPA 49% 공급 中 / 100% 재생에너지 사용 · 에너지절감 · 간헐성보완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국민과 공유하고 공공·지자체와 협력하는 물에너지 확산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설치 주민반대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모델 제시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주민반대 극복 신규 개발 착수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현안: 환경훼손 우려 및 지역소외로 수용성 저하 → 공공주도 사업 한계 봉착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대응: 지역민과 발전수익을 공유하는 모델 제안·설득 → 임하 수상태양광 준공(’25.7)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환류: 합천(2단계) 수상태양광 개발 사업 착수(이익공유형) → 주민참여모델 본격 확대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수열e 대용량 히트펌프 기술실증·상용화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주거 공간으로 첫 접목 시도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평가단: 대용량 히트펌프 기술 실증 및 상용화를 위한 체계적 추진전략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대용량 히트펌프 실증운영(한강본부)으로 성능검증 완료(에너지사용량 약 40% 절감) → 실증 후 코엑스 설치(’25.6), 미래에셋 설계적용(’25.12)으로 상용화 기반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롯데월드타워, 상주 스마트팜 등 대형건물·랜드마크 중심 수열공급(~’24)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최초: 경기도 공동주택(604세대) 수열 도입 시범추진(냉난방 비용 최대 약 66% 절감 기대) → 경기도 3기 신도시 등 전국 공동주택 수열에너지 공급 확대기반 마련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발전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시화 조력 증설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새만금 조력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평가단: 조력 증설사업은 수익성이 낮아 재무적 부담 우려, 개선방안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해수유통을 통한 수질개선, 홍수억제 등 국고지원이 가능한 공익가치 제시(’25.11)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현안: 부족한 사업성 및 타 기관(농공) 관리시설로 진입장벽 존재(경쟁 분위기)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수문증설 기본구상 국고확보(5억원) 및 새만금 공동협정(기후부·농공·한수원) 체결(’25.12)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수소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평가단: 그린수소 기술은 아직 초기단계에 머물고 있어 실증 및 상용화 전략 필요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실증기반 기술 개발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상업판매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 대체수자원 활용 상용화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성남·안산 실증운영 기반 핵심기술 연구개발 수행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수력e 기반 그린수소 최초 상업판매 개시(성남, ’25.7)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하수 활용 그린수소 생산 상용화 협약(제주, ’25.11)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임하·합천(2단계) 수상태양광 신규 추진으로 재생e 발전용량 전년대비 116% 확대(58 → 125MW)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그린수소 실증 및 최적 운영방안 도입으로 그린수소 30톤/연 생산능력 확보(전년대비 76% 향상)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254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RE100 인증 글로벌 기준 개정으로 수출기업 지원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기업: 수요 대비 부족한 공급량(RE12), 그마저도 RE100에는 대부분 태양광만 활용 → 재생e의 공급량과 공급 다양성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국내 재생e 보유 1위 기업을 넘어 조력 등 활용, 기업의 든든한 RE100 지원군 역할 → 수력을 활용한 PPA 사업 확대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 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수력에 적합한 ‘지속가능성 인증’ 발굴로 세계에서 통용되는 고품질 RE100 자원 공급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문제점: 국내 수력은 글로벌 RE100으로 미인정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수력의 글로벌 RE100 적용은 ‘지속가능성 인증’ 필수, But 유럽·북미 중심으로 적용 → 국내 수력도 통용될 수 있는 인증기준 발굴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극복: K-인증수단 발굴로 글로벌 기준 획득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사례조사 통해 WCD(세계댐위원회)에 유사 인증제도 발굴, 대체인정 허용 요청 → RE100 기술기준에 WCD 기준 추가·개정 완료(3월)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수출기업 RE100 이행 지원을 위한 계약(PPA) 3건 추가 달성(누적 6건)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확대기반 마련으로 수출기업 RE100 이행률 2.3%p 상향 기여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수변도시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도시 활성화 위한 고객 니즈 반영 및 재무부담 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송산GC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동측 주거지역 정착(분양률 80%), 남측 산업용지 적기 공급 및 지역니즈 부응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이슈 및 니즈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효과 및 성과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수도권 과밀억제로 공장이전 등 용지확보 니즈↑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안산지역 인구계획 대비 에너지 공급 부족 우려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이전기업 수요 고려 산업용지 신속 공급(’26년 → ’25년, 출시 목표 대비 125% 출시)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적기 공급 위한 선제적 계획 변경(열병합발전소 면적 확대, 조기 계획반영)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2,964억원(전년比 147%) 분양(산업용지 45개 기업 입주 확정)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발전사(남동발전) 유치 성공으로 에너지 조기 안정화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시화MTV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조성공사 마무리 및 분양률 90%, 토지분양 이후 지역 활성화 위한 상생 노력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이슈 및 니즈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효과 및 성과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거북섬 상가 공실 심각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대중교통 및 주차 인프라 부족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거북섬 활력증진 TF구성, 대안 모색(시흥시·K-water·민간)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미분양용지 주거용도 전환, 순환버스 지원, 임시 무료 주차장(2,140대) 확충 등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정주인구 확대 전망(당초 계획 대비 4천명 인구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지역활성화 위한 주차 인프라 등 제공(지역행사 방문객 확대)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부산EDC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서부산 발전과 경제 활성화 선도(공사 81%, 분양 43%), 도시자족 위한 기업 유치 박차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이슈 및 니즈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효과 및 성과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주거용지 분양률(72%) 대비 산업용지 저조(22%)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EDC 도시자족기능 향상 위한 기업 유치 필요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EDC 기회발전특구 지정(세금 감면, 보조금 지원, 근로자 주택 특별공급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한시적 분양가 인하 시행(산업입지법 근거, 당초 분양단가의 90% 수준으로 할인)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산업용지 1,268억원 분양(데이터센터 등 12개 기업 유치)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제도개선에 따른 기업유치 활성화로 도시자족기능 강화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통</a:t>
            </a:r>
          </a:p>
        </p:txBody>
      </p:sp>
      <p:sp>
        <p:nvSpPr>
          <p:cNvPr id="53" name="배너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적극적인 소통으로 분양고객의 이슈 파악 및 제도 개선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이슈 및 니즈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효과 및 성과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사용(착공)시 대금완납 또는 보증보험 가입 등 고객부담 高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토지사용시 재무부담 경감방안 시행: 납부조건완화 · 할부이자면제 · 담보물건확대(정기예금증서, 기타 담보(부동산 등) 확대)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 사용(착공) 확대로 4,214억원 조기 매출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상가, 주차장 등 생활인프라 본격 건설로 정주 여건 개선</a:t>
            </a:r>
          </a:p>
        </p:txBody>
      </p:sp>
      <p:sp>
        <p:nvSpPr>
          <p:cNvPr id="65" name="핵심성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고객 니즈 해소와 제도개선으로 재무성과 창출(총매출 1조원, 분양 6,786억원) 및 도시 활성화 기여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특화도시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국정과제의 차질없는 이행을 위한 AI·기후대응 미래도시 선도</a:t>
            </a:r>
          </a:p>
        </p:txBody>
      </p:sp>
      <p:sp>
        <p:nvSpPr>
          <p:cNvPr id="8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9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스마트시티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준비된 K-AI 시티, 부산EDC 스마트서비스 본격화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~’24년 스마트빌리지(리빙랩) 운영, 혁신기술(88개) 실증, 민·관 공동 SPC 설립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스마트서비스 조기 개시(’29년 → ’25년), K-AI 시티로의 구현 사전 준비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플랫폼·인프라 先구축(~’28) 후, 서비스 운영계획(’29~)이었으나, 기술변화 가속화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新정부의 속도감 있는 AI 정책에 발맞춰 신속한 스마트서비스 개시 및 AI 시티 구현 필요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조기개시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론칭 계획 조정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피드백 반영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스마트서비스 조기도입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서비스 워크숍 운영(9회): 서비스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중앙정부 · 지자체(부산시) · K-water · 스마트시티SPC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신속한 서비스 도입 + 플랫폼·인프라 구축 병행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입주민 의견수렴·피드백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“통학을 지원하는 버스 운영해주세요”, “생활편의·안전까지 지원해주세요”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“신도시의 교통여건 고려, 운영시간 조정”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공동주택(1,080세대) 로봇서비스, 자율주행차(버스)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생활편의 로봇(순찰, 짐운반, 청소, 바리스타)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통학로 중심 자율주행차(통학 시간대 집중 운영)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시티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구현준비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분산 에너지 특구 지정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특화 데이터 개방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실증 사이트 제공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부산시와 협력으로 국내 1호 특구 지정 성공(’25.11)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특구 지정 TF 참여(’24~), 부산시·발전사업자 협약(’25) 등 공동 노력 → AI 운영 전력 안정성 확보, 기업 전기료·시설투자 부담↓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스마트빌리지 운영(’21~), 축적 데이터 관리·합성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도시 구현을 위한 생활데이터 개방·제공(세대별 스마트가전 계측정보 등) → 민간 AI 스마트홈 개발 활용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스마트빌리지, 국제 공동 연구 실증 활용(덴마크 등 4개국 공동)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탄소중립 스마트건물시스템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스마트도시 혁신기술 보유 기업 실증 기회 제공(5개社)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스마트서비스 이용 주민 만족도 90점 달성 및 국내 대표 K-AI 시티 선도도시 도약</a:t>
            </a:r>
          </a:p>
        </p:txBody>
      </p:sp>
      <p:sp>
        <p:nvSpPr>
          <p:cNvPr id="46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7" name="분야 박스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물순환·탄소중립</a:t>
            </a:r>
          </a:p>
        </p:txBody>
      </p:sp>
      <p:sp>
        <p:nvSpPr>
          <p:cNvPr id="49" name="소제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기후위험에 대비한 도시 구현으로 기후적응 국가정책 선도</a:t>
            </a:r>
          </a:p>
        </p:txBody>
      </p:sp>
      <p:sp>
        <p:nvSpPr>
          <p:cNvPr id="50" name="태그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물순환  국가 정책 실행 지원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  선도도시 사업 본격화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물순환: ’24년 물순환촉진법 시행, 지원센터 단독 지정 → ’25년 기본방침 수립 및 촉진구역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기본방침 법 시행 1년 내 국가계획 신속 수립 / 공모준비 촉진구역 공모·평가계획 마련 / 표준조례 물순환 촉진 표준 조례(안)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물순환도시(=물 걱정없는 도시) 확산 기반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탄소중립: ’24년 탄소중립 선도도시 선정 완료(4개) → ’25년 4개 선도도시 지역특화 기본계획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지역니즈 연계 특화 탄소중립 계획 수립(서울 노원, 당진, 보령, 제주)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707만tCO₂eq↓(소나무 약 70억 그루, 기본계획 기준 추정치)</a:t>
            </a:r>
          </a:p>
        </p:txBody>
      </p:sp>
      <p:sp>
        <p:nvSpPr>
          <p:cNvPr id="59" name="주요성과 라벨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향후계획</a:t>
            </a:r>
          </a:p>
        </p:txBody>
      </p:sp>
      <p:sp>
        <p:nvSpPr>
          <p:cNvPr id="60" name="주요성과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물순환 촉진구역(4개소) 선정, 탄소중립 선도도시 추가 선정(1개소)·관리 등 기후대응 도시 선도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물산업의 변화 방향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35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디지털 기술 등을 활용하여 지속성장 예상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신기술로 성장하고, 글로벌로 도약하는 중소기업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물산업을 넘어 기후·워터테크로, 글로벌 스탠다드를 선점하는 First Mover로 도약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 및 자금지원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 및 실증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판로개척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 주도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 / 벤처펀드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인프라 지원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및 해외시장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민관협력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258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기후·워터테크 시장을 선도할 유망기업 발굴 및 성장 지원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창업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참가기업 업력 제한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업력 제한 폐지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추천트랙 참가자격 10년 이내 창업기업으로 제한 → 딥테크(AI 등)스타트업 상업화까지 평균 10년 이상 소요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추천트랙 참가자격 10년 폐지, 기술·성장가능성 중심 선발 → 고성장 스타트업 및 스케일업 단계의 기업 참여율↑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 이상 스타트업 ’25년 11개社 선발 → 예비유니콘 GRINERGY 육성(기업가치 1,000억원 이상)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컴퍼니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빌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(신설)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 스타트업을 직접 설립 또는 초기 단계부터 투자·운영에 적극 참여, 성장을 주도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높은 진입장벽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컴퍼니빌더 설립 추진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민관 협업체계 완성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등을 위해 물산업 분야의 기후테크 육성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기반 高 진입장벽으로 초기 사업화 공백 발생 → 민·관 원팀 전문 지원기관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기반마련: 내·외부 전문가 협업을 위한 설립 추진단 운영 → 운영구조·로드맵 수립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지분공모: 공동 출자기관 설명회 및 지분공모 완료(’25.8) → 10개社 15억원 출자 확약(K-water 45억원 포함 자본금 60억원)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총괄: 산업(4社) 실증·공급연계, 공공(2社) 기술·인재제공, 투자(4社) 후속·매칭투자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출자회사 설립을 위한 정부 실무협의 지속(’25.3~) * 기후부 협의完, 재경부 진행中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벤 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펀 드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실적: 정부·지자체와 4,668억원 조성(K-water 999억원), 물산업 전용 2,801억원 확보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 규모 확대(→5,254억원)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리스크 해소(중간회수 신설)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투자운용 등 기반 586억원 민간자본추가확보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전체 5,254억원의 60%, 물산업 전용펀드 확대(351억원↑, 2,801 → 3,152억원)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장기투자(8년↑) 대응, K-water 유동성 연계 지분 중간회수(적정유동성 2,500억원 미달 시 회수 예정)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물산업투자기관 협의회 대상 전문심사역(누적 69명) 양성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자금 사용 적시성 및 적정 유동성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최근 3개년 물산업 실투자액(’23년 592 → ’24년 1,180 → ’25년 1,606억원)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딥테크 혁신기업 115개社 발굴(전년 比 117%), IPO 2개社(예비심사), 예비유니콘 4개社(누적)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창업지원사업 ‘최우수’ 운영기관(’25.11), 벤처기업협회 창업지원 ‘우수기관’(’25.11)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